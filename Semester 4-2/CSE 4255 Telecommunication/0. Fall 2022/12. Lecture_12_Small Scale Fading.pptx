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64" r:id="rId1"/>
    <p:sldMasterId id="2147483781" r:id="rId2"/>
  </p:sldMasterIdLst>
  <p:notesMasterIdLst>
    <p:notesMasterId r:id="rId35"/>
  </p:notesMasterIdLst>
  <p:handoutMasterIdLst>
    <p:handoutMasterId r:id="rId36"/>
  </p:handoutMasterIdLst>
  <p:sldIdLst>
    <p:sldId id="256" r:id="rId3"/>
    <p:sldId id="392" r:id="rId4"/>
    <p:sldId id="393" r:id="rId5"/>
    <p:sldId id="403" r:id="rId6"/>
    <p:sldId id="404" r:id="rId7"/>
    <p:sldId id="394" r:id="rId8"/>
    <p:sldId id="395" r:id="rId9"/>
    <p:sldId id="396" r:id="rId10"/>
    <p:sldId id="397" r:id="rId11"/>
    <p:sldId id="405" r:id="rId12"/>
    <p:sldId id="406" r:id="rId13"/>
    <p:sldId id="407" r:id="rId14"/>
    <p:sldId id="408" r:id="rId15"/>
    <p:sldId id="409" r:id="rId16"/>
    <p:sldId id="410" r:id="rId17"/>
    <p:sldId id="423" r:id="rId18"/>
    <p:sldId id="412" r:id="rId19"/>
    <p:sldId id="413" r:id="rId20"/>
    <p:sldId id="411" r:id="rId21"/>
    <p:sldId id="415" r:id="rId22"/>
    <p:sldId id="424" r:id="rId23"/>
    <p:sldId id="414" r:id="rId24"/>
    <p:sldId id="416" r:id="rId25"/>
    <p:sldId id="425" r:id="rId26"/>
    <p:sldId id="426" r:id="rId27"/>
    <p:sldId id="427" r:id="rId28"/>
    <p:sldId id="428" r:id="rId29"/>
    <p:sldId id="429" r:id="rId30"/>
    <p:sldId id="430" r:id="rId31"/>
    <p:sldId id="431" r:id="rId32"/>
    <p:sldId id="421" r:id="rId33"/>
    <p:sldId id="422" r:id="rId34"/>
  </p:sldIdLst>
  <p:sldSz cx="9144000" cy="6858000" type="screen4x3"/>
  <p:notesSz cx="9866313" cy="67357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996BA8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434" autoAdjust="0"/>
  </p:normalViewPr>
  <p:slideViewPr>
    <p:cSldViewPr>
      <p:cViewPr varScale="1">
        <p:scale>
          <a:sx n="70" d="100"/>
          <a:sy n="70" d="100"/>
        </p:scale>
        <p:origin x="13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4" d="100"/>
          <a:sy n="44" d="100"/>
        </p:scale>
        <p:origin x="-1502" y="-62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402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0911" y="0"/>
            <a:ext cx="4275402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8975"/>
            <a:ext cx="4275402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245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0911" y="6398975"/>
            <a:ext cx="4275402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A337732-954F-4D8C-B797-BD2AE2797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97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402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0911" y="0"/>
            <a:ext cx="4275402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29000" y="504825"/>
            <a:ext cx="2022475" cy="15160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0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8877" y="2189123"/>
            <a:ext cx="9098933" cy="4041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0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8975"/>
            <a:ext cx="7016045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220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7454548" y="6398975"/>
            <a:ext cx="2411765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FB73A5C-C929-4B73-9CA0-89EA870CA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9320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scale fading or simply fading. Signal strength = </a:t>
            </a:r>
            <a:r>
              <a:rPr lang="en-US" dirty="0" smtClean="0"/>
              <a:t>amplitude</a:t>
            </a:r>
          </a:p>
          <a:p>
            <a:endParaRPr lang="en-US" dirty="0" smtClean="0"/>
          </a:p>
          <a:p>
            <a:r>
              <a:rPr lang="en-US" dirty="0" smtClean="0"/>
              <a:t>2. Changes in the frequency of signals. </a:t>
            </a:r>
          </a:p>
          <a:p>
            <a:r>
              <a:rPr lang="en-US" dirty="0" smtClean="0"/>
              <a:t>3. Multiple signals arriving a different times. When added together at the antenna, signals are spread out in time. This can cause a interference between bits that are received. 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1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motion is the calculation of the motion of an object with regard to some other moving object.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05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the bandwidth of the channel can be quantified by the coherence bandwidth which is related to the specific multipath structure of the channel. The coherence bandwidth is a measure of the maximum frequency difference for which signals are still strongly correlated in amplitude.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05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See 20121212.. </a:t>
            </a:r>
            <a:r>
              <a:rPr lang="en-US" dirty="0" err="1" smtClean="0"/>
              <a:t>Pdf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63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Apparent = actual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63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mile = 1609.344m</a:t>
            </a:r>
          </a:p>
          <a:p>
            <a:endParaRPr lang="en-US" dirty="0"/>
          </a:p>
          <a:p>
            <a:r>
              <a:rPr lang="en-US" dirty="0"/>
              <a:t>60 mile = 96560.64m/</a:t>
            </a:r>
            <a:r>
              <a:rPr lang="en-US" dirty="0" err="1"/>
              <a:t>hr</a:t>
            </a:r>
            <a:r>
              <a:rPr lang="en-US" dirty="0"/>
              <a:t> = 26.8224m/sec</a:t>
            </a:r>
          </a:p>
          <a:p>
            <a:r>
              <a:rPr lang="en-US" dirty="0"/>
              <a:t>1 </a:t>
            </a:r>
            <a:r>
              <a:rPr lang="en-US" dirty="0" err="1"/>
              <a:t>hr</a:t>
            </a:r>
            <a:r>
              <a:rPr lang="en-US" dirty="0"/>
              <a:t> = 60x60 sec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0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It is the response(output) from a system (or process) when you put an 'impulse (unit pulse, delta function)' as an input.  It is because it fully characterize a system. If you know the impulse response of a system,  you can figure out the response (output) of the system for any kind of input without even testing it.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Casual system : https://books.google.com.bd/books?id=ZZeYb-GASbMC&amp;pg=SA2-PA51&amp;dq=Impulse+Response+Model+of+a+Multipath+Channel&amp;hl=en&amp;sa=X&amp;ved=0ahUKEwiV36qsn77hAhUp8HMBHUHgDoUQ6AEIOTAD#v=onepage&amp;q=Impulse%20Response%20Model%20of%20a%20Multipath%20Channel&amp;f=false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0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0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0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03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5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68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Dispersion = spreading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35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Dispersion = spreading</a:t>
            </a:r>
          </a:p>
          <a:p>
            <a:r>
              <a:rPr lang="en-US" dirty="0" smtClean="0"/>
              <a:t>the second moment of the mean excess delay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2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Dispersion = spreading</a:t>
            </a:r>
          </a:p>
          <a:p>
            <a:r>
              <a:rPr lang="en-US" dirty="0" smtClean="0"/>
              <a:t>the second moment of the mean excess delay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0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Dispersion = spreading</a:t>
            </a:r>
          </a:p>
          <a:p>
            <a:r>
              <a:rPr lang="en-US" dirty="0" smtClean="0"/>
              <a:t>the second moment of the mean excess delay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40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Dispersion = spreading</a:t>
            </a:r>
          </a:p>
          <a:p>
            <a:r>
              <a:rPr lang="en-US" dirty="0" smtClean="0"/>
              <a:t>the second moment of the mean excess delay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37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Dispersion = spreading</a:t>
            </a:r>
          </a:p>
          <a:p>
            <a:r>
              <a:rPr lang="en-US" dirty="0" smtClean="0"/>
              <a:t>the second moment of the mean excess delay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99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See 20121212.. </a:t>
            </a:r>
            <a:r>
              <a:rPr lang="en-US" dirty="0" err="1" smtClean="0"/>
              <a:t>Pdf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64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 = 88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ft</a:t>
            </a:r>
            <a:r>
              <a:rPr lang="en-US" baseline="0" dirty="0" smtClean="0"/>
              <a:t>/s</a:t>
            </a:r>
          </a:p>
          <a:p>
            <a:r>
              <a:rPr lang="en-US" baseline="0" dirty="0" err="1" smtClean="0"/>
              <a:t>Tc</a:t>
            </a:r>
            <a:r>
              <a:rPr lang="en-US" baseline="0" dirty="0" smtClean="0"/>
              <a:t> = 9/16pifm = 9/16x3.14x77 = 2.3 </a:t>
            </a:r>
            <a:r>
              <a:rPr lang="en-US" baseline="0" dirty="0" err="1" smtClean="0"/>
              <a:t>ms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err="1" smtClean="0"/>
              <a:t>Fm</a:t>
            </a:r>
            <a:r>
              <a:rPr lang="en-US" baseline="0" dirty="0" smtClean="0"/>
              <a:t> = v/</a:t>
            </a:r>
            <a:r>
              <a:rPr lang="en-US" baseline="0" dirty="0" err="1" smtClean="0"/>
              <a:t>lemda</a:t>
            </a:r>
            <a:r>
              <a:rPr lang="en-US" baseline="0" dirty="0" smtClean="0"/>
              <a:t> = 88/1.142 = 77 Hz</a:t>
            </a:r>
          </a:p>
          <a:p>
            <a:r>
              <a:rPr lang="en-US" baseline="0" dirty="0" err="1" smtClean="0"/>
              <a:t>Lemda</a:t>
            </a:r>
            <a:r>
              <a:rPr lang="en-US" baseline="0" dirty="0" smtClean="0"/>
              <a:t> = c / f =9.8 x 10^8/ 860 x 10^6 = 1.1442 </a:t>
            </a:r>
            <a:r>
              <a:rPr lang="en-US" baseline="0" dirty="0" err="1" smtClean="0"/>
              <a:t>ft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err="1" smtClean="0"/>
              <a:t>Ts</a:t>
            </a:r>
            <a:r>
              <a:rPr lang="en-US" baseline="0" dirty="0" smtClean="0"/>
              <a:t> = 10^6/19200 = 5.2 micro s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10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See 20121212.. </a:t>
            </a:r>
            <a:r>
              <a:rPr lang="en-US" dirty="0" err="1" smtClean="0"/>
              <a:t>Pdf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949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7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5963" indent="-274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172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050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437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15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87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59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1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C33060-0D6E-4680-934B-4CF76247B853}" type="slidenum">
              <a:rPr lang="en-US" altLang="en-US" sz="1200" smtClean="0"/>
              <a:pPr/>
              <a:t>24</a:t>
            </a:fld>
            <a:endParaRPr lang="en-US" altLang="en-US" sz="1200" smtClean="0"/>
          </a:p>
        </p:txBody>
      </p:sp>
      <p:sp>
        <p:nvSpPr>
          <p:cNvPr id="81923" name="Rectangle 7"/>
          <p:cNvSpPr txBox="1">
            <a:spLocks noGrp="1" noChangeArrowheads="1"/>
          </p:cNvSpPr>
          <p:nvPr/>
        </p:nvSpPr>
        <p:spPr bwMode="auto">
          <a:xfrm>
            <a:off x="3948113" y="8863013"/>
            <a:ext cx="307181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 anchor="b"/>
          <a:lstStyle>
            <a:lvl1pPr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5014537-5DC5-48D0-98B5-0DB7532C0BBB}" type="slidenum">
              <a:rPr lang="en-US" altLang="en-US" sz="1300"/>
              <a:pPr algn="r"/>
              <a:t>24</a:t>
            </a:fld>
            <a:endParaRPr lang="en-US" altLang="en-US" sz="1300"/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885816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5963" indent="-274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172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050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437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15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87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59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1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A1F0C7-ADE6-478E-BBB4-BB4ECFFBEF9E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  <p:sp>
        <p:nvSpPr>
          <p:cNvPr id="86019" name="Rectangle 7"/>
          <p:cNvSpPr txBox="1">
            <a:spLocks noGrp="1" noChangeArrowheads="1"/>
          </p:cNvSpPr>
          <p:nvPr/>
        </p:nvSpPr>
        <p:spPr bwMode="auto">
          <a:xfrm>
            <a:off x="3948113" y="8863013"/>
            <a:ext cx="307181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 anchor="b"/>
          <a:lstStyle>
            <a:lvl1pPr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1C05A5F5-D53F-4BC0-8E08-FB12F016CB95}" type="slidenum">
              <a:rPr lang="en-US" altLang="en-US" sz="1300"/>
              <a:pPr algn="r"/>
              <a:t>25</a:t>
            </a:fld>
            <a:endParaRPr lang="en-US" altLang="en-US" sz="1300"/>
          </a:p>
        </p:txBody>
      </p:sp>
      <p:sp>
        <p:nvSpPr>
          <p:cNvPr id="86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876639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5963" indent="-274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172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050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437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15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87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59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1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3992EC1-D5F0-4A0E-BCD3-BC5582F20C05}" type="slidenum">
              <a:rPr lang="en-US" altLang="en-US" sz="1200" smtClean="0"/>
              <a:pPr/>
              <a:t>28</a:t>
            </a:fld>
            <a:endParaRPr lang="en-US" altLang="en-US" sz="1200" smtClean="0"/>
          </a:p>
        </p:txBody>
      </p:sp>
      <p:sp>
        <p:nvSpPr>
          <p:cNvPr id="90115" name="Rectangle 7"/>
          <p:cNvSpPr txBox="1">
            <a:spLocks noGrp="1" noChangeArrowheads="1"/>
          </p:cNvSpPr>
          <p:nvPr/>
        </p:nvSpPr>
        <p:spPr bwMode="auto">
          <a:xfrm>
            <a:off x="3948113" y="8863013"/>
            <a:ext cx="307181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 anchor="b"/>
          <a:lstStyle>
            <a:lvl1pPr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110E12E-D62B-410C-A643-47E5893E9D6F}" type="slidenum">
              <a:rPr lang="en-US" altLang="en-US" sz="1300"/>
              <a:pPr algn="r"/>
              <a:t>28</a:t>
            </a:fld>
            <a:endParaRPr lang="en-US" altLang="en-US" sz="1300"/>
          </a:p>
        </p:txBody>
      </p:sp>
      <p:sp>
        <p:nvSpPr>
          <p:cNvPr id="90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06619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5963" indent="-274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0172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050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4375" indent="-2190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415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87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59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3175" indent="-2190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46DC97-39FB-440D-B2F7-8A263012B7C1}" type="slidenum">
              <a:rPr lang="en-US" altLang="en-US" sz="1200" smtClean="0"/>
              <a:pPr/>
              <a:t>29</a:t>
            </a:fld>
            <a:endParaRPr lang="en-US" altLang="en-US" sz="1200" smtClean="0"/>
          </a:p>
        </p:txBody>
      </p:sp>
      <p:sp>
        <p:nvSpPr>
          <p:cNvPr id="92163" name="Rectangle 7"/>
          <p:cNvSpPr txBox="1">
            <a:spLocks noGrp="1" noChangeArrowheads="1"/>
          </p:cNvSpPr>
          <p:nvPr/>
        </p:nvSpPr>
        <p:spPr bwMode="auto">
          <a:xfrm>
            <a:off x="3948113" y="8863013"/>
            <a:ext cx="307181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 anchor="b"/>
          <a:lstStyle>
            <a:lvl1pPr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3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86A256A2-FD26-467D-986A-40FC67CBC008}" type="slidenum">
              <a:rPr lang="en-US" altLang="en-US" sz="1300"/>
              <a:pPr algn="r"/>
              <a:t>29</a:t>
            </a:fld>
            <a:endParaRPr lang="en-US" altLang="en-US" sz="1300"/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060" tIns="44531" rIns="89060" bIns="44531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966928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See 20121212.. </a:t>
            </a:r>
            <a:r>
              <a:rPr lang="en-US" dirty="0" err="1" smtClean="0"/>
              <a:t>Pdf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16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0" y="504825"/>
            <a:ext cx="2022475" cy="1516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ACS/antennas and propagation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by Ya Bao   http://eent3.sbu.ac.uk/staff/baoyb/acs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B73A5C-C929-4B73-9CA0-89EA870CA45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4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5FC660-5931-4045-AD5C-95F8D94432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120DCF-466F-4471-965A-19351D600A56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E29886-B0B5-4D7D-8210-C0909369C330}" type="datetimeFigureOut">
              <a:rPr lang="en-US" smtClean="0"/>
              <a:pPr>
                <a:defRPr/>
              </a:pPr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9AB508-6070-4F80-98B7-D445FFDCC4B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B0CBBF-B2AA-491D-B11B-2FB80CC892D8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B96369-0824-4BC6-A978-25EB5C748ED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FFC649-A290-460F-B87F-82EE1AC156DA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5C25EB-4F36-4F37-9D35-0341698AE6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91DFF1-7389-4DF8-9E72-782348C63B70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CEA178-C364-4F88-BC68-A1ADD90CBD1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C38829-1276-4831-B34D-900CAE4FF8D0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7C29B0-1FDE-49D3-911E-67ED825CB2A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53E26B-9E7D-4FFC-A9DE-FBFC928B5196}" type="datetimeFigureOut">
              <a:rPr lang="en-US" smtClean="0"/>
              <a:pPr>
                <a:defRPr/>
              </a:pPr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C9AB46-AA74-4CA2-9407-6EA9546CBF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0AABD4-4200-4442-A49E-C8AD11946B90}" type="datetimeFigureOut">
              <a:rPr lang="en-US" smtClean="0"/>
              <a:pPr>
                <a:defRPr/>
              </a:pPr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4C970F-5334-4279-8A23-8B105F8683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EA9767-D01A-4FC6-A2D4-0ADEB22CE19F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4B7F4-543F-4076-A0FA-DE6949F1CB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EA9767-D01A-4FC6-A2D4-0ADEB22CE19F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4B7F4-543F-4076-A0FA-DE6949F1CB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EA9767-D01A-4FC6-A2D4-0ADEB22CE19F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4B7F4-543F-4076-A0FA-DE6949F1CB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EA9767-D01A-4FC6-A2D4-0ADEB22CE19F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4B7F4-543F-4076-A0FA-DE6949F1CB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EA9767-D01A-4FC6-A2D4-0ADEB22CE19F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4B7F4-543F-4076-A0FA-DE6949F1CB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5342CC-570C-41A9-89F1-8D8B1E69F90A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D437DF-D931-44F1-A0D9-AE80C8EEB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2A71AD-759F-40B4-B41C-09150D434F7F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F3E9F-D5F2-456C-9C6E-09B7D23A0A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0BD74-ED4D-4A1F-A2DA-D84D0601E0F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1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E22EC-26ED-4FA4-8A98-67F8C744F66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02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252065-EA38-4209-9206-2F901AA19E5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880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F1B142-EE88-4AC5-9C48-9D377A9F638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636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067871-9022-47EF-84E4-7218D5E40AF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890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3AD49-67E5-492B-8AEE-88AFD1F1261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4518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BDB3-2D74-4331-BF37-5224442A8E5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900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251BA-927B-4DBB-BB4A-BC52F33582D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2160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360315-5235-418B-8096-261A4D875AE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601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6DFA1-B14C-4A50-9426-B8946B3BE44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2189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6CC634-2811-4032-A9CC-C97C5E8D05B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38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56D964F-ACA0-45C7-BBE2-6F3C8D48616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4442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432FC6F-780D-40D7-A2EC-7BD18A3E4EC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80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EA9767-D01A-4FC6-A2D4-0ADEB22CE19F}" type="datetimeFigureOut">
              <a:rPr lang="en-US" smtClean="0"/>
              <a:pPr>
                <a:defRPr/>
              </a:pPr>
              <a:t>7/23/2020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ED74B7F4-543F-4076-A0FA-DE6949F1CB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620000" y="60960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GB"/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8077200" y="59436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B0492E25-1644-4EA5-B7B4-7381A7495BCD}" type="slidenum">
              <a:rPr lang="en-US" sz="1800" smtClean="0"/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0" y="935038"/>
            <a:ext cx="9144000" cy="115887"/>
          </a:xfrm>
          <a:prstGeom prst="rect">
            <a:avLst/>
          </a:prstGeom>
          <a:solidFill>
            <a:srgbClr val="6627C3">
              <a:alpha val="44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8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fld id="{4C38951B-F4A5-4A8E-95A9-549E803E428F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88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115616" y="3068960"/>
            <a:ext cx="6495504" cy="151216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</a:rPr>
              <a:t>Small Scale Fading</a:t>
            </a:r>
            <a:br>
              <a:rPr lang="en-US" dirty="0">
                <a:latin typeface="Times New Roman" pitchFamily="18" charset="0"/>
              </a:rPr>
            </a:br>
            <a:endParaRPr sz="1800" dirty="0">
              <a:latin typeface="Times New Roman" pitchFamily="18" charset="0"/>
            </a:endParaRPr>
          </a:p>
        </p:txBody>
      </p:sp>
      <p:sp>
        <p:nvSpPr>
          <p:cNvPr id="17410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966B4AD-1D03-4594-962C-7468A2227037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03328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Small Scale Fading/ Fading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39750" y="1052338"/>
            <a:ext cx="8001000" cy="5761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5300" indent="-495300" algn="just"/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The rapid fluctuations of received signal strength over short time intervals or travel distances. </a:t>
            </a:r>
          </a:p>
          <a:p>
            <a:pPr marL="495300" indent="-495300" algn="just"/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Caused by interference from multiple copies of </a:t>
            </a:r>
            <a:r>
              <a:rPr lang="en-US" altLang="zh-TW" sz="2600" dirty="0" err="1">
                <a:latin typeface="Times New Roman" pitchFamily="18" charset="0"/>
                <a:cs typeface="Times New Roman" pitchFamily="18" charset="0"/>
              </a:rPr>
              <a:t>Tx</a:t>
            </a:r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 signal arriving at Rx at slightly </a:t>
            </a:r>
            <a:r>
              <a:rPr lang="en-US" altLang="zh-TW" sz="2600" b="1" u="sng" dirty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times. </a:t>
            </a:r>
          </a:p>
          <a:p>
            <a:pPr marL="495300" indent="-495300" algn="just"/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Three most important effects: </a:t>
            </a:r>
          </a:p>
          <a:p>
            <a:pPr lvl="1" algn="just">
              <a:buFont typeface="Wingdings" pitchFamily="2" charset="2"/>
              <a:buAutoNum type="arabicPeriod"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Rapid changes in signal strengths over small travel distances or short time periods. </a:t>
            </a:r>
          </a:p>
          <a:p>
            <a:pPr lvl="1" algn="just">
              <a:buFont typeface="Wingdings" pitchFamily="2" charset="2"/>
              <a:buAutoNum type="arabicPeriod"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Random frequency modulation due to varying Doppler shifts on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different multipath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signals</a:t>
            </a:r>
          </a:p>
          <a:p>
            <a:pPr lvl="1" algn="just">
              <a:buFont typeface="Wingdings" pitchFamily="2" charset="2"/>
              <a:buAutoNum type="arabicPeriod"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Time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dispersion (echoes) caused by multipath propagation delays.</a:t>
            </a:r>
            <a:r>
              <a:rPr lang="en-US" altLang="zh-TW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376367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Factors Influencing Small-Scale Fading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7592391" cy="540060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1) Multipath Propagation </a:t>
            </a:r>
          </a:p>
          <a:p>
            <a:pPr lvl="1" algn="just">
              <a:lnSpc>
                <a:spcPct val="90000"/>
              </a:lnSpc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The presence of reflecting objects and </a:t>
            </a:r>
            <a:r>
              <a:rPr lang="en-US" altLang="zh-TW" sz="2400" dirty="0" err="1">
                <a:latin typeface="Times New Roman" pitchFamily="18" charset="0"/>
                <a:cs typeface="Times New Roman" pitchFamily="18" charset="0"/>
              </a:rPr>
              <a:t>scatterers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in the space between transmitter and receiver creates a constantly changing channel environment</a:t>
            </a:r>
          </a:p>
          <a:p>
            <a:pPr lvl="1" algn="just">
              <a:lnSpc>
                <a:spcPct val="90000"/>
              </a:lnSpc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Causes the signal at receiver to fade or distort</a:t>
            </a:r>
          </a:p>
          <a:p>
            <a:pPr lvl="1" algn="just">
              <a:lnSpc>
                <a:spcPct val="90000"/>
              </a:lnSpc>
            </a:pP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2) Speed of Mobile </a:t>
            </a:r>
          </a:p>
          <a:p>
            <a:pPr lvl="1"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Relative motion between base station and mobile causes random frequency modulation due to Doppler shift (</a:t>
            </a:r>
            <a:r>
              <a:rPr lang="en-US" altLang="zh-TW" sz="2400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TW" sz="2400" i="1" baseline="-250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1"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Different multipath components may have different frequency shifts.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87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376367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Factors Influencing Small-Scale Fading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17664"/>
            <a:ext cx="7776864" cy="54006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3) Speed of Surrounding Objects </a:t>
            </a:r>
          </a:p>
          <a:p>
            <a:pPr lvl="1"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If the speed of surrounding objects is greater than mobile, the fading is dominated by those objects</a:t>
            </a:r>
          </a:p>
          <a:p>
            <a:pPr lvl="1" algn="just"/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If the surrounding objects are slower than the mobile, then their effect can be ignored</a:t>
            </a:r>
          </a:p>
          <a:p>
            <a:pPr marL="457200" lvl="1" indent="0" algn="just">
              <a:buNone/>
            </a:pPr>
            <a:endParaRPr lang="en-US" altLang="zh-TW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4) The transmission bandwidth of the signal</a:t>
            </a:r>
          </a:p>
          <a:p>
            <a:pPr lvl="1" algn="just">
              <a:lnSpc>
                <a:spcPct val="90000"/>
              </a:lnSpc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Depending on the relation between the signal bandwidth and the coherence bandwidth of the channel, the signal is either distorted or faded</a:t>
            </a:r>
          </a:p>
          <a:p>
            <a:pPr lvl="1" algn="just">
              <a:lnSpc>
                <a:spcPct val="90000"/>
              </a:lnSpc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If the signal bandwidth is greater than coherence bandwidth it creates distortion</a:t>
            </a:r>
          </a:p>
          <a:p>
            <a:pPr lvl="1" algn="just">
              <a:lnSpc>
                <a:spcPct val="90000"/>
              </a:lnSpc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If the signal bandwidth is smaller than coherence bandwidth it create small scale fading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88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9312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Doppler </a:t>
            </a:r>
            <a:r>
              <a:rPr lang="en-US" dirty="0" smtClean="0"/>
              <a:t>Effect/Shift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25250"/>
            <a:ext cx="7592391" cy="4735998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When a transmitter or receiver is moving, the  frequency of the received signal changes. It is different than the frequency of transmission. This is called Doppler Effect.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change in frequency is called Doppler shift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Doppler shift is positive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the mobile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is moving towards the direction of arrival of the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signal. 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Doppler shift is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negative</a:t>
            </a:r>
          </a:p>
          <a:p>
            <a:pPr lvl="1" algn="just">
              <a:buClr>
                <a:srgbClr val="90C226"/>
              </a:buClr>
            </a:pPr>
            <a:r>
              <a:rPr 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itchFamily="18" charset="0"/>
                <a:cs typeface="Times New Roman" pitchFamily="18" charset="0"/>
              </a:rPr>
              <a:t>If the mobile is moving 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itchFamily="18" charset="0"/>
                <a:cs typeface="Times New Roman" pitchFamily="18" charset="0"/>
              </a:rPr>
              <a:t>away from </a:t>
            </a:r>
            <a:r>
              <a:rPr lang="en-US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itchFamily="18" charset="0"/>
                <a:cs typeface="Times New Roman" pitchFamily="18" charset="0"/>
              </a:rPr>
              <a:t>the direction of arrival of the </a:t>
            </a:r>
            <a:r>
              <a:rPr lang="en-US" sz="2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itchFamily="18" charset="0"/>
                <a:cs typeface="Times New Roman" pitchFamily="18" charset="0"/>
              </a:rPr>
              <a:t>signal. </a:t>
            </a:r>
            <a:endParaRPr lang="en-US" sz="2600" dirty="0">
              <a:solidFill>
                <a:prstClr val="black">
                  <a:lumMod val="75000"/>
                  <a:lumOff val="25000"/>
                </a:prst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6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87304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Doppler </a:t>
            </a:r>
            <a:r>
              <a:rPr lang="en-US" dirty="0" smtClean="0"/>
              <a:t>Shift – Receiver is moving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7848872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41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32656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– 4.3: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52736"/>
            <a:ext cx="7592391" cy="223224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Consider a transmitter which radiates a sinusoidal carrier frequency of 1850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MHz.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For a vehicle moving 60 mph, compute the received carrier frequency if the mobile is moving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(a) directly towards the transmitter,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(b) directly away from the transmitter,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(c) in a direction which is perpendicular to the direction 		of arrival of the transmitted signal.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49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32656"/>
            <a:ext cx="7520383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Impulse response of Multipath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7592391" cy="3888432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small scale variations of a mobile radio signal can be directly related to the impulse response of mobile radio channel.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Impulse response contains all information necessary to </a:t>
            </a:r>
          </a:p>
          <a:p>
            <a:pPr lvl="1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Simulate the channel</a:t>
            </a:r>
          </a:p>
          <a:p>
            <a:pPr lvl="1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Analyze the channel</a:t>
            </a:r>
          </a:p>
          <a:p>
            <a:r>
              <a:rPr lang="en-US" sz="2400" dirty="0">
                <a:latin typeface="Times New Roman" panose="02020603050405020304" pitchFamily="18" charset="0"/>
              </a:rPr>
              <a:t>A mobile radio channel may be modeled as a linear filter with a time varying impulse response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013176"/>
            <a:ext cx="6192688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764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7704856" cy="72008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Impulse Response Model: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764704"/>
            <a:ext cx="842962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08" y="5870104"/>
            <a:ext cx="5568552" cy="98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139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67544" y="404664"/>
            <a:ext cx="71287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</a:rPr>
              <a:t>Since the receiver moves along the ground </a:t>
            </a:r>
            <a:r>
              <a:rPr lang="en-US" dirty="0" smtClean="0">
                <a:latin typeface="Times New Roman"/>
              </a:rPr>
              <a:t>at</a:t>
            </a:r>
            <a:r>
              <a:rPr lang="en-US" dirty="0" smtClean="0">
                <a:latin typeface="Arial"/>
              </a:rPr>
              <a:t> </a:t>
            </a:r>
            <a:r>
              <a:rPr lang="en-US" dirty="0">
                <a:latin typeface="Times New Roman"/>
              </a:rPr>
              <a:t>a constant velocity </a:t>
            </a:r>
            <a:r>
              <a:rPr lang="en-US" i="1" dirty="0">
                <a:latin typeface="Times New Roman"/>
              </a:rPr>
              <a:t>v</a:t>
            </a:r>
            <a:r>
              <a:rPr lang="en-US" dirty="0">
                <a:latin typeface="Times New Roman"/>
              </a:rPr>
              <a:t>, the </a:t>
            </a:r>
            <a:r>
              <a:rPr lang="en-US" dirty="0" smtClean="0">
                <a:latin typeface="Times New Roman"/>
              </a:rPr>
              <a:t>position of </a:t>
            </a:r>
            <a:r>
              <a:rPr lang="en-US" dirty="0">
                <a:latin typeface="Times New Roman"/>
              </a:rPr>
              <a:t>the receiver can by expressed as</a:t>
            </a:r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1341512"/>
            <a:ext cx="555307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467544" y="3013501"/>
            <a:ext cx="69127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</a:rPr>
              <a:t>Since </a:t>
            </a:r>
            <a:r>
              <a:rPr lang="en-US" i="1" dirty="0">
                <a:latin typeface="Times New Roman"/>
              </a:rPr>
              <a:t>v</a:t>
            </a:r>
            <a:r>
              <a:rPr lang="en-US" dirty="0">
                <a:latin typeface="Times New Roman"/>
              </a:rPr>
              <a:t> is a constant, </a:t>
            </a:r>
            <a:r>
              <a:rPr lang="en-US" dirty="0" smtClean="0">
                <a:latin typeface="Times New Roman"/>
              </a:rPr>
              <a:t>y(</a:t>
            </a:r>
            <a:r>
              <a:rPr lang="en-US" i="1" dirty="0" err="1" smtClean="0">
                <a:latin typeface="Times New Roman"/>
              </a:rPr>
              <a:t>vt</a:t>
            </a:r>
            <a:r>
              <a:rPr lang="en-US" i="1" dirty="0">
                <a:latin typeface="Times New Roman"/>
              </a:rPr>
              <a:t>, t</a:t>
            </a:r>
            <a:r>
              <a:rPr lang="en-US" dirty="0">
                <a:latin typeface="Times New Roman"/>
              </a:rPr>
              <a:t>) is just a function </a:t>
            </a:r>
            <a:r>
              <a:rPr lang="en-US" dirty="0" smtClean="0">
                <a:latin typeface="Times New Roman"/>
              </a:rPr>
              <a:t>of </a:t>
            </a:r>
            <a:r>
              <a:rPr lang="en-US" i="1" dirty="0" smtClean="0">
                <a:latin typeface="Times New Roman"/>
              </a:rPr>
              <a:t>t</a:t>
            </a:r>
            <a:r>
              <a:rPr lang="en-US" dirty="0">
                <a:latin typeface="Times New Roman"/>
              </a:rPr>
              <a:t>. Therefore,</a:t>
            </a:r>
            <a:endParaRPr lang="en-US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861048"/>
            <a:ext cx="7344816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229200"/>
            <a:ext cx="43148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544" y="5613047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/>
              </a:rPr>
              <a:t>From </a:t>
            </a:r>
            <a:r>
              <a:rPr lang="en-US" dirty="0" smtClean="0">
                <a:latin typeface="Times New Roman"/>
              </a:rPr>
              <a:t>equation, it </a:t>
            </a:r>
            <a:r>
              <a:rPr lang="en-US" dirty="0">
                <a:latin typeface="Times New Roman"/>
              </a:rPr>
              <a:t>is clear that the mobile radio channel can be modeled as </a:t>
            </a:r>
            <a:r>
              <a:rPr lang="en-US" dirty="0" smtClean="0">
                <a:latin typeface="Times New Roman"/>
              </a:rPr>
              <a:t>a linear </a:t>
            </a:r>
            <a:r>
              <a:rPr lang="en-US" dirty="0">
                <a:latin typeface="Times New Roman"/>
              </a:rPr>
              <a:t>time varying channel, where the channel changes with time and distance.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56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75" y="692696"/>
            <a:ext cx="8048625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67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52736"/>
            <a:ext cx="7632848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41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7704856" cy="720080"/>
          </a:xfrm>
        </p:spPr>
        <p:txBody>
          <a:bodyPr>
            <a:noAutofit/>
          </a:bodyPr>
          <a:lstStyle/>
          <a:p>
            <a:pPr algn="just"/>
            <a:r>
              <a:rPr lang="en-SG" dirty="0"/>
              <a:t>Power Delay Profile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1170037"/>
            <a:ext cx="9060309" cy="427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34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04856" cy="720080"/>
          </a:xfrm>
        </p:spPr>
        <p:txBody>
          <a:bodyPr>
            <a:noAutofit/>
          </a:bodyPr>
          <a:lstStyle/>
          <a:p>
            <a:pPr algn="just"/>
            <a:r>
              <a:rPr lang="en-SG" dirty="0"/>
              <a:t>Time Dispersion Parameters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23528" y="1285290"/>
            <a:ext cx="7592391" cy="4735998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time dispersion parameters that can be determined from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power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delay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profile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are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mean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excess delay</a:t>
            </a:r>
          </a:p>
          <a:p>
            <a:pPr lvl="1" algn="just"/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rms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delay spread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excess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delay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spread</a:t>
            </a:r>
          </a:p>
          <a:p>
            <a:pPr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quantify “how spread-out” the arriving signals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are, we use time dispersion parameters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404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04856" cy="720080"/>
          </a:xfrm>
        </p:spPr>
        <p:txBody>
          <a:bodyPr>
            <a:noAutofit/>
          </a:bodyPr>
          <a:lstStyle/>
          <a:p>
            <a:pPr algn="just"/>
            <a:r>
              <a:rPr lang="en-SG" dirty="0"/>
              <a:t>Time Dispersion Parameters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50962"/>
            <a:ext cx="841057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23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80920" cy="720080"/>
          </a:xfrm>
        </p:spPr>
        <p:txBody>
          <a:bodyPr>
            <a:noAutofit/>
          </a:bodyPr>
          <a:lstStyle/>
          <a:p>
            <a:r>
              <a:rPr lang="en-US" sz="2400" dirty="0"/>
              <a:t>Time Dispersion Parameters: Max Excess </a:t>
            </a:r>
            <a:r>
              <a:rPr lang="en-US" sz="2400" dirty="0" smtClean="0"/>
              <a:t>Delay</a:t>
            </a:r>
            <a:r>
              <a:rPr lang="en-SG" sz="2400" dirty="0" smtClean="0"/>
              <a:t>(X </a:t>
            </a:r>
            <a:r>
              <a:rPr lang="en-SG" sz="2400" dirty="0"/>
              <a:t>dB)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219200"/>
            <a:ext cx="583058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35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528" y="403696"/>
            <a:ext cx="80010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22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9750" y="692150"/>
            <a:ext cx="80010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47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704856" cy="720080"/>
          </a:xfrm>
        </p:spPr>
        <p:txBody>
          <a:bodyPr>
            <a:noAutofit/>
          </a:bodyPr>
          <a:lstStyle/>
          <a:p>
            <a:pPr algn="just"/>
            <a:r>
              <a:rPr lang="en-SG" dirty="0" smtClean="0"/>
              <a:t>Coherence Bandwidth (</a:t>
            </a:r>
            <a:r>
              <a:rPr lang="en-SG" i="1" dirty="0" err="1" smtClean="0"/>
              <a:t>B</a:t>
            </a:r>
            <a:r>
              <a:rPr lang="en-SG" i="1" baseline="-25000" dirty="0" err="1" smtClean="0"/>
              <a:t>c</a:t>
            </a:r>
            <a:r>
              <a:rPr lang="en-SG" dirty="0" smtClean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4" name="AutoShape 2" descr="Image result for chapter 5 two ray ground reflection model ppt"/>
          <p:cNvSpPr>
            <a:spLocks noChangeAspect="1" noChangeArrowheads="1"/>
          </p:cNvSpPr>
          <p:nvPr/>
        </p:nvSpPr>
        <p:spPr bwMode="auto">
          <a:xfrm>
            <a:off x="155575" y="-1608138"/>
            <a:ext cx="447675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486" y="1051361"/>
            <a:ext cx="7704856" cy="570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7" indent="-3429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kumimoji="1" lang="en-US" altLang="zh-TW" sz="2800" i="1" kern="0" dirty="0" err="1">
                <a:solidFill>
                  <a:srgbClr val="000000"/>
                </a:solidFill>
                <a:latin typeface="Times New Roman"/>
              </a:rPr>
              <a:t>B</a:t>
            </a:r>
            <a:r>
              <a:rPr kumimoji="1" lang="en-US" altLang="zh-TW" sz="2800" i="1" kern="0" baseline="-25000" dirty="0" err="1">
                <a:solidFill>
                  <a:srgbClr val="000000"/>
                </a:solidFill>
                <a:latin typeface="Times New Roman"/>
              </a:rPr>
              <a:t>c</a:t>
            </a:r>
            <a:r>
              <a:rPr kumimoji="1" lang="en-US" altLang="zh-TW" sz="2800" i="1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kumimoji="1" lang="en-US" altLang="zh-TW" sz="2800" kern="0" dirty="0">
                <a:solidFill>
                  <a:srgbClr val="000000"/>
                </a:solidFill>
                <a:latin typeface="Times New Roman"/>
              </a:rPr>
              <a:t>: statistical measure of frequency range where MRC response is </a:t>
            </a:r>
            <a:r>
              <a:rPr kumimoji="1" lang="en-US" altLang="zh-TW" sz="2800" b="1" kern="0" dirty="0">
                <a:solidFill>
                  <a:srgbClr val="000000"/>
                </a:solidFill>
                <a:latin typeface="Times New Roman"/>
              </a:rPr>
              <a:t>flat</a:t>
            </a:r>
          </a:p>
          <a:p>
            <a:pPr marL="1304925" lvl="2" indent="-395288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kumimoji="1" lang="en-US" altLang="zh-TW" u="sng" kern="0" dirty="0">
                <a:solidFill>
                  <a:srgbClr val="000000"/>
                </a:solidFill>
                <a:latin typeface="Times New Roman"/>
              </a:rPr>
              <a:t>MRC response is </a:t>
            </a:r>
            <a:r>
              <a:rPr kumimoji="1" lang="en-US" altLang="zh-TW" b="1" u="sng" kern="0" dirty="0">
                <a:solidFill>
                  <a:srgbClr val="000000"/>
                </a:solidFill>
                <a:latin typeface="Times New Roman"/>
              </a:rPr>
              <a:t>flat</a:t>
            </a:r>
            <a:r>
              <a:rPr kumimoji="1" lang="en-US" altLang="zh-TW" i="1" kern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= passes all frequencies with ≈ equal gain &amp; linear phase</a:t>
            </a:r>
          </a:p>
          <a:p>
            <a:pPr marL="1304925" lvl="2" indent="-395288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Amplitudes of different frequency components are correlated</a:t>
            </a:r>
          </a:p>
          <a:p>
            <a:pPr marL="1304925" lvl="2" indent="-395288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If two sinusoids have frequency separation greater than </a:t>
            </a:r>
            <a:r>
              <a:rPr kumimoji="1" lang="en-US" altLang="zh-TW" i="1" kern="0" dirty="0" err="1">
                <a:solidFill>
                  <a:srgbClr val="000000"/>
                </a:solidFill>
                <a:latin typeface="Times New Roman"/>
              </a:rPr>
              <a:t>B</a:t>
            </a:r>
            <a:r>
              <a:rPr kumimoji="1" lang="en-US" altLang="zh-TW" i="1" kern="0" baseline="-25000" dirty="0" err="1">
                <a:solidFill>
                  <a:srgbClr val="000000"/>
                </a:solidFill>
                <a:latin typeface="Times New Roman"/>
              </a:rPr>
              <a:t>c</a:t>
            </a: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, they are affected quite differently by the </a:t>
            </a:r>
            <a:r>
              <a:rPr kumimoji="1" lang="en-US" altLang="zh-TW" kern="0" dirty="0" smtClean="0">
                <a:solidFill>
                  <a:srgbClr val="000000"/>
                </a:solidFill>
                <a:latin typeface="Times New Roman"/>
              </a:rPr>
              <a:t>channel</a:t>
            </a:r>
          </a:p>
          <a:p>
            <a:pPr marL="1304925" lvl="2" indent="-395288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Estimates coherence </a:t>
            </a:r>
            <a:r>
              <a:rPr kumimoji="1" lang="en-US" altLang="zh-TW" kern="0" dirty="0" smtClean="0">
                <a:solidFill>
                  <a:srgbClr val="000000"/>
                </a:solidFill>
                <a:latin typeface="Times New Roman"/>
              </a:rPr>
              <a:t>BW </a:t>
            </a: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kumimoji="1" lang="en-US" altLang="zh-TW" i="1" kern="0" dirty="0" err="1">
                <a:solidFill>
                  <a:srgbClr val="000000"/>
                </a:solidFill>
                <a:latin typeface="Times New Roman"/>
              </a:rPr>
              <a:t>B</a:t>
            </a:r>
            <a:r>
              <a:rPr kumimoji="1" lang="en-US" altLang="zh-TW" i="1" kern="0" baseline="-25000" dirty="0" err="1">
                <a:solidFill>
                  <a:srgbClr val="000000"/>
                </a:solidFill>
                <a:latin typeface="Times New Roman"/>
              </a:rPr>
              <a:t>c</a:t>
            </a: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 )</a:t>
            </a:r>
          </a:p>
          <a:p>
            <a:pPr marL="1762125" lvl="3" indent="-395288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0.9 correlation → </a:t>
            </a:r>
            <a:r>
              <a:rPr kumimoji="1" lang="en-US" altLang="zh-TW" i="1" kern="0" dirty="0" err="1">
                <a:solidFill>
                  <a:srgbClr val="000000"/>
                </a:solidFill>
                <a:latin typeface="Times New Roman"/>
              </a:rPr>
              <a:t>B</a:t>
            </a:r>
            <a:r>
              <a:rPr kumimoji="1" lang="en-US" altLang="zh-TW" i="1" kern="0" baseline="-25000" dirty="0" err="1">
                <a:solidFill>
                  <a:srgbClr val="000000"/>
                </a:solidFill>
                <a:latin typeface="Times New Roman"/>
              </a:rPr>
              <a:t>c</a:t>
            </a: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 ≈ 1 / </a:t>
            </a:r>
            <a:r>
              <a:rPr kumimoji="1" lang="en-US" altLang="zh-TW" kern="0" dirty="0" smtClean="0">
                <a:solidFill>
                  <a:srgbClr val="000000"/>
                </a:solidFill>
                <a:latin typeface="Times New Roman"/>
              </a:rPr>
              <a:t>50      </a:t>
            </a:r>
            <a:r>
              <a:rPr kumimoji="1" lang="en-US" altLang="zh-TW" sz="2000" kern="0" dirty="0" smtClean="0">
                <a:solidFill>
                  <a:srgbClr val="000000"/>
                </a:solidFill>
                <a:latin typeface="Times New Roman"/>
              </a:rPr>
              <a:t>(signals </a:t>
            </a:r>
            <a:r>
              <a:rPr kumimoji="1" lang="en-US" altLang="zh-TW" sz="2000" kern="0" dirty="0">
                <a:solidFill>
                  <a:srgbClr val="000000"/>
                </a:solidFill>
                <a:latin typeface="Times New Roman"/>
              </a:rPr>
              <a:t>are </a:t>
            </a:r>
            <a:r>
              <a:rPr kumimoji="1" lang="en-US" altLang="zh-TW" sz="2000" kern="0" dirty="0" smtClean="0">
                <a:solidFill>
                  <a:srgbClr val="000000"/>
                </a:solidFill>
                <a:latin typeface="Times New Roman"/>
              </a:rPr>
              <a:t> above 90</a:t>
            </a:r>
            <a:r>
              <a:rPr kumimoji="1" lang="en-US" altLang="zh-TW" sz="2000" kern="0" dirty="0">
                <a:solidFill>
                  <a:srgbClr val="000000"/>
                </a:solidFill>
                <a:latin typeface="Times New Roman"/>
              </a:rPr>
              <a:t>% correlated with each other)</a:t>
            </a:r>
            <a:endParaRPr kumimoji="1" lang="en-US" altLang="zh-TW" kern="0" dirty="0">
              <a:solidFill>
                <a:srgbClr val="000000"/>
              </a:solidFill>
              <a:latin typeface="Times New Roman"/>
            </a:endParaRPr>
          </a:p>
          <a:p>
            <a:pPr marL="1762125" lvl="3" indent="-395288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Ø"/>
            </a:pP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0.5 correlation → </a:t>
            </a:r>
            <a:r>
              <a:rPr kumimoji="1" lang="en-US" altLang="zh-TW" i="1" kern="0" dirty="0" err="1">
                <a:solidFill>
                  <a:srgbClr val="000000"/>
                </a:solidFill>
                <a:latin typeface="Times New Roman"/>
              </a:rPr>
              <a:t>B</a:t>
            </a:r>
            <a:r>
              <a:rPr kumimoji="1" lang="en-US" altLang="zh-TW" i="1" kern="0" baseline="-25000" dirty="0" err="1">
                <a:solidFill>
                  <a:srgbClr val="000000"/>
                </a:solidFill>
                <a:latin typeface="Times New Roman"/>
              </a:rPr>
              <a:t>c</a:t>
            </a:r>
            <a:r>
              <a:rPr kumimoji="1" lang="en-US" altLang="zh-TW" kern="0" dirty="0">
                <a:solidFill>
                  <a:srgbClr val="000000"/>
                </a:solidFill>
                <a:latin typeface="Times New Roman"/>
              </a:rPr>
              <a:t> ≈ 1 / 5 </a:t>
            </a:r>
            <a:r>
              <a:rPr kumimoji="1" lang="en-US" altLang="zh-TW" kern="0" dirty="0" smtClean="0">
                <a:solidFill>
                  <a:srgbClr val="000000"/>
                </a:solidFill>
                <a:latin typeface="Times New Roman"/>
              </a:rPr>
              <a:t>    </a:t>
            </a:r>
            <a:r>
              <a:rPr kumimoji="1" lang="en-US" altLang="zh-TW" sz="2000" kern="0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kumimoji="1" lang="en-US" altLang="zh-TW" sz="2000" kern="0" dirty="0">
                <a:solidFill>
                  <a:srgbClr val="000000"/>
                </a:solidFill>
                <a:latin typeface="Times New Roman"/>
              </a:rPr>
              <a:t>signals are  above </a:t>
            </a:r>
            <a:r>
              <a:rPr kumimoji="1" lang="en-US" altLang="zh-TW" sz="2000" kern="0" dirty="0" smtClean="0">
                <a:solidFill>
                  <a:srgbClr val="000000"/>
                </a:solidFill>
                <a:latin typeface="Times New Roman"/>
              </a:rPr>
              <a:t>50</a:t>
            </a:r>
            <a:r>
              <a:rPr kumimoji="1" lang="en-US" altLang="zh-TW" sz="2000" kern="0" dirty="0">
                <a:solidFill>
                  <a:srgbClr val="000000"/>
                </a:solidFill>
                <a:latin typeface="Times New Roman"/>
              </a:rPr>
              <a:t>% correlated with each </a:t>
            </a:r>
            <a:r>
              <a:rPr kumimoji="1" lang="en-US" altLang="zh-TW" sz="2000" kern="0" dirty="0" smtClean="0">
                <a:solidFill>
                  <a:srgbClr val="000000"/>
                </a:solidFill>
                <a:latin typeface="Times New Roman"/>
              </a:rPr>
              <a:t>other)</a:t>
            </a:r>
            <a:endParaRPr kumimoji="1" lang="en-US" altLang="zh-TW" sz="2000" kern="0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8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764540278"/>
              </p:ext>
            </p:extLst>
          </p:nvPr>
        </p:nvGraphicFramePr>
        <p:xfrm>
          <a:off x="5737076" y="5195385"/>
          <a:ext cx="419100" cy="46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4" imgW="190440" imgH="228600" progId="">
                  <p:embed/>
                </p:oleObj>
              </mc:Choice>
              <mc:Fallback>
                <p:oleObj name="Equation" r:id="rId4" imgW="190440" imgH="228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7076" y="5195385"/>
                        <a:ext cx="419100" cy="46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293135333"/>
              </p:ext>
            </p:extLst>
          </p:nvPr>
        </p:nvGraphicFramePr>
        <p:xfrm>
          <a:off x="5322060" y="5921443"/>
          <a:ext cx="419100" cy="46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6" imgW="190440" imgH="228600" progId="">
                  <p:embed/>
                </p:oleObj>
              </mc:Choice>
              <mc:Fallback>
                <p:oleObj name="Equation" r:id="rId6" imgW="190440" imgH="2286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060" y="5921443"/>
                        <a:ext cx="419100" cy="46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237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9312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Coherence Time</a:t>
            </a:r>
            <a:r>
              <a:rPr lang="en-US" dirty="0" smtClean="0"/>
              <a:t> (</a:t>
            </a:r>
            <a:r>
              <a:rPr lang="en-US" i="1" dirty="0" err="1" smtClean="0"/>
              <a:t>T</a:t>
            </a:r>
            <a:r>
              <a:rPr lang="en-US" i="1" baseline="-25000" dirty="0" err="1"/>
              <a:t>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38" name="Rectangle 4"/>
          <p:cNvSpPr txBox="1">
            <a:spLocks noChangeArrowheads="1"/>
          </p:cNvSpPr>
          <p:nvPr/>
        </p:nvSpPr>
        <p:spPr>
          <a:xfrm>
            <a:off x="381000" y="908720"/>
            <a:ext cx="8382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 time is the time duration over which the channel impulse response is essentially invariant. </a:t>
            </a:r>
          </a:p>
          <a:p>
            <a:pPr algn="just" fontAlgn="auto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symbol period of the baseband signal is greater the coherence time, than the signal will distort.</a:t>
            </a:r>
          </a:p>
          <a:p>
            <a:pPr algn="just" fontAlgn="auto"/>
            <a:r>
              <a:rPr lang="en-US" altLang="en-US" sz="2400" kern="0" dirty="0">
                <a:solidFill>
                  <a:srgbClr val="000000"/>
                </a:solidFill>
                <a:latin typeface="Times New Roman"/>
              </a:rPr>
              <a:t>Coherence time is also defined as:</a:t>
            </a:r>
            <a:endParaRPr lang="en-US" altLang="zh-TW" dirty="0" smtClean="0">
              <a:ea typeface="新細明體" pitchFamily="18" charset="-120"/>
              <a:cs typeface="Courier New" panose="02070309020205020404" pitchFamily="49" charset="0"/>
            </a:endParaRPr>
          </a:p>
          <a:p>
            <a:pPr lvl="1" fontAlgn="auto"/>
            <a:endParaRPr lang="en-US" altLang="en-US" dirty="0" smtClean="0"/>
          </a:p>
          <a:p>
            <a:pPr lvl="1" fontAlgn="auto"/>
            <a:endParaRPr lang="en-US" altLang="en-US" dirty="0" smtClean="0"/>
          </a:p>
        </p:txBody>
      </p:sp>
      <p:graphicFrame>
        <p:nvGraphicFramePr>
          <p:cNvPr id="3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563714"/>
              </p:ext>
            </p:extLst>
          </p:nvPr>
        </p:nvGraphicFramePr>
        <p:xfrm>
          <a:off x="5651500" y="4287838"/>
          <a:ext cx="112553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Equation" r:id="rId4" imgW="482400" imgH="393480" progId="Equation.3">
                  <p:embed/>
                </p:oleObj>
              </mc:Choice>
              <mc:Fallback>
                <p:oleObj name="Equation" r:id="rId4" imgW="482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287838"/>
                        <a:ext cx="1125538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8"/>
          <p:cNvSpPr txBox="1">
            <a:spLocks noChangeArrowheads="1"/>
          </p:cNvSpPr>
          <p:nvPr/>
        </p:nvSpPr>
        <p:spPr bwMode="auto">
          <a:xfrm>
            <a:off x="4841875" y="3940175"/>
            <a:ext cx="3921125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800" dirty="0"/>
              <a:t>where </a:t>
            </a:r>
            <a:r>
              <a:rPr lang="en-US" sz="1800" i="1" dirty="0" err="1"/>
              <a:t>f</a:t>
            </a:r>
            <a:r>
              <a:rPr lang="en-US" sz="1800" baseline="-25000" dirty="0" err="1"/>
              <a:t>m</a:t>
            </a:r>
            <a:r>
              <a:rPr lang="en-US" sz="1800" dirty="0"/>
              <a:t> is the maximum Doppler spread given by </a:t>
            </a:r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1754188" y="3975100"/>
            <a:ext cx="3143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" name="Line 10"/>
          <p:cNvSpPr>
            <a:spLocks noChangeShapeType="1"/>
          </p:cNvSpPr>
          <p:nvPr/>
        </p:nvSpPr>
        <p:spPr bwMode="auto">
          <a:xfrm flipV="1">
            <a:off x="2068513" y="3570288"/>
            <a:ext cx="0" cy="404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4" name="Line 11"/>
          <p:cNvSpPr>
            <a:spLocks noChangeShapeType="1"/>
          </p:cNvSpPr>
          <p:nvPr/>
        </p:nvSpPr>
        <p:spPr bwMode="auto">
          <a:xfrm>
            <a:off x="2063750" y="3571875"/>
            <a:ext cx="7207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" name="Line 12"/>
          <p:cNvSpPr>
            <a:spLocks noChangeShapeType="1"/>
          </p:cNvSpPr>
          <p:nvPr/>
        </p:nvSpPr>
        <p:spPr bwMode="auto">
          <a:xfrm flipV="1">
            <a:off x="2784475" y="3581400"/>
            <a:ext cx="0" cy="4048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6" name="Line 13"/>
          <p:cNvSpPr>
            <a:spLocks noChangeShapeType="1"/>
          </p:cNvSpPr>
          <p:nvPr/>
        </p:nvSpPr>
        <p:spPr bwMode="auto">
          <a:xfrm>
            <a:off x="2790825" y="3984625"/>
            <a:ext cx="3143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7" name="Line 14"/>
          <p:cNvSpPr>
            <a:spLocks noChangeShapeType="1"/>
          </p:cNvSpPr>
          <p:nvPr/>
        </p:nvSpPr>
        <p:spPr bwMode="auto">
          <a:xfrm flipV="1">
            <a:off x="3105150" y="3579813"/>
            <a:ext cx="0" cy="404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" name="Line 15"/>
          <p:cNvSpPr>
            <a:spLocks noChangeShapeType="1"/>
          </p:cNvSpPr>
          <p:nvPr/>
        </p:nvSpPr>
        <p:spPr bwMode="auto">
          <a:xfrm>
            <a:off x="3100388" y="3570288"/>
            <a:ext cx="7207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" name="Line 16"/>
          <p:cNvSpPr>
            <a:spLocks noChangeShapeType="1"/>
          </p:cNvSpPr>
          <p:nvPr/>
        </p:nvSpPr>
        <p:spPr bwMode="auto">
          <a:xfrm flipV="1">
            <a:off x="3821113" y="3568700"/>
            <a:ext cx="0" cy="4048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3830638" y="3963988"/>
            <a:ext cx="3143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1" name="Line 18"/>
          <p:cNvSpPr>
            <a:spLocks noChangeShapeType="1"/>
          </p:cNvSpPr>
          <p:nvPr/>
        </p:nvSpPr>
        <p:spPr bwMode="auto">
          <a:xfrm>
            <a:off x="2063750" y="4211638"/>
            <a:ext cx="708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auto">
          <a:xfrm>
            <a:off x="2139950" y="3863975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</a:t>
            </a:r>
            <a:r>
              <a:rPr lang="en-US" altLang="en-US" sz="1800" baseline="-2500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53" name="Line 20"/>
          <p:cNvSpPr>
            <a:spLocks noChangeShapeType="1"/>
          </p:cNvSpPr>
          <p:nvPr/>
        </p:nvSpPr>
        <p:spPr bwMode="auto">
          <a:xfrm>
            <a:off x="2051050" y="4437063"/>
            <a:ext cx="45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2051050" y="4437063"/>
            <a:ext cx="43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</a:t>
            </a:r>
            <a:r>
              <a:rPr lang="en-US" altLang="en-US" sz="1800" baseline="-25000">
                <a:latin typeface="Arial" panose="020B0604020202020204" pitchFamily="34" charset="0"/>
              </a:rPr>
              <a:t>C</a:t>
            </a:r>
          </a:p>
        </p:txBody>
      </p:sp>
      <p:graphicFrame>
        <p:nvGraphicFramePr>
          <p:cNvPr id="6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228944"/>
              </p:ext>
            </p:extLst>
          </p:nvPr>
        </p:nvGraphicFramePr>
        <p:xfrm>
          <a:off x="5588000" y="2492375"/>
          <a:ext cx="14605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Equation" r:id="rId6" imgW="723600" imgH="431640" progId="Equation.3">
                  <p:embed/>
                </p:oleObj>
              </mc:Choice>
              <mc:Fallback>
                <p:oleObj name="Equation" r:id="rId6" imgW="723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2492375"/>
                        <a:ext cx="14605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5477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9312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720"/>
            <a:ext cx="9001125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69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9312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dirty="0"/>
              <a:t>Doppler </a:t>
            </a:r>
            <a:r>
              <a:rPr lang="en-US" dirty="0" smtClean="0"/>
              <a:t>Spread (</a:t>
            </a:r>
            <a:r>
              <a:rPr lang="en-US" i="1" dirty="0" smtClean="0"/>
              <a:t>B</a:t>
            </a:r>
            <a:r>
              <a:rPr lang="en-US" i="1" baseline="-25000" dirty="0"/>
              <a:t>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25250"/>
            <a:ext cx="7592391" cy="4735998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Measure of spectral broadening caused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by motion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know how to compute Doppler shift: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 dirty="0" err="1">
                <a:latin typeface="Times New Roman" pitchFamily="18" charset="0"/>
                <a:cs typeface="Times New Roman" pitchFamily="18" charset="0"/>
              </a:rPr>
              <a:t>d</a:t>
            </a:r>
            <a:endParaRPr lang="en-US" sz="2800" i="1" baseline="-25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Doppler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spread,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i="1" baseline="-250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is defined as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maximum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Doppler shift: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v/</a:t>
            </a:r>
            <a:r>
              <a:rPr lang="el-GR" sz="2800" i="1" dirty="0">
                <a:latin typeface="Times New Roman" pitchFamily="18" charset="0"/>
                <a:cs typeface="Times New Roman" pitchFamily="18" charset="0"/>
              </a:rPr>
              <a:t>λ</a:t>
            </a: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baseband signal bandwidth is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much greater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than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i="1" baseline="-250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then effect of Doppler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spread is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negligible at the receiver.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68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9312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Types of small-scale fading</a:t>
            </a:r>
            <a:endParaRPr lang="en-US" dirty="0"/>
          </a:p>
        </p:txBody>
      </p:sp>
      <p:pic>
        <p:nvPicPr>
          <p:cNvPr id="31" name="Picture 4" descr="TMP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1001985"/>
            <a:ext cx="8610600" cy="5667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424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1" y="91976"/>
            <a:ext cx="6447501" cy="1320800"/>
          </a:xfrm>
        </p:spPr>
        <p:txBody>
          <a:bodyPr/>
          <a:lstStyle/>
          <a:p>
            <a:pPr>
              <a:defRPr/>
            </a:pPr>
            <a:r>
              <a:rPr lang="tr-TR" dirty="0"/>
              <a:t>Flat Fading</a:t>
            </a:r>
            <a:endParaRPr lang="en-US" dirty="0"/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336550" y="1143000"/>
            <a:ext cx="84264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191808" y="990600"/>
            <a:ext cx="7431360" cy="5181600"/>
          </a:xfrm>
        </p:spPr>
        <p:txBody>
          <a:bodyPr>
            <a:noAutofit/>
          </a:bodyPr>
          <a:lstStyle/>
          <a:p>
            <a:pPr algn="just">
              <a:lnSpc>
                <a:spcPct val="85000"/>
              </a:lnSpc>
            </a:pPr>
            <a:r>
              <a:rPr lang="tr-T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</a:t>
            </a:r>
            <a:r>
              <a:rPr lang="tr-TR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period</a:t>
            </a:r>
            <a:r>
              <a:rPr lang="tr-T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transmitted signal is much larger than the Delay Spread of the channel</a:t>
            </a:r>
          </a:p>
          <a:p>
            <a:pPr lvl="1" algn="just">
              <a:lnSpc>
                <a:spcPct val="90000"/>
              </a:lnSpc>
            </a:pPr>
            <a:r>
              <a:rPr lang="tr-T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the applied signal is narrow.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If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30000" dirty="0" err="1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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30000" dirty="0" err="1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, and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T</a:t>
            </a:r>
            <a:r>
              <a:rPr lang="en-US" altLang="zh-TW" sz="2400" baseline="-30000" dirty="0" err="1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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TW" sz="2400" baseline="-300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TW" sz="2400" baseline="-300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Flat fading</a:t>
            </a:r>
            <a:endParaRPr lang="tr-TR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5000"/>
              </a:lnSpc>
            </a:pPr>
            <a:r>
              <a:rPr lang="tr-T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cause deep fades.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require 20 or 30 dB more power to achieve low BER during times of deep fades.</a:t>
            </a:r>
          </a:p>
          <a:p>
            <a:pPr lvl="1" algn="just">
              <a:lnSpc>
                <a:spcPct val="90000"/>
              </a:lnSpc>
            </a:pPr>
            <a:r>
              <a:rPr lang="tr-T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transmit power to combat this situation.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5000"/>
              </a:lnSpc>
            </a:pP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Flat fading channels are known as amplitude varying channels or narrow-band channels.</a:t>
            </a:r>
          </a:p>
          <a:p>
            <a:pPr algn="just">
              <a:lnSpc>
                <a:spcPct val="8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 of thumb that channel is assumed to be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fading if </a:t>
            </a:r>
            <a:r>
              <a:rPr lang="en-US" altLang="zh-TW" sz="24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T</a:t>
            </a:r>
            <a:r>
              <a:rPr lang="en-US" altLang="zh-TW" sz="2400" baseline="-300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&gt; 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10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TW" sz="2400" baseline="-300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zh-TW" sz="2400" dirty="0" smtClean="0">
              <a:latin typeface="Times New Roman" panose="02020603050405020304" pitchFamily="18" charset="0"/>
              <a:ea typeface="MingLiU" pitchFamily="49" charset="-120"/>
              <a:cs typeface="Times New Roman" panose="02020603050405020304" pitchFamily="18" charset="0"/>
            </a:endParaRPr>
          </a:p>
          <a:p>
            <a:pPr algn="just">
              <a:lnSpc>
                <a:spcPct val="8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frequencies undergone the same amount of fading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85000"/>
              </a:lnSpc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9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1" y="91976"/>
            <a:ext cx="6447501" cy="1320800"/>
          </a:xfrm>
        </p:spPr>
        <p:txBody>
          <a:bodyPr/>
          <a:lstStyle/>
          <a:p>
            <a:pPr>
              <a:defRPr/>
            </a:pPr>
            <a:r>
              <a:rPr lang="tr-TR" dirty="0"/>
              <a:t>Frequency Selective Fading</a:t>
            </a:r>
            <a:endParaRPr lang="en-US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36550" y="1143000"/>
            <a:ext cx="84264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92968" y="908720"/>
            <a:ext cx="8007424" cy="5181600"/>
          </a:xfrm>
        </p:spPr>
        <p:txBody>
          <a:bodyPr>
            <a:noAutofit/>
          </a:bodyPr>
          <a:lstStyle/>
          <a:p>
            <a:r>
              <a:rPr lang="tr-T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channel multipath delay spread is greater than the symbol period. </a:t>
            </a:r>
          </a:p>
          <a:p>
            <a:pPr lvl="1"/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If </a:t>
            </a:r>
            <a:r>
              <a:rPr lang="en-US" altLang="zh-TW" sz="24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300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&gt;&gt;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300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, and </a:t>
            </a:r>
            <a:r>
              <a:rPr lang="en-US" altLang="zh-TW" sz="24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T</a:t>
            </a:r>
            <a:r>
              <a:rPr lang="en-US" altLang="zh-TW" sz="2400" baseline="-300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&lt;&lt;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TW" sz="2400" baseline="-300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TW" sz="2400" baseline="-300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Frequency selective 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fading</a:t>
            </a:r>
            <a:endParaRPr lang="tr-TR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tr-TR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 induces Intersymbol Interference (ISI)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Frequency selective fading channels are known as wideband channels since the BW of the signal is wider than the BW of the channel impulse response.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 of thumb that channel is assumed to be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selective fading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T</a:t>
            </a:r>
            <a:r>
              <a:rPr lang="en-US" altLang="zh-TW" sz="2400" baseline="-30000" dirty="0" err="1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&lt;=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</a:rPr>
              <a:t> 10</a:t>
            </a:r>
            <a:r>
              <a:rPr lang="en-US" altLang="zh-TW" sz="24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TW" sz="2400" baseline="-30000" dirty="0" smtClean="0">
                <a:latin typeface="Times New Roman" panose="02020603050405020304" pitchFamily="18" charset="0"/>
                <a:ea typeface="MingLiU" pitchFamily="49" charset="-12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frequencies undergone the same amount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fading.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75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0" y="1090613"/>
            <a:ext cx="91440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smtClean="0">
                <a:solidFill>
                  <a:srgbClr val="000000"/>
                </a:solidFill>
                <a:latin typeface="Times New Roman" panose="02020603050405020304" pitchFamily="18" charset="0"/>
              </a:rPr>
              <a:t>From the previous calculation of PDP, would the channel be regarded as a wideband channel for a binary data system with data rate of 25 Kbits/sec?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73075"/>
          </a:xfrm>
          <a:noFill/>
          <a:ln/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</a:rPr>
              <a:t>Example 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67968" name="Text Box 32"/>
          <p:cNvSpPr txBox="1">
            <a:spLocks noChangeArrowheads="1"/>
          </p:cNvSpPr>
          <p:nvPr/>
        </p:nvSpPr>
        <p:spPr bwMode="auto">
          <a:xfrm>
            <a:off x="731838" y="4827588"/>
            <a:ext cx="7107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18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70" name="Text Box 34"/>
          <p:cNvSpPr txBox="1">
            <a:spLocks noChangeArrowheads="1"/>
          </p:cNvSpPr>
          <p:nvPr/>
        </p:nvSpPr>
        <p:spPr bwMode="auto">
          <a:xfrm>
            <a:off x="854075" y="1876425"/>
            <a:ext cx="6632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If the data rate is 25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10</a:t>
            </a:r>
            <a:r>
              <a:rPr lang="en-GB" sz="1800" baseline="30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bits/sec, then the symbol period 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is:</a:t>
            </a:r>
          </a:p>
        </p:txBody>
      </p:sp>
      <p:graphicFrame>
        <p:nvGraphicFramePr>
          <p:cNvPr id="167971" name="Object 35"/>
          <p:cNvGraphicFramePr>
            <a:graphicFrameLocks noChangeAspect="1"/>
          </p:cNvGraphicFramePr>
          <p:nvPr/>
        </p:nvGraphicFramePr>
        <p:xfrm>
          <a:off x="2489200" y="2387600"/>
          <a:ext cx="40020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2628720" imgH="419040" progId="Equation.DSMT4">
                  <p:embed/>
                </p:oleObj>
              </mc:Choice>
              <mc:Fallback>
                <p:oleObj name="Equation" r:id="rId3" imgW="2628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2387600"/>
                        <a:ext cx="4002088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73" name="Text Box 37"/>
          <p:cNvSpPr txBox="1">
            <a:spLocks noChangeArrowheads="1"/>
          </p:cNvSpPr>
          <p:nvPr/>
        </p:nvSpPr>
        <p:spPr bwMode="auto">
          <a:xfrm>
            <a:off x="823913" y="3211513"/>
            <a:ext cx="8174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It is found previously that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GB" sz="1800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RMS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1.08 sec, so rule of thumb         10</a:t>
            </a:r>
            <a:r>
              <a:rPr lang="en-GB" sz="1800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RMS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 10 sec</a:t>
            </a:r>
          </a:p>
        </p:txBody>
      </p:sp>
      <p:sp>
        <p:nvSpPr>
          <p:cNvPr id="167974" name="AutoShape 38"/>
          <p:cNvSpPr>
            <a:spLocks noChangeArrowheads="1"/>
          </p:cNvSpPr>
          <p:nvPr/>
        </p:nvSpPr>
        <p:spPr bwMode="auto">
          <a:xfrm>
            <a:off x="6581775" y="3327400"/>
            <a:ext cx="330200" cy="158750"/>
          </a:xfrm>
          <a:prstGeom prst="rightArrow">
            <a:avLst>
              <a:gd name="adj1" fmla="val 50000"/>
              <a:gd name="adj2" fmla="val 52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8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75" name="Text Box 39"/>
          <p:cNvSpPr txBox="1">
            <a:spLocks noChangeArrowheads="1"/>
          </p:cNvSpPr>
          <p:nvPr/>
        </p:nvSpPr>
        <p:spPr bwMode="auto">
          <a:xfrm>
            <a:off x="836613" y="3746500"/>
            <a:ext cx="7693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Hence, the channel can regards as narrowband flat fading since 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&gt;&gt; 10</a:t>
            </a:r>
            <a:r>
              <a:rPr lang="en-GB" sz="1800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RMS </a:t>
            </a:r>
            <a:endParaRPr lang="en-GB" sz="1800" smtClean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7976" name="Rectangle 40"/>
          <p:cNvSpPr>
            <a:spLocks noChangeArrowheads="1"/>
          </p:cNvSpPr>
          <p:nvPr/>
        </p:nvSpPr>
        <p:spPr bwMode="auto">
          <a:xfrm>
            <a:off x="0" y="4413250"/>
            <a:ext cx="9144000" cy="814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smtClean="0">
                <a:solidFill>
                  <a:srgbClr val="000000"/>
                </a:solidFill>
                <a:latin typeface="Times New Roman" panose="02020603050405020304" pitchFamily="18" charset="0"/>
              </a:rPr>
              <a:t>What is the maximum data rate for the system to be ISI-free? (For ISI-free, </a:t>
            </a:r>
            <a:r>
              <a:rPr lang="en-US" sz="2200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sz="2200" i="1" baseline="-25000" smtClean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sz="2200" smtClean="0">
                <a:solidFill>
                  <a:srgbClr val="000000"/>
                </a:solidFill>
                <a:latin typeface="Times New Roman" panose="02020603050405020304" pitchFamily="18" charset="0"/>
              </a:rPr>
              <a:t> &gt;10</a:t>
            </a:r>
            <a:r>
              <a:rPr lang="en-GB" sz="22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GB" sz="2200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RMS</a:t>
            </a:r>
            <a:r>
              <a:rPr lang="en-US" sz="2200" smtClean="0">
                <a:solidFill>
                  <a:srgbClr val="000000"/>
                </a:solidFill>
                <a:latin typeface="Times New Roman" panose="02020603050405020304" pitchFamily="18" charset="0"/>
              </a:rPr>
              <a:t> condition must be fulfilled)</a:t>
            </a:r>
          </a:p>
        </p:txBody>
      </p:sp>
      <p:sp>
        <p:nvSpPr>
          <p:cNvPr id="167977" name="Rectangle 41"/>
          <p:cNvSpPr>
            <a:spLocks noChangeArrowheads="1"/>
          </p:cNvSpPr>
          <p:nvPr/>
        </p:nvSpPr>
        <p:spPr bwMode="auto">
          <a:xfrm>
            <a:off x="700088" y="5197475"/>
            <a:ext cx="73644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Since 10</a:t>
            </a:r>
            <a:r>
              <a:rPr lang="en-GB" sz="1800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RMS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is about 10 sec, then the minimum symbol period 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must not be less than 10 sec. Therefore, we can write that 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10 sec</a:t>
            </a:r>
          </a:p>
        </p:txBody>
      </p:sp>
      <p:sp>
        <p:nvSpPr>
          <p:cNvPr id="167978" name="Text Box 42"/>
          <p:cNvSpPr txBox="1">
            <a:spLocks noChangeArrowheads="1"/>
          </p:cNvSpPr>
          <p:nvPr/>
        </p:nvSpPr>
        <p:spPr bwMode="auto">
          <a:xfrm>
            <a:off x="585788" y="6064250"/>
            <a:ext cx="8262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Hence, the maximum data rate is: 1/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1/(10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10</a:t>
            </a:r>
            <a:r>
              <a:rPr lang="en-GB" sz="1800" baseline="30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-6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= 100Kbits/sec, for ISI-free system </a:t>
            </a:r>
          </a:p>
        </p:txBody>
      </p:sp>
    </p:spTree>
    <p:extLst>
      <p:ext uri="{BB962C8B-B14F-4D97-AF65-F5344CB8AC3E}">
        <p14:creationId xmlns:p14="http://schemas.microsoft.com/office/powerpoint/2010/main" val="295421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ChangeArrowheads="1"/>
          </p:cNvSpPr>
          <p:nvPr/>
        </p:nvSpPr>
        <p:spPr bwMode="auto">
          <a:xfrm>
            <a:off x="0" y="1090613"/>
            <a:ext cx="9144000" cy="6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smtClean="0">
                <a:solidFill>
                  <a:srgbClr val="000000"/>
                </a:solidFill>
                <a:latin typeface="Times New Roman" panose="02020603050405020304" pitchFamily="18" charset="0"/>
              </a:rPr>
              <a:t>Can the channel considered as narrowband when the data rate in the previous example is increased to 200Kbits/sec?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73075"/>
          </a:xfrm>
          <a:noFill/>
          <a:ln/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</a:rPr>
              <a:t>Example 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731838" y="4827588"/>
            <a:ext cx="7107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18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854075" y="1876425"/>
            <a:ext cx="6632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If the data rate is 200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10</a:t>
            </a:r>
            <a:r>
              <a:rPr lang="en-GB" sz="1800" baseline="30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bits/sec, then the symbol period 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is:</a:t>
            </a:r>
          </a:p>
        </p:txBody>
      </p:sp>
      <p:graphicFrame>
        <p:nvGraphicFramePr>
          <p:cNvPr id="173062" name="Object 6"/>
          <p:cNvGraphicFramePr>
            <a:graphicFrameLocks noChangeAspect="1"/>
          </p:cNvGraphicFramePr>
          <p:nvPr/>
        </p:nvGraphicFramePr>
        <p:xfrm>
          <a:off x="2555875" y="2387600"/>
          <a:ext cx="38671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3" imgW="2539800" imgH="419040" progId="Equation.DSMT4">
                  <p:embed/>
                </p:oleObj>
              </mc:Choice>
              <mc:Fallback>
                <p:oleObj name="Equation" r:id="rId3" imgW="2539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387600"/>
                        <a:ext cx="38671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823913" y="3211513"/>
            <a:ext cx="8174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We know from previously that  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10</a:t>
            </a:r>
            <a:r>
              <a:rPr lang="en-GB" sz="1800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RMS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 10 sec which is greater than 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73065" name="Text Box 9"/>
          <p:cNvSpPr txBox="1">
            <a:spLocks noChangeArrowheads="1"/>
          </p:cNvSpPr>
          <p:nvPr/>
        </p:nvSpPr>
        <p:spPr bwMode="auto">
          <a:xfrm>
            <a:off x="642938" y="4014788"/>
            <a:ext cx="79867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</a:rPr>
              <a:t>Therefore, the channel can no longer considered as narrowband since </a:t>
            </a:r>
            <a:r>
              <a:rPr lang="en-GB" sz="1800" i="1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GB" sz="1800" i="1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&lt; 10</a:t>
            </a:r>
            <a:r>
              <a:rPr lang="en-GB" sz="1800" baseline="-250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RMS </a:t>
            </a:r>
            <a:r>
              <a:rPr lang="en-GB" sz="1800" smtClean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Hence, a wideband frequency selective fading channel.</a:t>
            </a:r>
          </a:p>
        </p:txBody>
      </p:sp>
    </p:spTree>
    <p:extLst>
      <p:ext uri="{BB962C8B-B14F-4D97-AF65-F5344CB8AC3E}">
        <p14:creationId xmlns:p14="http://schemas.microsoft.com/office/powerpoint/2010/main" val="268747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1" y="44624"/>
            <a:ext cx="6447501" cy="1320800"/>
          </a:xfrm>
        </p:spPr>
        <p:txBody>
          <a:bodyPr/>
          <a:lstStyle/>
          <a:p>
            <a:pPr>
              <a:defRPr/>
            </a:pPr>
            <a:r>
              <a:rPr lang="en-US" dirty="0"/>
              <a:t>Fast Fading</a:t>
            </a: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36550" y="1143000"/>
            <a:ext cx="84264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66800"/>
            <a:ext cx="7848600" cy="5181600"/>
          </a:xfrm>
        </p:spPr>
        <p:txBody>
          <a:bodyPr>
            <a:normAutofit/>
          </a:bodyPr>
          <a:lstStyle/>
          <a:p>
            <a:pPr>
              <a:lnSpc>
                <a:spcPct val="85000"/>
              </a:lnSpc>
            </a:pPr>
            <a:r>
              <a:rPr lang="en-US" altLang="en-US" sz="1800" dirty="0" smtClean="0"/>
              <a:t>Due to Doppler Spread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Rate of change of the</a:t>
            </a:r>
            <a:r>
              <a:rPr lang="en-US" altLang="en-US" sz="1800" dirty="0" smtClean="0">
                <a:solidFill>
                  <a:srgbClr val="FF0000"/>
                </a:solidFill>
              </a:rPr>
              <a:t> </a:t>
            </a:r>
            <a:r>
              <a:rPr lang="en-US" altLang="en-US" sz="1800" u="sng" dirty="0" smtClean="0">
                <a:solidFill>
                  <a:srgbClr val="FF0000"/>
                </a:solidFill>
              </a:rPr>
              <a:t>channel characteristics</a:t>
            </a:r>
            <a:r>
              <a:rPr lang="en-US" altLang="en-US" sz="1800" dirty="0" smtClean="0"/>
              <a:t> is </a:t>
            </a:r>
            <a:r>
              <a:rPr lang="en-US" altLang="en-US" sz="1800" b="1" dirty="0" smtClean="0"/>
              <a:t>larger</a:t>
            </a:r>
            <a:r>
              <a:rPr lang="en-US" altLang="en-US" sz="1800" dirty="0" smtClean="0"/>
              <a:t> than the</a:t>
            </a:r>
            <a:br>
              <a:rPr lang="en-US" altLang="en-US" sz="1800" dirty="0" smtClean="0"/>
            </a:br>
            <a:r>
              <a:rPr lang="en-US" altLang="en-US" sz="1800" dirty="0" smtClean="0"/>
              <a:t>Rate of change of the</a:t>
            </a:r>
            <a:r>
              <a:rPr lang="en-US" altLang="en-US" sz="1800" dirty="0" smtClean="0">
                <a:solidFill>
                  <a:srgbClr val="FF0000"/>
                </a:solidFill>
              </a:rPr>
              <a:t> </a:t>
            </a:r>
            <a:r>
              <a:rPr lang="en-US" altLang="en-US" sz="1800" u="sng" dirty="0" smtClean="0">
                <a:solidFill>
                  <a:srgbClr val="FF0000"/>
                </a:solidFill>
              </a:rPr>
              <a:t>transmitted signal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The channel changes during a symbol period.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 smtClean="0"/>
              <a:t>The channel changes because of receiver motion. </a:t>
            </a:r>
          </a:p>
          <a:p>
            <a:pPr lvl="1">
              <a:lnSpc>
                <a:spcPct val="90000"/>
              </a:lnSpc>
            </a:pPr>
            <a:r>
              <a:rPr lang="en-US" altLang="en-US" sz="1800" u="sng" dirty="0" smtClean="0"/>
              <a:t>Coherence time</a:t>
            </a:r>
            <a:r>
              <a:rPr lang="en-US" altLang="en-US" sz="1800" dirty="0" smtClean="0"/>
              <a:t> of the channel is smaller than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800" dirty="0" smtClean="0"/>
              <a:t>	the </a:t>
            </a:r>
            <a:r>
              <a:rPr lang="en-US" altLang="en-US" sz="1800" u="sng" dirty="0" smtClean="0"/>
              <a:t>symbol period</a:t>
            </a:r>
            <a:r>
              <a:rPr lang="en-US" altLang="en-US" sz="1800" dirty="0" smtClean="0"/>
              <a:t> of the transmitter signal 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 smtClean="0">
                <a:ea typeface="MingLiU" pitchFamily="49" charset="-120"/>
                <a:cs typeface="Courier New" panose="02070309020205020404" pitchFamily="49" charset="0"/>
              </a:rPr>
              <a:t>It causes frequency dispersion due to Doppler spread and leads to  distortion.</a:t>
            </a:r>
          </a:p>
          <a:p>
            <a:pPr lvl="1">
              <a:lnSpc>
                <a:spcPct val="90000"/>
              </a:lnSpc>
            </a:pPr>
            <a:endParaRPr lang="en-US" altLang="en-US" sz="2000" dirty="0" smtClean="0"/>
          </a:p>
        </p:txBody>
      </p:sp>
      <p:sp>
        <p:nvSpPr>
          <p:cNvPr id="89093" name="Text Box 6"/>
          <p:cNvSpPr txBox="1">
            <a:spLocks noChangeArrowheads="1"/>
          </p:cNvSpPr>
          <p:nvPr/>
        </p:nvSpPr>
        <p:spPr bwMode="auto">
          <a:xfrm>
            <a:off x="2343150" y="4581128"/>
            <a:ext cx="1581150" cy="137318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 dirty="0">
                <a:latin typeface="Arial" panose="020B0604020202020204" pitchFamily="34" charset="0"/>
              </a:rPr>
              <a:t>Occurs when: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 dirty="0">
                <a:latin typeface="Arial" panose="020B0604020202020204" pitchFamily="34" charset="0"/>
              </a:rPr>
              <a:t>B</a:t>
            </a:r>
            <a:r>
              <a:rPr lang="en-US" altLang="en-US" sz="1800" baseline="-25000" dirty="0">
                <a:latin typeface="Arial" panose="020B0604020202020204" pitchFamily="34" charset="0"/>
              </a:rPr>
              <a:t>S </a:t>
            </a:r>
            <a:r>
              <a:rPr lang="en-US" altLang="en-US" sz="1800" dirty="0">
                <a:latin typeface="Arial" panose="020B0604020202020204" pitchFamily="34" charset="0"/>
              </a:rPr>
              <a:t>&lt; B</a:t>
            </a:r>
            <a:r>
              <a:rPr lang="en-US" altLang="en-US" sz="1800" baseline="-25000" dirty="0">
                <a:latin typeface="Arial" panose="020B0604020202020204" pitchFamily="34" charset="0"/>
              </a:rPr>
              <a:t>D</a:t>
            </a:r>
            <a:endParaRPr lang="tr-TR" altLang="en-US" sz="1800" baseline="-25000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 dirty="0">
                <a:latin typeface="Arial" panose="020B0604020202020204" pitchFamily="34" charset="0"/>
              </a:rPr>
              <a:t>and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 dirty="0">
                <a:latin typeface="Arial" panose="020B0604020202020204" pitchFamily="34" charset="0"/>
              </a:rPr>
              <a:t>T</a:t>
            </a:r>
            <a:r>
              <a:rPr lang="tr-TR" altLang="en-US" sz="1800" baseline="-25000" dirty="0">
                <a:latin typeface="Arial" panose="020B0604020202020204" pitchFamily="34" charset="0"/>
              </a:rPr>
              <a:t>S</a:t>
            </a:r>
            <a:r>
              <a:rPr lang="tr-TR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&gt;</a:t>
            </a:r>
            <a:r>
              <a:rPr lang="tr-TR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T</a:t>
            </a:r>
            <a:r>
              <a:rPr lang="en-US" altLang="en-US" sz="1800" baseline="-25000" dirty="0">
                <a:latin typeface="Arial" panose="020B0604020202020204" pitchFamily="34" charset="0"/>
              </a:rPr>
              <a:t>C</a:t>
            </a:r>
            <a:endParaRPr lang="tr-TR" altLang="en-US" sz="1800" baseline="-25000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tr-TR" altLang="en-US" sz="1800" baseline="-25000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0222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8001" y="116632"/>
            <a:ext cx="6447501" cy="1320800"/>
          </a:xfrm>
        </p:spPr>
        <p:txBody>
          <a:bodyPr/>
          <a:lstStyle/>
          <a:p>
            <a:pPr>
              <a:defRPr/>
            </a:pPr>
            <a:r>
              <a:rPr lang="en-US" dirty="0"/>
              <a:t>Slow Fading</a:t>
            </a: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36550" y="1143000"/>
            <a:ext cx="84264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143000"/>
            <a:ext cx="8382000" cy="5181600"/>
          </a:xfrm>
        </p:spPr>
        <p:txBody>
          <a:bodyPr/>
          <a:lstStyle/>
          <a:p>
            <a:r>
              <a:rPr lang="en-US" altLang="en-US" smtClean="0"/>
              <a:t>Due to Doppler Spread</a:t>
            </a:r>
          </a:p>
          <a:p>
            <a:pPr lvl="1"/>
            <a:r>
              <a:rPr lang="en-US" altLang="en-US" smtClean="0"/>
              <a:t>Rate of change of the</a:t>
            </a:r>
            <a:r>
              <a:rPr lang="en-US" altLang="en-US" smtClean="0">
                <a:solidFill>
                  <a:srgbClr val="FF0000"/>
                </a:solidFill>
              </a:rPr>
              <a:t> </a:t>
            </a:r>
            <a:r>
              <a:rPr lang="en-US" altLang="en-US" u="sng" smtClean="0">
                <a:solidFill>
                  <a:srgbClr val="FF0000"/>
                </a:solidFill>
              </a:rPr>
              <a:t>channel characteristics</a:t>
            </a:r>
            <a:r>
              <a:rPr lang="en-US" altLang="en-US" smtClean="0"/>
              <a:t> is </a:t>
            </a:r>
            <a:r>
              <a:rPr lang="en-US" altLang="en-US" b="1" smtClean="0"/>
              <a:t>much smaller</a:t>
            </a:r>
            <a:r>
              <a:rPr lang="en-US" altLang="en-US" smtClean="0"/>
              <a:t> than the rate of change of the</a:t>
            </a:r>
            <a:r>
              <a:rPr lang="en-US" altLang="en-US" smtClean="0">
                <a:solidFill>
                  <a:srgbClr val="FF0000"/>
                </a:solidFill>
              </a:rPr>
              <a:t> </a:t>
            </a:r>
            <a:r>
              <a:rPr lang="en-US" altLang="en-US" u="sng" smtClean="0">
                <a:solidFill>
                  <a:srgbClr val="FF0000"/>
                </a:solidFill>
              </a:rPr>
              <a:t>transmitted signal</a:t>
            </a:r>
            <a:endParaRPr lang="en-US" altLang="zh-TW" smtClean="0">
              <a:ea typeface="新細明體" pitchFamily="18" charset="-120"/>
              <a:cs typeface="Courier New" panose="02070309020205020404" pitchFamily="49" charset="0"/>
            </a:endParaRPr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</p:txBody>
      </p:sp>
      <p:sp>
        <p:nvSpPr>
          <p:cNvPr id="91141" name="Text Box 6"/>
          <p:cNvSpPr txBox="1">
            <a:spLocks noChangeArrowheads="1"/>
          </p:cNvSpPr>
          <p:nvPr/>
        </p:nvSpPr>
        <p:spPr bwMode="auto">
          <a:xfrm>
            <a:off x="1781175" y="3743325"/>
            <a:ext cx="1581150" cy="137318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>
                <a:latin typeface="Arial" panose="020B0604020202020204" pitchFamily="34" charset="0"/>
              </a:rPr>
              <a:t>Occurs when: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S </a:t>
            </a:r>
            <a:r>
              <a:rPr lang="en-US" altLang="en-US" sz="1800">
                <a:latin typeface="Arial" panose="020B0604020202020204" pitchFamily="34" charset="0"/>
              </a:rPr>
              <a:t>&gt;&gt; B</a:t>
            </a:r>
            <a:r>
              <a:rPr lang="en-US" altLang="en-US" sz="1800" baseline="-25000">
                <a:latin typeface="Arial" panose="020B0604020202020204" pitchFamily="34" charset="0"/>
              </a:rPr>
              <a:t>D</a:t>
            </a:r>
            <a:endParaRPr lang="tr-TR" altLang="en-US" sz="1800" baseline="-2500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>
                <a:latin typeface="Arial" panose="020B0604020202020204" pitchFamily="34" charset="0"/>
              </a:rPr>
              <a:t>and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r-TR" altLang="en-US" sz="1800">
                <a:latin typeface="Arial" panose="020B0604020202020204" pitchFamily="34" charset="0"/>
              </a:rPr>
              <a:t>T</a:t>
            </a:r>
            <a:r>
              <a:rPr lang="tr-TR" altLang="en-US" sz="1800" baseline="-25000">
                <a:latin typeface="Arial" panose="020B0604020202020204" pitchFamily="34" charset="0"/>
              </a:rPr>
              <a:t>S</a:t>
            </a:r>
            <a:r>
              <a:rPr lang="tr-TR" altLang="en-US" sz="1800">
                <a:latin typeface="Arial" panose="020B0604020202020204" pitchFamily="34" charset="0"/>
              </a:rPr>
              <a:t> </a:t>
            </a:r>
            <a:r>
              <a:rPr lang="en-US" altLang="en-US" sz="1800">
                <a:latin typeface="Arial" panose="020B0604020202020204" pitchFamily="34" charset="0"/>
              </a:rPr>
              <a:t>&lt;&lt; T</a:t>
            </a:r>
            <a:r>
              <a:rPr lang="en-US" altLang="en-US" sz="1800" baseline="-25000">
                <a:latin typeface="Arial" panose="020B0604020202020204" pitchFamily="34" charset="0"/>
              </a:rPr>
              <a:t>C</a:t>
            </a:r>
            <a:endParaRPr lang="tr-TR" altLang="en-US" sz="1800" baseline="-2500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tr-TR" altLang="en-US" sz="1800" baseline="-25000">
              <a:latin typeface="Symbol" panose="05050102010706020507" pitchFamily="18" charset="2"/>
            </a:endParaRPr>
          </a:p>
        </p:txBody>
      </p:sp>
      <p:sp>
        <p:nvSpPr>
          <p:cNvPr id="91142" name="Text Box 7"/>
          <p:cNvSpPr txBox="1">
            <a:spLocks noChangeArrowheads="1"/>
          </p:cNvSpPr>
          <p:nvPr/>
        </p:nvSpPr>
        <p:spPr bwMode="auto">
          <a:xfrm>
            <a:off x="3581400" y="3787775"/>
            <a:ext cx="29273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5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Aft>
                <a:spcPct val="25000"/>
              </a:spcAft>
              <a:buClr>
                <a:schemeClr val="tx2"/>
              </a:buClr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"/>
              </a:spcBef>
              <a:spcAft>
                <a:spcPct val="10000"/>
              </a:spcAft>
              <a:buClr>
                <a:schemeClr val="tx2"/>
              </a:buClr>
              <a:buSzPct val="55000"/>
              <a:buFont typeface="Monotype Sorts" pitchFamily="2" charset="2"/>
              <a:buChar char="u"/>
              <a:defRPr sz="2000" i="1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10000"/>
              </a:spcBef>
              <a:buClr>
                <a:schemeClr val="tx2"/>
              </a:buClr>
              <a:buSzPct val="50000"/>
              <a:buFont typeface="Monotype Sort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0000"/>
              </a:spcBef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0000"/>
              </a:spcBef>
              <a:spcAft>
                <a:spcPct val="0"/>
              </a:spcAft>
              <a:buClr>
                <a:schemeClr val="tx2"/>
              </a:buClr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S</a:t>
            </a:r>
            <a:r>
              <a:rPr lang="en-US" altLang="en-US" sz="1800">
                <a:latin typeface="Arial" panose="020B0604020202020204" pitchFamily="34" charset="0"/>
              </a:rPr>
              <a:t>: Bandwidth of the signal</a:t>
            </a:r>
            <a:br>
              <a:rPr lang="en-US" altLang="en-US" sz="1800">
                <a:latin typeface="Arial" panose="020B0604020202020204" pitchFamily="34" charset="0"/>
              </a:rPr>
            </a:br>
            <a:r>
              <a:rPr lang="en-US" altLang="en-US" sz="1800">
                <a:latin typeface="Arial" panose="020B0604020202020204" pitchFamily="34" charset="0"/>
              </a:rPr>
              <a:t>B</a:t>
            </a:r>
            <a:r>
              <a:rPr lang="en-US" altLang="en-US" sz="1800" baseline="-25000">
                <a:latin typeface="Arial" panose="020B0604020202020204" pitchFamily="34" charset="0"/>
              </a:rPr>
              <a:t>D</a:t>
            </a:r>
            <a:r>
              <a:rPr lang="en-US" altLang="en-US" sz="1800">
                <a:latin typeface="Arial" panose="020B0604020202020204" pitchFamily="34" charset="0"/>
              </a:rPr>
              <a:t>: Doppler Spread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</a:t>
            </a:r>
            <a:r>
              <a:rPr lang="en-US" altLang="en-US" sz="1800" baseline="-25000">
                <a:latin typeface="Arial" panose="020B0604020202020204" pitchFamily="34" charset="0"/>
              </a:rPr>
              <a:t>S</a:t>
            </a:r>
            <a:r>
              <a:rPr lang="en-US" altLang="en-US" sz="1800">
                <a:latin typeface="Arial" panose="020B0604020202020204" pitchFamily="34" charset="0"/>
              </a:rPr>
              <a:t>: Symbol Period</a:t>
            </a:r>
            <a:br>
              <a:rPr lang="en-US" altLang="en-US" sz="1800">
                <a:latin typeface="Arial" panose="020B0604020202020204" pitchFamily="34" charset="0"/>
              </a:rPr>
            </a:br>
            <a:r>
              <a:rPr lang="en-US" altLang="en-US" sz="1800">
                <a:latin typeface="Arial" panose="020B0604020202020204" pitchFamily="34" charset="0"/>
              </a:rPr>
              <a:t>T</a:t>
            </a:r>
            <a:r>
              <a:rPr lang="en-US" altLang="en-US" sz="1800" baseline="-25000">
                <a:latin typeface="Arial" panose="020B0604020202020204" pitchFamily="34" charset="0"/>
              </a:rPr>
              <a:t>C</a:t>
            </a:r>
            <a:r>
              <a:rPr lang="en-US" altLang="en-US" sz="1800">
                <a:latin typeface="Arial" panose="020B0604020202020204" pitchFamily="34" charset="0"/>
              </a:rPr>
              <a:t>: Coherence Bandwidth</a:t>
            </a:r>
          </a:p>
        </p:txBody>
      </p:sp>
    </p:spTree>
    <p:extLst>
      <p:ext uri="{BB962C8B-B14F-4D97-AF65-F5344CB8AC3E}">
        <p14:creationId xmlns:p14="http://schemas.microsoft.com/office/powerpoint/2010/main" val="277812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5775"/>
          </a:xfrm>
        </p:spPr>
        <p:txBody>
          <a:bodyPr>
            <a:normAutofit fontScale="90000"/>
          </a:bodyPr>
          <a:lstStyle/>
          <a:p>
            <a:r>
              <a:rPr lang="en-GB" sz="3600">
                <a:latin typeface="Times New Roman" panose="02020603050405020304" pitchFamily="18" charset="0"/>
              </a:rPr>
              <a:t>Summary of Channel Classification</a:t>
            </a:r>
          </a:p>
        </p:txBody>
      </p:sp>
      <p:grpSp>
        <p:nvGrpSpPr>
          <p:cNvPr id="168977" name="Group 17"/>
          <p:cNvGrpSpPr>
            <a:grpSpLocks/>
          </p:cNvGrpSpPr>
          <p:nvPr/>
        </p:nvGrpSpPr>
        <p:grpSpPr bwMode="auto">
          <a:xfrm>
            <a:off x="306388" y="1228725"/>
            <a:ext cx="8556625" cy="3740150"/>
            <a:chOff x="-3" y="-3"/>
            <a:chExt cx="3240" cy="1466"/>
          </a:xfrm>
        </p:grpSpPr>
        <p:grpSp>
          <p:nvGrpSpPr>
            <p:cNvPr id="168975" name="Group 15"/>
            <p:cNvGrpSpPr>
              <a:grpSpLocks/>
            </p:cNvGrpSpPr>
            <p:nvPr/>
          </p:nvGrpSpPr>
          <p:grpSpPr bwMode="auto">
            <a:xfrm>
              <a:off x="0" y="0"/>
              <a:ext cx="3234" cy="1460"/>
              <a:chOff x="0" y="0"/>
              <a:chExt cx="3234" cy="1460"/>
            </a:xfrm>
          </p:grpSpPr>
          <p:grpSp>
            <p:nvGrpSpPr>
              <p:cNvPr id="168968" name="Group 8"/>
              <p:cNvGrpSpPr>
                <a:grpSpLocks/>
              </p:cNvGrpSpPr>
              <p:nvPr/>
            </p:nvGrpSpPr>
            <p:grpSpPr bwMode="auto">
              <a:xfrm>
                <a:off x="0" y="0"/>
                <a:ext cx="1617" cy="730"/>
                <a:chOff x="0" y="0"/>
                <a:chExt cx="1617" cy="730"/>
              </a:xfrm>
            </p:grpSpPr>
            <p:sp>
              <p:nvSpPr>
                <p:cNvPr id="168963" name="Rectangle 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531" cy="7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1) Frequency Flat (no delay-spread) &amp; Time-Flat (slow fading) Channel </a:t>
                  </a:r>
                </a:p>
                <a:p>
                  <a:pPr algn="just"/>
                  <a:endParaRPr lang="en-US" sz="1400" b="0">
                    <a:latin typeface="Arial" panose="020B0604020202020204" pitchFamily="34" charset="0"/>
                    <a:cs typeface="Times New Roman" panose="02020603050405020304" pitchFamily="18" charset="0"/>
                  </a:endParaRP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&lt;&lt;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&lt;&lt;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</a:t>
                  </a: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or                                or        </a:t>
                  </a: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&gt;&gt;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</a:t>
                  </a:r>
                  <a:r>
                    <a:rPr lang="en-US" sz="1400" b="0" i="1" baseline="-30000">
                      <a:cs typeface="Times New Roman" panose="02020603050405020304" pitchFamily="18" charset="0"/>
                    </a:rPr>
                    <a:t>rms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               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S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&gt;&gt;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D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</a:p>
                <a:p>
                  <a:pPr algn="just" eaLnBrk="0" hangingPunct="0"/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endParaRPr lang="en-US" sz="1400" b="0" i="1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algn="just" eaLnBrk="0" hangingPunct="0"/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        </a:t>
                  </a:r>
                  <a:r>
                    <a:rPr lang="en-US" sz="16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(Doubly –flat fading channel)</a:t>
                  </a:r>
                </a:p>
                <a:p>
                  <a:pPr algn="just" eaLnBrk="0" hangingPunct="0"/>
                  <a:endParaRPr lang="en-US" sz="1600" b="0" i="1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8967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617" cy="7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68970" name="Group 10"/>
              <p:cNvGrpSpPr>
                <a:grpSpLocks/>
              </p:cNvGrpSpPr>
              <p:nvPr/>
            </p:nvGrpSpPr>
            <p:grpSpPr bwMode="auto">
              <a:xfrm>
                <a:off x="1617" y="0"/>
                <a:ext cx="1617" cy="730"/>
                <a:chOff x="1617" y="0"/>
                <a:chExt cx="1617" cy="730"/>
              </a:xfrm>
            </p:grpSpPr>
            <p:sp>
              <p:nvSpPr>
                <p:cNvPr id="168964" name="Rectangle 4"/>
                <p:cNvSpPr>
                  <a:spLocks noChangeArrowheads="1"/>
                </p:cNvSpPr>
                <p:nvPr/>
              </p:nvSpPr>
              <p:spPr bwMode="auto">
                <a:xfrm>
                  <a:off x="1660" y="0"/>
                  <a:ext cx="1531" cy="7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2) Frequency Flat (no delay-spread) &amp; Time-Selective (fast fading) Channel </a:t>
                  </a:r>
                </a:p>
                <a:p>
                  <a:pPr algn="just"/>
                  <a:endParaRPr lang="en-US" sz="1400" b="0">
                    <a:latin typeface="Arial" panose="020B0604020202020204" pitchFamily="34" charset="0"/>
                    <a:cs typeface="Times New Roman" panose="02020603050405020304" pitchFamily="18" charset="0"/>
                  </a:endParaRP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&lt;&lt;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&gt;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</a:t>
                  </a: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  or                               or        </a:t>
                  </a: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&gt;&gt;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</a:t>
                  </a:r>
                  <a:r>
                    <a:rPr lang="en-US" sz="1400" b="0" i="1" baseline="-30000">
                      <a:cs typeface="Times New Roman" panose="02020603050405020304" pitchFamily="18" charset="0"/>
                    </a:rPr>
                    <a:t>rms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                  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S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&lt;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D</a:t>
                  </a:r>
                  <a:endParaRPr lang="en-US" sz="1400" b="0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algn="just" eaLnBrk="0" hangingPunct="0"/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</a:t>
                  </a:r>
                  <a:endParaRPr lang="en-US" sz="1400" b="0" i="1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algn="just" eaLnBrk="0" hangingPunct="0"/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      </a:t>
                  </a:r>
                  <a:r>
                    <a:rPr lang="en-US" sz="16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(Fast-varying flat fading channel)</a:t>
                  </a:r>
                </a:p>
                <a:p>
                  <a:pPr algn="just" eaLnBrk="0" hangingPunct="0"/>
                  <a:endParaRPr lang="en-US" sz="1600" b="0" i="1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8969" name="Rectangle 9"/>
                <p:cNvSpPr>
                  <a:spLocks noChangeArrowheads="1"/>
                </p:cNvSpPr>
                <p:nvPr/>
              </p:nvSpPr>
              <p:spPr bwMode="auto">
                <a:xfrm>
                  <a:off x="1617" y="0"/>
                  <a:ext cx="1617" cy="7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68972" name="Group 12"/>
              <p:cNvGrpSpPr>
                <a:grpSpLocks/>
              </p:cNvGrpSpPr>
              <p:nvPr/>
            </p:nvGrpSpPr>
            <p:grpSpPr bwMode="auto">
              <a:xfrm>
                <a:off x="0" y="730"/>
                <a:ext cx="1617" cy="730"/>
                <a:chOff x="0" y="730"/>
                <a:chExt cx="1617" cy="730"/>
              </a:xfrm>
            </p:grpSpPr>
            <p:sp>
              <p:nvSpPr>
                <p:cNvPr id="168965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730"/>
                  <a:ext cx="1531" cy="7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3) Frequency Selective (Delay-spread) &amp; Time-Flat (slow fading) Channel </a:t>
                  </a:r>
                </a:p>
                <a:p>
                  <a:pPr algn="just"/>
                  <a:endParaRPr lang="en-US" sz="1400" b="0" dirty="0">
                    <a:latin typeface="Arial" panose="020B0604020202020204" pitchFamily="34" charset="0"/>
                    <a:cs typeface="Times New Roman" panose="02020603050405020304" pitchFamily="18" charset="0"/>
                  </a:endParaRPr>
                </a:p>
                <a:p>
                  <a:pPr algn="just" eaLnBrk="0" hangingPunct="0"/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</a:t>
                  </a:r>
                  <a:r>
                    <a:rPr lang="en-US" sz="1400" b="0" i="1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&gt; </a:t>
                  </a:r>
                  <a:r>
                    <a:rPr lang="en-US" sz="1400" b="0" i="1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   </a:t>
                  </a:r>
                  <a:r>
                    <a:rPr lang="en-US" sz="1400" b="0" i="1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&lt;&lt; </a:t>
                  </a:r>
                  <a:r>
                    <a:rPr lang="en-US" sz="1400" b="0" i="1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</a:t>
                  </a:r>
                </a:p>
                <a:p>
                  <a:pPr algn="just" eaLnBrk="0" hangingPunct="0"/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or                             </a:t>
                  </a:r>
                  <a:r>
                    <a:rPr lang="en-US" sz="1400" b="0" dirty="0" err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or</a:t>
                  </a:r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</a:t>
                  </a:r>
                </a:p>
                <a:p>
                  <a:pPr algn="just" eaLnBrk="0" hangingPunct="0"/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</a:t>
                  </a:r>
                  <a:r>
                    <a:rPr lang="en-US" sz="1400" b="0" i="1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 dirty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&lt; </a:t>
                  </a:r>
                  <a:r>
                    <a:rPr lang="en-US" sz="1400" b="0" i="1" dirty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</a:t>
                  </a:r>
                  <a:r>
                    <a:rPr lang="en-US" sz="1400" b="0" i="1" baseline="-30000" dirty="0" err="1">
                      <a:cs typeface="Times New Roman" panose="02020603050405020304" pitchFamily="18" charset="0"/>
                    </a:rPr>
                    <a:t>rms</a:t>
                  </a:r>
                  <a:r>
                    <a:rPr lang="en-US" sz="1400" b="0" dirty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                  </a:t>
                  </a:r>
                  <a:r>
                    <a:rPr lang="en-US" sz="1400" b="0" i="1" dirty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 dirty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S</a:t>
                  </a:r>
                  <a:r>
                    <a:rPr lang="en-US" sz="1400" b="0" dirty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&gt;&gt; </a:t>
                  </a:r>
                  <a:r>
                    <a:rPr lang="en-US" sz="1400" b="0" i="1" dirty="0" smtClean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 dirty="0" smtClean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D</a:t>
                  </a:r>
                </a:p>
                <a:p>
                  <a:pPr algn="just" eaLnBrk="0" hangingPunct="0"/>
                  <a:endParaRPr lang="en-US" sz="1400" b="0" dirty="0" smtClean="0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algn="just" eaLnBrk="0" hangingPunct="0"/>
                  <a:r>
                    <a:rPr lang="en-US" sz="1600" b="0" i="1" dirty="0" smtClean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(Slow-varying frequency selective channel)</a:t>
                  </a:r>
                </a:p>
                <a:p>
                  <a:pPr algn="just" eaLnBrk="0" hangingPunct="0"/>
                  <a:endParaRPr lang="en-US" sz="1600" b="0" i="1" dirty="0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8971" name="Rectangle 11"/>
                <p:cNvSpPr>
                  <a:spLocks noChangeArrowheads="1"/>
                </p:cNvSpPr>
                <p:nvPr/>
              </p:nvSpPr>
              <p:spPr bwMode="auto">
                <a:xfrm>
                  <a:off x="0" y="730"/>
                  <a:ext cx="1617" cy="7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68974" name="Group 14"/>
              <p:cNvGrpSpPr>
                <a:grpSpLocks/>
              </p:cNvGrpSpPr>
              <p:nvPr/>
            </p:nvGrpSpPr>
            <p:grpSpPr bwMode="auto">
              <a:xfrm>
                <a:off x="1617" y="730"/>
                <a:ext cx="1617" cy="730"/>
                <a:chOff x="1617" y="730"/>
                <a:chExt cx="1617" cy="730"/>
              </a:xfrm>
            </p:grpSpPr>
            <p:sp>
              <p:nvSpPr>
                <p:cNvPr id="168966" name="Rectangle 6"/>
                <p:cNvSpPr>
                  <a:spLocks noChangeArrowheads="1"/>
                </p:cNvSpPr>
                <p:nvPr/>
              </p:nvSpPr>
              <p:spPr bwMode="auto">
                <a:xfrm>
                  <a:off x="1660" y="730"/>
                  <a:ext cx="1531" cy="7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4) Frequency Selective (Delay-spread) &amp; Time-Selective (fast fading) Channel </a:t>
                  </a:r>
                </a:p>
                <a:p>
                  <a:pPr algn="just"/>
                  <a:endParaRPr lang="en-US" sz="1400" b="0">
                    <a:latin typeface="Arial" panose="020B0604020202020204" pitchFamily="34" charset="0"/>
                    <a:cs typeface="Times New Roman" panose="02020603050405020304" pitchFamily="18" charset="0"/>
                  </a:endParaRP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&gt;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&gt;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</a:t>
                  </a: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     or                             or        </a:t>
                  </a:r>
                </a:p>
                <a:p>
                  <a:pPr algn="just" eaLnBrk="0" hangingPunct="0"/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             </a:t>
                  </a:r>
                  <a:r>
                    <a:rPr lang="en-US" sz="1400" b="0" i="1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T</a:t>
                  </a:r>
                  <a:r>
                    <a:rPr lang="en-US" sz="1400" b="0" i="1" baseline="-3000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1400" b="0"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 &lt;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</a:t>
                  </a:r>
                  <a:r>
                    <a:rPr lang="en-US" sz="1400" b="0" i="1" baseline="-30000">
                      <a:cs typeface="Times New Roman" panose="02020603050405020304" pitchFamily="18" charset="0"/>
                    </a:rPr>
                    <a:t>rms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                  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S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&lt; </a:t>
                  </a:r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</a:t>
                  </a:r>
                  <a:r>
                    <a:rPr lang="en-US" sz="1400" b="0" i="1" baseline="-3000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D</a:t>
                  </a:r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</a:t>
                  </a:r>
                </a:p>
                <a:p>
                  <a:pPr algn="just" eaLnBrk="0" hangingPunct="0"/>
                  <a:r>
                    <a:rPr lang="en-US" sz="1400" b="0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endParaRPr lang="en-US" sz="1400" b="0" i="1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algn="just" eaLnBrk="0" hangingPunct="0"/>
                  <a:r>
                    <a:rPr lang="en-US" sz="14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     </a:t>
                  </a:r>
                  <a:r>
                    <a:rPr lang="en-US" sz="1600" b="0" i="1"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(Doubly dispersive fading channel)</a:t>
                  </a:r>
                </a:p>
                <a:p>
                  <a:pPr algn="just" eaLnBrk="0" hangingPunct="0"/>
                  <a:endParaRPr lang="en-US" sz="1600" b="0" i="1"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68973" name="Rectangle 13"/>
                <p:cNvSpPr>
                  <a:spLocks noChangeArrowheads="1"/>
                </p:cNvSpPr>
                <p:nvPr/>
              </p:nvSpPr>
              <p:spPr bwMode="auto">
                <a:xfrm>
                  <a:off x="1617" y="730"/>
                  <a:ext cx="1617" cy="73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  <p:sp>
          <p:nvSpPr>
            <p:cNvPr id="168976" name="Rectangle 16"/>
            <p:cNvSpPr>
              <a:spLocks noChangeArrowheads="1"/>
            </p:cNvSpPr>
            <p:nvPr/>
          </p:nvSpPr>
          <p:spPr bwMode="auto">
            <a:xfrm>
              <a:off x="-3" y="-3"/>
              <a:ext cx="3240" cy="146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68978" name="Rectangle 18"/>
          <p:cNvSpPr>
            <a:spLocks noChangeArrowheads="1"/>
          </p:cNvSpPr>
          <p:nvPr/>
        </p:nvSpPr>
        <p:spPr bwMode="auto">
          <a:xfrm>
            <a:off x="0" y="5127625"/>
            <a:ext cx="9144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1600" b="0" i="1">
                <a:latin typeface="Arial" panose="020B0604020202020204" pitchFamily="34" charset="0"/>
                <a:cs typeface="Times New Roman" panose="02020603050405020304" pitchFamily="18" charset="0"/>
              </a:rPr>
              <a:t>        B</a:t>
            </a:r>
            <a:r>
              <a:rPr lang="en-US" sz="1600" b="0" i="1" baseline="-30000"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1600" b="0">
                <a:latin typeface="Arial" panose="020B0604020202020204" pitchFamily="34" charset="0"/>
                <a:cs typeface="Times New Roman" panose="02020603050405020304" pitchFamily="18" charset="0"/>
              </a:rPr>
              <a:t> = Bandwidth of the baseband signal 	</a:t>
            </a:r>
            <a:r>
              <a:rPr lang="en-US" sz="1600" b="0" i="1"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1600" b="0" i="1" baseline="-30000">
                <a:latin typeface="Arial" panose="020B0604020202020204" pitchFamily="34" charset="0"/>
                <a:cs typeface="Times New Roman" panose="02020603050405020304" pitchFamily="18" charset="0"/>
              </a:rPr>
              <a:t>S</a:t>
            </a:r>
            <a:r>
              <a:rPr lang="en-US" sz="1600" b="0">
                <a:latin typeface="Arial" panose="020B0604020202020204" pitchFamily="34" charset="0"/>
                <a:cs typeface="Times New Roman" panose="02020603050405020304" pitchFamily="18" charset="0"/>
              </a:rPr>
              <a:t> = Symbol duration of the baseband signal</a:t>
            </a:r>
          </a:p>
          <a:p>
            <a:pPr algn="just" eaLnBrk="0" hangingPunct="0"/>
            <a:r>
              <a:rPr lang="en-US" sz="1600" b="0" i="1">
                <a:latin typeface="Arial" panose="020B0604020202020204" pitchFamily="34" charset="0"/>
                <a:cs typeface="Times New Roman" panose="02020603050405020304" pitchFamily="18" charset="0"/>
              </a:rPr>
              <a:t>        B</a:t>
            </a:r>
            <a:r>
              <a:rPr lang="en-US" sz="1600" b="0" i="1" baseline="-30000"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1600" b="0">
                <a:latin typeface="Arial" panose="020B0604020202020204" pitchFamily="34" charset="0"/>
                <a:cs typeface="Times New Roman" panose="02020603050405020304" pitchFamily="18" charset="0"/>
              </a:rPr>
              <a:t> = Coherence bandwidth of the channel 	</a:t>
            </a:r>
            <a:r>
              <a:rPr lang="en-US" sz="1600" b="0" i="1">
                <a:latin typeface="Arial" panose="020B06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1600" b="0" i="1" baseline="-30000">
                <a:latin typeface="Arial" panose="020B06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1600" b="0">
                <a:latin typeface="Arial" panose="020B0604020202020204" pitchFamily="34" charset="0"/>
                <a:cs typeface="Times New Roman" panose="02020603050405020304" pitchFamily="18" charset="0"/>
              </a:rPr>
              <a:t> = Coherence time of the channel</a:t>
            </a:r>
          </a:p>
          <a:p>
            <a:pPr eaLnBrk="0" hangingPunct="0"/>
            <a:r>
              <a:rPr lang="en-GB" sz="1600" b="0" i="1">
                <a:latin typeface="Arial" panose="020B0604020202020204" pitchFamily="34" charset="0"/>
                <a:cs typeface="Times New Roman" panose="02020603050405020304" pitchFamily="18" charset="0"/>
              </a:rPr>
              <a:t>        B</a:t>
            </a:r>
            <a:r>
              <a:rPr lang="en-GB" sz="1600" b="0" i="1" baseline="-30000">
                <a:latin typeface="Arial" panose="020B0604020202020204" pitchFamily="34" charset="0"/>
                <a:cs typeface="Times New Roman" panose="02020603050405020304" pitchFamily="18" charset="0"/>
              </a:rPr>
              <a:t>D</a:t>
            </a:r>
            <a:r>
              <a:rPr lang="en-GB" sz="1600" b="0">
                <a:latin typeface="Arial" panose="020B0604020202020204" pitchFamily="34" charset="0"/>
                <a:cs typeface="Times New Roman" panose="02020603050405020304" pitchFamily="18" charset="0"/>
              </a:rPr>
              <a:t> = Doppler spread of the channel		</a:t>
            </a:r>
            <a:r>
              <a:rPr lang="en-GB" sz="1600" b="0" i="1"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GB" sz="1600" b="0" baseline="-30000">
                <a:cs typeface="Times New Roman" panose="02020603050405020304" pitchFamily="18" charset="0"/>
              </a:rPr>
              <a:t>rms</a:t>
            </a:r>
            <a:r>
              <a:rPr lang="en-GB" sz="1600" b="0" i="1">
                <a:cs typeface="Times New Roman" panose="02020603050405020304" pitchFamily="18" charset="0"/>
                <a:sym typeface="Symbol" panose="05050102010706020507" pitchFamily="18" charset="2"/>
              </a:rPr>
              <a:t> = RMS delay spread of the channel</a:t>
            </a:r>
            <a:r>
              <a:rPr lang="en-US" sz="1600" b="0" i="1">
                <a:sym typeface="Symbol" panose="05050102010706020507" pitchFamily="18" charset="2"/>
              </a:rPr>
              <a:t> </a:t>
            </a:r>
            <a:endParaRPr lang="en-US" sz="1600" b="0" i="1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4041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9312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408" y="1125017"/>
            <a:ext cx="8001000" cy="324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9763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59312"/>
            <a:ext cx="6447501" cy="533384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Example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18BBD6-2EA6-4606-8940-4D4D92636C46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1125538"/>
            <a:ext cx="7416800" cy="528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1840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tf00001240 (1)</Template>
  <TotalTime>8991</TotalTime>
  <Words>2030</Words>
  <Application>Microsoft Office PowerPoint</Application>
  <PresentationFormat>On-screen Show (4:3)</PresentationFormat>
  <Paragraphs>306</Paragraphs>
  <Slides>32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微軟正黑體</vt:lpstr>
      <vt:lpstr>Arial</vt:lpstr>
      <vt:lpstr>Courier New</vt:lpstr>
      <vt:lpstr>MingLiU</vt:lpstr>
      <vt:lpstr>新細明體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Default Design</vt:lpstr>
      <vt:lpstr>Equation</vt:lpstr>
      <vt:lpstr>Small Scale Fading </vt:lpstr>
      <vt:lpstr>Small Scale Fading/ Fading</vt:lpstr>
      <vt:lpstr>Factors Influencing Small-Scale Fading</vt:lpstr>
      <vt:lpstr>Factors Influencing Small-Scale Fading</vt:lpstr>
      <vt:lpstr>Doppler Effect/Shift</vt:lpstr>
      <vt:lpstr>Doppler Shift – Receiver is moving</vt:lpstr>
      <vt:lpstr>Example – 4.3:</vt:lpstr>
      <vt:lpstr>Impulse response of Multipath channel</vt:lpstr>
      <vt:lpstr>Impulse Response Model:</vt:lpstr>
      <vt:lpstr>PowerPoint Presentation</vt:lpstr>
      <vt:lpstr>PowerPoint Presentation</vt:lpstr>
      <vt:lpstr>PowerPoint Presentation</vt:lpstr>
      <vt:lpstr>Power Delay Profile</vt:lpstr>
      <vt:lpstr>Time Dispersion Parameters</vt:lpstr>
      <vt:lpstr>Time Dispersion Parameters</vt:lpstr>
      <vt:lpstr>Time Dispersion Parameters: Max Excess Delay(X dB)</vt:lpstr>
      <vt:lpstr>PowerPoint Presentation</vt:lpstr>
      <vt:lpstr>PowerPoint Presentation</vt:lpstr>
      <vt:lpstr>Coherence Bandwidth (Bc)</vt:lpstr>
      <vt:lpstr>Coherence Time (Tc)</vt:lpstr>
      <vt:lpstr>Example</vt:lpstr>
      <vt:lpstr>Doppler Spread (BD)</vt:lpstr>
      <vt:lpstr>Types of small-scale fading</vt:lpstr>
      <vt:lpstr>Flat Fading</vt:lpstr>
      <vt:lpstr>Frequency Selective Fading</vt:lpstr>
      <vt:lpstr>Example </vt:lpstr>
      <vt:lpstr>Example </vt:lpstr>
      <vt:lpstr>Fast Fading</vt:lpstr>
      <vt:lpstr>Slow Fading</vt:lpstr>
      <vt:lpstr>Summary of Channel Classification</vt:lpstr>
      <vt:lpstr>Example</vt:lpstr>
      <vt:lpstr>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Communications and Networks</dc:title>
  <dc:creator>Thomas Fronckowiak Jr.</dc:creator>
  <cp:lastModifiedBy>Microsoft account</cp:lastModifiedBy>
  <cp:revision>260</cp:revision>
  <cp:lastPrinted>2019-04-08T04:14:28Z</cp:lastPrinted>
  <dcterms:created xsi:type="dcterms:W3CDTF">1999-06-26T21:48:38Z</dcterms:created>
  <dcterms:modified xsi:type="dcterms:W3CDTF">2020-07-23T06:18:18Z</dcterms:modified>
</cp:coreProperties>
</file>