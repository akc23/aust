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85" r:id="rId2"/>
  </p:sldMasterIdLst>
  <p:notesMasterIdLst>
    <p:notesMasterId r:id="rId18"/>
  </p:notesMasterIdLst>
  <p:sldIdLst>
    <p:sldId id="257" r:id="rId3"/>
    <p:sldId id="259" r:id="rId4"/>
    <p:sldId id="258" r:id="rId5"/>
    <p:sldId id="315" r:id="rId6"/>
    <p:sldId id="261" r:id="rId7"/>
    <p:sldId id="296" r:id="rId8"/>
    <p:sldId id="310" r:id="rId9"/>
    <p:sldId id="300" r:id="rId10"/>
    <p:sldId id="286" r:id="rId11"/>
    <p:sldId id="301" r:id="rId12"/>
    <p:sldId id="304" r:id="rId13"/>
    <p:sldId id="264" r:id="rId14"/>
    <p:sldId id="293" r:id="rId15"/>
    <p:sldId id="266" r:id="rId16"/>
    <p:sldId id="294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>
    <p:restoredLeft sz="9444" autoAdjust="0"/>
    <p:restoredTop sz="94106" autoAdjust="0"/>
  </p:normalViewPr>
  <p:slideViewPr>
    <p:cSldViewPr snapToGrid="0">
      <p:cViewPr>
        <p:scale>
          <a:sx n="50" d="100"/>
          <a:sy n="50" d="100"/>
        </p:scale>
        <p:origin x="162" y="3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B770C76-F299-4D3B-9014-6321493C2E9B}" type="datetimeFigureOut">
              <a:rPr lang="en-US" smtClean="0"/>
              <a:pPr/>
              <a:t>9/9/2023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CD7DC10-713B-42EF-ACFE-18FEE48443E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90818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CD7DC10-713B-42EF-ACFE-18FEE48443E6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25872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Problem: Circuit switching needs</a:t>
            </a:r>
            <a:r>
              <a:rPr lang="en-US" baseline="0" dirty="0"/>
              <a:t> call setup time.</a:t>
            </a:r>
          </a:p>
          <a:p>
            <a:r>
              <a:rPr lang="en-US" baseline="0" dirty="0"/>
              <a:t>Message switching send whole message. It wait for next node available resources.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CD7DC10-713B-42EF-ACFE-18FEE48443E6}" type="slidenum">
              <a:rPr lang="en-US" smtClean="0">
                <a:solidFill>
                  <a:prstClr val="black"/>
                </a:solidFill>
              </a:rPr>
              <a:pPr/>
              <a:t>7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715167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CD7DC10-713B-42EF-ACFE-18FEE48443E6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80660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D742D60-E051-4788-A779-87654DB218FE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778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778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13052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CD7DC10-713B-42EF-ACFE-18FEE48443E6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875209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9FF55EA-6AB6-4436-A48B-4E6F4E32C812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788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564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B43A0-F2D2-49BB-B592-4D4553DBF943}" type="datetime1">
              <a:rPr lang="en-US" smtClean="0"/>
              <a:pPr/>
              <a:t>9/9/2023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CEBAC-BC23-4037-8F91-1C3D3445050C}" type="datetime1">
              <a:rPr lang="en-US" smtClean="0"/>
              <a:pPr/>
              <a:t>9/9/2023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AE8FD9-5278-4DAE-815D-1D6FD9270ECA}" type="datetime1">
              <a:rPr lang="en-US" smtClean="0"/>
              <a:pPr/>
              <a:t>9/9/2023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D970F-DBD5-4A51-B6F1-2FA8A13D4FB5}" type="datetime1">
              <a:rPr lang="en-US" smtClean="0"/>
              <a:pPr/>
              <a:t>9/9/2023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4FF551-2E11-4B36-BDD0-A2F92D17CC77}" type="datetime1">
              <a:rPr lang="en-US" smtClean="0"/>
              <a:pPr/>
              <a:t>9/9/2023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E52740-AF09-46CC-A852-E2CC3FB8CECE}" type="datetime1">
              <a:rPr lang="en-US" smtClean="0"/>
              <a:pPr/>
              <a:t>9/9/2023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4343C-2CFB-47D9-A997-9BA4143AF504}" type="datetime1">
              <a:rPr lang="en-US" smtClean="0"/>
              <a:pPr/>
              <a:t>9/9/2023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F6472-DD47-48D3-A488-C5732561D597}" type="datetime1">
              <a:rPr lang="en-US" smtClean="0"/>
              <a:pPr/>
              <a:t>9/9/2023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15DA3-4AD0-4645-871A-7DD7897DDF5F}" type="datetime1">
              <a:rPr lang="en-US" smtClean="0"/>
              <a:pPr/>
              <a:t>9/9/2023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8B303-53B5-41A0-824F-27628D95A6E7}" type="datetime1">
              <a:rPr lang="en-US" smtClean="0"/>
              <a:pPr/>
              <a:t>9/9/2023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77D56E-4A0F-4111-86D9-63E4E1481343}" type="datetime1">
              <a:rPr lang="en-US" smtClean="0"/>
              <a:pPr/>
              <a:t>9/9/2023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9F27E-FDD8-4832-979D-7908F4B89157}" type="datetime1">
              <a:rPr lang="en-US" smtClean="0"/>
              <a:pPr/>
              <a:t>9/9/2023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8AD454-40F2-4409-B41C-229671AFE7A9}" type="datetime1">
              <a:rPr lang="en-US" smtClean="0"/>
              <a:pPr/>
              <a:t>9/9/2023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4891CE-E1EF-4C14-AB53-F85782235A82}" type="datetime1">
              <a:rPr lang="en-US" smtClean="0"/>
              <a:pPr/>
              <a:t>9/9/2023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2C436-8CCF-48E2-945F-E55921688782}" type="datetime1">
              <a:rPr lang="en-US" smtClean="0"/>
              <a:pPr/>
              <a:t>9/9/2023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3BEB1D-9F71-4616-9EDB-375E3ADEFC31}" type="datetime1">
              <a:rPr lang="en-US" smtClean="0"/>
              <a:pPr/>
              <a:t>9/9/2023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B43A0-F2D2-49BB-B592-4D4553DBF943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9/9/2023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>
                <a:solidFill>
                  <a:srgbClr val="90C226"/>
                </a:solidFill>
              </a:rPr>
              <a:pPr/>
              <a:t>‹#›</a:t>
            </a:fld>
            <a:endParaRPr lang="en-US" dirty="0">
              <a:solidFill>
                <a:srgbClr val="90C22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596483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CEBAC-BC23-4037-8F91-1C3D3445050C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9/9/2023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>
                <a:solidFill>
                  <a:srgbClr val="90C226"/>
                </a:solidFill>
              </a:rPr>
              <a:pPr/>
              <a:t>‹#›</a:t>
            </a:fld>
            <a:endParaRPr lang="en-US" dirty="0">
              <a:solidFill>
                <a:srgbClr val="90C22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8340768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AE8FD9-5278-4DAE-815D-1D6FD9270ECA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9/9/2023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>
                <a:solidFill>
                  <a:srgbClr val="90C226"/>
                </a:solidFill>
              </a:rPr>
              <a:pPr/>
              <a:t>‹#›</a:t>
            </a:fld>
            <a:endParaRPr lang="en-US" dirty="0">
              <a:solidFill>
                <a:srgbClr val="90C22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5903304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D970F-DBD5-4A51-B6F1-2FA8A13D4FB5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9/9/2023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>
                <a:solidFill>
                  <a:srgbClr val="90C226"/>
                </a:solidFill>
              </a:rPr>
              <a:pPr/>
              <a:t>‹#›</a:t>
            </a:fld>
            <a:endParaRPr lang="en-US" dirty="0">
              <a:solidFill>
                <a:srgbClr val="90C22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297624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4FF551-2E11-4B36-BDD0-A2F92D17CC77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9/9/2023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>
                <a:solidFill>
                  <a:srgbClr val="90C226"/>
                </a:solidFill>
              </a:rPr>
              <a:pPr/>
              <a:t>‹#›</a:t>
            </a:fld>
            <a:endParaRPr lang="en-US" dirty="0">
              <a:solidFill>
                <a:srgbClr val="90C22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5942354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E52740-AF09-46CC-A852-E2CC3FB8CECE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9/9/2023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>
                <a:solidFill>
                  <a:srgbClr val="90C226"/>
                </a:solidFill>
              </a:rPr>
              <a:pPr/>
              <a:t>‹#›</a:t>
            </a:fld>
            <a:endParaRPr lang="en-US" dirty="0">
              <a:solidFill>
                <a:srgbClr val="90C22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7113698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4343C-2CFB-47D9-A997-9BA4143AF504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9/9/2023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>
                <a:solidFill>
                  <a:srgbClr val="90C226"/>
                </a:solidFill>
              </a:rPr>
              <a:pPr/>
              <a:t>‹#›</a:t>
            </a:fld>
            <a:endParaRPr lang="en-US" dirty="0">
              <a:solidFill>
                <a:srgbClr val="90C22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890738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F6472-DD47-48D3-A488-C5732561D597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9/9/2023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>
                <a:solidFill>
                  <a:srgbClr val="90C226"/>
                </a:solidFill>
              </a:rPr>
              <a:pPr/>
              <a:t>‹#›</a:t>
            </a:fld>
            <a:endParaRPr lang="en-US" dirty="0">
              <a:solidFill>
                <a:srgbClr val="90C22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0587627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15DA3-4AD0-4645-871A-7DD7897DDF5F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9/9/2023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>
                <a:solidFill>
                  <a:srgbClr val="90C226"/>
                </a:solidFill>
              </a:rPr>
              <a:pPr/>
              <a:t>‹#›</a:t>
            </a:fld>
            <a:endParaRPr lang="en-US" dirty="0">
              <a:solidFill>
                <a:srgbClr val="90C22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3912551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8B303-53B5-41A0-824F-27628D95A6E7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9/9/2023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>
                <a:solidFill>
                  <a:srgbClr val="90C226"/>
                </a:solidFill>
              </a:rPr>
              <a:pPr/>
              <a:t>‹#›</a:t>
            </a:fld>
            <a:endParaRPr lang="en-US" dirty="0">
              <a:solidFill>
                <a:srgbClr val="90C22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367766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77D56E-4A0F-4111-86D9-63E4E1481343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9/9/2023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>
                <a:solidFill>
                  <a:srgbClr val="90C226"/>
                </a:solidFill>
              </a:rPr>
              <a:pPr/>
              <a:t>‹#›</a:t>
            </a:fld>
            <a:endParaRPr lang="en-US" dirty="0">
              <a:solidFill>
                <a:srgbClr val="90C226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8000" dirty="0">
                <a:ln w="3175" cmpd="sng">
                  <a:noFill/>
                </a:ln>
                <a:solidFill>
                  <a:srgbClr val="90C226">
                    <a:lumMod val="60000"/>
                    <a:lumOff val="40000"/>
                  </a:srgbClr>
                </a:solidFill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8000" dirty="0">
                <a:ln w="3175" cmpd="sng">
                  <a:noFill/>
                </a:ln>
                <a:solidFill>
                  <a:srgbClr val="90C226">
                    <a:lumMod val="60000"/>
                    <a:lumOff val="40000"/>
                  </a:srgbClr>
                </a:solidFill>
                <a:latin typeface="Arial"/>
              </a:rPr>
              <a:t>”</a:t>
            </a:r>
            <a:endParaRPr lang="en-US" dirty="0">
              <a:solidFill>
                <a:srgbClr val="90C226">
                  <a:lumMod val="60000"/>
                  <a:lumOff val="40000"/>
                </a:srgb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195179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9F27E-FDD8-4832-979D-7908F4B89157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9/9/2023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>
                <a:solidFill>
                  <a:srgbClr val="90C226"/>
                </a:solidFill>
              </a:rPr>
              <a:pPr/>
              <a:t>‹#›</a:t>
            </a:fld>
            <a:endParaRPr lang="en-US" dirty="0">
              <a:solidFill>
                <a:srgbClr val="90C22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5279251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8AD454-40F2-4409-B41C-229671AFE7A9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9/9/2023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>
                <a:solidFill>
                  <a:srgbClr val="90C226"/>
                </a:solidFill>
              </a:rPr>
              <a:pPr/>
              <a:t>‹#›</a:t>
            </a:fld>
            <a:endParaRPr lang="en-US" dirty="0">
              <a:solidFill>
                <a:srgbClr val="90C226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8000" dirty="0">
                <a:ln w="3175" cmpd="sng">
                  <a:noFill/>
                </a:ln>
                <a:solidFill>
                  <a:srgbClr val="90C226">
                    <a:lumMod val="60000"/>
                    <a:lumOff val="40000"/>
                  </a:srgbClr>
                </a:solidFill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8000" dirty="0">
                <a:ln w="3175" cmpd="sng">
                  <a:noFill/>
                </a:ln>
                <a:solidFill>
                  <a:srgbClr val="90C226">
                    <a:lumMod val="60000"/>
                    <a:lumOff val="40000"/>
                  </a:srgbClr>
                </a:solidFill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9082493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4891CE-E1EF-4C14-AB53-F85782235A82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9/9/2023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>
                <a:solidFill>
                  <a:srgbClr val="90C226"/>
                </a:solidFill>
              </a:rPr>
              <a:pPr/>
              <a:t>‹#›</a:t>
            </a:fld>
            <a:endParaRPr lang="en-US" dirty="0">
              <a:solidFill>
                <a:srgbClr val="90C22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2121161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2C436-8CCF-48E2-945F-E55921688782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9/9/2023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>
                <a:solidFill>
                  <a:srgbClr val="90C226"/>
                </a:solidFill>
              </a:rPr>
              <a:pPr/>
              <a:t>‹#›</a:t>
            </a:fld>
            <a:endParaRPr lang="en-US" dirty="0">
              <a:solidFill>
                <a:srgbClr val="90C22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1929446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3BEB1D-9F71-4616-9EDB-375E3ADEFC31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9/9/2023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>
                <a:solidFill>
                  <a:srgbClr val="90C226"/>
                </a:solidFill>
              </a:rPr>
              <a:pPr/>
              <a:t>‹#›</a:t>
            </a:fld>
            <a:endParaRPr lang="en-US" dirty="0">
              <a:solidFill>
                <a:srgbClr val="90C22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750204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4.xml"/><Relationship Id="rId13" Type="http://schemas.openxmlformats.org/officeDocument/2006/relationships/slideLayout" Target="../slideLayouts/slideLayout29.xml"/><Relationship Id="rId3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8.xml"/><Relationship Id="rId17" Type="http://schemas.openxmlformats.org/officeDocument/2006/relationships/theme" Target="../theme/theme2.xml"/><Relationship Id="rId2" Type="http://schemas.openxmlformats.org/officeDocument/2006/relationships/slideLayout" Target="../slideLayouts/slideLayout18.xml"/><Relationship Id="rId16" Type="http://schemas.openxmlformats.org/officeDocument/2006/relationships/slideLayout" Target="../slideLayouts/slideLayout32.xml"/><Relationship Id="rId1" Type="http://schemas.openxmlformats.org/officeDocument/2006/relationships/slideLayout" Target="../slideLayouts/slideLayout17.xml"/><Relationship Id="rId6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1.xml"/><Relationship Id="rId15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5.xml"/><Relationship Id="rId14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1A024B-988A-45D9-BC4D-DBAB4871FF0F}" type="datetime1">
              <a:rPr lang="en-US" smtClean="0"/>
              <a:pPr/>
              <a:t>9/9/2023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5" r:id="rId4"/>
    <p:sldLayoutId id="2147483653" r:id="rId5"/>
    <p:sldLayoutId id="2147483654" r:id="rId6"/>
    <p:sldLayoutId id="2147483655" r:id="rId7"/>
    <p:sldLayoutId id="214748366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7" r:id="rId15"/>
    <p:sldLayoutId id="2147483659" r:id="rId16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1A024B-988A-45D9-BC4D-DBAB4871FF0F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9/9/2023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>
                <a:solidFill>
                  <a:srgbClr val="90C226"/>
                </a:solidFill>
              </a:rPr>
              <a:pPr/>
              <a:t>‹#›</a:t>
            </a:fld>
            <a:endParaRPr lang="en-US" dirty="0">
              <a:solidFill>
                <a:srgbClr val="90C22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52278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  <p:sldLayoutId id="2147483697" r:id="rId12"/>
    <p:sldLayoutId id="2147483698" r:id="rId13"/>
    <p:sldLayoutId id="2147483699" r:id="rId14"/>
    <p:sldLayoutId id="2147483700" r:id="rId15"/>
    <p:sldLayoutId id="2147483701" r:id="rId16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CSE 4255: Telecommunication</a:t>
            </a:r>
            <a:br>
              <a:rPr lang="en-US" sz="3600" dirty="0">
                <a:latin typeface="Times New Roman" pitchFamily="18" charset="0"/>
                <a:cs typeface="Times New Roman" pitchFamily="18" charset="0"/>
              </a:rPr>
            </a:br>
            <a:r>
              <a:rPr sz="3600" dirty="0">
                <a:latin typeface="Times New Roman" pitchFamily="18" charset="0"/>
                <a:cs typeface="Times New Roman" pitchFamily="18" charset="0"/>
              </a:rPr>
              <a:t>Lecture </a:t>
            </a: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3</a:t>
            </a:r>
            <a:r>
              <a:rPr sz="3600" dirty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Switching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878CC-6E82-4E52-AC91-7708466A7CCC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2344" y="99934"/>
            <a:ext cx="8596668" cy="662152"/>
          </a:xfrm>
        </p:spPr>
        <p:txBody>
          <a:bodyPr/>
          <a:lstStyle/>
          <a:p>
            <a:r>
              <a:rPr lang="en-US" dirty="0"/>
              <a:t>Why Switching?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656312" y="804756"/>
            <a:ext cx="8749299" cy="4748148"/>
          </a:xfrm>
        </p:spPr>
        <p:txBody>
          <a:bodyPr>
            <a:noAutofit/>
          </a:bodyPr>
          <a:lstStyle/>
          <a:p>
            <a:pPr algn="just"/>
            <a:r>
              <a:rPr lang="en-US" sz="2800" dirty="0">
                <a:latin typeface="Times New Roman"/>
              </a:rPr>
              <a:t>A network is a set of connected devices. Some of the conventional ways of interconnecting devices are:</a:t>
            </a:r>
          </a:p>
          <a:p>
            <a:pPr marL="800100" lvl="1" indent="-342900" algn="just">
              <a:buFont typeface="+mj-lt"/>
              <a:buAutoNum type="alphaLcParenR"/>
            </a:pPr>
            <a:r>
              <a:rPr lang="en-US" sz="2400" dirty="0">
                <a:latin typeface="Times New Roman"/>
              </a:rPr>
              <a:t>Point-to point connection between devices as in a mesh topology.</a:t>
            </a:r>
          </a:p>
          <a:p>
            <a:pPr marL="800100" lvl="1" indent="-342900" algn="just">
              <a:buFont typeface="+mj-lt"/>
              <a:buAutoNum type="alphaLcParenR"/>
            </a:pPr>
            <a:r>
              <a:rPr lang="en-US" sz="2400" dirty="0">
                <a:latin typeface="Times New Roman"/>
              </a:rPr>
              <a:t>Connection between a central device and every other device as in star topology.</a:t>
            </a:r>
          </a:p>
          <a:p>
            <a:pPr marL="800100" lvl="1" indent="-342900" algn="just">
              <a:buFont typeface="+mj-lt"/>
              <a:buAutoNum type="alphaLcParenR"/>
            </a:pPr>
            <a:r>
              <a:rPr lang="en-US" sz="2400" dirty="0">
                <a:latin typeface="Times New Roman"/>
              </a:rPr>
              <a:t>Bus topology – not practical if the devices are at great distances.</a:t>
            </a:r>
          </a:p>
          <a:p>
            <a:pPr marL="400050" algn="just">
              <a:buFont typeface="Wingdings" pitchFamily="2" charset="2"/>
              <a:buChar char="Ø"/>
            </a:pPr>
            <a:r>
              <a:rPr lang="en-US" sz="2800" dirty="0">
                <a:solidFill>
                  <a:prstClr val="black">
                    <a:lumMod val="75000"/>
                    <a:lumOff val="25000"/>
                  </a:prstClr>
                </a:solidFill>
                <a:latin typeface="Times New Roman"/>
              </a:rPr>
              <a:t>All these techniques require extensive cabling, dependence on a central server or a central bus.</a:t>
            </a:r>
          </a:p>
          <a:p>
            <a:pPr marL="400050" algn="just">
              <a:buFont typeface="Wingdings" pitchFamily="2" charset="2"/>
              <a:buChar char="Ø"/>
            </a:pPr>
            <a:r>
              <a:rPr lang="en-US" sz="2800" dirty="0">
                <a:solidFill>
                  <a:prstClr val="black">
                    <a:lumMod val="75000"/>
                    <a:lumOff val="25000"/>
                  </a:prstClr>
                </a:solidFill>
                <a:latin typeface="Times New Roman"/>
              </a:rPr>
              <a:t>The solution to this interconnectivity problem is switching.</a:t>
            </a:r>
            <a:endParaRPr lang="en-US" sz="2800" dirty="0">
              <a:latin typeface="Times New Roman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878CC-6E82-4E52-AC91-7708466A7CCC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440" y="325812"/>
            <a:ext cx="8596668" cy="720436"/>
          </a:xfrm>
        </p:spPr>
        <p:txBody>
          <a:bodyPr/>
          <a:lstStyle/>
          <a:p>
            <a:r>
              <a:rPr lang="en-US" dirty="0"/>
              <a:t>Switching Network: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878CC-6E82-4E52-AC91-7708466A7CCC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6" name="Content Placeholder 3"/>
          <p:cNvSpPr>
            <a:spLocks noGrp="1"/>
          </p:cNvSpPr>
          <p:nvPr>
            <p:ph idx="1"/>
          </p:nvPr>
        </p:nvSpPr>
        <p:spPr>
          <a:xfrm>
            <a:off x="656312" y="1044596"/>
            <a:ext cx="10751203" cy="4748148"/>
          </a:xfrm>
        </p:spPr>
        <p:txBody>
          <a:bodyPr>
            <a:noAutofit/>
          </a:bodyPr>
          <a:lstStyle/>
          <a:p>
            <a:pPr algn="just"/>
            <a:r>
              <a:rPr lang="en-US" sz="2800" dirty="0">
                <a:latin typeface="Times New Roman"/>
              </a:rPr>
              <a:t>A switched network consists of a series of interlinked nodes, called switches. </a:t>
            </a:r>
          </a:p>
          <a:p>
            <a:pPr algn="just"/>
            <a:r>
              <a:rPr lang="en-US" sz="2800" dirty="0">
                <a:latin typeface="Times New Roman"/>
              </a:rPr>
              <a:t>Switches are devices capable of creating temporary connections between two or more devices linked to the switch. </a:t>
            </a:r>
          </a:p>
          <a:p>
            <a:pPr algn="just"/>
            <a:r>
              <a:rPr lang="en-US" sz="2800" dirty="0">
                <a:latin typeface="Times New Roman"/>
              </a:rPr>
              <a:t>In a switched network, some of these nodes are connected to the end systems (computers or telephones, for example). Others are used only for routing.</a:t>
            </a:r>
          </a:p>
        </p:txBody>
      </p:sp>
      <p:pic>
        <p:nvPicPr>
          <p:cNvPr id="7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84468" y="4166088"/>
            <a:ext cx="6691312" cy="24745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440" y="325812"/>
            <a:ext cx="8596668" cy="720436"/>
          </a:xfrm>
        </p:spPr>
        <p:txBody>
          <a:bodyPr/>
          <a:lstStyle/>
          <a:p>
            <a:r>
              <a:rPr lang="en-US" dirty="0"/>
              <a:t>Types of Switching Network: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878CC-6E82-4E52-AC91-7708466A7CCC}" type="slidenum">
              <a:rPr lang="en-US" smtClean="0"/>
              <a:pPr/>
              <a:t>4</a:t>
            </a:fld>
            <a:endParaRPr lang="en-US"/>
          </a:p>
        </p:txBody>
      </p:sp>
      <p:pic>
        <p:nvPicPr>
          <p:cNvPr id="8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0664" y="1722401"/>
            <a:ext cx="8328025" cy="3416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399455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2364" y="24460"/>
            <a:ext cx="8569697" cy="678287"/>
          </a:xfrm>
        </p:spPr>
        <p:txBody>
          <a:bodyPr/>
          <a:lstStyle/>
          <a:p>
            <a:r>
              <a:rPr lang="en-US" dirty="0"/>
              <a:t>Circuit Switching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6316" y="764133"/>
            <a:ext cx="6858983" cy="5604876"/>
          </a:xfrm>
        </p:spPr>
        <p:txBody>
          <a:bodyPr>
            <a:noAutofit/>
          </a:bodyPr>
          <a:lstStyle/>
          <a:p>
            <a:pPr algn="just"/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Circuit switching takes place at the physical layer.</a:t>
            </a:r>
          </a:p>
          <a:p>
            <a:pPr algn="just"/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The actual communication in a circuit-switched network requires three phases: connection setup, data transfer, and connection teardown.</a:t>
            </a:r>
          </a:p>
          <a:p>
            <a:pPr algn="just"/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Before starting communication, the stations must make a reservation for the resources to be used during the communication. </a:t>
            </a:r>
          </a:p>
          <a:p>
            <a:pPr algn="just"/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Data transferred between the two stations are a continuous flow.</a:t>
            </a:r>
          </a:p>
          <a:p>
            <a:pPr algn="just"/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There is no addressing involved during data transfer but there is end-to-end addressing used during the setup phase.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119965" y="6199022"/>
            <a:ext cx="683339" cy="365125"/>
          </a:xfrm>
        </p:spPr>
        <p:txBody>
          <a:bodyPr/>
          <a:lstStyle/>
          <a:p>
            <a:fld id="{227878CC-6E82-4E52-AC91-7708466A7CCC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5" name="Content Placeholder 4" descr="circuit switching"/>
          <p:cNvPicPr>
            <a:picLocks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659975" y="702746"/>
            <a:ext cx="4403571" cy="46337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7514" y="9995"/>
            <a:ext cx="8596668" cy="1320800"/>
          </a:xfrm>
        </p:spPr>
        <p:txBody>
          <a:bodyPr/>
          <a:lstStyle/>
          <a:p>
            <a:r>
              <a:rPr lang="en-US" dirty="0"/>
              <a:t>Message Switching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167674" y="792080"/>
            <a:ext cx="6233129" cy="4366347"/>
          </a:xfrm>
        </p:spPr>
        <p:txBody>
          <a:bodyPr>
            <a:noAutofit/>
          </a:bodyPr>
          <a:lstStyle/>
          <a:p>
            <a:pPr algn="just"/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With message switching there is no need to establish a dedicated path between two stations. </a:t>
            </a:r>
          </a:p>
          <a:p>
            <a:pPr algn="just"/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When a station sends a message, the destination address is appended to the message. </a:t>
            </a:r>
          </a:p>
          <a:p>
            <a:pPr algn="just"/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Each node receives the entire message, stores it in its buffer, and then transmits the message to the next node.</a:t>
            </a:r>
          </a:p>
          <a:p>
            <a:pPr algn="just"/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This type of network is called a store-and-forward network.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878CC-6E82-4E52-AC91-7708466A7CCC}" type="slidenum">
              <a:rPr lang="en-US" smtClean="0"/>
              <a:pPr/>
              <a:t>6</a:t>
            </a:fld>
            <a:endParaRPr lang="en-US"/>
          </a:p>
        </p:txBody>
      </p:sp>
      <p:pic>
        <p:nvPicPr>
          <p:cNvPr id="5" name="Content Placeholder 4" descr="message switching"/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6751942" y="896569"/>
            <a:ext cx="5320138" cy="46960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8469270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5664" y="0"/>
            <a:ext cx="8596668" cy="1320800"/>
          </a:xfrm>
        </p:spPr>
        <p:txBody>
          <a:bodyPr/>
          <a:lstStyle/>
          <a:p>
            <a:r>
              <a:rPr lang="en-US" dirty="0"/>
              <a:t>Packet Switching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242622" y="763858"/>
            <a:ext cx="6457984" cy="4513008"/>
          </a:xfrm>
        </p:spPr>
        <p:txBody>
          <a:bodyPr>
            <a:noAutofit/>
          </a:bodyPr>
          <a:lstStyle/>
          <a:p>
            <a:pPr algn="just"/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There are two methods of packet switching: Datagram and virtual circuit.</a:t>
            </a:r>
          </a:p>
          <a:p>
            <a:pPr algn="just"/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In both packet switching methods, a message is broken into small parts, called packets. </a:t>
            </a:r>
          </a:p>
          <a:p>
            <a:pPr algn="just"/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Each packet is tagged with appropriate source and destination addresses. </a:t>
            </a:r>
          </a:p>
          <a:p>
            <a:pPr algn="just"/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With current technology, packets are generally accepted onto the network on a first-come, first-served basis. If the network becomes overloaded, packets are delayed or discarded (``dropped'').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878CC-6E82-4E52-AC91-7708466A7CCC}" type="slidenum">
              <a:rPr lang="en-US" smtClean="0">
                <a:solidFill>
                  <a:srgbClr val="90C226"/>
                </a:solidFill>
              </a:rPr>
              <a:pPr/>
              <a:t>7</a:t>
            </a:fld>
            <a:endParaRPr lang="en-US">
              <a:solidFill>
                <a:srgbClr val="90C226"/>
              </a:solidFill>
            </a:endParaRPr>
          </a:p>
        </p:txBody>
      </p:sp>
      <p:pic>
        <p:nvPicPr>
          <p:cNvPr id="5" name="Content Placeholder 4" descr="datagram packet switching"/>
          <p:cNvPicPr>
            <a:picLocks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955436" y="1020172"/>
            <a:ext cx="5046552" cy="457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2032036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545802"/>
            <a:ext cx="8596668" cy="676940"/>
          </a:xfrm>
        </p:spPr>
        <p:txBody>
          <a:bodyPr>
            <a:normAutofit/>
          </a:bodyPr>
          <a:lstStyle/>
          <a:p>
            <a:r>
              <a:rPr lang="en-US" dirty="0"/>
              <a:t>Circuit Switching (Space-division switch)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288087"/>
            <a:ext cx="9176114" cy="4408505"/>
          </a:xfrm>
        </p:spPr>
        <p:txBody>
          <a:bodyPr>
            <a:noAutofit/>
          </a:bodyPr>
          <a:lstStyle/>
          <a:p>
            <a:pPr marL="342900" lvl="1" indent="-342900" algn="just"/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In space division switching, the paths in the circuit are separated with each other spatially. </a:t>
            </a:r>
          </a:p>
          <a:p>
            <a:pPr marL="342900" lvl="1" indent="-342900" algn="just"/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Different ongoing connections, at a same instant of time, uses different switching paths, which are separated spatially.</a:t>
            </a:r>
          </a:p>
          <a:p>
            <a:pPr marL="342900" lvl="1" indent="-342900" algn="just"/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Some of the space switches are </a:t>
            </a:r>
          </a:p>
          <a:p>
            <a:pPr marL="857250" lvl="2" indent="-457200" algn="just">
              <a:buFont typeface="+mj-lt"/>
              <a:buAutoNum type="arabicPeriod"/>
            </a:pP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Crossbar switch</a:t>
            </a:r>
          </a:p>
          <a:p>
            <a:pPr marL="857250" lvl="2" indent="-457200" algn="just">
              <a:buFont typeface="+mj-lt"/>
              <a:buAutoNum type="arabicPeriod"/>
            </a:pP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Multi-stage switch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878CC-6E82-4E52-AC91-7708466A7CCC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35076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title"/>
          </p:nvPr>
        </p:nvSpPr>
        <p:spPr>
          <a:xfrm>
            <a:off x="157072" y="55018"/>
            <a:ext cx="8596668" cy="645042"/>
          </a:xfrm>
        </p:spPr>
        <p:txBody>
          <a:bodyPr/>
          <a:lstStyle/>
          <a:p>
            <a:r>
              <a:rPr lang="en-US" dirty="0"/>
              <a:t>Crossbar Switch</a:t>
            </a:r>
          </a:p>
        </p:txBody>
      </p:sp>
      <p:sp>
        <p:nvSpPr>
          <p:cNvPr id="501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14725" y="776186"/>
            <a:ext cx="9160349" cy="1729683"/>
          </a:xfrm>
        </p:spPr>
        <p:txBody>
          <a:bodyPr>
            <a:noAutofit/>
          </a:bodyPr>
          <a:lstStyle/>
          <a:p>
            <a:pPr algn="just"/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A crossbar switch connects </a:t>
            </a:r>
            <a:r>
              <a:rPr lang="en-US" sz="2400" i="1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inputs to </a:t>
            </a:r>
            <a:r>
              <a:rPr lang="en-US" sz="2400" i="1" dirty="0"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outputs in a grid, using electronic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microswitches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(transistors) at each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crosspoint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/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As all the stations are allowed to be connected with all possible connections as long as the called party is free, this Crossbar Switching is called the Non-Blocking.</a:t>
            </a:r>
          </a:p>
          <a:p>
            <a:pPr algn="just"/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9</a:t>
            </a:fld>
            <a:endParaRPr lang="en-US" dirty="0"/>
          </a:p>
        </p:txBody>
      </p:sp>
      <p:pic>
        <p:nvPicPr>
          <p:cNvPr id="5" name="Picture 6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868550" y="3156238"/>
            <a:ext cx="6660594" cy="36257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>
    <p:pull dir="r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title"/>
          </p:nvPr>
        </p:nvSpPr>
        <p:spPr>
          <a:xfrm>
            <a:off x="645250" y="192504"/>
            <a:ext cx="8596668" cy="645042"/>
          </a:xfrm>
        </p:spPr>
        <p:txBody>
          <a:bodyPr/>
          <a:lstStyle/>
          <a:p>
            <a:r>
              <a:rPr lang="en-US" dirty="0"/>
              <a:t>Limitations</a:t>
            </a:r>
          </a:p>
        </p:txBody>
      </p:sp>
      <p:sp>
        <p:nvSpPr>
          <p:cNvPr id="501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77334" y="1052610"/>
            <a:ext cx="8947929" cy="5157690"/>
          </a:xfrm>
        </p:spPr>
        <p:txBody>
          <a:bodyPr>
            <a:noAutofit/>
          </a:bodyPr>
          <a:lstStyle/>
          <a:p>
            <a:pPr algn="just"/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The major limitation of this design is the number of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crosspoints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required. </a:t>
            </a:r>
          </a:p>
          <a:p>
            <a:pPr algn="just"/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To connect </a:t>
            </a:r>
            <a:r>
              <a:rPr lang="en-US" sz="2800" i="1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inputs to </a:t>
            </a:r>
            <a:r>
              <a:rPr lang="en-US" sz="2800" i="1" dirty="0"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outputs using a crossbar switch requires n x m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crosspoints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/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For example, to connect 1000 inputs to 1000 outputs requires a switch with 1,000,000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crosspoints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. </a:t>
            </a:r>
          </a:p>
          <a:p>
            <a:pPr algn="just"/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A crossbar with this number of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crosspoints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is impractical. </a:t>
            </a:r>
          </a:p>
          <a:p>
            <a:pPr algn="just"/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Such a switch is also inefficient because statistics show that, in practice, fewer than 25 percent of the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crosspoints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are in use at any given time. The rest are idle.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4353988"/>
      </p:ext>
    </p:extLst>
  </p:cSld>
  <p:clrMapOvr>
    <a:masterClrMapping/>
  </p:clrMapOvr>
  <p:transition>
    <p:pull dir="r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6725" y="49236"/>
            <a:ext cx="8596668" cy="634409"/>
          </a:xfrm>
        </p:spPr>
        <p:txBody>
          <a:bodyPr>
            <a:normAutofit fontScale="90000"/>
          </a:bodyPr>
          <a:lstStyle/>
          <a:p>
            <a:r>
              <a:rPr lang="en-US" dirty="0"/>
              <a:t>Multistage Switch-Why?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496726" y="914551"/>
            <a:ext cx="9256874" cy="4123502"/>
          </a:xfrm>
        </p:spPr>
        <p:txBody>
          <a:bodyPr>
            <a:noAutofit/>
          </a:bodyPr>
          <a:lstStyle/>
          <a:p>
            <a:pPr algn="just"/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The solution to the limitations of the crossbar switch is the multistage switch, which combines crossbar switches in several (normally three) stages.</a:t>
            </a:r>
          </a:p>
          <a:p>
            <a:pPr algn="just"/>
            <a:r>
              <a:rPr lang="en-US" sz="2800" dirty="0">
                <a:latin typeface="Times New Roman"/>
              </a:rPr>
              <a:t>In a single crossbar switch, only one row or column (one path) is active for any connection. So we need N x N </a:t>
            </a:r>
            <a:r>
              <a:rPr lang="en-US" sz="2800" dirty="0" err="1">
                <a:latin typeface="Times New Roman"/>
              </a:rPr>
              <a:t>crosspoints</a:t>
            </a:r>
            <a:r>
              <a:rPr lang="en-US" sz="2800" dirty="0">
                <a:latin typeface="Times New Roman"/>
              </a:rPr>
              <a:t>. </a:t>
            </a:r>
          </a:p>
          <a:p>
            <a:pPr algn="just"/>
            <a:r>
              <a:rPr lang="en-US" sz="2800" dirty="0">
                <a:latin typeface="Times New Roman"/>
              </a:rPr>
              <a:t>If we can allow multiple paths inside the switch, we can decrease the number of </a:t>
            </a:r>
            <a:r>
              <a:rPr lang="en-US" sz="2800" dirty="0" err="1">
                <a:latin typeface="Times New Roman"/>
              </a:rPr>
              <a:t>crosspoints</a:t>
            </a:r>
            <a:r>
              <a:rPr lang="en-US" sz="2800" dirty="0">
                <a:latin typeface="Times New Roman"/>
              </a:rPr>
              <a:t>. </a:t>
            </a:r>
          </a:p>
          <a:p>
            <a:pPr algn="just"/>
            <a:r>
              <a:rPr lang="en-US" sz="2800" dirty="0">
                <a:latin typeface="Times New Roman"/>
              </a:rPr>
              <a:t>Each </a:t>
            </a:r>
            <a:r>
              <a:rPr lang="en-US" sz="2800" dirty="0" err="1">
                <a:latin typeface="Times New Roman"/>
              </a:rPr>
              <a:t>crosspoint</a:t>
            </a:r>
            <a:r>
              <a:rPr lang="en-US" sz="2800" dirty="0">
                <a:latin typeface="Times New Roman"/>
              </a:rPr>
              <a:t> in the middle stage can be accessed by multiple </a:t>
            </a:r>
            <a:r>
              <a:rPr lang="en-US" sz="2800" dirty="0" err="1">
                <a:latin typeface="Times New Roman"/>
              </a:rPr>
              <a:t>crosspoints</a:t>
            </a:r>
            <a:r>
              <a:rPr lang="en-US" sz="2800" dirty="0">
                <a:latin typeface="Times New Roman"/>
              </a:rPr>
              <a:t> in the first or third stage.</a:t>
            </a:r>
            <a:endParaRPr lang="en-US" sz="2800" baseline="300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878CC-6E82-4E52-AC91-7708466A7CCC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8843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8436" y="112298"/>
            <a:ext cx="8596668" cy="634409"/>
          </a:xfrm>
        </p:spPr>
        <p:txBody>
          <a:bodyPr>
            <a:normAutofit fontScale="90000"/>
          </a:bodyPr>
          <a:lstStyle/>
          <a:p>
            <a:r>
              <a:rPr lang="en-US" dirty="0"/>
              <a:t>Multistage Switch Structure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31533" y="841061"/>
            <a:ext cx="6605752" cy="5285916"/>
          </a:xfrm>
        </p:spPr>
        <p:txBody>
          <a:bodyPr>
            <a:noAutofit/>
          </a:bodyPr>
          <a:lstStyle/>
          <a:p>
            <a:pPr algn="just"/>
            <a:r>
              <a:rPr lang="en-US" sz="2400" dirty="0">
                <a:latin typeface="Times New Roman"/>
              </a:rPr>
              <a:t>To design a three-stage switch, we follow these steps:</a:t>
            </a:r>
          </a:p>
          <a:p>
            <a:pPr marL="400050" algn="just">
              <a:buFont typeface="+mj-lt"/>
              <a:buAutoNum type="arabicPeriod"/>
            </a:pPr>
            <a:r>
              <a:rPr lang="en-US" sz="2400" dirty="0">
                <a:latin typeface="Times New Roman"/>
              </a:rPr>
              <a:t>We divide the N input lines into groups, each of n lines.  For each group, we use one crossbar of size n x k, where k is the number of crossbars in the middle stage. In other words, the first stage has N/n crossbars of n x k </a:t>
            </a:r>
            <a:r>
              <a:rPr lang="en-US" sz="2400" dirty="0" err="1">
                <a:latin typeface="Times New Roman"/>
              </a:rPr>
              <a:t>crosspoints</a:t>
            </a:r>
            <a:r>
              <a:rPr lang="en-US" sz="2400" dirty="0">
                <a:latin typeface="Times New Roman"/>
              </a:rPr>
              <a:t>.</a:t>
            </a:r>
          </a:p>
          <a:p>
            <a:pPr marL="400050" algn="just">
              <a:buFont typeface="+mj-lt"/>
              <a:buAutoNum type="arabicPeriod"/>
            </a:pPr>
            <a:r>
              <a:rPr lang="en-US" sz="2400" dirty="0">
                <a:latin typeface="Times New Roman"/>
              </a:rPr>
              <a:t>We use k crossbars, each of size (N/n) x (N/n) in the middle stage.</a:t>
            </a:r>
          </a:p>
          <a:p>
            <a:pPr marL="400050" algn="just">
              <a:buFont typeface="+mj-lt"/>
              <a:buAutoNum type="arabicPeriod"/>
            </a:pPr>
            <a:r>
              <a:rPr lang="en-US" sz="2400" dirty="0">
                <a:latin typeface="Times New Roman"/>
              </a:rPr>
              <a:t>We use N/n crossbars, each of size k x n at the third stage.</a:t>
            </a:r>
          </a:p>
          <a:p>
            <a:pPr algn="just"/>
            <a:r>
              <a:rPr lang="en-US" sz="2400" dirty="0">
                <a:latin typeface="Times New Roman"/>
              </a:rPr>
              <a:t>We can calculate the total number of </a:t>
            </a:r>
            <a:r>
              <a:rPr lang="en-US" sz="2400" dirty="0" err="1">
                <a:latin typeface="Times New Roman"/>
              </a:rPr>
              <a:t>crosspoints</a:t>
            </a:r>
            <a:r>
              <a:rPr lang="en-US" sz="2400" dirty="0">
                <a:latin typeface="Times New Roman"/>
              </a:rPr>
              <a:t> as follows:</a:t>
            </a:r>
          </a:p>
          <a:p>
            <a:pPr marL="0" indent="0" algn="just">
              <a:buNone/>
            </a:pPr>
            <a:r>
              <a:rPr lang="en-US" sz="2000" dirty="0">
                <a:latin typeface="Times New Roman"/>
              </a:rPr>
              <a:t>N/n ( n x k ) + k ( N/n x N/n ) + N/n ( n x k ) = 2kN + k(N/n)</a:t>
            </a:r>
            <a:r>
              <a:rPr lang="en-US" sz="2000" baseline="30000" dirty="0">
                <a:latin typeface="Times New Roman"/>
              </a:rPr>
              <a:t>2</a:t>
            </a:r>
            <a:endParaRPr lang="en-US" sz="2000" baseline="300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878CC-6E82-4E52-AC91-7708466A7CCC}" type="slidenum">
              <a:rPr lang="en-US" smtClean="0"/>
              <a:pPr/>
              <a:t>12</a:t>
            </a:fld>
            <a:endParaRPr lang="en-US"/>
          </a:p>
        </p:txBody>
      </p:sp>
      <p:pic>
        <p:nvPicPr>
          <p:cNvPr id="5" name="Picture 6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741042" y="1334445"/>
            <a:ext cx="5387160" cy="47037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Slide Number Placeholder 1"/>
          <p:cNvSpPr>
            <a:spLocks noGrp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tIns="45720" bIns="45720" numCol="1" anchorCtr="0" compatLnSpc="1">
            <a:prstTxWarp prst="textNoShape">
              <a:avLst/>
            </a:prstTxWarp>
          </a:bodyPr>
          <a:lstStyle/>
          <a:p>
            <a:r>
              <a:rPr lang="en-US">
                <a:latin typeface="Arial" pitchFamily="34" charset="0"/>
              </a:rPr>
              <a:t>8.</a:t>
            </a:r>
            <a:fld id="{406A0EE1-EF9A-446B-BAAE-B083CB2B1ED5}" type="slidenum">
              <a:rPr lang="en-US" smtClean="0">
                <a:latin typeface="Arial" pitchFamily="34" charset="0"/>
              </a:rPr>
              <a:pPr/>
              <a:t>13</a:t>
            </a:fld>
            <a:endParaRPr lang="en-US">
              <a:latin typeface="Arial" pitchFamily="34" charset="0"/>
            </a:endParaRPr>
          </a:p>
        </p:txBody>
      </p:sp>
      <p:sp>
        <p:nvSpPr>
          <p:cNvPr id="35843" name="Rectangle 9"/>
          <p:cNvSpPr>
            <a:spLocks noChangeArrowheads="1"/>
          </p:cNvSpPr>
          <p:nvPr/>
        </p:nvSpPr>
        <p:spPr bwMode="auto">
          <a:xfrm>
            <a:off x="304800" y="1066803"/>
            <a:ext cx="115824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400" i="1" dirty="0">
                <a:latin typeface="Times New Roman" pitchFamily="18" charset="0"/>
              </a:rPr>
              <a:t>Design a three-stage, </a:t>
            </a:r>
            <a:r>
              <a:rPr lang="en-US" sz="2400" i="1" dirty="0">
                <a:solidFill>
                  <a:srgbClr val="FF0000"/>
                </a:solidFill>
                <a:latin typeface="Times New Roman" pitchFamily="18" charset="0"/>
              </a:rPr>
              <a:t>200 × 200 switch </a:t>
            </a:r>
            <a:r>
              <a:rPr lang="en-US" sz="2400" i="1" dirty="0">
                <a:latin typeface="Times New Roman" pitchFamily="18" charset="0"/>
              </a:rPr>
              <a:t>(N = 200) with </a:t>
            </a:r>
            <a:r>
              <a:rPr lang="en-US" sz="2400" i="1" dirty="0">
                <a:solidFill>
                  <a:srgbClr val="7030A0"/>
                </a:solidFill>
                <a:latin typeface="Times New Roman" pitchFamily="18" charset="0"/>
              </a:rPr>
              <a:t>k = 4 and n = 20</a:t>
            </a:r>
            <a:r>
              <a:rPr lang="en-US" sz="2400" i="1" dirty="0">
                <a:latin typeface="Times New Roman" pitchFamily="18" charset="0"/>
              </a:rPr>
              <a:t>.</a:t>
            </a:r>
          </a:p>
        </p:txBody>
      </p:sp>
      <p:sp>
        <p:nvSpPr>
          <p:cNvPr id="35844" name="Rectangle 10"/>
          <p:cNvSpPr>
            <a:spLocks noChangeArrowheads="1"/>
          </p:cNvSpPr>
          <p:nvPr/>
        </p:nvSpPr>
        <p:spPr bwMode="auto">
          <a:xfrm>
            <a:off x="304800" y="1905003"/>
            <a:ext cx="11582400" cy="3694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just"/>
            <a:r>
              <a:rPr lang="en-US" sz="2000" i="1" dirty="0">
                <a:solidFill>
                  <a:schemeClr val="hlink"/>
                </a:solidFill>
                <a:latin typeface="Times New Roman" pitchFamily="18" charset="0"/>
              </a:rPr>
              <a:t>Solution</a:t>
            </a:r>
          </a:p>
          <a:p>
            <a:pPr algn="just"/>
            <a:r>
              <a:rPr lang="en-US" sz="2000" i="1" dirty="0">
                <a:latin typeface="Times" pitchFamily="18" charset="0"/>
              </a:rPr>
              <a:t>In the </a:t>
            </a:r>
            <a:r>
              <a:rPr lang="en-US" sz="2000" i="1" dirty="0">
                <a:solidFill>
                  <a:srgbClr val="C00000"/>
                </a:solidFill>
                <a:latin typeface="Times" pitchFamily="18" charset="0"/>
              </a:rPr>
              <a:t>first stage </a:t>
            </a:r>
            <a:r>
              <a:rPr lang="en-US" sz="2000" i="1" dirty="0">
                <a:latin typeface="Times" pitchFamily="18" charset="0"/>
              </a:rPr>
              <a:t>we have </a:t>
            </a:r>
            <a:r>
              <a:rPr lang="en-US" sz="2000" i="1" dirty="0">
                <a:solidFill>
                  <a:srgbClr val="C00000"/>
                </a:solidFill>
                <a:latin typeface="Times" pitchFamily="18" charset="0"/>
              </a:rPr>
              <a:t>N/n or 10 crossbars</a:t>
            </a:r>
            <a:r>
              <a:rPr lang="en-US" sz="2000" i="1" dirty="0">
                <a:latin typeface="Times" pitchFamily="18" charset="0"/>
              </a:rPr>
              <a:t>, </a:t>
            </a:r>
          </a:p>
          <a:p>
            <a:pPr algn="just"/>
            <a:r>
              <a:rPr lang="en-US" sz="2000" i="1" dirty="0">
                <a:latin typeface="Times" pitchFamily="18" charset="0"/>
              </a:rPr>
              <a:t>	</a:t>
            </a:r>
            <a:r>
              <a:rPr lang="en-US" sz="1800" i="1" dirty="0">
                <a:latin typeface="Times" pitchFamily="18" charset="0"/>
              </a:rPr>
              <a:t>each of size 20 × 4. </a:t>
            </a:r>
            <a:endParaRPr lang="en-US" sz="2000" i="1" dirty="0">
              <a:latin typeface="Times" pitchFamily="18" charset="0"/>
            </a:endParaRPr>
          </a:p>
          <a:p>
            <a:pPr algn="just"/>
            <a:r>
              <a:rPr lang="en-US" sz="2000" i="1" dirty="0">
                <a:latin typeface="Times" pitchFamily="18" charset="0"/>
              </a:rPr>
              <a:t>In the </a:t>
            </a:r>
            <a:r>
              <a:rPr lang="en-US" sz="2000" i="1" dirty="0">
                <a:solidFill>
                  <a:srgbClr val="008000"/>
                </a:solidFill>
                <a:latin typeface="Times" pitchFamily="18" charset="0"/>
              </a:rPr>
              <a:t>second stage</a:t>
            </a:r>
            <a:r>
              <a:rPr lang="en-US" sz="2000" i="1" dirty="0">
                <a:latin typeface="Times" pitchFamily="18" charset="0"/>
              </a:rPr>
              <a:t>, we have </a:t>
            </a:r>
            <a:r>
              <a:rPr lang="en-US" sz="2000" i="1" dirty="0">
                <a:solidFill>
                  <a:srgbClr val="008000"/>
                </a:solidFill>
                <a:latin typeface="Times" pitchFamily="18" charset="0"/>
              </a:rPr>
              <a:t>4 crossbars</a:t>
            </a:r>
            <a:r>
              <a:rPr lang="en-US" sz="2000" i="1" dirty="0">
                <a:latin typeface="Times" pitchFamily="18" charset="0"/>
              </a:rPr>
              <a:t>, </a:t>
            </a:r>
          </a:p>
          <a:p>
            <a:pPr algn="just"/>
            <a:r>
              <a:rPr lang="en-US" sz="2000" i="1" dirty="0">
                <a:latin typeface="Times" pitchFamily="18" charset="0"/>
              </a:rPr>
              <a:t>	</a:t>
            </a:r>
            <a:r>
              <a:rPr lang="en-US" sz="1800" i="1" dirty="0">
                <a:latin typeface="Times" pitchFamily="18" charset="0"/>
              </a:rPr>
              <a:t>each of size 10 × 10. </a:t>
            </a:r>
            <a:endParaRPr lang="en-US" sz="2000" i="1" dirty="0">
              <a:latin typeface="Times" pitchFamily="18" charset="0"/>
            </a:endParaRPr>
          </a:p>
          <a:p>
            <a:pPr algn="just"/>
            <a:r>
              <a:rPr lang="en-US" sz="2000" i="1" dirty="0">
                <a:latin typeface="Times" pitchFamily="18" charset="0"/>
              </a:rPr>
              <a:t>In the </a:t>
            </a:r>
            <a:r>
              <a:rPr lang="en-US" sz="2000" i="1" dirty="0">
                <a:solidFill>
                  <a:srgbClr val="FF0000"/>
                </a:solidFill>
                <a:latin typeface="Times" pitchFamily="18" charset="0"/>
              </a:rPr>
              <a:t>third stage</a:t>
            </a:r>
            <a:r>
              <a:rPr lang="en-US" sz="2000" i="1" dirty="0">
                <a:latin typeface="Times" pitchFamily="18" charset="0"/>
              </a:rPr>
              <a:t>, we have </a:t>
            </a:r>
            <a:r>
              <a:rPr lang="en-US" sz="2000" i="1" dirty="0">
                <a:solidFill>
                  <a:srgbClr val="FF0000"/>
                </a:solidFill>
                <a:latin typeface="Times" pitchFamily="18" charset="0"/>
              </a:rPr>
              <a:t>10 crossbars</a:t>
            </a:r>
            <a:r>
              <a:rPr lang="en-US" sz="2000" i="1" dirty="0">
                <a:latin typeface="Times" pitchFamily="18" charset="0"/>
              </a:rPr>
              <a:t>, </a:t>
            </a:r>
          </a:p>
          <a:p>
            <a:pPr algn="just"/>
            <a:r>
              <a:rPr lang="en-US" sz="2000" i="1" dirty="0">
                <a:latin typeface="Times" pitchFamily="18" charset="0"/>
              </a:rPr>
              <a:t>	</a:t>
            </a:r>
            <a:r>
              <a:rPr lang="en-US" sz="1800" i="1" dirty="0">
                <a:latin typeface="Times" pitchFamily="18" charset="0"/>
              </a:rPr>
              <a:t>each of size 4 × 20. </a:t>
            </a:r>
            <a:endParaRPr lang="en-US" sz="2000" i="1" dirty="0">
              <a:latin typeface="Times" pitchFamily="18" charset="0"/>
            </a:endParaRPr>
          </a:p>
          <a:p>
            <a:pPr algn="just"/>
            <a:endParaRPr lang="en-US" sz="2000" i="1" dirty="0">
              <a:latin typeface="Times" pitchFamily="18" charset="0"/>
            </a:endParaRPr>
          </a:p>
          <a:p>
            <a:pPr algn="just"/>
            <a:r>
              <a:rPr lang="en-US" sz="1800" i="1" dirty="0">
                <a:latin typeface="Times" pitchFamily="18" charset="0"/>
              </a:rPr>
              <a:t>The total number of </a:t>
            </a:r>
            <a:r>
              <a:rPr lang="en-US" sz="1800" i="1" dirty="0" err="1">
                <a:latin typeface="Times" pitchFamily="18" charset="0"/>
              </a:rPr>
              <a:t>crosspoints</a:t>
            </a:r>
            <a:r>
              <a:rPr lang="en-US" sz="1800" i="1" dirty="0">
                <a:latin typeface="Times" pitchFamily="18" charset="0"/>
              </a:rPr>
              <a:t> is 2kN + k(N/n)</a:t>
            </a:r>
            <a:r>
              <a:rPr lang="en-US" sz="1800" i="1" baseline="30000" dirty="0">
                <a:latin typeface="Times" pitchFamily="18" charset="0"/>
              </a:rPr>
              <a:t>2</a:t>
            </a:r>
            <a:r>
              <a:rPr lang="en-US" sz="1800" i="1" dirty="0">
                <a:latin typeface="Times" pitchFamily="18" charset="0"/>
              </a:rPr>
              <a:t>, or </a:t>
            </a:r>
            <a:r>
              <a:rPr lang="en-US" sz="1800" i="1" dirty="0">
                <a:solidFill>
                  <a:schemeClr val="hlink"/>
                </a:solidFill>
                <a:latin typeface="Times" pitchFamily="18" charset="0"/>
              </a:rPr>
              <a:t>2000</a:t>
            </a:r>
            <a:r>
              <a:rPr lang="en-US" sz="1800" i="1" dirty="0">
                <a:latin typeface="Times" pitchFamily="18" charset="0"/>
              </a:rPr>
              <a:t> </a:t>
            </a:r>
            <a:r>
              <a:rPr lang="en-US" sz="1800" i="1" dirty="0" err="1">
                <a:latin typeface="Times" pitchFamily="18" charset="0"/>
              </a:rPr>
              <a:t>crosspoints</a:t>
            </a:r>
            <a:r>
              <a:rPr lang="en-US" sz="1800" i="1" dirty="0">
                <a:latin typeface="Times" pitchFamily="18" charset="0"/>
              </a:rPr>
              <a:t>. </a:t>
            </a:r>
          </a:p>
          <a:p>
            <a:pPr algn="just"/>
            <a:endParaRPr lang="en-US" sz="2000" i="1" dirty="0">
              <a:latin typeface="Times" pitchFamily="18" charset="0"/>
            </a:endParaRPr>
          </a:p>
          <a:p>
            <a:pPr algn="just"/>
            <a:r>
              <a:rPr lang="en-US" sz="1800" i="1" dirty="0">
                <a:latin typeface="Times" pitchFamily="18" charset="0"/>
              </a:rPr>
              <a:t>This is 5 percent of the number of </a:t>
            </a:r>
            <a:r>
              <a:rPr lang="en-US" sz="1800" i="1" dirty="0" err="1">
                <a:latin typeface="Times" pitchFamily="18" charset="0"/>
              </a:rPr>
              <a:t>crosspoints</a:t>
            </a:r>
            <a:r>
              <a:rPr lang="en-US" sz="1800" i="1" dirty="0">
                <a:latin typeface="Times" pitchFamily="18" charset="0"/>
              </a:rPr>
              <a:t> in a single-stage switch</a:t>
            </a:r>
          </a:p>
          <a:p>
            <a:pPr algn="just"/>
            <a:r>
              <a:rPr lang="en-US" sz="1800" i="1" dirty="0">
                <a:latin typeface="Times" pitchFamily="18" charset="0"/>
              </a:rPr>
              <a:t>	(200 × 200 = 40,000).</a:t>
            </a:r>
          </a:p>
        </p:txBody>
      </p:sp>
      <p:sp>
        <p:nvSpPr>
          <p:cNvPr id="35845" name="Text Box 11"/>
          <p:cNvSpPr txBox="1">
            <a:spLocks noChangeArrowheads="1"/>
          </p:cNvSpPr>
          <p:nvPr/>
        </p:nvSpPr>
        <p:spPr bwMode="auto">
          <a:xfrm>
            <a:off x="508002" y="304802"/>
            <a:ext cx="4812536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3200" i="1" dirty="0">
                <a:solidFill>
                  <a:schemeClr val="hlink"/>
                </a:solidFill>
                <a:latin typeface="Times New Roman" pitchFamily="18" charset="0"/>
              </a:rPr>
              <a:t>Example: Multistage Switch</a:t>
            </a:r>
          </a:p>
        </p:txBody>
      </p:sp>
      <p:sp>
        <p:nvSpPr>
          <p:cNvPr id="35846" name="Line 2"/>
          <p:cNvSpPr>
            <a:spLocks noChangeShapeType="1"/>
          </p:cNvSpPr>
          <p:nvPr/>
        </p:nvSpPr>
        <p:spPr bwMode="auto">
          <a:xfrm>
            <a:off x="203200" y="152400"/>
            <a:ext cx="11684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5847" name="Line 3"/>
          <p:cNvSpPr>
            <a:spLocks noChangeShapeType="1"/>
          </p:cNvSpPr>
          <p:nvPr/>
        </p:nvSpPr>
        <p:spPr bwMode="auto">
          <a:xfrm>
            <a:off x="203200" y="990600"/>
            <a:ext cx="11684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84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7401" y="20746"/>
            <a:ext cx="8596668" cy="676940"/>
          </a:xfrm>
        </p:spPr>
        <p:txBody>
          <a:bodyPr>
            <a:normAutofit/>
          </a:bodyPr>
          <a:lstStyle/>
          <a:p>
            <a:r>
              <a:rPr lang="en-US" dirty="0"/>
              <a:t>Blocking or Non-blocking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5803" y="666396"/>
            <a:ext cx="8596668" cy="5648108"/>
          </a:xfrm>
        </p:spPr>
        <p:txBody>
          <a:bodyPr>
            <a:noAutofit/>
          </a:bodyPr>
          <a:lstStyle/>
          <a:p>
            <a:pPr algn="just"/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Blocking</a:t>
            </a:r>
          </a:p>
          <a:p>
            <a:pPr lvl="1" algn="just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Blocking refers to times when one input cannot be connected to an output because there is no path available between them-all the possible intermediate switches are occupied.</a:t>
            </a:r>
          </a:p>
          <a:p>
            <a:pPr lvl="1" algn="just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In a single-stage switch, blocking does not occur because every combination of input and output has its own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crosspoint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; there is always a path.</a:t>
            </a:r>
          </a:p>
          <a:p>
            <a:pPr lvl="1" algn="just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In a multistage switch, The small number of crossbars at the middle stage creates blocking; if k &lt; n , the switch is blocked.</a:t>
            </a:r>
          </a:p>
          <a:p>
            <a:pPr algn="just"/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Non-blocking</a:t>
            </a:r>
          </a:p>
          <a:p>
            <a:pPr lvl="1" algn="just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Non-blocking permits all stations to connect (in pairs) at once.</a:t>
            </a:r>
          </a:p>
          <a:p>
            <a:pPr lvl="1" algn="just"/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Clos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investigated the condition of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nonblocking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in multistage switches and came up with the following formula.</a:t>
            </a:r>
          </a:p>
          <a:p>
            <a:pPr lvl="1" algn="just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According to the Clos criterion: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n = (N/2)</a:t>
            </a:r>
            <a:r>
              <a:rPr lang="en-US" sz="2400" baseline="30000" dirty="0">
                <a:latin typeface="Times New Roman" pitchFamily="18" charset="0"/>
                <a:cs typeface="Times New Roman" pitchFamily="18" charset="0"/>
              </a:rPr>
              <a:t>1/2</a:t>
            </a:r>
          </a:p>
          <a:p>
            <a:pPr lvl="3" algn="just"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k &gt; =2n – 1</a:t>
            </a:r>
          </a:p>
          <a:p>
            <a:pPr lvl="1" algn="just"/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878CC-6E82-4E52-AC91-7708466A7CCC}" type="slidenum">
              <a:rPr lang="en-US" smtClean="0"/>
              <a:pPr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Slide Number Placeholder 1"/>
          <p:cNvSpPr>
            <a:spLocks noGrp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tIns="45720" bIns="45720" numCol="1" anchorCtr="0" compatLnSpc="1">
            <a:prstTxWarp prst="textNoShape">
              <a:avLst/>
            </a:prstTxWarp>
          </a:bodyPr>
          <a:lstStyle/>
          <a:p>
            <a:r>
              <a:rPr lang="en-US">
                <a:latin typeface="Arial" pitchFamily="34" charset="0"/>
              </a:rPr>
              <a:t>8.</a:t>
            </a:r>
            <a:fld id="{633C5479-7835-4B4D-85D3-0DA7E1175EBC}" type="slidenum">
              <a:rPr lang="en-US" smtClean="0">
                <a:latin typeface="Arial" pitchFamily="34" charset="0"/>
              </a:rPr>
              <a:pPr/>
              <a:t>15</a:t>
            </a:fld>
            <a:endParaRPr lang="en-US">
              <a:latin typeface="Arial" pitchFamily="34" charset="0"/>
            </a:endParaRPr>
          </a:p>
        </p:txBody>
      </p:sp>
      <p:sp>
        <p:nvSpPr>
          <p:cNvPr id="36867" name="Rectangle 9"/>
          <p:cNvSpPr>
            <a:spLocks noChangeArrowheads="1"/>
          </p:cNvSpPr>
          <p:nvPr/>
        </p:nvSpPr>
        <p:spPr bwMode="auto">
          <a:xfrm>
            <a:off x="304800" y="1143001"/>
            <a:ext cx="11582400" cy="830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just"/>
            <a:r>
              <a:rPr lang="en-US" sz="2400" i="1">
                <a:solidFill>
                  <a:srgbClr val="FF0000"/>
                </a:solidFill>
                <a:latin typeface="Times New Roman" pitchFamily="18" charset="0"/>
              </a:rPr>
              <a:t>Redesign</a:t>
            </a:r>
            <a:r>
              <a:rPr lang="en-US" sz="2400" i="1">
                <a:latin typeface="Times New Roman" pitchFamily="18" charset="0"/>
              </a:rPr>
              <a:t> the previous three-stage, 200 × 200 switch, using the Clos criteria with a minimum number of crosspoints.</a:t>
            </a:r>
          </a:p>
        </p:txBody>
      </p:sp>
      <p:sp>
        <p:nvSpPr>
          <p:cNvPr id="36868" name="Rectangle 10"/>
          <p:cNvSpPr>
            <a:spLocks noChangeArrowheads="1"/>
          </p:cNvSpPr>
          <p:nvPr/>
        </p:nvSpPr>
        <p:spPr bwMode="auto">
          <a:xfrm>
            <a:off x="304800" y="1905000"/>
            <a:ext cx="11582400" cy="4524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just"/>
            <a:r>
              <a:rPr lang="en-US" sz="2400" i="1" dirty="0">
                <a:solidFill>
                  <a:schemeClr val="hlink"/>
                </a:solidFill>
                <a:latin typeface="Times New Roman" pitchFamily="18" charset="0"/>
              </a:rPr>
              <a:t>Solution</a:t>
            </a:r>
          </a:p>
          <a:p>
            <a:pPr algn="just"/>
            <a:r>
              <a:rPr lang="en-US" sz="2400" i="1" dirty="0">
                <a:latin typeface="Times" pitchFamily="18" charset="0"/>
              </a:rPr>
              <a:t>We let n = (200/2)</a:t>
            </a:r>
            <a:r>
              <a:rPr lang="en-US" sz="2400" i="1" baseline="30000" dirty="0">
                <a:latin typeface="Times" pitchFamily="18" charset="0"/>
              </a:rPr>
              <a:t>1/2</a:t>
            </a:r>
            <a:r>
              <a:rPr lang="en-US" sz="2400" i="1" dirty="0">
                <a:latin typeface="Times" pitchFamily="18" charset="0"/>
              </a:rPr>
              <a:t>, or n = 10. </a:t>
            </a:r>
          </a:p>
          <a:p>
            <a:pPr algn="just"/>
            <a:r>
              <a:rPr lang="en-US" sz="2400" i="1" dirty="0">
                <a:latin typeface="Times" pitchFamily="18" charset="0"/>
              </a:rPr>
              <a:t>	We calculate k = 2n − 1 = 19. </a:t>
            </a:r>
          </a:p>
          <a:p>
            <a:pPr algn="just"/>
            <a:r>
              <a:rPr lang="en-US" sz="2400" i="1" dirty="0">
                <a:latin typeface="Times" pitchFamily="18" charset="0"/>
              </a:rPr>
              <a:t>In the </a:t>
            </a:r>
            <a:r>
              <a:rPr lang="en-US" sz="2400" i="1" dirty="0">
                <a:solidFill>
                  <a:srgbClr val="FF0000"/>
                </a:solidFill>
                <a:latin typeface="Times" pitchFamily="18" charset="0"/>
              </a:rPr>
              <a:t>first stage</a:t>
            </a:r>
            <a:r>
              <a:rPr lang="en-US" sz="2400" i="1" dirty="0">
                <a:latin typeface="Times" pitchFamily="18" charset="0"/>
              </a:rPr>
              <a:t>, we have 200/10, or 20, crossbars, </a:t>
            </a:r>
          </a:p>
          <a:p>
            <a:pPr algn="just"/>
            <a:r>
              <a:rPr lang="en-US" sz="2400" i="1" dirty="0">
                <a:latin typeface="Times" pitchFamily="18" charset="0"/>
              </a:rPr>
              <a:t>	each with 10 × 19 </a:t>
            </a:r>
            <a:r>
              <a:rPr lang="en-US" sz="2400" i="1" dirty="0" err="1">
                <a:latin typeface="Times" pitchFamily="18" charset="0"/>
              </a:rPr>
              <a:t>crosspoints</a:t>
            </a:r>
            <a:r>
              <a:rPr lang="en-US" sz="2400" i="1" dirty="0">
                <a:latin typeface="Times" pitchFamily="18" charset="0"/>
              </a:rPr>
              <a:t>. </a:t>
            </a:r>
          </a:p>
          <a:p>
            <a:pPr algn="just"/>
            <a:r>
              <a:rPr lang="en-US" sz="2400" i="1" dirty="0">
                <a:latin typeface="Times" pitchFamily="18" charset="0"/>
              </a:rPr>
              <a:t>In the </a:t>
            </a:r>
            <a:r>
              <a:rPr lang="en-US" sz="2400" i="1" dirty="0">
                <a:solidFill>
                  <a:srgbClr val="C00000"/>
                </a:solidFill>
                <a:latin typeface="Times" pitchFamily="18" charset="0"/>
              </a:rPr>
              <a:t>second stage</a:t>
            </a:r>
            <a:r>
              <a:rPr lang="en-US" sz="2400" i="1" dirty="0">
                <a:latin typeface="Times" pitchFamily="18" charset="0"/>
              </a:rPr>
              <a:t>, we have 19 crossbars, </a:t>
            </a:r>
          </a:p>
          <a:p>
            <a:pPr algn="just"/>
            <a:r>
              <a:rPr lang="en-US" sz="2400" i="1" dirty="0">
                <a:latin typeface="Times" pitchFamily="18" charset="0"/>
              </a:rPr>
              <a:t>	each with 20 × 20 </a:t>
            </a:r>
            <a:r>
              <a:rPr lang="en-US" sz="2400" i="1" dirty="0" err="1">
                <a:latin typeface="Times" pitchFamily="18" charset="0"/>
              </a:rPr>
              <a:t>crosspoints</a:t>
            </a:r>
            <a:r>
              <a:rPr lang="en-US" sz="2400" i="1" dirty="0">
                <a:latin typeface="Times" pitchFamily="18" charset="0"/>
              </a:rPr>
              <a:t>. </a:t>
            </a:r>
          </a:p>
          <a:p>
            <a:pPr algn="just"/>
            <a:r>
              <a:rPr lang="en-US" sz="2400" i="1" dirty="0">
                <a:latin typeface="Times" pitchFamily="18" charset="0"/>
              </a:rPr>
              <a:t>In the </a:t>
            </a:r>
            <a:r>
              <a:rPr lang="en-US" sz="2400" i="1" dirty="0">
                <a:solidFill>
                  <a:srgbClr val="0070C0"/>
                </a:solidFill>
                <a:latin typeface="Times" pitchFamily="18" charset="0"/>
              </a:rPr>
              <a:t>third stage</a:t>
            </a:r>
            <a:r>
              <a:rPr lang="en-US" sz="2400" i="1" dirty="0">
                <a:latin typeface="Times" pitchFamily="18" charset="0"/>
              </a:rPr>
              <a:t>, we have 20 crossbars </a:t>
            </a:r>
          </a:p>
          <a:p>
            <a:pPr algn="just"/>
            <a:r>
              <a:rPr lang="en-US" sz="2400" i="1" dirty="0">
                <a:latin typeface="Times" pitchFamily="18" charset="0"/>
              </a:rPr>
              <a:t>	each with 19 × 10 </a:t>
            </a:r>
            <a:r>
              <a:rPr lang="en-US" sz="2400" i="1" dirty="0" err="1">
                <a:latin typeface="Times" pitchFamily="18" charset="0"/>
              </a:rPr>
              <a:t>crosspoints</a:t>
            </a:r>
            <a:r>
              <a:rPr lang="en-US" sz="2400" i="1" dirty="0">
                <a:latin typeface="Times" pitchFamily="18" charset="0"/>
              </a:rPr>
              <a:t>. </a:t>
            </a:r>
          </a:p>
          <a:p>
            <a:pPr algn="just"/>
            <a:endParaRPr lang="en-US" sz="2400" i="1" dirty="0">
              <a:latin typeface="Times" pitchFamily="18" charset="0"/>
            </a:endParaRPr>
          </a:p>
          <a:p>
            <a:pPr algn="just"/>
            <a:r>
              <a:rPr lang="en-US" sz="2400" i="1" dirty="0">
                <a:latin typeface="Times" pitchFamily="18" charset="0"/>
              </a:rPr>
              <a:t>The total number of </a:t>
            </a:r>
            <a:r>
              <a:rPr lang="en-US" sz="2400" i="1" dirty="0" err="1">
                <a:latin typeface="Times" pitchFamily="18" charset="0"/>
              </a:rPr>
              <a:t>crosspoints</a:t>
            </a:r>
            <a:r>
              <a:rPr lang="en-US" sz="2400" i="1" dirty="0">
                <a:latin typeface="Times" pitchFamily="18" charset="0"/>
              </a:rPr>
              <a:t> is </a:t>
            </a:r>
          </a:p>
          <a:p>
            <a:pPr algn="just"/>
            <a:r>
              <a:rPr lang="en-US" sz="2400" i="1" dirty="0">
                <a:latin typeface="Times" pitchFamily="18" charset="0"/>
              </a:rPr>
              <a:t>	</a:t>
            </a:r>
            <a:r>
              <a:rPr lang="en-US" sz="2000" i="1" dirty="0">
                <a:latin typeface="Times" pitchFamily="18" charset="0"/>
              </a:rPr>
              <a:t>20(10 × 19) + 19(20 × 20) + 20(19 ×10) = </a:t>
            </a:r>
            <a:r>
              <a:rPr lang="en-US" sz="2000" i="1" dirty="0">
                <a:solidFill>
                  <a:srgbClr val="FF0000"/>
                </a:solidFill>
                <a:latin typeface="Times" pitchFamily="18" charset="0"/>
              </a:rPr>
              <a:t>15200</a:t>
            </a:r>
            <a:r>
              <a:rPr lang="en-US" sz="2000" i="1" dirty="0">
                <a:latin typeface="Times" pitchFamily="18" charset="0"/>
              </a:rPr>
              <a:t>.</a:t>
            </a:r>
          </a:p>
        </p:txBody>
      </p:sp>
      <p:sp>
        <p:nvSpPr>
          <p:cNvPr id="36869" name="Text Box 11"/>
          <p:cNvSpPr txBox="1">
            <a:spLocks noChangeArrowheads="1"/>
          </p:cNvSpPr>
          <p:nvPr/>
        </p:nvSpPr>
        <p:spPr bwMode="auto">
          <a:xfrm>
            <a:off x="508001" y="304800"/>
            <a:ext cx="4094391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3200" i="1" dirty="0">
                <a:solidFill>
                  <a:schemeClr val="hlink"/>
                </a:solidFill>
                <a:latin typeface="Times New Roman" pitchFamily="18" charset="0"/>
              </a:rPr>
              <a:t>Example- Non-blocking</a:t>
            </a:r>
          </a:p>
        </p:txBody>
      </p:sp>
      <p:sp>
        <p:nvSpPr>
          <p:cNvPr id="36870" name="Line 2"/>
          <p:cNvSpPr>
            <a:spLocks noChangeShapeType="1"/>
          </p:cNvSpPr>
          <p:nvPr/>
        </p:nvSpPr>
        <p:spPr bwMode="auto">
          <a:xfrm>
            <a:off x="203200" y="152400"/>
            <a:ext cx="11684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6871" name="Line 3"/>
          <p:cNvSpPr>
            <a:spLocks noChangeShapeType="1"/>
          </p:cNvSpPr>
          <p:nvPr/>
        </p:nvSpPr>
        <p:spPr bwMode="auto">
          <a:xfrm>
            <a:off x="203200" y="1066800"/>
            <a:ext cx="11684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868" grpId="0"/>
    </p:bld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2_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3883</TotalTime>
  <Words>1281</Words>
  <Application>Microsoft Office PowerPoint</Application>
  <PresentationFormat>Widescreen</PresentationFormat>
  <Paragraphs>118</Paragraphs>
  <Slides>15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15</vt:i4>
      </vt:variant>
    </vt:vector>
  </HeadingPairs>
  <TitlesOfParts>
    <vt:vector size="24" baseType="lpstr">
      <vt:lpstr>Arial</vt:lpstr>
      <vt:lpstr>Calibri</vt:lpstr>
      <vt:lpstr>Times</vt:lpstr>
      <vt:lpstr>Times New Roman</vt:lpstr>
      <vt:lpstr>Trebuchet MS</vt:lpstr>
      <vt:lpstr>Wingdings</vt:lpstr>
      <vt:lpstr>Wingdings 3</vt:lpstr>
      <vt:lpstr>Facet</vt:lpstr>
      <vt:lpstr>2_Facet</vt:lpstr>
      <vt:lpstr>CSE 4255: Telecommunication Lecture 3: Switching</vt:lpstr>
      <vt:lpstr>Why Switching?</vt:lpstr>
      <vt:lpstr>Switching Network:</vt:lpstr>
      <vt:lpstr>Types of Switching Network:</vt:lpstr>
      <vt:lpstr>Circuit Switching</vt:lpstr>
      <vt:lpstr>Message Switching</vt:lpstr>
      <vt:lpstr>Packet Switching</vt:lpstr>
      <vt:lpstr>Circuit Switching (Space-division switch)</vt:lpstr>
      <vt:lpstr>Crossbar Switch</vt:lpstr>
      <vt:lpstr>Limitations</vt:lpstr>
      <vt:lpstr>Multistage Switch-Why?</vt:lpstr>
      <vt:lpstr>Multistage Switch Structure</vt:lpstr>
      <vt:lpstr>PowerPoint Presentation</vt:lpstr>
      <vt:lpstr>Blocking or Non-blocking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user1</dc:creator>
  <cp:lastModifiedBy>Ahmadul Karim Chowdhury</cp:lastModifiedBy>
  <cp:revision>153</cp:revision>
  <dcterms:created xsi:type="dcterms:W3CDTF">2014-09-12T02:18:09Z</dcterms:created>
  <dcterms:modified xsi:type="dcterms:W3CDTF">2023-09-09T17:05:25Z</dcterms:modified>
</cp:coreProperties>
</file>