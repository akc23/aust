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27"/>
  </p:notesMasterIdLst>
  <p:sldIdLst>
    <p:sldId id="256" r:id="rId2"/>
    <p:sldId id="342" r:id="rId3"/>
    <p:sldId id="373" r:id="rId4"/>
    <p:sldId id="343" r:id="rId5"/>
    <p:sldId id="376" r:id="rId6"/>
    <p:sldId id="344" r:id="rId7"/>
    <p:sldId id="345" r:id="rId8"/>
    <p:sldId id="368" r:id="rId9"/>
    <p:sldId id="374" r:id="rId10"/>
    <p:sldId id="367" r:id="rId11"/>
    <p:sldId id="348" r:id="rId12"/>
    <p:sldId id="349" r:id="rId13"/>
    <p:sldId id="351" r:id="rId14"/>
    <p:sldId id="352" r:id="rId15"/>
    <p:sldId id="354" r:id="rId16"/>
    <p:sldId id="353" r:id="rId17"/>
    <p:sldId id="355" r:id="rId18"/>
    <p:sldId id="375" r:id="rId19"/>
    <p:sldId id="359" r:id="rId20"/>
    <p:sldId id="358" r:id="rId21"/>
    <p:sldId id="360" r:id="rId22"/>
    <p:sldId id="370" r:id="rId23"/>
    <p:sldId id="371" r:id="rId24"/>
    <p:sldId id="372" r:id="rId25"/>
    <p:sldId id="36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24" autoAdjust="0"/>
    <p:restoredTop sz="88049" autoAdjust="0"/>
  </p:normalViewPr>
  <p:slideViewPr>
    <p:cSldViewPr>
      <p:cViewPr>
        <p:scale>
          <a:sx n="60" d="100"/>
          <a:sy n="60" d="100"/>
        </p:scale>
        <p:origin x="-660" y="-1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C7E00-519F-4DC5-BC6A-18C0D330C3DF}" type="datetimeFigureOut">
              <a:rPr lang="en-US" smtClean="0"/>
              <a:pPr/>
              <a:t>1/1/2009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48B96-59DA-4C06-9690-F7735864B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2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So the solution is</a:t>
            </a:r>
            <a:r>
              <a:rPr lang="en-SG" baseline="0" dirty="0" smtClean="0"/>
              <a:t> trunking. This is also called trunking theory.</a:t>
            </a:r>
          </a:p>
          <a:p>
            <a:endParaRPr lang="en-SG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cellular mobile communication, the two major aspects that have to be considered with extra care are: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trunking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grade of service. These aspects are to be planned very well in order to get a better system performance.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94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So the solution is</a:t>
            </a:r>
            <a:r>
              <a:rPr lang="en-SG" baseline="0" dirty="0" smtClean="0"/>
              <a:t> trunking. This is also called trunking theory.</a:t>
            </a:r>
          </a:p>
          <a:p>
            <a:endParaRPr lang="en-SG" baseline="0" dirty="0" smtClean="0"/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cellular mobile communication, the two major aspects that have to be considered with extra care are: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trunking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grade of service. These aspects are to be planned very well in order to get a better system performance.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94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fundamentals of </a:t>
            </a:r>
            <a:r>
              <a:rPr lang="en-US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trunking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theory was developed by </a:t>
            </a:r>
            <a:r>
              <a:rPr lang="en-US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 Danish mathematician, the unit bears his name.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84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 smtClean="0"/>
              <a:t>Table:</a:t>
            </a:r>
            <a:r>
              <a:rPr lang="en-SG" baseline="0" dirty="0" smtClean="0"/>
              <a:t> shows the amount of traffic (in </a:t>
            </a:r>
            <a:r>
              <a:rPr lang="en-SG" baseline="0" dirty="0" err="1" smtClean="0"/>
              <a:t>Erlangs</a:t>
            </a:r>
            <a:r>
              <a:rPr lang="en-SG" baseline="0" dirty="0" smtClean="0"/>
              <a:t>) carried by a given number of channels n for different blocking probability values.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348B96-59DA-4C06-9690-F7735864B0B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6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9ECCF-3628-4800-A82A-6FD3B13A12FC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A73-E19F-49EE-942C-120FABCCD6BC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B09CE-935D-42C3-B1B0-3E87162988A9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0B520-6B54-421C-813C-C2973165FF7B}" type="datetime1">
              <a:rPr lang="en-US" smtClean="0"/>
              <a:t>1/1/2009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68CB1-6F4E-4A63-B00B-C6EDBEB53368}" type="datetime1">
              <a:rPr lang="en-US" smtClean="0"/>
              <a:t>1/1/2009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A1213-832D-4A50-85AF-0FCBBD8FBA25}" type="datetime1">
              <a:rPr lang="en-US" smtClean="0"/>
              <a:t>1/1/2009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4040B-1814-4788-A771-57D389B24E7F}" type="datetime1">
              <a:rPr lang="en-US" smtClean="0"/>
              <a:t>1/1/2009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95660-CB91-4F97-80F0-B8F7502C543D}" type="datetime1">
              <a:rPr lang="en-US" smtClean="0"/>
              <a:t>1/1/2009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59D3C-AC9C-435F-B450-C2B32320492A}" type="datetime1">
              <a:rPr lang="en-US" smtClean="0"/>
              <a:t>1/1/2009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6D66D-BF59-41C6-8141-B45A9A9F9AA9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91961-3E74-4858-889A-B1691DDCE2FD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5E6B4-A086-4BA5-87B1-C2B2154EC455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7EA17-E606-4772-A8DB-0FB888FBA419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C19B6-301C-4FA5-B12E-F8D1581F24CE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C24E4-877C-4F6A-BE79-7F5C02AE0795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990B-6DFB-41AF-9CD7-101EBD007384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E8EF4-7594-4314-B6C8-AECBDE8E4164}" type="datetime1">
              <a:rPr lang="en-US" smtClean="0"/>
              <a:t>1/1/2009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1ACFC8-8A8F-43C3-9C33-97EFFB6FB0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sz="3600" dirty="0" smtClean="0">
                <a:latin typeface="Times New Roman" pitchFamily="18" charset="0"/>
                <a:cs typeface="Times New Roman" pitchFamily="18" charset="0"/>
              </a:rPr>
              <a:t>CSE4255</a:t>
            </a:r>
            <a:br>
              <a:rPr lang="en-GB" altLang="en-US" sz="3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altLang="en-US" sz="3600" dirty="0" smtClean="0">
                <a:latin typeface="Times New Roman" pitchFamily="18" charset="0"/>
                <a:cs typeface="Times New Roman" pitchFamily="18" charset="0"/>
              </a:rPr>
              <a:t>Cellular Network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362200" y="41910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defRPr/>
            </a:pPr>
            <a:r>
              <a:rPr lang="en-GB" altLang="en-US" sz="2400" dirty="0" smtClean="0">
                <a:latin typeface="Times New Roman" pitchFamily="18" charset="0"/>
                <a:cs typeface="Times New Roman" pitchFamily="18" charset="0"/>
              </a:rPr>
              <a:t>Lecture 7:</a:t>
            </a:r>
          </a:p>
          <a:p>
            <a:pPr algn="r">
              <a:defRPr/>
            </a:pPr>
            <a:r>
              <a:rPr lang="en-GB" altLang="en-US" sz="2400" dirty="0" smtClean="0">
                <a:latin typeface="Times New Roman" pitchFamily="18" charset="0"/>
                <a:cs typeface="Times New Roman" pitchFamily="18" charset="0"/>
              </a:rPr>
              <a:t>Trunking and Grade of Service</a:t>
            </a:r>
            <a:endParaRPr lang="en-GB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74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/>
          </a:bodyPr>
          <a:lstStyle/>
          <a:p>
            <a:r>
              <a:rPr lang="en-US" dirty="0" smtClean="0"/>
              <a:t>Why </a:t>
            </a:r>
            <a:r>
              <a:rPr lang="en-US" dirty="0" err="1" smtClean="0"/>
              <a:t>Trunking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7391400" cy="53340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 Problems in Subscriber Service: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Limited number of channels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Many Users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Purpose of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trunking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theory is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determine the required capacity and allocate the proper number of channel in order to meet GOS.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GOS: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Grade of service is the measure of user’s ability to access a trunked system during busiest hour.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/>
          </a:bodyPr>
          <a:lstStyle/>
          <a:p>
            <a:r>
              <a:rPr lang="en-US" dirty="0" err="1" smtClean="0"/>
              <a:t>Trunking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7391400" cy="5334000"/>
          </a:xfrm>
        </p:spPr>
        <p:txBody>
          <a:bodyPr>
            <a:noAutofit/>
          </a:bodyPr>
          <a:lstStyle/>
          <a:p>
            <a:pPr algn="just"/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Trunking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theory was represented by </a:t>
            </a:r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in late 19</a:t>
            </a:r>
            <a:r>
              <a:rPr lang="en-US" sz="2800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century.</a:t>
            </a:r>
          </a:p>
          <a:p>
            <a:pPr algn="just"/>
            <a:r>
              <a:rPr lang="en-US" sz="2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Trunking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the concept that allows a large no of users to share a relatively small number of channels in a cell.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a trunked radio system (TRS) –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user is allocated a channel on a per call basis from a pool </a:t>
            </a: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available channels. </a:t>
            </a: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>
              <a:buFont typeface="Wingdings" pitchFamily="2" charset="2"/>
              <a:buChar char="§"/>
            </a:pPr>
            <a:r>
              <a:rPr lang="en-US" sz="26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Upon termination of the call, the previously occupied channel is immediately returned to the pool of available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0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/>
          </a:bodyPr>
          <a:lstStyle/>
          <a:p>
            <a:r>
              <a:rPr lang="en-US" dirty="0" smtClean="0"/>
              <a:t>Common terms in </a:t>
            </a:r>
            <a:r>
              <a:rPr lang="en-US" dirty="0" err="1" smtClean="0"/>
              <a:t>Trunking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7543800" cy="53340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Setup Time: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Time required to allocate a radio channel to a requesting user.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Blocked Call: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Call which cannot be completed at the time of request, due to congestion(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lost call)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Holding Time: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Average duration of a typical call. Denoted by </a:t>
            </a:r>
            <a:r>
              <a:rPr lang="en-US" sz="24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H(in seconds)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Request Rate: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average number of calls requests per unit time( λ)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Traffic Intensity: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Measure of channel time utilization or the average channel occupancy measured in Erlangs. Dimensionless quantity. Denoted by A</a:t>
            </a:r>
          </a:p>
          <a:p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Load: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Traffic intensity across the entire TRS (Erlangs)</a:t>
            </a:r>
          </a:p>
          <a:p>
            <a:endParaRPr lang="en-US" sz="28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92761" y="76200"/>
            <a:ext cx="6447501" cy="838200"/>
          </a:xfrm>
        </p:spPr>
        <p:txBody>
          <a:bodyPr/>
          <a:lstStyle/>
          <a:p>
            <a:r>
              <a:rPr lang="en-US" dirty="0"/>
              <a:t>Traffic Intensity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28600" y="762000"/>
            <a:ext cx="8839200" cy="607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Traffic intensity generated by each user :  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  			 	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H</a:t>
            </a:r>
          </a:p>
          <a:p>
            <a:pPr lvl="2">
              <a:spcBef>
                <a:spcPct val="50000"/>
              </a:spcBef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H : average duration of the call</a:t>
            </a:r>
          </a:p>
          <a:p>
            <a:pPr lvl="2">
              <a:spcBef>
                <a:spcPct val="50000"/>
              </a:spcBef>
              <a:buFont typeface="Symbol" panose="05050102010706020507" pitchFamily="18" charset="2"/>
              <a:buChar char="l"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: average number of call requests per unit time </a:t>
            </a:r>
          </a:p>
          <a:p>
            <a:pPr>
              <a:spcBef>
                <a:spcPct val="50000"/>
              </a:spcBef>
              <a:buFont typeface="Symbol" panose="05050102010706020507" pitchFamily="18" charset="2"/>
              <a:buNone/>
            </a:pPr>
            <a:endParaRPr lang="en-US" sz="1200" dirty="0" smtClean="0">
              <a:latin typeface="Times New Roman" pitchFamily="18" charset="0"/>
              <a:cs typeface="Times New Roman" pitchFamily="18" charset="0"/>
              <a:sym typeface="Symbol" panose="05050102010706020507" pitchFamily="18" charset="2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For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a system containing U users and unspecified number of channels,</a:t>
            </a:r>
          </a:p>
          <a:p>
            <a:pPr lvl="2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Total offered traffic intensity : A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		A = U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u</a:t>
            </a:r>
          </a:p>
          <a:p>
            <a:pPr>
              <a:spcBef>
                <a:spcPct val="50000"/>
              </a:spcBef>
              <a:buFont typeface="Symbol" panose="05050102010706020507" pitchFamily="18" charset="2"/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 channel trunked system, if the traffic is equally distributed among the channels,</a:t>
            </a:r>
          </a:p>
          <a:p>
            <a:pPr lvl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Traffic intensity per channel :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2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endParaRPr lang="en-US" sz="22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			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U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/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84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636587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Erlang</a:t>
            </a:r>
            <a:r>
              <a:rPr lang="en-US" dirty="0" smtClean="0"/>
              <a:t>--a Unit of Traffic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010400" cy="4987925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Erlang is a unit of telecommunications traffic measurement: 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Represents the continuous use of one voice path.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Describe the total traffic volume of one hour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channel kept busy for one hour is defined as having a load of one Erlang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example, a radio channel that is occupied for thirty minutes during an hour carries 0.5 Erlangs of traffic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1 channel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 load=0 Erlang (0% time utilization)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Max load=1 Erlang (100% time utilization)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r>
              <a:rPr lang="en-US" dirty="0" err="1" smtClean="0"/>
              <a:t>Erlang</a:t>
            </a:r>
            <a:r>
              <a:rPr lang="en-US" dirty="0" smtClean="0"/>
              <a:t>--Example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6858000" cy="4987925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a group of 100 users made 30 calls in one hour, and each call had an average call duration (holding time) of 5 minutes, then the number of </a:t>
            </a:r>
            <a:r>
              <a:rPr lang="en-US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 worked out as follows: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Minutes of traffic in the hour = number of calls x duration 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Minutes of traffic in the hour = 30 x 5 = 150 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Hours of traffic in the hour = 150 / 60 = 2.5 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Traffic Intensity= 2.5 Erlangs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Traffic Intensity: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7733347" cy="464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Traffic Intensity: Example</a:t>
            </a:r>
            <a:endParaRPr lang="en-US" dirty="0"/>
          </a:p>
        </p:txBody>
      </p:sp>
      <p:pic>
        <p:nvPicPr>
          <p:cNvPr id="552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57200" y="1295400"/>
            <a:ext cx="7162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2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Traffic Intensity: Example</a:t>
            </a:r>
            <a:endParaRPr lang="en-US" dirty="0"/>
          </a:p>
        </p:txBody>
      </p:sp>
      <p:pic>
        <p:nvPicPr>
          <p:cNvPr id="563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371600"/>
            <a:ext cx="8458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en-US" dirty="0" smtClean="0"/>
              <a:t>Grade of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7467600" cy="48768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grade of service (GOS) is related to the ability of a mobile phone to access the trunked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mobile phone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during the busiest hour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meet a specific GOS, the maximum required capacity of the system must be estimated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the 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proper number of channels must be allocated for the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GOS is a measure of the congestion of the system which is specified 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probability of a call being blocked: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Blocked calls cleared (BCC) or Lost Call Cleared (LCC) or Erlang B systems  or</a:t>
            </a:r>
          </a:p>
          <a:p>
            <a:pPr lvl="1"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probability of a call being delayed beyond a certain amount of time before being granted access: Blocked call delayed or Lost Call Delayed (LCD) or Erlang C systems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/>
          </a:bodyPr>
          <a:lstStyle/>
          <a:p>
            <a:r>
              <a:rPr lang="en-US" dirty="0" smtClean="0"/>
              <a:t>Blocked Call Cleared (BCC)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7162800" cy="52578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 user requests service, there is a minimal call set-up time and the user is given immediate access to a channel if one is available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channels are already in use and no new channels are available, call is blocked without access to the system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user does not receive service, but is free to try again later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blocked calls are instantly returned to the user pool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Mathematical modeling of such systems is done by </a:t>
            </a:r>
            <a:r>
              <a:rPr lang="en-US" sz="2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 formula</a:t>
            </a:r>
          </a:p>
          <a:p>
            <a:endParaRPr lang="en-US" sz="32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/>
          </a:bodyPr>
          <a:lstStyle/>
          <a:p>
            <a:r>
              <a:rPr lang="en-US" dirty="0" smtClean="0"/>
              <a:t>Modeling of BCC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7696200" cy="5562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6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 formula: </a:t>
            </a:r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determines the probability that the call is blocked, and is the measure of the GOS for a trunked system that provides no queuing for blocked calls.</a:t>
            </a:r>
          </a:p>
          <a:p>
            <a:pPr algn="just"/>
            <a:endParaRPr lang="en-US" sz="2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900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en-US" sz="23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en-US" sz="23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/>
            <a:endParaRPr lang="en-US" sz="23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Where:</a:t>
            </a:r>
            <a:b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</a:t>
            </a:r>
            <a:b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3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 = number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trunked channels offered by a trunked 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radio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    A = Total offered traffic.</a:t>
            </a:r>
          </a:p>
          <a:p>
            <a:pPr marL="0" indent="0" fontAlgn="base"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2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12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51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514600"/>
            <a:ext cx="3886200" cy="190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Erlang B</a:t>
            </a:r>
            <a:endParaRPr lang="en-US" dirty="0"/>
          </a:p>
        </p:txBody>
      </p:sp>
      <p:pic>
        <p:nvPicPr>
          <p:cNvPr id="737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219200"/>
            <a:ext cx="7924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6629400" cy="609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Erlang B Trunking GOS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62000"/>
            <a:ext cx="66294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en-US" dirty="0" smtClean="0"/>
              <a:t>BCC System Example-1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391400" cy="5140325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many users can be supported for 0.5% blocking probability for the following number of trunked channels in a BCC system? (a) 5, (b) 10,(c)=20. Assumed that each user generates 0.1 Erlangs of traffic.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Given C=5, GOS=0.005, Au=0.1,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 graph/Table using C=5 and GOS=0.005,A=1.13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Total Number of users U=A/Au=1.13/0.1=11 users</a:t>
            </a:r>
          </a:p>
          <a:p>
            <a:endParaRPr lang="en-US" sz="3600" dirty="0" smtClean="0">
              <a:solidFill>
                <a:schemeClr val="tx1"/>
              </a:solidFill>
            </a:endParaRPr>
          </a:p>
          <a:p>
            <a:endParaRPr lang="en-US" sz="3600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>
            <a:normAutofit/>
          </a:bodyPr>
          <a:lstStyle/>
          <a:p>
            <a:r>
              <a:rPr lang="en-US" dirty="0" smtClean="0"/>
              <a:t>BCC System Example-2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7925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Assuming that each user in a system generates a traffic intensity of 0.2 Erlangs, how many users can be supported for 0.1% probability of blocking in an Erlang B system for a number of trunked channels equal to 60.</a:t>
            </a:r>
          </a:p>
          <a:p>
            <a:pPr algn="just"/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Solution :</a:t>
            </a:r>
          </a:p>
          <a:p>
            <a:pPr algn="just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is an Erlang B</a:t>
            </a:r>
          </a:p>
          <a:p>
            <a:pPr algn="just">
              <a:buNone/>
            </a:pP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i="1" baseline="-25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0.2 Erlangs </a:t>
            </a:r>
            <a:endParaRPr lang="en-US" sz="20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 [Blocking] = 0.001</a:t>
            </a:r>
          </a:p>
          <a:p>
            <a:pPr algn="just">
              <a:buNone/>
            </a:pP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 = 60 Channels</a:t>
            </a:r>
          </a:p>
          <a:p>
            <a:pPr algn="just">
              <a:buNone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 the Erlang B figure, we see that</a:t>
            </a:r>
          </a:p>
          <a:p>
            <a:pPr algn="just">
              <a:buNone/>
            </a:pP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≈ 40 Erlangs</a:t>
            </a:r>
          </a:p>
          <a:p>
            <a:pPr algn="just">
              <a:buNone/>
            </a:pPr>
            <a:r>
              <a:rPr lang="en-US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Therefore U=A/Au=40/0.02=2000users.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 sz="3600" dirty="0" smtClean="0"/>
              <a:t>Blocked Call Delayed(BCD) Systems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6858000" cy="4911725"/>
          </a:xfrm>
        </p:spPr>
        <p:txBody>
          <a:bodyPr/>
          <a:lstStyle/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Queues are used to hold call requests that are initially blocked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 a user attempts a call and a channel is not immediately available, the call request may be delayed until a channel becomes available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Mathematical modeling of such systems is done by Erlang C formula</a:t>
            </a:r>
          </a:p>
          <a:p>
            <a:pPr algn="just"/>
            <a:r>
              <a:rPr lang="en-US" sz="2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 formula which gives likelihood of a call not having immediate access to a channel (all channels are already in use</a:t>
            </a:r>
            <a:r>
              <a:rPr lang="en-US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 algn="just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5" name="Picture 4" descr="http://www.ece.utah.edu/%7Eece5960/lectures/L4%20--%20Trunking%20and%20Capacity/L4_files/image004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257800"/>
            <a:ext cx="36957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382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en-US" dirty="0" smtClean="0"/>
              <a:t>Modeling of BCD Systems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239000" cy="4987925"/>
          </a:xfrm>
        </p:spPr>
        <p:txBody>
          <a:bodyPr>
            <a:normAutofit fontScale="92500"/>
          </a:bodyPr>
          <a:lstStyle/>
          <a:p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Probability that any caller is delayed in queue for a wait time greater than t seconds is given as GOS of a BCD System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probability that 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delayed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call is forced to wait more than t seconds is given by the probability that a call 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delayed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multiplied by the conditional probability that the delay is greater than </a:t>
            </a: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 seconds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GOS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a trunked system where blocked calls are delayed is hence given by</a:t>
            </a:r>
          </a:p>
          <a:p>
            <a:pPr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Pr[delay&gt;t] = Pr [delay&gt;0] Pr [delay&gt;t| delay&gt;0] </a:t>
            </a:r>
          </a:p>
          <a:p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	P[delay&gt;t| delay&gt;0]= e</a:t>
            </a:r>
            <a:r>
              <a:rPr lang="en-US" sz="2200" baseline="30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(-(C-A)t/H) </a:t>
            </a:r>
          </a:p>
          <a:p>
            <a:pPr>
              <a:buNone/>
            </a:pPr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Pr[delay&gt;t] = Pr [delay&gt;0] e(-(C-A)t/H) </a:t>
            </a:r>
          </a:p>
          <a:p>
            <a:pPr lvl="1"/>
            <a:r>
              <a:rPr lang="en-US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where C = total number of channels, </a:t>
            </a:r>
            <a:r>
              <a:rPr lang="en-US" sz="2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 =delay time of interest, H=average duration of call </a:t>
            </a:r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76200"/>
            <a:ext cx="6447501" cy="1320800"/>
          </a:xfrm>
        </p:spPr>
        <p:txBody>
          <a:bodyPr/>
          <a:lstStyle/>
          <a:p>
            <a:r>
              <a:rPr lang="en-US" dirty="0" smtClean="0"/>
              <a:t>Erlang C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2000"/>
            <a:ext cx="9144000" cy="5943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2971800" y="3352800"/>
            <a:ext cx="248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62400" y="3429000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=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Trunking Efficiency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6781800" cy="5064125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Trunking efficiency is a measure of the number of users which can be offered a particular GOS with a particular configuration of fixed channels.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way in which channels are grouped can substantially alter the number of users handled by a trunked system.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lvl="1" algn="just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 trunked channels at a GOS of 0.01 can support 4.46 Erlangs, where as two groups of 5 trunked channels can support 2x1.36=2.72 Erlangs of traffic</a:t>
            </a:r>
          </a:p>
          <a:p>
            <a:pPr lvl="1" algn="just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 trunked channels can offer 60% more traffic at a specific GOS than two 5 channel trunks.</a:t>
            </a:r>
          </a:p>
          <a:p>
            <a:pPr lvl="1" algn="just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Therefore, if in a certain situation we sub-divide the total channels in a cell into smaller channel groups then the total carried traffic will reduce with increasing number of groups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4017-4E2D-4641-91CD-A7F4504DF9F8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524000"/>
            <a:ext cx="7416799" cy="4517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 urban area has a population of two million residents. Three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competing trunked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mobile networks (systems A, B, and C) provide cellular service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this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area. System A has 394 cells with 19 channels each, system B has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98 cells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 57 channels each, and system C has 49 cells, each with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 channels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Find the number of users that can be supported at 2%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blocking if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user averages two calls per hour at an average call duration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three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minutes. Assuming that all three trunked systems are operated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 maximum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capacity, compute the percentage market penetration of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 cellular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provider..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524000"/>
            <a:ext cx="7416799" cy="4517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certain city has an area of 1,300 square miles and is covered by a cellular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using a seven-cell reuse pattern. Each cell has a radius of four miles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the city is allocated 40 MHz of spectrum with a full duplex channel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bandwidth of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60 kHz. Assume a GOS of 2% for an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 system is specified.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If the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offered traffic per user is 0.03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compute (a) the number of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cells in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service area, (b) the number of channels per cell, (c) traffic intensity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each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cell, (d) the maximum carried traffic, (e) the total number of users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that can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 served for 2% GOS, (f) the number of mobiles per unique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channel (where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understood that channels are reused), and (g) the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theoretical maximum 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number of users that could be served at one time by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2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524000"/>
            <a:ext cx="7416799" cy="45173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hexagonal cell within a four-cell system has a radius of 1.387 km. A total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60 channels are used within the entire system. If the load per user is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0.029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λ = 1 call/hour, compute the following for an </a:t>
            </a:r>
            <a:r>
              <a:rPr lang="en-US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Erlang</a:t>
            </a: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system that has a 5% probability of a delayed call: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(a) How many users per square kilometer will this system support?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(b) What is the probability that a delayed call will have to wait for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more than 10 s?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(c) What is the probability that a call will be delayed for more than 10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seconds?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1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5334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Problem </a:t>
            </a:r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219200"/>
            <a:ext cx="7111999" cy="5181600"/>
          </a:xfrm>
        </p:spPr>
        <p:txBody>
          <a:bodyPr>
            <a:noAutofit/>
          </a:bodyPr>
          <a:lstStyle/>
          <a:p>
            <a:pPr>
              <a:buFont typeface="+mj-lt"/>
              <a:buAutoNum type="alphaL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Consider a 7-cell system covering an area of 3100 km2. The traffic in the seven cells is as follows:</a:t>
            </a:r>
          </a:p>
          <a:p>
            <a:pPr marL="400050" lvl="1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Cell number           1      2       3         4        5          6        7</a:t>
            </a:r>
            <a:br>
              <a:rPr lang="en-US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Traffic (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 30.8   66.7   48.6   33.2   38.2   37.8    32.6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user generates an average of 0.03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of traffic per hour, with a mean holding time of 120 s. The system consists of a total of 395 channels and is designed for a grade of service of 0.01.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a. Determine the number of subscribers in each cell.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b. Determine the number of calls per hour per subscriber.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c. Determine the number of calls per hour in each cell.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d. Determine the number of channels required in each cell.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Hint: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will need to extrapolate using Table 10.3.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e. Determine the total number of subscribers.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f. Determine the average number of subscribers per channel.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g. Determine the subscriber density per km2•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h. Determine the total traffic (total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Determine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Erlangs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per km2.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j. What is the radius of a cell?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 smtClean="0">
                <a:latin typeface="Times New Roman" pitchFamily="18" charset="0"/>
                <a:cs typeface="Times New Roman" pitchFamily="18" charset="0"/>
              </a:rPr>
            </a:b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ACFC8-8A8F-43C3-9C33-97EFFB6FB054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tf00001240</Template>
  <TotalTime>1739</TotalTime>
  <Words>1781</Words>
  <Application>Microsoft Office PowerPoint</Application>
  <PresentationFormat>On-screen Show (4:3)</PresentationFormat>
  <Paragraphs>177</Paragraphs>
  <Slides>25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Facet</vt:lpstr>
      <vt:lpstr>CSE4255 Cellular Network</vt:lpstr>
      <vt:lpstr>Why Trunking?</vt:lpstr>
      <vt:lpstr>Trunking</vt:lpstr>
      <vt:lpstr>Common terms in Trunking</vt:lpstr>
      <vt:lpstr>Traffic Intensity</vt:lpstr>
      <vt:lpstr>Erlang--a Unit of Traffic</vt:lpstr>
      <vt:lpstr>Erlang--Example</vt:lpstr>
      <vt:lpstr>Traffic Intensity: Example</vt:lpstr>
      <vt:lpstr>Traffic Intensity: Example</vt:lpstr>
      <vt:lpstr>Traffic Intensity: Example</vt:lpstr>
      <vt:lpstr>Grade of Service</vt:lpstr>
      <vt:lpstr>Blocked Call Cleared (BCC) Systems</vt:lpstr>
      <vt:lpstr>Modeling of BCC Systems</vt:lpstr>
      <vt:lpstr>Erlang B</vt:lpstr>
      <vt:lpstr>Erlang B Trunking GOS</vt:lpstr>
      <vt:lpstr>BCC System Example-1</vt:lpstr>
      <vt:lpstr>BCC System Example-2</vt:lpstr>
      <vt:lpstr>Blocked Call Delayed(BCD) Systems</vt:lpstr>
      <vt:lpstr>Modeling of BCD Systems </vt:lpstr>
      <vt:lpstr>Erlang C</vt:lpstr>
      <vt:lpstr>Trunking Efficiency</vt:lpstr>
      <vt:lpstr>Problem 1</vt:lpstr>
      <vt:lpstr>Problem 2</vt:lpstr>
      <vt:lpstr>Problem 3</vt:lpstr>
      <vt:lpstr>Problem 4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 of Mobile CommunicationII</dc:title>
  <dc:creator>Tanvir</dc:creator>
  <cp:lastModifiedBy>CSE</cp:lastModifiedBy>
  <cp:revision>130</cp:revision>
  <dcterms:created xsi:type="dcterms:W3CDTF">2016-05-13T02:51:16Z</dcterms:created>
  <dcterms:modified xsi:type="dcterms:W3CDTF">2008-12-31T18:42:32Z</dcterms:modified>
</cp:coreProperties>
</file>