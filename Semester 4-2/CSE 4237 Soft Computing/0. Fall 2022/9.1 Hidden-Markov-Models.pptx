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sldIdLst>
    <p:sldId id="256" r:id="rId2"/>
    <p:sldId id="257" r:id="rId3"/>
    <p:sldId id="258" r:id="rId4"/>
    <p:sldId id="259" r:id="rId5"/>
    <p:sldId id="260" r:id="rId6"/>
    <p:sldId id="261" r:id="rId7"/>
    <p:sldId id="262" r:id="rId8"/>
    <p:sldId id="264" r:id="rId9"/>
    <p:sldId id="265" r:id="rId10"/>
    <p:sldId id="271" r:id="rId11"/>
    <p:sldId id="270" r:id="rId12"/>
    <p:sldId id="269" r:id="rId13"/>
    <p:sldId id="275" r:id="rId14"/>
    <p:sldId id="274" r:id="rId15"/>
    <p:sldId id="276" r:id="rId16"/>
    <p:sldId id="285" r:id="rId17"/>
    <p:sldId id="278" r:id="rId18"/>
    <p:sldId id="277" r:id="rId19"/>
    <p:sldId id="284" r:id="rId20"/>
    <p:sldId id="283" r:id="rId21"/>
    <p:sldId id="282" r:id="rId22"/>
    <p:sldId id="287" r:id="rId23"/>
    <p:sldId id="281" r:id="rId24"/>
    <p:sldId id="280" r:id="rId25"/>
    <p:sldId id="279" r:id="rId26"/>
    <p:sldId id="28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p:cViewPr varScale="1">
        <p:scale>
          <a:sx n="81" d="100"/>
          <a:sy n="81" d="100"/>
        </p:scale>
        <p:origin x="150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91CA1-1BAC-453F-8374-7E57503622DA}" type="datetimeFigureOut">
              <a:rPr lang="en-US" smtClean="0"/>
              <a:pPr/>
              <a:t>8/2/2023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0614A7-0C15-4FC3-9135-C1ADE5069152}" type="slidenum">
              <a:rPr lang="en-US" smtClean="0"/>
              <a:pPr/>
              <a:t>‹#›</a:t>
            </a:fld>
            <a:endParaRPr lang="en-US"/>
          </a:p>
        </p:txBody>
      </p:sp>
    </p:spTree>
    <p:extLst>
      <p:ext uri="{BB962C8B-B14F-4D97-AF65-F5344CB8AC3E}">
        <p14:creationId xmlns:p14="http://schemas.microsoft.com/office/powerpoint/2010/main" val="3839909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30614A7-0C15-4FC3-9135-C1ADE5069152}" type="slidenum">
              <a:rPr lang="en-US" smtClean="0"/>
              <a:pPr/>
              <a:t>6</a:t>
            </a:fld>
            <a:endParaRPr lang="en-US"/>
          </a:p>
        </p:txBody>
      </p:sp>
    </p:spTree>
    <p:extLst>
      <p:ext uri="{BB962C8B-B14F-4D97-AF65-F5344CB8AC3E}">
        <p14:creationId xmlns:p14="http://schemas.microsoft.com/office/powerpoint/2010/main" val="343360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4503053-BBE8-4A53-8B62-3209958F9E64}" type="datetimeFigureOut">
              <a:rPr lang="en-US" smtClean="0"/>
              <a:pPr/>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2818411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503053-BBE8-4A53-8B62-3209958F9E64}" type="datetimeFigureOut">
              <a:rPr lang="en-US" smtClean="0"/>
              <a:pPr/>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254592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503053-BBE8-4A53-8B62-3209958F9E64}" type="datetimeFigureOut">
              <a:rPr lang="en-US" smtClean="0"/>
              <a:pPr/>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3174986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503053-BBE8-4A53-8B62-3209958F9E64}" type="datetimeFigureOut">
              <a:rPr lang="en-US" smtClean="0"/>
              <a:pPr/>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489823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503053-BBE8-4A53-8B62-3209958F9E64}" type="datetimeFigureOut">
              <a:rPr lang="en-US" smtClean="0"/>
              <a:pPr/>
              <a:t>8/2/2023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483371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503053-BBE8-4A53-8B62-3209958F9E64}" type="datetimeFigureOut">
              <a:rPr lang="en-US" smtClean="0"/>
              <a:pPr/>
              <a:t>8/2/2023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333765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03053-BBE8-4A53-8B62-3209958F9E64}" type="datetimeFigureOut">
              <a:rPr lang="en-US" smtClean="0"/>
              <a:pPr/>
              <a:t>8/2/2023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378412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4503053-BBE8-4A53-8B62-3209958F9E64}" type="datetimeFigureOut">
              <a:rPr lang="en-US" smtClean="0"/>
              <a:pPr/>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3280188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4503053-BBE8-4A53-8B62-3209958F9E64}" type="datetimeFigureOut">
              <a:rPr lang="en-US" smtClean="0"/>
              <a:pPr/>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3949423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503053-BBE8-4A53-8B62-3209958F9E64}" type="datetimeFigureOut">
              <a:rPr lang="en-US" smtClean="0"/>
              <a:pPr/>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2900418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503053-BBE8-4A53-8B62-3209958F9E64}" type="datetimeFigureOut">
              <a:rPr lang="en-US" smtClean="0"/>
              <a:pPr/>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31FEE-F4C3-4A71-9DA1-A95A21FDBB40}" type="slidenum">
              <a:rPr lang="en-US" smtClean="0"/>
              <a:pPr/>
              <a:t>‹#›</a:t>
            </a:fld>
            <a:endParaRPr lang="en-US"/>
          </a:p>
        </p:txBody>
      </p:sp>
    </p:spTree>
    <p:extLst>
      <p:ext uri="{BB962C8B-B14F-4D97-AF65-F5344CB8AC3E}">
        <p14:creationId xmlns:p14="http://schemas.microsoft.com/office/powerpoint/2010/main" val="161277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4503053-BBE8-4A53-8B62-3209958F9E64}" type="datetimeFigureOut">
              <a:rPr lang="en-US" smtClean="0"/>
              <a:pPr/>
              <a:t>8/2/2023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2431FEE-F4C3-4A71-9DA1-A95A21FDBB40}" type="slidenum">
              <a:rPr lang="en-US" smtClean="0"/>
              <a:pPr/>
              <a:t>‹#›</a:t>
            </a:fld>
            <a:endParaRPr lang="en-US"/>
          </a:p>
        </p:txBody>
      </p:sp>
    </p:spTree>
    <p:extLst>
      <p:ext uri="{BB962C8B-B14F-4D97-AF65-F5344CB8AC3E}">
        <p14:creationId xmlns:p14="http://schemas.microsoft.com/office/powerpoint/2010/main" val="40765784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evl.uic.edu/shalini/coursework/hmm" TargetMode="External"/><Relationship Id="rId2" Type="http://schemas.openxmlformats.org/officeDocument/2006/relationships/hyperlink" Target="http://en.wikipedia.org/wiki/Hidden_Markov_model" TargetMode="External"/><Relationship Id="rId1" Type="http://schemas.openxmlformats.org/officeDocument/2006/relationships/slideLayout" Target="../slideLayouts/slideLayout2.xml"/><Relationship Id="rId5" Type="http://schemas.openxmlformats.org/officeDocument/2006/relationships/hyperlink" Target="http://www.ece.drexel.edu/gailr/ECE-S690-503/markov_models.ppt.pdf" TargetMode="External"/><Relationship Id="rId4" Type="http://schemas.openxmlformats.org/officeDocument/2006/relationships/hyperlink" Target="http://www.cedar.buffalo.edu/~govind/CS661/Lec12.pp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Hidden Markov Models</a:t>
            </a:r>
          </a:p>
        </p:txBody>
      </p:sp>
      <p:sp>
        <p:nvSpPr>
          <p:cNvPr id="3" name="Subtitle 2"/>
          <p:cNvSpPr>
            <a:spLocks noGrp="1"/>
          </p:cNvSpPr>
          <p:nvPr>
            <p:ph type="subTitle" idx="1"/>
          </p:nvPr>
        </p:nvSpPr>
        <p:spPr/>
        <p:txBody>
          <a:bodyPr/>
          <a:lstStyle/>
          <a:p>
            <a:r>
              <a:rPr lang="en-US"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a:t>
            </a:r>
          </a:p>
        </p:txBody>
      </p:sp>
      <p:sp>
        <p:nvSpPr>
          <p:cNvPr id="5" name="Content Placeholder 4"/>
          <p:cNvSpPr>
            <a:spLocks noGrp="1"/>
          </p:cNvSpPr>
          <p:nvPr>
            <p:ph idx="1"/>
          </p:nvPr>
        </p:nvSpPr>
        <p:spPr/>
        <p:txBody>
          <a:bodyPr/>
          <a:lstStyle/>
          <a:p>
            <a:r>
              <a:rPr lang="en-US" dirty="0"/>
              <a:t>Markov models</a:t>
            </a:r>
          </a:p>
          <a:p>
            <a:endParaRPr lang="en-US" dirty="0"/>
          </a:p>
          <a:p>
            <a:r>
              <a:rPr lang="en-US" dirty="0"/>
              <a:t>Hidden Markov models(HMM)</a:t>
            </a:r>
          </a:p>
          <a:p>
            <a:endParaRPr lang="en-US" dirty="0"/>
          </a:p>
          <a:p>
            <a:r>
              <a:rPr lang="en-US" dirty="0"/>
              <a:t>Issues Regarding HMM</a:t>
            </a:r>
          </a:p>
          <a:p>
            <a:endParaRPr lang="en-US" dirty="0"/>
          </a:p>
          <a:p>
            <a:r>
              <a:rPr lang="en-US" dirty="0"/>
              <a:t>Algorithmic approach to Issues of HMM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Markov Models</a:t>
            </a:r>
          </a:p>
        </p:txBody>
      </p:sp>
      <p:sp>
        <p:nvSpPr>
          <p:cNvPr id="3" name="Content Placeholder 2"/>
          <p:cNvSpPr>
            <a:spLocks noGrp="1"/>
          </p:cNvSpPr>
          <p:nvPr>
            <p:ph idx="1"/>
          </p:nvPr>
        </p:nvSpPr>
        <p:spPr/>
        <p:txBody>
          <a:bodyPr/>
          <a:lstStyle/>
          <a:p>
            <a:r>
              <a:rPr lang="en-US" dirty="0"/>
              <a:t> A Markov  model is a finite state machine with N distinct states begins at (Time t = 1) in initial state .</a:t>
            </a:r>
          </a:p>
          <a:p>
            <a:endParaRPr lang="en-US" dirty="0"/>
          </a:p>
          <a:p>
            <a:r>
              <a:rPr lang="en-US" dirty="0"/>
              <a:t>It moves from current state to Next state according to the transition probabilities associated with the Current state</a:t>
            </a:r>
          </a:p>
          <a:p>
            <a:endParaRPr lang="en-US" dirty="0"/>
          </a:p>
          <a:p>
            <a:r>
              <a:rPr lang="en-US" dirty="0"/>
              <a:t>This kind of system is called Finite or Discrete Markov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Markov Property</a:t>
            </a:r>
          </a:p>
        </p:txBody>
      </p:sp>
      <p:sp>
        <p:nvSpPr>
          <p:cNvPr id="3" name="Content Placeholder 2"/>
          <p:cNvSpPr>
            <a:spLocks noGrp="1"/>
          </p:cNvSpPr>
          <p:nvPr>
            <p:ph idx="1"/>
          </p:nvPr>
        </p:nvSpPr>
        <p:spPr/>
        <p:txBody>
          <a:bodyPr/>
          <a:lstStyle/>
          <a:p>
            <a:r>
              <a:rPr lang="en-US" dirty="0"/>
              <a:t>Markov Property : The Current state of the system depends only on the previous state of the system (Memory Less)</a:t>
            </a:r>
          </a:p>
          <a:p>
            <a:endParaRPr lang="en-US" dirty="0"/>
          </a:p>
          <a:p>
            <a:r>
              <a:rPr lang="en-US" dirty="0"/>
              <a:t>The State of the system at Time [ T+1 ] depends on the state of the system at time T.</a:t>
            </a:r>
          </a:p>
          <a:p>
            <a:endParaRPr lang="en-US" dirty="0"/>
          </a:p>
          <a:p>
            <a:r>
              <a:rPr lang="en-US" dirty="0"/>
              <a:t> </a:t>
            </a:r>
          </a:p>
        </p:txBody>
      </p:sp>
      <p:sp>
        <p:nvSpPr>
          <p:cNvPr id="10" name="Oval 6"/>
          <p:cNvSpPr>
            <a:spLocks noChangeArrowheads="1"/>
          </p:cNvSpPr>
          <p:nvPr/>
        </p:nvSpPr>
        <p:spPr bwMode="auto">
          <a:xfrm>
            <a:off x="1219200" y="4800600"/>
            <a:ext cx="668383" cy="762000"/>
          </a:xfrm>
          <a:prstGeom prst="ellipse">
            <a:avLst/>
          </a:prstGeom>
          <a:solidFill>
            <a:srgbClr val="FF9966"/>
          </a:solidFill>
          <a:ln w="25400">
            <a:solidFill>
              <a:schemeClr val="tx1"/>
            </a:solidFill>
            <a:round/>
            <a:headEnd/>
            <a:tailEnd/>
          </a:ln>
          <a:effectLst/>
        </p:spPr>
        <p:txBody>
          <a:bodyPr wrap="none" anchor="ctr"/>
          <a:lstStyle/>
          <a:p>
            <a:pPr algn="ctr"/>
            <a:r>
              <a:rPr lang="en-US" sz="2400" i="0" dirty="0" err="1">
                <a:latin typeface="Times New Roman" pitchFamily="18" charset="0"/>
              </a:rPr>
              <a:t>X</a:t>
            </a:r>
            <a:r>
              <a:rPr lang="en-US" sz="2400" i="0" baseline="-25000" dirty="0" err="1">
                <a:solidFill>
                  <a:srgbClr val="000099"/>
                </a:solidFill>
                <a:latin typeface="Times New Roman" pitchFamily="18" charset="0"/>
              </a:rPr>
              <a:t>t</a:t>
            </a:r>
            <a:r>
              <a:rPr lang="en-US" sz="2400" i="0" baseline="-25000" dirty="0">
                <a:solidFill>
                  <a:srgbClr val="000099"/>
                </a:solidFill>
                <a:latin typeface="Times New Roman" pitchFamily="18" charset="0"/>
              </a:rPr>
              <a:t>=1</a:t>
            </a:r>
          </a:p>
        </p:txBody>
      </p:sp>
      <p:sp>
        <p:nvSpPr>
          <p:cNvPr id="13" name="Oval 6"/>
          <p:cNvSpPr>
            <a:spLocks noChangeArrowheads="1"/>
          </p:cNvSpPr>
          <p:nvPr/>
        </p:nvSpPr>
        <p:spPr bwMode="auto">
          <a:xfrm>
            <a:off x="2514600" y="4800600"/>
            <a:ext cx="668383" cy="706664"/>
          </a:xfrm>
          <a:prstGeom prst="ellipse">
            <a:avLst/>
          </a:prstGeom>
          <a:solidFill>
            <a:srgbClr val="FF9966"/>
          </a:solidFill>
          <a:ln w="25400">
            <a:solidFill>
              <a:schemeClr val="tx1"/>
            </a:solidFill>
            <a:round/>
            <a:headEnd/>
            <a:tailEnd/>
          </a:ln>
          <a:effectLst/>
        </p:spPr>
        <p:txBody>
          <a:bodyPr wrap="none" anchor="ctr"/>
          <a:lstStyle/>
          <a:p>
            <a:pPr algn="ctr"/>
            <a:r>
              <a:rPr lang="en-US" sz="2400" i="0" dirty="0" err="1">
                <a:latin typeface="Times New Roman" pitchFamily="18" charset="0"/>
              </a:rPr>
              <a:t>X</a:t>
            </a:r>
            <a:r>
              <a:rPr lang="en-US" sz="2400" i="0" baseline="-25000" dirty="0" err="1">
                <a:solidFill>
                  <a:srgbClr val="000099"/>
                </a:solidFill>
                <a:latin typeface="Times New Roman" pitchFamily="18" charset="0"/>
              </a:rPr>
              <a:t>t</a:t>
            </a:r>
            <a:r>
              <a:rPr lang="en-US" sz="2400" i="0" baseline="-25000" dirty="0">
                <a:solidFill>
                  <a:srgbClr val="000099"/>
                </a:solidFill>
                <a:latin typeface="Times New Roman" pitchFamily="18" charset="0"/>
              </a:rPr>
              <a:t>=2</a:t>
            </a:r>
          </a:p>
        </p:txBody>
      </p:sp>
      <p:sp>
        <p:nvSpPr>
          <p:cNvPr id="14" name="Oval 6"/>
          <p:cNvSpPr>
            <a:spLocks noChangeArrowheads="1"/>
          </p:cNvSpPr>
          <p:nvPr/>
        </p:nvSpPr>
        <p:spPr bwMode="auto">
          <a:xfrm>
            <a:off x="4038600" y="4800600"/>
            <a:ext cx="668383" cy="706664"/>
          </a:xfrm>
          <a:prstGeom prst="ellipse">
            <a:avLst/>
          </a:prstGeom>
          <a:solidFill>
            <a:srgbClr val="FF9966"/>
          </a:solidFill>
          <a:ln w="25400">
            <a:solidFill>
              <a:schemeClr val="tx1"/>
            </a:solidFill>
            <a:round/>
            <a:headEnd/>
            <a:tailEnd/>
          </a:ln>
          <a:effectLst/>
        </p:spPr>
        <p:txBody>
          <a:bodyPr wrap="none" anchor="ctr"/>
          <a:lstStyle/>
          <a:p>
            <a:pPr algn="ctr"/>
            <a:r>
              <a:rPr lang="en-US" sz="2400" i="0" dirty="0" err="1">
                <a:latin typeface="Times New Roman" pitchFamily="18" charset="0"/>
              </a:rPr>
              <a:t>X</a:t>
            </a:r>
            <a:r>
              <a:rPr lang="en-US" sz="2400" i="0" baseline="-25000" dirty="0" err="1">
                <a:solidFill>
                  <a:srgbClr val="000099"/>
                </a:solidFill>
                <a:latin typeface="Times New Roman" pitchFamily="18" charset="0"/>
              </a:rPr>
              <a:t>t</a:t>
            </a:r>
            <a:r>
              <a:rPr lang="en-US" sz="2400" i="0" baseline="-25000" dirty="0">
                <a:solidFill>
                  <a:srgbClr val="000099"/>
                </a:solidFill>
                <a:latin typeface="Times New Roman" pitchFamily="18" charset="0"/>
              </a:rPr>
              <a:t>=3</a:t>
            </a:r>
          </a:p>
        </p:txBody>
      </p:sp>
      <p:sp>
        <p:nvSpPr>
          <p:cNvPr id="15" name="Oval 6"/>
          <p:cNvSpPr>
            <a:spLocks noChangeArrowheads="1"/>
          </p:cNvSpPr>
          <p:nvPr/>
        </p:nvSpPr>
        <p:spPr bwMode="auto">
          <a:xfrm>
            <a:off x="5486400" y="4800600"/>
            <a:ext cx="668383" cy="706664"/>
          </a:xfrm>
          <a:prstGeom prst="ellipse">
            <a:avLst/>
          </a:prstGeom>
          <a:solidFill>
            <a:srgbClr val="FF9966"/>
          </a:solidFill>
          <a:ln w="25400">
            <a:solidFill>
              <a:schemeClr val="tx1"/>
            </a:solidFill>
            <a:round/>
            <a:headEnd/>
            <a:tailEnd/>
          </a:ln>
          <a:effectLst/>
        </p:spPr>
        <p:txBody>
          <a:bodyPr wrap="none" anchor="ctr"/>
          <a:lstStyle/>
          <a:p>
            <a:pPr algn="ctr"/>
            <a:r>
              <a:rPr lang="en-US" sz="2400" i="0" dirty="0" err="1">
                <a:latin typeface="Times New Roman" pitchFamily="18" charset="0"/>
              </a:rPr>
              <a:t>X</a:t>
            </a:r>
            <a:r>
              <a:rPr lang="en-US" sz="2400" i="0" baseline="-25000" dirty="0" err="1">
                <a:solidFill>
                  <a:srgbClr val="000099"/>
                </a:solidFill>
                <a:latin typeface="Times New Roman" pitchFamily="18" charset="0"/>
              </a:rPr>
              <a:t>t</a:t>
            </a:r>
            <a:r>
              <a:rPr lang="en-US" sz="2400" i="0" baseline="-25000" dirty="0">
                <a:solidFill>
                  <a:srgbClr val="000099"/>
                </a:solidFill>
                <a:latin typeface="Times New Roman" pitchFamily="18" charset="0"/>
              </a:rPr>
              <a:t>=4</a:t>
            </a:r>
          </a:p>
        </p:txBody>
      </p:sp>
      <p:sp>
        <p:nvSpPr>
          <p:cNvPr id="16" name="Oval 6"/>
          <p:cNvSpPr>
            <a:spLocks noChangeArrowheads="1"/>
          </p:cNvSpPr>
          <p:nvPr/>
        </p:nvSpPr>
        <p:spPr bwMode="auto">
          <a:xfrm>
            <a:off x="7162800" y="4800600"/>
            <a:ext cx="668383" cy="706664"/>
          </a:xfrm>
          <a:prstGeom prst="ellipse">
            <a:avLst/>
          </a:prstGeom>
          <a:solidFill>
            <a:srgbClr val="FF9966"/>
          </a:solidFill>
          <a:ln w="25400">
            <a:solidFill>
              <a:schemeClr val="tx1"/>
            </a:solidFill>
            <a:round/>
            <a:headEnd/>
            <a:tailEnd/>
          </a:ln>
          <a:effectLst/>
        </p:spPr>
        <p:txBody>
          <a:bodyPr wrap="none" anchor="ctr"/>
          <a:lstStyle/>
          <a:p>
            <a:pPr algn="ctr"/>
            <a:r>
              <a:rPr lang="en-US" sz="2400" i="0" dirty="0" err="1">
                <a:latin typeface="Times New Roman" pitchFamily="18" charset="0"/>
              </a:rPr>
              <a:t>X</a:t>
            </a:r>
            <a:r>
              <a:rPr lang="en-US" sz="2400" i="0" baseline="-25000" dirty="0" err="1">
                <a:solidFill>
                  <a:srgbClr val="000099"/>
                </a:solidFill>
                <a:latin typeface="Times New Roman" pitchFamily="18" charset="0"/>
              </a:rPr>
              <a:t>t</a:t>
            </a:r>
            <a:r>
              <a:rPr lang="en-US" sz="2400" i="0" baseline="-25000" dirty="0">
                <a:solidFill>
                  <a:srgbClr val="000099"/>
                </a:solidFill>
                <a:latin typeface="Times New Roman" pitchFamily="18" charset="0"/>
              </a:rPr>
              <a:t>=5</a:t>
            </a:r>
          </a:p>
        </p:txBody>
      </p:sp>
      <p:cxnSp>
        <p:nvCxnSpPr>
          <p:cNvPr id="17" name="AutoShape 12"/>
          <p:cNvCxnSpPr>
            <a:cxnSpLocks noChangeShapeType="1"/>
          </p:cNvCxnSpPr>
          <p:nvPr/>
        </p:nvCxnSpPr>
        <p:spPr bwMode="auto">
          <a:xfrm rot="5400000" flipH="1" flipV="1">
            <a:off x="2193357" y="4131243"/>
            <a:ext cx="15902" cy="1354615"/>
          </a:xfrm>
          <a:prstGeom prst="curvedConnector3">
            <a:avLst>
              <a:gd name="adj1" fmla="val 744158"/>
            </a:avLst>
          </a:prstGeom>
          <a:noFill/>
          <a:ln w="25400">
            <a:solidFill>
              <a:schemeClr val="tx1"/>
            </a:solidFill>
            <a:round/>
            <a:headEnd/>
            <a:tailEnd type="triangle" w="med" len="med"/>
          </a:ln>
          <a:effectLst/>
        </p:spPr>
      </p:cxnSp>
      <p:cxnSp>
        <p:nvCxnSpPr>
          <p:cNvPr id="19" name="AutoShape 12"/>
          <p:cNvCxnSpPr>
            <a:cxnSpLocks noChangeShapeType="1"/>
          </p:cNvCxnSpPr>
          <p:nvPr/>
        </p:nvCxnSpPr>
        <p:spPr bwMode="auto">
          <a:xfrm rot="5400000" flipH="1" flipV="1">
            <a:off x="3641157" y="4131243"/>
            <a:ext cx="15902" cy="1354615"/>
          </a:xfrm>
          <a:prstGeom prst="curvedConnector3">
            <a:avLst>
              <a:gd name="adj1" fmla="val 744158"/>
            </a:avLst>
          </a:prstGeom>
          <a:noFill/>
          <a:ln w="25400">
            <a:solidFill>
              <a:schemeClr val="tx1"/>
            </a:solidFill>
            <a:round/>
            <a:headEnd/>
            <a:tailEnd type="triangle" w="med" len="med"/>
          </a:ln>
          <a:effectLst/>
        </p:spPr>
      </p:cxnSp>
      <p:cxnSp>
        <p:nvCxnSpPr>
          <p:cNvPr id="20" name="AutoShape 12"/>
          <p:cNvCxnSpPr>
            <a:cxnSpLocks noChangeShapeType="1"/>
          </p:cNvCxnSpPr>
          <p:nvPr/>
        </p:nvCxnSpPr>
        <p:spPr bwMode="auto">
          <a:xfrm rot="5400000" flipH="1" flipV="1">
            <a:off x="6689157" y="4207443"/>
            <a:ext cx="15902" cy="1354615"/>
          </a:xfrm>
          <a:prstGeom prst="curvedConnector3">
            <a:avLst>
              <a:gd name="adj1" fmla="val 744158"/>
            </a:avLst>
          </a:prstGeom>
          <a:noFill/>
          <a:ln w="25400">
            <a:solidFill>
              <a:schemeClr val="tx1"/>
            </a:solidFill>
            <a:round/>
            <a:headEnd/>
            <a:tailEnd type="triangle" w="med" len="med"/>
          </a:ln>
          <a:effectLst/>
        </p:spPr>
      </p:cxnSp>
      <p:cxnSp>
        <p:nvCxnSpPr>
          <p:cNvPr id="21" name="AutoShape 12"/>
          <p:cNvCxnSpPr>
            <a:cxnSpLocks noChangeShapeType="1"/>
          </p:cNvCxnSpPr>
          <p:nvPr/>
        </p:nvCxnSpPr>
        <p:spPr bwMode="auto">
          <a:xfrm rot="5400000" flipH="1" flipV="1">
            <a:off x="5165157" y="4131243"/>
            <a:ext cx="15902" cy="1354615"/>
          </a:xfrm>
          <a:prstGeom prst="curvedConnector3">
            <a:avLst>
              <a:gd name="adj1" fmla="val 744158"/>
            </a:avLst>
          </a:prstGeom>
          <a:noFill/>
          <a:ln w="25400">
            <a:solidFill>
              <a:schemeClr val="tx1"/>
            </a:solidFill>
            <a:round/>
            <a:headEnd/>
            <a:tailEnd type="triangle" w="med" len="med"/>
          </a:ln>
          <a:effectLst/>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Markov Model : Example</a:t>
            </a:r>
          </a:p>
        </p:txBody>
      </p:sp>
      <p:sp>
        <p:nvSpPr>
          <p:cNvPr id="3" name="Content Placeholder 2"/>
          <p:cNvSpPr>
            <a:spLocks noGrp="1"/>
          </p:cNvSpPr>
          <p:nvPr>
            <p:ph idx="1"/>
          </p:nvPr>
        </p:nvSpPr>
        <p:spPr/>
        <p:txBody>
          <a:bodyPr/>
          <a:lstStyle/>
          <a:p>
            <a:r>
              <a:rPr lang="en-US" dirty="0"/>
              <a:t>A Discrete Markov Model with 5 states.</a:t>
            </a:r>
          </a:p>
          <a:p>
            <a:pPr>
              <a:buNone/>
            </a:pPr>
            <a:endParaRPr lang="en-US" dirty="0"/>
          </a:p>
          <a:p>
            <a:r>
              <a:rPr lang="en-US" dirty="0"/>
              <a:t>Each </a:t>
            </a:r>
            <a:r>
              <a:rPr lang="en-US" dirty="0" err="1"/>
              <a:t>aij</a:t>
            </a:r>
            <a:r>
              <a:rPr lang="en-US" dirty="0"/>
              <a:t> represents the probability of moving from state ‘ </a:t>
            </a:r>
            <a:r>
              <a:rPr lang="en-US" dirty="0" err="1"/>
              <a:t>i</a:t>
            </a:r>
            <a:r>
              <a:rPr lang="en-US" dirty="0"/>
              <a:t>’  to state  ’j’.</a:t>
            </a:r>
          </a:p>
        </p:txBody>
      </p:sp>
      <p:pic>
        <p:nvPicPr>
          <p:cNvPr id="4" name="Picture 4" descr="1"/>
          <p:cNvPicPr>
            <a:picLocks noChangeAspect="1" noChangeArrowheads="1"/>
          </p:cNvPicPr>
          <p:nvPr/>
        </p:nvPicPr>
        <p:blipFill>
          <a:blip r:embed="rId2" cstate="print"/>
          <a:srcRect/>
          <a:stretch>
            <a:fillRect/>
          </a:stretch>
        </p:blipFill>
        <p:spPr>
          <a:xfrm>
            <a:off x="3276600" y="3570345"/>
            <a:ext cx="2971800" cy="2917913"/>
          </a:xfrm>
          <a:prstGeom prst="rect">
            <a:avLst/>
          </a:prstGeom>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The probability to start in a given state I is </a:t>
            </a:r>
            <a:r>
              <a:rPr lang="en-US" dirty="0" err="1"/>
              <a:t>π</a:t>
            </a:r>
            <a:r>
              <a:rPr lang="en-US" baseline="-25000" dirty="0" err="1"/>
              <a:t>i</a:t>
            </a:r>
            <a:r>
              <a:rPr lang="en-US" dirty="0"/>
              <a:t>.</a:t>
            </a:r>
          </a:p>
          <a:p>
            <a:endParaRPr lang="en-US" dirty="0"/>
          </a:p>
          <a:p>
            <a:r>
              <a:rPr lang="en-US" dirty="0"/>
              <a:t>The Vector π represents the start probabilities.</a:t>
            </a:r>
          </a:p>
          <a:p>
            <a:endParaRPr lang="en-US" dirty="0"/>
          </a:p>
          <a:p>
            <a:r>
              <a:rPr lang="en-US" dirty="0"/>
              <a:t> To define Markov model, the following probabilities have to be specified: transition probabilities    </a:t>
            </a:r>
            <a:r>
              <a:rPr lang="en-US" dirty="0" err="1"/>
              <a:t>aij</a:t>
            </a:r>
            <a:r>
              <a:rPr lang="en-US" dirty="0"/>
              <a:t> = P(Si | </a:t>
            </a:r>
            <a:r>
              <a:rPr lang="en-US" dirty="0" err="1"/>
              <a:t>Sj</a:t>
            </a:r>
            <a:r>
              <a:rPr lang="en-US" dirty="0"/>
              <a:t> )   and</a:t>
            </a:r>
          </a:p>
          <a:p>
            <a:pPr>
              <a:buNone/>
            </a:pPr>
            <a:r>
              <a:rPr lang="en-US" dirty="0"/>
              <a:t>    initial probabilities  </a:t>
            </a:r>
          </a:p>
          <a:p>
            <a:pPr>
              <a:buNone/>
            </a:pPr>
            <a:r>
              <a:rPr lang="en-US" dirty="0"/>
              <a:t>                     </a:t>
            </a:r>
            <a:r>
              <a:rPr lang="en-US" sz="4400" dirty="0" err="1"/>
              <a:t>π</a:t>
            </a:r>
            <a:r>
              <a:rPr lang="en-US" sz="4400" baseline="-25000" dirty="0" err="1"/>
              <a:t>i</a:t>
            </a:r>
            <a:r>
              <a:rPr lang="en-US" sz="4400" dirty="0"/>
              <a:t> </a:t>
            </a:r>
            <a:r>
              <a:rPr lang="en-US" dirty="0"/>
              <a:t>= P( Si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Hidden  Markov  Models </a:t>
            </a:r>
          </a:p>
        </p:txBody>
      </p:sp>
      <p:sp>
        <p:nvSpPr>
          <p:cNvPr id="3" name="Content Placeholder 2"/>
          <p:cNvSpPr>
            <a:spLocks noGrp="1"/>
          </p:cNvSpPr>
          <p:nvPr>
            <p:ph idx="1"/>
          </p:nvPr>
        </p:nvSpPr>
        <p:spPr/>
        <p:txBody>
          <a:bodyPr/>
          <a:lstStyle/>
          <a:p>
            <a:r>
              <a:rPr lang="en-US" dirty="0"/>
              <a:t>A Hidden Markov model is a statistical model in which the system being modelled is assumed to be </a:t>
            </a:r>
            <a:r>
              <a:rPr lang="en-US" dirty="0" err="1"/>
              <a:t>markov</a:t>
            </a:r>
            <a:r>
              <a:rPr lang="en-US" dirty="0"/>
              <a:t> process with unobserved hidden states.</a:t>
            </a:r>
          </a:p>
          <a:p>
            <a:endParaRPr lang="en-US" dirty="0"/>
          </a:p>
          <a:p>
            <a:r>
              <a:rPr lang="en-US" dirty="0"/>
              <a:t>In Regular Markov models the state is clearly visible to others in which the state transition probabilities are the parameters only where as in HMM the state is not visible but the output is visible.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Description</a:t>
            </a:r>
          </a:p>
        </p:txBody>
      </p:sp>
      <p:sp>
        <p:nvSpPr>
          <p:cNvPr id="3" name="Content Placeholder 2"/>
          <p:cNvSpPr>
            <a:spLocks noGrp="1"/>
          </p:cNvSpPr>
          <p:nvPr>
            <p:ph idx="1"/>
          </p:nvPr>
        </p:nvSpPr>
        <p:spPr/>
        <p:txBody>
          <a:bodyPr/>
          <a:lstStyle/>
          <a:p>
            <a:r>
              <a:rPr lang="en-US" dirty="0"/>
              <a:t>It consists of set of states : S1,S2,S3…….</a:t>
            </a:r>
            <a:r>
              <a:rPr lang="en-US" dirty="0" err="1"/>
              <a:t>sn</a:t>
            </a:r>
            <a:r>
              <a:rPr lang="en-US" dirty="0"/>
              <a:t>.</a:t>
            </a:r>
          </a:p>
          <a:p>
            <a:r>
              <a:rPr lang="en-US" dirty="0"/>
              <a:t>Process moves from One state to another state generating a sequence of states  Si1,Si2,….</a:t>
            </a:r>
            <a:r>
              <a:rPr lang="en-US" dirty="0" err="1"/>
              <a:t>Sik</a:t>
            </a:r>
            <a:r>
              <a:rPr lang="en-US" dirty="0"/>
              <a:t>…</a:t>
            </a:r>
          </a:p>
          <a:p>
            <a:r>
              <a:rPr lang="en-US" dirty="0"/>
              <a:t>Markov chain property:  probability of each subsequent state depends only on what was the previous state</a:t>
            </a:r>
          </a:p>
          <a:p>
            <a:pPr>
              <a:buNone/>
            </a:pPr>
            <a:r>
              <a:rPr lang="en-US" dirty="0"/>
              <a:t>    P( </a:t>
            </a:r>
            <a:r>
              <a:rPr lang="en-US" dirty="0" err="1"/>
              <a:t>Sik</a:t>
            </a:r>
            <a:r>
              <a:rPr lang="en-US" dirty="0"/>
              <a:t> | Sk1,Si2,……..Sik-1) =  P ( </a:t>
            </a:r>
            <a:r>
              <a:rPr lang="en-US" dirty="0" err="1"/>
              <a:t>Sik</a:t>
            </a:r>
            <a:r>
              <a:rPr lang="en-US" dirty="0"/>
              <a:t> | Sik-1)</a:t>
            </a:r>
          </a:p>
          <a:p>
            <a:r>
              <a:rPr lang="en-US" dirty="0"/>
              <a:t>States are not visible, but each state randomly generates one of M observations (or visible states)</a:t>
            </a:r>
          </a:p>
          <a:p>
            <a:pPr>
              <a:buNone/>
            </a:pPr>
            <a:r>
              <a:rPr lang="en-US" dirty="0"/>
              <a:t>                V = { v1,v2,v3…..</a:t>
            </a:r>
            <a:r>
              <a:rPr lang="en-US" dirty="0" err="1"/>
              <a:t>vk</a:t>
            </a:r>
            <a:r>
              <a:rPr lang="en-US" dirty="0"/>
              <a: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Essentials</a:t>
            </a:r>
          </a:p>
        </p:txBody>
      </p:sp>
      <p:sp>
        <p:nvSpPr>
          <p:cNvPr id="3" name="Content Placeholder 2"/>
          <p:cNvSpPr>
            <a:spLocks noGrp="1"/>
          </p:cNvSpPr>
          <p:nvPr>
            <p:ph idx="1"/>
          </p:nvPr>
        </p:nvSpPr>
        <p:spPr/>
        <p:txBody>
          <a:bodyPr/>
          <a:lstStyle/>
          <a:p>
            <a:r>
              <a:rPr lang="en-US" dirty="0"/>
              <a:t>To define hidden Markov model, the following probabilities  have to be specified: matrix of transition probabilities </a:t>
            </a:r>
            <a:r>
              <a:rPr lang="en-US" sz="3200" dirty="0"/>
              <a:t>A=(</a:t>
            </a:r>
            <a:r>
              <a:rPr lang="en-US" sz="3200" dirty="0" err="1"/>
              <a:t>a</a:t>
            </a:r>
            <a:r>
              <a:rPr lang="en-US" baseline="-16000" dirty="0" err="1"/>
              <a:t>ij</a:t>
            </a:r>
            <a:r>
              <a:rPr lang="en-US" sz="3200" dirty="0"/>
              <a:t>), </a:t>
            </a:r>
            <a:r>
              <a:rPr lang="en-US" sz="3200" dirty="0" err="1"/>
              <a:t>a</a:t>
            </a:r>
            <a:r>
              <a:rPr lang="en-US" baseline="-16000" dirty="0" err="1"/>
              <a:t>ij</a:t>
            </a:r>
            <a:r>
              <a:rPr lang="en-US" sz="3200" dirty="0"/>
              <a:t>= P(</a:t>
            </a:r>
            <a:r>
              <a:rPr lang="en-US" sz="3200" dirty="0" err="1"/>
              <a:t>s</a:t>
            </a:r>
            <a:r>
              <a:rPr lang="en-US" baseline="-16000" dirty="0" err="1"/>
              <a:t>i</a:t>
            </a:r>
            <a:r>
              <a:rPr lang="en-US" sz="1800" baseline="-26000" dirty="0"/>
              <a:t> </a:t>
            </a:r>
            <a:r>
              <a:rPr lang="en-US" sz="3200" dirty="0"/>
              <a:t>| </a:t>
            </a:r>
            <a:r>
              <a:rPr lang="en-US" sz="3200" dirty="0" err="1"/>
              <a:t>s</a:t>
            </a:r>
            <a:r>
              <a:rPr lang="en-US" baseline="-16000" dirty="0" err="1"/>
              <a:t>j</a:t>
            </a:r>
            <a:r>
              <a:rPr lang="en-US" sz="3200" dirty="0"/>
              <a:t>) </a:t>
            </a:r>
            <a:r>
              <a:rPr lang="en-US" dirty="0"/>
              <a:t>, matrix of observation probabilities </a:t>
            </a:r>
          </a:p>
          <a:p>
            <a:pPr>
              <a:buNone/>
            </a:pPr>
            <a:r>
              <a:rPr lang="en-US" sz="3200" dirty="0"/>
              <a:t>   B=(b</a:t>
            </a:r>
            <a:r>
              <a:rPr lang="en-US" baseline="-16000" dirty="0"/>
              <a:t>i </a:t>
            </a:r>
            <a:r>
              <a:rPr lang="en-US" sz="3200" dirty="0"/>
              <a:t>(</a:t>
            </a:r>
            <a:r>
              <a:rPr lang="en-US" sz="3200" dirty="0" err="1"/>
              <a:t>v</a:t>
            </a:r>
            <a:r>
              <a:rPr lang="en-US" baseline="-16000" dirty="0" err="1"/>
              <a:t>m</a:t>
            </a:r>
            <a:r>
              <a:rPr lang="en-US" baseline="-16000" dirty="0"/>
              <a:t> </a:t>
            </a:r>
            <a:r>
              <a:rPr lang="en-US" sz="3200" dirty="0"/>
              <a:t>)), b</a:t>
            </a:r>
            <a:r>
              <a:rPr lang="en-US" baseline="-16000" dirty="0"/>
              <a:t>i</a:t>
            </a:r>
            <a:r>
              <a:rPr lang="en-US" sz="3200" dirty="0"/>
              <a:t>(</a:t>
            </a:r>
            <a:r>
              <a:rPr lang="en-US" sz="3200" dirty="0" err="1"/>
              <a:t>v</a:t>
            </a:r>
            <a:r>
              <a:rPr lang="en-US" baseline="-16000" dirty="0" err="1"/>
              <a:t>m</a:t>
            </a:r>
            <a:r>
              <a:rPr lang="en-US" baseline="-16000" dirty="0"/>
              <a:t> </a:t>
            </a:r>
            <a:r>
              <a:rPr lang="en-US" sz="3200" dirty="0"/>
              <a:t>)</a:t>
            </a:r>
            <a:r>
              <a:rPr lang="en-US" sz="1800" baseline="-26000" dirty="0"/>
              <a:t> </a:t>
            </a:r>
            <a:r>
              <a:rPr lang="en-US" sz="3200" dirty="0"/>
              <a:t>= P(</a:t>
            </a:r>
            <a:r>
              <a:rPr lang="en-US" sz="3200" dirty="0" err="1"/>
              <a:t>v</a:t>
            </a:r>
            <a:r>
              <a:rPr lang="en-US" baseline="-16000" dirty="0" err="1"/>
              <a:t>m</a:t>
            </a:r>
            <a:r>
              <a:rPr lang="en-US" sz="1800" baseline="-26000" dirty="0"/>
              <a:t> </a:t>
            </a:r>
            <a:r>
              <a:rPr lang="en-US" sz="3200" dirty="0"/>
              <a:t>| </a:t>
            </a:r>
            <a:r>
              <a:rPr lang="en-US" sz="3200" dirty="0" err="1"/>
              <a:t>s</a:t>
            </a:r>
            <a:r>
              <a:rPr lang="en-US" baseline="-16000" dirty="0" err="1"/>
              <a:t>i</a:t>
            </a:r>
            <a:r>
              <a:rPr lang="en-US" sz="3200" dirty="0"/>
              <a:t>) </a:t>
            </a:r>
            <a:r>
              <a:rPr lang="en-US" dirty="0"/>
              <a:t>and a vector of initial probabilities  </a:t>
            </a:r>
            <a:r>
              <a:rPr lang="en-US" sz="3200" dirty="0">
                <a:sym typeface="Symbol" pitchFamily="18" charset="2"/>
              </a:rPr>
              <a:t>=(</a:t>
            </a:r>
            <a:r>
              <a:rPr lang="en-US" baseline="-16000" dirty="0" err="1"/>
              <a:t>i</a:t>
            </a:r>
            <a:r>
              <a:rPr lang="en-US" sz="3200" dirty="0">
                <a:sym typeface="Symbol" pitchFamily="18" charset="2"/>
              </a:rPr>
              <a:t>),  </a:t>
            </a:r>
            <a:r>
              <a:rPr lang="en-US" baseline="-16000" dirty="0" err="1"/>
              <a:t>i</a:t>
            </a:r>
            <a:r>
              <a:rPr lang="en-US" sz="3200" dirty="0">
                <a:sym typeface="Symbol" pitchFamily="18" charset="2"/>
              </a:rPr>
              <a:t> </a:t>
            </a:r>
            <a:r>
              <a:rPr lang="en-US" sz="3200" dirty="0"/>
              <a:t>= P(</a:t>
            </a:r>
            <a:r>
              <a:rPr lang="en-US" sz="3200" dirty="0" err="1"/>
              <a:t>s</a:t>
            </a:r>
            <a:r>
              <a:rPr lang="en-US" baseline="-16000" dirty="0" err="1"/>
              <a:t>i</a:t>
            </a:r>
            <a:r>
              <a:rPr lang="en-US" sz="3200" dirty="0"/>
              <a:t>) . </a:t>
            </a:r>
            <a:r>
              <a:rPr lang="en-US" dirty="0"/>
              <a:t>Model is represented by </a:t>
            </a:r>
            <a:r>
              <a:rPr lang="en-US" sz="3200" dirty="0"/>
              <a:t>M=(A, B, </a:t>
            </a:r>
            <a:r>
              <a:rPr lang="en-US" sz="3200" dirty="0">
                <a:sym typeface="Symbol" pitchFamily="18" charset="2"/>
              </a:rPr>
              <a: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Hidden Markov model</a:t>
            </a:r>
            <a:br>
              <a:rPr lang="en-US" dirty="0"/>
            </a:br>
            <a:r>
              <a:rPr lang="en-US" dirty="0"/>
              <a:t>( Probabilistic finite state automata )</a:t>
            </a:r>
          </a:p>
        </p:txBody>
      </p:sp>
      <p:sp>
        <p:nvSpPr>
          <p:cNvPr id="3" name="Content Placeholder 2"/>
          <p:cNvSpPr>
            <a:spLocks noGrp="1"/>
          </p:cNvSpPr>
          <p:nvPr>
            <p:ph idx="1"/>
          </p:nvPr>
        </p:nvSpPr>
        <p:spPr/>
        <p:txBody>
          <a:bodyPr/>
          <a:lstStyle/>
          <a:p>
            <a:r>
              <a:rPr lang="en-US" dirty="0"/>
              <a:t>The Scenarios where states cannot be directly observed.</a:t>
            </a:r>
          </a:p>
          <a:p>
            <a:r>
              <a:rPr lang="en-US" dirty="0"/>
              <a:t>We need an extension </a:t>
            </a:r>
            <a:r>
              <a:rPr lang="en-US" dirty="0" err="1"/>
              <a:t>i.e</a:t>
            </a:r>
            <a:r>
              <a:rPr lang="en-US" dirty="0"/>
              <a:t>, Hidden Markov Models</a:t>
            </a:r>
          </a:p>
          <a:p>
            <a:endParaRPr lang="en-US" dirty="0"/>
          </a:p>
        </p:txBody>
      </p:sp>
      <p:grpSp>
        <p:nvGrpSpPr>
          <p:cNvPr id="49" name="Group 4"/>
          <p:cNvGrpSpPr>
            <a:grpSpLocks/>
          </p:cNvGrpSpPr>
          <p:nvPr/>
        </p:nvGrpSpPr>
        <p:grpSpPr bwMode="auto">
          <a:xfrm>
            <a:off x="1295400" y="3200400"/>
            <a:ext cx="5194300" cy="2251075"/>
            <a:chOff x="286" y="1764"/>
            <a:chExt cx="3272" cy="1418"/>
          </a:xfrm>
        </p:grpSpPr>
        <p:sp>
          <p:nvSpPr>
            <p:cNvPr id="50" name="Oval 5"/>
            <p:cNvSpPr>
              <a:spLocks noChangeArrowheads="1"/>
            </p:cNvSpPr>
            <p:nvPr/>
          </p:nvSpPr>
          <p:spPr bwMode="auto">
            <a:xfrm>
              <a:off x="1194" y="1782"/>
              <a:ext cx="120" cy="288"/>
            </a:xfrm>
            <a:prstGeom prst="ellipse">
              <a:avLst/>
            </a:prstGeom>
            <a:noFill/>
            <a:ln w="19050">
              <a:solidFill>
                <a:schemeClr val="hlink"/>
              </a:solidFill>
              <a:round/>
              <a:headEnd/>
              <a:tailEnd/>
            </a:ln>
            <a:effectLst/>
          </p:spPr>
          <p:txBody>
            <a:bodyPr wrap="none" anchor="ctr"/>
            <a:lstStyle/>
            <a:p>
              <a:endParaRPr lang="en-US"/>
            </a:p>
          </p:txBody>
        </p:sp>
        <p:sp>
          <p:nvSpPr>
            <p:cNvPr id="51" name="Oval 6"/>
            <p:cNvSpPr>
              <a:spLocks noChangeArrowheads="1"/>
            </p:cNvSpPr>
            <p:nvPr/>
          </p:nvSpPr>
          <p:spPr bwMode="auto">
            <a:xfrm>
              <a:off x="1176" y="2052"/>
              <a:ext cx="144" cy="144"/>
            </a:xfrm>
            <a:prstGeom prst="ellipse">
              <a:avLst/>
            </a:prstGeom>
            <a:solidFill>
              <a:srgbClr val="FC0128"/>
            </a:solidFill>
            <a:ln w="12700">
              <a:solidFill>
                <a:schemeClr val="tx1"/>
              </a:solidFill>
              <a:round/>
              <a:headEnd/>
              <a:tailEnd/>
            </a:ln>
            <a:effectLst/>
          </p:spPr>
          <p:txBody>
            <a:bodyPr wrap="none" anchor="ctr"/>
            <a:lstStyle/>
            <a:p>
              <a:endParaRPr lang="en-US"/>
            </a:p>
          </p:txBody>
        </p:sp>
        <p:sp>
          <p:nvSpPr>
            <p:cNvPr id="52" name="Line 7"/>
            <p:cNvSpPr>
              <a:spLocks noChangeShapeType="1"/>
            </p:cNvSpPr>
            <p:nvPr/>
          </p:nvSpPr>
          <p:spPr bwMode="auto">
            <a:xfrm>
              <a:off x="1314" y="1920"/>
              <a:ext cx="0" cy="48"/>
            </a:xfrm>
            <a:prstGeom prst="line">
              <a:avLst/>
            </a:prstGeom>
            <a:noFill/>
            <a:ln w="28575">
              <a:solidFill>
                <a:schemeClr val="hlink"/>
              </a:solidFill>
              <a:round/>
              <a:headEnd/>
              <a:tailEnd type="triangle" w="med" len="med"/>
            </a:ln>
            <a:effectLst/>
          </p:spPr>
          <p:txBody>
            <a:bodyPr wrap="none" anchor="ctr"/>
            <a:lstStyle/>
            <a:p>
              <a:endParaRPr lang="en-US"/>
            </a:p>
          </p:txBody>
        </p:sp>
        <p:sp>
          <p:nvSpPr>
            <p:cNvPr id="53" name="Line 8"/>
            <p:cNvSpPr>
              <a:spLocks noChangeShapeType="1"/>
            </p:cNvSpPr>
            <p:nvPr/>
          </p:nvSpPr>
          <p:spPr bwMode="auto">
            <a:xfrm>
              <a:off x="1320" y="2124"/>
              <a:ext cx="606" cy="0"/>
            </a:xfrm>
            <a:prstGeom prst="line">
              <a:avLst/>
            </a:prstGeom>
            <a:noFill/>
            <a:ln w="19050">
              <a:solidFill>
                <a:schemeClr val="hlink"/>
              </a:solidFill>
              <a:round/>
              <a:headEnd/>
              <a:tailEnd/>
            </a:ln>
            <a:effectLst/>
          </p:spPr>
          <p:txBody>
            <a:bodyPr wrap="none" anchor="ctr"/>
            <a:lstStyle/>
            <a:p>
              <a:endParaRPr lang="en-US"/>
            </a:p>
          </p:txBody>
        </p:sp>
        <p:sp>
          <p:nvSpPr>
            <p:cNvPr id="54" name="Line 9"/>
            <p:cNvSpPr>
              <a:spLocks noChangeShapeType="1"/>
            </p:cNvSpPr>
            <p:nvPr/>
          </p:nvSpPr>
          <p:spPr bwMode="auto">
            <a:xfrm>
              <a:off x="1632" y="2124"/>
              <a:ext cx="48" cy="0"/>
            </a:xfrm>
            <a:prstGeom prst="line">
              <a:avLst/>
            </a:prstGeom>
            <a:noFill/>
            <a:ln w="28575">
              <a:solidFill>
                <a:schemeClr val="hlink"/>
              </a:solidFill>
              <a:round/>
              <a:headEnd/>
              <a:tailEnd type="triangle" w="med" len="med"/>
            </a:ln>
            <a:effectLst/>
          </p:spPr>
          <p:txBody>
            <a:bodyPr wrap="none" anchor="ctr"/>
            <a:lstStyle/>
            <a:p>
              <a:endParaRPr lang="en-US"/>
            </a:p>
          </p:txBody>
        </p:sp>
        <p:grpSp>
          <p:nvGrpSpPr>
            <p:cNvPr id="55" name="Group 10"/>
            <p:cNvGrpSpPr>
              <a:grpSpLocks/>
            </p:cNvGrpSpPr>
            <p:nvPr/>
          </p:nvGrpSpPr>
          <p:grpSpPr bwMode="auto">
            <a:xfrm>
              <a:off x="2688" y="1782"/>
              <a:ext cx="120" cy="288"/>
              <a:chOff x="2688" y="1782"/>
              <a:chExt cx="120" cy="288"/>
            </a:xfrm>
          </p:grpSpPr>
          <p:sp>
            <p:nvSpPr>
              <p:cNvPr id="92" name="Oval 11"/>
              <p:cNvSpPr>
                <a:spLocks noChangeArrowheads="1"/>
              </p:cNvSpPr>
              <p:nvPr/>
            </p:nvSpPr>
            <p:spPr bwMode="auto">
              <a:xfrm>
                <a:off x="2688" y="1782"/>
                <a:ext cx="120" cy="288"/>
              </a:xfrm>
              <a:prstGeom prst="ellipse">
                <a:avLst/>
              </a:prstGeom>
              <a:noFill/>
              <a:ln w="19050">
                <a:solidFill>
                  <a:schemeClr val="hlink"/>
                </a:solidFill>
                <a:round/>
                <a:headEnd/>
                <a:tailEnd/>
              </a:ln>
              <a:effectLst/>
            </p:spPr>
            <p:txBody>
              <a:bodyPr wrap="none" anchor="ctr"/>
              <a:lstStyle/>
              <a:p>
                <a:endParaRPr lang="en-US"/>
              </a:p>
            </p:txBody>
          </p:sp>
          <p:sp>
            <p:nvSpPr>
              <p:cNvPr id="93" name="Line 12"/>
              <p:cNvSpPr>
                <a:spLocks noChangeShapeType="1"/>
              </p:cNvSpPr>
              <p:nvPr/>
            </p:nvSpPr>
            <p:spPr bwMode="auto">
              <a:xfrm>
                <a:off x="2808" y="1920"/>
                <a:ext cx="0" cy="48"/>
              </a:xfrm>
              <a:prstGeom prst="line">
                <a:avLst/>
              </a:prstGeom>
              <a:noFill/>
              <a:ln w="28575">
                <a:solidFill>
                  <a:schemeClr val="hlink"/>
                </a:solidFill>
                <a:round/>
                <a:headEnd/>
                <a:tailEnd type="triangle" w="med" len="med"/>
              </a:ln>
              <a:effectLst/>
            </p:spPr>
            <p:txBody>
              <a:bodyPr wrap="none" anchor="ctr"/>
              <a:lstStyle/>
              <a:p>
                <a:endParaRPr lang="en-US"/>
              </a:p>
            </p:txBody>
          </p:sp>
        </p:grpSp>
        <p:sp>
          <p:nvSpPr>
            <p:cNvPr id="56" name="Line 13"/>
            <p:cNvSpPr>
              <a:spLocks noChangeShapeType="1"/>
            </p:cNvSpPr>
            <p:nvPr/>
          </p:nvSpPr>
          <p:spPr bwMode="auto">
            <a:xfrm>
              <a:off x="2814" y="2124"/>
              <a:ext cx="606" cy="0"/>
            </a:xfrm>
            <a:prstGeom prst="line">
              <a:avLst/>
            </a:prstGeom>
            <a:noFill/>
            <a:ln w="19050">
              <a:solidFill>
                <a:schemeClr val="hlink"/>
              </a:solidFill>
              <a:round/>
              <a:headEnd/>
              <a:tailEnd/>
            </a:ln>
            <a:effectLst/>
          </p:spPr>
          <p:txBody>
            <a:bodyPr wrap="none" anchor="ctr"/>
            <a:lstStyle/>
            <a:p>
              <a:endParaRPr lang="en-US"/>
            </a:p>
          </p:txBody>
        </p:sp>
        <p:sp>
          <p:nvSpPr>
            <p:cNvPr id="57" name="Line 14"/>
            <p:cNvSpPr>
              <a:spLocks noChangeShapeType="1"/>
            </p:cNvSpPr>
            <p:nvPr/>
          </p:nvSpPr>
          <p:spPr bwMode="auto">
            <a:xfrm>
              <a:off x="3126" y="2124"/>
              <a:ext cx="48" cy="0"/>
            </a:xfrm>
            <a:prstGeom prst="line">
              <a:avLst/>
            </a:prstGeom>
            <a:noFill/>
            <a:ln w="28575">
              <a:solidFill>
                <a:schemeClr val="hlink"/>
              </a:solidFill>
              <a:round/>
              <a:headEnd/>
              <a:tailEnd type="triangle" w="med" len="med"/>
            </a:ln>
            <a:effectLst/>
          </p:spPr>
          <p:txBody>
            <a:bodyPr wrap="none" anchor="ctr"/>
            <a:lstStyle/>
            <a:p>
              <a:endParaRPr lang="en-US"/>
            </a:p>
          </p:txBody>
        </p:sp>
        <p:sp>
          <p:nvSpPr>
            <p:cNvPr id="58" name="Line 15"/>
            <p:cNvSpPr>
              <a:spLocks noChangeShapeType="1"/>
            </p:cNvSpPr>
            <p:nvPr/>
          </p:nvSpPr>
          <p:spPr bwMode="auto">
            <a:xfrm>
              <a:off x="2064" y="2124"/>
              <a:ext cx="606" cy="0"/>
            </a:xfrm>
            <a:prstGeom prst="line">
              <a:avLst/>
            </a:prstGeom>
            <a:noFill/>
            <a:ln w="19050">
              <a:solidFill>
                <a:schemeClr val="hlink"/>
              </a:solidFill>
              <a:round/>
              <a:headEnd/>
              <a:tailEnd/>
            </a:ln>
            <a:effectLst/>
          </p:spPr>
          <p:txBody>
            <a:bodyPr wrap="none" anchor="ctr"/>
            <a:lstStyle/>
            <a:p>
              <a:endParaRPr lang="en-US"/>
            </a:p>
          </p:txBody>
        </p:sp>
        <p:sp>
          <p:nvSpPr>
            <p:cNvPr id="59" name="Line 16"/>
            <p:cNvSpPr>
              <a:spLocks noChangeShapeType="1"/>
            </p:cNvSpPr>
            <p:nvPr/>
          </p:nvSpPr>
          <p:spPr bwMode="auto">
            <a:xfrm>
              <a:off x="2352" y="2124"/>
              <a:ext cx="48" cy="0"/>
            </a:xfrm>
            <a:prstGeom prst="line">
              <a:avLst/>
            </a:prstGeom>
            <a:noFill/>
            <a:ln w="28575">
              <a:solidFill>
                <a:schemeClr val="hlink"/>
              </a:solidFill>
              <a:round/>
              <a:headEnd/>
              <a:tailEnd type="triangle" w="med" len="med"/>
            </a:ln>
            <a:effectLst/>
          </p:spPr>
          <p:txBody>
            <a:bodyPr wrap="none" anchor="ctr"/>
            <a:lstStyle/>
            <a:p>
              <a:endParaRPr lang="en-US"/>
            </a:p>
          </p:txBody>
        </p:sp>
        <p:grpSp>
          <p:nvGrpSpPr>
            <p:cNvPr id="60" name="Group 17"/>
            <p:cNvGrpSpPr>
              <a:grpSpLocks/>
            </p:cNvGrpSpPr>
            <p:nvPr/>
          </p:nvGrpSpPr>
          <p:grpSpPr bwMode="auto">
            <a:xfrm>
              <a:off x="3432" y="1782"/>
              <a:ext cx="120" cy="288"/>
              <a:chOff x="2688" y="1782"/>
              <a:chExt cx="120" cy="288"/>
            </a:xfrm>
          </p:grpSpPr>
          <p:sp>
            <p:nvSpPr>
              <p:cNvPr id="90" name="Oval 18"/>
              <p:cNvSpPr>
                <a:spLocks noChangeArrowheads="1"/>
              </p:cNvSpPr>
              <p:nvPr/>
            </p:nvSpPr>
            <p:spPr bwMode="auto">
              <a:xfrm>
                <a:off x="2688" y="1782"/>
                <a:ext cx="120" cy="288"/>
              </a:xfrm>
              <a:prstGeom prst="ellipse">
                <a:avLst/>
              </a:prstGeom>
              <a:noFill/>
              <a:ln w="19050">
                <a:solidFill>
                  <a:schemeClr val="hlink"/>
                </a:solidFill>
                <a:round/>
                <a:headEnd/>
                <a:tailEnd/>
              </a:ln>
              <a:effectLst/>
            </p:spPr>
            <p:txBody>
              <a:bodyPr wrap="none" anchor="ctr"/>
              <a:lstStyle/>
              <a:p>
                <a:endParaRPr lang="en-US"/>
              </a:p>
            </p:txBody>
          </p:sp>
          <p:sp>
            <p:nvSpPr>
              <p:cNvPr id="91" name="Line 19"/>
              <p:cNvSpPr>
                <a:spLocks noChangeShapeType="1"/>
              </p:cNvSpPr>
              <p:nvPr/>
            </p:nvSpPr>
            <p:spPr bwMode="auto">
              <a:xfrm>
                <a:off x="2808" y="1920"/>
                <a:ext cx="0" cy="48"/>
              </a:xfrm>
              <a:prstGeom prst="line">
                <a:avLst/>
              </a:prstGeom>
              <a:noFill/>
              <a:ln w="28575">
                <a:solidFill>
                  <a:schemeClr val="hlink"/>
                </a:solidFill>
                <a:round/>
                <a:headEnd/>
                <a:tailEnd type="triangle" w="med" len="med"/>
              </a:ln>
              <a:effectLst/>
            </p:spPr>
            <p:txBody>
              <a:bodyPr wrap="none" anchor="ctr"/>
              <a:lstStyle/>
              <a:p>
                <a:endParaRPr lang="en-US"/>
              </a:p>
            </p:txBody>
          </p:sp>
        </p:grpSp>
        <p:grpSp>
          <p:nvGrpSpPr>
            <p:cNvPr id="61" name="Group 20"/>
            <p:cNvGrpSpPr>
              <a:grpSpLocks/>
            </p:cNvGrpSpPr>
            <p:nvPr/>
          </p:nvGrpSpPr>
          <p:grpSpPr bwMode="auto">
            <a:xfrm>
              <a:off x="1932" y="1782"/>
              <a:ext cx="120" cy="288"/>
              <a:chOff x="2688" y="1782"/>
              <a:chExt cx="120" cy="288"/>
            </a:xfrm>
          </p:grpSpPr>
          <p:sp>
            <p:nvSpPr>
              <p:cNvPr id="88" name="Oval 21"/>
              <p:cNvSpPr>
                <a:spLocks noChangeArrowheads="1"/>
              </p:cNvSpPr>
              <p:nvPr/>
            </p:nvSpPr>
            <p:spPr bwMode="auto">
              <a:xfrm>
                <a:off x="2688" y="1782"/>
                <a:ext cx="120" cy="288"/>
              </a:xfrm>
              <a:prstGeom prst="ellipse">
                <a:avLst/>
              </a:prstGeom>
              <a:noFill/>
              <a:ln w="19050">
                <a:solidFill>
                  <a:schemeClr val="hlink"/>
                </a:solidFill>
                <a:round/>
                <a:headEnd/>
                <a:tailEnd/>
              </a:ln>
              <a:effectLst/>
            </p:spPr>
            <p:txBody>
              <a:bodyPr wrap="none" anchor="ctr"/>
              <a:lstStyle/>
              <a:p>
                <a:endParaRPr lang="en-US"/>
              </a:p>
            </p:txBody>
          </p:sp>
          <p:sp>
            <p:nvSpPr>
              <p:cNvPr id="89" name="Line 22"/>
              <p:cNvSpPr>
                <a:spLocks noChangeShapeType="1"/>
              </p:cNvSpPr>
              <p:nvPr/>
            </p:nvSpPr>
            <p:spPr bwMode="auto">
              <a:xfrm>
                <a:off x="2808" y="1920"/>
                <a:ext cx="0" cy="48"/>
              </a:xfrm>
              <a:prstGeom prst="line">
                <a:avLst/>
              </a:prstGeom>
              <a:noFill/>
              <a:ln w="28575">
                <a:solidFill>
                  <a:schemeClr val="hlink"/>
                </a:solidFill>
                <a:round/>
                <a:headEnd/>
                <a:tailEnd type="triangle" w="med" len="med"/>
              </a:ln>
              <a:effectLst/>
            </p:spPr>
            <p:txBody>
              <a:bodyPr wrap="none" anchor="ctr"/>
              <a:lstStyle/>
              <a:p>
                <a:endParaRPr lang="en-US"/>
              </a:p>
            </p:txBody>
          </p:sp>
        </p:grpSp>
        <p:sp>
          <p:nvSpPr>
            <p:cNvPr id="62" name="Oval 23"/>
            <p:cNvSpPr>
              <a:spLocks noChangeArrowheads="1"/>
            </p:cNvSpPr>
            <p:nvPr/>
          </p:nvSpPr>
          <p:spPr bwMode="auto">
            <a:xfrm>
              <a:off x="1920" y="2052"/>
              <a:ext cx="144" cy="144"/>
            </a:xfrm>
            <a:prstGeom prst="ellipse">
              <a:avLst/>
            </a:prstGeom>
            <a:solidFill>
              <a:srgbClr val="FC0128"/>
            </a:solidFill>
            <a:ln w="12700">
              <a:solidFill>
                <a:schemeClr val="tx1"/>
              </a:solidFill>
              <a:round/>
              <a:headEnd/>
              <a:tailEnd/>
            </a:ln>
            <a:effectLst/>
          </p:spPr>
          <p:txBody>
            <a:bodyPr wrap="none" anchor="ctr"/>
            <a:lstStyle/>
            <a:p>
              <a:endParaRPr lang="en-US"/>
            </a:p>
          </p:txBody>
        </p:sp>
        <p:sp>
          <p:nvSpPr>
            <p:cNvPr id="63" name="Oval 24"/>
            <p:cNvSpPr>
              <a:spLocks noChangeArrowheads="1"/>
            </p:cNvSpPr>
            <p:nvPr/>
          </p:nvSpPr>
          <p:spPr bwMode="auto">
            <a:xfrm>
              <a:off x="3414" y="2052"/>
              <a:ext cx="144" cy="144"/>
            </a:xfrm>
            <a:prstGeom prst="ellipse">
              <a:avLst/>
            </a:prstGeom>
            <a:solidFill>
              <a:srgbClr val="FC0128"/>
            </a:solidFill>
            <a:ln w="12700">
              <a:solidFill>
                <a:schemeClr val="tx1"/>
              </a:solidFill>
              <a:round/>
              <a:headEnd/>
              <a:tailEnd/>
            </a:ln>
            <a:effectLst/>
          </p:spPr>
          <p:txBody>
            <a:bodyPr wrap="none" anchor="ctr"/>
            <a:lstStyle/>
            <a:p>
              <a:endParaRPr lang="en-US"/>
            </a:p>
          </p:txBody>
        </p:sp>
        <p:sp>
          <p:nvSpPr>
            <p:cNvPr id="64" name="Oval 25"/>
            <p:cNvSpPr>
              <a:spLocks noChangeArrowheads="1"/>
            </p:cNvSpPr>
            <p:nvPr/>
          </p:nvSpPr>
          <p:spPr bwMode="auto">
            <a:xfrm>
              <a:off x="2670" y="2052"/>
              <a:ext cx="144" cy="144"/>
            </a:xfrm>
            <a:prstGeom prst="ellipse">
              <a:avLst/>
            </a:prstGeom>
            <a:solidFill>
              <a:srgbClr val="FC0128"/>
            </a:solidFill>
            <a:ln w="12700">
              <a:solidFill>
                <a:schemeClr val="tx1"/>
              </a:solidFill>
              <a:round/>
              <a:headEnd/>
              <a:tailEnd/>
            </a:ln>
            <a:effectLst/>
          </p:spPr>
          <p:txBody>
            <a:bodyPr wrap="none" anchor="ctr"/>
            <a:lstStyle/>
            <a:p>
              <a:endParaRPr lang="en-US"/>
            </a:p>
          </p:txBody>
        </p:sp>
        <p:sp>
          <p:nvSpPr>
            <p:cNvPr id="65" name="Text Box 26"/>
            <p:cNvSpPr txBox="1">
              <a:spLocks noChangeArrowheads="1"/>
            </p:cNvSpPr>
            <p:nvPr/>
          </p:nvSpPr>
          <p:spPr bwMode="auto">
            <a:xfrm>
              <a:off x="906" y="1764"/>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11</a:t>
              </a:r>
              <a:endParaRPr lang="en-US" sz="2400" i="0">
                <a:ea typeface="Times New Roman (Hebrew)" charset="0"/>
                <a:cs typeface="Times New Roman (Hebrew)" charset="0"/>
              </a:endParaRPr>
            </a:p>
          </p:txBody>
        </p:sp>
        <p:sp>
          <p:nvSpPr>
            <p:cNvPr id="66" name="Text Box 27"/>
            <p:cNvSpPr txBox="1">
              <a:spLocks noChangeArrowheads="1"/>
            </p:cNvSpPr>
            <p:nvPr/>
          </p:nvSpPr>
          <p:spPr bwMode="auto">
            <a:xfrm>
              <a:off x="1638" y="1776"/>
              <a:ext cx="336" cy="250"/>
            </a:xfrm>
            <a:prstGeom prst="rect">
              <a:avLst/>
            </a:prstGeom>
            <a:noFill/>
            <a:ln w="12700">
              <a:noFill/>
              <a:miter lim="800000"/>
              <a:headEnd/>
              <a:tailEnd/>
            </a:ln>
            <a:effectLst/>
          </p:spPr>
          <p:txBody>
            <a:bodyPr>
              <a:spAutoFit/>
            </a:bodyPr>
            <a:lstStyle/>
            <a:p>
              <a:pPr>
                <a:spcBef>
                  <a:spcPct val="50000"/>
                </a:spcBef>
              </a:pPr>
              <a:r>
                <a:rPr lang="en-US" sz="2000" i="0">
                  <a:ea typeface="Times New Roman (Hebrew)" charset="0"/>
                  <a:cs typeface="Times New Roman (Hebrew)" charset="0"/>
                </a:rPr>
                <a:t>a</a:t>
              </a:r>
              <a:r>
                <a:rPr lang="en-US" sz="2000" b="1" i="0" baseline="-25000">
                  <a:ea typeface="Times New Roman (Hebrew)" charset="0"/>
                  <a:cs typeface="Times New Roman (Hebrew)" charset="0"/>
                </a:rPr>
                <a:t>22</a:t>
              </a:r>
              <a:endParaRPr lang="en-US" sz="2800" i="0">
                <a:ea typeface="Times New Roman (Hebrew)" charset="0"/>
                <a:cs typeface="Times New Roman (Hebrew)" charset="0"/>
              </a:endParaRPr>
            </a:p>
          </p:txBody>
        </p:sp>
        <p:sp>
          <p:nvSpPr>
            <p:cNvPr id="67" name="Text Box 28"/>
            <p:cNvSpPr txBox="1">
              <a:spLocks noChangeArrowheads="1"/>
            </p:cNvSpPr>
            <p:nvPr/>
          </p:nvSpPr>
          <p:spPr bwMode="auto">
            <a:xfrm>
              <a:off x="2406" y="1770"/>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33</a:t>
              </a:r>
              <a:endParaRPr lang="en-US" sz="2400" i="0">
                <a:ea typeface="Times New Roman (Hebrew)" charset="0"/>
                <a:cs typeface="Times New Roman (Hebrew)" charset="0"/>
              </a:endParaRPr>
            </a:p>
          </p:txBody>
        </p:sp>
        <p:sp>
          <p:nvSpPr>
            <p:cNvPr id="68" name="Text Box 29"/>
            <p:cNvSpPr txBox="1">
              <a:spLocks noChangeArrowheads="1"/>
            </p:cNvSpPr>
            <p:nvPr/>
          </p:nvSpPr>
          <p:spPr bwMode="auto">
            <a:xfrm>
              <a:off x="3150" y="1764"/>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44</a:t>
              </a:r>
              <a:endParaRPr lang="en-US" sz="2400" i="0">
                <a:ea typeface="Times New Roman (Hebrew)" charset="0"/>
                <a:cs typeface="Times New Roman (Hebrew)" charset="0"/>
              </a:endParaRPr>
            </a:p>
          </p:txBody>
        </p:sp>
        <p:sp>
          <p:nvSpPr>
            <p:cNvPr id="69" name="Text Box 30"/>
            <p:cNvSpPr txBox="1">
              <a:spLocks noChangeArrowheads="1"/>
            </p:cNvSpPr>
            <p:nvPr/>
          </p:nvSpPr>
          <p:spPr bwMode="auto">
            <a:xfrm>
              <a:off x="1440" y="2091"/>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12</a:t>
              </a:r>
              <a:endParaRPr lang="en-US" sz="2400" i="0">
                <a:ea typeface="Times New Roman (Hebrew)" charset="0"/>
                <a:cs typeface="Times New Roman (Hebrew)" charset="0"/>
              </a:endParaRPr>
            </a:p>
          </p:txBody>
        </p:sp>
        <p:sp>
          <p:nvSpPr>
            <p:cNvPr id="70" name="Text Box 31"/>
            <p:cNvSpPr txBox="1">
              <a:spLocks noChangeArrowheads="1"/>
            </p:cNvSpPr>
            <p:nvPr/>
          </p:nvSpPr>
          <p:spPr bwMode="auto">
            <a:xfrm>
              <a:off x="2208" y="2133"/>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23</a:t>
              </a:r>
              <a:endParaRPr lang="en-US" sz="2400" i="0">
                <a:ea typeface="Times New Roman (Hebrew)" charset="0"/>
                <a:cs typeface="Times New Roman (Hebrew)" charset="0"/>
              </a:endParaRPr>
            </a:p>
          </p:txBody>
        </p:sp>
        <p:sp>
          <p:nvSpPr>
            <p:cNvPr id="71" name="Text Box 32"/>
            <p:cNvSpPr txBox="1">
              <a:spLocks noChangeArrowheads="1"/>
            </p:cNvSpPr>
            <p:nvPr/>
          </p:nvSpPr>
          <p:spPr bwMode="auto">
            <a:xfrm>
              <a:off x="2976" y="2115"/>
              <a:ext cx="336" cy="231"/>
            </a:xfrm>
            <a:prstGeom prst="rect">
              <a:avLst/>
            </a:prstGeom>
            <a:noFill/>
            <a:ln w="12700">
              <a:noFill/>
              <a:miter lim="800000"/>
              <a:headEnd/>
              <a:tailEnd/>
            </a:ln>
            <a:effectLst/>
          </p:spPr>
          <p:txBody>
            <a:bodyPr>
              <a:spAutoFit/>
            </a:bodyPr>
            <a:lstStyle/>
            <a:p>
              <a:pPr>
                <a:spcBef>
                  <a:spcPct val="50000"/>
                </a:spcBef>
              </a:pPr>
              <a:r>
                <a:rPr lang="en-US" sz="1800" i="0">
                  <a:ea typeface="Times New Roman (Hebrew)" charset="0"/>
                  <a:cs typeface="Times New Roman (Hebrew)" charset="0"/>
                </a:rPr>
                <a:t>a</a:t>
              </a:r>
              <a:r>
                <a:rPr lang="en-US" sz="1800" b="1" i="0" baseline="-25000">
                  <a:ea typeface="Times New Roman (Hebrew)" charset="0"/>
                  <a:cs typeface="Times New Roman (Hebrew)" charset="0"/>
                </a:rPr>
                <a:t>34</a:t>
              </a:r>
              <a:endParaRPr lang="en-US" sz="2400" i="0">
                <a:ea typeface="Times New Roman (Hebrew)" charset="0"/>
                <a:cs typeface="Times New Roman (Hebrew)" charset="0"/>
              </a:endParaRPr>
            </a:p>
          </p:txBody>
        </p:sp>
        <p:sp>
          <p:nvSpPr>
            <p:cNvPr id="72" name="Line 33"/>
            <p:cNvSpPr>
              <a:spLocks noChangeShapeType="1"/>
            </p:cNvSpPr>
            <p:nvPr/>
          </p:nvSpPr>
          <p:spPr bwMode="auto">
            <a:xfrm flipH="1">
              <a:off x="400" y="2196"/>
              <a:ext cx="842" cy="531"/>
            </a:xfrm>
            <a:prstGeom prst="line">
              <a:avLst/>
            </a:prstGeom>
            <a:noFill/>
            <a:ln w="12700">
              <a:solidFill>
                <a:srgbClr val="114FFB"/>
              </a:solidFill>
              <a:round/>
              <a:headEnd/>
              <a:tailEnd/>
            </a:ln>
            <a:effectLst/>
          </p:spPr>
          <p:txBody>
            <a:bodyPr wrap="none" anchor="ctr"/>
            <a:lstStyle/>
            <a:p>
              <a:endParaRPr lang="en-US"/>
            </a:p>
          </p:txBody>
        </p:sp>
        <p:sp>
          <p:nvSpPr>
            <p:cNvPr id="73" name="Line 34"/>
            <p:cNvSpPr>
              <a:spLocks noChangeShapeType="1"/>
            </p:cNvSpPr>
            <p:nvPr/>
          </p:nvSpPr>
          <p:spPr bwMode="auto">
            <a:xfrm flipH="1">
              <a:off x="906" y="2196"/>
              <a:ext cx="336" cy="636"/>
            </a:xfrm>
            <a:prstGeom prst="line">
              <a:avLst/>
            </a:prstGeom>
            <a:noFill/>
            <a:ln w="12700">
              <a:solidFill>
                <a:srgbClr val="114FFB"/>
              </a:solidFill>
              <a:round/>
              <a:headEnd/>
              <a:tailEnd/>
            </a:ln>
            <a:effectLst/>
          </p:spPr>
          <p:txBody>
            <a:bodyPr wrap="none" anchor="ctr"/>
            <a:lstStyle/>
            <a:p>
              <a:endParaRPr lang="en-US"/>
            </a:p>
          </p:txBody>
        </p:sp>
        <p:sp>
          <p:nvSpPr>
            <p:cNvPr id="74" name="Line 35"/>
            <p:cNvSpPr>
              <a:spLocks noChangeShapeType="1"/>
            </p:cNvSpPr>
            <p:nvPr/>
          </p:nvSpPr>
          <p:spPr bwMode="auto">
            <a:xfrm>
              <a:off x="1242" y="2196"/>
              <a:ext cx="390" cy="636"/>
            </a:xfrm>
            <a:prstGeom prst="line">
              <a:avLst/>
            </a:prstGeom>
            <a:noFill/>
            <a:ln w="12700">
              <a:solidFill>
                <a:srgbClr val="114FFB"/>
              </a:solidFill>
              <a:round/>
              <a:headEnd/>
              <a:tailEnd/>
            </a:ln>
            <a:effectLst/>
          </p:spPr>
          <p:txBody>
            <a:bodyPr wrap="none" anchor="ctr"/>
            <a:lstStyle/>
            <a:p>
              <a:endParaRPr lang="en-US"/>
            </a:p>
          </p:txBody>
        </p:sp>
        <p:sp>
          <p:nvSpPr>
            <p:cNvPr id="75" name="Line 36"/>
            <p:cNvSpPr>
              <a:spLocks noChangeShapeType="1"/>
            </p:cNvSpPr>
            <p:nvPr/>
          </p:nvSpPr>
          <p:spPr bwMode="auto">
            <a:xfrm>
              <a:off x="1242" y="2196"/>
              <a:ext cx="1110" cy="492"/>
            </a:xfrm>
            <a:prstGeom prst="line">
              <a:avLst/>
            </a:prstGeom>
            <a:noFill/>
            <a:ln w="12700">
              <a:solidFill>
                <a:srgbClr val="114FFB"/>
              </a:solidFill>
              <a:round/>
              <a:headEnd/>
              <a:tailEnd/>
            </a:ln>
            <a:effectLst/>
          </p:spPr>
          <p:txBody>
            <a:bodyPr wrap="none" anchor="ctr"/>
            <a:lstStyle/>
            <a:p>
              <a:endParaRPr lang="en-US"/>
            </a:p>
          </p:txBody>
        </p:sp>
        <p:sp>
          <p:nvSpPr>
            <p:cNvPr id="76" name="Text Box 37"/>
            <p:cNvSpPr txBox="1">
              <a:spLocks noChangeArrowheads="1"/>
            </p:cNvSpPr>
            <p:nvPr/>
          </p:nvSpPr>
          <p:spPr bwMode="auto">
            <a:xfrm>
              <a:off x="368" y="2374"/>
              <a:ext cx="330" cy="231"/>
            </a:xfrm>
            <a:prstGeom prst="rect">
              <a:avLst/>
            </a:prstGeom>
            <a:noFill/>
            <a:ln w="12700">
              <a:noFill/>
              <a:miter lim="800000"/>
              <a:headEnd/>
              <a:tailEnd/>
            </a:ln>
            <a:effectLst/>
          </p:spPr>
          <p:txBody>
            <a:bodyPr>
              <a:spAutoFit/>
            </a:bodyPr>
            <a:lstStyle/>
            <a:p>
              <a:pPr>
                <a:spcBef>
                  <a:spcPct val="50000"/>
                </a:spcBef>
              </a:pPr>
              <a:r>
                <a:rPr lang="en-US" sz="1800" i="0">
                  <a:solidFill>
                    <a:srgbClr val="114FFB"/>
                  </a:solidFill>
                  <a:ea typeface="Times New Roman (Hebrew)" charset="0"/>
                  <a:cs typeface="Times New Roman (Hebrew)" charset="0"/>
                </a:rPr>
                <a:t>b</a:t>
              </a:r>
              <a:r>
                <a:rPr lang="en-US" sz="1800" b="1" i="0" baseline="-25000">
                  <a:solidFill>
                    <a:srgbClr val="114FFB"/>
                  </a:solidFill>
                  <a:ea typeface="Times New Roman (Hebrew)" charset="0"/>
                  <a:cs typeface="Times New Roman (Hebrew)" charset="0"/>
                </a:rPr>
                <a:t>11</a:t>
              </a:r>
              <a:endParaRPr lang="en-US" sz="1800" b="1" i="0" baseline="-25000">
                <a:solidFill>
                  <a:schemeClr val="bg2"/>
                </a:solidFill>
                <a:ea typeface="Times New Roman (Hebrew)" charset="0"/>
                <a:cs typeface="Times New Roman (Hebrew)" charset="0"/>
              </a:endParaRPr>
            </a:p>
          </p:txBody>
        </p:sp>
        <p:sp>
          <p:nvSpPr>
            <p:cNvPr id="77" name="Text Box 38"/>
            <p:cNvSpPr txBox="1">
              <a:spLocks noChangeArrowheads="1"/>
            </p:cNvSpPr>
            <p:nvPr/>
          </p:nvSpPr>
          <p:spPr bwMode="auto">
            <a:xfrm>
              <a:off x="2022" y="2364"/>
              <a:ext cx="330" cy="231"/>
            </a:xfrm>
            <a:prstGeom prst="rect">
              <a:avLst/>
            </a:prstGeom>
            <a:noFill/>
            <a:ln w="12700">
              <a:noFill/>
              <a:miter lim="800000"/>
              <a:headEnd/>
              <a:tailEnd/>
            </a:ln>
            <a:effectLst/>
          </p:spPr>
          <p:txBody>
            <a:bodyPr>
              <a:spAutoFit/>
            </a:bodyPr>
            <a:lstStyle/>
            <a:p>
              <a:pPr>
                <a:spcBef>
                  <a:spcPct val="50000"/>
                </a:spcBef>
              </a:pPr>
              <a:r>
                <a:rPr lang="en-US" sz="1800" i="0">
                  <a:solidFill>
                    <a:srgbClr val="114FFB"/>
                  </a:solidFill>
                  <a:ea typeface="Times New Roman (Hebrew)" charset="0"/>
                  <a:cs typeface="Times New Roman (Hebrew)" charset="0"/>
                </a:rPr>
                <a:t>b</a:t>
              </a:r>
              <a:r>
                <a:rPr lang="en-US" sz="1800" b="1" i="0" baseline="-25000">
                  <a:solidFill>
                    <a:srgbClr val="114FFB"/>
                  </a:solidFill>
                  <a:ea typeface="Times New Roman (Hebrew)" charset="0"/>
                  <a:cs typeface="Times New Roman (Hebrew)" charset="0"/>
                </a:rPr>
                <a:t>14</a:t>
              </a:r>
              <a:endParaRPr lang="en-US" sz="1800" b="1" i="0" baseline="-25000">
                <a:solidFill>
                  <a:schemeClr val="bg2"/>
                </a:solidFill>
                <a:ea typeface="Times New Roman (Hebrew)" charset="0"/>
                <a:cs typeface="Times New Roman (Hebrew)" charset="0"/>
              </a:endParaRPr>
            </a:p>
          </p:txBody>
        </p:sp>
        <p:sp>
          <p:nvSpPr>
            <p:cNvPr id="78" name="Text Box 39"/>
            <p:cNvSpPr txBox="1">
              <a:spLocks noChangeArrowheads="1"/>
            </p:cNvSpPr>
            <p:nvPr/>
          </p:nvSpPr>
          <p:spPr bwMode="auto">
            <a:xfrm>
              <a:off x="662" y="2552"/>
              <a:ext cx="330" cy="231"/>
            </a:xfrm>
            <a:prstGeom prst="rect">
              <a:avLst/>
            </a:prstGeom>
            <a:noFill/>
            <a:ln w="12700">
              <a:noFill/>
              <a:miter lim="800000"/>
              <a:headEnd/>
              <a:tailEnd/>
            </a:ln>
            <a:effectLst/>
          </p:spPr>
          <p:txBody>
            <a:bodyPr>
              <a:spAutoFit/>
            </a:bodyPr>
            <a:lstStyle/>
            <a:p>
              <a:pPr>
                <a:spcBef>
                  <a:spcPct val="50000"/>
                </a:spcBef>
              </a:pPr>
              <a:r>
                <a:rPr lang="en-US" sz="1800" i="0">
                  <a:solidFill>
                    <a:srgbClr val="114FFB"/>
                  </a:solidFill>
                  <a:ea typeface="Times New Roman (Hebrew)" charset="0"/>
                  <a:cs typeface="Times New Roman (Hebrew)" charset="0"/>
                </a:rPr>
                <a:t>b</a:t>
              </a:r>
              <a:r>
                <a:rPr lang="en-US" sz="1800" b="1" i="0" baseline="-25000">
                  <a:solidFill>
                    <a:srgbClr val="114FFB"/>
                  </a:solidFill>
                  <a:ea typeface="Times New Roman (Hebrew)" charset="0"/>
                  <a:cs typeface="Times New Roman (Hebrew)" charset="0"/>
                </a:rPr>
                <a:t>12</a:t>
              </a:r>
              <a:endParaRPr lang="en-US" sz="1800" b="1" i="0" baseline="-25000">
                <a:solidFill>
                  <a:schemeClr val="bg2"/>
                </a:solidFill>
                <a:ea typeface="Times New Roman (Hebrew)" charset="0"/>
                <a:cs typeface="Times New Roman (Hebrew)" charset="0"/>
              </a:endParaRPr>
            </a:p>
          </p:txBody>
        </p:sp>
        <p:sp>
          <p:nvSpPr>
            <p:cNvPr id="79" name="Text Box 40"/>
            <p:cNvSpPr txBox="1">
              <a:spLocks noChangeArrowheads="1"/>
            </p:cNvSpPr>
            <p:nvPr/>
          </p:nvSpPr>
          <p:spPr bwMode="auto">
            <a:xfrm>
              <a:off x="1440" y="2457"/>
              <a:ext cx="330" cy="231"/>
            </a:xfrm>
            <a:prstGeom prst="rect">
              <a:avLst/>
            </a:prstGeom>
            <a:noFill/>
            <a:ln w="12700">
              <a:noFill/>
              <a:miter lim="800000"/>
              <a:headEnd/>
              <a:tailEnd/>
            </a:ln>
            <a:effectLst/>
          </p:spPr>
          <p:txBody>
            <a:bodyPr>
              <a:spAutoFit/>
            </a:bodyPr>
            <a:lstStyle/>
            <a:p>
              <a:pPr>
                <a:spcBef>
                  <a:spcPct val="50000"/>
                </a:spcBef>
              </a:pPr>
              <a:r>
                <a:rPr lang="en-US" sz="1800" i="0">
                  <a:solidFill>
                    <a:srgbClr val="114FFB"/>
                  </a:solidFill>
                  <a:ea typeface="Times New Roman (Hebrew)" charset="0"/>
                  <a:cs typeface="Times New Roman (Hebrew)" charset="0"/>
                </a:rPr>
                <a:t>b</a:t>
              </a:r>
              <a:r>
                <a:rPr lang="en-US" sz="1800" b="1" i="0" baseline="-25000">
                  <a:solidFill>
                    <a:srgbClr val="114FFB"/>
                  </a:solidFill>
                  <a:ea typeface="Times New Roman (Hebrew)" charset="0"/>
                  <a:cs typeface="Times New Roman (Hebrew)" charset="0"/>
                </a:rPr>
                <a:t>13</a:t>
              </a:r>
              <a:endParaRPr lang="en-US" sz="1800" b="1" i="0" baseline="-25000">
                <a:solidFill>
                  <a:schemeClr val="bg2"/>
                </a:solidFill>
                <a:ea typeface="Times New Roman (Hebrew)" charset="0"/>
                <a:cs typeface="Times New Roman (Hebrew)" charset="0"/>
              </a:endParaRPr>
            </a:p>
          </p:txBody>
        </p:sp>
        <p:sp>
          <p:nvSpPr>
            <p:cNvPr id="80" name="Oval 41"/>
            <p:cNvSpPr>
              <a:spLocks noChangeArrowheads="1"/>
            </p:cNvSpPr>
            <p:nvPr/>
          </p:nvSpPr>
          <p:spPr bwMode="auto">
            <a:xfrm>
              <a:off x="2352" y="2639"/>
              <a:ext cx="144" cy="144"/>
            </a:xfrm>
            <a:prstGeom prst="ellipse">
              <a:avLst/>
            </a:prstGeom>
            <a:solidFill>
              <a:srgbClr val="114FFB"/>
            </a:solidFill>
            <a:ln w="12700">
              <a:solidFill>
                <a:schemeClr val="tx1"/>
              </a:solidFill>
              <a:round/>
              <a:headEnd/>
              <a:tailEnd/>
            </a:ln>
            <a:effectLst/>
          </p:spPr>
          <p:txBody>
            <a:bodyPr wrap="none" anchor="ctr"/>
            <a:lstStyle/>
            <a:p>
              <a:endParaRPr lang="en-US"/>
            </a:p>
          </p:txBody>
        </p:sp>
        <p:sp>
          <p:nvSpPr>
            <p:cNvPr id="81" name="Oval 42"/>
            <p:cNvSpPr>
              <a:spLocks noChangeArrowheads="1"/>
            </p:cNvSpPr>
            <p:nvPr/>
          </p:nvSpPr>
          <p:spPr bwMode="auto">
            <a:xfrm>
              <a:off x="1589" y="2788"/>
              <a:ext cx="144" cy="144"/>
            </a:xfrm>
            <a:prstGeom prst="ellipse">
              <a:avLst/>
            </a:prstGeom>
            <a:solidFill>
              <a:srgbClr val="114FFB"/>
            </a:solidFill>
            <a:ln w="12700">
              <a:solidFill>
                <a:schemeClr val="tx1"/>
              </a:solidFill>
              <a:round/>
              <a:headEnd/>
              <a:tailEnd/>
            </a:ln>
            <a:effectLst/>
          </p:spPr>
          <p:txBody>
            <a:bodyPr wrap="none" anchor="ctr"/>
            <a:lstStyle/>
            <a:p>
              <a:endParaRPr lang="en-US"/>
            </a:p>
          </p:txBody>
        </p:sp>
        <p:sp>
          <p:nvSpPr>
            <p:cNvPr id="82" name="Oval 43"/>
            <p:cNvSpPr>
              <a:spLocks noChangeArrowheads="1"/>
            </p:cNvSpPr>
            <p:nvPr/>
          </p:nvSpPr>
          <p:spPr bwMode="auto">
            <a:xfrm>
              <a:off x="821" y="2807"/>
              <a:ext cx="144" cy="144"/>
            </a:xfrm>
            <a:prstGeom prst="ellipse">
              <a:avLst/>
            </a:prstGeom>
            <a:solidFill>
              <a:srgbClr val="114FFB"/>
            </a:solidFill>
            <a:ln w="12700">
              <a:solidFill>
                <a:schemeClr val="tx1"/>
              </a:solidFill>
              <a:round/>
              <a:headEnd/>
              <a:tailEnd/>
            </a:ln>
            <a:effectLst/>
          </p:spPr>
          <p:txBody>
            <a:bodyPr wrap="none" anchor="ctr"/>
            <a:lstStyle/>
            <a:p>
              <a:endParaRPr lang="en-US"/>
            </a:p>
          </p:txBody>
        </p:sp>
        <p:sp>
          <p:nvSpPr>
            <p:cNvPr id="83" name="Oval 44"/>
            <p:cNvSpPr>
              <a:spLocks noChangeArrowheads="1"/>
            </p:cNvSpPr>
            <p:nvPr/>
          </p:nvSpPr>
          <p:spPr bwMode="auto">
            <a:xfrm>
              <a:off x="288" y="2688"/>
              <a:ext cx="144" cy="144"/>
            </a:xfrm>
            <a:prstGeom prst="ellipse">
              <a:avLst/>
            </a:prstGeom>
            <a:solidFill>
              <a:srgbClr val="114FFB"/>
            </a:solidFill>
            <a:ln w="12700">
              <a:solidFill>
                <a:schemeClr val="tx1"/>
              </a:solidFill>
              <a:round/>
              <a:headEnd/>
              <a:tailEnd/>
            </a:ln>
            <a:effectLst/>
          </p:spPr>
          <p:txBody>
            <a:bodyPr wrap="none" anchor="ctr"/>
            <a:lstStyle/>
            <a:p>
              <a:endParaRPr lang="en-US"/>
            </a:p>
          </p:txBody>
        </p:sp>
        <p:sp>
          <p:nvSpPr>
            <p:cNvPr id="84" name="Text Box 45"/>
            <p:cNvSpPr txBox="1">
              <a:spLocks noChangeArrowheads="1"/>
            </p:cNvSpPr>
            <p:nvPr/>
          </p:nvSpPr>
          <p:spPr bwMode="auto">
            <a:xfrm>
              <a:off x="286" y="2792"/>
              <a:ext cx="288" cy="250"/>
            </a:xfrm>
            <a:prstGeom prst="rect">
              <a:avLst/>
            </a:prstGeom>
            <a:noFill/>
            <a:ln w="12700">
              <a:noFill/>
              <a:miter lim="800000"/>
              <a:headEnd/>
              <a:tailEnd/>
            </a:ln>
            <a:effectLst/>
          </p:spPr>
          <p:txBody>
            <a:bodyPr>
              <a:spAutoFit/>
            </a:bodyPr>
            <a:lstStyle/>
            <a:p>
              <a:pPr>
                <a:spcBef>
                  <a:spcPct val="50000"/>
                </a:spcBef>
              </a:pPr>
              <a:r>
                <a:rPr lang="en-US" sz="2000" i="0">
                  <a:ea typeface="Times New Roman (Hebrew)" charset="0"/>
                  <a:cs typeface="Times New Roman (Hebrew)" charset="0"/>
                </a:rPr>
                <a:t>1</a:t>
              </a:r>
              <a:endParaRPr lang="en-US" sz="2400" i="0">
                <a:ea typeface="Times New Roman (Hebrew)" charset="0"/>
                <a:cs typeface="Times New Roman (Hebrew)" charset="0"/>
              </a:endParaRPr>
            </a:p>
          </p:txBody>
        </p:sp>
        <p:sp>
          <p:nvSpPr>
            <p:cNvPr id="85" name="Text Box 46"/>
            <p:cNvSpPr txBox="1">
              <a:spLocks noChangeArrowheads="1"/>
            </p:cNvSpPr>
            <p:nvPr/>
          </p:nvSpPr>
          <p:spPr bwMode="auto">
            <a:xfrm>
              <a:off x="888" y="2932"/>
              <a:ext cx="288" cy="250"/>
            </a:xfrm>
            <a:prstGeom prst="rect">
              <a:avLst/>
            </a:prstGeom>
            <a:noFill/>
            <a:ln w="12700">
              <a:noFill/>
              <a:miter lim="800000"/>
              <a:headEnd/>
              <a:tailEnd/>
            </a:ln>
            <a:effectLst/>
          </p:spPr>
          <p:txBody>
            <a:bodyPr>
              <a:spAutoFit/>
            </a:bodyPr>
            <a:lstStyle/>
            <a:p>
              <a:pPr>
                <a:spcBef>
                  <a:spcPct val="50000"/>
                </a:spcBef>
              </a:pPr>
              <a:r>
                <a:rPr lang="en-US" sz="2000" i="0">
                  <a:ea typeface="Times New Roman (Hebrew)" charset="0"/>
                  <a:cs typeface="Times New Roman (Hebrew)" charset="0"/>
                </a:rPr>
                <a:t>2</a:t>
              </a:r>
              <a:endParaRPr lang="en-US" sz="2400" i="0">
                <a:ea typeface="Times New Roman (Hebrew)" charset="0"/>
                <a:cs typeface="Times New Roman (Hebrew)" charset="0"/>
              </a:endParaRPr>
            </a:p>
          </p:txBody>
        </p:sp>
        <p:sp>
          <p:nvSpPr>
            <p:cNvPr id="86" name="Text Box 47"/>
            <p:cNvSpPr txBox="1">
              <a:spLocks noChangeArrowheads="1"/>
            </p:cNvSpPr>
            <p:nvPr/>
          </p:nvSpPr>
          <p:spPr bwMode="auto">
            <a:xfrm>
              <a:off x="1644" y="2888"/>
              <a:ext cx="288" cy="250"/>
            </a:xfrm>
            <a:prstGeom prst="rect">
              <a:avLst/>
            </a:prstGeom>
            <a:noFill/>
            <a:ln w="12700">
              <a:noFill/>
              <a:miter lim="800000"/>
              <a:headEnd/>
              <a:tailEnd/>
            </a:ln>
            <a:effectLst/>
          </p:spPr>
          <p:txBody>
            <a:bodyPr>
              <a:spAutoFit/>
            </a:bodyPr>
            <a:lstStyle/>
            <a:p>
              <a:pPr>
                <a:spcBef>
                  <a:spcPct val="50000"/>
                </a:spcBef>
              </a:pPr>
              <a:r>
                <a:rPr lang="en-US" sz="2000" i="0">
                  <a:ea typeface="Times New Roman (Hebrew)" charset="0"/>
                  <a:cs typeface="Times New Roman (Hebrew)" charset="0"/>
                </a:rPr>
                <a:t>3</a:t>
              </a:r>
              <a:endParaRPr lang="en-US" sz="2400" i="0">
                <a:ea typeface="Times New Roman (Hebrew)" charset="0"/>
                <a:cs typeface="Times New Roman (Hebrew)" charset="0"/>
              </a:endParaRPr>
            </a:p>
          </p:txBody>
        </p:sp>
        <p:sp>
          <p:nvSpPr>
            <p:cNvPr id="87" name="Text Box 48"/>
            <p:cNvSpPr txBox="1">
              <a:spLocks noChangeArrowheads="1"/>
            </p:cNvSpPr>
            <p:nvPr/>
          </p:nvSpPr>
          <p:spPr bwMode="auto">
            <a:xfrm>
              <a:off x="2454" y="2682"/>
              <a:ext cx="288" cy="250"/>
            </a:xfrm>
            <a:prstGeom prst="rect">
              <a:avLst/>
            </a:prstGeom>
            <a:noFill/>
            <a:ln w="12700">
              <a:noFill/>
              <a:miter lim="800000"/>
              <a:headEnd/>
              <a:tailEnd/>
            </a:ln>
            <a:effectLst/>
          </p:spPr>
          <p:txBody>
            <a:bodyPr>
              <a:spAutoFit/>
            </a:bodyPr>
            <a:lstStyle/>
            <a:p>
              <a:pPr>
                <a:spcBef>
                  <a:spcPct val="50000"/>
                </a:spcBef>
              </a:pPr>
              <a:r>
                <a:rPr lang="en-US" sz="2000" i="0">
                  <a:ea typeface="Times New Roman (Hebrew)" charset="0"/>
                  <a:cs typeface="Times New Roman (Hebrew)" charset="0"/>
                </a:rPr>
                <a:t>4</a:t>
              </a:r>
              <a:endParaRPr lang="en-US" sz="2400" i="0">
                <a:ea typeface="Times New Roman (Hebrew)" charset="0"/>
                <a:cs typeface="Times New Roman (Hebrew)"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Hidden Markov model</a:t>
            </a:r>
          </a:p>
        </p:txBody>
      </p:sp>
      <p:sp>
        <p:nvSpPr>
          <p:cNvPr id="3" name="Content Placeholder 2"/>
          <p:cNvSpPr>
            <a:spLocks noGrp="1"/>
          </p:cNvSpPr>
          <p:nvPr>
            <p:ph idx="1"/>
          </p:nvPr>
        </p:nvSpPr>
        <p:spPr/>
        <p:txBody>
          <a:bodyPr/>
          <a:lstStyle/>
          <a:p>
            <a:pPr>
              <a:lnSpc>
                <a:spcPct val="75000"/>
              </a:lnSpc>
              <a:spcBef>
                <a:spcPct val="50000"/>
              </a:spcBef>
            </a:pPr>
            <a:r>
              <a:rPr lang="en-US" dirty="0" err="1">
                <a:ea typeface="Times New Roman (Hebrew)" charset="0"/>
                <a:cs typeface="Times New Roman (Hebrew)" charset="0"/>
              </a:rPr>
              <a:t>a</a:t>
            </a:r>
            <a:r>
              <a:rPr lang="en-US" b="1" baseline="-25000" dirty="0" err="1">
                <a:ea typeface="Times New Roman (Hebrew)" charset="0"/>
                <a:cs typeface="Times New Roman (Hebrew)" charset="0"/>
              </a:rPr>
              <a:t>ij</a:t>
            </a:r>
            <a:r>
              <a:rPr lang="en-US" dirty="0">
                <a:ea typeface="Times New Roman (Hebrew)" charset="0"/>
                <a:cs typeface="Times New Roman (Hebrew)" charset="0"/>
              </a:rPr>
              <a:t> are </a:t>
            </a:r>
            <a:r>
              <a:rPr lang="en-US" dirty="0">
                <a:solidFill>
                  <a:schemeClr val="hlink"/>
                </a:solidFill>
                <a:ea typeface="Times New Roman (Hebrew)" charset="0"/>
                <a:cs typeface="Times New Roman (Hebrew)" charset="0"/>
              </a:rPr>
              <a:t>state transition</a:t>
            </a:r>
            <a:r>
              <a:rPr lang="en-US" dirty="0">
                <a:ea typeface="Times New Roman (Hebrew)" charset="0"/>
                <a:cs typeface="Times New Roman (Hebrew)" charset="0"/>
              </a:rPr>
              <a:t> probabilities.</a:t>
            </a:r>
          </a:p>
          <a:p>
            <a:pPr>
              <a:lnSpc>
                <a:spcPct val="75000"/>
              </a:lnSpc>
              <a:spcBef>
                <a:spcPct val="50000"/>
              </a:spcBef>
            </a:pPr>
            <a:r>
              <a:rPr lang="en-US" dirty="0" err="1">
                <a:ea typeface="Times New Roman (Hebrew)" charset="0"/>
                <a:cs typeface="Times New Roman (Hebrew)" charset="0"/>
              </a:rPr>
              <a:t>b</a:t>
            </a:r>
            <a:r>
              <a:rPr lang="en-US" b="1" baseline="-25000" dirty="0" err="1">
                <a:ea typeface="Times New Roman (Hebrew)" charset="0"/>
                <a:cs typeface="Times New Roman (Hebrew)" charset="0"/>
              </a:rPr>
              <a:t>ik</a:t>
            </a:r>
            <a:r>
              <a:rPr lang="en-US" dirty="0">
                <a:ea typeface="Times New Roman (Hebrew)" charset="0"/>
                <a:cs typeface="Times New Roman (Hebrew)" charset="0"/>
              </a:rPr>
              <a:t> are </a:t>
            </a:r>
            <a:r>
              <a:rPr lang="en-US" dirty="0">
                <a:solidFill>
                  <a:schemeClr val="hlink"/>
                </a:solidFill>
                <a:ea typeface="Times New Roman (Hebrew)" charset="0"/>
                <a:cs typeface="Times New Roman (Hebrew)" charset="0"/>
              </a:rPr>
              <a:t>observation (output) probabilities</a:t>
            </a:r>
            <a:r>
              <a:rPr lang="en-US" sz="2000" dirty="0">
                <a:solidFill>
                  <a:schemeClr val="hlink"/>
                </a:solidFill>
                <a:ea typeface="Times New Roman (Hebrew)" charset="0"/>
                <a:cs typeface="Times New Roman (Hebrew)" charset="0"/>
              </a:rPr>
              <a:t>.</a:t>
            </a:r>
          </a:p>
          <a:p>
            <a:endParaRPr lang="en-US" dirty="0"/>
          </a:p>
          <a:p>
            <a:pPr>
              <a:spcBef>
                <a:spcPct val="10000"/>
              </a:spcBef>
            </a:pPr>
            <a:r>
              <a:rPr lang="en-US" dirty="0">
                <a:ea typeface="Times New Roman (Hebrew)" charset="0"/>
                <a:cs typeface="Times New Roman (Hebrew)" charset="0"/>
              </a:rPr>
              <a:t>b</a:t>
            </a:r>
            <a:r>
              <a:rPr lang="en-US" b="1" baseline="-25000" dirty="0">
                <a:ea typeface="Times New Roman (Hebrew)" charset="0"/>
                <a:cs typeface="Times New Roman (Hebrew)" charset="0"/>
              </a:rPr>
              <a:t>11</a:t>
            </a:r>
            <a:r>
              <a:rPr lang="en-US" dirty="0">
                <a:ea typeface="Times New Roman (Hebrew)" charset="0"/>
                <a:cs typeface="Times New Roman (Hebrew)" charset="0"/>
              </a:rPr>
              <a:t> + b</a:t>
            </a:r>
            <a:r>
              <a:rPr lang="en-US" b="1" baseline="-25000" dirty="0">
                <a:ea typeface="Times New Roman (Hebrew)" charset="0"/>
                <a:cs typeface="Times New Roman (Hebrew)" charset="0"/>
              </a:rPr>
              <a:t>12 </a:t>
            </a:r>
            <a:r>
              <a:rPr lang="en-US" dirty="0">
                <a:ea typeface="Times New Roman (Hebrew)" charset="0"/>
                <a:cs typeface="Times New Roman (Hebrew)" charset="0"/>
              </a:rPr>
              <a:t>+ b</a:t>
            </a:r>
            <a:r>
              <a:rPr lang="en-US" b="1" baseline="-25000" dirty="0">
                <a:ea typeface="Times New Roman (Hebrew)" charset="0"/>
                <a:cs typeface="Times New Roman (Hebrew)" charset="0"/>
              </a:rPr>
              <a:t>13 </a:t>
            </a:r>
            <a:r>
              <a:rPr lang="en-US" dirty="0">
                <a:ea typeface="Times New Roman (Hebrew)" charset="0"/>
                <a:cs typeface="Times New Roman (Hebrew)" charset="0"/>
              </a:rPr>
              <a:t>+ b</a:t>
            </a:r>
            <a:r>
              <a:rPr lang="en-US" b="1" baseline="-25000" dirty="0">
                <a:ea typeface="Times New Roman (Hebrew)" charset="0"/>
                <a:cs typeface="Times New Roman (Hebrew)" charset="0"/>
              </a:rPr>
              <a:t>14 </a:t>
            </a:r>
            <a:r>
              <a:rPr lang="en-US" dirty="0">
                <a:ea typeface="Times New Roman (Hebrew)" charset="0"/>
                <a:cs typeface="Times New Roman (Hebrew)" charset="0"/>
              </a:rPr>
              <a:t>= 1,</a:t>
            </a:r>
          </a:p>
          <a:p>
            <a:pPr>
              <a:spcBef>
                <a:spcPct val="10000"/>
              </a:spcBef>
            </a:pPr>
            <a:r>
              <a:rPr lang="en-US" dirty="0">
                <a:ea typeface="Times New Roman (Hebrew)" charset="0"/>
                <a:cs typeface="Times New Roman (Hebrew)" charset="0"/>
              </a:rPr>
              <a:t>b</a:t>
            </a:r>
            <a:r>
              <a:rPr lang="en-US" b="1" baseline="-25000" dirty="0">
                <a:ea typeface="Times New Roman (Hebrew)" charset="0"/>
                <a:cs typeface="Times New Roman (Hebrew)" charset="0"/>
              </a:rPr>
              <a:t>21</a:t>
            </a:r>
            <a:r>
              <a:rPr lang="en-US" dirty="0">
                <a:ea typeface="Times New Roman (Hebrew)" charset="0"/>
                <a:cs typeface="Times New Roman (Hebrew)" charset="0"/>
              </a:rPr>
              <a:t> + b</a:t>
            </a:r>
            <a:r>
              <a:rPr lang="en-US" b="1" baseline="-25000" dirty="0">
                <a:ea typeface="Times New Roman (Hebrew)" charset="0"/>
                <a:cs typeface="Times New Roman (Hebrew)" charset="0"/>
              </a:rPr>
              <a:t>22 </a:t>
            </a:r>
            <a:r>
              <a:rPr lang="en-US" dirty="0">
                <a:ea typeface="Times New Roman (Hebrew)" charset="0"/>
                <a:cs typeface="Times New Roman (Hebrew)" charset="0"/>
              </a:rPr>
              <a:t>+ b</a:t>
            </a:r>
            <a:r>
              <a:rPr lang="en-US" b="1" baseline="-25000" dirty="0">
                <a:ea typeface="Times New Roman (Hebrew)" charset="0"/>
                <a:cs typeface="Times New Roman (Hebrew)" charset="0"/>
              </a:rPr>
              <a:t>23 </a:t>
            </a:r>
            <a:r>
              <a:rPr lang="en-US" dirty="0">
                <a:ea typeface="Times New Roman (Hebrew)" charset="0"/>
                <a:cs typeface="Times New Roman (Hebrew)" charset="0"/>
              </a:rPr>
              <a:t>+ b</a:t>
            </a:r>
            <a:r>
              <a:rPr lang="en-US" b="1" baseline="-25000" dirty="0">
                <a:ea typeface="Times New Roman (Hebrew)" charset="0"/>
                <a:cs typeface="Times New Roman (Hebrew)" charset="0"/>
              </a:rPr>
              <a:t>24 </a:t>
            </a:r>
            <a:r>
              <a:rPr lang="en-US" dirty="0">
                <a:ea typeface="Times New Roman (Hebrew)" charset="0"/>
                <a:cs typeface="Times New Roman (Hebrew)" charset="0"/>
              </a:rPr>
              <a:t>= 1.</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1143000"/>
          </a:xfrm>
        </p:spPr>
        <p:txBody>
          <a:bodyPr/>
          <a:lstStyle/>
          <a:p>
            <a:r>
              <a:rPr lang="en-US" sz="2800" dirty="0"/>
              <a:t>Hidden Markov Models -  HMM</a:t>
            </a:r>
            <a:endParaRPr lang="en-US" dirty="0"/>
          </a:p>
        </p:txBody>
      </p:sp>
      <p:sp>
        <p:nvSpPr>
          <p:cNvPr id="4" name="AutoShape 44"/>
          <p:cNvSpPr>
            <a:spLocks noGrp="1" noChangeArrowheads="1"/>
          </p:cNvSpPr>
          <p:nvPr>
            <p:ph idx="1"/>
          </p:nvPr>
        </p:nvSpPr>
        <p:spPr bwMode="auto">
          <a:xfrm>
            <a:off x="1905000" y="1524000"/>
            <a:ext cx="4343400" cy="1295400"/>
          </a:xfrm>
          <a:prstGeom prst="wedgeRoundRectCallout">
            <a:avLst>
              <a:gd name="adj1" fmla="val -37819"/>
              <a:gd name="adj2" fmla="val 72579"/>
              <a:gd name="adj3" fmla="val 16667"/>
            </a:avLst>
          </a:prstGeom>
          <a:solidFill>
            <a:srgbClr val="FAD2D2"/>
          </a:solidFill>
          <a:ln w="25400">
            <a:solidFill>
              <a:schemeClr val="tx1"/>
            </a:solidFill>
            <a:miter lim="800000"/>
            <a:headEnd/>
            <a:tailEnd/>
          </a:ln>
          <a:effectLst/>
        </p:spPr>
        <p:txBody>
          <a:bodyPr anchor="ctr"/>
          <a:lstStyle/>
          <a:p>
            <a:pPr algn="ctr"/>
            <a:r>
              <a:rPr lang="en-US" sz="2400" i="0" dirty="0">
                <a:latin typeface="Times New Roman" pitchFamily="18" charset="0"/>
              </a:rPr>
              <a:t>Hidden variables</a:t>
            </a:r>
          </a:p>
        </p:txBody>
      </p:sp>
      <p:grpSp>
        <p:nvGrpSpPr>
          <p:cNvPr id="5" name="Group 42"/>
          <p:cNvGrpSpPr>
            <a:grpSpLocks/>
          </p:cNvGrpSpPr>
          <p:nvPr/>
        </p:nvGrpSpPr>
        <p:grpSpPr bwMode="auto">
          <a:xfrm>
            <a:off x="762000" y="3352800"/>
            <a:ext cx="7315200" cy="1371600"/>
            <a:chOff x="459" y="795"/>
            <a:chExt cx="4612" cy="842"/>
          </a:xfrm>
        </p:grpSpPr>
        <p:sp>
          <p:nvSpPr>
            <p:cNvPr id="6" name="Oval 5"/>
            <p:cNvSpPr>
              <a:spLocks noChangeAspect="1" noChangeArrowheads="1"/>
            </p:cNvSpPr>
            <p:nvPr/>
          </p:nvSpPr>
          <p:spPr bwMode="auto">
            <a:xfrm>
              <a:off x="459" y="795"/>
              <a:ext cx="664" cy="276"/>
            </a:xfrm>
            <a:prstGeom prst="ellipse">
              <a:avLst/>
            </a:prstGeom>
            <a:solidFill>
              <a:srgbClr val="FFFF00"/>
            </a:solidFill>
            <a:ln w="28575">
              <a:solidFill>
                <a:schemeClr val="tx1"/>
              </a:solidFill>
              <a:round/>
              <a:headEnd type="none" w="sm" len="sm"/>
              <a:tailEnd/>
            </a:ln>
            <a:effectLst/>
          </p:spPr>
          <p:txBody>
            <a:bodyPr wrap="none" anchor="ctr"/>
            <a:lstStyle/>
            <a:p>
              <a:pPr algn="ctr"/>
              <a:r>
                <a:rPr lang="en-US" sz="1800" b="1" dirty="0">
                  <a:cs typeface="Arial" pitchFamily="34" charset="0"/>
                </a:rPr>
                <a:t>H</a:t>
              </a:r>
              <a:r>
                <a:rPr lang="en-US" sz="1800" b="1" baseline="-25000" dirty="0">
                  <a:cs typeface="Arial" pitchFamily="34" charset="0"/>
                </a:rPr>
                <a:t>1</a:t>
              </a:r>
            </a:p>
          </p:txBody>
        </p:sp>
        <p:sp>
          <p:nvSpPr>
            <p:cNvPr id="7" name="Oval 6"/>
            <p:cNvSpPr>
              <a:spLocks noChangeAspect="1" noChangeArrowheads="1"/>
            </p:cNvSpPr>
            <p:nvPr/>
          </p:nvSpPr>
          <p:spPr bwMode="auto">
            <a:xfrm>
              <a:off x="1415" y="795"/>
              <a:ext cx="663" cy="276"/>
            </a:xfrm>
            <a:prstGeom prst="ellipse">
              <a:avLst/>
            </a:prstGeom>
            <a:solidFill>
              <a:srgbClr val="FFFF00"/>
            </a:solidFill>
            <a:ln w="28575">
              <a:solidFill>
                <a:schemeClr val="tx1"/>
              </a:solidFill>
              <a:round/>
              <a:headEnd type="none" w="sm" len="sm"/>
              <a:tailEnd/>
            </a:ln>
            <a:effectLst/>
          </p:spPr>
          <p:txBody>
            <a:bodyPr wrap="none" anchor="ctr"/>
            <a:lstStyle/>
            <a:p>
              <a:pPr algn="ctr"/>
              <a:r>
                <a:rPr lang="en-US" sz="1800" b="1" dirty="0">
                  <a:latin typeface="Comic Sans MS" pitchFamily="66" charset="0"/>
                </a:rPr>
                <a:t>H</a:t>
              </a:r>
              <a:r>
                <a:rPr lang="en-US" sz="1800" b="1" baseline="-25000" dirty="0">
                  <a:latin typeface="Comic Sans MS" pitchFamily="66" charset="0"/>
                </a:rPr>
                <a:t>2</a:t>
              </a:r>
            </a:p>
          </p:txBody>
        </p:sp>
        <p:sp>
          <p:nvSpPr>
            <p:cNvPr id="8" name="Oval 7"/>
            <p:cNvSpPr>
              <a:spLocks noChangeAspect="1" noChangeArrowheads="1"/>
            </p:cNvSpPr>
            <p:nvPr/>
          </p:nvSpPr>
          <p:spPr bwMode="auto">
            <a:xfrm>
              <a:off x="3472" y="795"/>
              <a:ext cx="664" cy="276"/>
            </a:xfrm>
            <a:prstGeom prst="ellipse">
              <a:avLst/>
            </a:prstGeom>
            <a:solidFill>
              <a:srgbClr val="FFFF00"/>
            </a:solidFill>
            <a:ln w="28575">
              <a:solidFill>
                <a:schemeClr val="tx1"/>
              </a:solidFill>
              <a:round/>
              <a:headEnd type="none" w="sm" len="sm"/>
              <a:tailEnd/>
            </a:ln>
            <a:effectLst/>
          </p:spPr>
          <p:txBody>
            <a:bodyPr wrap="none" anchor="ctr"/>
            <a:lstStyle/>
            <a:p>
              <a:pPr algn="ctr"/>
              <a:r>
                <a:rPr lang="en-US" sz="1800" b="1">
                  <a:latin typeface="Comic Sans MS" pitchFamily="66" charset="0"/>
                </a:rPr>
                <a:t>H</a:t>
              </a:r>
              <a:r>
                <a:rPr lang="en-US" sz="1800" b="1" baseline="-25000">
                  <a:latin typeface="Comic Sans MS" pitchFamily="66" charset="0"/>
                </a:rPr>
                <a:t>L-1</a:t>
              </a:r>
            </a:p>
          </p:txBody>
        </p:sp>
        <p:sp>
          <p:nvSpPr>
            <p:cNvPr id="9" name="Oval 8"/>
            <p:cNvSpPr>
              <a:spLocks noChangeAspect="1" noChangeArrowheads="1"/>
            </p:cNvSpPr>
            <p:nvPr/>
          </p:nvSpPr>
          <p:spPr bwMode="auto">
            <a:xfrm>
              <a:off x="4407" y="795"/>
              <a:ext cx="664" cy="276"/>
            </a:xfrm>
            <a:prstGeom prst="ellipse">
              <a:avLst/>
            </a:prstGeom>
            <a:solidFill>
              <a:srgbClr val="FFFF00"/>
            </a:solidFill>
            <a:ln w="28575">
              <a:solidFill>
                <a:schemeClr val="tx1"/>
              </a:solidFill>
              <a:round/>
              <a:headEnd type="none" w="sm" len="sm"/>
              <a:tailEnd/>
            </a:ln>
            <a:effectLst/>
          </p:spPr>
          <p:txBody>
            <a:bodyPr wrap="none" anchor="ctr"/>
            <a:lstStyle/>
            <a:p>
              <a:pPr algn="ctr"/>
              <a:r>
                <a:rPr lang="en-US" sz="1800" b="1">
                  <a:latin typeface="Comic Sans MS" pitchFamily="66" charset="0"/>
                </a:rPr>
                <a:t>H</a:t>
              </a:r>
              <a:r>
                <a:rPr lang="en-US" sz="1800" b="1" baseline="-25000">
                  <a:latin typeface="Comic Sans MS" pitchFamily="66" charset="0"/>
                </a:rPr>
                <a:t>L</a:t>
              </a:r>
            </a:p>
          </p:txBody>
        </p:sp>
        <p:sp>
          <p:nvSpPr>
            <p:cNvPr id="10" name="Oval 9"/>
            <p:cNvSpPr>
              <a:spLocks noChangeArrowheads="1"/>
            </p:cNvSpPr>
            <p:nvPr/>
          </p:nvSpPr>
          <p:spPr bwMode="auto">
            <a:xfrm>
              <a:off x="2361" y="912"/>
              <a:ext cx="48" cy="47"/>
            </a:xfrm>
            <a:prstGeom prst="ellipse">
              <a:avLst/>
            </a:prstGeom>
            <a:solidFill>
              <a:srgbClr val="FFFF00"/>
            </a:solidFill>
            <a:ln w="28575">
              <a:solidFill>
                <a:schemeClr val="tx1"/>
              </a:solidFill>
              <a:round/>
              <a:headEnd/>
              <a:tailEnd/>
            </a:ln>
            <a:effectLst/>
          </p:spPr>
          <p:txBody>
            <a:bodyPr wrap="none" anchor="ctr">
              <a:spAutoFit/>
            </a:bodyPr>
            <a:lstStyle/>
            <a:p>
              <a:endParaRPr lang="en-US"/>
            </a:p>
          </p:txBody>
        </p:sp>
        <p:sp>
          <p:nvSpPr>
            <p:cNvPr id="11" name="Oval 11"/>
            <p:cNvSpPr>
              <a:spLocks noChangeArrowheads="1"/>
            </p:cNvSpPr>
            <p:nvPr/>
          </p:nvSpPr>
          <p:spPr bwMode="auto">
            <a:xfrm>
              <a:off x="3139" y="912"/>
              <a:ext cx="47" cy="47"/>
            </a:xfrm>
            <a:prstGeom prst="ellipse">
              <a:avLst/>
            </a:prstGeom>
            <a:solidFill>
              <a:srgbClr val="FFFF00"/>
            </a:solidFill>
            <a:ln w="28575">
              <a:solidFill>
                <a:schemeClr val="tx1"/>
              </a:solidFill>
              <a:round/>
              <a:headEnd/>
              <a:tailEnd/>
            </a:ln>
            <a:effectLst/>
          </p:spPr>
          <p:txBody>
            <a:bodyPr wrap="none" anchor="ctr">
              <a:spAutoFit/>
            </a:bodyPr>
            <a:lstStyle/>
            <a:p>
              <a:endParaRPr lang="en-US"/>
            </a:p>
          </p:txBody>
        </p:sp>
        <p:cxnSp>
          <p:nvCxnSpPr>
            <p:cNvPr id="12" name="AutoShape 12"/>
            <p:cNvCxnSpPr>
              <a:cxnSpLocks noChangeShapeType="1"/>
              <a:stCxn id="6" idx="6"/>
              <a:endCxn id="7" idx="2"/>
            </p:cNvCxnSpPr>
            <p:nvPr/>
          </p:nvCxnSpPr>
          <p:spPr bwMode="auto">
            <a:xfrm>
              <a:off x="1130" y="933"/>
              <a:ext cx="277" cy="0"/>
            </a:xfrm>
            <a:prstGeom prst="straightConnector1">
              <a:avLst/>
            </a:prstGeom>
            <a:noFill/>
            <a:ln w="25400">
              <a:solidFill>
                <a:schemeClr val="tx1"/>
              </a:solidFill>
              <a:round/>
              <a:headEnd/>
              <a:tailEnd type="triangle" w="med" len="med"/>
            </a:ln>
            <a:effectLst/>
          </p:spPr>
        </p:cxnSp>
        <p:cxnSp>
          <p:nvCxnSpPr>
            <p:cNvPr id="13" name="AutoShape 13"/>
            <p:cNvCxnSpPr>
              <a:cxnSpLocks noChangeShapeType="1"/>
              <a:stCxn id="8" idx="6"/>
              <a:endCxn id="9" idx="2"/>
            </p:cNvCxnSpPr>
            <p:nvPr/>
          </p:nvCxnSpPr>
          <p:spPr bwMode="auto">
            <a:xfrm>
              <a:off x="4143" y="933"/>
              <a:ext cx="257" cy="0"/>
            </a:xfrm>
            <a:prstGeom prst="straightConnector1">
              <a:avLst/>
            </a:prstGeom>
            <a:noFill/>
            <a:ln w="25400">
              <a:solidFill>
                <a:schemeClr val="tx1"/>
              </a:solidFill>
              <a:round/>
              <a:headEnd/>
              <a:tailEnd type="triangle" w="med" len="med"/>
            </a:ln>
            <a:effectLst/>
          </p:spPr>
        </p:cxnSp>
        <p:cxnSp>
          <p:nvCxnSpPr>
            <p:cNvPr id="14" name="AutoShape 14"/>
            <p:cNvCxnSpPr>
              <a:cxnSpLocks noChangeShapeType="1"/>
              <a:stCxn id="7" idx="6"/>
              <a:endCxn id="10" idx="2"/>
            </p:cNvCxnSpPr>
            <p:nvPr/>
          </p:nvCxnSpPr>
          <p:spPr bwMode="auto">
            <a:xfrm>
              <a:off x="2087" y="933"/>
              <a:ext cx="265" cy="3"/>
            </a:xfrm>
            <a:prstGeom prst="straightConnector1">
              <a:avLst/>
            </a:prstGeom>
            <a:noFill/>
            <a:ln w="25400">
              <a:solidFill>
                <a:schemeClr val="tx1"/>
              </a:solidFill>
              <a:round/>
              <a:headEnd/>
              <a:tailEnd type="triangle" w="med" len="med"/>
            </a:ln>
            <a:effectLst/>
          </p:spPr>
        </p:cxnSp>
        <p:cxnSp>
          <p:nvCxnSpPr>
            <p:cNvPr id="15" name="AutoShape 15"/>
            <p:cNvCxnSpPr>
              <a:cxnSpLocks noChangeShapeType="1"/>
              <a:stCxn id="11" idx="6"/>
              <a:endCxn id="8" idx="2"/>
            </p:cNvCxnSpPr>
            <p:nvPr/>
          </p:nvCxnSpPr>
          <p:spPr bwMode="auto">
            <a:xfrm flipV="1">
              <a:off x="3195" y="933"/>
              <a:ext cx="268" cy="3"/>
            </a:xfrm>
            <a:prstGeom prst="straightConnector1">
              <a:avLst/>
            </a:prstGeom>
            <a:noFill/>
            <a:ln w="25400">
              <a:solidFill>
                <a:schemeClr val="tx1"/>
              </a:solidFill>
              <a:round/>
              <a:headEnd/>
              <a:tailEnd type="triangle" w="med" len="med"/>
            </a:ln>
            <a:effectLst/>
          </p:spPr>
        </p:cxnSp>
        <p:sp>
          <p:nvSpPr>
            <p:cNvPr id="16" name="Oval 16"/>
            <p:cNvSpPr>
              <a:spLocks noChangeAspect="1" noChangeArrowheads="1"/>
            </p:cNvSpPr>
            <p:nvPr/>
          </p:nvSpPr>
          <p:spPr bwMode="auto">
            <a:xfrm>
              <a:off x="459" y="1352"/>
              <a:ext cx="664" cy="276"/>
            </a:xfrm>
            <a:prstGeom prst="ellipse">
              <a:avLst/>
            </a:prstGeom>
            <a:solidFill>
              <a:srgbClr val="FF9966"/>
            </a:solidFill>
            <a:ln w="28575">
              <a:solidFill>
                <a:schemeClr val="tx1"/>
              </a:solidFill>
              <a:round/>
              <a:headEnd type="none" w="sm" len="sm"/>
              <a:tailEnd/>
            </a:ln>
            <a:effectLst/>
          </p:spPr>
          <p:txBody>
            <a:bodyPr wrap="none" anchor="ctr"/>
            <a:lstStyle/>
            <a:p>
              <a:pPr algn="ctr"/>
              <a:r>
                <a:rPr lang="en-US" sz="1800" b="1">
                  <a:cs typeface="Arial" pitchFamily="34" charset="0"/>
                </a:rPr>
                <a:t>X</a:t>
              </a:r>
              <a:r>
                <a:rPr lang="en-US" sz="1800" b="1" baseline="-25000">
                  <a:cs typeface="Arial" pitchFamily="34" charset="0"/>
                </a:rPr>
                <a:t>1</a:t>
              </a:r>
            </a:p>
          </p:txBody>
        </p:sp>
        <p:sp>
          <p:nvSpPr>
            <p:cNvPr id="17" name="Oval 17"/>
            <p:cNvSpPr>
              <a:spLocks noChangeAspect="1" noChangeArrowheads="1"/>
            </p:cNvSpPr>
            <p:nvPr/>
          </p:nvSpPr>
          <p:spPr bwMode="auto">
            <a:xfrm>
              <a:off x="1415" y="1352"/>
              <a:ext cx="663" cy="276"/>
            </a:xfrm>
            <a:prstGeom prst="ellipse">
              <a:avLst/>
            </a:prstGeom>
            <a:solidFill>
              <a:srgbClr val="FF9966"/>
            </a:solidFill>
            <a:ln w="28575">
              <a:solidFill>
                <a:schemeClr val="tx1"/>
              </a:solidFill>
              <a:round/>
              <a:headEnd type="none" w="sm" len="sm"/>
              <a:tailEnd/>
            </a:ln>
            <a:effectLst/>
          </p:spPr>
          <p:txBody>
            <a:bodyPr wrap="none" anchor="ctr"/>
            <a:lstStyle/>
            <a:p>
              <a:pPr algn="ctr"/>
              <a:r>
                <a:rPr lang="en-US" sz="1800" b="1">
                  <a:latin typeface="Comic Sans MS" pitchFamily="66" charset="0"/>
                </a:rPr>
                <a:t>X</a:t>
              </a:r>
              <a:r>
                <a:rPr lang="en-US" sz="1800" b="1" baseline="-25000">
                  <a:latin typeface="Comic Sans MS" pitchFamily="66" charset="0"/>
                </a:rPr>
                <a:t>2</a:t>
              </a:r>
            </a:p>
          </p:txBody>
        </p:sp>
        <p:sp>
          <p:nvSpPr>
            <p:cNvPr id="18" name="Oval 18"/>
            <p:cNvSpPr>
              <a:spLocks noChangeAspect="1" noChangeArrowheads="1"/>
            </p:cNvSpPr>
            <p:nvPr/>
          </p:nvSpPr>
          <p:spPr bwMode="auto">
            <a:xfrm>
              <a:off x="3472" y="1352"/>
              <a:ext cx="664" cy="276"/>
            </a:xfrm>
            <a:prstGeom prst="ellipse">
              <a:avLst/>
            </a:prstGeom>
            <a:solidFill>
              <a:srgbClr val="FF9966"/>
            </a:solidFill>
            <a:ln w="28575">
              <a:solidFill>
                <a:schemeClr val="tx1"/>
              </a:solidFill>
              <a:round/>
              <a:headEnd type="none" w="sm" len="sm"/>
              <a:tailEnd/>
            </a:ln>
            <a:effectLst/>
          </p:spPr>
          <p:txBody>
            <a:bodyPr wrap="none" anchor="ctr"/>
            <a:lstStyle/>
            <a:p>
              <a:pPr algn="ctr"/>
              <a:r>
                <a:rPr lang="en-US" sz="1800" b="1">
                  <a:latin typeface="Comic Sans MS" pitchFamily="66" charset="0"/>
                </a:rPr>
                <a:t>X</a:t>
              </a:r>
              <a:r>
                <a:rPr lang="en-US" sz="1800" b="1" baseline="-25000">
                  <a:latin typeface="Comic Sans MS" pitchFamily="66" charset="0"/>
                </a:rPr>
                <a:t>L-1</a:t>
              </a:r>
            </a:p>
          </p:txBody>
        </p:sp>
        <p:sp>
          <p:nvSpPr>
            <p:cNvPr id="19" name="Oval 19"/>
            <p:cNvSpPr>
              <a:spLocks noChangeAspect="1" noChangeArrowheads="1"/>
            </p:cNvSpPr>
            <p:nvPr/>
          </p:nvSpPr>
          <p:spPr bwMode="auto">
            <a:xfrm>
              <a:off x="4407" y="1352"/>
              <a:ext cx="664" cy="276"/>
            </a:xfrm>
            <a:prstGeom prst="ellipse">
              <a:avLst/>
            </a:prstGeom>
            <a:solidFill>
              <a:srgbClr val="FF9966"/>
            </a:solidFill>
            <a:ln w="28575">
              <a:solidFill>
                <a:schemeClr val="tx1"/>
              </a:solidFill>
              <a:round/>
              <a:headEnd type="none" w="sm" len="sm"/>
              <a:tailEnd/>
            </a:ln>
            <a:effectLst/>
          </p:spPr>
          <p:txBody>
            <a:bodyPr wrap="none" anchor="ctr"/>
            <a:lstStyle/>
            <a:p>
              <a:pPr algn="ctr"/>
              <a:r>
                <a:rPr lang="en-US" sz="1800" b="1">
                  <a:latin typeface="Comic Sans MS" pitchFamily="66" charset="0"/>
                </a:rPr>
                <a:t>X</a:t>
              </a:r>
              <a:r>
                <a:rPr lang="en-US" sz="1800" b="1" baseline="-25000">
                  <a:latin typeface="Comic Sans MS" pitchFamily="66" charset="0"/>
                </a:rPr>
                <a:t>L</a:t>
              </a:r>
            </a:p>
          </p:txBody>
        </p:sp>
        <p:sp>
          <p:nvSpPr>
            <p:cNvPr id="20" name="Oval 20"/>
            <p:cNvSpPr>
              <a:spLocks noChangeArrowheads="1"/>
            </p:cNvSpPr>
            <p:nvPr/>
          </p:nvSpPr>
          <p:spPr bwMode="auto">
            <a:xfrm>
              <a:off x="2361" y="1463"/>
              <a:ext cx="48" cy="47"/>
            </a:xfrm>
            <a:prstGeom prst="ellipse">
              <a:avLst/>
            </a:prstGeom>
            <a:solidFill>
              <a:srgbClr val="FF9900"/>
            </a:solidFill>
            <a:ln w="28575">
              <a:solidFill>
                <a:schemeClr val="tx1"/>
              </a:solidFill>
              <a:round/>
              <a:headEnd/>
              <a:tailEnd/>
            </a:ln>
            <a:effectLst/>
          </p:spPr>
          <p:txBody>
            <a:bodyPr wrap="none" anchor="ctr">
              <a:spAutoFit/>
            </a:bodyPr>
            <a:lstStyle/>
            <a:p>
              <a:endParaRPr lang="en-US"/>
            </a:p>
          </p:txBody>
        </p:sp>
        <p:sp>
          <p:nvSpPr>
            <p:cNvPr id="21" name="Oval 22"/>
            <p:cNvSpPr>
              <a:spLocks noChangeArrowheads="1"/>
            </p:cNvSpPr>
            <p:nvPr/>
          </p:nvSpPr>
          <p:spPr bwMode="auto">
            <a:xfrm>
              <a:off x="3139" y="1463"/>
              <a:ext cx="47" cy="47"/>
            </a:xfrm>
            <a:prstGeom prst="ellipse">
              <a:avLst/>
            </a:prstGeom>
            <a:solidFill>
              <a:srgbClr val="FF9900"/>
            </a:solidFill>
            <a:ln w="28575">
              <a:solidFill>
                <a:schemeClr val="tx1"/>
              </a:solidFill>
              <a:round/>
              <a:headEnd/>
              <a:tailEnd/>
            </a:ln>
            <a:effectLst/>
          </p:spPr>
          <p:txBody>
            <a:bodyPr wrap="none" anchor="ctr">
              <a:spAutoFit/>
            </a:bodyPr>
            <a:lstStyle/>
            <a:p>
              <a:endParaRPr lang="en-US"/>
            </a:p>
          </p:txBody>
        </p:sp>
        <p:cxnSp>
          <p:nvCxnSpPr>
            <p:cNvPr id="22" name="AutoShape 23"/>
            <p:cNvCxnSpPr>
              <a:cxnSpLocks noChangeShapeType="1"/>
              <a:stCxn id="6" idx="4"/>
              <a:endCxn id="16" idx="0"/>
            </p:cNvCxnSpPr>
            <p:nvPr/>
          </p:nvCxnSpPr>
          <p:spPr bwMode="auto">
            <a:xfrm>
              <a:off x="791" y="1079"/>
              <a:ext cx="0" cy="265"/>
            </a:xfrm>
            <a:prstGeom prst="straightConnector1">
              <a:avLst/>
            </a:prstGeom>
            <a:noFill/>
            <a:ln w="25400">
              <a:solidFill>
                <a:schemeClr val="tx1"/>
              </a:solidFill>
              <a:round/>
              <a:headEnd/>
              <a:tailEnd type="triangle" w="med" len="med"/>
            </a:ln>
            <a:effectLst/>
          </p:spPr>
        </p:cxnSp>
        <p:cxnSp>
          <p:nvCxnSpPr>
            <p:cNvPr id="23" name="AutoShape 24"/>
            <p:cNvCxnSpPr>
              <a:cxnSpLocks noChangeShapeType="1"/>
              <a:stCxn id="7" idx="4"/>
              <a:endCxn id="17" idx="0"/>
            </p:cNvCxnSpPr>
            <p:nvPr/>
          </p:nvCxnSpPr>
          <p:spPr bwMode="auto">
            <a:xfrm>
              <a:off x="1747" y="1079"/>
              <a:ext cx="0" cy="265"/>
            </a:xfrm>
            <a:prstGeom prst="straightConnector1">
              <a:avLst/>
            </a:prstGeom>
            <a:noFill/>
            <a:ln w="25400">
              <a:solidFill>
                <a:schemeClr val="tx1"/>
              </a:solidFill>
              <a:round/>
              <a:headEnd/>
              <a:tailEnd type="triangle" w="med" len="med"/>
            </a:ln>
            <a:effectLst/>
          </p:spPr>
        </p:cxnSp>
        <p:cxnSp>
          <p:nvCxnSpPr>
            <p:cNvPr id="24" name="AutoShape 25"/>
            <p:cNvCxnSpPr>
              <a:cxnSpLocks noChangeShapeType="1"/>
              <a:stCxn id="8" idx="4"/>
              <a:endCxn id="18" idx="0"/>
            </p:cNvCxnSpPr>
            <p:nvPr/>
          </p:nvCxnSpPr>
          <p:spPr bwMode="auto">
            <a:xfrm>
              <a:off x="3804" y="1079"/>
              <a:ext cx="0" cy="265"/>
            </a:xfrm>
            <a:prstGeom prst="straightConnector1">
              <a:avLst/>
            </a:prstGeom>
            <a:noFill/>
            <a:ln w="25400">
              <a:solidFill>
                <a:schemeClr val="tx1"/>
              </a:solidFill>
              <a:round/>
              <a:headEnd/>
              <a:tailEnd type="triangle" w="med" len="med"/>
            </a:ln>
            <a:effectLst/>
          </p:spPr>
        </p:cxnSp>
        <p:cxnSp>
          <p:nvCxnSpPr>
            <p:cNvPr id="25" name="AutoShape 26"/>
            <p:cNvCxnSpPr>
              <a:cxnSpLocks noChangeShapeType="1"/>
              <a:stCxn id="9" idx="4"/>
              <a:endCxn id="19" idx="0"/>
            </p:cNvCxnSpPr>
            <p:nvPr/>
          </p:nvCxnSpPr>
          <p:spPr bwMode="auto">
            <a:xfrm>
              <a:off x="4740" y="1079"/>
              <a:ext cx="0" cy="265"/>
            </a:xfrm>
            <a:prstGeom prst="straightConnector1">
              <a:avLst/>
            </a:prstGeom>
            <a:noFill/>
            <a:ln w="25400">
              <a:solidFill>
                <a:schemeClr val="tx1"/>
              </a:solidFill>
              <a:round/>
              <a:headEnd/>
              <a:tailEnd type="triangle" w="med" len="med"/>
            </a:ln>
            <a:effectLst/>
          </p:spPr>
        </p:cxnSp>
        <p:sp>
          <p:nvSpPr>
            <p:cNvPr id="26" name="Oval 39"/>
            <p:cNvSpPr>
              <a:spLocks noChangeAspect="1" noChangeArrowheads="1"/>
            </p:cNvSpPr>
            <p:nvPr/>
          </p:nvSpPr>
          <p:spPr bwMode="auto">
            <a:xfrm>
              <a:off x="2442" y="804"/>
              <a:ext cx="664" cy="276"/>
            </a:xfrm>
            <a:prstGeom prst="ellipse">
              <a:avLst/>
            </a:prstGeom>
            <a:solidFill>
              <a:srgbClr val="FFFF00"/>
            </a:solidFill>
            <a:ln w="28575">
              <a:solidFill>
                <a:schemeClr val="tx1"/>
              </a:solidFill>
              <a:round/>
              <a:headEnd type="none" w="sm" len="sm"/>
              <a:tailEnd/>
            </a:ln>
            <a:effectLst/>
          </p:spPr>
          <p:txBody>
            <a:bodyPr wrap="none" anchor="ctr"/>
            <a:lstStyle/>
            <a:p>
              <a:pPr algn="ctr"/>
              <a:r>
                <a:rPr lang="en-US" sz="1800" b="1">
                  <a:latin typeface="Comic Sans MS" pitchFamily="66" charset="0"/>
                </a:rPr>
                <a:t>H</a:t>
              </a:r>
              <a:r>
                <a:rPr lang="en-US" sz="1800" b="1" baseline="-25000">
                  <a:latin typeface="Comic Sans MS" pitchFamily="66" charset="0"/>
                </a:rPr>
                <a:t>i</a:t>
              </a:r>
            </a:p>
          </p:txBody>
        </p:sp>
        <p:sp>
          <p:nvSpPr>
            <p:cNvPr id="27" name="Oval 40"/>
            <p:cNvSpPr>
              <a:spLocks noChangeAspect="1" noChangeArrowheads="1"/>
            </p:cNvSpPr>
            <p:nvPr/>
          </p:nvSpPr>
          <p:spPr bwMode="auto">
            <a:xfrm>
              <a:off x="2442" y="1361"/>
              <a:ext cx="664" cy="276"/>
            </a:xfrm>
            <a:prstGeom prst="ellipse">
              <a:avLst/>
            </a:prstGeom>
            <a:solidFill>
              <a:srgbClr val="FF9966"/>
            </a:solidFill>
            <a:ln w="28575">
              <a:solidFill>
                <a:schemeClr val="tx1"/>
              </a:solidFill>
              <a:round/>
              <a:headEnd type="none" w="sm" len="sm"/>
              <a:tailEnd/>
            </a:ln>
            <a:effectLst/>
          </p:spPr>
          <p:txBody>
            <a:bodyPr wrap="none" anchor="ctr"/>
            <a:lstStyle/>
            <a:p>
              <a:pPr algn="ctr"/>
              <a:r>
                <a:rPr lang="en-US" sz="1800" b="1">
                  <a:latin typeface="Comic Sans MS" pitchFamily="66" charset="0"/>
                </a:rPr>
                <a:t>X</a:t>
              </a:r>
              <a:r>
                <a:rPr lang="en-US" sz="1800" b="1" baseline="-25000">
                  <a:latin typeface="Comic Sans MS" pitchFamily="66" charset="0"/>
                </a:rPr>
                <a:t>i</a:t>
              </a:r>
            </a:p>
          </p:txBody>
        </p:sp>
        <p:cxnSp>
          <p:nvCxnSpPr>
            <p:cNvPr id="28" name="AutoShape 41"/>
            <p:cNvCxnSpPr>
              <a:cxnSpLocks noChangeShapeType="1"/>
              <a:stCxn id="26" idx="4"/>
              <a:endCxn id="27" idx="0"/>
            </p:cNvCxnSpPr>
            <p:nvPr/>
          </p:nvCxnSpPr>
          <p:spPr bwMode="auto">
            <a:xfrm>
              <a:off x="2775" y="1088"/>
              <a:ext cx="0" cy="265"/>
            </a:xfrm>
            <a:prstGeom prst="straightConnector1">
              <a:avLst/>
            </a:prstGeom>
            <a:noFill/>
            <a:ln w="25400">
              <a:solidFill>
                <a:schemeClr val="tx1"/>
              </a:solidFill>
              <a:round/>
              <a:headEnd/>
              <a:tailEnd type="triangle" w="med" len="med"/>
            </a:ln>
            <a:effectLst/>
          </p:spPr>
        </p:cxnSp>
      </p:grpSp>
      <p:sp>
        <p:nvSpPr>
          <p:cNvPr id="29" name="AutoShape 46"/>
          <p:cNvSpPr>
            <a:spLocks noChangeArrowheads="1"/>
          </p:cNvSpPr>
          <p:nvPr/>
        </p:nvSpPr>
        <p:spPr bwMode="auto">
          <a:xfrm>
            <a:off x="2743200" y="5334000"/>
            <a:ext cx="3230562" cy="984250"/>
          </a:xfrm>
          <a:prstGeom prst="wedgeEllipseCallout">
            <a:avLst>
              <a:gd name="adj1" fmla="val -39338"/>
              <a:gd name="adj2" fmla="val -96611"/>
            </a:avLst>
          </a:prstGeom>
          <a:solidFill>
            <a:srgbClr val="EFA9EF"/>
          </a:solidFill>
          <a:ln w="25400">
            <a:solidFill>
              <a:schemeClr val="tx1"/>
            </a:solidFill>
            <a:miter lim="800000"/>
            <a:headEnd/>
            <a:tailEnd/>
          </a:ln>
          <a:effectLst/>
        </p:spPr>
        <p:txBody>
          <a:bodyPr anchor="ctr"/>
          <a:lstStyle/>
          <a:p>
            <a:pPr algn="ctr"/>
            <a:r>
              <a:rPr lang="en-US" sz="2400" i="0" dirty="0">
                <a:latin typeface="Times New Roman" pitchFamily="18" charset="0"/>
              </a:rPr>
              <a:t>Observed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issues  ?</a:t>
            </a:r>
          </a:p>
        </p:txBody>
      </p:sp>
      <p:sp>
        <p:nvSpPr>
          <p:cNvPr id="3" name="Content Placeholder 2"/>
          <p:cNvSpPr>
            <a:spLocks noGrp="1"/>
          </p:cNvSpPr>
          <p:nvPr>
            <p:ph idx="1"/>
          </p:nvPr>
        </p:nvSpPr>
        <p:spPr/>
        <p:txBody>
          <a:bodyPr/>
          <a:lstStyle/>
          <a:p>
            <a:r>
              <a:rPr lang="en-US" b="1" dirty="0"/>
              <a:t>Evaluation problem:  </a:t>
            </a:r>
            <a:r>
              <a:rPr lang="en-US" dirty="0"/>
              <a:t>Given the HMM </a:t>
            </a:r>
          </a:p>
          <a:p>
            <a:pPr>
              <a:buNone/>
            </a:pPr>
            <a:r>
              <a:rPr lang="en-US" dirty="0"/>
              <a:t>    M = { A, B, </a:t>
            </a:r>
            <a:r>
              <a:rPr lang="en-US" dirty="0">
                <a:sym typeface="Symbol" pitchFamily="18" charset="2"/>
              </a:rPr>
              <a:t> } and observation sequence </a:t>
            </a:r>
          </a:p>
          <a:p>
            <a:pPr>
              <a:buNone/>
            </a:pPr>
            <a:r>
              <a:rPr lang="en-US" dirty="0">
                <a:sym typeface="Symbol" pitchFamily="18" charset="2"/>
              </a:rPr>
              <a:t>    O = o1,o2 ……ok, </a:t>
            </a:r>
            <a:r>
              <a:rPr lang="en-US" dirty="0" err="1">
                <a:sym typeface="Symbol" pitchFamily="18" charset="2"/>
              </a:rPr>
              <a:t>Caluculate</a:t>
            </a:r>
            <a:r>
              <a:rPr lang="en-US" dirty="0">
                <a:sym typeface="Symbol" pitchFamily="18" charset="2"/>
              </a:rPr>
              <a:t> the probability  that model m has generated sequence O.</a:t>
            </a:r>
          </a:p>
          <a:p>
            <a:pPr>
              <a:buNone/>
            </a:pPr>
            <a:endParaRPr lang="en-US" dirty="0">
              <a:sym typeface="Symbol" pitchFamily="18" charset="2"/>
            </a:endParaRPr>
          </a:p>
          <a:p>
            <a:r>
              <a:rPr lang="en-US" b="1" dirty="0">
                <a:sym typeface="Symbol" pitchFamily="18" charset="2"/>
              </a:rPr>
              <a:t>Decoding problem : </a:t>
            </a:r>
            <a:r>
              <a:rPr lang="en-US" b="1" dirty="0"/>
              <a:t>:  </a:t>
            </a:r>
            <a:r>
              <a:rPr lang="en-US" dirty="0"/>
              <a:t>Given the HMM </a:t>
            </a:r>
          </a:p>
          <a:p>
            <a:pPr>
              <a:buNone/>
            </a:pPr>
            <a:r>
              <a:rPr lang="en-US" dirty="0"/>
              <a:t>    M = { A, B, </a:t>
            </a:r>
            <a:r>
              <a:rPr lang="en-US" dirty="0">
                <a:sym typeface="Symbol" pitchFamily="18" charset="2"/>
              </a:rPr>
              <a:t> } and observation sequence </a:t>
            </a:r>
          </a:p>
          <a:p>
            <a:pPr>
              <a:buNone/>
            </a:pPr>
            <a:r>
              <a:rPr lang="en-US" dirty="0">
                <a:sym typeface="Symbol" pitchFamily="18" charset="2"/>
              </a:rPr>
              <a:t>    O = o1,o2 ……ok, </a:t>
            </a:r>
            <a:r>
              <a:rPr lang="en-US" dirty="0" err="1">
                <a:sym typeface="Symbol" pitchFamily="18" charset="2"/>
              </a:rPr>
              <a:t>Caluculate</a:t>
            </a:r>
            <a:r>
              <a:rPr lang="en-US" dirty="0">
                <a:sym typeface="Symbol" pitchFamily="18" charset="2"/>
              </a:rPr>
              <a:t> the most likely sequence of hidden states  Si that generated sequence O.</a:t>
            </a:r>
          </a:p>
          <a:p>
            <a:endParaRPr lang="en-US"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a:t>
            </a:r>
          </a:p>
        </p:txBody>
      </p:sp>
      <p:sp>
        <p:nvSpPr>
          <p:cNvPr id="3" name="Content Placeholder 2"/>
          <p:cNvSpPr>
            <a:spLocks noGrp="1"/>
          </p:cNvSpPr>
          <p:nvPr>
            <p:ph idx="1"/>
          </p:nvPr>
        </p:nvSpPr>
        <p:spPr/>
        <p:txBody>
          <a:bodyPr/>
          <a:lstStyle/>
          <a:p>
            <a:r>
              <a:rPr lang="en-US" b="1" dirty="0"/>
              <a:t>Learning Problem :  </a:t>
            </a:r>
            <a:r>
              <a:rPr lang="en-US" dirty="0"/>
              <a:t>Given some training observation sequences </a:t>
            </a:r>
            <a:r>
              <a:rPr lang="en-US" dirty="0">
                <a:sym typeface="Symbol" pitchFamily="18" charset="2"/>
              </a:rPr>
              <a:t>O = o1,o2 ……ok, and general structure of HMM( visible and hidden states)  Determine HMM parameters that best fit the training data.</a:t>
            </a:r>
            <a:endParaRPr lang="en-US"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to evaluation problem ?</a:t>
            </a:r>
          </a:p>
        </p:txBody>
      </p:sp>
      <p:sp>
        <p:nvSpPr>
          <p:cNvPr id="3" name="Content Placeholder 2"/>
          <p:cNvSpPr>
            <a:spLocks noGrp="1"/>
          </p:cNvSpPr>
          <p:nvPr>
            <p:ph idx="1"/>
          </p:nvPr>
        </p:nvSpPr>
        <p:spPr/>
        <p:txBody>
          <a:bodyPr/>
          <a:lstStyle/>
          <a:p>
            <a:r>
              <a:rPr lang="en-US" dirty="0"/>
              <a:t>Evaluation problem:  For this problem We use an Forward- Backward algorithm </a:t>
            </a:r>
          </a:p>
          <a:p>
            <a:r>
              <a:rPr lang="en-US" dirty="0"/>
              <a:t>This algorithm mainly consists of defining a forward or backward variable as the joint probability of partial state sequence such as </a:t>
            </a:r>
          </a:p>
          <a:p>
            <a:pPr>
              <a:buNone/>
            </a:pPr>
            <a:r>
              <a:rPr lang="en-US" dirty="0"/>
              <a:t>    O = o1, o2, …..ok and the hidden state  Si at  time k is </a:t>
            </a:r>
            <a:r>
              <a:rPr lang="el-GR" dirty="0"/>
              <a:t>α</a:t>
            </a:r>
            <a:r>
              <a:rPr lang="en-US" dirty="0"/>
              <a:t>k(</a:t>
            </a:r>
            <a:r>
              <a:rPr lang="en-US" dirty="0" err="1"/>
              <a:t>i</a:t>
            </a:r>
            <a:r>
              <a:rPr lang="en-US" dirty="0"/>
              <a:t>) = p(o1 o2 o3…ok, </a:t>
            </a:r>
            <a:r>
              <a:rPr lang="en-US" dirty="0" err="1"/>
              <a:t>Qk</a:t>
            </a:r>
            <a:r>
              <a:rPr lang="en-US" dirty="0"/>
              <a:t> = Si).</a:t>
            </a:r>
          </a:p>
          <a:p>
            <a:r>
              <a:rPr lang="en-US" dirty="0"/>
              <a:t>The three states in this algorithm are </a:t>
            </a:r>
            <a:r>
              <a:rPr lang="en-US" dirty="0" err="1"/>
              <a:t>initilaisation</a:t>
            </a:r>
            <a:r>
              <a:rPr lang="en-US" dirty="0"/>
              <a:t>, forward recursion and termination.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to learning problem</a:t>
            </a:r>
          </a:p>
        </p:txBody>
      </p:sp>
      <p:sp>
        <p:nvSpPr>
          <p:cNvPr id="3" name="Content Placeholder 2"/>
          <p:cNvSpPr>
            <a:spLocks noGrp="1"/>
          </p:cNvSpPr>
          <p:nvPr>
            <p:ph idx="1"/>
          </p:nvPr>
        </p:nvSpPr>
        <p:spPr/>
        <p:txBody>
          <a:bodyPr/>
          <a:lstStyle/>
          <a:p>
            <a:r>
              <a:rPr lang="en-US" dirty="0"/>
              <a:t>The solution to this problem is to estimate parameters.</a:t>
            </a:r>
          </a:p>
          <a:p>
            <a:r>
              <a:rPr lang="en-US" dirty="0"/>
              <a:t>The parameters that need to be estimated are  Transmission probabilities and emission probabilities.  Since they sum </a:t>
            </a:r>
            <a:r>
              <a:rPr lang="en-US" dirty="0" err="1"/>
              <a:t>upto</a:t>
            </a:r>
            <a:r>
              <a:rPr lang="en-US" dirty="0"/>
              <a:t> 1, only 2 transmission and 2 estimation parameters are to be found.</a:t>
            </a:r>
          </a:p>
          <a:p>
            <a:r>
              <a:rPr lang="en-US" dirty="0"/>
              <a:t>More parameter estimation be done using </a:t>
            </a:r>
          </a:p>
          <a:p>
            <a:pPr>
              <a:buNone/>
            </a:pPr>
            <a:r>
              <a:rPr lang="en-US" dirty="0"/>
              <a:t>    Baum-Welch algorithm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to decoding problem ?</a:t>
            </a:r>
          </a:p>
        </p:txBody>
      </p:sp>
      <p:sp>
        <p:nvSpPr>
          <p:cNvPr id="3" name="Content Placeholder 2"/>
          <p:cNvSpPr>
            <a:spLocks noGrp="1"/>
          </p:cNvSpPr>
          <p:nvPr>
            <p:ph idx="1"/>
          </p:nvPr>
        </p:nvSpPr>
        <p:spPr/>
        <p:txBody>
          <a:bodyPr/>
          <a:lstStyle/>
          <a:p>
            <a:r>
              <a:rPr lang="en-US" dirty="0"/>
              <a:t>Decoding problem: </a:t>
            </a:r>
            <a:r>
              <a:rPr lang="en-US" dirty="0" err="1"/>
              <a:t>Viterbi</a:t>
            </a:r>
            <a:r>
              <a:rPr lang="en-US" dirty="0"/>
              <a:t> Algorithm </a:t>
            </a:r>
          </a:p>
          <a:p>
            <a:r>
              <a:rPr lang="en-US" dirty="0"/>
              <a:t>In this algorithm we go through the observations from start to end referring a state of hidden machine for each observation.</a:t>
            </a:r>
          </a:p>
          <a:p>
            <a:r>
              <a:rPr lang="en-US" dirty="0"/>
              <a:t>We also record the values of Overall Probability,</a:t>
            </a:r>
          </a:p>
          <a:p>
            <a:pPr>
              <a:buNone/>
            </a:pPr>
            <a:r>
              <a:rPr lang="en-US" dirty="0"/>
              <a:t>   Viterbi path (sequence of states) and the </a:t>
            </a:r>
            <a:r>
              <a:rPr lang="en-US" dirty="0" err="1"/>
              <a:t>viterbi</a:t>
            </a:r>
            <a:r>
              <a:rPr lang="en-US" dirty="0"/>
              <a:t> probability( Probability of observed state sequences in </a:t>
            </a:r>
            <a:r>
              <a:rPr lang="en-US" dirty="0" err="1"/>
              <a:t>viterbi</a:t>
            </a:r>
            <a:r>
              <a:rPr lang="en-US" dirty="0"/>
              <a:t> path )</a:t>
            </a:r>
          </a:p>
          <a:p>
            <a:r>
              <a:rPr lang="en-US" dirty="0"/>
              <a:t>The probability of possible step given its corresponding observation is probability of transmission times the emission probability.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Viterbi</a:t>
            </a:r>
            <a:r>
              <a:rPr lang="en-US" dirty="0"/>
              <a:t> algorithm</a:t>
            </a:r>
          </a:p>
        </p:txBody>
      </p:sp>
      <p:sp>
        <p:nvSpPr>
          <p:cNvPr id="3" name="Content Placeholder 2"/>
          <p:cNvSpPr>
            <a:spLocks noGrp="1"/>
          </p:cNvSpPr>
          <p:nvPr>
            <p:ph idx="1"/>
          </p:nvPr>
        </p:nvSpPr>
        <p:spPr/>
        <p:txBody>
          <a:bodyPr/>
          <a:lstStyle/>
          <a:p>
            <a:r>
              <a:rPr lang="en-US" dirty="0"/>
              <a:t>Overall Probability : Multiply each new probability with the old one.</a:t>
            </a:r>
          </a:p>
          <a:p>
            <a:endParaRPr lang="en-US" dirty="0"/>
          </a:p>
          <a:p>
            <a:r>
              <a:rPr lang="en-US" dirty="0" err="1"/>
              <a:t>Viterbi</a:t>
            </a:r>
            <a:r>
              <a:rPr lang="en-US" dirty="0"/>
              <a:t> probability : Take the highest next step probability and multiply  with the next step </a:t>
            </a:r>
            <a:r>
              <a:rPr lang="en-US" dirty="0" err="1"/>
              <a:t>viterbi</a:t>
            </a:r>
            <a:r>
              <a:rPr lang="en-US" dirty="0"/>
              <a:t> probability.</a:t>
            </a:r>
          </a:p>
          <a:p>
            <a:endParaRPr lang="en-US" dirty="0"/>
          </a:p>
          <a:p>
            <a:r>
              <a:rPr lang="en-US" dirty="0" err="1"/>
              <a:t>Viterbi</a:t>
            </a:r>
            <a:r>
              <a:rPr lang="en-US" dirty="0"/>
              <a:t> path : Add the next step path to </a:t>
            </a:r>
            <a:r>
              <a:rPr lang="en-US" dirty="0" err="1"/>
              <a:t>viterbi</a:t>
            </a:r>
            <a:r>
              <a:rPr lang="en-US" dirty="0"/>
              <a:t> path.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Viterbi algorithm with example</a:t>
            </a:r>
          </a:p>
        </p:txBody>
      </p:sp>
      <p:sp>
        <p:nvSpPr>
          <p:cNvPr id="3" name="Content Placeholder 2"/>
          <p:cNvSpPr>
            <a:spLocks noGrp="1"/>
          </p:cNvSpPr>
          <p:nvPr>
            <p:ph idx="1"/>
          </p:nvPr>
        </p:nvSpPr>
        <p:spPr/>
        <p:txBody>
          <a:bodyPr/>
          <a:lstStyle/>
          <a:p>
            <a:r>
              <a:rPr lang="en-US" dirty="0"/>
              <a:t>A person basically does 3 activities  walk, clean and shop depending on the weather conditions?</a:t>
            </a:r>
          </a:p>
          <a:p>
            <a:endParaRPr lang="en-US" dirty="0"/>
          </a:p>
          <a:p>
            <a:r>
              <a:rPr lang="en-US" dirty="0"/>
              <a:t>Possibility of weather conditions are ‘Rainy’ and ‘sunny’.</a:t>
            </a:r>
          </a:p>
          <a:p>
            <a:endParaRPr lang="en-US" dirty="0"/>
          </a:p>
          <a:p>
            <a:r>
              <a:rPr lang="en-US" dirty="0"/>
              <a:t>In this example weather condition states are </a:t>
            </a:r>
            <a:r>
              <a:rPr lang="en-US" b="1" dirty="0"/>
              <a:t>hidden</a:t>
            </a:r>
            <a:r>
              <a:rPr lang="en-US" dirty="0"/>
              <a:t> and we will know the weather condition by her activities.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Viterbi</a:t>
            </a:r>
            <a:r>
              <a:rPr lang="en-US" dirty="0"/>
              <a:t> algorithm with example</a:t>
            </a:r>
          </a:p>
        </p:txBody>
      </p:sp>
      <p:sp>
        <p:nvSpPr>
          <p:cNvPr id="3" name="Content Placeholder 2"/>
          <p:cNvSpPr>
            <a:spLocks noGrp="1"/>
          </p:cNvSpPr>
          <p:nvPr>
            <p:ph idx="1"/>
          </p:nvPr>
        </p:nvSpPr>
        <p:spPr/>
        <p:txBody>
          <a:bodyPr/>
          <a:lstStyle/>
          <a:p>
            <a:r>
              <a:rPr lang="en-US" dirty="0"/>
              <a:t>As we discussed in earlier slides for every hidden </a:t>
            </a:r>
            <a:r>
              <a:rPr lang="en-US" dirty="0" err="1"/>
              <a:t>markov</a:t>
            </a:r>
            <a:r>
              <a:rPr lang="en-US" dirty="0"/>
              <a:t> model ( HMM ) we need an Transition probabilities and Emission probabilities.</a:t>
            </a:r>
          </a:p>
          <a:p>
            <a:r>
              <a:rPr lang="en-US" dirty="0"/>
              <a:t>The transition probabilities are :</a:t>
            </a:r>
          </a:p>
          <a:p>
            <a:pPr>
              <a:buNone/>
            </a:pPr>
            <a:r>
              <a:rPr lang="en-US" dirty="0"/>
              <a:t>    P( R ---&gt; R) (Rainy stays rainy) = 0.7</a:t>
            </a:r>
          </a:p>
          <a:p>
            <a:pPr>
              <a:buNone/>
            </a:pPr>
            <a:r>
              <a:rPr lang="en-US" dirty="0"/>
              <a:t>    P( R ---&gt; S) ( Rainy turns into Sunny ) = 0.3</a:t>
            </a:r>
          </a:p>
          <a:p>
            <a:pPr>
              <a:buNone/>
            </a:pPr>
            <a:r>
              <a:rPr lang="en-US" dirty="0"/>
              <a:t>    P ( S ---&gt; S)  ( Sunny stays into sunny ) = 0.6</a:t>
            </a:r>
          </a:p>
          <a:p>
            <a:pPr>
              <a:buNone/>
            </a:pPr>
            <a:r>
              <a:rPr lang="en-US" dirty="0"/>
              <a:t>    P ( S----&gt; R)  (Sunny turns into rainy ) = 0.4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Viterbi</a:t>
            </a:r>
            <a:r>
              <a:rPr lang="en-US" dirty="0"/>
              <a:t> algorithm with example</a:t>
            </a:r>
          </a:p>
        </p:txBody>
      </p:sp>
      <p:sp>
        <p:nvSpPr>
          <p:cNvPr id="3" name="Content Placeholder 2"/>
          <p:cNvSpPr>
            <a:spLocks noGrp="1"/>
          </p:cNvSpPr>
          <p:nvPr>
            <p:ph idx="1"/>
          </p:nvPr>
        </p:nvSpPr>
        <p:spPr/>
        <p:txBody>
          <a:bodyPr/>
          <a:lstStyle/>
          <a:p>
            <a:r>
              <a:rPr lang="en-US" dirty="0"/>
              <a:t>The Observations of her activities is </a:t>
            </a:r>
          </a:p>
          <a:p>
            <a:pPr>
              <a:buNone/>
            </a:pPr>
            <a:r>
              <a:rPr lang="en-US" dirty="0"/>
              <a:t>    If it is Rainy the </a:t>
            </a:r>
            <a:r>
              <a:rPr lang="en-US" dirty="0" err="1"/>
              <a:t>behaviour</a:t>
            </a:r>
            <a:r>
              <a:rPr lang="en-US" dirty="0"/>
              <a:t> is </a:t>
            </a:r>
          </a:p>
          <a:p>
            <a:pPr>
              <a:buNone/>
            </a:pPr>
            <a:r>
              <a:rPr lang="en-US" dirty="0"/>
              <a:t>    Walk = 0.1</a:t>
            </a:r>
          </a:p>
          <a:p>
            <a:pPr>
              <a:buNone/>
            </a:pPr>
            <a:r>
              <a:rPr lang="en-US" dirty="0"/>
              <a:t>    Clean = 0.5</a:t>
            </a:r>
          </a:p>
          <a:p>
            <a:pPr>
              <a:buNone/>
            </a:pPr>
            <a:r>
              <a:rPr lang="en-US" dirty="0"/>
              <a:t>    Shop = 0.4</a:t>
            </a:r>
          </a:p>
          <a:p>
            <a:r>
              <a:rPr lang="en-US" dirty="0"/>
              <a:t> If it is Sunny  the </a:t>
            </a:r>
            <a:r>
              <a:rPr lang="en-US" dirty="0" err="1"/>
              <a:t>behaviour</a:t>
            </a:r>
            <a:r>
              <a:rPr lang="en-US" dirty="0"/>
              <a:t> is </a:t>
            </a:r>
          </a:p>
          <a:p>
            <a:pPr>
              <a:buNone/>
            </a:pPr>
            <a:r>
              <a:rPr lang="en-US" dirty="0"/>
              <a:t>     Walk = 0.6</a:t>
            </a:r>
          </a:p>
          <a:p>
            <a:pPr>
              <a:buNone/>
            </a:pPr>
            <a:r>
              <a:rPr lang="en-US" dirty="0"/>
              <a:t>     Clean = 0.3</a:t>
            </a:r>
          </a:p>
          <a:p>
            <a:pPr>
              <a:buNone/>
            </a:pPr>
            <a:r>
              <a:rPr lang="en-US" dirty="0"/>
              <a:t>     Shop = 0.1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Viterbi algorithm with example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6401" y="1707313"/>
            <a:ext cx="5791200" cy="4587961"/>
          </a:xfrm>
        </p:spPr>
      </p:pic>
    </p:spTree>
    <p:extLst>
      <p:ext uri="{BB962C8B-B14F-4D97-AF65-F5344CB8AC3E}">
        <p14:creationId xmlns:p14="http://schemas.microsoft.com/office/powerpoint/2010/main" val="2594826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Viterbi</a:t>
            </a:r>
            <a:r>
              <a:rPr lang="en-US" dirty="0"/>
              <a:t> algorithm with example</a:t>
            </a:r>
          </a:p>
        </p:txBody>
      </p:sp>
      <p:sp>
        <p:nvSpPr>
          <p:cNvPr id="3" name="Content Placeholder 2"/>
          <p:cNvSpPr>
            <a:spLocks noGrp="1"/>
          </p:cNvSpPr>
          <p:nvPr>
            <p:ph idx="1"/>
          </p:nvPr>
        </p:nvSpPr>
        <p:spPr/>
        <p:txBody>
          <a:bodyPr/>
          <a:lstStyle/>
          <a:p>
            <a:r>
              <a:rPr lang="en-US" dirty="0"/>
              <a:t>If the observations are WCSW</a:t>
            </a:r>
          </a:p>
          <a:p>
            <a:endParaRPr lang="en-US" dirty="0"/>
          </a:p>
          <a:p>
            <a:r>
              <a:rPr lang="en-US" dirty="0"/>
              <a:t>Then according to algorithm find the overall </a:t>
            </a:r>
            <a:r>
              <a:rPr lang="en-US" dirty="0" err="1"/>
              <a:t>prob</a:t>
            </a:r>
            <a:r>
              <a:rPr lang="en-US" dirty="0"/>
              <a:t>, </a:t>
            </a:r>
            <a:r>
              <a:rPr lang="en-US" dirty="0" err="1"/>
              <a:t>vit</a:t>
            </a:r>
            <a:r>
              <a:rPr lang="en-US" dirty="0"/>
              <a:t> </a:t>
            </a:r>
            <a:r>
              <a:rPr lang="en-US" dirty="0" err="1"/>
              <a:t>Prob</a:t>
            </a:r>
            <a:r>
              <a:rPr lang="en-US" dirty="0"/>
              <a:t>, </a:t>
            </a:r>
            <a:r>
              <a:rPr lang="en-US" dirty="0" err="1"/>
              <a:t>vit_path</a:t>
            </a:r>
            <a:r>
              <a:rPr lang="en-US" dirty="0"/>
              <a:t>.</a:t>
            </a:r>
          </a:p>
          <a:p>
            <a:endParaRPr lang="en-US" dirty="0"/>
          </a:p>
          <a:p>
            <a:r>
              <a:rPr lang="en-US" dirty="0"/>
              <a:t>In </a:t>
            </a:r>
            <a:r>
              <a:rPr lang="en-US" dirty="0" err="1"/>
              <a:t>vi_path</a:t>
            </a:r>
            <a:r>
              <a:rPr lang="en-US" dirty="0"/>
              <a:t> you get the sequence of states which need to compare with the original states in order to know the accuracy </a:t>
            </a:r>
          </a:p>
          <a:p>
            <a:endParaRPr lang="en-US" dirty="0"/>
          </a:p>
          <a:p>
            <a:r>
              <a:rPr lang="en-US" dirty="0"/>
              <a:t>Through many examples the accuracy varies between 80-90%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HMM</a:t>
            </a:r>
          </a:p>
        </p:txBody>
      </p:sp>
      <p:sp>
        <p:nvSpPr>
          <p:cNvPr id="3" name="Content Placeholder 2"/>
          <p:cNvSpPr>
            <a:spLocks noGrp="1"/>
          </p:cNvSpPr>
          <p:nvPr>
            <p:ph idx="1"/>
          </p:nvPr>
        </p:nvSpPr>
        <p:spPr/>
        <p:txBody>
          <a:bodyPr/>
          <a:lstStyle/>
          <a:p>
            <a:r>
              <a:rPr lang="en-US" dirty="0"/>
              <a:t>Cryptanalysis</a:t>
            </a:r>
          </a:p>
          <a:p>
            <a:endParaRPr lang="en-US" dirty="0"/>
          </a:p>
          <a:p>
            <a:r>
              <a:rPr lang="en-US" dirty="0"/>
              <a:t>Speech Recognition</a:t>
            </a:r>
          </a:p>
          <a:p>
            <a:endParaRPr lang="en-US" dirty="0"/>
          </a:p>
          <a:p>
            <a:r>
              <a:rPr lang="en-US" dirty="0"/>
              <a:t>Pattern Recognition</a:t>
            </a:r>
          </a:p>
          <a:p>
            <a:endParaRPr lang="en-US" dirty="0"/>
          </a:p>
          <a:p>
            <a:r>
              <a:rPr lang="en-US" dirty="0"/>
              <a:t>Activity Recognition</a:t>
            </a:r>
          </a:p>
          <a:p>
            <a:endParaRPr lang="en-US" dirty="0"/>
          </a:p>
          <a:p>
            <a:r>
              <a:rPr lang="en-US" dirty="0"/>
              <a:t>Machine Translation</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hlinkClick r:id="rId2"/>
              </a:rPr>
              <a:t>http://en.wikipedia.org/wiki/Hidden_Markov_model</a:t>
            </a:r>
            <a:endParaRPr lang="en-US" dirty="0"/>
          </a:p>
          <a:p>
            <a:r>
              <a:rPr lang="en-US" dirty="0">
                <a:hlinkClick r:id="rId3"/>
              </a:rPr>
              <a:t>www.evl.uic.edu/shalini/coursework/hmm</a:t>
            </a:r>
            <a:endParaRPr lang="en-US" dirty="0"/>
          </a:p>
          <a:p>
            <a:r>
              <a:rPr lang="en-US" u="sng" dirty="0">
                <a:solidFill>
                  <a:schemeClr val="accent1"/>
                </a:solidFill>
                <a:hlinkClick r:id="rId4"/>
              </a:rPr>
              <a:t>www.cedar.buffalo.edu/~govind/CS661/Lec12.</a:t>
            </a:r>
            <a:r>
              <a:rPr lang="en-US" b="1" u="sng" dirty="0">
                <a:solidFill>
                  <a:schemeClr val="accent1"/>
                </a:solidFill>
                <a:hlinkClick r:id="rId4"/>
              </a:rPr>
              <a:t>ppt</a:t>
            </a:r>
            <a:endParaRPr lang="en-US" b="1" u="sng" dirty="0">
              <a:solidFill>
                <a:schemeClr val="accent1"/>
              </a:solidFill>
            </a:endParaRPr>
          </a:p>
          <a:p>
            <a:r>
              <a:rPr lang="en-US" u="sng" dirty="0">
                <a:solidFill>
                  <a:schemeClr val="accent1"/>
                </a:solidFill>
              </a:rPr>
              <a:t>www.bios.niu.edu/johns/bioinf.../</a:t>
            </a:r>
            <a:r>
              <a:rPr lang="en-US" b="1" u="sng" dirty="0">
                <a:solidFill>
                  <a:schemeClr val="accent1"/>
                </a:solidFill>
              </a:rPr>
              <a:t>Hidden</a:t>
            </a:r>
            <a:r>
              <a:rPr lang="en-US" u="sng" dirty="0">
                <a:solidFill>
                  <a:schemeClr val="accent1"/>
                </a:solidFill>
              </a:rPr>
              <a:t>%20</a:t>
            </a:r>
            <a:r>
              <a:rPr lang="en-US" b="1" u="sng" dirty="0">
                <a:solidFill>
                  <a:schemeClr val="accent1"/>
                </a:solidFill>
              </a:rPr>
              <a:t>Markov</a:t>
            </a:r>
            <a:r>
              <a:rPr lang="en-US" u="sng" dirty="0">
                <a:solidFill>
                  <a:schemeClr val="accent1"/>
                </a:solidFill>
              </a:rPr>
              <a:t>%20</a:t>
            </a:r>
            <a:r>
              <a:rPr lang="en-US" b="1" u="sng" dirty="0">
                <a:solidFill>
                  <a:schemeClr val="accent1"/>
                </a:solidFill>
              </a:rPr>
              <a:t>Models</a:t>
            </a:r>
            <a:r>
              <a:rPr lang="en-US" u="sng" dirty="0">
                <a:solidFill>
                  <a:schemeClr val="accent1"/>
                </a:solidFill>
              </a:rPr>
              <a:t>.</a:t>
            </a:r>
            <a:r>
              <a:rPr lang="en-US" b="1" u="sng" dirty="0">
                <a:solidFill>
                  <a:schemeClr val="accent1"/>
                </a:solidFill>
              </a:rPr>
              <a:t>ppt</a:t>
            </a:r>
            <a:endParaRPr lang="en-US" u="sng" dirty="0">
              <a:solidFill>
                <a:schemeClr val="accent1"/>
              </a:solidFill>
            </a:endParaRPr>
          </a:p>
          <a:p>
            <a:r>
              <a:rPr lang="en-US" dirty="0">
                <a:hlinkClick r:id="rId5"/>
              </a:rPr>
              <a:t>www.ece.drexel.edu/gailr/ECE-S690-503/</a:t>
            </a:r>
            <a:r>
              <a:rPr lang="en-US" b="1" dirty="0">
                <a:hlinkClick r:id="rId5"/>
              </a:rPr>
              <a:t>markov</a:t>
            </a:r>
            <a:r>
              <a:rPr lang="en-US" dirty="0">
                <a:hlinkClick r:id="rId5"/>
              </a:rPr>
              <a:t>_</a:t>
            </a:r>
            <a:r>
              <a:rPr lang="en-US" b="1" dirty="0">
                <a:hlinkClick r:id="rId5"/>
              </a:rPr>
              <a:t>models</a:t>
            </a:r>
            <a:r>
              <a:rPr lang="en-US" dirty="0">
                <a:hlinkClick r:id="rId5"/>
              </a:rPr>
              <a:t>.</a:t>
            </a:r>
            <a:r>
              <a:rPr lang="en-US" b="1" dirty="0">
                <a:hlinkClick r:id="rId5"/>
              </a:rPr>
              <a:t>ppt</a:t>
            </a:r>
            <a:r>
              <a:rPr lang="en-US" dirty="0">
                <a:hlinkClick r:id="rId5"/>
              </a:rPr>
              <a:t>.pdf</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143000"/>
            <a:ext cx="7467600" cy="4873752"/>
          </a:xfrm>
        </p:spPr>
        <p:txBody>
          <a:bodyPr/>
          <a:lstStyle/>
          <a:p>
            <a:endParaRPr lang="en-US" dirty="0"/>
          </a:p>
          <a:p>
            <a:endParaRPr lang="en-US" dirty="0"/>
          </a:p>
          <a:p>
            <a:endParaRPr lang="en-US" dirty="0"/>
          </a:p>
          <a:p>
            <a:endParaRPr lang="en-US" dirty="0"/>
          </a:p>
          <a:p>
            <a:pPr lvl="6">
              <a:buNone/>
            </a:pPr>
            <a:r>
              <a:rPr lang="en-US" sz="40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1024</TotalTime>
  <Words>1324</Words>
  <Application>Microsoft Office PowerPoint</Application>
  <PresentationFormat>On-screen Show (4:3)</PresentationFormat>
  <Paragraphs>176</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Comic Sans MS</vt:lpstr>
      <vt:lpstr>Times New Roman</vt:lpstr>
      <vt:lpstr>Office Theme</vt:lpstr>
      <vt:lpstr>Hidden Markov Models</vt:lpstr>
      <vt:lpstr>Overview</vt:lpstr>
      <vt:lpstr>Markov Models</vt:lpstr>
      <vt:lpstr>Markov Property</vt:lpstr>
      <vt:lpstr>Discrete Markov Model : Example</vt:lpstr>
      <vt:lpstr>Example</vt:lpstr>
      <vt:lpstr>Hidden  Markov  Models </vt:lpstr>
      <vt:lpstr> Description</vt:lpstr>
      <vt:lpstr>Essentials</vt:lpstr>
      <vt:lpstr>Hidden Markov model ( Probabilistic finite state automata )</vt:lpstr>
      <vt:lpstr>Hidden Markov model</vt:lpstr>
      <vt:lpstr>Hidden Markov Models -  HMM</vt:lpstr>
      <vt:lpstr>Main issues  ?</vt:lpstr>
      <vt:lpstr>Problems  ?</vt:lpstr>
      <vt:lpstr>Solutions to evaluation problem ?</vt:lpstr>
      <vt:lpstr>Solutions to learning problem</vt:lpstr>
      <vt:lpstr>Solution to decoding problem ?</vt:lpstr>
      <vt:lpstr>Viterbi algorithm</vt:lpstr>
      <vt:lpstr> Viterbi algorithm with example</vt:lpstr>
      <vt:lpstr>Viterbi algorithm with example</vt:lpstr>
      <vt:lpstr>Viterbi algorithm with example</vt:lpstr>
      <vt:lpstr>Viterbi algorithm with example</vt:lpstr>
      <vt:lpstr>Viterbi algorithm with example</vt:lpstr>
      <vt:lpstr>Applications of HMM</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Markov Models</dc:title>
  <dc:creator>Raj</dc:creator>
  <cp:lastModifiedBy>Md Tanvir Rouf Shawon</cp:lastModifiedBy>
  <cp:revision>45</cp:revision>
  <dcterms:created xsi:type="dcterms:W3CDTF">2012-10-31T03:17:19Z</dcterms:created>
  <dcterms:modified xsi:type="dcterms:W3CDTF">2023-08-02T04:05:12Z</dcterms:modified>
</cp:coreProperties>
</file>