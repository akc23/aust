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  <p:sldMasterId id="2147483673" r:id="rId3"/>
    <p:sldMasterId id="2147483675" r:id="rId4"/>
  </p:sldMasterIdLst>
  <p:notesMasterIdLst>
    <p:notesMasterId r:id="rId4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44"/>
      <p:bold r:id="rId45"/>
      <p:italic r:id="rId46"/>
      <p:boldItalic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Comic Sans MS" panose="030F0702030302020204" pitchFamily="66" charset="0"/>
      <p:regular r:id="rId52"/>
      <p:bold r:id="rId53"/>
      <p:italic r:id="rId54"/>
      <p:boldItalic r:id="rId55"/>
    </p:embeddedFont>
    <p:embeddedFont>
      <p:font typeface="Constantia" panose="02030602050306030303" pitchFamily="18" charset="0"/>
      <p:regular r:id="rId56"/>
      <p:bold r:id="rId57"/>
      <p:italic r:id="rId58"/>
      <p:boldItalic r:id="rId59"/>
    </p:embeddedFont>
    <p:embeddedFont>
      <p:font typeface="Noto Sans Symbols" panose="020B0604020202020204" charset="0"/>
      <p:regular r:id="rId60"/>
      <p:bold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jFimCxF05OoYnW7BkWks4XKlB7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8" y="3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font" Target="fonts/font18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pectrum" TargetMode="External"/><Relationship Id="rId7" Type="http://schemas.openxmlformats.org/officeDocument/2006/relationships/hyperlink" Target="https://en.wikipedia.org/wiki/Photon_energy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Wavelength" TargetMode="External"/><Relationship Id="rId5" Type="http://schemas.openxmlformats.org/officeDocument/2006/relationships/hyperlink" Target="https://en.wikipedia.org/wiki/Electromagnetic_radiation" TargetMode="External"/><Relationship Id="rId4" Type="http://schemas.openxmlformats.org/officeDocument/2006/relationships/hyperlink" Target="https://en.wikipedia.org/wiki/Frequency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cite_note-em-spectrum-5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59" name="Google Shape;159;p2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Mach bands were named after Ernst Mach who described the phenomenon in 1865</a:t>
            </a:r>
            <a:endParaRPr/>
          </a:p>
        </p:txBody>
      </p:sp>
      <p:sp>
        <p:nvSpPr>
          <p:cNvPr id="181" name="Google Shape;181;p5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82" name="Google Shape;182;p5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Cornea and sclera keep everything in!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choroid contains all of the blood vessels that serve as nutrition to the eye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iris contains the pigment that gives our eyes their colour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Rods for general vision cones for details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Blind spot is where the optic nerve connects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BLIND SPOT EXPERIMENT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Women have extra cones which means they can see more colours</a:t>
            </a:r>
            <a:endParaRPr/>
          </a:p>
        </p:txBody>
      </p:sp>
      <p:sp>
        <p:nvSpPr>
          <p:cNvPr id="205" name="Google Shape;205;p8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06" name="Google Shape;206;p8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28" name="Google Shape;228;p1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39" name="Google Shape;239;p12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49" name="Google Shape;249;p13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Mach bands were named after Ernst Mach who described the phenomenon in 1865</a:t>
            </a:r>
            <a:endParaRPr/>
          </a:p>
        </p:txBody>
      </p:sp>
      <p:sp>
        <p:nvSpPr>
          <p:cNvPr id="257" name="Google Shape;257;p14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58" name="Google Shape;258;p14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293" name="Google Shape;2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317" name="Google Shape;3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 </a:t>
            </a:r>
            <a:r>
              <a:rPr lang="en-US" b="1"/>
              <a:t>electromagnetic spectrum</a:t>
            </a:r>
            <a:r>
              <a:rPr lang="en-US"/>
              <a:t> is the entire range and scope (</a:t>
            </a:r>
            <a:r>
              <a:rPr lang="en-US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spectrum</a:t>
            </a:r>
            <a:r>
              <a:rPr lang="en-US"/>
              <a:t> is the entire range and scope (spectrum) of </a:t>
            </a:r>
            <a:r>
              <a:rPr lang="en-US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frequencies</a:t>
            </a:r>
            <a:r>
              <a:rPr lang="en-US"/>
              <a:t> is the entire range and scope (spectrum) of frequencies of </a:t>
            </a:r>
            <a:r>
              <a:rPr lang="en-US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electromagnetic radiation</a:t>
            </a:r>
            <a:r>
              <a:rPr lang="en-US"/>
              <a:t> is the entire range and scope (spectrum) of frequencies of electromagnetic radiation and their respective </a:t>
            </a:r>
            <a:r>
              <a:rPr lang="en-US" u="sng">
                <a:solidFill>
                  <a:srgbClr val="0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wavelengths</a:t>
            </a:r>
            <a:r>
              <a:rPr lang="en-US"/>
              <a:t> is the entire range and scope (spectrum) of frequencies of electromagnetic radiation and their respective wavelengths and </a:t>
            </a:r>
            <a:r>
              <a:rPr lang="en-US" u="sng">
                <a:solidFill>
                  <a:srgbClr val="0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photon energies</a:t>
            </a:r>
            <a:r>
              <a:rPr lang="en-US"/>
              <a:t>. </a:t>
            </a:r>
            <a:endParaRPr/>
          </a:p>
        </p:txBody>
      </p:sp>
      <p:sp>
        <p:nvSpPr>
          <p:cNvPr id="341" name="Google Shape;341;p22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42" name="Google Shape;342;p22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types of electromagnetic radiation are broadly classified into the following classes:</a:t>
            </a:r>
            <a:r>
              <a:rPr lang="en-US" u="sng" baseline="3000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Gamma radiation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X-ray radiation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Ultraviolet radiation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Visible radiation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Infrared radiation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Terahertz radiation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Microwave radiation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Radio waves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3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52" name="Google Shape;352;p23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Incoming energy lands on a sensor material  responsive to that type of energy and this generates a voltage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Collections of sensors are arranged to capture images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5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515" name="Google Shape;515;p35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/>
          </a:p>
        </p:txBody>
      </p:sp>
      <p:sp>
        <p:nvSpPr>
          <p:cNvPr id="542" name="Google Shape;54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4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6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6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58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6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3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000066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8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48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48"/>
          <p:cNvSpPr txBox="1">
            <a:spLocks noGrp="1"/>
          </p:cNvSpPr>
          <p:nvPr>
            <p:ph type="body" idx="3"/>
          </p:nvPr>
        </p:nvSpPr>
        <p:spPr>
          <a:xfrm>
            <a:off x="457200" y="31242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48"/>
          <p:cNvSpPr txBox="1">
            <a:spLocks noGrp="1"/>
          </p:cNvSpPr>
          <p:nvPr>
            <p:ph type="body" idx="4"/>
          </p:nvPr>
        </p:nvSpPr>
        <p:spPr>
          <a:xfrm>
            <a:off x="4648200" y="31242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9"/>
          <p:cNvSpPr txBox="1">
            <a:spLocks noGrp="1"/>
          </p:cNvSpPr>
          <p:nvPr>
            <p:ph type="title"/>
          </p:nvPr>
        </p:nvSpPr>
        <p:spPr>
          <a:xfrm rot="5400000">
            <a:off x="5395119" y="1508919"/>
            <a:ext cx="452596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9"/>
          <p:cNvSpPr txBox="1">
            <a:spLocks noGrp="1"/>
          </p:cNvSpPr>
          <p:nvPr>
            <p:ph type="body" idx="1"/>
          </p:nvPr>
        </p:nvSpPr>
        <p:spPr>
          <a:xfrm rot="5400000">
            <a:off x="1204119" y="-472281"/>
            <a:ext cx="452596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0"/>
          <p:cNvSpPr txBox="1">
            <a:spLocks noGrp="1"/>
          </p:cNvSpPr>
          <p:nvPr>
            <p:ph type="body" idx="1"/>
          </p:nvPr>
        </p:nvSpPr>
        <p:spPr>
          <a:xfrm rot="5400000">
            <a:off x="2819400" y="-1066800"/>
            <a:ext cx="3505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5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336600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00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000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336600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660066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16" name="Google Shape;116;p5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336600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00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000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5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21" name="Google Shape;121;p5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5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5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4038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26" name="Google Shape;126;p54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38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19999">
              <a:srgbClr val="9ED3D7"/>
            </a:gs>
            <a:gs pos="22999">
              <a:srgbClr val="ACD9DD"/>
            </a:gs>
            <a:gs pos="80000">
              <a:srgbClr val="BBE0E3"/>
            </a:gs>
            <a:gs pos="100000">
              <a:srgbClr val="9C9CDF"/>
            </a:gs>
          </a:gsLst>
          <a:lin ang="5400000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19999">
              <a:srgbClr val="9ED3D7"/>
            </a:gs>
            <a:gs pos="22999">
              <a:srgbClr val="ACD9DD"/>
            </a:gs>
            <a:gs pos="80000">
              <a:srgbClr val="BBE0E3"/>
            </a:gs>
            <a:gs pos="100000">
              <a:srgbClr val="9C9CDF"/>
            </a:gs>
          </a:gsLst>
          <a:lin ang="5400000" scaled="0"/>
        </a:gra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4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" name="Google Shape;134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6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6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lpoma@aus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onstantia"/>
              <a:buNone/>
            </a:pPr>
            <a:r>
              <a:rPr lang="en-US" sz="3200" b="1" i="0" u="none">
                <a:solidFill>
                  <a:srgbClr val="CC0000"/>
                </a:solidFill>
                <a:latin typeface="Constantia"/>
                <a:ea typeface="Constantia"/>
                <a:cs typeface="Constantia"/>
                <a:sym typeface="Constantia"/>
              </a:rPr>
              <a:t>CSE4227 </a:t>
            </a:r>
            <a:r>
              <a:rPr lang="en-US" sz="4000" b="1" i="0" u="none">
                <a:solidFill>
                  <a:srgbClr val="CC0000"/>
                </a:solidFill>
                <a:latin typeface="Constantia"/>
                <a:ea typeface="Constantia"/>
                <a:cs typeface="Constantia"/>
                <a:sym typeface="Constantia"/>
              </a:rPr>
              <a:t>Digital Image Processing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066800" y="1271587"/>
            <a:ext cx="754380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02A"/>
              </a:buClr>
              <a:buSzPts val="4800"/>
              <a:buFont typeface="Constantia"/>
              <a:buNone/>
            </a:pPr>
            <a:r>
              <a:rPr lang="en-US" sz="4800" b="0" i="0" u="none" strike="noStrike" cap="none" baseline="-25000">
                <a:solidFill>
                  <a:srgbClr val="00102A"/>
                </a:solidFill>
                <a:latin typeface="Constantia"/>
                <a:ea typeface="Constantia"/>
                <a:cs typeface="Constantia"/>
                <a:sym typeface="Constantia"/>
              </a:rPr>
              <a:t> Lecture 02 – </a:t>
            </a:r>
            <a:r>
              <a:rPr lang="en-US" sz="4800" b="1" i="0" u="none" strike="noStrike" cap="none" baseline="-25000">
                <a:solidFill>
                  <a:srgbClr val="00102A"/>
                </a:solidFill>
                <a:latin typeface="Constantia"/>
                <a:ea typeface="Constantia"/>
                <a:cs typeface="Constantia"/>
                <a:sym typeface="Constantia"/>
              </a:rPr>
              <a:t>Digital image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02A"/>
              </a:buClr>
              <a:buSzPts val="4800"/>
              <a:buFont typeface="Constantia"/>
              <a:buNone/>
            </a:pPr>
            <a:r>
              <a:rPr lang="en-US" sz="4800" b="1" i="0" u="none" strike="noStrike" cap="none" baseline="-25000">
                <a:solidFill>
                  <a:srgbClr val="00102A"/>
                </a:solidFill>
                <a:latin typeface="Constantia"/>
                <a:ea typeface="Constantia"/>
                <a:cs typeface="Constantia"/>
                <a:sym typeface="Constantia"/>
              </a:rPr>
              <a:t>Fundamentals</a:t>
            </a:r>
            <a:endParaRPr sz="4800" b="0" i="0" u="none" strike="noStrike" cap="none" baseline="-25000">
              <a:solidFill>
                <a:srgbClr val="00102A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baseline="-25000">
              <a:solidFill>
                <a:srgbClr val="00102A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76200" y="3052762"/>
            <a:ext cx="89154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200"/>
              <a:buFont typeface="Constantia"/>
              <a:buNone/>
            </a:pPr>
            <a:r>
              <a:rPr lang="en-US" sz="3200" b="0" i="0" u="none">
                <a:solidFill>
                  <a:srgbClr val="339966"/>
                </a:solidFill>
                <a:latin typeface="Constantia"/>
                <a:ea typeface="Constantia"/>
                <a:cs typeface="Constantia"/>
                <a:sym typeface="Constantia"/>
              </a:rPr>
              <a:t>Dr. Kazi  A Kalpo</a:t>
            </a:r>
            <a:r>
              <a:rPr lang="en-US" sz="3200" b="0" i="0" u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m</a:t>
            </a:r>
            <a:r>
              <a:rPr lang="en-US" sz="3200" b="0" i="0" u="none">
                <a:solidFill>
                  <a:srgbClr val="339966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</a:pPr>
            <a:r>
              <a:rPr lang="en-US" sz="1800" b="0" i="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Professor, Department of CSE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</a:pPr>
            <a:r>
              <a:rPr lang="en-US" sz="1800" b="0" i="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&amp; Director of ICT 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</a:pPr>
            <a:r>
              <a:rPr lang="en-US" sz="1800" b="0" i="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Ahsanullah University of Science &amp; Technology (AUST)</a:t>
            </a:r>
            <a:endParaRPr sz="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    </a:t>
            </a:r>
            <a:r>
              <a:rPr lang="en-US" sz="1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kalpoma@aust.com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1160462" y="6194425"/>
            <a:ext cx="386873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| AUST </a:t>
            </a:r>
            <a:endParaRPr/>
          </a:p>
        </p:txBody>
      </p:sp>
      <p:pic>
        <p:nvPicPr>
          <p:cNvPr id="153" name="Google Shape;153;p1" descr="C:\Users\User\Desktop\3482_aust.jpg"/>
          <p:cNvPicPr preferRelativeResize="0"/>
          <p:nvPr/>
        </p:nvPicPr>
        <p:blipFill rotWithShape="1">
          <a:blip r:embed="rId4">
            <a:alphaModFix/>
          </a:blip>
          <a:srcRect l="9219" t="367" r="7809"/>
          <a:stretch/>
        </p:blipFill>
        <p:spPr>
          <a:xfrm>
            <a:off x="228600" y="5867400"/>
            <a:ext cx="838200" cy="93186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"/>
          <p:cNvSpPr txBox="1"/>
          <p:nvPr/>
        </p:nvSpPr>
        <p:spPr>
          <a:xfrm>
            <a:off x="7010400" y="6172200"/>
            <a:ext cx="198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/>
              <a:t>Fall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Today’s Contents</a:t>
            </a: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3" name="Google Shape;163;p2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1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Image Sensing and  Acquisition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Constantia"/>
              <a:buChar char="–"/>
            </a:pPr>
            <a:r>
              <a:rPr lang="en-US" sz="2400" b="1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Visual Perception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Constantia"/>
              <a:buChar char="–"/>
            </a:pPr>
            <a:r>
              <a:rPr lang="en-US" sz="2400" b="1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Image formation model</a:t>
            </a:r>
            <a:endParaRPr/>
          </a:p>
        </p:txBody>
      </p:sp>
      <p:sp>
        <p:nvSpPr>
          <p:cNvPr id="164" name="Google Shape;164;p2"/>
          <p:cNvSpPr txBox="1"/>
          <p:nvPr/>
        </p:nvSpPr>
        <p:spPr>
          <a:xfrm>
            <a:off x="381000" y="4495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Chapter 2 from R.C. Gonzalez and R.E. Woods, Digital Image Processing (3rd Edition), Prentice Hall, 2008 [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Section 2.1, 2.2, 2.3 </a:t>
            </a:r>
            <a:r>
              <a:rPr lang="en-US" sz="1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>
            <a:spLocks noGrp="1"/>
          </p:cNvSpPr>
          <p:nvPr>
            <p:ph type="title"/>
          </p:nvPr>
        </p:nvSpPr>
        <p:spPr>
          <a:xfrm>
            <a:off x="457200" y="8842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Arial"/>
              <a:buNone/>
            </a:pPr>
            <a:r>
              <a:rPr lang="en-US" sz="36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What is meant by visual perception?</a:t>
            </a:r>
            <a:br>
              <a:rPr lang="en-US" sz="36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70" name="Google Shape;170;p3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Visual perception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 is the ability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to see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(analyze and give meaning to) the </a:t>
            </a:r>
            <a:r>
              <a:rPr lang="en-US" sz="28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visual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 information that surrounds us.</a:t>
            </a:r>
            <a:endParaRPr/>
          </a:p>
          <a:p>
            <a:pPr marL="342900" marR="0" lvl="0" indent="-241300" algn="just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There is a large difference between the image we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and the image we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actually perceive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1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Human Visual System</a:t>
            </a:r>
            <a:endParaRPr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There is a difference between the </a:t>
            </a:r>
            <a:r>
              <a:rPr lang="en-US" sz="2800" b="1" i="0" u="none" strike="noStrike" cap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luminance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 of a pixel on a computer screen and the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perceived brightness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of this pixel.</a:t>
            </a:r>
            <a:endParaRPr/>
          </a:p>
          <a:p>
            <a:pPr marL="342900" marR="0" lvl="0" indent="-2540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If we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double the screen luminance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, this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does not imply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that the perceived brightness is doubled too. </a:t>
            </a:r>
            <a:endParaRPr/>
          </a:p>
          <a:p>
            <a:pPr marL="342900" marR="0" lvl="0" indent="-2540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 brightness also depends on other factors, such as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contrast around the pixel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and various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cognitive processes</a:t>
            </a:r>
            <a:endParaRPr/>
          </a:p>
          <a:p>
            <a:pPr marL="342900" marR="0" lvl="0" indent="-1651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endParaRPr sz="2800" b="0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457200" y="5032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Arial"/>
              <a:buNone/>
            </a:pPr>
            <a:r>
              <a:rPr lang="en-US" sz="36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Brightness Adaptation &amp; Discrimination (cont…)</a:t>
            </a: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376237" y="2063750"/>
            <a:ext cx="8367712" cy="3560762"/>
            <a:chOff x="1215" y="1340"/>
            <a:chExt cx="3302" cy="1405"/>
          </a:xfrm>
        </p:grpSpPr>
        <p:pic>
          <p:nvPicPr>
            <p:cNvPr id="186" name="Google Shape;186;p5"/>
            <p:cNvPicPr preferRelativeResize="0"/>
            <p:nvPr/>
          </p:nvPicPr>
          <p:blipFill rotWithShape="1">
            <a:blip r:embed="rId3">
              <a:alphaModFix/>
            </a:blip>
            <a:srcRect b="32019"/>
            <a:stretch/>
          </p:blipFill>
          <p:spPr>
            <a:xfrm>
              <a:off x="1250" y="1370"/>
              <a:ext cx="3259" cy="10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5"/>
            <p:cNvSpPr txBox="1"/>
            <p:nvPr/>
          </p:nvSpPr>
          <p:spPr>
            <a:xfrm>
              <a:off x="1215" y="1340"/>
              <a:ext cx="3302" cy="1129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1215" y="2469"/>
              <a:ext cx="3302" cy="276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 example of </a:t>
              </a:r>
              <a:r>
                <a:rPr lang="en-US" sz="1800" b="0" i="1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simultaneous contrast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1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Human Visual System</a:t>
            </a:r>
            <a:endParaRPr/>
          </a:p>
        </p:txBody>
      </p:sp>
      <p:sp>
        <p:nvSpPr>
          <p:cNvPr id="194" name="Google Shape;194;p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 The human visual system can perform a number of image processing tasks in a manner vastly superior to anything we are presently able to do with computers. 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endParaRPr sz="2800" b="0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 best vision model we have!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endParaRPr sz="2800" b="0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If we want to mimic such processing, we need to carefully study the way our eyes and brain do this.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endParaRPr sz="2800" b="0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1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Human Visual System</a:t>
            </a:r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 The human visual system consists of two functional parts: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6600"/>
              </a:buClr>
              <a:buSzPts val="2800"/>
              <a:buFont typeface="Constantia"/>
              <a:buChar char="–"/>
            </a:pPr>
            <a:r>
              <a:rPr lang="en-US" sz="2800" b="1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eye and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6600"/>
              </a:buClr>
              <a:buSzPts val="2800"/>
              <a:buFont typeface="Constantia"/>
              <a:buChar char="–"/>
            </a:pPr>
            <a:r>
              <a:rPr lang="en-US" sz="2800" b="1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 (part of the) brain. </a:t>
            </a:r>
            <a:endParaRPr/>
          </a:p>
          <a:p>
            <a:pPr marL="742950" marR="0" lvl="1" indent="-1079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66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3366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 brain does all of the complex image processing, while the eye functions as the biological equivalent of a camera.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Arial"/>
              <a:buNone/>
            </a:pPr>
            <a:r>
              <a:rPr lang="en-US" sz="36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Structure Of The Human Eye</a:t>
            </a:r>
            <a:endParaRPr/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3">
            <a:alphaModFix/>
          </a:blip>
          <a:srcRect r="25060"/>
          <a:stretch/>
        </p:blipFill>
        <p:spPr>
          <a:xfrm>
            <a:off x="5029200" y="1546225"/>
            <a:ext cx="3883025" cy="43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4572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 lens focuses light from objects onto the retina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Noto Sans Symbols"/>
              <a:buNone/>
            </a:pPr>
            <a:endParaRPr sz="1100" b="0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 retina is covered with </a:t>
            </a:r>
            <a:b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light receptors called </a:t>
            </a:r>
            <a:b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400" b="0" i="1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cones</a:t>
            </a: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 (6-7 million) and</a:t>
            </a:r>
            <a:b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400" b="0" i="1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rods</a:t>
            </a: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 (75-150 million)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Noto Sans Symbols"/>
              <a:buNone/>
            </a:pPr>
            <a:endParaRPr sz="1100" b="0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Cones are concentrated </a:t>
            </a:r>
            <a:b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around the fovea and are </a:t>
            </a:r>
            <a:b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very sensitive to colour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Noto Sans Symbols"/>
              <a:buNone/>
            </a:pPr>
            <a:endParaRPr sz="1100" b="0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Rods are more spread out </a:t>
            </a:r>
            <a:b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4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and are sensitive to low levels of illumination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nstantia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When a light ray hits the eye, it will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first pass through the cornea, then s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ubsequently through the aqueous humor, the iris, the lens, and the vitreous humor before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finally reaching the retina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nstantia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cornea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 is a transparent protective layer, which acts as a lens and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refracts the light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nstantia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The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iris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 forms a round aperture that can vary in size and so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determines the amount of light 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that can pass through.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nstantia"/>
              <a:buChar char="•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In the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retina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, the light rays are detected and 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converted to electrical signals </a:t>
            </a: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by photoreceptors.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/>
        </p:nvSpPr>
        <p:spPr>
          <a:xfrm>
            <a:off x="655637" y="134778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457200" y="1390650"/>
            <a:ext cx="8382000" cy="50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lens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contains 60-70% water, 6% of fat.</a:t>
            </a:r>
            <a:endParaRPr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iris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diaphragm controls amount of light that enters the eye.</a:t>
            </a:r>
            <a:endParaRPr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❑"/>
            </a:pP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Light receptors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retina are Cones and Rods:</a:t>
            </a:r>
            <a:endParaRPr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1" i="1" u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</a:t>
            </a: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Cones</a:t>
            </a:r>
            <a:r>
              <a:rPr lang="en-US" sz="2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bright light vision called </a:t>
            </a: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photopic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Cones involve in color vision.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Cones are concentrated in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fovea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about 1.5x1.5 mm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Rods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dim light vision called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scotopic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Rods are sensitive to low level of light and 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are not involved in color vision.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❑"/>
            </a:pP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Blind spot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region of emergence of the optic nerve from the eye. In this area receptors are absent and no image detection.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771525" y="379412"/>
            <a:ext cx="53673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onstantia"/>
              <a:buNone/>
            </a:pPr>
            <a:r>
              <a:rPr lang="en-US" sz="2800" b="1" i="0" u="sng">
                <a:solidFill>
                  <a:srgbClr val="800000"/>
                </a:solidFill>
                <a:latin typeface="Constantia"/>
                <a:ea typeface="Constantia"/>
                <a:cs typeface="Constantia"/>
                <a:sym typeface="Constantia"/>
              </a:rPr>
              <a:t>Visual Perception: Human Eye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Arial"/>
              <a:buNone/>
            </a:pPr>
            <a:r>
              <a:rPr lang="en-US" sz="36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Image Formation In The Eye</a:t>
            </a:r>
            <a:endParaRPr/>
          </a:p>
        </p:txBody>
      </p:sp>
      <p:sp>
        <p:nvSpPr>
          <p:cNvPr id="231" name="Google Shape;231;p11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Muscles within the eye can be used to change the shape of the lens allowing us focus on objects that are near or far away</a:t>
            </a:r>
            <a:endParaRPr/>
          </a:p>
          <a:p>
            <a:pPr marL="0" lvl="0" indent="-1524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An image is focused onto the retina causing rods and cones to become excited which ultimately send signals to the brain</a:t>
            </a:r>
            <a:endParaRPr/>
          </a:p>
        </p:txBody>
      </p:sp>
      <p:pic>
        <p:nvPicPr>
          <p:cNvPr id="232" name="Google Shape;232;p11"/>
          <p:cNvPicPr preferRelativeResize="0"/>
          <p:nvPr/>
        </p:nvPicPr>
        <p:blipFill rotWithShape="1">
          <a:blip r:embed="rId3">
            <a:alphaModFix/>
          </a:blip>
          <a:srcRect l="18150"/>
          <a:stretch/>
        </p:blipFill>
        <p:spPr>
          <a:xfrm>
            <a:off x="609600" y="3582987"/>
            <a:ext cx="8202612" cy="243681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 txBox="1"/>
          <p:nvPr/>
        </p:nvSpPr>
        <p:spPr>
          <a:xfrm>
            <a:off x="1524000" y="6030912"/>
            <a:ext cx="647858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onstantia"/>
              <a:buNone/>
            </a:pPr>
            <a:r>
              <a:rPr lang="en-US" sz="1800" b="1" i="0" u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(Height of the tree in the retinal image ) </a:t>
            </a:r>
            <a:r>
              <a:rPr lang="en-US" sz="2400" b="1" i="0" u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/ 17 = (15/100 )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br>
              <a:rPr lang="en-US" sz="3600" b="1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3600" b="1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Some psychophysics:</a:t>
            </a:r>
            <a:br>
              <a:rPr lang="en-US" sz="36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</a:t>
            </a:r>
            <a:r>
              <a:rPr lang="en-US" sz="28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Blind-Spot Experiment</a:t>
            </a:r>
            <a:endParaRPr/>
          </a:p>
        </p:txBody>
      </p:sp>
      <p:sp>
        <p:nvSpPr>
          <p:cNvPr id="242" name="Google Shape;242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Draw an image similar to that below on a piece of paper (the dot and cross are about 6 inches apart)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Close your right eye and focus on the cross with your left eye</a:t>
            </a:r>
            <a:endParaRPr/>
          </a:p>
          <a:p>
            <a:pPr marL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Hold the image about 20 inches away from your face and move it slowly towards you</a:t>
            </a:r>
            <a:endParaRPr/>
          </a:p>
          <a:p>
            <a:pPr marL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dot should disappear!</a:t>
            </a:r>
            <a:endParaRPr/>
          </a:p>
        </p:txBody>
      </p:sp>
      <p:pic>
        <p:nvPicPr>
          <p:cNvPr id="243" name="Google Shape;243;p12" descr="o                                  +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2916237"/>
            <a:ext cx="5899150" cy="7413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Arial"/>
              <a:buNone/>
            </a:pPr>
            <a:r>
              <a:rPr lang="en-US" sz="36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Brightness Adaptation &amp; Discrimination</a:t>
            </a:r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The human visual system can perceive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approximately 10</a:t>
            </a:r>
            <a:r>
              <a:rPr lang="en-US" sz="2800" b="0" i="0" u="none" baseline="30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different light intensity levels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endParaRPr sz="28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However, at any one time we can only discriminate between a much smaller number – </a:t>
            </a:r>
            <a:r>
              <a:rPr lang="en-US" sz="2800" b="0" i="1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brightness adaptation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endParaRPr sz="2800" b="0" i="1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Similarly, the </a:t>
            </a:r>
            <a:r>
              <a:rPr lang="en-US" sz="2800" b="0" i="1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perceived intensity</a:t>
            </a: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of a region is related to the light intensities of the regions surrounding it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Arial"/>
              <a:buNone/>
            </a:pPr>
            <a:r>
              <a:rPr lang="en-US" sz="32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Brightness Adaptation &amp; Discrimination </a:t>
            </a:r>
            <a:endParaRPr/>
          </a:p>
        </p:txBody>
      </p:sp>
      <p:pic>
        <p:nvPicPr>
          <p:cNvPr id="261" name="Google Shape;2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3662" y="1643062"/>
            <a:ext cx="5494337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 txBox="1"/>
          <p:nvPr/>
        </p:nvSpPr>
        <p:spPr>
          <a:xfrm>
            <a:off x="609600" y="5791200"/>
            <a:ext cx="80772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image, edges between bars appear brighter on the right side and darker on the left side.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685800" y="1143000"/>
            <a:ext cx="83058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lang="en-US" sz="2000" b="1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Intensities of surrounding points effect perceived brightness at each point.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 txBox="1"/>
          <p:nvPr/>
        </p:nvSpPr>
        <p:spPr>
          <a:xfrm>
            <a:off x="304800" y="5395912"/>
            <a:ext cx="84582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 area A, brightness perceived is darker while in area B is brighter.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This phenomenon is called </a:t>
            </a:r>
            <a:r>
              <a:rPr lang="en-US" sz="20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Mach Band Effect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269" name="Google Shape;269;p15"/>
          <p:cNvGrpSpPr/>
          <p:nvPr/>
        </p:nvGrpSpPr>
        <p:grpSpPr>
          <a:xfrm>
            <a:off x="2062162" y="3279775"/>
            <a:ext cx="3963987" cy="1517650"/>
            <a:chOff x="1685" y="1132"/>
            <a:chExt cx="2497" cy="1969"/>
          </a:xfrm>
        </p:grpSpPr>
        <p:sp>
          <p:nvSpPr>
            <p:cNvPr id="270" name="Google Shape;270;p15"/>
            <p:cNvSpPr txBox="1"/>
            <p:nvPr/>
          </p:nvSpPr>
          <p:spPr>
            <a:xfrm>
              <a:off x="1685" y="1132"/>
              <a:ext cx="2496" cy="1968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15"/>
            <p:cNvCxnSpPr/>
            <p:nvPr/>
          </p:nvCxnSpPr>
          <p:spPr>
            <a:xfrm>
              <a:off x="1685" y="1132"/>
              <a:ext cx="2496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2" name="Google Shape;272;p15"/>
            <p:cNvCxnSpPr/>
            <p:nvPr/>
          </p:nvCxnSpPr>
          <p:spPr>
            <a:xfrm>
              <a:off x="1685" y="3100"/>
              <a:ext cx="2496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3" name="Google Shape;273;p15"/>
            <p:cNvCxnSpPr/>
            <p:nvPr/>
          </p:nvCxnSpPr>
          <p:spPr>
            <a:xfrm rot="10800000" flipH="1">
              <a:off x="4181" y="1132"/>
              <a:ext cx="1" cy="196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4" name="Google Shape;274;p15"/>
            <p:cNvCxnSpPr/>
            <p:nvPr/>
          </p:nvCxnSpPr>
          <p:spPr>
            <a:xfrm rot="10800000" flipH="1">
              <a:off x="1685" y="1132"/>
              <a:ext cx="1" cy="196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5" name="Google Shape;275;p15"/>
            <p:cNvCxnSpPr/>
            <p:nvPr/>
          </p:nvCxnSpPr>
          <p:spPr>
            <a:xfrm>
              <a:off x="1685" y="3100"/>
              <a:ext cx="2496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6" name="Google Shape;276;p15"/>
            <p:cNvCxnSpPr/>
            <p:nvPr/>
          </p:nvCxnSpPr>
          <p:spPr>
            <a:xfrm rot="10800000" flipH="1">
              <a:off x="1685" y="1132"/>
              <a:ext cx="1" cy="196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7" name="Google Shape;277;p15"/>
            <p:cNvCxnSpPr/>
            <p:nvPr/>
          </p:nvCxnSpPr>
          <p:spPr>
            <a:xfrm>
              <a:off x="1685" y="1132"/>
              <a:ext cx="2496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8" name="Google Shape;278;p15"/>
            <p:cNvCxnSpPr/>
            <p:nvPr/>
          </p:nvCxnSpPr>
          <p:spPr>
            <a:xfrm>
              <a:off x="1685" y="3100"/>
              <a:ext cx="2496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79" name="Google Shape;279;p15"/>
            <p:cNvCxnSpPr/>
            <p:nvPr/>
          </p:nvCxnSpPr>
          <p:spPr>
            <a:xfrm rot="10800000" flipH="1">
              <a:off x="4181" y="1132"/>
              <a:ext cx="1" cy="196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80" name="Google Shape;280;p15"/>
            <p:cNvCxnSpPr/>
            <p:nvPr/>
          </p:nvCxnSpPr>
          <p:spPr>
            <a:xfrm rot="10800000" flipH="1">
              <a:off x="1685" y="1132"/>
              <a:ext cx="1" cy="196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1" name="Google Shape;281;p15"/>
            <p:cNvSpPr/>
            <p:nvPr/>
          </p:nvSpPr>
          <p:spPr>
            <a:xfrm>
              <a:off x="1685" y="1296"/>
              <a:ext cx="2496" cy="1641"/>
            </a:xfrm>
            <a:custGeom>
              <a:avLst/>
              <a:gdLst/>
              <a:ahLst/>
              <a:cxnLst/>
              <a:rect l="l" t="t" r="r" b="b"/>
              <a:pathLst>
                <a:path w="2496" h="1641" extrusionOk="0">
                  <a:moveTo>
                    <a:pt x="0" y="1641"/>
                  </a:moveTo>
                  <a:lnTo>
                    <a:pt x="4" y="1641"/>
                  </a:lnTo>
                  <a:lnTo>
                    <a:pt x="9" y="1641"/>
                  </a:lnTo>
                  <a:lnTo>
                    <a:pt x="14" y="1641"/>
                  </a:lnTo>
                  <a:lnTo>
                    <a:pt x="19" y="1641"/>
                  </a:lnTo>
                  <a:lnTo>
                    <a:pt x="24" y="1641"/>
                  </a:lnTo>
                  <a:lnTo>
                    <a:pt x="33" y="1641"/>
                  </a:lnTo>
                  <a:lnTo>
                    <a:pt x="38" y="1641"/>
                  </a:lnTo>
                  <a:lnTo>
                    <a:pt x="43" y="1641"/>
                  </a:lnTo>
                  <a:lnTo>
                    <a:pt x="48" y="1641"/>
                  </a:lnTo>
                  <a:lnTo>
                    <a:pt x="52" y="1641"/>
                  </a:lnTo>
                  <a:lnTo>
                    <a:pt x="57" y="1641"/>
                  </a:lnTo>
                  <a:lnTo>
                    <a:pt x="62" y="1641"/>
                  </a:lnTo>
                  <a:lnTo>
                    <a:pt x="67" y="1641"/>
                  </a:lnTo>
                  <a:lnTo>
                    <a:pt x="72" y="1641"/>
                  </a:lnTo>
                  <a:lnTo>
                    <a:pt x="76" y="1641"/>
                  </a:lnTo>
                  <a:lnTo>
                    <a:pt x="81" y="1641"/>
                  </a:lnTo>
                  <a:lnTo>
                    <a:pt x="86" y="1641"/>
                  </a:lnTo>
                  <a:lnTo>
                    <a:pt x="96" y="1641"/>
                  </a:lnTo>
                  <a:lnTo>
                    <a:pt x="100" y="1641"/>
                  </a:lnTo>
                  <a:lnTo>
                    <a:pt x="105" y="1641"/>
                  </a:lnTo>
                  <a:lnTo>
                    <a:pt x="110" y="1641"/>
                  </a:lnTo>
                  <a:lnTo>
                    <a:pt x="115" y="1641"/>
                  </a:lnTo>
                  <a:lnTo>
                    <a:pt x="120" y="1641"/>
                  </a:lnTo>
                  <a:lnTo>
                    <a:pt x="124" y="1641"/>
                  </a:lnTo>
                  <a:lnTo>
                    <a:pt x="129" y="1641"/>
                  </a:lnTo>
                  <a:lnTo>
                    <a:pt x="134" y="1641"/>
                  </a:lnTo>
                  <a:lnTo>
                    <a:pt x="139" y="1641"/>
                  </a:lnTo>
                  <a:lnTo>
                    <a:pt x="144" y="1641"/>
                  </a:lnTo>
                  <a:lnTo>
                    <a:pt x="148" y="1641"/>
                  </a:lnTo>
                  <a:lnTo>
                    <a:pt x="158" y="1641"/>
                  </a:lnTo>
                  <a:lnTo>
                    <a:pt x="163" y="1641"/>
                  </a:lnTo>
                  <a:lnTo>
                    <a:pt x="168" y="1641"/>
                  </a:lnTo>
                  <a:lnTo>
                    <a:pt x="172" y="1641"/>
                  </a:lnTo>
                  <a:lnTo>
                    <a:pt x="177" y="1641"/>
                  </a:lnTo>
                  <a:lnTo>
                    <a:pt x="182" y="1641"/>
                  </a:lnTo>
                  <a:lnTo>
                    <a:pt x="187" y="1641"/>
                  </a:lnTo>
                  <a:lnTo>
                    <a:pt x="192" y="1641"/>
                  </a:lnTo>
                  <a:lnTo>
                    <a:pt x="196" y="1641"/>
                  </a:lnTo>
                  <a:lnTo>
                    <a:pt x="201" y="1641"/>
                  </a:lnTo>
                  <a:lnTo>
                    <a:pt x="206" y="1641"/>
                  </a:lnTo>
                  <a:lnTo>
                    <a:pt x="211" y="1641"/>
                  </a:lnTo>
                  <a:lnTo>
                    <a:pt x="220" y="1641"/>
                  </a:lnTo>
                  <a:lnTo>
                    <a:pt x="225" y="1641"/>
                  </a:lnTo>
                  <a:lnTo>
                    <a:pt x="230" y="1641"/>
                  </a:lnTo>
                  <a:lnTo>
                    <a:pt x="235" y="1641"/>
                  </a:lnTo>
                  <a:lnTo>
                    <a:pt x="240" y="1641"/>
                  </a:lnTo>
                  <a:lnTo>
                    <a:pt x="244" y="1641"/>
                  </a:lnTo>
                  <a:lnTo>
                    <a:pt x="249" y="1641"/>
                  </a:lnTo>
                  <a:lnTo>
                    <a:pt x="254" y="1641"/>
                  </a:lnTo>
                  <a:lnTo>
                    <a:pt x="259" y="1641"/>
                  </a:lnTo>
                  <a:lnTo>
                    <a:pt x="264" y="1641"/>
                  </a:lnTo>
                  <a:lnTo>
                    <a:pt x="268" y="1641"/>
                  </a:lnTo>
                  <a:lnTo>
                    <a:pt x="273" y="1641"/>
                  </a:lnTo>
                  <a:lnTo>
                    <a:pt x="278" y="1641"/>
                  </a:lnTo>
                  <a:lnTo>
                    <a:pt x="288" y="1641"/>
                  </a:lnTo>
                  <a:lnTo>
                    <a:pt x="292" y="1641"/>
                  </a:lnTo>
                  <a:lnTo>
                    <a:pt x="297" y="1641"/>
                  </a:lnTo>
                  <a:lnTo>
                    <a:pt x="302" y="1641"/>
                  </a:lnTo>
                  <a:lnTo>
                    <a:pt x="307" y="1641"/>
                  </a:lnTo>
                  <a:lnTo>
                    <a:pt x="312" y="1641"/>
                  </a:lnTo>
                  <a:lnTo>
                    <a:pt x="316" y="1641"/>
                  </a:lnTo>
                  <a:lnTo>
                    <a:pt x="321" y="1641"/>
                  </a:lnTo>
                  <a:lnTo>
                    <a:pt x="326" y="1641"/>
                  </a:lnTo>
                  <a:lnTo>
                    <a:pt x="331" y="1641"/>
                  </a:lnTo>
                  <a:lnTo>
                    <a:pt x="336" y="1641"/>
                  </a:lnTo>
                  <a:lnTo>
                    <a:pt x="345" y="1641"/>
                  </a:lnTo>
                  <a:lnTo>
                    <a:pt x="350" y="1641"/>
                  </a:lnTo>
                  <a:lnTo>
                    <a:pt x="355" y="1641"/>
                  </a:lnTo>
                  <a:lnTo>
                    <a:pt x="360" y="1641"/>
                  </a:lnTo>
                  <a:lnTo>
                    <a:pt x="364" y="1641"/>
                  </a:lnTo>
                  <a:lnTo>
                    <a:pt x="369" y="1641"/>
                  </a:lnTo>
                  <a:lnTo>
                    <a:pt x="374" y="1641"/>
                  </a:lnTo>
                  <a:lnTo>
                    <a:pt x="379" y="1641"/>
                  </a:lnTo>
                  <a:lnTo>
                    <a:pt x="384" y="1641"/>
                  </a:lnTo>
                  <a:lnTo>
                    <a:pt x="389" y="1641"/>
                  </a:lnTo>
                  <a:lnTo>
                    <a:pt x="393" y="1641"/>
                  </a:lnTo>
                  <a:lnTo>
                    <a:pt x="398" y="1641"/>
                  </a:lnTo>
                  <a:lnTo>
                    <a:pt x="408" y="1641"/>
                  </a:lnTo>
                  <a:lnTo>
                    <a:pt x="413" y="1641"/>
                  </a:lnTo>
                  <a:lnTo>
                    <a:pt x="417" y="1641"/>
                  </a:lnTo>
                  <a:lnTo>
                    <a:pt x="422" y="1641"/>
                  </a:lnTo>
                  <a:lnTo>
                    <a:pt x="427" y="1641"/>
                  </a:lnTo>
                  <a:lnTo>
                    <a:pt x="432" y="1641"/>
                  </a:lnTo>
                  <a:lnTo>
                    <a:pt x="437" y="1641"/>
                  </a:lnTo>
                  <a:lnTo>
                    <a:pt x="441" y="1641"/>
                  </a:lnTo>
                  <a:lnTo>
                    <a:pt x="446" y="1641"/>
                  </a:lnTo>
                  <a:lnTo>
                    <a:pt x="451" y="1641"/>
                  </a:lnTo>
                  <a:lnTo>
                    <a:pt x="456" y="1641"/>
                  </a:lnTo>
                  <a:lnTo>
                    <a:pt x="461" y="1641"/>
                  </a:lnTo>
                  <a:lnTo>
                    <a:pt x="470" y="1641"/>
                  </a:lnTo>
                  <a:lnTo>
                    <a:pt x="475" y="1641"/>
                  </a:lnTo>
                  <a:lnTo>
                    <a:pt x="480" y="1641"/>
                  </a:lnTo>
                  <a:lnTo>
                    <a:pt x="485" y="1641"/>
                  </a:lnTo>
                  <a:lnTo>
                    <a:pt x="489" y="1641"/>
                  </a:lnTo>
                  <a:lnTo>
                    <a:pt x="494" y="1641"/>
                  </a:lnTo>
                  <a:lnTo>
                    <a:pt x="499" y="1641"/>
                  </a:lnTo>
                  <a:lnTo>
                    <a:pt x="504" y="1641"/>
                  </a:lnTo>
                  <a:lnTo>
                    <a:pt x="509" y="1641"/>
                  </a:lnTo>
                  <a:lnTo>
                    <a:pt x="513" y="1641"/>
                  </a:lnTo>
                  <a:lnTo>
                    <a:pt x="518" y="1641"/>
                  </a:lnTo>
                  <a:lnTo>
                    <a:pt x="523" y="1641"/>
                  </a:lnTo>
                  <a:lnTo>
                    <a:pt x="533" y="1636"/>
                  </a:lnTo>
                  <a:lnTo>
                    <a:pt x="537" y="1636"/>
                  </a:lnTo>
                  <a:lnTo>
                    <a:pt x="542" y="1636"/>
                  </a:lnTo>
                  <a:lnTo>
                    <a:pt x="547" y="1636"/>
                  </a:lnTo>
                  <a:lnTo>
                    <a:pt x="552" y="1636"/>
                  </a:lnTo>
                  <a:lnTo>
                    <a:pt x="557" y="1636"/>
                  </a:lnTo>
                  <a:lnTo>
                    <a:pt x="561" y="1636"/>
                  </a:lnTo>
                  <a:lnTo>
                    <a:pt x="566" y="1636"/>
                  </a:lnTo>
                  <a:lnTo>
                    <a:pt x="571" y="1636"/>
                  </a:lnTo>
                  <a:lnTo>
                    <a:pt x="576" y="1636"/>
                  </a:lnTo>
                  <a:lnTo>
                    <a:pt x="581" y="1636"/>
                  </a:lnTo>
                  <a:lnTo>
                    <a:pt x="585" y="1636"/>
                  </a:lnTo>
                  <a:lnTo>
                    <a:pt x="595" y="1636"/>
                  </a:lnTo>
                  <a:lnTo>
                    <a:pt x="600" y="1636"/>
                  </a:lnTo>
                  <a:lnTo>
                    <a:pt x="605" y="1636"/>
                  </a:lnTo>
                  <a:lnTo>
                    <a:pt x="609" y="1636"/>
                  </a:lnTo>
                  <a:lnTo>
                    <a:pt x="614" y="1636"/>
                  </a:lnTo>
                  <a:lnTo>
                    <a:pt x="619" y="1636"/>
                  </a:lnTo>
                  <a:lnTo>
                    <a:pt x="624" y="1636"/>
                  </a:lnTo>
                  <a:lnTo>
                    <a:pt x="629" y="1636"/>
                  </a:lnTo>
                  <a:lnTo>
                    <a:pt x="633" y="1636"/>
                  </a:lnTo>
                  <a:lnTo>
                    <a:pt x="638" y="1636"/>
                  </a:lnTo>
                  <a:lnTo>
                    <a:pt x="643" y="1636"/>
                  </a:lnTo>
                  <a:lnTo>
                    <a:pt x="648" y="1636"/>
                  </a:lnTo>
                  <a:lnTo>
                    <a:pt x="657" y="1636"/>
                  </a:lnTo>
                  <a:lnTo>
                    <a:pt x="662" y="1636"/>
                  </a:lnTo>
                  <a:lnTo>
                    <a:pt x="667" y="1636"/>
                  </a:lnTo>
                  <a:lnTo>
                    <a:pt x="672" y="1636"/>
                  </a:lnTo>
                  <a:lnTo>
                    <a:pt x="677" y="1631"/>
                  </a:lnTo>
                  <a:lnTo>
                    <a:pt x="681" y="1631"/>
                  </a:lnTo>
                  <a:lnTo>
                    <a:pt x="686" y="1631"/>
                  </a:lnTo>
                  <a:lnTo>
                    <a:pt x="691" y="1631"/>
                  </a:lnTo>
                  <a:lnTo>
                    <a:pt x="696" y="1631"/>
                  </a:lnTo>
                  <a:lnTo>
                    <a:pt x="701" y="1631"/>
                  </a:lnTo>
                  <a:lnTo>
                    <a:pt x="705" y="1631"/>
                  </a:lnTo>
                  <a:lnTo>
                    <a:pt x="710" y="1631"/>
                  </a:lnTo>
                  <a:lnTo>
                    <a:pt x="720" y="1631"/>
                  </a:lnTo>
                  <a:lnTo>
                    <a:pt x="725" y="1631"/>
                  </a:lnTo>
                  <a:lnTo>
                    <a:pt x="729" y="1631"/>
                  </a:lnTo>
                  <a:lnTo>
                    <a:pt x="734" y="1627"/>
                  </a:lnTo>
                  <a:lnTo>
                    <a:pt x="739" y="1627"/>
                  </a:lnTo>
                  <a:lnTo>
                    <a:pt x="744" y="1627"/>
                  </a:lnTo>
                  <a:lnTo>
                    <a:pt x="749" y="1627"/>
                  </a:lnTo>
                  <a:lnTo>
                    <a:pt x="753" y="1627"/>
                  </a:lnTo>
                  <a:lnTo>
                    <a:pt x="758" y="1627"/>
                  </a:lnTo>
                  <a:lnTo>
                    <a:pt x="763" y="1627"/>
                  </a:lnTo>
                  <a:lnTo>
                    <a:pt x="768" y="1622"/>
                  </a:lnTo>
                  <a:lnTo>
                    <a:pt x="773" y="1622"/>
                  </a:lnTo>
                  <a:lnTo>
                    <a:pt x="777" y="1622"/>
                  </a:lnTo>
                  <a:lnTo>
                    <a:pt x="787" y="1622"/>
                  </a:lnTo>
                  <a:lnTo>
                    <a:pt x="792" y="1622"/>
                  </a:lnTo>
                  <a:lnTo>
                    <a:pt x="797" y="1617"/>
                  </a:lnTo>
                  <a:lnTo>
                    <a:pt x="801" y="1617"/>
                  </a:lnTo>
                  <a:lnTo>
                    <a:pt x="806" y="1617"/>
                  </a:lnTo>
                  <a:lnTo>
                    <a:pt x="811" y="1617"/>
                  </a:lnTo>
                  <a:lnTo>
                    <a:pt x="816" y="1617"/>
                  </a:lnTo>
                  <a:lnTo>
                    <a:pt x="821" y="1612"/>
                  </a:lnTo>
                  <a:lnTo>
                    <a:pt x="825" y="1612"/>
                  </a:lnTo>
                  <a:lnTo>
                    <a:pt x="830" y="1612"/>
                  </a:lnTo>
                  <a:lnTo>
                    <a:pt x="835" y="1607"/>
                  </a:lnTo>
                  <a:lnTo>
                    <a:pt x="845" y="1607"/>
                  </a:lnTo>
                  <a:lnTo>
                    <a:pt x="849" y="1607"/>
                  </a:lnTo>
                  <a:lnTo>
                    <a:pt x="854" y="1603"/>
                  </a:lnTo>
                  <a:lnTo>
                    <a:pt x="859" y="1603"/>
                  </a:lnTo>
                  <a:lnTo>
                    <a:pt x="864" y="1603"/>
                  </a:lnTo>
                  <a:lnTo>
                    <a:pt x="869" y="1598"/>
                  </a:lnTo>
                  <a:lnTo>
                    <a:pt x="873" y="1598"/>
                  </a:lnTo>
                  <a:lnTo>
                    <a:pt x="878" y="1593"/>
                  </a:lnTo>
                  <a:lnTo>
                    <a:pt x="883" y="1593"/>
                  </a:lnTo>
                  <a:lnTo>
                    <a:pt x="888" y="1588"/>
                  </a:lnTo>
                  <a:lnTo>
                    <a:pt x="893" y="1588"/>
                  </a:lnTo>
                  <a:lnTo>
                    <a:pt x="897" y="1583"/>
                  </a:lnTo>
                  <a:lnTo>
                    <a:pt x="907" y="1583"/>
                  </a:lnTo>
                  <a:lnTo>
                    <a:pt x="912" y="1579"/>
                  </a:lnTo>
                  <a:lnTo>
                    <a:pt x="917" y="1574"/>
                  </a:lnTo>
                  <a:lnTo>
                    <a:pt x="921" y="1574"/>
                  </a:lnTo>
                  <a:lnTo>
                    <a:pt x="926" y="1569"/>
                  </a:lnTo>
                  <a:lnTo>
                    <a:pt x="931" y="1564"/>
                  </a:lnTo>
                  <a:lnTo>
                    <a:pt x="936" y="1564"/>
                  </a:lnTo>
                  <a:lnTo>
                    <a:pt x="941" y="1559"/>
                  </a:lnTo>
                  <a:lnTo>
                    <a:pt x="945" y="1555"/>
                  </a:lnTo>
                  <a:lnTo>
                    <a:pt x="950" y="1550"/>
                  </a:lnTo>
                  <a:lnTo>
                    <a:pt x="955" y="1545"/>
                  </a:lnTo>
                  <a:lnTo>
                    <a:pt x="960" y="1540"/>
                  </a:lnTo>
                  <a:lnTo>
                    <a:pt x="969" y="1535"/>
                  </a:lnTo>
                  <a:lnTo>
                    <a:pt x="974" y="1531"/>
                  </a:lnTo>
                  <a:lnTo>
                    <a:pt x="979" y="1526"/>
                  </a:lnTo>
                  <a:lnTo>
                    <a:pt x="984" y="1521"/>
                  </a:lnTo>
                  <a:lnTo>
                    <a:pt x="989" y="1516"/>
                  </a:lnTo>
                  <a:lnTo>
                    <a:pt x="993" y="1511"/>
                  </a:lnTo>
                  <a:lnTo>
                    <a:pt x="998" y="1502"/>
                  </a:lnTo>
                  <a:lnTo>
                    <a:pt x="1003" y="1497"/>
                  </a:lnTo>
                  <a:lnTo>
                    <a:pt x="1008" y="1492"/>
                  </a:lnTo>
                  <a:lnTo>
                    <a:pt x="1013" y="1483"/>
                  </a:lnTo>
                  <a:lnTo>
                    <a:pt x="1017" y="1478"/>
                  </a:lnTo>
                  <a:lnTo>
                    <a:pt x="1022" y="1468"/>
                  </a:lnTo>
                  <a:lnTo>
                    <a:pt x="1032" y="1463"/>
                  </a:lnTo>
                  <a:lnTo>
                    <a:pt x="1037" y="1454"/>
                  </a:lnTo>
                  <a:lnTo>
                    <a:pt x="1041" y="1444"/>
                  </a:lnTo>
                  <a:lnTo>
                    <a:pt x="1046" y="1435"/>
                  </a:lnTo>
                  <a:lnTo>
                    <a:pt x="1051" y="1425"/>
                  </a:lnTo>
                  <a:lnTo>
                    <a:pt x="1056" y="1415"/>
                  </a:lnTo>
                  <a:lnTo>
                    <a:pt x="1061" y="1406"/>
                  </a:lnTo>
                  <a:lnTo>
                    <a:pt x="1065" y="1396"/>
                  </a:lnTo>
                  <a:lnTo>
                    <a:pt x="1070" y="1387"/>
                  </a:lnTo>
                  <a:lnTo>
                    <a:pt x="1075" y="1377"/>
                  </a:lnTo>
                  <a:lnTo>
                    <a:pt x="1080" y="1363"/>
                  </a:lnTo>
                  <a:lnTo>
                    <a:pt x="1085" y="1353"/>
                  </a:lnTo>
                  <a:lnTo>
                    <a:pt x="1094" y="1343"/>
                  </a:lnTo>
                  <a:lnTo>
                    <a:pt x="1099" y="1329"/>
                  </a:lnTo>
                  <a:lnTo>
                    <a:pt x="1104" y="1315"/>
                  </a:lnTo>
                  <a:lnTo>
                    <a:pt x="1109" y="1300"/>
                  </a:lnTo>
                  <a:lnTo>
                    <a:pt x="1113" y="1291"/>
                  </a:lnTo>
                  <a:lnTo>
                    <a:pt x="1118" y="1276"/>
                  </a:lnTo>
                  <a:lnTo>
                    <a:pt x="1123" y="1262"/>
                  </a:lnTo>
                  <a:lnTo>
                    <a:pt x="1128" y="1247"/>
                  </a:lnTo>
                  <a:lnTo>
                    <a:pt x="1133" y="1233"/>
                  </a:lnTo>
                  <a:lnTo>
                    <a:pt x="1137" y="1214"/>
                  </a:lnTo>
                  <a:lnTo>
                    <a:pt x="1142" y="1199"/>
                  </a:lnTo>
                  <a:lnTo>
                    <a:pt x="1147" y="1185"/>
                  </a:lnTo>
                  <a:lnTo>
                    <a:pt x="1157" y="1166"/>
                  </a:lnTo>
                  <a:lnTo>
                    <a:pt x="1161" y="1151"/>
                  </a:lnTo>
                  <a:lnTo>
                    <a:pt x="1166" y="1132"/>
                  </a:lnTo>
                  <a:lnTo>
                    <a:pt x="1171" y="1113"/>
                  </a:lnTo>
                  <a:lnTo>
                    <a:pt x="1176" y="1094"/>
                  </a:lnTo>
                  <a:lnTo>
                    <a:pt x="1181" y="1079"/>
                  </a:lnTo>
                  <a:lnTo>
                    <a:pt x="1185" y="1060"/>
                  </a:lnTo>
                  <a:lnTo>
                    <a:pt x="1190" y="1041"/>
                  </a:lnTo>
                  <a:lnTo>
                    <a:pt x="1195" y="1022"/>
                  </a:lnTo>
                  <a:lnTo>
                    <a:pt x="1200" y="1003"/>
                  </a:lnTo>
                  <a:lnTo>
                    <a:pt x="1205" y="983"/>
                  </a:lnTo>
                  <a:lnTo>
                    <a:pt x="1209" y="964"/>
                  </a:lnTo>
                  <a:lnTo>
                    <a:pt x="1219" y="940"/>
                  </a:lnTo>
                  <a:lnTo>
                    <a:pt x="1224" y="921"/>
                  </a:lnTo>
                  <a:lnTo>
                    <a:pt x="1229" y="902"/>
                  </a:lnTo>
                  <a:lnTo>
                    <a:pt x="1233" y="883"/>
                  </a:lnTo>
                  <a:lnTo>
                    <a:pt x="1238" y="864"/>
                  </a:lnTo>
                  <a:lnTo>
                    <a:pt x="1243" y="840"/>
                  </a:lnTo>
                  <a:lnTo>
                    <a:pt x="1248" y="820"/>
                  </a:lnTo>
                  <a:lnTo>
                    <a:pt x="1253" y="801"/>
                  </a:lnTo>
                  <a:lnTo>
                    <a:pt x="1257" y="777"/>
                  </a:lnTo>
                  <a:lnTo>
                    <a:pt x="1262" y="758"/>
                  </a:lnTo>
                  <a:lnTo>
                    <a:pt x="1267" y="739"/>
                  </a:lnTo>
                  <a:lnTo>
                    <a:pt x="1272" y="720"/>
                  </a:lnTo>
                  <a:lnTo>
                    <a:pt x="1277" y="700"/>
                  </a:lnTo>
                  <a:lnTo>
                    <a:pt x="1286" y="676"/>
                  </a:lnTo>
                  <a:lnTo>
                    <a:pt x="1291" y="657"/>
                  </a:lnTo>
                  <a:lnTo>
                    <a:pt x="1296" y="638"/>
                  </a:lnTo>
                  <a:lnTo>
                    <a:pt x="1301" y="619"/>
                  </a:lnTo>
                  <a:lnTo>
                    <a:pt x="1305" y="600"/>
                  </a:lnTo>
                  <a:lnTo>
                    <a:pt x="1310" y="580"/>
                  </a:lnTo>
                  <a:lnTo>
                    <a:pt x="1315" y="561"/>
                  </a:lnTo>
                  <a:lnTo>
                    <a:pt x="1320" y="547"/>
                  </a:lnTo>
                  <a:lnTo>
                    <a:pt x="1325" y="528"/>
                  </a:lnTo>
                  <a:lnTo>
                    <a:pt x="1329" y="508"/>
                  </a:lnTo>
                  <a:lnTo>
                    <a:pt x="1334" y="489"/>
                  </a:lnTo>
                  <a:lnTo>
                    <a:pt x="1339" y="475"/>
                  </a:lnTo>
                  <a:lnTo>
                    <a:pt x="1349" y="456"/>
                  </a:lnTo>
                  <a:lnTo>
                    <a:pt x="1353" y="441"/>
                  </a:lnTo>
                  <a:lnTo>
                    <a:pt x="1358" y="427"/>
                  </a:lnTo>
                  <a:lnTo>
                    <a:pt x="1363" y="408"/>
                  </a:lnTo>
                  <a:lnTo>
                    <a:pt x="1368" y="393"/>
                  </a:lnTo>
                  <a:lnTo>
                    <a:pt x="1373" y="379"/>
                  </a:lnTo>
                  <a:lnTo>
                    <a:pt x="1377" y="364"/>
                  </a:lnTo>
                  <a:lnTo>
                    <a:pt x="1382" y="350"/>
                  </a:lnTo>
                  <a:lnTo>
                    <a:pt x="1387" y="340"/>
                  </a:lnTo>
                  <a:lnTo>
                    <a:pt x="1392" y="326"/>
                  </a:lnTo>
                  <a:lnTo>
                    <a:pt x="1397" y="312"/>
                  </a:lnTo>
                  <a:lnTo>
                    <a:pt x="1401" y="297"/>
                  </a:lnTo>
                  <a:lnTo>
                    <a:pt x="1411" y="288"/>
                  </a:lnTo>
                  <a:lnTo>
                    <a:pt x="1416" y="278"/>
                  </a:lnTo>
                  <a:lnTo>
                    <a:pt x="1421" y="264"/>
                  </a:lnTo>
                  <a:lnTo>
                    <a:pt x="1425" y="254"/>
                  </a:lnTo>
                  <a:lnTo>
                    <a:pt x="1430" y="244"/>
                  </a:lnTo>
                  <a:lnTo>
                    <a:pt x="1435" y="235"/>
                  </a:lnTo>
                  <a:lnTo>
                    <a:pt x="1440" y="225"/>
                  </a:lnTo>
                  <a:lnTo>
                    <a:pt x="1445" y="216"/>
                  </a:lnTo>
                  <a:lnTo>
                    <a:pt x="1449" y="206"/>
                  </a:lnTo>
                  <a:lnTo>
                    <a:pt x="1454" y="196"/>
                  </a:lnTo>
                  <a:lnTo>
                    <a:pt x="1459" y="187"/>
                  </a:lnTo>
                  <a:lnTo>
                    <a:pt x="1464" y="177"/>
                  </a:lnTo>
                  <a:lnTo>
                    <a:pt x="1473" y="172"/>
                  </a:lnTo>
                  <a:lnTo>
                    <a:pt x="1478" y="163"/>
                  </a:lnTo>
                  <a:lnTo>
                    <a:pt x="1483" y="158"/>
                  </a:lnTo>
                  <a:lnTo>
                    <a:pt x="1488" y="148"/>
                  </a:lnTo>
                  <a:lnTo>
                    <a:pt x="1493" y="144"/>
                  </a:lnTo>
                  <a:lnTo>
                    <a:pt x="1497" y="139"/>
                  </a:lnTo>
                  <a:lnTo>
                    <a:pt x="1502" y="129"/>
                  </a:lnTo>
                  <a:lnTo>
                    <a:pt x="1507" y="124"/>
                  </a:lnTo>
                  <a:lnTo>
                    <a:pt x="1512" y="120"/>
                  </a:lnTo>
                  <a:lnTo>
                    <a:pt x="1517" y="115"/>
                  </a:lnTo>
                  <a:lnTo>
                    <a:pt x="1521" y="110"/>
                  </a:lnTo>
                  <a:lnTo>
                    <a:pt x="1526" y="105"/>
                  </a:lnTo>
                  <a:lnTo>
                    <a:pt x="1536" y="100"/>
                  </a:lnTo>
                  <a:lnTo>
                    <a:pt x="1541" y="96"/>
                  </a:lnTo>
                  <a:lnTo>
                    <a:pt x="1545" y="91"/>
                  </a:lnTo>
                  <a:lnTo>
                    <a:pt x="1550" y="86"/>
                  </a:lnTo>
                  <a:lnTo>
                    <a:pt x="1555" y="81"/>
                  </a:lnTo>
                  <a:lnTo>
                    <a:pt x="1560" y="76"/>
                  </a:lnTo>
                  <a:lnTo>
                    <a:pt x="1565" y="76"/>
                  </a:lnTo>
                  <a:lnTo>
                    <a:pt x="1569" y="72"/>
                  </a:lnTo>
                  <a:lnTo>
                    <a:pt x="1574" y="67"/>
                  </a:lnTo>
                  <a:lnTo>
                    <a:pt x="1579" y="67"/>
                  </a:lnTo>
                  <a:lnTo>
                    <a:pt x="1584" y="62"/>
                  </a:lnTo>
                  <a:lnTo>
                    <a:pt x="1589" y="57"/>
                  </a:lnTo>
                  <a:lnTo>
                    <a:pt x="1598" y="57"/>
                  </a:lnTo>
                  <a:lnTo>
                    <a:pt x="1603" y="52"/>
                  </a:lnTo>
                  <a:lnTo>
                    <a:pt x="1608" y="52"/>
                  </a:lnTo>
                  <a:lnTo>
                    <a:pt x="1613" y="48"/>
                  </a:lnTo>
                  <a:lnTo>
                    <a:pt x="1617" y="48"/>
                  </a:lnTo>
                  <a:lnTo>
                    <a:pt x="1622" y="43"/>
                  </a:lnTo>
                  <a:lnTo>
                    <a:pt x="1627" y="43"/>
                  </a:lnTo>
                  <a:lnTo>
                    <a:pt x="1632" y="38"/>
                  </a:lnTo>
                  <a:lnTo>
                    <a:pt x="1637" y="38"/>
                  </a:lnTo>
                  <a:lnTo>
                    <a:pt x="1641" y="38"/>
                  </a:lnTo>
                  <a:lnTo>
                    <a:pt x="1646" y="33"/>
                  </a:lnTo>
                  <a:lnTo>
                    <a:pt x="1651" y="33"/>
                  </a:lnTo>
                  <a:lnTo>
                    <a:pt x="1661" y="33"/>
                  </a:lnTo>
                  <a:lnTo>
                    <a:pt x="1665" y="28"/>
                  </a:lnTo>
                  <a:lnTo>
                    <a:pt x="1670" y="28"/>
                  </a:lnTo>
                  <a:lnTo>
                    <a:pt x="1675" y="28"/>
                  </a:lnTo>
                  <a:lnTo>
                    <a:pt x="1680" y="24"/>
                  </a:lnTo>
                  <a:lnTo>
                    <a:pt x="1685" y="24"/>
                  </a:lnTo>
                  <a:lnTo>
                    <a:pt x="1689" y="24"/>
                  </a:lnTo>
                  <a:lnTo>
                    <a:pt x="1694" y="24"/>
                  </a:lnTo>
                  <a:lnTo>
                    <a:pt x="1699" y="24"/>
                  </a:lnTo>
                  <a:lnTo>
                    <a:pt x="1704" y="19"/>
                  </a:lnTo>
                  <a:lnTo>
                    <a:pt x="1709" y="19"/>
                  </a:lnTo>
                  <a:lnTo>
                    <a:pt x="1713" y="19"/>
                  </a:lnTo>
                  <a:lnTo>
                    <a:pt x="1723" y="19"/>
                  </a:lnTo>
                  <a:lnTo>
                    <a:pt x="1728" y="19"/>
                  </a:lnTo>
                  <a:lnTo>
                    <a:pt x="1733" y="14"/>
                  </a:lnTo>
                  <a:lnTo>
                    <a:pt x="1737" y="14"/>
                  </a:lnTo>
                  <a:lnTo>
                    <a:pt x="1742" y="14"/>
                  </a:lnTo>
                  <a:lnTo>
                    <a:pt x="1747" y="14"/>
                  </a:lnTo>
                  <a:lnTo>
                    <a:pt x="1752" y="14"/>
                  </a:lnTo>
                  <a:lnTo>
                    <a:pt x="1757" y="14"/>
                  </a:lnTo>
                  <a:lnTo>
                    <a:pt x="1761" y="14"/>
                  </a:lnTo>
                  <a:lnTo>
                    <a:pt x="1766" y="9"/>
                  </a:lnTo>
                  <a:lnTo>
                    <a:pt x="1771" y="9"/>
                  </a:lnTo>
                  <a:lnTo>
                    <a:pt x="1781" y="9"/>
                  </a:lnTo>
                  <a:lnTo>
                    <a:pt x="1785" y="9"/>
                  </a:lnTo>
                  <a:lnTo>
                    <a:pt x="1790" y="9"/>
                  </a:lnTo>
                  <a:lnTo>
                    <a:pt x="1795" y="9"/>
                  </a:lnTo>
                  <a:lnTo>
                    <a:pt x="1800" y="9"/>
                  </a:lnTo>
                  <a:lnTo>
                    <a:pt x="1805" y="9"/>
                  </a:lnTo>
                  <a:lnTo>
                    <a:pt x="1809" y="9"/>
                  </a:lnTo>
                  <a:lnTo>
                    <a:pt x="1814" y="9"/>
                  </a:lnTo>
                  <a:lnTo>
                    <a:pt x="1819" y="9"/>
                  </a:lnTo>
                  <a:lnTo>
                    <a:pt x="1824" y="4"/>
                  </a:lnTo>
                  <a:lnTo>
                    <a:pt x="1829" y="4"/>
                  </a:lnTo>
                  <a:lnTo>
                    <a:pt x="1833" y="4"/>
                  </a:lnTo>
                  <a:lnTo>
                    <a:pt x="1838" y="4"/>
                  </a:lnTo>
                  <a:lnTo>
                    <a:pt x="1848" y="4"/>
                  </a:lnTo>
                  <a:lnTo>
                    <a:pt x="1853" y="4"/>
                  </a:lnTo>
                  <a:lnTo>
                    <a:pt x="1857" y="4"/>
                  </a:lnTo>
                  <a:lnTo>
                    <a:pt x="1862" y="4"/>
                  </a:lnTo>
                  <a:lnTo>
                    <a:pt x="1867" y="4"/>
                  </a:lnTo>
                  <a:lnTo>
                    <a:pt x="1872" y="4"/>
                  </a:lnTo>
                  <a:lnTo>
                    <a:pt x="1877" y="4"/>
                  </a:lnTo>
                  <a:lnTo>
                    <a:pt x="1881" y="4"/>
                  </a:lnTo>
                  <a:lnTo>
                    <a:pt x="1886" y="4"/>
                  </a:lnTo>
                  <a:lnTo>
                    <a:pt x="1891" y="4"/>
                  </a:lnTo>
                  <a:lnTo>
                    <a:pt x="1896" y="4"/>
                  </a:lnTo>
                  <a:lnTo>
                    <a:pt x="1905" y="4"/>
                  </a:lnTo>
                  <a:lnTo>
                    <a:pt x="1910" y="4"/>
                  </a:lnTo>
                  <a:lnTo>
                    <a:pt x="1915" y="4"/>
                  </a:lnTo>
                  <a:lnTo>
                    <a:pt x="1920" y="4"/>
                  </a:lnTo>
                  <a:lnTo>
                    <a:pt x="1925" y="4"/>
                  </a:lnTo>
                  <a:lnTo>
                    <a:pt x="1929" y="4"/>
                  </a:lnTo>
                  <a:lnTo>
                    <a:pt x="1934" y="4"/>
                  </a:lnTo>
                  <a:lnTo>
                    <a:pt x="1939" y="4"/>
                  </a:lnTo>
                  <a:lnTo>
                    <a:pt x="1944" y="4"/>
                  </a:lnTo>
                  <a:lnTo>
                    <a:pt x="1949" y="4"/>
                  </a:lnTo>
                  <a:lnTo>
                    <a:pt x="1953" y="4"/>
                  </a:lnTo>
                  <a:lnTo>
                    <a:pt x="1958" y="4"/>
                  </a:lnTo>
                  <a:lnTo>
                    <a:pt x="1963" y="4"/>
                  </a:lnTo>
                  <a:lnTo>
                    <a:pt x="1973" y="0"/>
                  </a:lnTo>
                  <a:lnTo>
                    <a:pt x="1977" y="0"/>
                  </a:lnTo>
                  <a:lnTo>
                    <a:pt x="1982" y="0"/>
                  </a:lnTo>
                  <a:lnTo>
                    <a:pt x="1987" y="0"/>
                  </a:lnTo>
                  <a:lnTo>
                    <a:pt x="1992" y="0"/>
                  </a:lnTo>
                  <a:lnTo>
                    <a:pt x="1997" y="0"/>
                  </a:lnTo>
                  <a:lnTo>
                    <a:pt x="2002" y="0"/>
                  </a:lnTo>
                  <a:lnTo>
                    <a:pt x="2006" y="0"/>
                  </a:lnTo>
                  <a:lnTo>
                    <a:pt x="2011" y="0"/>
                  </a:lnTo>
                  <a:lnTo>
                    <a:pt x="2016" y="0"/>
                  </a:lnTo>
                  <a:lnTo>
                    <a:pt x="2021" y="0"/>
                  </a:lnTo>
                  <a:lnTo>
                    <a:pt x="2026" y="0"/>
                  </a:lnTo>
                  <a:lnTo>
                    <a:pt x="2035" y="0"/>
                  </a:lnTo>
                  <a:lnTo>
                    <a:pt x="2040" y="0"/>
                  </a:lnTo>
                  <a:lnTo>
                    <a:pt x="2045" y="0"/>
                  </a:lnTo>
                  <a:lnTo>
                    <a:pt x="2050" y="0"/>
                  </a:lnTo>
                  <a:lnTo>
                    <a:pt x="2054" y="0"/>
                  </a:lnTo>
                  <a:lnTo>
                    <a:pt x="2059" y="0"/>
                  </a:lnTo>
                  <a:lnTo>
                    <a:pt x="2064" y="0"/>
                  </a:lnTo>
                  <a:lnTo>
                    <a:pt x="2069" y="0"/>
                  </a:lnTo>
                  <a:lnTo>
                    <a:pt x="2074" y="0"/>
                  </a:lnTo>
                  <a:lnTo>
                    <a:pt x="2078" y="0"/>
                  </a:lnTo>
                  <a:lnTo>
                    <a:pt x="2083" y="0"/>
                  </a:lnTo>
                  <a:lnTo>
                    <a:pt x="2093" y="0"/>
                  </a:lnTo>
                  <a:lnTo>
                    <a:pt x="2098" y="0"/>
                  </a:lnTo>
                  <a:lnTo>
                    <a:pt x="2102" y="0"/>
                  </a:lnTo>
                  <a:lnTo>
                    <a:pt x="2107" y="0"/>
                  </a:lnTo>
                  <a:lnTo>
                    <a:pt x="2112" y="0"/>
                  </a:lnTo>
                  <a:lnTo>
                    <a:pt x="2117" y="0"/>
                  </a:lnTo>
                  <a:lnTo>
                    <a:pt x="2122" y="0"/>
                  </a:lnTo>
                  <a:lnTo>
                    <a:pt x="2126" y="0"/>
                  </a:lnTo>
                  <a:lnTo>
                    <a:pt x="2131" y="0"/>
                  </a:lnTo>
                  <a:lnTo>
                    <a:pt x="2136" y="0"/>
                  </a:lnTo>
                  <a:lnTo>
                    <a:pt x="2141" y="0"/>
                  </a:lnTo>
                  <a:lnTo>
                    <a:pt x="2146" y="0"/>
                  </a:lnTo>
                  <a:lnTo>
                    <a:pt x="2155" y="0"/>
                  </a:lnTo>
                  <a:lnTo>
                    <a:pt x="2160" y="0"/>
                  </a:lnTo>
                  <a:lnTo>
                    <a:pt x="2165" y="0"/>
                  </a:lnTo>
                  <a:lnTo>
                    <a:pt x="2170" y="0"/>
                  </a:lnTo>
                  <a:lnTo>
                    <a:pt x="2174" y="0"/>
                  </a:lnTo>
                  <a:lnTo>
                    <a:pt x="2179" y="0"/>
                  </a:lnTo>
                  <a:lnTo>
                    <a:pt x="2184" y="0"/>
                  </a:lnTo>
                  <a:lnTo>
                    <a:pt x="2189" y="0"/>
                  </a:lnTo>
                  <a:lnTo>
                    <a:pt x="2194" y="0"/>
                  </a:lnTo>
                  <a:lnTo>
                    <a:pt x="2198" y="0"/>
                  </a:lnTo>
                  <a:lnTo>
                    <a:pt x="2203" y="0"/>
                  </a:lnTo>
                  <a:lnTo>
                    <a:pt x="2208" y="0"/>
                  </a:lnTo>
                  <a:lnTo>
                    <a:pt x="2218" y="0"/>
                  </a:lnTo>
                  <a:lnTo>
                    <a:pt x="2222" y="0"/>
                  </a:lnTo>
                  <a:lnTo>
                    <a:pt x="2227" y="0"/>
                  </a:lnTo>
                  <a:lnTo>
                    <a:pt x="2232" y="0"/>
                  </a:lnTo>
                  <a:lnTo>
                    <a:pt x="2237" y="0"/>
                  </a:lnTo>
                  <a:lnTo>
                    <a:pt x="2242" y="0"/>
                  </a:lnTo>
                  <a:lnTo>
                    <a:pt x="2246" y="0"/>
                  </a:lnTo>
                  <a:lnTo>
                    <a:pt x="2251" y="0"/>
                  </a:lnTo>
                  <a:lnTo>
                    <a:pt x="2256" y="0"/>
                  </a:lnTo>
                  <a:lnTo>
                    <a:pt x="2261" y="0"/>
                  </a:lnTo>
                  <a:lnTo>
                    <a:pt x="2266" y="0"/>
                  </a:lnTo>
                  <a:lnTo>
                    <a:pt x="2270" y="0"/>
                  </a:lnTo>
                  <a:lnTo>
                    <a:pt x="2280" y="0"/>
                  </a:lnTo>
                  <a:lnTo>
                    <a:pt x="2285" y="0"/>
                  </a:lnTo>
                  <a:lnTo>
                    <a:pt x="2290" y="0"/>
                  </a:lnTo>
                  <a:lnTo>
                    <a:pt x="2294" y="0"/>
                  </a:lnTo>
                  <a:lnTo>
                    <a:pt x="2299" y="0"/>
                  </a:lnTo>
                  <a:lnTo>
                    <a:pt x="2304" y="0"/>
                  </a:lnTo>
                  <a:lnTo>
                    <a:pt x="2309" y="0"/>
                  </a:lnTo>
                  <a:lnTo>
                    <a:pt x="2314" y="0"/>
                  </a:lnTo>
                  <a:lnTo>
                    <a:pt x="2318" y="0"/>
                  </a:lnTo>
                  <a:lnTo>
                    <a:pt x="2323" y="0"/>
                  </a:lnTo>
                  <a:lnTo>
                    <a:pt x="2328" y="0"/>
                  </a:lnTo>
                  <a:lnTo>
                    <a:pt x="2333" y="0"/>
                  </a:lnTo>
                  <a:lnTo>
                    <a:pt x="2342" y="0"/>
                  </a:lnTo>
                  <a:lnTo>
                    <a:pt x="2347" y="0"/>
                  </a:lnTo>
                  <a:lnTo>
                    <a:pt x="2352" y="0"/>
                  </a:lnTo>
                  <a:lnTo>
                    <a:pt x="2357" y="0"/>
                  </a:lnTo>
                  <a:lnTo>
                    <a:pt x="2362" y="0"/>
                  </a:lnTo>
                  <a:lnTo>
                    <a:pt x="2366" y="0"/>
                  </a:lnTo>
                  <a:lnTo>
                    <a:pt x="2371" y="0"/>
                  </a:lnTo>
                  <a:lnTo>
                    <a:pt x="2376" y="0"/>
                  </a:lnTo>
                  <a:lnTo>
                    <a:pt x="2381" y="0"/>
                  </a:lnTo>
                  <a:lnTo>
                    <a:pt x="2386" y="0"/>
                  </a:lnTo>
                  <a:lnTo>
                    <a:pt x="2390" y="0"/>
                  </a:lnTo>
                  <a:lnTo>
                    <a:pt x="2395" y="0"/>
                  </a:lnTo>
                  <a:lnTo>
                    <a:pt x="2405" y="0"/>
                  </a:lnTo>
                  <a:lnTo>
                    <a:pt x="2410" y="0"/>
                  </a:lnTo>
                  <a:lnTo>
                    <a:pt x="2414" y="0"/>
                  </a:lnTo>
                  <a:lnTo>
                    <a:pt x="2419" y="0"/>
                  </a:lnTo>
                  <a:lnTo>
                    <a:pt x="2424" y="0"/>
                  </a:lnTo>
                  <a:lnTo>
                    <a:pt x="2429" y="0"/>
                  </a:lnTo>
                  <a:lnTo>
                    <a:pt x="2434" y="0"/>
                  </a:lnTo>
                  <a:lnTo>
                    <a:pt x="2438" y="0"/>
                  </a:lnTo>
                  <a:lnTo>
                    <a:pt x="2443" y="0"/>
                  </a:lnTo>
                  <a:lnTo>
                    <a:pt x="2448" y="0"/>
                  </a:lnTo>
                  <a:lnTo>
                    <a:pt x="2453" y="0"/>
                  </a:lnTo>
                  <a:lnTo>
                    <a:pt x="2458" y="0"/>
                  </a:lnTo>
                  <a:lnTo>
                    <a:pt x="2462" y="0"/>
                  </a:lnTo>
                  <a:lnTo>
                    <a:pt x="2472" y="0"/>
                  </a:lnTo>
                  <a:lnTo>
                    <a:pt x="2477" y="0"/>
                  </a:lnTo>
                  <a:lnTo>
                    <a:pt x="2482" y="0"/>
                  </a:lnTo>
                  <a:lnTo>
                    <a:pt x="2486" y="0"/>
                  </a:lnTo>
                  <a:lnTo>
                    <a:pt x="2491" y="0"/>
                  </a:lnTo>
                  <a:lnTo>
                    <a:pt x="2496" y="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2" name="Google Shape;28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987" y="1412875"/>
            <a:ext cx="3970337" cy="1765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83" name="Google Shape;283;p15"/>
          <p:cNvSpPr txBox="1"/>
          <p:nvPr/>
        </p:nvSpPr>
        <p:spPr>
          <a:xfrm>
            <a:off x="3536950" y="4745037"/>
            <a:ext cx="101441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 rot="-5400000">
            <a:off x="1365250" y="3540125"/>
            <a:ext cx="10699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Intensity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6529387" y="23685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354012" y="254635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cxnSp>
        <p:nvCxnSpPr>
          <p:cNvPr id="287" name="Google Shape;287;p15"/>
          <p:cNvCxnSpPr/>
          <p:nvPr/>
        </p:nvCxnSpPr>
        <p:spPr>
          <a:xfrm rot="10800000">
            <a:off x="4603750" y="2541587"/>
            <a:ext cx="1970087" cy="1063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88" name="Google Shape;288;p15"/>
          <p:cNvCxnSpPr/>
          <p:nvPr/>
        </p:nvCxnSpPr>
        <p:spPr>
          <a:xfrm rot="10800000" flipH="1">
            <a:off x="766762" y="2470150"/>
            <a:ext cx="2909887" cy="273050"/>
          </a:xfrm>
          <a:prstGeom prst="straightConnector1">
            <a:avLst/>
          </a:prstGeom>
          <a:noFill/>
          <a:ln w="9525" cap="flat" cmpd="sng">
            <a:solidFill>
              <a:srgbClr val="00FFFF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89" name="Google Shape;289;p15"/>
          <p:cNvSpPr txBox="1"/>
          <p:nvPr/>
        </p:nvSpPr>
        <p:spPr>
          <a:xfrm>
            <a:off x="755650" y="404812"/>
            <a:ext cx="402431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stantia"/>
              <a:buNone/>
            </a:pPr>
            <a:r>
              <a:rPr lang="en-US" sz="2800" b="0" i="0" u="sng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rPr>
              <a:t>Mach Band Effect (Cont)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6553200" y="2971800"/>
            <a:ext cx="2286000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nstantia"/>
              <a:buNone/>
            </a:pPr>
            <a:r>
              <a:rPr lang="en-US" sz="2400" b="0" i="0" u="sng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Ernst Mach described this phenomenon in 1865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0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Optical Illusions </a:t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409700"/>
            <a:ext cx="4886325" cy="487521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 txBox="1"/>
          <p:nvPr/>
        </p:nvSpPr>
        <p:spPr>
          <a:xfrm>
            <a:off x="5343525" y="2743200"/>
            <a:ext cx="3600450" cy="19812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tantia"/>
              <a:buNone/>
            </a:pPr>
            <a:r>
              <a:rPr lang="en-US" sz="2800" b="0" i="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Stare at the cross in the middle of the image and think circles.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7"/>
          <p:cNvPicPr preferRelativeResize="0"/>
          <p:nvPr/>
        </p:nvPicPr>
        <p:blipFill rotWithShape="1">
          <a:blip r:embed="rId3">
            <a:alphaModFix/>
          </a:blip>
          <a:srcRect r="34502" b="17790"/>
          <a:stretch/>
        </p:blipFill>
        <p:spPr>
          <a:xfrm>
            <a:off x="533400" y="1752600"/>
            <a:ext cx="42672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Image Formation</a:t>
            </a:r>
            <a:endParaRPr/>
          </a:p>
        </p:txBody>
      </p:sp>
      <p:pic>
        <p:nvPicPr>
          <p:cNvPr id="305" name="Google Shape;305;p17" descr="humaneye"/>
          <p:cNvPicPr preferRelativeResize="0"/>
          <p:nvPr/>
        </p:nvPicPr>
        <p:blipFill rotWithShape="1">
          <a:blip r:embed="rId4">
            <a:alphaModFix/>
          </a:blip>
          <a:srcRect l="14894" r="17020"/>
          <a:stretch/>
        </p:blipFill>
        <p:spPr>
          <a:xfrm>
            <a:off x="5791200" y="4114800"/>
            <a:ext cx="2438400" cy="21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7"/>
          <p:cNvPicPr preferRelativeResize="0"/>
          <p:nvPr/>
        </p:nvPicPr>
        <p:blipFill rotWithShape="1">
          <a:blip r:embed="rId5">
            <a:alphaModFix/>
          </a:blip>
          <a:srcRect l="49846" b="18366"/>
          <a:stretch/>
        </p:blipFill>
        <p:spPr>
          <a:xfrm>
            <a:off x="6172200" y="1371600"/>
            <a:ext cx="175895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7"/>
          <p:cNvSpPr txBox="1"/>
          <p:nvPr/>
        </p:nvSpPr>
        <p:spPr>
          <a:xfrm>
            <a:off x="5943600" y="3429000"/>
            <a:ext cx="2203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Camera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6248400" y="6324600"/>
            <a:ext cx="1319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Eye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3489325" y="5221287"/>
            <a:ext cx="7604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>
            <a:spLocks noGrp="1"/>
          </p:cNvSpPr>
          <p:nvPr>
            <p:ph type="title"/>
          </p:nvPr>
        </p:nvSpPr>
        <p:spPr>
          <a:xfrm>
            <a:off x="914400" y="25908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02A"/>
              </a:buClr>
              <a:buSzPts val="4000"/>
              <a:buFont typeface="Constantia"/>
              <a:buNone/>
            </a:pPr>
            <a:r>
              <a:rPr lang="en-US" sz="4000" b="1" i="0" u="none" baseline="-25000">
                <a:solidFill>
                  <a:srgbClr val="00102A"/>
                </a:solidFill>
                <a:latin typeface="Constantia"/>
                <a:ea typeface="Constantia"/>
                <a:cs typeface="Constantia"/>
                <a:sym typeface="Constantia"/>
              </a:rPr>
              <a:t>IMAGE SENSING AND  ACQUISITION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216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0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In the following slides we will consider what is involved in capturing a digital image of a real-world scene</a:t>
            </a:r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body" idx="1"/>
          </p:nvPr>
        </p:nvSpPr>
        <p:spPr>
          <a:xfrm>
            <a:off x="762000" y="3200400"/>
            <a:ext cx="7924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Image sensing and representation and acquisition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Sampling and quantisation (done in previous slide)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Resolution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>
            <a:spLocks noGrp="1"/>
          </p:cNvSpPr>
          <p:nvPr>
            <p:ph type="title" idx="4294967295"/>
          </p:nvPr>
        </p:nvSpPr>
        <p:spPr>
          <a:xfrm>
            <a:off x="457200" y="1524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0" i="0" u="sng" strike="noStrike" cap="none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Image Acquisition</a:t>
            </a:r>
            <a:endParaRPr/>
          </a:p>
        </p:txBody>
      </p:sp>
      <p:sp>
        <p:nvSpPr>
          <p:cNvPr id="327" name="Google Shape;327;p20"/>
          <p:cNvSpPr txBox="1">
            <a:spLocks noGrp="1"/>
          </p:cNvSpPr>
          <p:nvPr>
            <p:ph type="body" idx="4294967295"/>
          </p:nvPr>
        </p:nvSpPr>
        <p:spPr>
          <a:xfrm>
            <a:off x="152400" y="1782762"/>
            <a:ext cx="8229600" cy="36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Three main elements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Illumination source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Scene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Sensor (imaging system)</a:t>
            </a:r>
            <a:endParaRPr/>
          </a:p>
          <a:p>
            <a:pPr marL="1143000" marR="0" lvl="2" indent="-101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660066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660066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28" name="Google Shape;328;p20"/>
          <p:cNvPicPr preferRelativeResize="0"/>
          <p:nvPr/>
        </p:nvPicPr>
        <p:blipFill rotWithShape="1">
          <a:blip r:embed="rId3">
            <a:alphaModFix/>
          </a:blip>
          <a:srcRect t="-959"/>
          <a:stretch/>
        </p:blipFill>
        <p:spPr>
          <a:xfrm>
            <a:off x="5105400" y="2247900"/>
            <a:ext cx="3686175" cy="273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2600" y="1143000"/>
            <a:ext cx="2949575" cy="1157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 txBox="1">
            <a:spLocks noGrp="1"/>
          </p:cNvSpPr>
          <p:nvPr>
            <p:ph type="title" idx="4294967295"/>
          </p:nvPr>
        </p:nvSpPr>
        <p:spPr>
          <a:xfrm>
            <a:off x="457200" y="1524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0" i="0" u="sng" strike="noStrike" cap="none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Image Acquisition</a:t>
            </a:r>
            <a:endParaRPr/>
          </a:p>
        </p:txBody>
      </p:sp>
      <p:sp>
        <p:nvSpPr>
          <p:cNvPr id="335" name="Google Shape;335;p21"/>
          <p:cNvSpPr txBox="1">
            <a:spLocks noGrp="1"/>
          </p:cNvSpPr>
          <p:nvPr>
            <p:ph type="body" idx="4294967295"/>
          </p:nvPr>
        </p:nvSpPr>
        <p:spPr>
          <a:xfrm>
            <a:off x="152400" y="1295400"/>
            <a:ext cx="8229600" cy="530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AutoNum type="arabicPeriod"/>
            </a:pPr>
            <a:r>
              <a:rPr lang="en-US" sz="2800" b="0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Illumination source: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Constantia"/>
              <a:buChar char="–"/>
            </a:pPr>
            <a:r>
              <a:rPr lang="en-US" sz="2400" b="0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Can be light energy or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Constantia"/>
              <a:buChar char="–"/>
            </a:pPr>
            <a:r>
              <a:rPr lang="en-US" sz="2400" b="0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EM spectrum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Constantia"/>
              <a:buChar char="–"/>
            </a:pPr>
            <a:r>
              <a:rPr lang="en-US" sz="2400" b="0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Even less tradition sources like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0066"/>
              </a:buClr>
              <a:buSzPts val="2400"/>
              <a:buFont typeface="Constantia"/>
              <a:buChar char="•"/>
            </a:pPr>
            <a:r>
              <a:rPr lang="en-US" sz="2400" b="0" i="0" u="none" strike="noStrike" cap="none">
                <a:solidFill>
                  <a:srgbClr val="660066"/>
                </a:solidFill>
                <a:latin typeface="Constantia"/>
                <a:ea typeface="Constantia"/>
                <a:cs typeface="Constantia"/>
                <a:sym typeface="Constantia"/>
              </a:rPr>
              <a:t>Sound, heat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Arial"/>
              <a:buAutoNum type="arabicPeriod"/>
            </a:pPr>
            <a:r>
              <a:rPr lang="en-US" sz="2800" b="1" i="0" u="none">
                <a:solidFill>
                  <a:srgbClr val="0033CC"/>
                </a:solidFill>
                <a:latin typeface="Constantia"/>
                <a:ea typeface="Constantia"/>
                <a:cs typeface="Constantia"/>
                <a:sym typeface="Constantia"/>
              </a:rPr>
              <a:t>Scene: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Constantia"/>
              <a:buChar char="–"/>
            </a:pPr>
            <a:r>
              <a:rPr lang="en-US" sz="2400" b="0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Any object: visible or hidden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Constantia"/>
              <a:buChar char="–"/>
            </a:pPr>
            <a:r>
              <a:rPr lang="en-US" sz="2400" b="0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Source itself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Arial"/>
              <a:buAutoNum type="arabicPeriod"/>
            </a:pPr>
            <a:r>
              <a:rPr lang="en-US" sz="2800" b="1" i="0" u="none">
                <a:solidFill>
                  <a:srgbClr val="0033CC"/>
                </a:solidFill>
                <a:latin typeface="Constantia"/>
                <a:ea typeface="Constantia"/>
                <a:cs typeface="Constantia"/>
                <a:sym typeface="Constantia"/>
              </a:rPr>
              <a:t>Sensor</a:t>
            </a:r>
            <a:r>
              <a:rPr lang="en-US" sz="28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Constantia"/>
              <a:buChar char="–"/>
            </a:pPr>
            <a:r>
              <a:rPr lang="en-US" sz="2000" b="0" i="0" u="none" strike="noStrike" cap="none">
                <a:solidFill>
                  <a:srgbClr val="336600"/>
                </a:solidFill>
                <a:latin typeface="Constantia"/>
                <a:ea typeface="Constantia"/>
                <a:cs typeface="Constantia"/>
                <a:sym typeface="Constantia"/>
              </a:rPr>
              <a:t>Should be capable of sensing the energy</a:t>
            </a:r>
            <a:endParaRPr/>
          </a:p>
          <a:p>
            <a:pPr marL="742950" marR="0" lvl="1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3366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1143000" marR="0" lvl="2" indent="-101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660066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660066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36" name="Google Shape;336;p21"/>
          <p:cNvPicPr preferRelativeResize="0"/>
          <p:nvPr/>
        </p:nvPicPr>
        <p:blipFill rotWithShape="1">
          <a:blip r:embed="rId3">
            <a:alphaModFix/>
          </a:blip>
          <a:srcRect t="-959"/>
          <a:stretch/>
        </p:blipFill>
        <p:spPr>
          <a:xfrm>
            <a:off x="5181600" y="2674937"/>
            <a:ext cx="3686175" cy="273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9625" y="1444625"/>
            <a:ext cx="2597150" cy="1020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Arial"/>
              <a:buNone/>
            </a:pPr>
            <a:r>
              <a:rPr lang="en-US" sz="32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Light And The Electromagnetic Spectrum</a:t>
            </a:r>
            <a:endParaRPr/>
          </a:p>
        </p:txBody>
      </p:sp>
      <p:pic>
        <p:nvPicPr>
          <p:cNvPr id="346" name="Google Shape;346;p22"/>
          <p:cNvPicPr preferRelativeResize="0"/>
          <p:nvPr/>
        </p:nvPicPr>
        <p:blipFill rotWithShape="1">
          <a:blip r:embed="rId3">
            <a:alphaModFix/>
          </a:blip>
          <a:srcRect b="22644"/>
          <a:stretch/>
        </p:blipFill>
        <p:spPr>
          <a:xfrm>
            <a:off x="228600" y="2403475"/>
            <a:ext cx="8610600" cy="23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 txBox="1"/>
          <p:nvPr/>
        </p:nvSpPr>
        <p:spPr>
          <a:xfrm>
            <a:off x="457200" y="1295400"/>
            <a:ext cx="8229600" cy="548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 1666 Sir Isaac Newton discovered that sunlight passed through a prism splits into a continuous spectrum of colors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-152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Light is just a particular part of the electromagnetic spectrum that can be sensed by the human eye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-152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electromagnetic spectrum is split up according to the wavelengths of different forms of energy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3"/>
          <p:cNvGrpSpPr/>
          <p:nvPr/>
        </p:nvGrpSpPr>
        <p:grpSpPr>
          <a:xfrm>
            <a:off x="228600" y="1600200"/>
            <a:ext cx="8610600" cy="4459287"/>
            <a:chOff x="228600" y="1179280"/>
            <a:chExt cx="8610600" cy="4459520"/>
          </a:xfrm>
        </p:grpSpPr>
        <p:pic>
          <p:nvPicPr>
            <p:cNvPr id="356" name="Google Shape;356;p23"/>
            <p:cNvPicPr preferRelativeResize="0"/>
            <p:nvPr/>
          </p:nvPicPr>
          <p:blipFill rotWithShape="1">
            <a:blip r:embed="rId3">
              <a:alphaModFix/>
            </a:blip>
            <a:srcRect b="60565"/>
            <a:stretch/>
          </p:blipFill>
          <p:spPr>
            <a:xfrm>
              <a:off x="250496" y="1179280"/>
              <a:ext cx="8588704" cy="2249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23"/>
            <p:cNvPicPr preferRelativeResize="0"/>
            <p:nvPr/>
          </p:nvPicPr>
          <p:blipFill rotWithShape="1">
            <a:blip r:embed="rId4">
              <a:alphaModFix/>
            </a:blip>
            <a:srcRect b="22644"/>
            <a:stretch/>
          </p:blipFill>
          <p:spPr>
            <a:xfrm>
              <a:off x="228600" y="3317875"/>
              <a:ext cx="8610600" cy="2320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8" name="Google Shape;358;p23"/>
          <p:cNvSpPr txBox="1"/>
          <p:nvPr/>
        </p:nvSpPr>
        <p:spPr>
          <a:xfrm>
            <a:off x="228600" y="609600"/>
            <a:ext cx="86868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❑"/>
            </a:pPr>
            <a:r>
              <a:rPr lang="en-US" sz="2000" b="0" i="0" u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   A discrete bundle (or </a:t>
            </a:r>
            <a:r>
              <a:rPr lang="en-US" sz="2000" b="0" i="1" u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quantum</a:t>
            </a:r>
            <a:r>
              <a:rPr lang="en-US" sz="2000" b="0" i="0" u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) of electromagnetic (or light) energy, PHOTON is proportional to frequency.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Arial"/>
              <a:buNone/>
            </a:pPr>
            <a:r>
              <a:rPr lang="en-US" sz="36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364" name="Google Shape;364;p24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❑"/>
            </a:pPr>
            <a:r>
              <a:rPr lang="en-US" sz="2000" b="1" i="0" u="none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Interreflection</a:t>
            </a:r>
            <a:endParaRPr/>
          </a:p>
          <a:p>
            <a:pPr marL="342900" marR="0" lvl="0" indent="-215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endParaRPr sz="2000" b="1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21590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endParaRPr sz="2000" b="1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endParaRPr sz="2000" b="1" i="0" u="none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365" name="Google Shape;365;p24"/>
          <p:cNvGrpSpPr/>
          <p:nvPr/>
        </p:nvGrpSpPr>
        <p:grpSpPr>
          <a:xfrm>
            <a:off x="5029200" y="1828800"/>
            <a:ext cx="3810000" cy="3429000"/>
            <a:chOff x="6629400" y="2882264"/>
            <a:chExt cx="2438400" cy="2194560"/>
          </a:xfrm>
        </p:grpSpPr>
        <p:cxnSp>
          <p:nvCxnSpPr>
            <p:cNvPr id="366" name="Google Shape;366;p24"/>
            <p:cNvCxnSpPr/>
            <p:nvPr/>
          </p:nvCxnSpPr>
          <p:spPr>
            <a:xfrm>
              <a:off x="6629400" y="4619624"/>
              <a:ext cx="1600200" cy="0"/>
            </a:xfrm>
            <a:prstGeom prst="straightConnector1">
              <a:avLst/>
            </a:prstGeom>
            <a:noFill/>
            <a:ln w="76200" cap="flat" cmpd="sng">
              <a:solidFill>
                <a:srgbClr val="B6DCD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67" name="Google Shape;367;p24"/>
            <p:cNvSpPr/>
            <p:nvPr/>
          </p:nvSpPr>
          <p:spPr>
            <a:xfrm>
              <a:off x="8458200" y="3124072"/>
              <a:ext cx="304800" cy="304800"/>
            </a:xfrm>
            <a:prstGeom prst="ellipse">
              <a:avLst/>
            </a:prstGeom>
            <a:solidFill>
              <a:srgbClr val="FFFF00"/>
            </a:solidFill>
            <a:ln w="254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8" name="Google Shape;368;p24"/>
            <p:cNvCxnSpPr/>
            <p:nvPr/>
          </p:nvCxnSpPr>
          <p:spPr>
            <a:xfrm rot="5400000">
              <a:off x="7429500" y="3498468"/>
              <a:ext cx="1187704" cy="95910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stealth" w="med" len="med"/>
            </a:ln>
          </p:spPr>
        </p:cxnSp>
        <p:sp>
          <p:nvSpPr>
            <p:cNvPr id="369" name="Google Shape;369;p24"/>
            <p:cNvSpPr txBox="1"/>
            <p:nvPr/>
          </p:nvSpPr>
          <p:spPr>
            <a:xfrm>
              <a:off x="8006080" y="3352672"/>
              <a:ext cx="299720" cy="3698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λ</a:t>
              </a:r>
              <a:endParaRPr/>
            </a:p>
          </p:txBody>
        </p:sp>
        <p:sp>
          <p:nvSpPr>
            <p:cNvPr id="370" name="Google Shape;370;p24"/>
            <p:cNvSpPr txBox="1"/>
            <p:nvPr/>
          </p:nvSpPr>
          <p:spPr>
            <a:xfrm>
              <a:off x="8190992" y="2882264"/>
              <a:ext cx="876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light source</a:t>
              </a:r>
              <a:endParaRPr/>
            </a:p>
          </p:txBody>
        </p:sp>
        <p:cxnSp>
          <p:nvCxnSpPr>
            <p:cNvPr id="371" name="Google Shape;371;p24"/>
            <p:cNvCxnSpPr/>
            <p:nvPr/>
          </p:nvCxnSpPr>
          <p:spPr>
            <a:xfrm rot="5400000" flipH="1">
              <a:off x="7124700" y="4152773"/>
              <a:ext cx="45720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stealth" w="med" len="med"/>
            </a:ln>
          </p:spPr>
        </p:cxnSp>
        <p:sp>
          <p:nvSpPr>
            <p:cNvPr id="372" name="Google Shape;372;p24"/>
            <p:cNvSpPr txBox="1"/>
            <p:nvPr/>
          </p:nvSpPr>
          <p:spPr>
            <a:xfrm>
              <a:off x="7458456" y="4254880"/>
              <a:ext cx="213360" cy="2367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/>
            </a:p>
          </p:txBody>
        </p:sp>
        <p:cxnSp>
          <p:nvCxnSpPr>
            <p:cNvPr id="373" name="Google Shape;373;p24"/>
            <p:cNvCxnSpPr/>
            <p:nvPr/>
          </p:nvCxnSpPr>
          <p:spPr>
            <a:xfrm rot="10800000">
              <a:off x="6934200" y="4343272"/>
              <a:ext cx="609600" cy="228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stealth" w="med" len="med"/>
            </a:ln>
          </p:spPr>
        </p:cxnSp>
        <p:cxnSp>
          <p:nvCxnSpPr>
            <p:cNvPr id="374" name="Google Shape;374;p24"/>
            <p:cNvCxnSpPr/>
            <p:nvPr/>
          </p:nvCxnSpPr>
          <p:spPr>
            <a:xfrm rot="10800000" flipH="1">
              <a:off x="7620000" y="4343272"/>
              <a:ext cx="609600" cy="228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stealth" w="med" len="med"/>
            </a:ln>
          </p:spPr>
        </p:cxnSp>
        <p:cxnSp>
          <p:nvCxnSpPr>
            <p:cNvPr id="375" name="Google Shape;375;p24"/>
            <p:cNvCxnSpPr/>
            <p:nvPr/>
          </p:nvCxnSpPr>
          <p:spPr>
            <a:xfrm rot="5400000">
              <a:off x="7124700" y="4733924"/>
              <a:ext cx="3810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stealth" w="med" len="med"/>
            </a:ln>
          </p:spPr>
        </p:cxnSp>
        <p:cxnSp>
          <p:nvCxnSpPr>
            <p:cNvPr id="376" name="Google Shape;376;p24"/>
            <p:cNvCxnSpPr/>
            <p:nvPr/>
          </p:nvCxnSpPr>
          <p:spPr>
            <a:xfrm rot="5400000">
              <a:off x="6972300" y="4733924"/>
              <a:ext cx="381000" cy="30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stealth" w="med" len="med"/>
            </a:ln>
          </p:spPr>
        </p:cxnSp>
        <p:cxnSp>
          <p:nvCxnSpPr>
            <p:cNvPr id="377" name="Google Shape;377;p24"/>
            <p:cNvCxnSpPr/>
            <p:nvPr/>
          </p:nvCxnSpPr>
          <p:spPr>
            <a:xfrm rot="10800000">
              <a:off x="6781800" y="4419472"/>
              <a:ext cx="609600" cy="228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stealth" w="med" len="med"/>
            </a:ln>
          </p:spPr>
        </p:cxnSp>
      </p:grpSp>
      <p:sp>
        <p:nvSpPr>
          <p:cNvPr id="378" name="Google Shape;378;p24"/>
          <p:cNvSpPr txBox="1"/>
          <p:nvPr/>
        </p:nvSpPr>
        <p:spPr>
          <a:xfrm>
            <a:off x="6858000" y="5638800"/>
            <a:ext cx="1885950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Chapter 2 of Szeliski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384" name="Google Shape;384;p25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25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86" name="Google Shape;386;p25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25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388" name="Google Shape;388;p25"/>
          <p:cNvSpPr txBox="1"/>
          <p:nvPr/>
        </p:nvSpPr>
        <p:spPr>
          <a:xfrm>
            <a:off x="7180262" y="2563812"/>
            <a:ext cx="4683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395" name="Google Shape;395;p2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Diffuse 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26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97" name="Google Shape;397;p26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26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399" name="Google Shape;399;p26"/>
          <p:cNvSpPr txBox="1"/>
          <p:nvPr/>
        </p:nvSpPr>
        <p:spPr>
          <a:xfrm>
            <a:off x="7180262" y="2563812"/>
            <a:ext cx="4683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endParaRPr/>
          </a:p>
        </p:txBody>
      </p:sp>
      <p:sp>
        <p:nvSpPr>
          <p:cNvPr id="400" name="Google Shape;400;p26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01" name="Google Shape;401;p26"/>
          <p:cNvCxnSpPr/>
          <p:nvPr/>
        </p:nvCxnSpPr>
        <p:spPr>
          <a:xfrm rot="5400000" flipH="1">
            <a:off x="5803106" y="3813968"/>
            <a:ext cx="714375" cy="5953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02" name="Google Shape;402;p26"/>
          <p:cNvCxnSpPr/>
          <p:nvPr/>
        </p:nvCxnSpPr>
        <p:spPr>
          <a:xfrm rot="10800000">
            <a:off x="5505450" y="4111625"/>
            <a:ext cx="952500" cy="357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03" name="Google Shape;403;p26"/>
          <p:cNvCxnSpPr/>
          <p:nvPr/>
        </p:nvCxnSpPr>
        <p:spPr>
          <a:xfrm rot="10800000" flipH="1">
            <a:off x="6477000" y="4114800"/>
            <a:ext cx="952500" cy="357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409" name="Google Shape;409;p27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Specular 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27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11" name="Google Shape;411;p27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27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13" name="Google Shape;413;p27"/>
          <p:cNvSpPr txBox="1"/>
          <p:nvPr/>
        </p:nvSpPr>
        <p:spPr>
          <a:xfrm>
            <a:off x="7180262" y="2563812"/>
            <a:ext cx="4683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15" name="Google Shape;415;p27"/>
          <p:cNvCxnSpPr/>
          <p:nvPr/>
        </p:nvCxnSpPr>
        <p:spPr>
          <a:xfrm rot="10800000">
            <a:off x="5715000" y="3886200"/>
            <a:ext cx="742950" cy="5826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421" name="Google Shape;421;p28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28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23" name="Google Shape;423;p28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28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25" name="Google Shape;425;p28"/>
          <p:cNvSpPr txBox="1"/>
          <p:nvPr/>
        </p:nvSpPr>
        <p:spPr>
          <a:xfrm>
            <a:off x="7180262" y="2563812"/>
            <a:ext cx="4683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27" name="Google Shape;427;p28"/>
          <p:cNvCxnSpPr/>
          <p:nvPr/>
        </p:nvCxnSpPr>
        <p:spPr>
          <a:xfrm rot="5400000">
            <a:off x="5803106" y="4722018"/>
            <a:ext cx="595312" cy="4762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29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35" name="Google Shape;435;p29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29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37" name="Google Shape;437;p29"/>
          <p:cNvSpPr txBox="1"/>
          <p:nvPr/>
        </p:nvSpPr>
        <p:spPr>
          <a:xfrm>
            <a:off x="7180262" y="2563812"/>
            <a:ext cx="4683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39" name="Google Shape;439;p29"/>
          <p:cNvCxnSpPr/>
          <p:nvPr/>
        </p:nvCxnSpPr>
        <p:spPr>
          <a:xfrm rot="5400000">
            <a:off x="5660231" y="4653756"/>
            <a:ext cx="595312" cy="4762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40" name="Google Shape;440;p29"/>
          <p:cNvCxnSpPr/>
          <p:nvPr/>
        </p:nvCxnSpPr>
        <p:spPr>
          <a:xfrm flipH="1">
            <a:off x="6207125" y="4503737"/>
            <a:ext cx="228600" cy="76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446" name="Google Shape;446;p3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30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8" name="Google Shape;448;p30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30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50" name="Google Shape;450;p30"/>
          <p:cNvSpPr txBox="1"/>
          <p:nvPr/>
        </p:nvSpPr>
        <p:spPr>
          <a:xfrm>
            <a:off x="7180262" y="2563812"/>
            <a:ext cx="3841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51" name="Google Shape;451;p30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52" name="Google Shape;452;p30"/>
          <p:cNvCxnSpPr/>
          <p:nvPr/>
        </p:nvCxnSpPr>
        <p:spPr>
          <a:xfrm rot="5400000" flipH="1">
            <a:off x="5803106" y="3813968"/>
            <a:ext cx="714375" cy="59531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53" name="Google Shape;453;p30"/>
          <p:cNvCxnSpPr/>
          <p:nvPr/>
        </p:nvCxnSpPr>
        <p:spPr>
          <a:xfrm rot="10800000">
            <a:off x="5505450" y="4111625"/>
            <a:ext cx="952500" cy="35718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54" name="Google Shape;454;p30"/>
          <p:cNvCxnSpPr/>
          <p:nvPr/>
        </p:nvCxnSpPr>
        <p:spPr>
          <a:xfrm rot="10800000" flipH="1">
            <a:off x="6577012" y="4111625"/>
            <a:ext cx="952500" cy="35718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55" name="Google Shape;455;p30"/>
          <p:cNvSpPr txBox="1"/>
          <p:nvPr/>
        </p:nvSpPr>
        <p:spPr>
          <a:xfrm>
            <a:off x="5638800" y="3352800"/>
            <a:ext cx="385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461" name="Google Shape;461;p31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31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63" name="Google Shape;463;p31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p31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65" name="Google Shape;465;p31"/>
          <p:cNvSpPr txBox="1"/>
          <p:nvPr/>
        </p:nvSpPr>
        <p:spPr>
          <a:xfrm>
            <a:off x="7180262" y="2563812"/>
            <a:ext cx="4683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endParaRPr/>
          </a:p>
        </p:txBody>
      </p:sp>
      <p:sp>
        <p:nvSpPr>
          <p:cNvPr id="466" name="Google Shape;466;p31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67" name="Google Shape;467;p31"/>
          <p:cNvCxnSpPr/>
          <p:nvPr/>
        </p:nvCxnSpPr>
        <p:spPr>
          <a:xfrm rot="5400000" flipH="1">
            <a:off x="5717381" y="3909218"/>
            <a:ext cx="714375" cy="5953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68" name="Google Shape;468;p31"/>
          <p:cNvCxnSpPr/>
          <p:nvPr/>
        </p:nvCxnSpPr>
        <p:spPr>
          <a:xfrm rot="10800000">
            <a:off x="4953000" y="4191000"/>
            <a:ext cx="952500" cy="357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69" name="Google Shape;469;p31"/>
          <p:cNvCxnSpPr/>
          <p:nvPr/>
        </p:nvCxnSpPr>
        <p:spPr>
          <a:xfrm rot="10800000" flipH="1">
            <a:off x="6629400" y="4191000"/>
            <a:ext cx="952500" cy="357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475" name="Google Shape;475;p32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32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77" name="Google Shape;477;p32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32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79" name="Google Shape;479;p32"/>
          <p:cNvSpPr txBox="1"/>
          <p:nvPr/>
        </p:nvSpPr>
        <p:spPr>
          <a:xfrm>
            <a:off x="7261225" y="2563812"/>
            <a:ext cx="5111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t=1</a:t>
            </a:r>
            <a:endParaRPr/>
          </a:p>
        </p:txBody>
      </p:sp>
      <p:sp>
        <p:nvSpPr>
          <p:cNvPr id="480" name="Google Shape;480;p32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81" name="Google Shape;481;p32"/>
          <p:cNvCxnSpPr/>
          <p:nvPr/>
        </p:nvCxnSpPr>
        <p:spPr>
          <a:xfrm rot="5400000" flipH="1">
            <a:off x="5760243" y="3848893"/>
            <a:ext cx="714375" cy="5953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82" name="Google Shape;482;p32"/>
          <p:cNvCxnSpPr/>
          <p:nvPr/>
        </p:nvCxnSpPr>
        <p:spPr>
          <a:xfrm rot="10800000">
            <a:off x="5462587" y="4146550"/>
            <a:ext cx="952500" cy="357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83" name="Google Shape;483;p32"/>
          <p:cNvCxnSpPr/>
          <p:nvPr/>
        </p:nvCxnSpPr>
        <p:spPr>
          <a:xfrm rot="10800000" flipH="1">
            <a:off x="6408737" y="4146550"/>
            <a:ext cx="952500" cy="357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84" name="Google Shape;484;p32"/>
          <p:cNvSpPr txBox="1"/>
          <p:nvPr/>
        </p:nvSpPr>
        <p:spPr>
          <a:xfrm>
            <a:off x="5867400" y="3429000"/>
            <a:ext cx="5111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t=n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A photon’s life choices</a:t>
            </a:r>
            <a:endParaRPr/>
          </a:p>
        </p:txBody>
      </p:sp>
      <p:sp>
        <p:nvSpPr>
          <p:cNvPr id="490" name="Google Shape;490;p3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Absorption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Transparency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Refraction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Fluorescence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Subsurface scattering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A6A6A6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Phosphorescence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Interreflection</a:t>
            </a:r>
            <a:endParaRPr/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33"/>
          <p:cNvCxnSpPr/>
          <p:nvPr/>
        </p:nvCxnSpPr>
        <p:spPr>
          <a:xfrm>
            <a:off x="5029200" y="4543425"/>
            <a:ext cx="2500312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92" name="Google Shape;492;p33"/>
          <p:cNvSpPr/>
          <p:nvPr/>
        </p:nvSpPr>
        <p:spPr>
          <a:xfrm>
            <a:off x="7886700" y="2206625"/>
            <a:ext cx="476250" cy="476250"/>
          </a:xfrm>
          <a:prstGeom prst="ellipse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493;p33"/>
          <p:cNvCxnSpPr/>
          <p:nvPr/>
        </p:nvCxnSpPr>
        <p:spPr>
          <a:xfrm rot="5400000">
            <a:off x="6279356" y="2791618"/>
            <a:ext cx="1855787" cy="149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494" name="Google Shape;494;p33"/>
          <p:cNvSpPr txBox="1"/>
          <p:nvPr/>
        </p:nvSpPr>
        <p:spPr>
          <a:xfrm>
            <a:off x="7180262" y="2563812"/>
            <a:ext cx="4683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endParaRPr/>
          </a:p>
        </p:txBody>
      </p:sp>
      <p:sp>
        <p:nvSpPr>
          <p:cNvPr id="495" name="Google Shape;495;p33"/>
          <p:cNvSpPr txBox="1"/>
          <p:nvPr/>
        </p:nvSpPr>
        <p:spPr>
          <a:xfrm>
            <a:off x="7469187" y="1828800"/>
            <a:ext cx="13700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source</a:t>
            </a:r>
            <a:endParaRPr/>
          </a:p>
        </p:txBody>
      </p:sp>
      <p:cxnSp>
        <p:nvCxnSpPr>
          <p:cNvPr id="496" name="Google Shape;496;p33"/>
          <p:cNvCxnSpPr/>
          <p:nvPr/>
        </p:nvCxnSpPr>
        <p:spPr>
          <a:xfrm rot="5400000" flipH="1">
            <a:off x="5750718" y="3831431"/>
            <a:ext cx="714375" cy="5953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97" name="Google Shape;497;p33"/>
          <p:cNvCxnSpPr/>
          <p:nvPr/>
        </p:nvCxnSpPr>
        <p:spPr>
          <a:xfrm>
            <a:off x="4953000" y="3733800"/>
            <a:ext cx="1600200" cy="0"/>
          </a:xfrm>
          <a:prstGeom prst="straightConnector1">
            <a:avLst/>
          </a:prstGeom>
          <a:noFill/>
          <a:ln w="76200" cap="flat" cmpd="sng">
            <a:solidFill>
              <a:srgbClr val="B6DCD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8" name="Google Shape;498;p33"/>
          <p:cNvCxnSpPr/>
          <p:nvPr/>
        </p:nvCxnSpPr>
        <p:spPr>
          <a:xfrm rot="5400000">
            <a:off x="5203031" y="3899693"/>
            <a:ext cx="727075" cy="4651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499" name="Google Shape;499;p33"/>
          <p:cNvCxnSpPr/>
          <p:nvPr/>
        </p:nvCxnSpPr>
        <p:spPr>
          <a:xfrm rot="5400000" flipH="1">
            <a:off x="4923631" y="4067968"/>
            <a:ext cx="439737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500" name="Google Shape;500;p33"/>
          <p:cNvSpPr txBox="1"/>
          <p:nvPr/>
        </p:nvSpPr>
        <p:spPr>
          <a:xfrm>
            <a:off x="4953000" y="5029200"/>
            <a:ext cx="27876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(Specular Interreflection)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4"/>
          <p:cNvSpPr txBox="1"/>
          <p:nvPr/>
        </p:nvSpPr>
        <p:spPr>
          <a:xfrm>
            <a:off x="381000" y="5470525"/>
            <a:ext cx="3389312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CCD KAF-3200E from Kodak.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(2184 x 1472 pixels,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Pixel size 6.8 microns</a:t>
            </a:r>
            <a:r>
              <a:rPr lang="en-US" sz="20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id="506" name="Google Shape;506;p34" descr="kaf3200eS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225" y="3159125"/>
            <a:ext cx="3003550" cy="2138362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4"/>
          <p:cNvSpPr txBox="1"/>
          <p:nvPr/>
        </p:nvSpPr>
        <p:spPr>
          <a:xfrm>
            <a:off x="3986212" y="2438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Charge-Coupled Device (CCD)</a:t>
            </a:r>
            <a:endParaRPr/>
          </a:p>
        </p:txBody>
      </p:sp>
      <p:sp>
        <p:nvSpPr>
          <p:cNvPr id="508" name="Google Shape;508;p34"/>
          <p:cNvSpPr txBox="1"/>
          <p:nvPr/>
        </p:nvSpPr>
        <p:spPr>
          <a:xfrm>
            <a:off x="3770312" y="2940050"/>
            <a:ext cx="5322887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4D"/>
              </a:buClr>
              <a:buSzPts val="1800"/>
              <a:buFont typeface="Noto Sans Symbols"/>
              <a:buChar char="✔"/>
            </a:pPr>
            <a:r>
              <a:rPr lang="en-US" sz="1800" b="0" i="0" u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for convert a continuous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image into a digital image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4D"/>
              </a:buClr>
              <a:buSzPts val="1800"/>
              <a:buFont typeface="Noto Sans Symbols"/>
              <a:buChar char="✔"/>
            </a:pPr>
            <a:r>
              <a:rPr lang="en-US" sz="1800" b="0" i="0" u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 an array of light sensors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4D"/>
              </a:buClr>
              <a:buSzPts val="1800"/>
              <a:buFont typeface="Noto Sans Symbols"/>
              <a:buChar char="✔"/>
            </a:pPr>
            <a:r>
              <a:rPr lang="en-US" sz="1800" b="0" i="0" u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Converts photon into electric charges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accumulated in each sensor unit</a:t>
            </a:r>
            <a:endParaRPr/>
          </a:p>
        </p:txBody>
      </p:sp>
      <p:sp>
        <p:nvSpPr>
          <p:cNvPr id="509" name="Google Shape;509;p34"/>
          <p:cNvSpPr txBox="1"/>
          <p:nvPr/>
        </p:nvSpPr>
        <p:spPr>
          <a:xfrm>
            <a:off x="684212" y="228600"/>
            <a:ext cx="2619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onstantia"/>
              <a:buNone/>
            </a:pPr>
            <a:r>
              <a:rPr lang="en-US" sz="2800" b="1" i="0" u="sng">
                <a:solidFill>
                  <a:srgbClr val="800000"/>
                </a:solidFill>
                <a:latin typeface="Constantia"/>
                <a:ea typeface="Constantia"/>
                <a:cs typeface="Constantia"/>
                <a:sym typeface="Constantia"/>
              </a:rPr>
              <a:t>Image Sensors</a:t>
            </a:r>
            <a:endParaRPr/>
          </a:p>
        </p:txBody>
      </p:sp>
      <p:sp>
        <p:nvSpPr>
          <p:cNvPr id="510" name="Google Shape;510;p34"/>
          <p:cNvSpPr txBox="1"/>
          <p:nvPr/>
        </p:nvSpPr>
        <p:spPr>
          <a:xfrm>
            <a:off x="457200" y="990600"/>
            <a:ext cx="8077200" cy="115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lang="en-US" sz="2000" b="0" i="0" u="non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  Incoming energy lands on a sensor material responsive to that type of energy and this generates a voltage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None/>
            </a:pPr>
            <a:endParaRPr sz="700" b="0" i="0" u="none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lang="en-US" sz="2000" b="0" i="0" u="non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Collections of sensors are arranged to capture images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5"/>
          <p:cNvSpPr txBox="1">
            <a:spLocks noGrp="1"/>
          </p:cNvSpPr>
          <p:nvPr>
            <p:ph type="title" idx="4294967295"/>
          </p:nvPr>
        </p:nvSpPr>
        <p:spPr>
          <a:xfrm>
            <a:off x="457200" y="1984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Constantia"/>
              <a:buNone/>
            </a:pPr>
            <a:r>
              <a:rPr lang="en-US" sz="2400" b="0" i="0" u="sng" strike="noStrike" cap="none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Image Sensors used to transform illumination energy to digital images.</a:t>
            </a:r>
            <a:endParaRPr/>
          </a:p>
        </p:txBody>
      </p:sp>
      <p:sp>
        <p:nvSpPr>
          <p:cNvPr id="519" name="Google Shape;519;p35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53340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3 main sensor arrangements: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Single sensor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Line sensor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Array sensor</a:t>
            </a:r>
            <a:endParaRPr/>
          </a:p>
        </p:txBody>
      </p:sp>
      <p:pic>
        <p:nvPicPr>
          <p:cNvPr id="520" name="Google Shape;52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913062"/>
            <a:ext cx="43751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5"/>
          <p:cNvSpPr txBox="1"/>
          <p:nvPr/>
        </p:nvSpPr>
        <p:spPr>
          <a:xfrm>
            <a:off x="1636712" y="4811712"/>
            <a:ext cx="179228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sensor</a:t>
            </a:r>
            <a:endParaRPr/>
          </a:p>
        </p:txBody>
      </p:sp>
      <p:pic>
        <p:nvPicPr>
          <p:cNvPr id="522" name="Google Shape;52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" y="5345112"/>
            <a:ext cx="7391400" cy="509587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5"/>
          <p:cNvSpPr txBox="1"/>
          <p:nvPr/>
        </p:nvSpPr>
        <p:spPr>
          <a:xfrm>
            <a:off x="7391400" y="5410200"/>
            <a:ext cx="1479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 sensor</a:t>
            </a:r>
            <a:endParaRPr/>
          </a:p>
        </p:txBody>
      </p:sp>
      <p:sp>
        <p:nvSpPr>
          <p:cNvPr id="524" name="Google Shape;524;p35"/>
          <p:cNvSpPr txBox="1"/>
          <p:nvPr/>
        </p:nvSpPr>
        <p:spPr>
          <a:xfrm>
            <a:off x="6400800" y="4876800"/>
            <a:ext cx="160813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sensor</a:t>
            </a:r>
            <a:endParaRPr/>
          </a:p>
        </p:txBody>
      </p:sp>
      <p:pic>
        <p:nvPicPr>
          <p:cNvPr id="525" name="Google Shape;525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1600" y="1447800"/>
            <a:ext cx="3429000" cy="33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5"/>
          <p:cNvSpPr txBox="1"/>
          <p:nvPr/>
        </p:nvSpPr>
        <p:spPr>
          <a:xfrm>
            <a:off x="0" y="5791200"/>
            <a:ext cx="89154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Sensing element can be a photodiode</a:t>
            </a:r>
            <a:endParaRPr/>
          </a:p>
          <a:p>
            <a:pPr marL="914400" marR="0" lvl="2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Filter absorbs extra energy or acts as pass-band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881062"/>
            <a:ext cx="7740650" cy="4300537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6"/>
          <p:cNvSpPr txBox="1"/>
          <p:nvPr/>
        </p:nvSpPr>
        <p:spPr>
          <a:xfrm>
            <a:off x="457200" y="5367337"/>
            <a:ext cx="8229600" cy="156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0033CC"/>
                </a:solidFill>
                <a:latin typeface="Constantia"/>
                <a:ea typeface="Constantia"/>
                <a:cs typeface="Constantia"/>
                <a:sym typeface="Constantia"/>
              </a:rPr>
              <a:t> Images are typically generated by </a:t>
            </a:r>
            <a:r>
              <a:rPr lang="en-US" sz="2400" b="0" i="1" u="none">
                <a:solidFill>
                  <a:srgbClr val="0033CC"/>
                </a:solidFill>
                <a:latin typeface="Constantia"/>
                <a:ea typeface="Constantia"/>
                <a:cs typeface="Constantia"/>
                <a:sym typeface="Constantia"/>
              </a:rPr>
              <a:t>illuminating</a:t>
            </a:r>
            <a:r>
              <a:rPr lang="en-US" sz="2400" b="0" i="0" u="none">
                <a:solidFill>
                  <a:srgbClr val="0033CC"/>
                </a:solidFill>
                <a:latin typeface="Constantia"/>
                <a:ea typeface="Constantia"/>
                <a:cs typeface="Constantia"/>
                <a:sym typeface="Constantia"/>
              </a:rPr>
              <a:t> a </a:t>
            </a:r>
            <a:r>
              <a:rPr lang="en-US" sz="2400" b="0" i="1" u="none">
                <a:solidFill>
                  <a:srgbClr val="0033CC"/>
                </a:solidFill>
                <a:latin typeface="Constantia"/>
                <a:ea typeface="Constantia"/>
                <a:cs typeface="Constantia"/>
                <a:sym typeface="Constantia"/>
              </a:rPr>
              <a:t>scene</a:t>
            </a:r>
            <a:r>
              <a:rPr lang="en-US" sz="2400" b="0" i="0" u="none">
                <a:solidFill>
                  <a:srgbClr val="0033CC"/>
                </a:solidFill>
                <a:latin typeface="Constantia"/>
                <a:ea typeface="Constantia"/>
                <a:cs typeface="Constantia"/>
                <a:sym typeface="Constantia"/>
              </a:rPr>
              <a:t> and absorbing the energy reflected by the objects in that scene.</a:t>
            </a:r>
            <a:endParaRPr/>
          </a:p>
        </p:txBody>
      </p:sp>
      <p:sp>
        <p:nvSpPr>
          <p:cNvPr id="533" name="Google Shape;533;p36"/>
          <p:cNvSpPr txBox="1"/>
          <p:nvPr/>
        </p:nvSpPr>
        <p:spPr>
          <a:xfrm>
            <a:off x="457200" y="1524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Constantia"/>
              <a:buNone/>
            </a:pPr>
            <a:r>
              <a:rPr lang="en-US" sz="3200" b="0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Image Acquisition using Sensor Array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700"/>
            <a:ext cx="9117012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7"/>
          <p:cNvSpPr txBox="1"/>
          <p:nvPr/>
        </p:nvSpPr>
        <p:spPr>
          <a:xfrm>
            <a:off x="8458200" y="6172200"/>
            <a:ext cx="228600" cy="381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216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1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Next class &gt;&gt;&gt;</a:t>
            </a:r>
            <a:endParaRPr/>
          </a:p>
        </p:txBody>
      </p:sp>
      <p:sp>
        <p:nvSpPr>
          <p:cNvPr id="546" name="Google Shape;546;p38"/>
          <p:cNvSpPr txBox="1">
            <a:spLocks noGrp="1"/>
          </p:cNvSpPr>
          <p:nvPr>
            <p:ph type="body" idx="1"/>
          </p:nvPr>
        </p:nvSpPr>
        <p:spPr>
          <a:xfrm>
            <a:off x="1219200" y="2133600"/>
            <a:ext cx="6477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Resolutions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Types of Digital Image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Effect of Spatial and Gray Level Resolutions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endParaRPr sz="2800" b="0" i="0" u="non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utorial on DIP">
  <a:themeElements>
    <a:clrScheme name="Tutorial on DI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utorial on DIP">
  <a:themeElements>
    <a:clrScheme name="Tutorial on DI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1660</Words>
  <Application>Microsoft Office PowerPoint</Application>
  <PresentationFormat>On-screen Show (4:3)</PresentationFormat>
  <Paragraphs>353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Constantia</vt:lpstr>
      <vt:lpstr>Calibri</vt:lpstr>
      <vt:lpstr>Comic Sans MS</vt:lpstr>
      <vt:lpstr>Times New Roman</vt:lpstr>
      <vt:lpstr>Arial Narrow</vt:lpstr>
      <vt:lpstr>Noto Sans Symbols</vt:lpstr>
      <vt:lpstr>Office Theme</vt:lpstr>
      <vt:lpstr>Tutorial on DIP</vt:lpstr>
      <vt:lpstr>1_Tutorial on DIP</vt:lpstr>
      <vt:lpstr>1_Office Theme</vt:lpstr>
      <vt:lpstr>CSE4227 Digital Image Processing</vt:lpstr>
      <vt:lpstr>Today’s Contents </vt:lpstr>
      <vt:lpstr>What is meant by visual perception? </vt:lpstr>
      <vt:lpstr>Human Visual System</vt:lpstr>
      <vt:lpstr>Brightness Adaptation &amp; Discrimination (cont…)</vt:lpstr>
      <vt:lpstr>Human Visual System</vt:lpstr>
      <vt:lpstr>Human Visual System</vt:lpstr>
      <vt:lpstr>Structure Of The Human Eye</vt:lpstr>
      <vt:lpstr>PowerPoint Presentation</vt:lpstr>
      <vt:lpstr>PowerPoint Presentation</vt:lpstr>
      <vt:lpstr>Image Formation In The Eye</vt:lpstr>
      <vt:lpstr> Some psychophysics:                                     Blind-Spot Experiment</vt:lpstr>
      <vt:lpstr>Brightness Adaptation &amp; Discrimination</vt:lpstr>
      <vt:lpstr>Brightness Adaptation &amp; Discrimination </vt:lpstr>
      <vt:lpstr>PowerPoint Presentation</vt:lpstr>
      <vt:lpstr>Optical Illusions </vt:lpstr>
      <vt:lpstr>Image Formation</vt:lpstr>
      <vt:lpstr>IMAGE SENSING AND  ACQUISITION</vt:lpstr>
      <vt:lpstr>In the following slides we will consider what is involved in capturing a digital image of a real-world scene</vt:lpstr>
      <vt:lpstr>Image Acquisition</vt:lpstr>
      <vt:lpstr>Image Acquisition</vt:lpstr>
      <vt:lpstr>Light And The Electromagnetic Spectrum</vt:lpstr>
      <vt:lpstr>PowerPoint Presentation</vt:lpstr>
      <vt:lpstr>A photon’s life choices</vt:lpstr>
      <vt:lpstr>A photon’s life choices</vt:lpstr>
      <vt:lpstr>A photon’s life choices</vt:lpstr>
      <vt:lpstr>A photon’s life choices</vt:lpstr>
      <vt:lpstr>A photon’s life choices</vt:lpstr>
      <vt:lpstr>A photon’s life choices</vt:lpstr>
      <vt:lpstr>A photon’s life choices</vt:lpstr>
      <vt:lpstr>A photon’s life choices</vt:lpstr>
      <vt:lpstr>A photon’s life choices</vt:lpstr>
      <vt:lpstr>A photon’s life choices</vt:lpstr>
      <vt:lpstr>PowerPoint Presentation</vt:lpstr>
      <vt:lpstr>Image Sensors used to transform illumination energy to digital images.</vt:lpstr>
      <vt:lpstr>PowerPoint Presentation</vt:lpstr>
      <vt:lpstr>PowerPoint Presentation</vt:lpstr>
      <vt:lpstr>Next class &gt;&gt;&gt;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CSE4227 Digital Image Processing</dc:title>
  <dc:creator>CSE</dc:creator>
  <cp:lastModifiedBy>Ahmadul Karim Chowdhury</cp:lastModifiedBy>
  <cp:revision>1</cp:revision>
  <dcterms:created xsi:type="dcterms:W3CDTF">2012-10-22T12:21:44Z</dcterms:created>
  <dcterms:modified xsi:type="dcterms:W3CDTF">2023-05-31T02:24:39Z</dcterms:modified>
</cp:coreProperties>
</file>