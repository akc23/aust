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1" r:id="rId6"/>
    <p:sldId id="264" r:id="rId7"/>
    <p:sldId id="265" r:id="rId8"/>
    <p:sldId id="266" r:id="rId9"/>
    <p:sldId id="349" r:id="rId10"/>
    <p:sldId id="350" r:id="rId11"/>
    <p:sldId id="270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348" r:id="rId33"/>
    <p:sldId id="295" r:id="rId34"/>
    <p:sldId id="296" r:id="rId35"/>
    <p:sldId id="297" r:id="rId36"/>
    <p:sldId id="298" r:id="rId37"/>
    <p:sldId id="346" r:id="rId38"/>
    <p:sldId id="347" r:id="rId39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1" autoAdjust="0"/>
    <p:restoredTop sz="94660"/>
  </p:normalViewPr>
  <p:slideViewPr>
    <p:cSldViewPr>
      <p:cViewPr>
        <p:scale>
          <a:sx n="60" d="100"/>
          <a:sy n="60" d="100"/>
        </p:scale>
        <p:origin x="1578" y="2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90" d="100"/>
        <a:sy n="190" d="100"/>
      </p:scale>
      <p:origin x="0" y="-3385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A83FF7-0C03-42E7-BA7B-45AA40EF8EDF}" type="datetimeFigureOut">
              <a:rPr lang="en-US" smtClean="0"/>
              <a:t>2/11/2023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C96ACD-E13E-47F2-BDFB-1DFD63E9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158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Mad= expected deviation</a:t>
            </a:r>
            <a:r>
              <a:rPr lang="en-US" baseline="0" dirty="0"/>
              <a:t> between forecasted &amp; actual result</a:t>
            </a:r>
          </a:p>
          <a:p>
            <a:r>
              <a:rPr lang="en-US" baseline="0" dirty="0" err="1"/>
              <a:t>Mse</a:t>
            </a:r>
            <a:r>
              <a:rPr lang="en-US" baseline="0" dirty="0"/>
              <a:t>= lower the </a:t>
            </a:r>
            <a:r>
              <a:rPr lang="en-US" baseline="0" dirty="0" err="1"/>
              <a:t>mse</a:t>
            </a:r>
            <a:r>
              <a:rPr lang="en-US" baseline="0" dirty="0"/>
              <a:t>, closer the forecast to actual</a:t>
            </a:r>
          </a:p>
          <a:p>
            <a:r>
              <a:rPr lang="en-US" baseline="0" dirty="0" err="1"/>
              <a:t>Mape</a:t>
            </a:r>
            <a:r>
              <a:rPr lang="en-US" baseline="0" dirty="0"/>
              <a:t>= closer to zero, better </a:t>
            </a:r>
            <a:r>
              <a:rPr lang="en-US" baseline="0"/>
              <a:t>the prediction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C96ACD-E13E-47F2-BDFB-1DFD63E943E6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53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37561" y="735025"/>
            <a:ext cx="4468876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59000" y="3525821"/>
            <a:ext cx="4826000" cy="9944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1E61BD-3FB9-4DEC-946E-03A2521DE027}" type="datetime1">
              <a:rPr lang="en-US" smtClean="0"/>
              <a:t>2/11/2023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9C9848-F7BE-4E4E-8946-A96A9083EB18}" type="datetime1">
              <a:rPr lang="en-US" smtClean="0"/>
              <a:t>2/11/2023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103C05-6B47-496F-975D-4A3409CCCD95}" type="datetime1">
              <a:rPr lang="en-US" smtClean="0"/>
              <a:t>2/11/2023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78C720-B3E7-43A1-BBA8-6383FF377F2E}" type="datetime1">
              <a:rPr lang="en-US" smtClean="0"/>
              <a:t>2/11/2023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1893D1-1F5D-46CC-9BAF-698C0D819B65}" type="datetime1">
              <a:rPr lang="en-US" smtClean="0"/>
              <a:t>2/11/2023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6616" y="451561"/>
            <a:ext cx="6690766" cy="10687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0540" y="2283167"/>
            <a:ext cx="8166100" cy="3347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F362B-2FB0-470A-B4F7-58F357D17551}" type="datetime1">
              <a:rPr lang="en-US" smtClean="0"/>
              <a:t>2/11/2023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3" Type="http://schemas.openxmlformats.org/officeDocument/2006/relationships/image" Target="../media/image17.png"/><Relationship Id="rId21" Type="http://schemas.openxmlformats.org/officeDocument/2006/relationships/image" Target="../media/image35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image" Target="../media/image16.png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26" Type="http://schemas.openxmlformats.org/officeDocument/2006/relationships/image" Target="../media/image60.png"/><Relationship Id="rId3" Type="http://schemas.openxmlformats.org/officeDocument/2006/relationships/image" Target="../media/image37.png"/><Relationship Id="rId21" Type="http://schemas.openxmlformats.org/officeDocument/2006/relationships/image" Target="../media/image55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5" Type="http://schemas.openxmlformats.org/officeDocument/2006/relationships/image" Target="../media/image59.png"/><Relationship Id="rId2" Type="http://schemas.openxmlformats.org/officeDocument/2006/relationships/image" Target="../media/image36.png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24" Type="http://schemas.openxmlformats.org/officeDocument/2006/relationships/image" Target="../media/image58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23" Type="http://schemas.openxmlformats.org/officeDocument/2006/relationships/image" Target="../media/image57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Relationship Id="rId22" Type="http://schemas.openxmlformats.org/officeDocument/2006/relationships/image" Target="../media/image56.png"/><Relationship Id="rId27" Type="http://schemas.openxmlformats.org/officeDocument/2006/relationships/image" Target="../media/image6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87.png"/><Relationship Id="rId18" Type="http://schemas.openxmlformats.org/officeDocument/2006/relationships/image" Target="../media/image92.png"/><Relationship Id="rId26" Type="http://schemas.openxmlformats.org/officeDocument/2006/relationships/image" Target="../media/image100.png"/><Relationship Id="rId3" Type="http://schemas.openxmlformats.org/officeDocument/2006/relationships/image" Target="../media/image77.png"/><Relationship Id="rId21" Type="http://schemas.openxmlformats.org/officeDocument/2006/relationships/image" Target="../media/image95.png"/><Relationship Id="rId7" Type="http://schemas.openxmlformats.org/officeDocument/2006/relationships/image" Target="../media/image81.png"/><Relationship Id="rId12" Type="http://schemas.openxmlformats.org/officeDocument/2006/relationships/image" Target="../media/image86.png"/><Relationship Id="rId17" Type="http://schemas.openxmlformats.org/officeDocument/2006/relationships/image" Target="../media/image91.png"/><Relationship Id="rId25" Type="http://schemas.openxmlformats.org/officeDocument/2006/relationships/image" Target="../media/image99.png"/><Relationship Id="rId2" Type="http://schemas.openxmlformats.org/officeDocument/2006/relationships/image" Target="../media/image76.png"/><Relationship Id="rId16" Type="http://schemas.openxmlformats.org/officeDocument/2006/relationships/image" Target="../media/image90.png"/><Relationship Id="rId20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24" Type="http://schemas.openxmlformats.org/officeDocument/2006/relationships/image" Target="../media/image98.png"/><Relationship Id="rId5" Type="http://schemas.openxmlformats.org/officeDocument/2006/relationships/image" Target="../media/image79.png"/><Relationship Id="rId15" Type="http://schemas.openxmlformats.org/officeDocument/2006/relationships/image" Target="../media/image89.png"/><Relationship Id="rId23" Type="http://schemas.openxmlformats.org/officeDocument/2006/relationships/image" Target="../media/image97.png"/><Relationship Id="rId10" Type="http://schemas.openxmlformats.org/officeDocument/2006/relationships/image" Target="../media/image84.png"/><Relationship Id="rId19" Type="http://schemas.openxmlformats.org/officeDocument/2006/relationships/image" Target="../media/image93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Relationship Id="rId14" Type="http://schemas.openxmlformats.org/officeDocument/2006/relationships/image" Target="../media/image88.png"/><Relationship Id="rId22" Type="http://schemas.openxmlformats.org/officeDocument/2006/relationships/image" Target="../media/image9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13" Type="http://schemas.openxmlformats.org/officeDocument/2006/relationships/image" Target="../media/image112.png"/><Relationship Id="rId18" Type="http://schemas.openxmlformats.org/officeDocument/2006/relationships/image" Target="../media/image117.png"/><Relationship Id="rId3" Type="http://schemas.openxmlformats.org/officeDocument/2006/relationships/image" Target="../media/image102.png"/><Relationship Id="rId21" Type="http://schemas.openxmlformats.org/officeDocument/2006/relationships/image" Target="../media/image120.png"/><Relationship Id="rId7" Type="http://schemas.openxmlformats.org/officeDocument/2006/relationships/image" Target="../media/image106.png"/><Relationship Id="rId12" Type="http://schemas.openxmlformats.org/officeDocument/2006/relationships/image" Target="../media/image111.png"/><Relationship Id="rId17" Type="http://schemas.openxmlformats.org/officeDocument/2006/relationships/image" Target="../media/image116.png"/><Relationship Id="rId25" Type="http://schemas.openxmlformats.org/officeDocument/2006/relationships/image" Target="../media/image124.png"/><Relationship Id="rId2" Type="http://schemas.openxmlformats.org/officeDocument/2006/relationships/image" Target="../media/image101.png"/><Relationship Id="rId16" Type="http://schemas.openxmlformats.org/officeDocument/2006/relationships/image" Target="../media/image115.png"/><Relationship Id="rId20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11" Type="http://schemas.openxmlformats.org/officeDocument/2006/relationships/image" Target="../media/image110.png"/><Relationship Id="rId24" Type="http://schemas.openxmlformats.org/officeDocument/2006/relationships/image" Target="../media/image123.png"/><Relationship Id="rId5" Type="http://schemas.openxmlformats.org/officeDocument/2006/relationships/image" Target="../media/image104.png"/><Relationship Id="rId15" Type="http://schemas.openxmlformats.org/officeDocument/2006/relationships/image" Target="../media/image114.png"/><Relationship Id="rId23" Type="http://schemas.openxmlformats.org/officeDocument/2006/relationships/image" Target="../media/image122.png"/><Relationship Id="rId10" Type="http://schemas.openxmlformats.org/officeDocument/2006/relationships/image" Target="../media/image109.png"/><Relationship Id="rId19" Type="http://schemas.openxmlformats.org/officeDocument/2006/relationships/image" Target="../media/image118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Relationship Id="rId14" Type="http://schemas.openxmlformats.org/officeDocument/2006/relationships/image" Target="../media/image113.png"/><Relationship Id="rId22" Type="http://schemas.openxmlformats.org/officeDocument/2006/relationships/image" Target="../media/image1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13" Type="http://schemas.openxmlformats.org/officeDocument/2006/relationships/image" Target="../media/image137.png"/><Relationship Id="rId3" Type="http://schemas.openxmlformats.org/officeDocument/2006/relationships/image" Target="../media/image127.png"/><Relationship Id="rId7" Type="http://schemas.openxmlformats.org/officeDocument/2006/relationships/image" Target="../media/image131.png"/><Relationship Id="rId12" Type="http://schemas.openxmlformats.org/officeDocument/2006/relationships/image" Target="../media/image136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11" Type="http://schemas.openxmlformats.org/officeDocument/2006/relationships/image" Target="../media/image135.png"/><Relationship Id="rId5" Type="http://schemas.openxmlformats.org/officeDocument/2006/relationships/image" Target="../media/image129.png"/><Relationship Id="rId15" Type="http://schemas.openxmlformats.org/officeDocument/2006/relationships/image" Target="../media/image139.png"/><Relationship Id="rId10" Type="http://schemas.openxmlformats.org/officeDocument/2006/relationships/image" Target="../media/image134.png"/><Relationship Id="rId4" Type="http://schemas.openxmlformats.org/officeDocument/2006/relationships/image" Target="../media/image128.png"/><Relationship Id="rId9" Type="http://schemas.openxmlformats.org/officeDocument/2006/relationships/image" Target="../media/image133.png"/><Relationship Id="rId14" Type="http://schemas.openxmlformats.org/officeDocument/2006/relationships/image" Target="../media/image13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4" Type="http://schemas.openxmlformats.org/officeDocument/2006/relationships/image" Target="../media/image14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png"/><Relationship Id="rId13" Type="http://schemas.openxmlformats.org/officeDocument/2006/relationships/image" Target="../media/image157.png"/><Relationship Id="rId3" Type="http://schemas.openxmlformats.org/officeDocument/2006/relationships/image" Target="../media/image147.png"/><Relationship Id="rId7" Type="http://schemas.openxmlformats.org/officeDocument/2006/relationships/image" Target="../media/image151.png"/><Relationship Id="rId12" Type="http://schemas.openxmlformats.org/officeDocument/2006/relationships/image" Target="../media/image156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11" Type="http://schemas.openxmlformats.org/officeDocument/2006/relationships/image" Target="../media/image155.png"/><Relationship Id="rId5" Type="http://schemas.openxmlformats.org/officeDocument/2006/relationships/image" Target="../media/image149.png"/><Relationship Id="rId10" Type="http://schemas.openxmlformats.org/officeDocument/2006/relationships/image" Target="../media/image154.png"/><Relationship Id="rId4" Type="http://schemas.openxmlformats.org/officeDocument/2006/relationships/image" Target="../media/image148.png"/><Relationship Id="rId9" Type="http://schemas.openxmlformats.org/officeDocument/2006/relationships/image" Target="../media/image15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84.png"/><Relationship Id="rId21" Type="http://schemas.openxmlformats.org/officeDocument/2006/relationships/image" Target="../media/image179.png"/><Relationship Id="rId34" Type="http://schemas.openxmlformats.org/officeDocument/2006/relationships/image" Target="../media/image192.png"/><Relationship Id="rId42" Type="http://schemas.openxmlformats.org/officeDocument/2006/relationships/image" Target="../media/image200.png"/><Relationship Id="rId47" Type="http://schemas.openxmlformats.org/officeDocument/2006/relationships/image" Target="../media/image205.png"/><Relationship Id="rId50" Type="http://schemas.openxmlformats.org/officeDocument/2006/relationships/image" Target="../media/image208.png"/><Relationship Id="rId55" Type="http://schemas.openxmlformats.org/officeDocument/2006/relationships/image" Target="../media/image213.png"/><Relationship Id="rId63" Type="http://schemas.openxmlformats.org/officeDocument/2006/relationships/image" Target="../media/image221.png"/><Relationship Id="rId7" Type="http://schemas.openxmlformats.org/officeDocument/2006/relationships/image" Target="../media/image165.png"/><Relationship Id="rId2" Type="http://schemas.openxmlformats.org/officeDocument/2006/relationships/image" Target="../media/image160.png"/><Relationship Id="rId16" Type="http://schemas.openxmlformats.org/officeDocument/2006/relationships/image" Target="../media/image174.png"/><Relationship Id="rId29" Type="http://schemas.openxmlformats.org/officeDocument/2006/relationships/image" Target="../media/image187.png"/><Relationship Id="rId11" Type="http://schemas.openxmlformats.org/officeDocument/2006/relationships/image" Target="../media/image169.png"/><Relationship Id="rId24" Type="http://schemas.openxmlformats.org/officeDocument/2006/relationships/image" Target="../media/image182.png"/><Relationship Id="rId32" Type="http://schemas.openxmlformats.org/officeDocument/2006/relationships/image" Target="../media/image190.png"/><Relationship Id="rId37" Type="http://schemas.openxmlformats.org/officeDocument/2006/relationships/image" Target="../media/image195.png"/><Relationship Id="rId40" Type="http://schemas.openxmlformats.org/officeDocument/2006/relationships/image" Target="../media/image198.png"/><Relationship Id="rId45" Type="http://schemas.openxmlformats.org/officeDocument/2006/relationships/image" Target="../media/image203.png"/><Relationship Id="rId53" Type="http://schemas.openxmlformats.org/officeDocument/2006/relationships/image" Target="../media/image211.png"/><Relationship Id="rId58" Type="http://schemas.openxmlformats.org/officeDocument/2006/relationships/image" Target="../media/image216.png"/><Relationship Id="rId5" Type="http://schemas.openxmlformats.org/officeDocument/2006/relationships/image" Target="../media/image163.png"/><Relationship Id="rId61" Type="http://schemas.openxmlformats.org/officeDocument/2006/relationships/image" Target="../media/image219.png"/><Relationship Id="rId19" Type="http://schemas.openxmlformats.org/officeDocument/2006/relationships/image" Target="../media/image177.png"/><Relationship Id="rId14" Type="http://schemas.openxmlformats.org/officeDocument/2006/relationships/image" Target="../media/image172.png"/><Relationship Id="rId22" Type="http://schemas.openxmlformats.org/officeDocument/2006/relationships/image" Target="../media/image180.png"/><Relationship Id="rId27" Type="http://schemas.openxmlformats.org/officeDocument/2006/relationships/image" Target="../media/image185.png"/><Relationship Id="rId30" Type="http://schemas.openxmlformats.org/officeDocument/2006/relationships/image" Target="../media/image188.png"/><Relationship Id="rId35" Type="http://schemas.openxmlformats.org/officeDocument/2006/relationships/image" Target="../media/image193.png"/><Relationship Id="rId43" Type="http://schemas.openxmlformats.org/officeDocument/2006/relationships/image" Target="../media/image201.png"/><Relationship Id="rId48" Type="http://schemas.openxmlformats.org/officeDocument/2006/relationships/image" Target="../media/image206.png"/><Relationship Id="rId56" Type="http://schemas.openxmlformats.org/officeDocument/2006/relationships/image" Target="../media/image214.png"/><Relationship Id="rId64" Type="http://schemas.openxmlformats.org/officeDocument/2006/relationships/image" Target="../media/image222.png"/><Relationship Id="rId8" Type="http://schemas.openxmlformats.org/officeDocument/2006/relationships/image" Target="../media/image166.png"/><Relationship Id="rId51" Type="http://schemas.openxmlformats.org/officeDocument/2006/relationships/image" Target="../media/image209.png"/><Relationship Id="rId3" Type="http://schemas.openxmlformats.org/officeDocument/2006/relationships/image" Target="../media/image161.png"/><Relationship Id="rId12" Type="http://schemas.openxmlformats.org/officeDocument/2006/relationships/image" Target="../media/image170.png"/><Relationship Id="rId17" Type="http://schemas.openxmlformats.org/officeDocument/2006/relationships/image" Target="../media/image175.png"/><Relationship Id="rId25" Type="http://schemas.openxmlformats.org/officeDocument/2006/relationships/image" Target="../media/image183.png"/><Relationship Id="rId33" Type="http://schemas.openxmlformats.org/officeDocument/2006/relationships/image" Target="../media/image191.png"/><Relationship Id="rId38" Type="http://schemas.openxmlformats.org/officeDocument/2006/relationships/image" Target="../media/image196.png"/><Relationship Id="rId46" Type="http://schemas.openxmlformats.org/officeDocument/2006/relationships/image" Target="../media/image204.png"/><Relationship Id="rId59" Type="http://schemas.openxmlformats.org/officeDocument/2006/relationships/image" Target="../media/image217.png"/><Relationship Id="rId20" Type="http://schemas.openxmlformats.org/officeDocument/2006/relationships/image" Target="../media/image178.png"/><Relationship Id="rId41" Type="http://schemas.openxmlformats.org/officeDocument/2006/relationships/image" Target="../media/image199.png"/><Relationship Id="rId54" Type="http://schemas.openxmlformats.org/officeDocument/2006/relationships/image" Target="../media/image212.png"/><Relationship Id="rId6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4.png"/><Relationship Id="rId15" Type="http://schemas.openxmlformats.org/officeDocument/2006/relationships/image" Target="../media/image173.png"/><Relationship Id="rId23" Type="http://schemas.openxmlformats.org/officeDocument/2006/relationships/image" Target="../media/image181.png"/><Relationship Id="rId28" Type="http://schemas.openxmlformats.org/officeDocument/2006/relationships/image" Target="../media/image186.png"/><Relationship Id="rId36" Type="http://schemas.openxmlformats.org/officeDocument/2006/relationships/image" Target="../media/image194.png"/><Relationship Id="rId49" Type="http://schemas.openxmlformats.org/officeDocument/2006/relationships/image" Target="../media/image207.png"/><Relationship Id="rId57" Type="http://schemas.openxmlformats.org/officeDocument/2006/relationships/image" Target="../media/image215.png"/><Relationship Id="rId10" Type="http://schemas.openxmlformats.org/officeDocument/2006/relationships/image" Target="../media/image168.png"/><Relationship Id="rId31" Type="http://schemas.openxmlformats.org/officeDocument/2006/relationships/image" Target="../media/image189.png"/><Relationship Id="rId44" Type="http://schemas.openxmlformats.org/officeDocument/2006/relationships/image" Target="../media/image202.png"/><Relationship Id="rId52" Type="http://schemas.openxmlformats.org/officeDocument/2006/relationships/image" Target="../media/image210.png"/><Relationship Id="rId60" Type="http://schemas.openxmlformats.org/officeDocument/2006/relationships/image" Target="../media/image218.png"/><Relationship Id="rId65" Type="http://schemas.openxmlformats.org/officeDocument/2006/relationships/image" Target="../media/image223.png"/><Relationship Id="rId4" Type="http://schemas.openxmlformats.org/officeDocument/2006/relationships/image" Target="../media/image162.png"/><Relationship Id="rId9" Type="http://schemas.openxmlformats.org/officeDocument/2006/relationships/image" Target="../media/image167.png"/><Relationship Id="rId13" Type="http://schemas.openxmlformats.org/officeDocument/2006/relationships/image" Target="../media/image171.png"/><Relationship Id="rId18" Type="http://schemas.openxmlformats.org/officeDocument/2006/relationships/image" Target="../media/image176.png"/><Relationship Id="rId39" Type="http://schemas.openxmlformats.org/officeDocument/2006/relationships/image" Target="../media/image197.png"/></Relationships>
</file>

<file path=ppt/slides/_rels/slide3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84.png"/><Relationship Id="rId21" Type="http://schemas.openxmlformats.org/officeDocument/2006/relationships/image" Target="../media/image179.png"/><Relationship Id="rId34" Type="http://schemas.openxmlformats.org/officeDocument/2006/relationships/image" Target="../media/image192.png"/><Relationship Id="rId42" Type="http://schemas.openxmlformats.org/officeDocument/2006/relationships/image" Target="../media/image200.png"/><Relationship Id="rId47" Type="http://schemas.openxmlformats.org/officeDocument/2006/relationships/image" Target="../media/image205.png"/><Relationship Id="rId50" Type="http://schemas.openxmlformats.org/officeDocument/2006/relationships/image" Target="../media/image208.png"/><Relationship Id="rId55" Type="http://schemas.openxmlformats.org/officeDocument/2006/relationships/image" Target="../media/image213.png"/><Relationship Id="rId63" Type="http://schemas.openxmlformats.org/officeDocument/2006/relationships/image" Target="../media/image221.png"/><Relationship Id="rId68" Type="http://schemas.openxmlformats.org/officeDocument/2006/relationships/image" Target="../media/image226.png"/><Relationship Id="rId7" Type="http://schemas.openxmlformats.org/officeDocument/2006/relationships/image" Target="../media/image165.png"/><Relationship Id="rId2" Type="http://schemas.openxmlformats.org/officeDocument/2006/relationships/image" Target="../media/image160.png"/><Relationship Id="rId16" Type="http://schemas.openxmlformats.org/officeDocument/2006/relationships/image" Target="../media/image174.png"/><Relationship Id="rId29" Type="http://schemas.openxmlformats.org/officeDocument/2006/relationships/image" Target="../media/image187.png"/><Relationship Id="rId11" Type="http://schemas.openxmlformats.org/officeDocument/2006/relationships/image" Target="../media/image169.png"/><Relationship Id="rId24" Type="http://schemas.openxmlformats.org/officeDocument/2006/relationships/image" Target="../media/image182.png"/><Relationship Id="rId32" Type="http://schemas.openxmlformats.org/officeDocument/2006/relationships/image" Target="../media/image190.png"/><Relationship Id="rId37" Type="http://schemas.openxmlformats.org/officeDocument/2006/relationships/image" Target="../media/image195.png"/><Relationship Id="rId40" Type="http://schemas.openxmlformats.org/officeDocument/2006/relationships/image" Target="../media/image198.png"/><Relationship Id="rId45" Type="http://schemas.openxmlformats.org/officeDocument/2006/relationships/image" Target="../media/image203.png"/><Relationship Id="rId53" Type="http://schemas.openxmlformats.org/officeDocument/2006/relationships/image" Target="../media/image211.png"/><Relationship Id="rId58" Type="http://schemas.openxmlformats.org/officeDocument/2006/relationships/image" Target="../media/image216.png"/><Relationship Id="rId66" Type="http://schemas.openxmlformats.org/officeDocument/2006/relationships/image" Target="../media/image225.png"/><Relationship Id="rId5" Type="http://schemas.openxmlformats.org/officeDocument/2006/relationships/image" Target="../media/image163.png"/><Relationship Id="rId61" Type="http://schemas.openxmlformats.org/officeDocument/2006/relationships/image" Target="../media/image219.png"/><Relationship Id="rId19" Type="http://schemas.openxmlformats.org/officeDocument/2006/relationships/image" Target="../media/image177.png"/><Relationship Id="rId14" Type="http://schemas.openxmlformats.org/officeDocument/2006/relationships/image" Target="../media/image172.png"/><Relationship Id="rId22" Type="http://schemas.openxmlformats.org/officeDocument/2006/relationships/image" Target="../media/image180.png"/><Relationship Id="rId27" Type="http://schemas.openxmlformats.org/officeDocument/2006/relationships/image" Target="../media/image185.png"/><Relationship Id="rId30" Type="http://schemas.openxmlformats.org/officeDocument/2006/relationships/image" Target="../media/image188.png"/><Relationship Id="rId35" Type="http://schemas.openxmlformats.org/officeDocument/2006/relationships/image" Target="../media/image193.png"/><Relationship Id="rId43" Type="http://schemas.openxmlformats.org/officeDocument/2006/relationships/image" Target="../media/image201.png"/><Relationship Id="rId48" Type="http://schemas.openxmlformats.org/officeDocument/2006/relationships/image" Target="../media/image206.png"/><Relationship Id="rId56" Type="http://schemas.openxmlformats.org/officeDocument/2006/relationships/image" Target="../media/image214.png"/><Relationship Id="rId64" Type="http://schemas.openxmlformats.org/officeDocument/2006/relationships/image" Target="../media/image224.png"/><Relationship Id="rId8" Type="http://schemas.openxmlformats.org/officeDocument/2006/relationships/image" Target="../media/image166.png"/><Relationship Id="rId51" Type="http://schemas.openxmlformats.org/officeDocument/2006/relationships/image" Target="../media/image209.png"/><Relationship Id="rId3" Type="http://schemas.openxmlformats.org/officeDocument/2006/relationships/image" Target="../media/image161.png"/><Relationship Id="rId12" Type="http://schemas.openxmlformats.org/officeDocument/2006/relationships/image" Target="../media/image170.png"/><Relationship Id="rId17" Type="http://schemas.openxmlformats.org/officeDocument/2006/relationships/image" Target="../media/image175.png"/><Relationship Id="rId25" Type="http://schemas.openxmlformats.org/officeDocument/2006/relationships/image" Target="../media/image183.png"/><Relationship Id="rId33" Type="http://schemas.openxmlformats.org/officeDocument/2006/relationships/image" Target="../media/image191.png"/><Relationship Id="rId38" Type="http://schemas.openxmlformats.org/officeDocument/2006/relationships/image" Target="../media/image196.png"/><Relationship Id="rId46" Type="http://schemas.openxmlformats.org/officeDocument/2006/relationships/image" Target="../media/image204.png"/><Relationship Id="rId59" Type="http://schemas.openxmlformats.org/officeDocument/2006/relationships/image" Target="../media/image217.png"/><Relationship Id="rId67" Type="http://schemas.openxmlformats.org/officeDocument/2006/relationships/image" Target="../media/image223.png"/><Relationship Id="rId20" Type="http://schemas.openxmlformats.org/officeDocument/2006/relationships/image" Target="../media/image178.png"/><Relationship Id="rId41" Type="http://schemas.openxmlformats.org/officeDocument/2006/relationships/image" Target="../media/image199.png"/><Relationship Id="rId54" Type="http://schemas.openxmlformats.org/officeDocument/2006/relationships/image" Target="../media/image212.png"/><Relationship Id="rId6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4.png"/><Relationship Id="rId15" Type="http://schemas.openxmlformats.org/officeDocument/2006/relationships/image" Target="../media/image173.png"/><Relationship Id="rId23" Type="http://schemas.openxmlformats.org/officeDocument/2006/relationships/image" Target="../media/image181.png"/><Relationship Id="rId28" Type="http://schemas.openxmlformats.org/officeDocument/2006/relationships/image" Target="../media/image186.png"/><Relationship Id="rId36" Type="http://schemas.openxmlformats.org/officeDocument/2006/relationships/image" Target="../media/image194.png"/><Relationship Id="rId49" Type="http://schemas.openxmlformats.org/officeDocument/2006/relationships/image" Target="../media/image207.png"/><Relationship Id="rId57" Type="http://schemas.openxmlformats.org/officeDocument/2006/relationships/image" Target="../media/image215.png"/><Relationship Id="rId10" Type="http://schemas.openxmlformats.org/officeDocument/2006/relationships/image" Target="../media/image168.png"/><Relationship Id="rId31" Type="http://schemas.openxmlformats.org/officeDocument/2006/relationships/image" Target="../media/image189.png"/><Relationship Id="rId44" Type="http://schemas.openxmlformats.org/officeDocument/2006/relationships/image" Target="../media/image202.png"/><Relationship Id="rId52" Type="http://schemas.openxmlformats.org/officeDocument/2006/relationships/image" Target="../media/image210.png"/><Relationship Id="rId60" Type="http://schemas.openxmlformats.org/officeDocument/2006/relationships/image" Target="../media/image218.png"/><Relationship Id="rId65" Type="http://schemas.openxmlformats.org/officeDocument/2006/relationships/image" Target="../media/image222.png"/><Relationship Id="rId4" Type="http://schemas.openxmlformats.org/officeDocument/2006/relationships/image" Target="../media/image162.png"/><Relationship Id="rId9" Type="http://schemas.openxmlformats.org/officeDocument/2006/relationships/image" Target="../media/image167.png"/><Relationship Id="rId13" Type="http://schemas.openxmlformats.org/officeDocument/2006/relationships/image" Target="../media/image171.png"/><Relationship Id="rId18" Type="http://schemas.openxmlformats.org/officeDocument/2006/relationships/image" Target="../media/image176.png"/><Relationship Id="rId39" Type="http://schemas.openxmlformats.org/officeDocument/2006/relationships/image" Target="../media/image197.png"/></Relationships>
</file>

<file path=ppt/slides/_rels/slide3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80.png"/><Relationship Id="rId21" Type="http://schemas.openxmlformats.org/officeDocument/2006/relationships/image" Target="../media/image188.png"/><Relationship Id="rId42" Type="http://schemas.openxmlformats.org/officeDocument/2006/relationships/image" Target="../media/image200.png"/><Relationship Id="rId47" Type="http://schemas.openxmlformats.org/officeDocument/2006/relationships/image" Target="../media/image205.png"/><Relationship Id="rId63" Type="http://schemas.openxmlformats.org/officeDocument/2006/relationships/image" Target="../media/image218.png"/><Relationship Id="rId68" Type="http://schemas.openxmlformats.org/officeDocument/2006/relationships/image" Target="../media/image229.png"/><Relationship Id="rId7" Type="http://schemas.openxmlformats.org/officeDocument/2006/relationships/image" Target="../media/image165.png"/><Relationship Id="rId2" Type="http://schemas.openxmlformats.org/officeDocument/2006/relationships/image" Target="../media/image160.png"/><Relationship Id="rId16" Type="http://schemas.openxmlformats.org/officeDocument/2006/relationships/image" Target="../media/image174.png"/><Relationship Id="rId29" Type="http://schemas.openxmlformats.org/officeDocument/2006/relationships/image" Target="../media/image194.png"/><Relationship Id="rId11" Type="http://schemas.openxmlformats.org/officeDocument/2006/relationships/image" Target="../media/image172.png"/><Relationship Id="rId24" Type="http://schemas.openxmlformats.org/officeDocument/2006/relationships/image" Target="../media/image191.png"/><Relationship Id="rId32" Type="http://schemas.openxmlformats.org/officeDocument/2006/relationships/image" Target="../media/image181.png"/><Relationship Id="rId37" Type="http://schemas.openxmlformats.org/officeDocument/2006/relationships/image" Target="../media/image215.png"/><Relationship Id="rId40" Type="http://schemas.openxmlformats.org/officeDocument/2006/relationships/image" Target="../media/image198.png"/><Relationship Id="rId45" Type="http://schemas.openxmlformats.org/officeDocument/2006/relationships/image" Target="../media/image184.png"/><Relationship Id="rId53" Type="http://schemas.openxmlformats.org/officeDocument/2006/relationships/image" Target="../media/image211.png"/><Relationship Id="rId58" Type="http://schemas.openxmlformats.org/officeDocument/2006/relationships/image" Target="../media/image227.png"/><Relationship Id="rId66" Type="http://schemas.openxmlformats.org/officeDocument/2006/relationships/image" Target="../media/image223.png"/><Relationship Id="rId5" Type="http://schemas.openxmlformats.org/officeDocument/2006/relationships/image" Target="../media/image163.png"/><Relationship Id="rId61" Type="http://schemas.openxmlformats.org/officeDocument/2006/relationships/image" Target="../media/image228.png"/><Relationship Id="rId19" Type="http://schemas.openxmlformats.org/officeDocument/2006/relationships/image" Target="../media/image178.png"/><Relationship Id="rId14" Type="http://schemas.openxmlformats.org/officeDocument/2006/relationships/image" Target="../media/image176.png"/><Relationship Id="rId22" Type="http://schemas.openxmlformats.org/officeDocument/2006/relationships/image" Target="../media/image189.png"/><Relationship Id="rId27" Type="http://schemas.openxmlformats.org/officeDocument/2006/relationships/image" Target="../media/image192.png"/><Relationship Id="rId30" Type="http://schemas.openxmlformats.org/officeDocument/2006/relationships/image" Target="../media/image195.png"/><Relationship Id="rId35" Type="http://schemas.openxmlformats.org/officeDocument/2006/relationships/image" Target="../media/image203.png"/><Relationship Id="rId43" Type="http://schemas.openxmlformats.org/officeDocument/2006/relationships/image" Target="../media/image182.png"/><Relationship Id="rId48" Type="http://schemas.openxmlformats.org/officeDocument/2006/relationships/image" Target="../media/image206.png"/><Relationship Id="rId56" Type="http://schemas.openxmlformats.org/officeDocument/2006/relationships/image" Target="../media/image214.png"/><Relationship Id="rId64" Type="http://schemas.openxmlformats.org/officeDocument/2006/relationships/image" Target="../media/image219.png"/><Relationship Id="rId69" Type="http://schemas.openxmlformats.org/officeDocument/2006/relationships/image" Target="../media/image216.png"/><Relationship Id="rId8" Type="http://schemas.openxmlformats.org/officeDocument/2006/relationships/image" Target="../media/image166.png"/><Relationship Id="rId51" Type="http://schemas.openxmlformats.org/officeDocument/2006/relationships/image" Target="../media/image209.png"/><Relationship Id="rId3" Type="http://schemas.openxmlformats.org/officeDocument/2006/relationships/image" Target="../media/image161.png"/><Relationship Id="rId12" Type="http://schemas.openxmlformats.org/officeDocument/2006/relationships/image" Target="../media/image169.png"/><Relationship Id="rId17" Type="http://schemas.openxmlformats.org/officeDocument/2006/relationships/image" Target="../media/image175.png"/><Relationship Id="rId25" Type="http://schemas.openxmlformats.org/officeDocument/2006/relationships/image" Target="../media/image179.png"/><Relationship Id="rId33" Type="http://schemas.openxmlformats.org/officeDocument/2006/relationships/image" Target="../media/image201.png"/><Relationship Id="rId38" Type="http://schemas.openxmlformats.org/officeDocument/2006/relationships/image" Target="../media/image186.png"/><Relationship Id="rId46" Type="http://schemas.openxmlformats.org/officeDocument/2006/relationships/image" Target="../media/image185.png"/><Relationship Id="rId59" Type="http://schemas.openxmlformats.org/officeDocument/2006/relationships/image" Target="../media/image222.png"/><Relationship Id="rId67" Type="http://schemas.openxmlformats.org/officeDocument/2006/relationships/image" Target="../media/image226.png"/><Relationship Id="rId20" Type="http://schemas.openxmlformats.org/officeDocument/2006/relationships/image" Target="../media/image187.png"/><Relationship Id="rId41" Type="http://schemas.openxmlformats.org/officeDocument/2006/relationships/image" Target="../media/image199.png"/><Relationship Id="rId54" Type="http://schemas.openxmlformats.org/officeDocument/2006/relationships/image" Target="../media/image212.png"/><Relationship Id="rId62" Type="http://schemas.openxmlformats.org/officeDocument/2006/relationships/image" Target="../media/image217.png"/><Relationship Id="rId70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4.png"/><Relationship Id="rId15" Type="http://schemas.openxmlformats.org/officeDocument/2006/relationships/image" Target="../media/image173.png"/><Relationship Id="rId23" Type="http://schemas.openxmlformats.org/officeDocument/2006/relationships/image" Target="../media/image190.png"/><Relationship Id="rId28" Type="http://schemas.openxmlformats.org/officeDocument/2006/relationships/image" Target="../media/image193.png"/><Relationship Id="rId36" Type="http://schemas.openxmlformats.org/officeDocument/2006/relationships/image" Target="../media/image204.png"/><Relationship Id="rId49" Type="http://schemas.openxmlformats.org/officeDocument/2006/relationships/image" Target="../media/image207.png"/><Relationship Id="rId57" Type="http://schemas.openxmlformats.org/officeDocument/2006/relationships/image" Target="../media/image224.png"/><Relationship Id="rId10" Type="http://schemas.openxmlformats.org/officeDocument/2006/relationships/image" Target="../media/image168.png"/><Relationship Id="rId31" Type="http://schemas.openxmlformats.org/officeDocument/2006/relationships/image" Target="../media/image196.png"/><Relationship Id="rId44" Type="http://schemas.openxmlformats.org/officeDocument/2006/relationships/image" Target="../media/image183.png"/><Relationship Id="rId52" Type="http://schemas.openxmlformats.org/officeDocument/2006/relationships/image" Target="../media/image210.png"/><Relationship Id="rId60" Type="http://schemas.openxmlformats.org/officeDocument/2006/relationships/image" Target="../media/image225.png"/><Relationship Id="rId65" Type="http://schemas.openxmlformats.org/officeDocument/2006/relationships/image" Target="../media/image221.png"/><Relationship Id="rId4" Type="http://schemas.openxmlformats.org/officeDocument/2006/relationships/image" Target="../media/image162.png"/><Relationship Id="rId9" Type="http://schemas.openxmlformats.org/officeDocument/2006/relationships/image" Target="../media/image167.png"/><Relationship Id="rId13" Type="http://schemas.openxmlformats.org/officeDocument/2006/relationships/image" Target="../media/image170.png"/><Relationship Id="rId18" Type="http://schemas.openxmlformats.org/officeDocument/2006/relationships/image" Target="../media/image177.png"/><Relationship Id="rId39" Type="http://schemas.openxmlformats.org/officeDocument/2006/relationships/image" Target="../media/image197.png"/><Relationship Id="rId34" Type="http://schemas.openxmlformats.org/officeDocument/2006/relationships/image" Target="../media/image202.png"/><Relationship Id="rId50" Type="http://schemas.openxmlformats.org/officeDocument/2006/relationships/image" Target="../media/image208.png"/><Relationship Id="rId55" Type="http://schemas.openxmlformats.org/officeDocument/2006/relationships/image" Target="../media/image213.png"/></Relationships>
</file>

<file path=ppt/slides/_rels/slide3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40.png"/><Relationship Id="rId21" Type="http://schemas.openxmlformats.org/officeDocument/2006/relationships/image" Target="../media/image235.png"/><Relationship Id="rId42" Type="http://schemas.openxmlformats.org/officeDocument/2006/relationships/image" Target="../media/image256.png"/><Relationship Id="rId47" Type="http://schemas.openxmlformats.org/officeDocument/2006/relationships/image" Target="../media/image261.png"/><Relationship Id="rId63" Type="http://schemas.openxmlformats.org/officeDocument/2006/relationships/image" Target="../media/image277.png"/><Relationship Id="rId68" Type="http://schemas.openxmlformats.org/officeDocument/2006/relationships/image" Target="../media/image28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72.png"/><Relationship Id="rId29" Type="http://schemas.openxmlformats.org/officeDocument/2006/relationships/image" Target="../media/image243.png"/><Relationship Id="rId11" Type="http://schemas.openxmlformats.org/officeDocument/2006/relationships/image" Target="../media/image163.png"/><Relationship Id="rId24" Type="http://schemas.openxmlformats.org/officeDocument/2006/relationships/image" Target="../media/image238.png"/><Relationship Id="rId32" Type="http://schemas.openxmlformats.org/officeDocument/2006/relationships/image" Target="../media/image246.png"/><Relationship Id="rId37" Type="http://schemas.openxmlformats.org/officeDocument/2006/relationships/image" Target="../media/image251.png"/><Relationship Id="rId40" Type="http://schemas.openxmlformats.org/officeDocument/2006/relationships/image" Target="../media/image254.png"/><Relationship Id="rId45" Type="http://schemas.openxmlformats.org/officeDocument/2006/relationships/image" Target="../media/image259.png"/><Relationship Id="rId53" Type="http://schemas.openxmlformats.org/officeDocument/2006/relationships/image" Target="../media/image267.png"/><Relationship Id="rId58" Type="http://schemas.openxmlformats.org/officeDocument/2006/relationships/image" Target="../media/image272.png"/><Relationship Id="rId66" Type="http://schemas.openxmlformats.org/officeDocument/2006/relationships/image" Target="../media/image280.png"/><Relationship Id="rId5" Type="http://schemas.openxmlformats.org/officeDocument/2006/relationships/image" Target="../media/image168.png"/><Relationship Id="rId61" Type="http://schemas.openxmlformats.org/officeDocument/2006/relationships/image" Target="../media/image275.png"/><Relationship Id="rId19" Type="http://schemas.openxmlformats.org/officeDocument/2006/relationships/image" Target="../media/image233.png"/><Relationship Id="rId14" Type="http://schemas.openxmlformats.org/officeDocument/2006/relationships/image" Target="../media/image164.png"/><Relationship Id="rId22" Type="http://schemas.openxmlformats.org/officeDocument/2006/relationships/image" Target="../media/image236.png"/><Relationship Id="rId27" Type="http://schemas.openxmlformats.org/officeDocument/2006/relationships/image" Target="../media/image241.png"/><Relationship Id="rId30" Type="http://schemas.openxmlformats.org/officeDocument/2006/relationships/image" Target="../media/image244.png"/><Relationship Id="rId35" Type="http://schemas.openxmlformats.org/officeDocument/2006/relationships/image" Target="../media/image249.png"/><Relationship Id="rId43" Type="http://schemas.openxmlformats.org/officeDocument/2006/relationships/image" Target="../media/image257.png"/><Relationship Id="rId48" Type="http://schemas.openxmlformats.org/officeDocument/2006/relationships/image" Target="../media/image262.png"/><Relationship Id="rId56" Type="http://schemas.openxmlformats.org/officeDocument/2006/relationships/image" Target="../media/image270.png"/><Relationship Id="rId64" Type="http://schemas.openxmlformats.org/officeDocument/2006/relationships/image" Target="../media/image278.png"/><Relationship Id="rId69" Type="http://schemas.openxmlformats.org/officeDocument/2006/relationships/image" Target="../media/image283.png"/><Relationship Id="rId8" Type="http://schemas.openxmlformats.org/officeDocument/2006/relationships/image" Target="../media/image173.png"/><Relationship Id="rId51" Type="http://schemas.openxmlformats.org/officeDocument/2006/relationships/image" Target="../media/image265.png"/><Relationship Id="rId72" Type="http://schemas.openxmlformats.org/officeDocument/2006/relationships/image" Target="../media/image286.png"/><Relationship Id="rId3" Type="http://schemas.openxmlformats.org/officeDocument/2006/relationships/image" Target="../media/image166.png"/><Relationship Id="rId12" Type="http://schemas.openxmlformats.org/officeDocument/2006/relationships/image" Target="../media/image230.png"/><Relationship Id="rId17" Type="http://schemas.openxmlformats.org/officeDocument/2006/relationships/image" Target="../media/image176.png"/><Relationship Id="rId25" Type="http://schemas.openxmlformats.org/officeDocument/2006/relationships/image" Target="../media/image239.png"/><Relationship Id="rId33" Type="http://schemas.openxmlformats.org/officeDocument/2006/relationships/image" Target="../media/image247.png"/><Relationship Id="rId38" Type="http://schemas.openxmlformats.org/officeDocument/2006/relationships/image" Target="../media/image252.png"/><Relationship Id="rId46" Type="http://schemas.openxmlformats.org/officeDocument/2006/relationships/image" Target="../media/image260.png"/><Relationship Id="rId59" Type="http://schemas.openxmlformats.org/officeDocument/2006/relationships/image" Target="../media/image273.png"/><Relationship Id="rId67" Type="http://schemas.openxmlformats.org/officeDocument/2006/relationships/image" Target="../media/image281.png"/><Relationship Id="rId20" Type="http://schemas.openxmlformats.org/officeDocument/2006/relationships/image" Target="../media/image234.png"/><Relationship Id="rId41" Type="http://schemas.openxmlformats.org/officeDocument/2006/relationships/image" Target="../media/image255.png"/><Relationship Id="rId54" Type="http://schemas.openxmlformats.org/officeDocument/2006/relationships/image" Target="../media/image268.png"/><Relationship Id="rId62" Type="http://schemas.openxmlformats.org/officeDocument/2006/relationships/image" Target="../media/image276.png"/><Relationship Id="rId70" Type="http://schemas.openxmlformats.org/officeDocument/2006/relationships/image" Target="../media/image2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9.png"/><Relationship Id="rId15" Type="http://schemas.openxmlformats.org/officeDocument/2006/relationships/image" Target="../media/image165.png"/><Relationship Id="rId23" Type="http://schemas.openxmlformats.org/officeDocument/2006/relationships/image" Target="../media/image237.png"/><Relationship Id="rId28" Type="http://schemas.openxmlformats.org/officeDocument/2006/relationships/image" Target="../media/image242.png"/><Relationship Id="rId36" Type="http://schemas.openxmlformats.org/officeDocument/2006/relationships/image" Target="../media/image250.png"/><Relationship Id="rId49" Type="http://schemas.openxmlformats.org/officeDocument/2006/relationships/image" Target="../media/image263.png"/><Relationship Id="rId57" Type="http://schemas.openxmlformats.org/officeDocument/2006/relationships/image" Target="../media/image271.png"/><Relationship Id="rId10" Type="http://schemas.openxmlformats.org/officeDocument/2006/relationships/image" Target="../media/image171.png"/><Relationship Id="rId31" Type="http://schemas.openxmlformats.org/officeDocument/2006/relationships/image" Target="../media/image245.png"/><Relationship Id="rId44" Type="http://schemas.openxmlformats.org/officeDocument/2006/relationships/image" Target="../media/image258.png"/><Relationship Id="rId52" Type="http://schemas.openxmlformats.org/officeDocument/2006/relationships/image" Target="../media/image266.png"/><Relationship Id="rId60" Type="http://schemas.openxmlformats.org/officeDocument/2006/relationships/image" Target="../media/image274.png"/><Relationship Id="rId65" Type="http://schemas.openxmlformats.org/officeDocument/2006/relationships/image" Target="../media/image279.png"/><Relationship Id="rId73" Type="http://schemas.openxmlformats.org/officeDocument/2006/relationships/image" Target="../media/image287.png"/><Relationship Id="rId4" Type="http://schemas.openxmlformats.org/officeDocument/2006/relationships/image" Target="../media/image167.png"/><Relationship Id="rId9" Type="http://schemas.openxmlformats.org/officeDocument/2006/relationships/image" Target="../media/image174.png"/><Relationship Id="rId13" Type="http://schemas.openxmlformats.org/officeDocument/2006/relationships/image" Target="../media/image231.png"/><Relationship Id="rId18" Type="http://schemas.openxmlformats.org/officeDocument/2006/relationships/image" Target="../media/image232.png"/><Relationship Id="rId39" Type="http://schemas.openxmlformats.org/officeDocument/2006/relationships/image" Target="../media/image253.png"/><Relationship Id="rId34" Type="http://schemas.openxmlformats.org/officeDocument/2006/relationships/image" Target="../media/image248.png"/><Relationship Id="rId50" Type="http://schemas.openxmlformats.org/officeDocument/2006/relationships/image" Target="../media/image264.png"/><Relationship Id="rId55" Type="http://schemas.openxmlformats.org/officeDocument/2006/relationships/image" Target="../media/image269.png"/><Relationship Id="rId7" Type="http://schemas.openxmlformats.org/officeDocument/2006/relationships/image" Target="../media/image170.png"/><Relationship Id="rId71" Type="http://schemas.openxmlformats.org/officeDocument/2006/relationships/image" Target="../media/image285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881951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  <a:tabLst>
                <a:tab pos="8562340" algn="l"/>
              </a:tabLst>
            </a:pPr>
            <a:r>
              <a:rPr sz="900" spc="10" dirty="0">
                <a:solidFill>
                  <a:srgbClr val="0462C1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0462C1"/>
                </a:solidFill>
                <a:latin typeface="Arial"/>
                <a:cs typeface="Arial"/>
              </a:rPr>
              <a:t>2008 Prentice</a:t>
            </a:r>
            <a:r>
              <a:rPr sz="900" spc="-60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Hall,</a:t>
            </a:r>
            <a:r>
              <a:rPr sz="900" spc="-4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Inc.	</a:t>
            </a:r>
            <a:r>
              <a:rPr sz="900" b="1" spc="5" dirty="0">
                <a:solidFill>
                  <a:srgbClr val="0462C1"/>
                </a:solidFill>
                <a:latin typeface="Arial"/>
                <a:cs typeface="Arial"/>
              </a:rPr>
              <a:t>4 –</a:t>
            </a:r>
            <a:r>
              <a:rPr sz="900" b="1" spc="-10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b="1" spc="5" dirty="0">
                <a:solidFill>
                  <a:srgbClr val="0462C1"/>
                </a:solidFill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78329" y="835609"/>
            <a:ext cx="5390515" cy="2474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3650"/>
              </a:lnSpc>
              <a:spcBef>
                <a:spcPts val="95"/>
              </a:spcBef>
            </a:pP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IPE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Times New Roman"/>
                <a:cs typeface="Times New Roman"/>
              </a:rPr>
              <a:t>4111</a:t>
            </a:r>
            <a:endParaRPr sz="3200" dirty="0">
              <a:latin typeface="Times New Roman"/>
              <a:cs typeface="Times New Roman"/>
            </a:endParaRPr>
          </a:p>
          <a:p>
            <a:pPr algn="ctr">
              <a:lnSpc>
                <a:spcPts val="3650"/>
              </a:lnSpc>
            </a:pPr>
            <a:r>
              <a:rPr lang="en-US"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Industrial Management</a:t>
            </a:r>
            <a:endParaRPr sz="3200" dirty="0">
              <a:latin typeface="Times New Roman"/>
              <a:cs typeface="Times New Roman"/>
            </a:endParaRPr>
          </a:p>
          <a:p>
            <a:pPr marL="1270" algn="ctr">
              <a:lnSpc>
                <a:spcPts val="4075"/>
              </a:lnSpc>
              <a:spcBef>
                <a:spcPts val="3105"/>
              </a:spcBef>
            </a:pPr>
            <a:r>
              <a:rPr sz="3600" dirty="0">
                <a:solidFill>
                  <a:srgbClr val="006FC0"/>
                </a:solidFill>
                <a:latin typeface="Times New Roman"/>
                <a:cs typeface="Times New Roman"/>
              </a:rPr>
              <a:t>Lecture on</a:t>
            </a:r>
            <a:r>
              <a:rPr sz="3600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006FC0"/>
                </a:solidFill>
                <a:latin typeface="Times New Roman"/>
                <a:cs typeface="Times New Roman"/>
              </a:rPr>
              <a:t>–</a:t>
            </a:r>
            <a:endParaRPr sz="3600" dirty="0">
              <a:latin typeface="Times New Roman"/>
              <a:cs typeface="Times New Roman"/>
            </a:endParaRPr>
          </a:p>
          <a:p>
            <a:pPr algn="ctr">
              <a:lnSpc>
                <a:spcPts val="4555"/>
              </a:lnSpc>
            </a:pPr>
            <a:r>
              <a:rPr sz="4000" b="1" i="1" dirty="0">
                <a:latin typeface="Times New Roman"/>
                <a:cs typeface="Times New Roman"/>
              </a:rPr>
              <a:t>“Forecasting”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348984"/>
            <a:ext cx="9144000" cy="509270"/>
          </a:xfrm>
          <a:custGeom>
            <a:avLst/>
            <a:gdLst/>
            <a:ahLst/>
            <a:cxnLst/>
            <a:rect l="l" t="t" r="r" b="b"/>
            <a:pathLst>
              <a:path w="9144000" h="509270">
                <a:moveTo>
                  <a:pt x="9144000" y="0"/>
                </a:moveTo>
                <a:lnTo>
                  <a:pt x="0" y="0"/>
                </a:lnTo>
                <a:lnTo>
                  <a:pt x="0" y="509015"/>
                </a:lnTo>
                <a:lnTo>
                  <a:pt x="9144000" y="509015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A43A11-9E9C-4BB2-D78A-611870267AD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0462C1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0462C1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89213" y="6638266"/>
            <a:ext cx="25717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0462C1"/>
                </a:solidFill>
                <a:latin typeface="Arial"/>
                <a:cs typeface="Arial"/>
              </a:rPr>
              <a:t>4 –</a:t>
            </a:r>
            <a:r>
              <a:rPr sz="900" b="1" spc="-10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b="1" spc="5" dirty="0">
                <a:solidFill>
                  <a:srgbClr val="0462C1"/>
                </a:solidFill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87475" y="1226423"/>
            <a:ext cx="2940050" cy="6270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0"/>
              </a:spcBef>
            </a:pPr>
            <a:r>
              <a:rPr sz="4000" spc="-5" dirty="0">
                <a:solidFill>
                  <a:srgbClr val="FF0000"/>
                </a:solidFill>
                <a:latin typeface="Times New Roman"/>
                <a:cs typeface="Times New Roman"/>
              </a:rPr>
              <a:t>Forecasting</a:t>
            </a:r>
            <a:endParaRPr sz="40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ubTitle" idx="4"/>
          </p:nvPr>
        </p:nvSpPr>
        <p:spPr>
          <a:xfrm>
            <a:off x="533400" y="2667000"/>
            <a:ext cx="4648200" cy="148585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17195" algn="ctr">
              <a:lnSpc>
                <a:spcPct val="113599"/>
              </a:lnSpc>
              <a:spcBef>
                <a:spcPts val="95"/>
              </a:spcBef>
            </a:pPr>
            <a:r>
              <a:rPr sz="2400" dirty="0"/>
              <a:t>“</a:t>
            </a:r>
            <a:r>
              <a:rPr lang="en-US" dirty="0"/>
              <a:t>The most reliable way to forecast the future is to try to understand the present</a:t>
            </a:r>
            <a:r>
              <a:rPr spc="5" dirty="0"/>
              <a:t>.”</a:t>
            </a:r>
            <a:endParaRPr sz="2400" dirty="0"/>
          </a:p>
        </p:txBody>
      </p:sp>
      <p:sp>
        <p:nvSpPr>
          <p:cNvPr id="6" name="object 6"/>
          <p:cNvSpPr/>
          <p:nvPr/>
        </p:nvSpPr>
        <p:spPr>
          <a:xfrm>
            <a:off x="0" y="6504431"/>
            <a:ext cx="1801495" cy="353695"/>
          </a:xfrm>
          <a:custGeom>
            <a:avLst/>
            <a:gdLst/>
            <a:ahLst/>
            <a:cxnLst/>
            <a:rect l="l" t="t" r="r" b="b"/>
            <a:pathLst>
              <a:path w="1801495" h="353695">
                <a:moveTo>
                  <a:pt x="1801368" y="0"/>
                </a:moveTo>
                <a:lnTo>
                  <a:pt x="0" y="0"/>
                </a:lnTo>
                <a:lnTo>
                  <a:pt x="0" y="353568"/>
                </a:lnTo>
                <a:lnTo>
                  <a:pt x="1801368" y="353568"/>
                </a:lnTo>
                <a:lnTo>
                  <a:pt x="18013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327392" y="6504431"/>
            <a:ext cx="1804670" cy="353695"/>
          </a:xfrm>
          <a:custGeom>
            <a:avLst/>
            <a:gdLst/>
            <a:ahLst/>
            <a:cxnLst/>
            <a:rect l="l" t="t" r="r" b="b"/>
            <a:pathLst>
              <a:path w="1804670" h="353695">
                <a:moveTo>
                  <a:pt x="1804416" y="0"/>
                </a:moveTo>
                <a:lnTo>
                  <a:pt x="0" y="0"/>
                </a:lnTo>
                <a:lnTo>
                  <a:pt x="0" y="353568"/>
                </a:lnTo>
                <a:lnTo>
                  <a:pt x="1804416" y="353568"/>
                </a:lnTo>
                <a:lnTo>
                  <a:pt x="18044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102" y="1226422"/>
            <a:ext cx="3610111" cy="33455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0462C1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0462C1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89213" y="6638266"/>
            <a:ext cx="25717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0462C1"/>
                </a:solidFill>
                <a:latin typeface="Arial"/>
                <a:cs typeface="Arial"/>
              </a:rPr>
              <a:t>4 –</a:t>
            </a:r>
            <a:r>
              <a:rPr sz="900" b="1" spc="-10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b="1" spc="5" dirty="0">
                <a:solidFill>
                  <a:srgbClr val="0462C1"/>
                </a:solidFill>
                <a:latin typeface="Arial"/>
                <a:cs typeface="Arial"/>
              </a:rPr>
              <a:t>3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55238" y="496265"/>
            <a:ext cx="22898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Introdu</a:t>
            </a:r>
            <a:r>
              <a:rPr spc="5" dirty="0"/>
              <a:t>c</a:t>
            </a:r>
            <a:r>
              <a:rPr dirty="0"/>
              <a:t>t</a:t>
            </a:r>
            <a:r>
              <a:rPr spc="10" dirty="0"/>
              <a:t>i</a:t>
            </a:r>
            <a:r>
              <a:rPr dirty="0"/>
              <a:t>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88670" y="1570100"/>
            <a:ext cx="8227695" cy="3580129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585470" marR="7620" indent="-573405" algn="just">
              <a:lnSpc>
                <a:spcPts val="2810"/>
              </a:lnSpc>
              <a:spcBef>
                <a:spcPts val="440"/>
              </a:spcBef>
              <a:buFont typeface="Wingdings"/>
              <a:buChar char=""/>
              <a:tabLst>
                <a:tab pos="586105" algn="l"/>
              </a:tabLst>
            </a:pPr>
            <a:r>
              <a:rPr sz="2600" spc="-5" dirty="0">
                <a:latin typeface="Times New Roman"/>
                <a:cs typeface="Times New Roman"/>
              </a:rPr>
              <a:t>Forecasting </a:t>
            </a:r>
            <a:r>
              <a:rPr sz="2600" spc="5" dirty="0">
                <a:latin typeface="Times New Roman"/>
                <a:cs typeface="Times New Roman"/>
              </a:rPr>
              <a:t>is </a:t>
            </a:r>
            <a:r>
              <a:rPr sz="2600" spc="-5" dirty="0">
                <a:latin typeface="Times New Roman"/>
                <a:cs typeface="Times New Roman"/>
              </a:rPr>
              <a:t>an </a:t>
            </a:r>
            <a:r>
              <a:rPr sz="2600" dirty="0">
                <a:latin typeface="Times New Roman"/>
                <a:cs typeface="Times New Roman"/>
              </a:rPr>
              <a:t>estimate </a:t>
            </a:r>
            <a:r>
              <a:rPr sz="2600" spc="-5" dirty="0">
                <a:latin typeface="Times New Roman"/>
                <a:cs typeface="Times New Roman"/>
              </a:rPr>
              <a:t>of what </a:t>
            </a:r>
            <a:r>
              <a:rPr sz="2600" spc="-10" dirty="0">
                <a:latin typeface="Times New Roman"/>
                <a:cs typeface="Times New Roman"/>
              </a:rPr>
              <a:t>is </a:t>
            </a:r>
            <a:r>
              <a:rPr sz="2600" dirty="0">
                <a:latin typeface="Times New Roman"/>
                <a:cs typeface="Times New Roman"/>
              </a:rPr>
              <a:t>likely </a:t>
            </a:r>
            <a:r>
              <a:rPr sz="2600" spc="-10" dirty="0">
                <a:latin typeface="Times New Roman"/>
                <a:cs typeface="Times New Roman"/>
              </a:rPr>
              <a:t>to </a:t>
            </a:r>
            <a:r>
              <a:rPr sz="2600" spc="-5" dirty="0">
                <a:latin typeface="Times New Roman"/>
                <a:cs typeface="Times New Roman"/>
              </a:rPr>
              <a:t>happen </a:t>
            </a:r>
            <a:r>
              <a:rPr sz="2600" spc="-10" dirty="0">
                <a:latin typeface="Times New Roman"/>
                <a:cs typeface="Times New Roman"/>
              </a:rPr>
              <a:t>in 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future.</a:t>
            </a:r>
            <a:endParaRPr sz="2600">
              <a:latin typeface="Times New Roman"/>
              <a:cs typeface="Times New Roman"/>
            </a:endParaRPr>
          </a:p>
          <a:p>
            <a:pPr marL="585470" marR="8255" indent="-573405" algn="just">
              <a:lnSpc>
                <a:spcPts val="2810"/>
              </a:lnSpc>
              <a:spcBef>
                <a:spcPts val="820"/>
              </a:spcBef>
              <a:buFont typeface="Wingdings"/>
              <a:buChar char=""/>
              <a:tabLst>
                <a:tab pos="586105" algn="l"/>
              </a:tabLst>
            </a:pPr>
            <a:r>
              <a:rPr sz="2600" spc="-5" dirty="0">
                <a:latin typeface="Times New Roman"/>
                <a:cs typeface="Times New Roman"/>
              </a:rPr>
              <a:t>Forecasts are concerned </a:t>
            </a:r>
            <a:r>
              <a:rPr sz="2600" spc="-10" dirty="0">
                <a:latin typeface="Times New Roman"/>
                <a:cs typeface="Times New Roman"/>
              </a:rPr>
              <a:t>with </a:t>
            </a:r>
            <a:r>
              <a:rPr sz="2600" spc="-5" dirty="0">
                <a:latin typeface="Times New Roman"/>
                <a:cs typeface="Times New Roman"/>
              </a:rPr>
              <a:t>determining </a:t>
            </a:r>
            <a:r>
              <a:rPr sz="2600" dirty="0">
                <a:latin typeface="Times New Roman"/>
                <a:cs typeface="Times New Roman"/>
              </a:rPr>
              <a:t>what </a:t>
            </a:r>
            <a:r>
              <a:rPr sz="2600" spc="-10" dirty="0">
                <a:latin typeface="Times New Roman"/>
                <a:cs typeface="Times New Roman"/>
              </a:rPr>
              <a:t>the </a:t>
            </a:r>
            <a:r>
              <a:rPr sz="2600" dirty="0">
                <a:latin typeface="Times New Roman"/>
                <a:cs typeface="Times New Roman"/>
              </a:rPr>
              <a:t>future  </a:t>
            </a:r>
            <a:r>
              <a:rPr sz="2600" spc="-5" dirty="0">
                <a:latin typeface="Times New Roman"/>
                <a:cs typeface="Times New Roman"/>
              </a:rPr>
              <a:t>will </a:t>
            </a:r>
            <a:r>
              <a:rPr sz="2600" spc="-10" dirty="0">
                <a:latin typeface="Times New Roman"/>
                <a:cs typeface="Times New Roman"/>
              </a:rPr>
              <a:t>look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like.</a:t>
            </a:r>
            <a:endParaRPr sz="2600">
              <a:latin typeface="Times New Roman"/>
              <a:cs typeface="Times New Roman"/>
            </a:endParaRPr>
          </a:p>
          <a:p>
            <a:pPr marL="585470" marR="5080" indent="-573405" algn="just">
              <a:lnSpc>
                <a:spcPts val="2810"/>
              </a:lnSpc>
              <a:spcBef>
                <a:spcPts val="790"/>
              </a:spcBef>
              <a:buFont typeface="Wingdings"/>
              <a:buChar char=""/>
              <a:tabLst>
                <a:tab pos="586105" algn="l"/>
              </a:tabLst>
            </a:pPr>
            <a:r>
              <a:rPr sz="2600" spc="-5" dirty="0">
                <a:latin typeface="Times New Roman"/>
                <a:cs typeface="Times New Roman"/>
              </a:rPr>
              <a:t>Forecasting </a:t>
            </a:r>
            <a:r>
              <a:rPr sz="2600" dirty="0">
                <a:latin typeface="Times New Roman"/>
                <a:cs typeface="Times New Roman"/>
              </a:rPr>
              <a:t>provides </a:t>
            </a:r>
            <a:r>
              <a:rPr sz="2600" spc="-5" dirty="0">
                <a:latin typeface="Times New Roman"/>
                <a:cs typeface="Times New Roman"/>
              </a:rPr>
              <a:t>a basis </a:t>
            </a:r>
            <a:r>
              <a:rPr sz="2600" dirty="0">
                <a:latin typeface="Times New Roman"/>
                <a:cs typeface="Times New Roman"/>
              </a:rPr>
              <a:t>for </a:t>
            </a:r>
            <a:r>
              <a:rPr sz="2600" spc="-5" dirty="0">
                <a:latin typeface="Times New Roman"/>
                <a:cs typeface="Times New Roman"/>
              </a:rPr>
              <a:t>coordinating activities </a:t>
            </a:r>
            <a:r>
              <a:rPr sz="2600" spc="15" dirty="0">
                <a:latin typeface="Times New Roman"/>
                <a:cs typeface="Times New Roman"/>
              </a:rPr>
              <a:t>in  </a:t>
            </a:r>
            <a:r>
              <a:rPr sz="2600" spc="-5" dirty="0">
                <a:latin typeface="Times New Roman"/>
                <a:cs typeface="Times New Roman"/>
              </a:rPr>
              <a:t>various parts of </a:t>
            </a:r>
            <a:r>
              <a:rPr sz="2600" spc="-10" dirty="0">
                <a:latin typeface="Times New Roman"/>
                <a:cs typeface="Times New Roman"/>
              </a:rPr>
              <a:t>the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company.</a:t>
            </a:r>
            <a:endParaRPr sz="2600">
              <a:latin typeface="Times New Roman"/>
              <a:cs typeface="Times New Roman"/>
            </a:endParaRPr>
          </a:p>
          <a:p>
            <a:pPr marL="585470" marR="8255" indent="-573405" algn="just">
              <a:lnSpc>
                <a:spcPts val="2810"/>
              </a:lnSpc>
              <a:spcBef>
                <a:spcPts val="790"/>
              </a:spcBef>
              <a:buFont typeface="Wingdings"/>
              <a:buChar char=""/>
              <a:tabLst>
                <a:tab pos="586105" algn="l"/>
              </a:tabLst>
            </a:pPr>
            <a:r>
              <a:rPr sz="2600" spc="-5" dirty="0">
                <a:latin typeface="Times New Roman"/>
                <a:cs typeface="Times New Roman"/>
              </a:rPr>
              <a:t>Forecasts are </a:t>
            </a:r>
            <a:r>
              <a:rPr sz="2600" dirty="0">
                <a:latin typeface="Times New Roman"/>
                <a:cs typeface="Times New Roman"/>
              </a:rPr>
              <a:t>important </a:t>
            </a:r>
            <a:r>
              <a:rPr sz="2600" spc="-10" dirty="0">
                <a:latin typeface="Times New Roman"/>
                <a:cs typeface="Times New Roman"/>
              </a:rPr>
              <a:t>input to </a:t>
            </a:r>
            <a:r>
              <a:rPr sz="2600" dirty="0">
                <a:latin typeface="Times New Roman"/>
                <a:cs typeface="Times New Roman"/>
              </a:rPr>
              <a:t>both </a:t>
            </a:r>
            <a:r>
              <a:rPr sz="2600" spc="-5" dirty="0">
                <a:latin typeface="Times New Roman"/>
                <a:cs typeface="Times New Roman"/>
              </a:rPr>
              <a:t>long-term, strategic  decision-making, as </a:t>
            </a:r>
            <a:r>
              <a:rPr sz="2600" dirty="0">
                <a:latin typeface="Times New Roman"/>
                <a:cs typeface="Times New Roman"/>
              </a:rPr>
              <a:t>well </a:t>
            </a:r>
            <a:r>
              <a:rPr sz="2600" spc="-5" dirty="0">
                <a:latin typeface="Times New Roman"/>
                <a:cs typeface="Times New Roman"/>
              </a:rPr>
              <a:t>as </a:t>
            </a:r>
            <a:r>
              <a:rPr sz="2600" dirty="0">
                <a:latin typeface="Times New Roman"/>
                <a:cs typeface="Times New Roman"/>
              </a:rPr>
              <a:t>for </a:t>
            </a:r>
            <a:r>
              <a:rPr sz="2600" spc="-5" dirty="0">
                <a:latin typeface="Times New Roman"/>
                <a:cs typeface="Times New Roman"/>
              </a:rPr>
              <a:t>short-term </a:t>
            </a:r>
            <a:r>
              <a:rPr sz="2600" dirty="0">
                <a:latin typeface="Times New Roman"/>
                <a:cs typeface="Times New Roman"/>
              </a:rPr>
              <a:t>planning for  </a:t>
            </a:r>
            <a:r>
              <a:rPr sz="2600" spc="-10" dirty="0">
                <a:latin typeface="Times New Roman"/>
                <a:cs typeface="Times New Roman"/>
              </a:rPr>
              <a:t>day-to-day</a:t>
            </a:r>
            <a:r>
              <a:rPr sz="2600" spc="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operations.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6504431"/>
            <a:ext cx="1801495" cy="353695"/>
          </a:xfrm>
          <a:custGeom>
            <a:avLst/>
            <a:gdLst/>
            <a:ahLst/>
            <a:cxnLst/>
            <a:rect l="l" t="t" r="r" b="b"/>
            <a:pathLst>
              <a:path w="1801495" h="353695">
                <a:moveTo>
                  <a:pt x="1801368" y="0"/>
                </a:moveTo>
                <a:lnTo>
                  <a:pt x="0" y="0"/>
                </a:lnTo>
                <a:lnTo>
                  <a:pt x="0" y="353568"/>
                </a:lnTo>
                <a:lnTo>
                  <a:pt x="1801368" y="353568"/>
                </a:lnTo>
                <a:lnTo>
                  <a:pt x="18013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327392" y="6504431"/>
            <a:ext cx="1804670" cy="353695"/>
          </a:xfrm>
          <a:custGeom>
            <a:avLst/>
            <a:gdLst/>
            <a:ahLst/>
            <a:cxnLst/>
            <a:rect l="l" t="t" r="r" b="b"/>
            <a:pathLst>
              <a:path w="1804670" h="353695">
                <a:moveTo>
                  <a:pt x="1804416" y="0"/>
                </a:moveTo>
                <a:lnTo>
                  <a:pt x="0" y="0"/>
                </a:lnTo>
                <a:lnTo>
                  <a:pt x="0" y="353568"/>
                </a:lnTo>
                <a:lnTo>
                  <a:pt x="1804416" y="353568"/>
                </a:lnTo>
                <a:lnTo>
                  <a:pt x="18044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5D66B32-B155-6559-C80F-5F11FBEABB3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0462C1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0462C1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89213" y="6638266"/>
            <a:ext cx="25717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0462C1"/>
                </a:solidFill>
                <a:latin typeface="Arial"/>
                <a:cs typeface="Arial"/>
              </a:rPr>
              <a:t>4 –</a:t>
            </a:r>
            <a:r>
              <a:rPr sz="900" b="1" spc="-10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b="1" spc="5" dirty="0">
                <a:solidFill>
                  <a:srgbClr val="0462C1"/>
                </a:solidFill>
                <a:latin typeface="Arial"/>
                <a:cs typeface="Arial"/>
              </a:rPr>
              <a:t>4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76650" y="594486"/>
            <a:ext cx="21075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Importance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12444" y="1801444"/>
            <a:ext cx="7999730" cy="4003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880" indent="-170815">
              <a:lnSpc>
                <a:spcPts val="2595"/>
              </a:lnSpc>
              <a:spcBef>
                <a:spcPts val="100"/>
              </a:spcBef>
              <a:buFont typeface="Arial"/>
              <a:buChar char="•"/>
              <a:tabLst>
                <a:tab pos="183515" algn="l"/>
              </a:tabLst>
            </a:pPr>
            <a:r>
              <a:rPr sz="2400" spc="-10" dirty="0">
                <a:latin typeface="Times New Roman"/>
                <a:cs typeface="Times New Roman"/>
              </a:rPr>
              <a:t>Finance </a:t>
            </a:r>
            <a:r>
              <a:rPr sz="2400" spc="-5" dirty="0">
                <a:latin typeface="Times New Roman"/>
                <a:cs typeface="Times New Roman"/>
              </a:rPr>
              <a:t>uses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long-term forecasts for capital planning </a:t>
            </a:r>
            <a:r>
              <a:rPr sz="2400" spc="-5" dirty="0">
                <a:latin typeface="Times New Roman"/>
                <a:cs typeface="Times New Roman"/>
              </a:rPr>
              <a:t>and</a:t>
            </a:r>
            <a:r>
              <a:rPr sz="2400" spc="38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short-</a:t>
            </a:r>
          </a:p>
          <a:p>
            <a:pPr marL="182880">
              <a:lnSpc>
                <a:spcPts val="2595"/>
              </a:lnSpc>
            </a:pP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term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forecasts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for</a:t>
            </a:r>
            <a:r>
              <a:rPr sz="2400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budgeting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350" dirty="0">
              <a:latin typeface="Times New Roman"/>
              <a:cs typeface="Times New Roman"/>
            </a:endParaRPr>
          </a:p>
          <a:p>
            <a:pPr marL="182880" marR="8890" indent="-170815">
              <a:lnSpc>
                <a:spcPts val="2300"/>
              </a:lnSpc>
              <a:buFont typeface="Arial"/>
              <a:buChar char="•"/>
              <a:tabLst>
                <a:tab pos="183515" algn="l"/>
                <a:tab pos="1597660" algn="l"/>
                <a:tab pos="2847975" algn="l"/>
                <a:tab pos="3592195" algn="l"/>
                <a:tab pos="4823460" algn="l"/>
                <a:tab pos="5330190" algn="l"/>
                <a:tab pos="6327140" algn="l"/>
                <a:tab pos="7540625" algn="l"/>
              </a:tabLst>
            </a:pPr>
            <a:r>
              <a:rPr sz="2400" spc="-5" dirty="0">
                <a:latin typeface="Times New Roman"/>
                <a:cs typeface="Times New Roman"/>
              </a:rPr>
              <a:t>M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rk</a:t>
            </a:r>
            <a:r>
              <a:rPr sz="2400" spc="-2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sz="2400" spc="5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ng	</a:t>
            </a:r>
            <a:r>
              <a:rPr sz="2400" spc="20" dirty="0">
                <a:latin typeface="Times New Roman"/>
                <a:cs typeface="Times New Roman"/>
              </a:rPr>
              <a:t>p</a:t>
            </a:r>
            <a:r>
              <a:rPr sz="2400" dirty="0">
                <a:latin typeface="Times New Roman"/>
                <a:cs typeface="Times New Roman"/>
              </a:rPr>
              <a:t>rodu</a:t>
            </a:r>
            <a:r>
              <a:rPr sz="2400" spc="-20" dirty="0">
                <a:latin typeface="Times New Roman"/>
                <a:cs typeface="Times New Roman"/>
              </a:rPr>
              <a:t>c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spc="-5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15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les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	fo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400" spc="10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ca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sts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	f</a:t>
            </a:r>
            <a:r>
              <a:rPr sz="2400" spc="10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r	ma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k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t	planning	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400" spc="20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d 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market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35" dirty="0">
                <a:solidFill>
                  <a:srgbClr val="FF0000"/>
                </a:solidFill>
                <a:latin typeface="Times New Roman"/>
                <a:cs typeface="Times New Roman"/>
              </a:rPr>
              <a:t>strategy</a:t>
            </a:r>
            <a:r>
              <a:rPr sz="2400" spc="-35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2900" dirty="0">
              <a:latin typeface="Times New Roman"/>
              <a:cs typeface="Times New Roman"/>
            </a:endParaRPr>
          </a:p>
          <a:p>
            <a:pPr marL="182880" indent="-170815">
              <a:lnSpc>
                <a:spcPts val="2595"/>
              </a:lnSpc>
              <a:buFont typeface="Arial"/>
              <a:buChar char="•"/>
              <a:tabLst>
                <a:tab pos="183515" algn="l"/>
                <a:tab pos="1780539" algn="l"/>
                <a:tab pos="3128645" algn="l"/>
                <a:tab pos="3832860" algn="l"/>
                <a:tab pos="4619625" algn="l"/>
                <a:tab pos="5967095" algn="l"/>
                <a:tab pos="6586220" algn="l"/>
              </a:tabLst>
            </a:pPr>
            <a:r>
              <a:rPr sz="2400" spc="-5" dirty="0">
                <a:latin typeface="Times New Roman"/>
                <a:cs typeface="Times New Roman"/>
              </a:rPr>
              <a:t>Operations	develops	</a:t>
            </a:r>
            <a:r>
              <a:rPr sz="2400" dirty="0">
                <a:latin typeface="Times New Roman"/>
                <a:cs typeface="Times New Roman"/>
              </a:rPr>
              <a:t>and	</a:t>
            </a:r>
            <a:r>
              <a:rPr sz="2400" spc="-5" dirty="0">
                <a:latin typeface="Times New Roman"/>
                <a:cs typeface="Times New Roman"/>
              </a:rPr>
              <a:t>uses	forecasts	</a:t>
            </a:r>
            <a:r>
              <a:rPr sz="2400" dirty="0">
                <a:latin typeface="Times New Roman"/>
                <a:cs typeface="Times New Roman"/>
              </a:rPr>
              <a:t>for	</a:t>
            </a:r>
            <a:r>
              <a:rPr sz="2400" spc="-5" dirty="0">
                <a:latin typeface="Times New Roman"/>
                <a:cs typeface="Times New Roman"/>
              </a:rPr>
              <a:t>scheduling,</a:t>
            </a:r>
            <a:endParaRPr sz="2400" dirty="0">
              <a:latin typeface="Times New Roman"/>
              <a:cs typeface="Times New Roman"/>
            </a:endParaRPr>
          </a:p>
          <a:p>
            <a:pPr marL="182880">
              <a:lnSpc>
                <a:spcPts val="2595"/>
              </a:lnSpc>
            </a:pPr>
            <a:r>
              <a:rPr sz="2400" spc="-5" dirty="0">
                <a:latin typeface="Times New Roman"/>
                <a:cs typeface="Times New Roman"/>
              </a:rPr>
              <a:t>inventory management, and long-term capacity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planning.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850" dirty="0">
              <a:latin typeface="Times New Roman"/>
              <a:cs typeface="Times New Roman"/>
            </a:endParaRPr>
          </a:p>
          <a:p>
            <a:pPr marL="182880" indent="-170815">
              <a:lnSpc>
                <a:spcPts val="2595"/>
              </a:lnSpc>
              <a:buFont typeface="Arial"/>
              <a:buChar char="•"/>
              <a:tabLst>
                <a:tab pos="183515" algn="l"/>
                <a:tab pos="1213485" algn="l"/>
                <a:tab pos="2482215" algn="l"/>
                <a:tab pos="4210685" algn="l"/>
                <a:tab pos="4872355" algn="l"/>
                <a:tab pos="6092190" algn="l"/>
                <a:tab pos="6464300" algn="l"/>
                <a:tab pos="7613650" algn="l"/>
              </a:tabLst>
            </a:pPr>
            <a:r>
              <a:rPr sz="2400" dirty="0">
                <a:latin typeface="Times New Roman"/>
                <a:cs typeface="Times New Roman"/>
              </a:rPr>
              <a:t>H</a:t>
            </a:r>
            <a:r>
              <a:rPr sz="2400" spc="-10" dirty="0">
                <a:latin typeface="Times New Roman"/>
                <a:cs typeface="Times New Roman"/>
              </a:rPr>
              <a:t>u</a:t>
            </a:r>
            <a:r>
              <a:rPr sz="2400" dirty="0">
                <a:latin typeface="Times New Roman"/>
                <a:cs typeface="Times New Roman"/>
              </a:rPr>
              <a:t>m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n	Resou</a:t>
            </a:r>
            <a:r>
              <a:rPr sz="2400" spc="-15" dirty="0">
                <a:latin typeface="Times New Roman"/>
                <a:cs typeface="Times New Roman"/>
              </a:rPr>
              <a:t>r</a:t>
            </a:r>
            <a:r>
              <a:rPr sz="2400" spc="10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e	M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spc="15" dirty="0">
                <a:latin typeface="Times New Roman"/>
                <a:cs typeface="Times New Roman"/>
              </a:rPr>
              <a:t>n</a:t>
            </a:r>
            <a:r>
              <a:rPr sz="2400" spc="10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g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m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nt	uses	</a:t>
            </a:r>
            <a:r>
              <a:rPr sz="2400" spc="-10" dirty="0">
                <a:latin typeface="Times New Roman"/>
                <a:cs typeface="Times New Roman"/>
              </a:rPr>
              <a:t>f</a:t>
            </a:r>
            <a:r>
              <a:rPr sz="2400" dirty="0">
                <a:latin typeface="Times New Roman"/>
                <a:cs typeface="Times New Roman"/>
              </a:rPr>
              <a:t>o</a:t>
            </a:r>
            <a:r>
              <a:rPr sz="2400" spc="-10" dirty="0">
                <a:latin typeface="Times New Roman"/>
                <a:cs typeface="Times New Roman"/>
              </a:rPr>
              <a:t>re</a:t>
            </a:r>
            <a:r>
              <a:rPr sz="2400" spc="10" dirty="0">
                <a:latin typeface="Times New Roman"/>
                <a:cs typeface="Times New Roman"/>
              </a:rPr>
              <a:t>c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sts	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o	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st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te	the</a:t>
            </a:r>
          </a:p>
          <a:p>
            <a:pPr marL="182880">
              <a:lnSpc>
                <a:spcPts val="2595"/>
              </a:lnSpc>
            </a:pP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need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for</a:t>
            </a:r>
            <a:r>
              <a:rPr sz="24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employees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6504431"/>
            <a:ext cx="1801495" cy="353695"/>
          </a:xfrm>
          <a:custGeom>
            <a:avLst/>
            <a:gdLst/>
            <a:ahLst/>
            <a:cxnLst/>
            <a:rect l="l" t="t" r="r" b="b"/>
            <a:pathLst>
              <a:path w="1801495" h="353695">
                <a:moveTo>
                  <a:pt x="1801368" y="0"/>
                </a:moveTo>
                <a:lnTo>
                  <a:pt x="0" y="0"/>
                </a:lnTo>
                <a:lnTo>
                  <a:pt x="0" y="353568"/>
                </a:lnTo>
                <a:lnTo>
                  <a:pt x="1801368" y="353568"/>
                </a:lnTo>
                <a:lnTo>
                  <a:pt x="18013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327392" y="6504431"/>
            <a:ext cx="1804670" cy="353695"/>
          </a:xfrm>
          <a:custGeom>
            <a:avLst/>
            <a:gdLst/>
            <a:ahLst/>
            <a:cxnLst/>
            <a:rect l="l" t="t" r="r" b="b"/>
            <a:pathLst>
              <a:path w="1804670" h="353695">
                <a:moveTo>
                  <a:pt x="1804416" y="0"/>
                </a:moveTo>
                <a:lnTo>
                  <a:pt x="0" y="0"/>
                </a:lnTo>
                <a:lnTo>
                  <a:pt x="0" y="353568"/>
                </a:lnTo>
                <a:lnTo>
                  <a:pt x="1804416" y="353568"/>
                </a:lnTo>
                <a:lnTo>
                  <a:pt x="18044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B7BD6FE-273A-78E8-B7BB-AED611253B0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0462C1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0462C1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89213" y="6638266"/>
            <a:ext cx="25717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0462C1"/>
                </a:solidFill>
                <a:latin typeface="Arial"/>
                <a:cs typeface="Arial"/>
              </a:rPr>
              <a:t>4 –</a:t>
            </a:r>
            <a:r>
              <a:rPr sz="900" b="1" spc="-10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b="1" spc="5" dirty="0">
                <a:solidFill>
                  <a:srgbClr val="0462C1"/>
                </a:solidFill>
                <a:latin typeface="Arial"/>
                <a:cs typeface="Arial"/>
              </a:rPr>
              <a:t>6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7989" y="749808"/>
            <a:ext cx="4984840" cy="4480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64844" y="596010"/>
            <a:ext cx="50057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Forecasting </a:t>
            </a:r>
            <a:r>
              <a:rPr spc="-30" dirty="0"/>
              <a:t>Time</a:t>
            </a:r>
            <a:r>
              <a:rPr spc="-175" dirty="0"/>
              <a:t> </a:t>
            </a:r>
            <a:r>
              <a:rPr dirty="0"/>
              <a:t>Horizons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21664" y="1570177"/>
            <a:ext cx="7664450" cy="3825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8480" indent="-475615">
              <a:lnSpc>
                <a:spcPts val="2785"/>
              </a:lnSpc>
              <a:spcBef>
                <a:spcPts val="100"/>
              </a:spcBef>
              <a:buFont typeface="Wingdings"/>
              <a:buChar char=""/>
              <a:tabLst>
                <a:tab pos="538480" algn="l"/>
                <a:tab pos="539115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Short-range</a:t>
            </a:r>
            <a:r>
              <a:rPr sz="2800" b="1" spc="3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forecast</a:t>
            </a:r>
            <a:endParaRPr sz="2800" b="1" dirty="0">
              <a:latin typeface="Times New Roman"/>
              <a:cs typeface="Times New Roman"/>
            </a:endParaRPr>
          </a:p>
          <a:p>
            <a:pPr marL="1115060" lvl="1" indent="-384810">
              <a:lnSpc>
                <a:spcPts val="2700"/>
              </a:lnSpc>
              <a:buFont typeface="Wingdings"/>
              <a:buChar char=""/>
              <a:tabLst>
                <a:tab pos="1115695" algn="l"/>
              </a:tabLst>
            </a:pPr>
            <a:r>
              <a:rPr sz="2400" spc="-5" dirty="0">
                <a:latin typeface="Times New Roman"/>
                <a:cs typeface="Times New Roman"/>
              </a:rPr>
              <a:t>Up </a:t>
            </a:r>
            <a:r>
              <a:rPr sz="2400" dirty="0">
                <a:latin typeface="Times New Roman"/>
                <a:cs typeface="Times New Roman"/>
              </a:rPr>
              <a:t>to 1 </a:t>
            </a:r>
            <a:r>
              <a:rPr sz="2400" spc="-40" dirty="0">
                <a:latin typeface="Times New Roman"/>
                <a:cs typeface="Times New Roman"/>
              </a:rPr>
              <a:t>year, </a:t>
            </a:r>
            <a:r>
              <a:rPr sz="2400" spc="-10" dirty="0">
                <a:latin typeface="Times New Roman"/>
                <a:cs typeface="Times New Roman"/>
              </a:rPr>
              <a:t>generally </a:t>
            </a:r>
            <a:r>
              <a:rPr sz="2400" spc="-5" dirty="0">
                <a:latin typeface="Times New Roman"/>
                <a:cs typeface="Times New Roman"/>
              </a:rPr>
              <a:t>less </a:t>
            </a:r>
            <a:r>
              <a:rPr sz="2400" dirty="0">
                <a:latin typeface="Times New Roman"/>
                <a:cs typeface="Times New Roman"/>
              </a:rPr>
              <a:t>than 3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months</a:t>
            </a:r>
          </a:p>
          <a:p>
            <a:pPr marL="1115060" lvl="1" indent="-384810">
              <a:lnSpc>
                <a:spcPts val="2510"/>
              </a:lnSpc>
              <a:buFont typeface="Wingdings"/>
              <a:buChar char=""/>
              <a:tabLst>
                <a:tab pos="1115695" algn="l"/>
              </a:tabLst>
            </a:pPr>
            <a:r>
              <a:rPr sz="2400" spc="-5" dirty="0">
                <a:latin typeface="Times New Roman"/>
                <a:cs typeface="Times New Roman"/>
              </a:rPr>
              <a:t>Purchasing, </a:t>
            </a:r>
            <a:r>
              <a:rPr sz="2400" dirty="0">
                <a:latin typeface="Times New Roman"/>
                <a:cs typeface="Times New Roman"/>
              </a:rPr>
              <a:t>job </a:t>
            </a:r>
            <a:r>
              <a:rPr sz="2400" spc="-5" dirty="0">
                <a:latin typeface="Times New Roman"/>
                <a:cs typeface="Times New Roman"/>
              </a:rPr>
              <a:t>scheduling, workforce levels,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job</a:t>
            </a:r>
          </a:p>
          <a:p>
            <a:pPr marL="1115060">
              <a:lnSpc>
                <a:spcPts val="2595"/>
              </a:lnSpc>
            </a:pPr>
            <a:r>
              <a:rPr sz="2400" spc="-5" dirty="0">
                <a:latin typeface="Times New Roman"/>
                <a:cs typeface="Times New Roman"/>
              </a:rPr>
              <a:t>assignments, production levels</a:t>
            </a:r>
            <a:endParaRPr sz="2400" dirty="0">
              <a:latin typeface="Times New Roman"/>
              <a:cs typeface="Times New Roman"/>
            </a:endParaRPr>
          </a:p>
          <a:p>
            <a:pPr marL="538480" indent="-475615">
              <a:lnSpc>
                <a:spcPts val="2795"/>
              </a:lnSpc>
              <a:spcBef>
                <a:spcPts val="215"/>
              </a:spcBef>
              <a:buFont typeface="Wingdings"/>
              <a:buChar char=""/>
              <a:tabLst>
                <a:tab pos="538480" algn="l"/>
                <a:tab pos="539115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Medium-range</a:t>
            </a:r>
            <a:r>
              <a:rPr sz="2800" b="1" spc="3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forecast</a:t>
            </a:r>
            <a:endParaRPr sz="2800" b="1" dirty="0">
              <a:latin typeface="Times New Roman"/>
              <a:cs typeface="Times New Roman"/>
            </a:endParaRPr>
          </a:p>
          <a:p>
            <a:pPr marL="1115060" lvl="1" indent="-384810">
              <a:lnSpc>
                <a:spcPts val="2715"/>
              </a:lnSpc>
              <a:buFont typeface="Wingdings"/>
              <a:buChar char=""/>
              <a:tabLst>
                <a:tab pos="1115695" algn="l"/>
              </a:tabLst>
            </a:pPr>
            <a:r>
              <a:rPr sz="2400" dirty="0">
                <a:latin typeface="Times New Roman"/>
                <a:cs typeface="Times New Roman"/>
              </a:rPr>
              <a:t>3 months to 3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years</a:t>
            </a:r>
            <a:endParaRPr sz="2400" dirty="0">
              <a:latin typeface="Times New Roman"/>
              <a:cs typeface="Times New Roman"/>
            </a:endParaRPr>
          </a:p>
          <a:p>
            <a:pPr marL="1115060" lvl="1" indent="-384810">
              <a:lnSpc>
                <a:spcPts val="2795"/>
              </a:lnSpc>
              <a:buFont typeface="Wingdings"/>
              <a:buChar char=""/>
              <a:tabLst>
                <a:tab pos="1115695" algn="l"/>
              </a:tabLst>
            </a:pPr>
            <a:r>
              <a:rPr sz="2400" spc="-5" dirty="0">
                <a:latin typeface="Times New Roman"/>
                <a:cs typeface="Times New Roman"/>
              </a:rPr>
              <a:t>Sales and production planning,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budgeting</a:t>
            </a:r>
            <a:endParaRPr sz="2400" dirty="0">
              <a:latin typeface="Times New Roman"/>
              <a:cs typeface="Times New Roman"/>
            </a:endParaRPr>
          </a:p>
          <a:p>
            <a:pPr marL="538480" indent="-475615">
              <a:lnSpc>
                <a:spcPts val="2800"/>
              </a:lnSpc>
              <a:spcBef>
                <a:spcPts val="219"/>
              </a:spcBef>
              <a:buFont typeface="Wingdings"/>
              <a:buChar char=""/>
              <a:tabLst>
                <a:tab pos="538480" algn="l"/>
                <a:tab pos="539115" algn="l"/>
              </a:tabLst>
            </a:pPr>
            <a:r>
              <a:rPr sz="2800" b="1" spc="-15" dirty="0">
                <a:latin typeface="Times New Roman"/>
                <a:cs typeface="Times New Roman"/>
              </a:rPr>
              <a:t>Long-range</a:t>
            </a:r>
            <a:r>
              <a:rPr sz="2800" b="1" spc="10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forecast</a:t>
            </a:r>
            <a:endParaRPr sz="2800" b="1" dirty="0">
              <a:latin typeface="Times New Roman"/>
              <a:cs typeface="Times New Roman"/>
            </a:endParaRPr>
          </a:p>
          <a:p>
            <a:pPr marL="1115060" lvl="1" indent="-384810">
              <a:lnSpc>
                <a:spcPts val="2700"/>
              </a:lnSpc>
              <a:buFont typeface="Wingdings"/>
              <a:buChar char=""/>
              <a:tabLst>
                <a:tab pos="1115695" algn="l"/>
              </a:tabLst>
            </a:pPr>
            <a:r>
              <a:rPr sz="2400" dirty="0">
                <a:latin typeface="Times New Roman"/>
                <a:cs typeface="Times New Roman"/>
              </a:rPr>
              <a:t>3</a:t>
            </a:r>
            <a:r>
              <a:rPr sz="2400" baseline="24305" dirty="0">
                <a:latin typeface="Times New Roman"/>
                <a:cs typeface="Times New Roman"/>
              </a:rPr>
              <a:t>+</a:t>
            </a:r>
            <a:r>
              <a:rPr sz="2400" spc="300" baseline="2430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years</a:t>
            </a:r>
            <a:endParaRPr sz="2400" dirty="0">
              <a:latin typeface="Times New Roman"/>
              <a:cs typeface="Times New Roman"/>
            </a:endParaRPr>
          </a:p>
          <a:p>
            <a:pPr marL="1115060" lvl="1" indent="-384810">
              <a:lnSpc>
                <a:spcPts val="2495"/>
              </a:lnSpc>
              <a:buFont typeface="Wingdings"/>
              <a:buChar char=""/>
              <a:tabLst>
                <a:tab pos="1115695" algn="l"/>
              </a:tabLst>
            </a:pPr>
            <a:r>
              <a:rPr sz="2400" spc="-10" dirty="0">
                <a:latin typeface="Times New Roman"/>
                <a:cs typeface="Times New Roman"/>
              </a:rPr>
              <a:t>New </a:t>
            </a:r>
            <a:r>
              <a:rPr sz="2400" spc="-5" dirty="0">
                <a:latin typeface="Times New Roman"/>
                <a:cs typeface="Times New Roman"/>
              </a:rPr>
              <a:t>product planning, facility location, </a:t>
            </a:r>
            <a:r>
              <a:rPr sz="2400" spc="-10" dirty="0">
                <a:latin typeface="Times New Roman"/>
                <a:cs typeface="Times New Roman"/>
              </a:rPr>
              <a:t>research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and</a:t>
            </a:r>
            <a:endParaRPr sz="2400" dirty="0">
              <a:latin typeface="Times New Roman"/>
              <a:cs typeface="Times New Roman"/>
            </a:endParaRPr>
          </a:p>
          <a:p>
            <a:pPr marL="1115060">
              <a:lnSpc>
                <a:spcPts val="2595"/>
              </a:lnSpc>
            </a:pPr>
            <a:r>
              <a:rPr sz="2400" spc="-5" dirty="0">
                <a:latin typeface="Times New Roman"/>
                <a:cs typeface="Times New Roman"/>
              </a:rPr>
              <a:t>development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6504431"/>
            <a:ext cx="1801495" cy="353695"/>
          </a:xfrm>
          <a:custGeom>
            <a:avLst/>
            <a:gdLst/>
            <a:ahLst/>
            <a:cxnLst/>
            <a:rect l="l" t="t" r="r" b="b"/>
            <a:pathLst>
              <a:path w="1801495" h="353695">
                <a:moveTo>
                  <a:pt x="1801368" y="0"/>
                </a:moveTo>
                <a:lnTo>
                  <a:pt x="0" y="0"/>
                </a:lnTo>
                <a:lnTo>
                  <a:pt x="0" y="353568"/>
                </a:lnTo>
                <a:lnTo>
                  <a:pt x="1801368" y="353568"/>
                </a:lnTo>
                <a:lnTo>
                  <a:pt x="18013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327392" y="6504431"/>
            <a:ext cx="1804670" cy="353695"/>
          </a:xfrm>
          <a:custGeom>
            <a:avLst/>
            <a:gdLst/>
            <a:ahLst/>
            <a:cxnLst/>
            <a:rect l="l" t="t" r="r" b="b"/>
            <a:pathLst>
              <a:path w="1804670" h="353695">
                <a:moveTo>
                  <a:pt x="1804416" y="0"/>
                </a:moveTo>
                <a:lnTo>
                  <a:pt x="0" y="0"/>
                </a:lnTo>
                <a:lnTo>
                  <a:pt x="0" y="353568"/>
                </a:lnTo>
                <a:lnTo>
                  <a:pt x="1804416" y="353568"/>
                </a:lnTo>
                <a:lnTo>
                  <a:pt x="18044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8A129F-FB67-077F-E98E-53D3446D4ED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0462C1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0462C1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89213" y="6638266"/>
            <a:ext cx="25717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0462C1"/>
                </a:solidFill>
                <a:latin typeface="Arial"/>
                <a:cs typeface="Arial"/>
              </a:rPr>
              <a:t>4 –</a:t>
            </a:r>
            <a:r>
              <a:rPr sz="900" b="1" spc="-10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b="1" spc="5" dirty="0">
                <a:solidFill>
                  <a:srgbClr val="0462C1"/>
                </a:solidFill>
                <a:latin typeface="Arial"/>
                <a:cs typeface="Arial"/>
              </a:rPr>
              <a:t>9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87323" y="653795"/>
            <a:ext cx="7772400" cy="970915"/>
            <a:chOff x="687323" y="653795"/>
            <a:chExt cx="7772400" cy="970915"/>
          </a:xfrm>
        </p:grpSpPr>
        <p:sp>
          <p:nvSpPr>
            <p:cNvPr id="5" name="object 5"/>
            <p:cNvSpPr/>
            <p:nvPr/>
          </p:nvSpPr>
          <p:spPr>
            <a:xfrm>
              <a:off x="687323" y="653795"/>
              <a:ext cx="7772400" cy="896619"/>
            </a:xfrm>
            <a:custGeom>
              <a:avLst/>
              <a:gdLst/>
              <a:ahLst/>
              <a:cxnLst/>
              <a:rect l="l" t="t" r="r" b="b"/>
              <a:pathLst>
                <a:path w="7772400" h="896619">
                  <a:moveTo>
                    <a:pt x="7772400" y="0"/>
                  </a:moveTo>
                  <a:lnTo>
                    <a:pt x="0" y="0"/>
                  </a:lnTo>
                  <a:lnTo>
                    <a:pt x="0" y="896112"/>
                  </a:lnTo>
                  <a:lnTo>
                    <a:pt x="7772400" y="896112"/>
                  </a:lnTo>
                  <a:lnTo>
                    <a:pt x="7772400" y="0"/>
                  </a:lnTo>
                  <a:close/>
                </a:path>
              </a:pathLst>
            </a:custGeom>
            <a:solidFill>
              <a:srgbClr val="2EFF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04287" y="682751"/>
              <a:ext cx="4575048" cy="94183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87323" y="653795"/>
            <a:ext cx="7772400" cy="896619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142875" rIns="0" bIns="0" rtlCol="0">
            <a:spAutoFit/>
          </a:bodyPr>
          <a:lstStyle/>
          <a:p>
            <a:pPr marL="8255" algn="ctr">
              <a:lnSpc>
                <a:spcPct val="100000"/>
              </a:lnSpc>
              <a:spcBef>
                <a:spcPts val="1125"/>
              </a:spcBef>
            </a:pPr>
            <a:r>
              <a:rPr sz="3300" spc="-170" dirty="0">
                <a:latin typeface="Trebuchet MS"/>
                <a:cs typeface="Trebuchet MS"/>
              </a:rPr>
              <a:t>Forecasting</a:t>
            </a:r>
            <a:r>
              <a:rPr sz="3300" spc="-295" dirty="0">
                <a:latin typeface="Trebuchet MS"/>
                <a:cs typeface="Trebuchet MS"/>
              </a:rPr>
              <a:t> </a:t>
            </a:r>
            <a:r>
              <a:rPr sz="3300" spc="-130" dirty="0">
                <a:latin typeface="Trebuchet MS"/>
                <a:cs typeface="Trebuchet MS"/>
              </a:rPr>
              <a:t>Approaches</a:t>
            </a:r>
            <a:endParaRPr sz="33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36091" y="1553194"/>
            <a:ext cx="6823709" cy="4139565"/>
          </a:xfrm>
          <a:prstGeom prst="rect">
            <a:avLst/>
          </a:prstGeom>
        </p:spPr>
        <p:txBody>
          <a:bodyPr vert="horz" wrap="square" lIns="0" tIns="213360" rIns="0" bIns="0" rtlCol="0">
            <a:spAutoFit/>
          </a:bodyPr>
          <a:lstStyle/>
          <a:p>
            <a:pPr marL="46990" algn="ctr">
              <a:lnSpc>
                <a:spcPct val="100000"/>
              </a:lnSpc>
              <a:spcBef>
                <a:spcPts val="1680"/>
              </a:spcBef>
            </a:pPr>
            <a:r>
              <a:rPr sz="3200" b="1" i="1" spc="-10" dirty="0">
                <a:solidFill>
                  <a:srgbClr val="0462C1"/>
                </a:solidFill>
                <a:latin typeface="Arial"/>
                <a:cs typeface="Arial"/>
              </a:rPr>
              <a:t>Qualitative</a:t>
            </a:r>
            <a:r>
              <a:rPr sz="3200" b="1" i="1" spc="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3200" b="1" i="1" spc="-15" dirty="0">
                <a:solidFill>
                  <a:srgbClr val="0462C1"/>
                </a:solidFill>
                <a:latin typeface="Arial"/>
                <a:cs typeface="Arial"/>
              </a:rPr>
              <a:t>Methods</a:t>
            </a:r>
            <a:endParaRPr sz="3200" dirty="0">
              <a:latin typeface="Arial"/>
              <a:cs typeface="Arial"/>
            </a:endParaRPr>
          </a:p>
          <a:p>
            <a:pPr marL="487680" marR="650240" indent="-475615">
              <a:lnSpc>
                <a:spcPts val="3460"/>
              </a:lnSpc>
              <a:spcBef>
                <a:spcPts val="2010"/>
              </a:spcBef>
              <a:buClr>
                <a:srgbClr val="000000"/>
              </a:buClr>
              <a:buFont typeface="Wingdings"/>
              <a:buChar char=""/>
              <a:tabLst>
                <a:tab pos="488315" algn="l"/>
              </a:tabLst>
            </a:pPr>
            <a:r>
              <a:rPr sz="3200" b="1" i="1" spc="-5" dirty="0">
                <a:solidFill>
                  <a:srgbClr val="003300"/>
                </a:solidFill>
                <a:latin typeface="Arial"/>
                <a:cs typeface="Arial"/>
              </a:rPr>
              <a:t>Used </a:t>
            </a:r>
            <a:r>
              <a:rPr sz="3200" b="1" i="1" spc="-10" dirty="0">
                <a:solidFill>
                  <a:srgbClr val="003300"/>
                </a:solidFill>
                <a:latin typeface="Arial"/>
                <a:cs typeface="Arial"/>
              </a:rPr>
              <a:t>when situation </a:t>
            </a:r>
            <a:r>
              <a:rPr sz="3200" b="1" i="1" spc="-5" dirty="0">
                <a:solidFill>
                  <a:srgbClr val="003300"/>
                </a:solidFill>
                <a:latin typeface="Arial"/>
                <a:cs typeface="Arial"/>
              </a:rPr>
              <a:t>is </a:t>
            </a:r>
            <a:r>
              <a:rPr sz="3200" b="1" i="1" spc="-10" dirty="0">
                <a:solidFill>
                  <a:srgbClr val="003300"/>
                </a:solidFill>
                <a:latin typeface="Arial"/>
                <a:cs typeface="Arial"/>
              </a:rPr>
              <a:t>vague  </a:t>
            </a:r>
            <a:r>
              <a:rPr sz="3200" b="1" i="1" spc="-5" dirty="0">
                <a:solidFill>
                  <a:srgbClr val="003300"/>
                </a:solidFill>
                <a:latin typeface="Arial"/>
                <a:cs typeface="Arial"/>
              </a:rPr>
              <a:t>and </a:t>
            </a:r>
            <a:r>
              <a:rPr sz="3200" b="1" i="1" spc="-10" dirty="0">
                <a:solidFill>
                  <a:srgbClr val="003300"/>
                </a:solidFill>
                <a:latin typeface="Arial"/>
                <a:cs typeface="Arial"/>
              </a:rPr>
              <a:t>little data</a:t>
            </a:r>
            <a:r>
              <a:rPr sz="3200" b="1" i="1" spc="5" dirty="0">
                <a:solidFill>
                  <a:srgbClr val="003300"/>
                </a:solidFill>
                <a:latin typeface="Arial"/>
                <a:cs typeface="Arial"/>
              </a:rPr>
              <a:t> </a:t>
            </a:r>
            <a:r>
              <a:rPr sz="3200" b="1" i="1" spc="-5" dirty="0">
                <a:solidFill>
                  <a:srgbClr val="003300"/>
                </a:solidFill>
                <a:latin typeface="Arial"/>
                <a:cs typeface="Arial"/>
              </a:rPr>
              <a:t>exist</a:t>
            </a:r>
            <a:endParaRPr sz="3200" dirty="0">
              <a:latin typeface="Arial"/>
              <a:cs typeface="Arial"/>
            </a:endParaRPr>
          </a:p>
          <a:p>
            <a:pPr marL="1152525" lvl="1" indent="-473075">
              <a:lnSpc>
                <a:spcPct val="100000"/>
              </a:lnSpc>
              <a:spcBef>
                <a:spcPts val="950"/>
              </a:spcBef>
              <a:buClr>
                <a:srgbClr val="000000"/>
              </a:buClr>
              <a:buFont typeface="Wingdings"/>
              <a:buChar char=""/>
              <a:tabLst>
                <a:tab pos="1152525" algn="l"/>
                <a:tab pos="1153160" algn="l"/>
              </a:tabLst>
            </a:pPr>
            <a:r>
              <a:rPr sz="2800" b="1" i="1" dirty="0">
                <a:solidFill>
                  <a:srgbClr val="003300"/>
                </a:solidFill>
                <a:latin typeface="Arial"/>
                <a:cs typeface="Arial"/>
              </a:rPr>
              <a:t>New</a:t>
            </a:r>
            <a:r>
              <a:rPr sz="2800" b="1" i="1" spc="-20" dirty="0">
                <a:solidFill>
                  <a:srgbClr val="003300"/>
                </a:solidFill>
                <a:latin typeface="Arial"/>
                <a:cs typeface="Arial"/>
              </a:rPr>
              <a:t> </a:t>
            </a:r>
            <a:r>
              <a:rPr sz="2800" b="1" i="1" spc="-5" dirty="0">
                <a:solidFill>
                  <a:srgbClr val="003300"/>
                </a:solidFill>
                <a:latin typeface="Arial"/>
                <a:cs typeface="Arial"/>
              </a:rPr>
              <a:t>products</a:t>
            </a:r>
            <a:endParaRPr sz="2800" dirty="0">
              <a:latin typeface="Arial"/>
              <a:cs typeface="Arial"/>
            </a:endParaRPr>
          </a:p>
          <a:p>
            <a:pPr marL="1152525" lvl="1" indent="-473075">
              <a:lnSpc>
                <a:spcPct val="100000"/>
              </a:lnSpc>
              <a:spcBef>
                <a:spcPts val="1005"/>
              </a:spcBef>
              <a:buClr>
                <a:srgbClr val="000000"/>
              </a:buClr>
              <a:buFont typeface="Wingdings"/>
              <a:buChar char=""/>
              <a:tabLst>
                <a:tab pos="1152525" algn="l"/>
                <a:tab pos="1153160" algn="l"/>
              </a:tabLst>
            </a:pPr>
            <a:r>
              <a:rPr sz="2800" b="1" i="1" dirty="0">
                <a:solidFill>
                  <a:srgbClr val="003300"/>
                </a:solidFill>
                <a:latin typeface="Arial"/>
                <a:cs typeface="Arial"/>
              </a:rPr>
              <a:t>New</a:t>
            </a:r>
            <a:r>
              <a:rPr sz="2800" b="1" i="1" spc="-25" dirty="0">
                <a:solidFill>
                  <a:srgbClr val="003300"/>
                </a:solidFill>
                <a:latin typeface="Arial"/>
                <a:cs typeface="Arial"/>
              </a:rPr>
              <a:t> </a:t>
            </a:r>
            <a:r>
              <a:rPr sz="2800" b="1" i="1" spc="-5" dirty="0">
                <a:solidFill>
                  <a:srgbClr val="003300"/>
                </a:solidFill>
                <a:latin typeface="Arial"/>
                <a:cs typeface="Arial"/>
              </a:rPr>
              <a:t>technology</a:t>
            </a:r>
            <a:endParaRPr sz="2800" dirty="0">
              <a:latin typeface="Arial"/>
              <a:cs typeface="Arial"/>
            </a:endParaRPr>
          </a:p>
          <a:p>
            <a:pPr marL="487680" indent="-475615">
              <a:lnSpc>
                <a:spcPct val="100000"/>
              </a:lnSpc>
              <a:spcBef>
                <a:spcPts val="1165"/>
              </a:spcBef>
              <a:buClr>
                <a:srgbClr val="000000"/>
              </a:buClr>
              <a:buFont typeface="Wingdings"/>
              <a:buChar char=""/>
              <a:tabLst>
                <a:tab pos="488315" algn="l"/>
              </a:tabLst>
            </a:pPr>
            <a:r>
              <a:rPr sz="3200" b="1" i="1" spc="-10" dirty="0">
                <a:solidFill>
                  <a:srgbClr val="003300"/>
                </a:solidFill>
                <a:latin typeface="Arial"/>
                <a:cs typeface="Arial"/>
              </a:rPr>
              <a:t>Involves intuition,</a:t>
            </a:r>
            <a:r>
              <a:rPr sz="3200" b="1" i="1" spc="30" dirty="0">
                <a:solidFill>
                  <a:srgbClr val="003300"/>
                </a:solidFill>
                <a:latin typeface="Arial"/>
                <a:cs typeface="Arial"/>
              </a:rPr>
              <a:t> </a:t>
            </a:r>
            <a:r>
              <a:rPr sz="3200" b="1" i="1" spc="-5" dirty="0">
                <a:solidFill>
                  <a:srgbClr val="003300"/>
                </a:solidFill>
                <a:latin typeface="Arial"/>
                <a:cs typeface="Arial"/>
              </a:rPr>
              <a:t>experience</a:t>
            </a:r>
            <a:endParaRPr sz="3200" dirty="0">
              <a:latin typeface="Arial"/>
              <a:cs typeface="Arial"/>
            </a:endParaRPr>
          </a:p>
          <a:p>
            <a:pPr marL="1152525" lvl="1" indent="-473075">
              <a:lnSpc>
                <a:spcPct val="100000"/>
              </a:lnSpc>
              <a:spcBef>
                <a:spcPts val="1000"/>
              </a:spcBef>
              <a:buClr>
                <a:srgbClr val="000000"/>
              </a:buClr>
              <a:buFont typeface="Wingdings"/>
              <a:buChar char=""/>
              <a:tabLst>
                <a:tab pos="1152525" algn="l"/>
                <a:tab pos="1153160" algn="l"/>
              </a:tabLst>
            </a:pPr>
            <a:r>
              <a:rPr sz="2800" b="1" i="1" dirty="0">
                <a:solidFill>
                  <a:srgbClr val="003300"/>
                </a:solidFill>
                <a:latin typeface="Arial"/>
                <a:cs typeface="Arial"/>
              </a:rPr>
              <a:t>e.g., forecasting sales </a:t>
            </a:r>
            <a:r>
              <a:rPr sz="2800" b="1" i="1" spc="-5" dirty="0">
                <a:solidFill>
                  <a:srgbClr val="003300"/>
                </a:solidFill>
                <a:latin typeface="Arial"/>
                <a:cs typeface="Arial"/>
              </a:rPr>
              <a:t>on</a:t>
            </a:r>
            <a:r>
              <a:rPr sz="2800" b="1" i="1" spc="-70" dirty="0">
                <a:solidFill>
                  <a:srgbClr val="003300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solidFill>
                  <a:srgbClr val="003300"/>
                </a:solidFill>
                <a:latin typeface="Arial"/>
                <a:cs typeface="Arial"/>
              </a:rPr>
              <a:t>Internet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6504431"/>
            <a:ext cx="1801495" cy="353695"/>
          </a:xfrm>
          <a:custGeom>
            <a:avLst/>
            <a:gdLst/>
            <a:ahLst/>
            <a:cxnLst/>
            <a:rect l="l" t="t" r="r" b="b"/>
            <a:pathLst>
              <a:path w="1801495" h="353695">
                <a:moveTo>
                  <a:pt x="1801368" y="0"/>
                </a:moveTo>
                <a:lnTo>
                  <a:pt x="0" y="0"/>
                </a:lnTo>
                <a:lnTo>
                  <a:pt x="0" y="353568"/>
                </a:lnTo>
                <a:lnTo>
                  <a:pt x="1801368" y="353568"/>
                </a:lnTo>
                <a:lnTo>
                  <a:pt x="18013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327392" y="6504431"/>
            <a:ext cx="1804670" cy="353695"/>
          </a:xfrm>
          <a:custGeom>
            <a:avLst/>
            <a:gdLst/>
            <a:ahLst/>
            <a:cxnLst/>
            <a:rect l="l" t="t" r="r" b="b"/>
            <a:pathLst>
              <a:path w="1804670" h="353695">
                <a:moveTo>
                  <a:pt x="1804416" y="0"/>
                </a:moveTo>
                <a:lnTo>
                  <a:pt x="0" y="0"/>
                </a:lnTo>
                <a:lnTo>
                  <a:pt x="0" y="353568"/>
                </a:lnTo>
                <a:lnTo>
                  <a:pt x="1804416" y="353568"/>
                </a:lnTo>
                <a:lnTo>
                  <a:pt x="18044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EF623C3-7AD3-B9EC-2EFD-B0908594406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0462C1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0462C1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89213" y="6638266"/>
            <a:ext cx="32004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0462C1"/>
                </a:solidFill>
                <a:latin typeface="Arial"/>
                <a:cs typeface="Arial"/>
              </a:rPr>
              <a:t>4 –</a:t>
            </a:r>
            <a:r>
              <a:rPr sz="900" b="1" spc="-10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462C1"/>
                </a:solidFill>
                <a:latin typeface="Arial"/>
                <a:cs typeface="Arial"/>
              </a:rPr>
              <a:t>10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87323" y="653795"/>
            <a:ext cx="7772400" cy="970915"/>
            <a:chOff x="687323" y="653795"/>
            <a:chExt cx="7772400" cy="970915"/>
          </a:xfrm>
        </p:grpSpPr>
        <p:sp>
          <p:nvSpPr>
            <p:cNvPr id="5" name="object 5"/>
            <p:cNvSpPr/>
            <p:nvPr/>
          </p:nvSpPr>
          <p:spPr>
            <a:xfrm>
              <a:off x="687323" y="653795"/>
              <a:ext cx="7772400" cy="896619"/>
            </a:xfrm>
            <a:custGeom>
              <a:avLst/>
              <a:gdLst/>
              <a:ahLst/>
              <a:cxnLst/>
              <a:rect l="l" t="t" r="r" b="b"/>
              <a:pathLst>
                <a:path w="7772400" h="896619">
                  <a:moveTo>
                    <a:pt x="7772400" y="0"/>
                  </a:moveTo>
                  <a:lnTo>
                    <a:pt x="0" y="0"/>
                  </a:lnTo>
                  <a:lnTo>
                    <a:pt x="0" y="896112"/>
                  </a:lnTo>
                  <a:lnTo>
                    <a:pt x="7772400" y="896112"/>
                  </a:lnTo>
                  <a:lnTo>
                    <a:pt x="7772400" y="0"/>
                  </a:lnTo>
                  <a:close/>
                </a:path>
              </a:pathLst>
            </a:custGeom>
            <a:solidFill>
              <a:srgbClr val="2EFF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04287" y="682751"/>
              <a:ext cx="4575048" cy="94183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87323" y="653795"/>
            <a:ext cx="7772400" cy="896619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142875" rIns="0" bIns="0" rtlCol="0">
            <a:spAutoFit/>
          </a:bodyPr>
          <a:lstStyle/>
          <a:p>
            <a:pPr marL="8255" algn="ctr">
              <a:lnSpc>
                <a:spcPct val="100000"/>
              </a:lnSpc>
              <a:spcBef>
                <a:spcPts val="1125"/>
              </a:spcBef>
            </a:pPr>
            <a:r>
              <a:rPr sz="3300" spc="-170" dirty="0">
                <a:latin typeface="Trebuchet MS"/>
                <a:cs typeface="Trebuchet MS"/>
              </a:rPr>
              <a:t>Forecasting</a:t>
            </a:r>
            <a:r>
              <a:rPr sz="3300" spc="-295" dirty="0">
                <a:latin typeface="Trebuchet MS"/>
                <a:cs typeface="Trebuchet MS"/>
              </a:rPr>
              <a:t> </a:t>
            </a:r>
            <a:r>
              <a:rPr sz="3300" spc="-130" dirty="0">
                <a:latin typeface="Trebuchet MS"/>
                <a:cs typeface="Trebuchet MS"/>
              </a:rPr>
              <a:t>Approaches</a:t>
            </a:r>
            <a:endParaRPr sz="330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8288" y="1519072"/>
            <a:ext cx="7228205" cy="4596130"/>
          </a:xfrm>
          <a:prstGeom prst="rect">
            <a:avLst/>
          </a:prstGeom>
        </p:spPr>
        <p:txBody>
          <a:bodyPr vert="horz" wrap="square" lIns="0" tIns="248920" rIns="0" bIns="0" rtlCol="0">
            <a:spAutoFit/>
          </a:bodyPr>
          <a:lstStyle/>
          <a:p>
            <a:pPr marL="137160" algn="ctr">
              <a:lnSpc>
                <a:spcPct val="100000"/>
              </a:lnSpc>
              <a:spcBef>
                <a:spcPts val="1960"/>
              </a:spcBef>
            </a:pPr>
            <a:r>
              <a:rPr sz="3200" b="1" i="1" spc="-10" dirty="0">
                <a:solidFill>
                  <a:srgbClr val="0462C1"/>
                </a:solidFill>
                <a:latin typeface="Arial"/>
                <a:cs typeface="Arial"/>
              </a:rPr>
              <a:t>Quantitative</a:t>
            </a:r>
            <a:r>
              <a:rPr sz="3200" b="1" i="1" spc="30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3200" b="1" i="1" spc="-15" dirty="0">
                <a:solidFill>
                  <a:srgbClr val="0462C1"/>
                </a:solidFill>
                <a:latin typeface="Arial"/>
                <a:cs typeface="Arial"/>
              </a:rPr>
              <a:t>Methods</a:t>
            </a:r>
            <a:endParaRPr sz="3200">
              <a:latin typeface="Arial"/>
              <a:cs typeface="Arial"/>
            </a:endParaRPr>
          </a:p>
          <a:p>
            <a:pPr marL="484505" marR="5080" indent="-472440">
              <a:lnSpc>
                <a:spcPts val="3460"/>
              </a:lnSpc>
              <a:spcBef>
                <a:spcPts val="2300"/>
              </a:spcBef>
              <a:buFont typeface="Wingdings"/>
              <a:buChar char=""/>
              <a:tabLst>
                <a:tab pos="485140" algn="l"/>
              </a:tabLst>
            </a:pPr>
            <a:r>
              <a:rPr sz="3200" b="1" i="1" spc="-10" dirty="0">
                <a:latin typeface="Arial"/>
                <a:cs typeface="Arial"/>
              </a:rPr>
              <a:t>Used when situation </a:t>
            </a:r>
            <a:r>
              <a:rPr sz="3200" b="1" i="1" spc="-5" dirty="0">
                <a:latin typeface="Arial"/>
                <a:cs typeface="Arial"/>
              </a:rPr>
              <a:t>is </a:t>
            </a:r>
            <a:r>
              <a:rPr sz="3200" b="1" i="1" spc="-15" dirty="0">
                <a:latin typeface="Arial"/>
                <a:cs typeface="Arial"/>
              </a:rPr>
              <a:t>‘stable’ </a:t>
            </a:r>
            <a:r>
              <a:rPr sz="3200" b="1" i="1" spc="-10" dirty="0">
                <a:latin typeface="Arial"/>
                <a:cs typeface="Arial"/>
              </a:rPr>
              <a:t>and  </a:t>
            </a:r>
            <a:r>
              <a:rPr sz="3200" b="1" i="1" spc="-5" dirty="0">
                <a:latin typeface="Arial"/>
                <a:cs typeface="Arial"/>
              </a:rPr>
              <a:t>historical data</a:t>
            </a:r>
            <a:r>
              <a:rPr sz="3200" b="1" i="1" spc="25" dirty="0">
                <a:latin typeface="Arial"/>
                <a:cs typeface="Arial"/>
              </a:rPr>
              <a:t> </a:t>
            </a:r>
            <a:r>
              <a:rPr sz="3200" b="1" i="1" spc="-5" dirty="0">
                <a:latin typeface="Arial"/>
                <a:cs typeface="Arial"/>
              </a:rPr>
              <a:t>exist</a:t>
            </a:r>
            <a:endParaRPr sz="3200">
              <a:latin typeface="Arial"/>
              <a:cs typeface="Arial"/>
            </a:endParaRPr>
          </a:p>
          <a:p>
            <a:pPr marL="1152525" lvl="1" indent="-478790">
              <a:lnSpc>
                <a:spcPct val="100000"/>
              </a:lnSpc>
              <a:spcBef>
                <a:spcPts val="944"/>
              </a:spcBef>
              <a:buFont typeface="Wingdings"/>
              <a:buChar char=""/>
              <a:tabLst>
                <a:tab pos="1152525" algn="l"/>
                <a:tab pos="1153160" algn="l"/>
              </a:tabLst>
            </a:pPr>
            <a:r>
              <a:rPr sz="2800" b="1" i="1" dirty="0">
                <a:latin typeface="Arial"/>
                <a:cs typeface="Arial"/>
              </a:rPr>
              <a:t>Existing</a:t>
            </a:r>
            <a:r>
              <a:rPr sz="2800" b="1" i="1" spc="-50" dirty="0">
                <a:latin typeface="Arial"/>
                <a:cs typeface="Arial"/>
              </a:rPr>
              <a:t> </a:t>
            </a:r>
            <a:r>
              <a:rPr sz="2800" b="1" i="1" spc="-5" dirty="0">
                <a:latin typeface="Arial"/>
                <a:cs typeface="Arial"/>
              </a:rPr>
              <a:t>products</a:t>
            </a:r>
            <a:endParaRPr sz="2800">
              <a:latin typeface="Arial"/>
              <a:cs typeface="Arial"/>
            </a:endParaRPr>
          </a:p>
          <a:p>
            <a:pPr marL="1152525" lvl="1" indent="-478790">
              <a:lnSpc>
                <a:spcPct val="100000"/>
              </a:lnSpc>
              <a:spcBef>
                <a:spcPts val="1010"/>
              </a:spcBef>
              <a:buFont typeface="Wingdings"/>
              <a:buChar char=""/>
              <a:tabLst>
                <a:tab pos="1152525" algn="l"/>
                <a:tab pos="1153160" algn="l"/>
              </a:tabLst>
            </a:pPr>
            <a:r>
              <a:rPr sz="2800" b="1" i="1" spc="-5" dirty="0">
                <a:latin typeface="Arial"/>
                <a:cs typeface="Arial"/>
              </a:rPr>
              <a:t>Current</a:t>
            </a:r>
            <a:r>
              <a:rPr sz="2800" b="1" i="1" spc="-15" dirty="0">
                <a:latin typeface="Arial"/>
                <a:cs typeface="Arial"/>
              </a:rPr>
              <a:t> </a:t>
            </a:r>
            <a:r>
              <a:rPr sz="2800" b="1" i="1" spc="-5" dirty="0">
                <a:latin typeface="Arial"/>
                <a:cs typeface="Arial"/>
              </a:rPr>
              <a:t>technology</a:t>
            </a:r>
            <a:endParaRPr sz="2800">
              <a:latin typeface="Arial"/>
              <a:cs typeface="Arial"/>
            </a:endParaRPr>
          </a:p>
          <a:p>
            <a:pPr marL="484505" indent="-472440">
              <a:lnSpc>
                <a:spcPct val="100000"/>
              </a:lnSpc>
              <a:spcBef>
                <a:spcPts val="1160"/>
              </a:spcBef>
              <a:buFont typeface="Wingdings"/>
              <a:buChar char=""/>
              <a:tabLst>
                <a:tab pos="485140" algn="l"/>
              </a:tabLst>
            </a:pPr>
            <a:r>
              <a:rPr sz="3200" b="1" i="1" spc="-5" dirty="0">
                <a:latin typeface="Arial"/>
                <a:cs typeface="Arial"/>
              </a:rPr>
              <a:t>Involves mathematical</a:t>
            </a:r>
            <a:r>
              <a:rPr sz="3200" b="1" i="1" spc="5" dirty="0">
                <a:latin typeface="Arial"/>
                <a:cs typeface="Arial"/>
              </a:rPr>
              <a:t> </a:t>
            </a:r>
            <a:r>
              <a:rPr sz="3200" b="1" i="1" spc="-5" dirty="0">
                <a:latin typeface="Arial"/>
                <a:cs typeface="Arial"/>
              </a:rPr>
              <a:t>techniques</a:t>
            </a:r>
            <a:endParaRPr sz="3200">
              <a:latin typeface="Arial"/>
              <a:cs typeface="Arial"/>
            </a:endParaRPr>
          </a:p>
          <a:p>
            <a:pPr marL="1152525" marR="944880" lvl="1" indent="-478790">
              <a:lnSpc>
                <a:spcPts val="3030"/>
              </a:lnSpc>
              <a:spcBef>
                <a:spcPts val="1380"/>
              </a:spcBef>
              <a:buFont typeface="Wingdings"/>
              <a:buChar char=""/>
              <a:tabLst>
                <a:tab pos="1152525" algn="l"/>
                <a:tab pos="1153160" algn="l"/>
              </a:tabLst>
            </a:pPr>
            <a:r>
              <a:rPr sz="2800" b="1" i="1" dirty="0">
                <a:latin typeface="Arial"/>
                <a:cs typeface="Arial"/>
              </a:rPr>
              <a:t>e.g., forecasting sales </a:t>
            </a:r>
            <a:r>
              <a:rPr sz="2800" b="1" i="1" spc="-5" dirty="0">
                <a:latin typeface="Arial"/>
                <a:cs typeface="Arial"/>
              </a:rPr>
              <a:t>of</a:t>
            </a:r>
            <a:r>
              <a:rPr sz="2800" b="1" i="1" spc="-65" dirty="0">
                <a:latin typeface="Arial"/>
                <a:cs typeface="Arial"/>
              </a:rPr>
              <a:t> </a:t>
            </a:r>
            <a:r>
              <a:rPr sz="2800" b="1" i="1" spc="-5" dirty="0">
                <a:latin typeface="Arial"/>
                <a:cs typeface="Arial"/>
              </a:rPr>
              <a:t>color  </a:t>
            </a:r>
            <a:r>
              <a:rPr sz="2800" b="1" i="1" dirty="0">
                <a:latin typeface="Arial"/>
                <a:cs typeface="Arial"/>
              </a:rPr>
              <a:t>televisions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6504431"/>
            <a:ext cx="1801495" cy="353695"/>
          </a:xfrm>
          <a:custGeom>
            <a:avLst/>
            <a:gdLst/>
            <a:ahLst/>
            <a:cxnLst/>
            <a:rect l="l" t="t" r="r" b="b"/>
            <a:pathLst>
              <a:path w="1801495" h="353695">
                <a:moveTo>
                  <a:pt x="1801368" y="0"/>
                </a:moveTo>
                <a:lnTo>
                  <a:pt x="0" y="0"/>
                </a:lnTo>
                <a:lnTo>
                  <a:pt x="0" y="353568"/>
                </a:lnTo>
                <a:lnTo>
                  <a:pt x="1801368" y="353568"/>
                </a:lnTo>
                <a:lnTo>
                  <a:pt x="18013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327392" y="6504431"/>
            <a:ext cx="1804670" cy="353695"/>
          </a:xfrm>
          <a:custGeom>
            <a:avLst/>
            <a:gdLst/>
            <a:ahLst/>
            <a:cxnLst/>
            <a:rect l="l" t="t" r="r" b="b"/>
            <a:pathLst>
              <a:path w="1804670" h="353695">
                <a:moveTo>
                  <a:pt x="1804416" y="0"/>
                </a:moveTo>
                <a:lnTo>
                  <a:pt x="0" y="0"/>
                </a:lnTo>
                <a:lnTo>
                  <a:pt x="0" y="353568"/>
                </a:lnTo>
                <a:lnTo>
                  <a:pt x="1804416" y="353568"/>
                </a:lnTo>
                <a:lnTo>
                  <a:pt x="18044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5A0C643-4474-D360-11DE-48498454689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0462C1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0462C1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89213" y="6638266"/>
            <a:ext cx="32004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0462C1"/>
                </a:solidFill>
                <a:latin typeface="Arial"/>
                <a:cs typeface="Arial"/>
              </a:rPr>
              <a:t>4 –</a:t>
            </a:r>
            <a:r>
              <a:rPr sz="900" b="1" spc="-10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462C1"/>
                </a:solidFill>
                <a:latin typeface="Arial"/>
                <a:cs typeface="Arial"/>
              </a:rPr>
              <a:t>11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78964" y="853439"/>
            <a:ext cx="4411980" cy="4434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356485" y="698449"/>
            <a:ext cx="44335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Forecasting</a:t>
            </a:r>
            <a:r>
              <a:rPr spc="-285" dirty="0"/>
              <a:t> </a:t>
            </a:r>
            <a:r>
              <a:rPr dirty="0"/>
              <a:t>Approaches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07542" y="1707095"/>
            <a:ext cx="3418840" cy="233108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3200" spc="-5" dirty="0">
                <a:latin typeface="Times New Roman"/>
                <a:cs typeface="Times New Roman"/>
              </a:rPr>
              <a:t>Qualitative Methods</a:t>
            </a:r>
            <a:endParaRPr sz="3200" dirty="0">
              <a:latin typeface="Times New Roman"/>
              <a:cs typeface="Times New Roman"/>
            </a:endParaRPr>
          </a:p>
          <a:p>
            <a:pPr marL="183515" indent="-171450">
              <a:lnSpc>
                <a:spcPct val="100000"/>
              </a:lnSpc>
              <a:spcBef>
                <a:spcPts val="540"/>
              </a:spcBef>
              <a:buFont typeface="Arial"/>
              <a:buChar char="•"/>
              <a:tabLst>
                <a:tab pos="184150" algn="l"/>
              </a:tabLst>
            </a:pPr>
            <a:r>
              <a:rPr sz="2400" dirty="0">
                <a:latin typeface="Times New Roman"/>
                <a:cs typeface="Times New Roman"/>
              </a:rPr>
              <a:t>Jury of Executive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Opinion</a:t>
            </a:r>
          </a:p>
          <a:p>
            <a:pPr marL="183515" indent="-17145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184150" algn="l"/>
              </a:tabLst>
            </a:pPr>
            <a:r>
              <a:rPr sz="2400" spc="-5" dirty="0">
                <a:latin typeface="Times New Roman"/>
                <a:cs typeface="Times New Roman"/>
              </a:rPr>
              <a:t>Sales </a:t>
            </a:r>
            <a:r>
              <a:rPr sz="2400" spc="-10" dirty="0">
                <a:latin typeface="Times New Roman"/>
                <a:cs typeface="Times New Roman"/>
              </a:rPr>
              <a:t>Force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Composite</a:t>
            </a:r>
          </a:p>
          <a:p>
            <a:pPr marL="183515" indent="-171450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184150" algn="l"/>
              </a:tabLst>
            </a:pPr>
            <a:r>
              <a:rPr sz="2400" spc="-5" dirty="0">
                <a:latin typeface="Times New Roman"/>
                <a:cs typeface="Times New Roman"/>
              </a:rPr>
              <a:t>Delphi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Method</a:t>
            </a:r>
            <a:endParaRPr sz="2400" dirty="0">
              <a:latin typeface="Times New Roman"/>
              <a:cs typeface="Times New Roman"/>
            </a:endParaRPr>
          </a:p>
          <a:p>
            <a:pPr marL="183515" indent="-17145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184150" algn="l"/>
              </a:tabLst>
            </a:pPr>
            <a:r>
              <a:rPr sz="2400" spc="-5" dirty="0">
                <a:latin typeface="Times New Roman"/>
                <a:cs typeface="Times New Roman"/>
              </a:rPr>
              <a:t>Consumer </a:t>
            </a:r>
            <a:r>
              <a:rPr sz="2400" spc="-10" dirty="0">
                <a:latin typeface="Times New Roman"/>
                <a:cs typeface="Times New Roman"/>
              </a:rPr>
              <a:t>Market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Survey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09540" y="1707095"/>
            <a:ext cx="3557904" cy="318516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3200" spc="-5" dirty="0">
                <a:latin typeface="Times New Roman"/>
                <a:cs typeface="Times New Roman"/>
              </a:rPr>
              <a:t>Quantitative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Methods</a:t>
            </a:r>
            <a:endParaRPr sz="3200" dirty="0">
              <a:latin typeface="Times New Roman"/>
              <a:cs typeface="Times New Roman"/>
            </a:endParaRPr>
          </a:p>
          <a:p>
            <a:pPr marL="182880" indent="-170815">
              <a:lnSpc>
                <a:spcPct val="100000"/>
              </a:lnSpc>
              <a:spcBef>
                <a:spcPts val="540"/>
              </a:spcBef>
              <a:buFont typeface="Arial"/>
              <a:buChar char="•"/>
              <a:tabLst>
                <a:tab pos="183515" algn="l"/>
              </a:tabLst>
            </a:pPr>
            <a:r>
              <a:rPr sz="2400" spc="-5" dirty="0">
                <a:latin typeface="Times New Roman"/>
                <a:cs typeface="Times New Roman"/>
              </a:rPr>
              <a:t>Naive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approach</a:t>
            </a:r>
            <a:endParaRPr sz="2400" dirty="0">
              <a:latin typeface="Times New Roman"/>
              <a:cs typeface="Times New Roman"/>
            </a:endParaRPr>
          </a:p>
          <a:p>
            <a:pPr marL="182880" indent="-17081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183515" algn="l"/>
              </a:tabLst>
            </a:pPr>
            <a:r>
              <a:rPr sz="2400" dirty="0">
                <a:latin typeface="Times New Roman"/>
                <a:cs typeface="Times New Roman"/>
              </a:rPr>
              <a:t>Moving</a:t>
            </a:r>
            <a:r>
              <a:rPr sz="2400" spc="-10" dirty="0">
                <a:latin typeface="Times New Roman"/>
                <a:cs typeface="Times New Roman"/>
              </a:rPr>
              <a:t> average</a:t>
            </a:r>
            <a:endParaRPr sz="2400" dirty="0">
              <a:latin typeface="Times New Roman"/>
              <a:cs typeface="Times New Roman"/>
            </a:endParaRPr>
          </a:p>
          <a:p>
            <a:pPr marL="182880" indent="-170815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183515" algn="l"/>
              </a:tabLst>
            </a:pPr>
            <a:r>
              <a:rPr sz="2400" spc="-30" dirty="0">
                <a:latin typeface="Times New Roman"/>
                <a:cs typeface="Times New Roman"/>
              </a:rPr>
              <a:t>Weighted </a:t>
            </a:r>
            <a:r>
              <a:rPr sz="2400" dirty="0">
                <a:latin typeface="Times New Roman"/>
                <a:cs typeface="Times New Roman"/>
              </a:rPr>
              <a:t>moving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average</a:t>
            </a:r>
            <a:endParaRPr sz="2400" dirty="0">
              <a:latin typeface="Times New Roman"/>
              <a:cs typeface="Times New Roman"/>
            </a:endParaRPr>
          </a:p>
          <a:p>
            <a:pPr marL="182880" indent="-17081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183515" algn="l"/>
              </a:tabLst>
            </a:pPr>
            <a:r>
              <a:rPr sz="2400" dirty="0">
                <a:latin typeface="Times New Roman"/>
                <a:cs typeface="Times New Roman"/>
              </a:rPr>
              <a:t>Exponential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Smoothing</a:t>
            </a:r>
          </a:p>
          <a:p>
            <a:pPr marL="182880" indent="-17081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183515" algn="l"/>
              </a:tabLst>
            </a:pPr>
            <a:r>
              <a:rPr sz="2400" spc="-25" dirty="0">
                <a:latin typeface="Times New Roman"/>
                <a:cs typeface="Times New Roman"/>
              </a:rPr>
              <a:t>Trend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Projection</a:t>
            </a:r>
            <a:endParaRPr sz="2400" dirty="0">
              <a:latin typeface="Times New Roman"/>
              <a:cs typeface="Times New Roman"/>
            </a:endParaRPr>
          </a:p>
          <a:p>
            <a:pPr marL="182880" indent="-170815">
              <a:lnSpc>
                <a:spcPct val="100000"/>
              </a:lnSpc>
              <a:spcBef>
                <a:spcPts val="459"/>
              </a:spcBef>
              <a:buFont typeface="Arial"/>
              <a:buChar char="•"/>
              <a:tabLst>
                <a:tab pos="183515" algn="l"/>
              </a:tabLst>
            </a:pPr>
            <a:r>
              <a:rPr sz="2400" spc="-15" dirty="0">
                <a:latin typeface="Times New Roman"/>
                <a:cs typeface="Times New Roman"/>
              </a:rPr>
              <a:t>Linear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Regression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6504431"/>
            <a:ext cx="1801495" cy="353695"/>
          </a:xfrm>
          <a:custGeom>
            <a:avLst/>
            <a:gdLst/>
            <a:ahLst/>
            <a:cxnLst/>
            <a:rect l="l" t="t" r="r" b="b"/>
            <a:pathLst>
              <a:path w="1801495" h="353695">
                <a:moveTo>
                  <a:pt x="1801368" y="0"/>
                </a:moveTo>
                <a:lnTo>
                  <a:pt x="0" y="0"/>
                </a:lnTo>
                <a:lnTo>
                  <a:pt x="0" y="353568"/>
                </a:lnTo>
                <a:lnTo>
                  <a:pt x="1801368" y="353568"/>
                </a:lnTo>
                <a:lnTo>
                  <a:pt x="18013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27392" y="6504431"/>
            <a:ext cx="1804670" cy="353695"/>
          </a:xfrm>
          <a:custGeom>
            <a:avLst/>
            <a:gdLst/>
            <a:ahLst/>
            <a:cxnLst/>
            <a:rect l="l" t="t" r="r" b="b"/>
            <a:pathLst>
              <a:path w="1804670" h="353695">
                <a:moveTo>
                  <a:pt x="1804416" y="0"/>
                </a:moveTo>
                <a:lnTo>
                  <a:pt x="0" y="0"/>
                </a:lnTo>
                <a:lnTo>
                  <a:pt x="0" y="353568"/>
                </a:lnTo>
                <a:lnTo>
                  <a:pt x="1804416" y="353568"/>
                </a:lnTo>
                <a:lnTo>
                  <a:pt x="18044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8B53AD0-1A99-8C7B-2BDF-50897414DC5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0462C1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0462C1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89213" y="6638266"/>
            <a:ext cx="32004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0462C1"/>
                </a:solidFill>
                <a:latin typeface="Arial"/>
                <a:cs typeface="Arial"/>
              </a:rPr>
              <a:t>4 –</a:t>
            </a:r>
            <a:r>
              <a:rPr sz="900" b="1" spc="-10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462C1"/>
                </a:solidFill>
                <a:latin typeface="Arial"/>
                <a:cs typeface="Arial"/>
              </a:rPr>
              <a:t>11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78964" y="853439"/>
            <a:ext cx="4411980" cy="4434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0" y="6504431"/>
            <a:ext cx="1801495" cy="353695"/>
          </a:xfrm>
          <a:custGeom>
            <a:avLst/>
            <a:gdLst/>
            <a:ahLst/>
            <a:cxnLst/>
            <a:rect l="l" t="t" r="r" b="b"/>
            <a:pathLst>
              <a:path w="1801495" h="353695">
                <a:moveTo>
                  <a:pt x="1801368" y="0"/>
                </a:moveTo>
                <a:lnTo>
                  <a:pt x="0" y="0"/>
                </a:lnTo>
                <a:lnTo>
                  <a:pt x="0" y="353568"/>
                </a:lnTo>
                <a:lnTo>
                  <a:pt x="1801368" y="353568"/>
                </a:lnTo>
                <a:lnTo>
                  <a:pt x="18013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27392" y="6504431"/>
            <a:ext cx="1804670" cy="353695"/>
          </a:xfrm>
          <a:custGeom>
            <a:avLst/>
            <a:gdLst/>
            <a:ahLst/>
            <a:cxnLst/>
            <a:rect l="l" t="t" r="r" b="b"/>
            <a:pathLst>
              <a:path w="1804670" h="353695">
                <a:moveTo>
                  <a:pt x="1804416" y="0"/>
                </a:moveTo>
                <a:lnTo>
                  <a:pt x="0" y="0"/>
                </a:lnTo>
                <a:lnTo>
                  <a:pt x="0" y="353568"/>
                </a:lnTo>
                <a:lnTo>
                  <a:pt x="1804416" y="353568"/>
                </a:lnTo>
                <a:lnTo>
                  <a:pt x="18044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/>
          <a:srcRect l="1079" t="2963" r="2835" b="2223"/>
          <a:stretch/>
        </p:blipFill>
        <p:spPr>
          <a:xfrm>
            <a:off x="477090" y="304800"/>
            <a:ext cx="8220084" cy="591107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371E79-69FB-3839-C538-1E7870276A9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48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0462C1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0462C1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89213" y="6638266"/>
            <a:ext cx="32004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0462C1"/>
                </a:solidFill>
                <a:latin typeface="Arial"/>
                <a:cs typeface="Arial"/>
              </a:rPr>
              <a:t>4 –</a:t>
            </a:r>
            <a:r>
              <a:rPr sz="900" b="1" spc="-10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462C1"/>
                </a:solidFill>
                <a:latin typeface="Arial"/>
                <a:cs typeface="Arial"/>
              </a:rPr>
              <a:t>11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78964" y="853439"/>
            <a:ext cx="4411980" cy="4434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0" y="6504431"/>
            <a:ext cx="1801495" cy="353695"/>
          </a:xfrm>
          <a:custGeom>
            <a:avLst/>
            <a:gdLst/>
            <a:ahLst/>
            <a:cxnLst/>
            <a:rect l="l" t="t" r="r" b="b"/>
            <a:pathLst>
              <a:path w="1801495" h="353695">
                <a:moveTo>
                  <a:pt x="1801368" y="0"/>
                </a:moveTo>
                <a:lnTo>
                  <a:pt x="0" y="0"/>
                </a:lnTo>
                <a:lnTo>
                  <a:pt x="0" y="353568"/>
                </a:lnTo>
                <a:lnTo>
                  <a:pt x="1801368" y="353568"/>
                </a:lnTo>
                <a:lnTo>
                  <a:pt x="18013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27392" y="6504431"/>
            <a:ext cx="1804670" cy="353695"/>
          </a:xfrm>
          <a:custGeom>
            <a:avLst/>
            <a:gdLst/>
            <a:ahLst/>
            <a:cxnLst/>
            <a:rect l="l" t="t" r="r" b="b"/>
            <a:pathLst>
              <a:path w="1804670" h="353695">
                <a:moveTo>
                  <a:pt x="1804416" y="0"/>
                </a:moveTo>
                <a:lnTo>
                  <a:pt x="0" y="0"/>
                </a:lnTo>
                <a:lnTo>
                  <a:pt x="0" y="353568"/>
                </a:lnTo>
                <a:lnTo>
                  <a:pt x="1804416" y="353568"/>
                </a:lnTo>
                <a:lnTo>
                  <a:pt x="18044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1322" t="1751" r="2381" b="3308"/>
          <a:stretch/>
        </p:blipFill>
        <p:spPr>
          <a:xfrm>
            <a:off x="726249" y="685800"/>
            <a:ext cx="7957277" cy="5334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DAFB3-E60E-8333-3A61-09AC0865ADA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643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0462C1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0462C1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89213" y="6638266"/>
            <a:ext cx="32004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0462C1"/>
                </a:solidFill>
                <a:latin typeface="Arial"/>
                <a:cs typeface="Arial"/>
              </a:rPr>
              <a:t>4 –</a:t>
            </a:r>
            <a:r>
              <a:rPr sz="900" b="1" spc="-10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462C1"/>
                </a:solidFill>
                <a:latin typeface="Arial"/>
                <a:cs typeface="Arial"/>
              </a:rPr>
              <a:t>15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15567" y="1019555"/>
            <a:ext cx="6949440" cy="4434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85494" y="862406"/>
            <a:ext cx="697293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Overview of Quantitative</a:t>
            </a:r>
            <a:r>
              <a:rPr spc="-305" dirty="0"/>
              <a:t> </a:t>
            </a:r>
            <a:r>
              <a:rPr dirty="0"/>
              <a:t>Approaches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73379" y="2138172"/>
            <a:ext cx="3341370" cy="217868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494030" indent="-481965">
              <a:lnSpc>
                <a:spcPct val="100000"/>
              </a:lnSpc>
              <a:spcBef>
                <a:spcPts val="605"/>
              </a:spcBef>
              <a:buAutoNum type="arabicPeriod"/>
              <a:tabLst>
                <a:tab pos="494030" algn="l"/>
                <a:tab pos="494665" algn="l"/>
              </a:tabLst>
            </a:pPr>
            <a:r>
              <a:rPr sz="2400" spc="-5" dirty="0">
                <a:latin typeface="Times New Roman"/>
                <a:cs typeface="Times New Roman"/>
              </a:rPr>
              <a:t>Naive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approach</a:t>
            </a:r>
            <a:endParaRPr sz="2400">
              <a:latin typeface="Times New Roman"/>
              <a:cs typeface="Times New Roman"/>
            </a:endParaRPr>
          </a:p>
          <a:p>
            <a:pPr marL="494030" indent="-481965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494030" algn="l"/>
                <a:tab pos="494665" algn="l"/>
              </a:tabLst>
            </a:pPr>
            <a:r>
              <a:rPr sz="2400" dirty="0">
                <a:latin typeface="Times New Roman"/>
                <a:cs typeface="Times New Roman"/>
              </a:rPr>
              <a:t>Moving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averages</a:t>
            </a:r>
            <a:endParaRPr sz="2400">
              <a:latin typeface="Times New Roman"/>
              <a:cs typeface="Times New Roman"/>
            </a:endParaRPr>
          </a:p>
          <a:p>
            <a:pPr marL="494030" indent="-481965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494030" algn="l"/>
                <a:tab pos="494665" algn="l"/>
              </a:tabLst>
            </a:pPr>
            <a:r>
              <a:rPr sz="2400" dirty="0">
                <a:latin typeface="Times New Roman"/>
                <a:cs typeface="Times New Roman"/>
              </a:rPr>
              <a:t>Exponential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smoothing</a:t>
            </a:r>
            <a:endParaRPr sz="2400">
              <a:latin typeface="Times New Roman"/>
              <a:cs typeface="Times New Roman"/>
            </a:endParaRPr>
          </a:p>
          <a:p>
            <a:pPr marL="494030" indent="-481965">
              <a:lnSpc>
                <a:spcPct val="100000"/>
              </a:lnSpc>
              <a:spcBef>
                <a:spcPts val="530"/>
              </a:spcBef>
              <a:buAutoNum type="arabicPeriod"/>
              <a:tabLst>
                <a:tab pos="494030" algn="l"/>
                <a:tab pos="494665" algn="l"/>
              </a:tabLst>
            </a:pPr>
            <a:r>
              <a:rPr sz="2400" spc="-25" dirty="0">
                <a:latin typeface="Times New Roman"/>
                <a:cs typeface="Times New Roman"/>
              </a:rPr>
              <a:t>Trend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projection</a:t>
            </a:r>
            <a:endParaRPr sz="2400">
              <a:latin typeface="Times New Roman"/>
              <a:cs typeface="Times New Roman"/>
            </a:endParaRPr>
          </a:p>
          <a:p>
            <a:pPr marL="494030" indent="-481965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494030" algn="l"/>
                <a:tab pos="494665" algn="l"/>
              </a:tabLst>
            </a:pPr>
            <a:r>
              <a:rPr sz="2400" spc="-15" dirty="0">
                <a:latin typeface="Times New Roman"/>
                <a:cs typeface="Times New Roman"/>
              </a:rPr>
              <a:t>Linear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regression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321552" y="2758439"/>
            <a:ext cx="1758950" cy="993775"/>
            <a:chOff x="6321552" y="2758439"/>
            <a:chExt cx="1758950" cy="993775"/>
          </a:xfrm>
        </p:grpSpPr>
        <p:sp>
          <p:nvSpPr>
            <p:cNvPr id="8" name="object 8"/>
            <p:cNvSpPr/>
            <p:nvPr/>
          </p:nvSpPr>
          <p:spPr>
            <a:xfrm>
              <a:off x="6321552" y="2946311"/>
              <a:ext cx="635508" cy="2382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736080" y="2758439"/>
              <a:ext cx="509016" cy="68275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836664" y="2758439"/>
              <a:ext cx="1243583" cy="68275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94704" y="3069335"/>
              <a:ext cx="1322831" cy="68275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284214" y="2835655"/>
            <a:ext cx="1522095" cy="70231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305435" marR="5080" indent="-293370">
              <a:lnSpc>
                <a:spcPts val="2450"/>
              </a:lnSpc>
              <a:spcBef>
                <a:spcPts val="540"/>
              </a:spcBef>
            </a:pPr>
            <a:r>
              <a:rPr sz="2400" b="1" i="1" spc="-100" dirty="0">
                <a:latin typeface="Times New Roman"/>
                <a:cs typeface="Times New Roman"/>
              </a:rPr>
              <a:t>T</a:t>
            </a:r>
            <a:r>
              <a:rPr sz="2400" b="1" i="1" dirty="0">
                <a:latin typeface="Times New Roman"/>
                <a:cs typeface="Times New Roman"/>
              </a:rPr>
              <a:t>i</a:t>
            </a:r>
            <a:r>
              <a:rPr sz="2400" b="1" i="1" spc="30" dirty="0">
                <a:latin typeface="Times New Roman"/>
                <a:cs typeface="Times New Roman"/>
              </a:rPr>
              <a:t>m</a:t>
            </a:r>
            <a:r>
              <a:rPr sz="2400" b="1" i="1" spc="-10" dirty="0">
                <a:latin typeface="Times New Roman"/>
                <a:cs typeface="Times New Roman"/>
              </a:rPr>
              <a:t>e-</a:t>
            </a:r>
            <a:r>
              <a:rPr sz="2400" b="1" i="1" dirty="0">
                <a:latin typeface="Times New Roman"/>
                <a:cs typeface="Times New Roman"/>
              </a:rPr>
              <a:t>S</a:t>
            </a:r>
            <a:r>
              <a:rPr sz="2400" b="1" i="1" spc="-10" dirty="0">
                <a:latin typeface="Times New Roman"/>
                <a:cs typeface="Times New Roman"/>
              </a:rPr>
              <a:t>e</a:t>
            </a:r>
            <a:r>
              <a:rPr sz="2400" b="1" i="1" spc="-5" dirty="0">
                <a:latin typeface="Times New Roman"/>
                <a:cs typeface="Times New Roman"/>
              </a:rPr>
              <a:t>ries  Models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106923" y="2363723"/>
            <a:ext cx="381000" cy="1414780"/>
          </a:xfrm>
          <a:custGeom>
            <a:avLst/>
            <a:gdLst/>
            <a:ahLst/>
            <a:cxnLst/>
            <a:rect l="l" t="t" r="r" b="b"/>
            <a:pathLst>
              <a:path w="381000" h="1414779">
                <a:moveTo>
                  <a:pt x="0" y="0"/>
                </a:moveTo>
                <a:lnTo>
                  <a:pt x="43662" y="5701"/>
                </a:lnTo>
                <a:lnTo>
                  <a:pt x="83753" y="21941"/>
                </a:lnTo>
                <a:lnTo>
                  <a:pt x="119125" y="47426"/>
                </a:lnTo>
                <a:lnTo>
                  <a:pt x="148632" y="80859"/>
                </a:lnTo>
                <a:lnTo>
                  <a:pt x="171127" y="120946"/>
                </a:lnTo>
                <a:lnTo>
                  <a:pt x="185465" y="166391"/>
                </a:lnTo>
                <a:lnTo>
                  <a:pt x="190500" y="215900"/>
                </a:lnTo>
                <a:lnTo>
                  <a:pt x="190500" y="491236"/>
                </a:lnTo>
                <a:lnTo>
                  <a:pt x="195534" y="540744"/>
                </a:lnTo>
                <a:lnTo>
                  <a:pt x="209872" y="586189"/>
                </a:lnTo>
                <a:lnTo>
                  <a:pt x="232367" y="626276"/>
                </a:lnTo>
                <a:lnTo>
                  <a:pt x="261874" y="659709"/>
                </a:lnTo>
                <a:lnTo>
                  <a:pt x="297246" y="685194"/>
                </a:lnTo>
                <a:lnTo>
                  <a:pt x="337337" y="701434"/>
                </a:lnTo>
                <a:lnTo>
                  <a:pt x="381000" y="707136"/>
                </a:lnTo>
                <a:lnTo>
                  <a:pt x="337337" y="712837"/>
                </a:lnTo>
                <a:lnTo>
                  <a:pt x="297246" y="729077"/>
                </a:lnTo>
                <a:lnTo>
                  <a:pt x="261874" y="754562"/>
                </a:lnTo>
                <a:lnTo>
                  <a:pt x="232367" y="787995"/>
                </a:lnTo>
                <a:lnTo>
                  <a:pt x="209872" y="828082"/>
                </a:lnTo>
                <a:lnTo>
                  <a:pt x="195534" y="873527"/>
                </a:lnTo>
                <a:lnTo>
                  <a:pt x="190500" y="923036"/>
                </a:lnTo>
                <a:lnTo>
                  <a:pt x="190500" y="1198372"/>
                </a:lnTo>
                <a:lnTo>
                  <a:pt x="185465" y="1247880"/>
                </a:lnTo>
                <a:lnTo>
                  <a:pt x="171127" y="1293325"/>
                </a:lnTo>
                <a:lnTo>
                  <a:pt x="148632" y="1333412"/>
                </a:lnTo>
                <a:lnTo>
                  <a:pt x="119125" y="1366845"/>
                </a:lnTo>
                <a:lnTo>
                  <a:pt x="83753" y="1392330"/>
                </a:lnTo>
                <a:lnTo>
                  <a:pt x="43662" y="1408570"/>
                </a:lnTo>
                <a:lnTo>
                  <a:pt x="0" y="1414271"/>
                </a:lnTo>
              </a:path>
            </a:pathLst>
          </a:custGeom>
          <a:ln w="57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6202679" y="3709415"/>
            <a:ext cx="1887220" cy="993775"/>
            <a:chOff x="6202679" y="3709415"/>
            <a:chExt cx="1887220" cy="993775"/>
          </a:xfrm>
        </p:grpSpPr>
        <p:sp>
          <p:nvSpPr>
            <p:cNvPr id="15" name="object 15"/>
            <p:cNvSpPr/>
            <p:nvPr/>
          </p:nvSpPr>
          <p:spPr>
            <a:xfrm>
              <a:off x="6202679" y="3709415"/>
              <a:ext cx="1886712" cy="68275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507479" y="4020311"/>
              <a:ext cx="1203959" cy="682751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382892" y="3787902"/>
            <a:ext cx="1431290" cy="70231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317500" marR="5080" indent="-304800">
              <a:lnSpc>
                <a:spcPts val="2450"/>
              </a:lnSpc>
              <a:spcBef>
                <a:spcPts val="540"/>
              </a:spcBef>
            </a:pPr>
            <a:r>
              <a:rPr sz="2400" b="1" i="1" dirty="0">
                <a:latin typeface="Times New Roman"/>
                <a:cs typeface="Times New Roman"/>
              </a:rPr>
              <a:t>A</a:t>
            </a:r>
            <a:r>
              <a:rPr sz="2400" b="1" i="1" spc="-5" dirty="0">
                <a:latin typeface="Times New Roman"/>
                <a:cs typeface="Times New Roman"/>
              </a:rPr>
              <a:t>ssociat</a:t>
            </a:r>
            <a:r>
              <a:rPr sz="2400" b="1" i="1" dirty="0">
                <a:latin typeface="Times New Roman"/>
                <a:cs typeface="Times New Roman"/>
              </a:rPr>
              <a:t>i</a:t>
            </a:r>
            <a:r>
              <a:rPr sz="2400" b="1" i="1" spc="-10" dirty="0">
                <a:latin typeface="Times New Roman"/>
                <a:cs typeface="Times New Roman"/>
              </a:rPr>
              <a:t>v</a:t>
            </a:r>
            <a:r>
              <a:rPr sz="2400" b="1" i="1" dirty="0">
                <a:latin typeface="Times New Roman"/>
                <a:cs typeface="Times New Roman"/>
              </a:rPr>
              <a:t>e  Model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134355" y="3927347"/>
            <a:ext cx="381000" cy="457200"/>
          </a:xfrm>
          <a:custGeom>
            <a:avLst/>
            <a:gdLst/>
            <a:ahLst/>
            <a:cxnLst/>
            <a:rect l="l" t="t" r="r" b="b"/>
            <a:pathLst>
              <a:path w="381000" h="457200">
                <a:moveTo>
                  <a:pt x="0" y="0"/>
                </a:moveTo>
                <a:lnTo>
                  <a:pt x="74128" y="2988"/>
                </a:lnTo>
                <a:lnTo>
                  <a:pt x="134683" y="11144"/>
                </a:lnTo>
                <a:lnTo>
                  <a:pt x="175521" y="23252"/>
                </a:lnTo>
                <a:lnTo>
                  <a:pt x="190500" y="38100"/>
                </a:lnTo>
                <a:lnTo>
                  <a:pt x="190500" y="190500"/>
                </a:lnTo>
                <a:lnTo>
                  <a:pt x="205478" y="205347"/>
                </a:lnTo>
                <a:lnTo>
                  <a:pt x="246316" y="217455"/>
                </a:lnTo>
                <a:lnTo>
                  <a:pt x="306871" y="225611"/>
                </a:lnTo>
                <a:lnTo>
                  <a:pt x="381000" y="228600"/>
                </a:lnTo>
                <a:lnTo>
                  <a:pt x="306871" y="231588"/>
                </a:lnTo>
                <a:lnTo>
                  <a:pt x="246316" y="239744"/>
                </a:lnTo>
                <a:lnTo>
                  <a:pt x="205478" y="251852"/>
                </a:lnTo>
                <a:lnTo>
                  <a:pt x="190500" y="266700"/>
                </a:lnTo>
                <a:lnTo>
                  <a:pt x="190500" y="419100"/>
                </a:lnTo>
                <a:lnTo>
                  <a:pt x="175521" y="433947"/>
                </a:lnTo>
                <a:lnTo>
                  <a:pt x="134683" y="446055"/>
                </a:lnTo>
                <a:lnTo>
                  <a:pt x="74128" y="454211"/>
                </a:lnTo>
                <a:lnTo>
                  <a:pt x="0" y="457200"/>
                </a:lnTo>
              </a:path>
            </a:pathLst>
          </a:custGeom>
          <a:ln w="57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0" y="6504431"/>
            <a:ext cx="1801495" cy="353695"/>
          </a:xfrm>
          <a:custGeom>
            <a:avLst/>
            <a:gdLst/>
            <a:ahLst/>
            <a:cxnLst/>
            <a:rect l="l" t="t" r="r" b="b"/>
            <a:pathLst>
              <a:path w="1801495" h="353695">
                <a:moveTo>
                  <a:pt x="1801368" y="0"/>
                </a:moveTo>
                <a:lnTo>
                  <a:pt x="0" y="0"/>
                </a:lnTo>
                <a:lnTo>
                  <a:pt x="0" y="353568"/>
                </a:lnTo>
                <a:lnTo>
                  <a:pt x="1801368" y="353568"/>
                </a:lnTo>
                <a:lnTo>
                  <a:pt x="18013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327392" y="6504431"/>
            <a:ext cx="1804670" cy="353695"/>
          </a:xfrm>
          <a:custGeom>
            <a:avLst/>
            <a:gdLst/>
            <a:ahLst/>
            <a:cxnLst/>
            <a:rect l="l" t="t" r="r" b="b"/>
            <a:pathLst>
              <a:path w="1804670" h="353695">
                <a:moveTo>
                  <a:pt x="1804416" y="0"/>
                </a:moveTo>
                <a:lnTo>
                  <a:pt x="0" y="0"/>
                </a:lnTo>
                <a:lnTo>
                  <a:pt x="0" y="353568"/>
                </a:lnTo>
                <a:lnTo>
                  <a:pt x="1804416" y="353568"/>
                </a:lnTo>
                <a:lnTo>
                  <a:pt x="18044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E086E7E9-F894-6B13-5E4A-DC901C56D00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0462C1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0462C1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89213" y="6638266"/>
            <a:ext cx="32004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0462C1"/>
                </a:solidFill>
                <a:latin typeface="Arial"/>
                <a:cs typeface="Arial"/>
              </a:rPr>
              <a:t>4 –</a:t>
            </a:r>
            <a:r>
              <a:rPr sz="900" b="1" spc="-10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462C1"/>
                </a:solidFill>
                <a:latin typeface="Arial"/>
                <a:cs typeface="Arial"/>
              </a:rPr>
              <a:t>20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78600" y="890016"/>
            <a:ext cx="3014227" cy="4434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67939" y="735025"/>
            <a:ext cx="30143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Naive</a:t>
            </a:r>
            <a:r>
              <a:rPr spc="-260" dirty="0"/>
              <a:t> </a:t>
            </a:r>
            <a:r>
              <a:rPr dirty="0"/>
              <a:t>Approach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58088" y="1942287"/>
            <a:ext cx="7141209" cy="313753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494030" marR="3074670" indent="-481965">
              <a:lnSpc>
                <a:spcPts val="3030"/>
              </a:lnSpc>
              <a:spcBef>
                <a:spcPts val="484"/>
              </a:spcBef>
              <a:buFont typeface="Wingdings"/>
              <a:buChar char=""/>
              <a:tabLst>
                <a:tab pos="494030" algn="l"/>
                <a:tab pos="494665" algn="l"/>
              </a:tabLst>
            </a:pPr>
            <a:r>
              <a:rPr sz="2800" spc="-5" dirty="0">
                <a:latin typeface="Times New Roman"/>
                <a:cs typeface="Times New Roman"/>
              </a:rPr>
              <a:t>Assumes demand </a:t>
            </a:r>
            <a:r>
              <a:rPr sz="2800" spc="5" dirty="0">
                <a:latin typeface="Times New Roman"/>
                <a:cs typeface="Times New Roman"/>
              </a:rPr>
              <a:t>in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next  period </a:t>
            </a:r>
            <a:r>
              <a:rPr sz="2800" dirty="0">
                <a:latin typeface="Times New Roman"/>
                <a:cs typeface="Times New Roman"/>
              </a:rPr>
              <a:t>is </a:t>
            </a:r>
            <a:r>
              <a:rPr sz="2800" spc="5" dirty="0">
                <a:latin typeface="Times New Roman"/>
                <a:cs typeface="Times New Roman"/>
              </a:rPr>
              <a:t>the </a:t>
            </a:r>
            <a:r>
              <a:rPr sz="2800" spc="-10" dirty="0">
                <a:latin typeface="Times New Roman"/>
                <a:cs typeface="Times New Roman"/>
              </a:rPr>
              <a:t>same</a:t>
            </a:r>
            <a:r>
              <a:rPr sz="2800" spc="-1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</a:p>
          <a:p>
            <a:pPr marL="494030">
              <a:lnSpc>
                <a:spcPts val="2975"/>
              </a:lnSpc>
            </a:pPr>
            <a:r>
              <a:rPr sz="2800" spc="-5" dirty="0">
                <a:latin typeface="Times New Roman"/>
                <a:cs typeface="Times New Roman"/>
              </a:rPr>
              <a:t>demand </a:t>
            </a:r>
            <a:r>
              <a:rPr sz="2800" spc="5" dirty="0">
                <a:latin typeface="Times New Roman"/>
                <a:cs typeface="Times New Roman"/>
              </a:rPr>
              <a:t>in </a:t>
            </a:r>
            <a:r>
              <a:rPr sz="2800" spc="-10" dirty="0">
                <a:latin typeface="Times New Roman"/>
                <a:cs typeface="Times New Roman"/>
              </a:rPr>
              <a:t>most </a:t>
            </a:r>
            <a:r>
              <a:rPr sz="2800" spc="5" dirty="0">
                <a:latin typeface="Times New Roman"/>
                <a:cs typeface="Times New Roman"/>
              </a:rPr>
              <a:t>recent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period</a:t>
            </a:r>
            <a:endParaRPr sz="2800" dirty="0">
              <a:latin typeface="Times New Roman"/>
              <a:cs typeface="Times New Roman"/>
            </a:endParaRPr>
          </a:p>
          <a:p>
            <a:pPr marL="686435">
              <a:lnSpc>
                <a:spcPts val="2735"/>
              </a:lnSpc>
              <a:spcBef>
                <a:spcPts val="885"/>
              </a:spcBef>
            </a:pPr>
            <a:r>
              <a:rPr sz="2400" dirty="0">
                <a:latin typeface="Wingdings"/>
                <a:cs typeface="Wingdings"/>
              </a:rPr>
              <a:t>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e.g., </a:t>
            </a:r>
            <a:r>
              <a:rPr sz="2400" spc="-30" dirty="0">
                <a:latin typeface="Times New Roman"/>
                <a:cs typeface="Times New Roman"/>
              </a:rPr>
              <a:t>If </a:t>
            </a:r>
            <a:r>
              <a:rPr sz="2400" spc="-5" dirty="0">
                <a:latin typeface="Times New Roman"/>
                <a:cs typeface="Times New Roman"/>
              </a:rPr>
              <a:t>January sales </a:t>
            </a:r>
            <a:r>
              <a:rPr sz="2400" spc="-10" dirty="0">
                <a:latin typeface="Times New Roman"/>
                <a:cs typeface="Times New Roman"/>
              </a:rPr>
              <a:t>were </a:t>
            </a:r>
            <a:r>
              <a:rPr sz="2400" dirty="0">
                <a:latin typeface="Times New Roman"/>
                <a:cs typeface="Times New Roman"/>
              </a:rPr>
              <a:t>68, then </a:t>
            </a:r>
            <a:r>
              <a:rPr sz="2400" spc="-10" dirty="0">
                <a:latin typeface="Times New Roman"/>
                <a:cs typeface="Times New Roman"/>
              </a:rPr>
              <a:t>February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sales</a:t>
            </a:r>
            <a:endParaRPr sz="2400" dirty="0">
              <a:latin typeface="Times New Roman"/>
              <a:cs typeface="Times New Roman"/>
            </a:endParaRPr>
          </a:p>
          <a:p>
            <a:pPr marL="1067435">
              <a:lnSpc>
                <a:spcPts val="2735"/>
              </a:lnSpc>
            </a:pPr>
            <a:r>
              <a:rPr sz="2400" spc="-5" dirty="0">
                <a:latin typeface="Times New Roman"/>
                <a:cs typeface="Times New Roman"/>
              </a:rPr>
              <a:t>will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68</a:t>
            </a:r>
          </a:p>
          <a:p>
            <a:pPr marL="494030" indent="-481965">
              <a:lnSpc>
                <a:spcPct val="100000"/>
              </a:lnSpc>
              <a:spcBef>
                <a:spcPts val="990"/>
              </a:spcBef>
              <a:buFont typeface="Wingdings"/>
              <a:buChar char=""/>
              <a:tabLst>
                <a:tab pos="494030" algn="l"/>
                <a:tab pos="494665" algn="l"/>
              </a:tabLst>
            </a:pPr>
            <a:r>
              <a:rPr sz="2800" spc="-5" dirty="0">
                <a:latin typeface="Times New Roman"/>
                <a:cs typeface="Times New Roman"/>
              </a:rPr>
              <a:t>Sometimes </a:t>
            </a:r>
            <a:r>
              <a:rPr sz="2800" spc="5" dirty="0">
                <a:latin typeface="Times New Roman"/>
                <a:cs typeface="Times New Roman"/>
              </a:rPr>
              <a:t>cost </a:t>
            </a:r>
            <a:r>
              <a:rPr sz="2800" spc="-5" dirty="0">
                <a:latin typeface="Times New Roman"/>
                <a:cs typeface="Times New Roman"/>
              </a:rPr>
              <a:t>effective </a:t>
            </a:r>
            <a:r>
              <a:rPr sz="2800" spc="5" dirty="0">
                <a:latin typeface="Times New Roman"/>
                <a:cs typeface="Times New Roman"/>
              </a:rPr>
              <a:t>and</a:t>
            </a:r>
            <a:r>
              <a:rPr sz="2800" spc="-16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efficient</a:t>
            </a:r>
            <a:endParaRPr sz="2800" dirty="0">
              <a:latin typeface="Times New Roman"/>
              <a:cs typeface="Times New Roman"/>
            </a:endParaRPr>
          </a:p>
          <a:p>
            <a:pPr marL="494030" indent="-481965">
              <a:lnSpc>
                <a:spcPct val="100000"/>
              </a:lnSpc>
              <a:spcBef>
                <a:spcPts val="1010"/>
              </a:spcBef>
              <a:buFont typeface="Wingdings"/>
              <a:buChar char=""/>
              <a:tabLst>
                <a:tab pos="494030" algn="l"/>
                <a:tab pos="494665" algn="l"/>
              </a:tabLst>
            </a:pPr>
            <a:r>
              <a:rPr sz="2800" spc="5" dirty="0">
                <a:latin typeface="Times New Roman"/>
                <a:cs typeface="Times New Roman"/>
              </a:rPr>
              <a:t>Can be good </a:t>
            </a:r>
            <a:r>
              <a:rPr sz="2800" dirty="0">
                <a:latin typeface="Times New Roman"/>
                <a:cs typeface="Times New Roman"/>
              </a:rPr>
              <a:t>starting</a:t>
            </a:r>
            <a:r>
              <a:rPr sz="2800" spc="-21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point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278742" y="301942"/>
            <a:ext cx="1491319" cy="26747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0" y="6504431"/>
            <a:ext cx="1801495" cy="353695"/>
          </a:xfrm>
          <a:custGeom>
            <a:avLst/>
            <a:gdLst/>
            <a:ahLst/>
            <a:cxnLst/>
            <a:rect l="l" t="t" r="r" b="b"/>
            <a:pathLst>
              <a:path w="1801495" h="353695">
                <a:moveTo>
                  <a:pt x="1801368" y="0"/>
                </a:moveTo>
                <a:lnTo>
                  <a:pt x="0" y="0"/>
                </a:lnTo>
                <a:lnTo>
                  <a:pt x="0" y="353568"/>
                </a:lnTo>
                <a:lnTo>
                  <a:pt x="1801368" y="353568"/>
                </a:lnTo>
                <a:lnTo>
                  <a:pt x="18013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27392" y="6504431"/>
            <a:ext cx="1804670" cy="353695"/>
          </a:xfrm>
          <a:custGeom>
            <a:avLst/>
            <a:gdLst/>
            <a:ahLst/>
            <a:cxnLst/>
            <a:rect l="l" t="t" r="r" b="b"/>
            <a:pathLst>
              <a:path w="1804670" h="353695">
                <a:moveTo>
                  <a:pt x="1804416" y="0"/>
                </a:moveTo>
                <a:lnTo>
                  <a:pt x="0" y="0"/>
                </a:lnTo>
                <a:lnTo>
                  <a:pt x="0" y="353568"/>
                </a:lnTo>
                <a:lnTo>
                  <a:pt x="1804416" y="353568"/>
                </a:lnTo>
                <a:lnTo>
                  <a:pt x="18044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0C67B50-6308-8E02-12D5-675323EDC2C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0462C1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0462C1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89213" y="6638266"/>
            <a:ext cx="32004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0462C1"/>
                </a:solidFill>
                <a:latin typeface="Arial"/>
                <a:cs typeface="Arial"/>
              </a:rPr>
              <a:t>4 –</a:t>
            </a:r>
            <a:r>
              <a:rPr sz="900" b="1" spc="-10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462C1"/>
                </a:solidFill>
                <a:latin typeface="Arial"/>
                <a:cs typeface="Arial"/>
              </a:rPr>
              <a:t>21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81376" y="534365"/>
            <a:ext cx="30810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Moving</a:t>
            </a:r>
            <a:r>
              <a:rPr spc="-260" dirty="0"/>
              <a:t> </a:t>
            </a:r>
            <a:r>
              <a:rPr spc="-40" dirty="0"/>
              <a:t>Average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60044" y="1512189"/>
            <a:ext cx="8018145" cy="191008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82880" marR="726440" indent="-170815">
              <a:lnSpc>
                <a:spcPts val="2590"/>
              </a:lnSpc>
              <a:spcBef>
                <a:spcPts val="425"/>
              </a:spcBef>
              <a:buFont typeface="Arial"/>
              <a:buChar char="•"/>
              <a:tabLst>
                <a:tab pos="183515" algn="l"/>
              </a:tabLst>
            </a:pPr>
            <a:r>
              <a:rPr sz="2400" spc="-5" dirty="0">
                <a:latin typeface="Times New Roman"/>
                <a:cs typeface="Times New Roman"/>
              </a:rPr>
              <a:t>A technique that uses </a:t>
            </a:r>
            <a:r>
              <a:rPr sz="2400" dirty="0">
                <a:latin typeface="Times New Roman"/>
                <a:cs typeface="Times New Roman"/>
              </a:rPr>
              <a:t>a number of </a:t>
            </a:r>
            <a:r>
              <a:rPr sz="2400" spc="-5" dirty="0">
                <a:latin typeface="Times New Roman"/>
                <a:cs typeface="Times New Roman"/>
              </a:rPr>
              <a:t>historical data values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  </a:t>
            </a:r>
            <a:r>
              <a:rPr sz="2400" spc="-10" dirty="0">
                <a:latin typeface="Times New Roman"/>
                <a:cs typeface="Times New Roman"/>
              </a:rPr>
              <a:t>generate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forecast.</a:t>
            </a:r>
            <a:endParaRPr sz="2400">
              <a:latin typeface="Times New Roman"/>
              <a:cs typeface="Times New Roman"/>
            </a:endParaRPr>
          </a:p>
          <a:p>
            <a:pPr marL="182880" marR="5080" indent="-170815">
              <a:lnSpc>
                <a:spcPts val="2590"/>
              </a:lnSpc>
              <a:spcBef>
                <a:spcPts val="800"/>
              </a:spcBef>
              <a:buFont typeface="Arial"/>
              <a:buChar char="•"/>
              <a:tabLst>
                <a:tab pos="183515" algn="l"/>
              </a:tabLst>
            </a:pPr>
            <a:r>
              <a:rPr sz="2400" spc="-10" dirty="0">
                <a:latin typeface="Times New Roman"/>
                <a:cs typeface="Times New Roman"/>
              </a:rPr>
              <a:t>Involves </a:t>
            </a:r>
            <a:r>
              <a:rPr sz="2400" dirty="0">
                <a:latin typeface="Times New Roman"/>
                <a:cs typeface="Times New Roman"/>
              </a:rPr>
              <a:t>finding a </a:t>
            </a:r>
            <a:r>
              <a:rPr sz="2400" spc="-5" dirty="0">
                <a:latin typeface="Times New Roman"/>
                <a:cs typeface="Times New Roman"/>
              </a:rPr>
              <a:t>series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successive </a:t>
            </a:r>
            <a:r>
              <a:rPr sz="2400" spc="-10" dirty="0">
                <a:latin typeface="Times New Roman"/>
                <a:cs typeface="Times New Roman"/>
              </a:rPr>
              <a:t>averages </a:t>
            </a:r>
            <a:r>
              <a:rPr sz="2400" dirty="0">
                <a:latin typeface="Times New Roman"/>
                <a:cs typeface="Times New Roman"/>
              </a:rPr>
              <a:t>by </a:t>
            </a:r>
            <a:r>
              <a:rPr sz="2400" spc="-5" dirty="0">
                <a:latin typeface="Times New Roman"/>
                <a:cs typeface="Times New Roman"/>
              </a:rPr>
              <a:t>dropping </a:t>
            </a:r>
            <a:r>
              <a:rPr sz="2400" dirty="0">
                <a:latin typeface="Times New Roman"/>
                <a:cs typeface="Times New Roman"/>
              </a:rPr>
              <a:t>the  </a:t>
            </a:r>
            <a:r>
              <a:rPr sz="2400" spc="-5" dirty="0">
                <a:latin typeface="Times New Roman"/>
                <a:cs typeface="Times New Roman"/>
              </a:rPr>
              <a:t>first data value </a:t>
            </a:r>
            <a:r>
              <a:rPr sz="2400" dirty="0">
                <a:latin typeface="Times New Roman"/>
                <a:cs typeface="Times New Roman"/>
              </a:rPr>
              <a:t>in the </a:t>
            </a:r>
            <a:r>
              <a:rPr sz="2400" spc="-5" dirty="0">
                <a:latin typeface="Times New Roman"/>
                <a:cs typeface="Times New Roman"/>
              </a:rPr>
              <a:t>series </a:t>
            </a:r>
            <a:r>
              <a:rPr sz="2400" spc="-1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adding </a:t>
            </a:r>
            <a:r>
              <a:rPr sz="2400" dirty="0">
                <a:latin typeface="Times New Roman"/>
                <a:cs typeface="Times New Roman"/>
              </a:rPr>
              <a:t>the last </a:t>
            </a:r>
            <a:r>
              <a:rPr sz="2400" spc="-5" dirty="0">
                <a:latin typeface="Times New Roman"/>
                <a:cs typeface="Times New Roman"/>
              </a:rPr>
              <a:t>data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value.</a:t>
            </a:r>
            <a:endParaRPr sz="2400">
              <a:latin typeface="Times New Roman"/>
              <a:cs typeface="Times New Roman"/>
            </a:endParaRPr>
          </a:p>
          <a:p>
            <a:pPr marL="182880" indent="-170815">
              <a:lnSpc>
                <a:spcPct val="100000"/>
              </a:lnSpc>
              <a:spcBef>
                <a:spcPts val="470"/>
              </a:spcBef>
              <a:buFont typeface="Arial"/>
              <a:buChar char="•"/>
              <a:tabLst>
                <a:tab pos="183515" algn="l"/>
              </a:tabLst>
            </a:pPr>
            <a:r>
              <a:rPr sz="2400" spc="-5" dirty="0">
                <a:latin typeface="Times New Roman"/>
                <a:cs typeface="Times New Roman"/>
              </a:rPr>
              <a:t>Useful for data without trend, </a:t>
            </a:r>
            <a:r>
              <a:rPr sz="2400" spc="-25" dirty="0">
                <a:latin typeface="Times New Roman"/>
                <a:cs typeface="Times New Roman"/>
              </a:rPr>
              <a:t>seasonality,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cycles.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3755" y="4330954"/>
            <a:ext cx="22987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latin typeface="Times New Roman"/>
                <a:cs typeface="Times New Roman"/>
              </a:rPr>
              <a:t>Moving </a:t>
            </a:r>
            <a:r>
              <a:rPr sz="2400" b="1" i="1" spc="-5" dirty="0">
                <a:latin typeface="Times New Roman"/>
                <a:cs typeface="Times New Roman"/>
              </a:rPr>
              <a:t>average</a:t>
            </a:r>
            <a:r>
              <a:rPr sz="2400" b="1" i="1" spc="-6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=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66846" y="4114622"/>
            <a:ext cx="465518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4629150" algn="l"/>
              </a:tabLst>
            </a:pPr>
            <a:r>
              <a:rPr sz="24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∑ </a:t>
            </a:r>
            <a:r>
              <a:rPr sz="2400" b="1" i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demand in </a:t>
            </a:r>
            <a:r>
              <a:rPr sz="2400" b="1" i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previous </a:t>
            </a:r>
            <a:r>
              <a:rPr sz="2400" b="1" i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2400" b="1" i="1" u="heavy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i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periods	</a:t>
            </a:r>
            <a:endParaRPr sz="2400">
              <a:latin typeface="Times New Roman"/>
              <a:cs typeface="Times New Roman"/>
            </a:endParaRPr>
          </a:p>
          <a:p>
            <a:pPr marR="610235" algn="ctr">
              <a:lnSpc>
                <a:spcPct val="100000"/>
              </a:lnSpc>
              <a:spcBef>
                <a:spcPts val="5"/>
              </a:spcBef>
            </a:pPr>
            <a:r>
              <a:rPr sz="2400" b="1" i="1" spc="-5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6504431"/>
            <a:ext cx="1801495" cy="353695"/>
          </a:xfrm>
          <a:custGeom>
            <a:avLst/>
            <a:gdLst/>
            <a:ahLst/>
            <a:cxnLst/>
            <a:rect l="l" t="t" r="r" b="b"/>
            <a:pathLst>
              <a:path w="1801495" h="353695">
                <a:moveTo>
                  <a:pt x="1801368" y="0"/>
                </a:moveTo>
                <a:lnTo>
                  <a:pt x="0" y="0"/>
                </a:lnTo>
                <a:lnTo>
                  <a:pt x="0" y="353568"/>
                </a:lnTo>
                <a:lnTo>
                  <a:pt x="1801368" y="353568"/>
                </a:lnTo>
                <a:lnTo>
                  <a:pt x="18013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27392" y="6504431"/>
            <a:ext cx="1804670" cy="353695"/>
          </a:xfrm>
          <a:custGeom>
            <a:avLst/>
            <a:gdLst/>
            <a:ahLst/>
            <a:cxnLst/>
            <a:rect l="l" t="t" r="r" b="b"/>
            <a:pathLst>
              <a:path w="1804670" h="353695">
                <a:moveTo>
                  <a:pt x="1804416" y="0"/>
                </a:moveTo>
                <a:lnTo>
                  <a:pt x="0" y="0"/>
                </a:lnTo>
                <a:lnTo>
                  <a:pt x="0" y="353568"/>
                </a:lnTo>
                <a:lnTo>
                  <a:pt x="1804416" y="353568"/>
                </a:lnTo>
                <a:lnTo>
                  <a:pt x="18044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468DDF-EC05-9DEF-A39C-6998940A7AB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0462C1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0462C1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89213" y="6638266"/>
            <a:ext cx="32004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0462C1"/>
                </a:solidFill>
                <a:latin typeface="Arial"/>
                <a:cs typeface="Arial"/>
              </a:rPr>
              <a:t>4 –</a:t>
            </a:r>
            <a:r>
              <a:rPr sz="900" b="1" spc="-10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462C1"/>
                </a:solidFill>
                <a:latin typeface="Arial"/>
                <a:cs typeface="Arial"/>
              </a:rPr>
              <a:t>22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6693" y="2693923"/>
            <a:ext cx="1212850" cy="2586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latin typeface="Times New Roman"/>
                <a:cs typeface="Times New Roman"/>
              </a:rPr>
              <a:t>January  F</a:t>
            </a:r>
            <a:r>
              <a:rPr sz="2400" b="1" i="1" spc="-10" dirty="0">
                <a:latin typeface="Times New Roman"/>
                <a:cs typeface="Times New Roman"/>
              </a:rPr>
              <a:t>e</a:t>
            </a:r>
            <a:r>
              <a:rPr sz="2400" b="1" i="1" dirty="0">
                <a:latin typeface="Times New Roman"/>
                <a:cs typeface="Times New Roman"/>
              </a:rPr>
              <a:t>br</a:t>
            </a:r>
            <a:r>
              <a:rPr sz="2400" b="1" i="1" spc="10" dirty="0">
                <a:latin typeface="Times New Roman"/>
                <a:cs typeface="Times New Roman"/>
              </a:rPr>
              <a:t>u</a:t>
            </a:r>
            <a:r>
              <a:rPr sz="2400" b="1" i="1" dirty="0">
                <a:latin typeface="Times New Roman"/>
                <a:cs typeface="Times New Roman"/>
              </a:rPr>
              <a:t>ary  </a:t>
            </a:r>
            <a:r>
              <a:rPr sz="2400" b="1" i="1" spc="-5" dirty="0">
                <a:latin typeface="Times New Roman"/>
                <a:cs typeface="Times New Roman"/>
              </a:rPr>
              <a:t>March  </a:t>
            </a:r>
            <a:r>
              <a:rPr sz="2400" b="1" i="1" dirty="0">
                <a:latin typeface="Times New Roman"/>
                <a:cs typeface="Times New Roman"/>
              </a:rPr>
              <a:t>April  </a:t>
            </a:r>
            <a:r>
              <a:rPr sz="2400" b="1" i="1" spc="-5" dirty="0">
                <a:latin typeface="Times New Roman"/>
                <a:cs typeface="Times New Roman"/>
              </a:rPr>
              <a:t>May  </a:t>
            </a:r>
            <a:r>
              <a:rPr sz="2400" b="1" i="1" dirty="0">
                <a:latin typeface="Times New Roman"/>
                <a:cs typeface="Times New Roman"/>
              </a:rPr>
              <a:t>June  July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72967" y="4806696"/>
            <a:ext cx="749807" cy="6827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935736" y="1780032"/>
            <a:ext cx="6337300" cy="993775"/>
            <a:chOff x="935736" y="1780032"/>
            <a:chExt cx="6337300" cy="993775"/>
          </a:xfrm>
        </p:grpSpPr>
        <p:sp>
          <p:nvSpPr>
            <p:cNvPr id="7" name="object 7"/>
            <p:cNvSpPr/>
            <p:nvPr/>
          </p:nvSpPr>
          <p:spPr>
            <a:xfrm>
              <a:off x="3128552" y="1967903"/>
              <a:ext cx="881310" cy="23369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956783" y="1967903"/>
              <a:ext cx="164145" cy="23369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13120" y="1780032"/>
              <a:ext cx="509015" cy="68275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13703" y="1780032"/>
              <a:ext cx="1258824" cy="68275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35736" y="2090928"/>
              <a:ext cx="1255776" cy="68275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114450" y="2166569"/>
            <a:ext cx="87439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latin typeface="Times New Roman"/>
                <a:cs typeface="Times New Roman"/>
              </a:rPr>
              <a:t>Month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685288" y="2090927"/>
            <a:ext cx="1770888" cy="68275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864611" y="1855978"/>
            <a:ext cx="1390015" cy="70231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 indent="264795">
              <a:lnSpc>
                <a:spcPts val="2450"/>
              </a:lnSpc>
              <a:spcBef>
                <a:spcPts val="540"/>
              </a:spcBef>
            </a:pPr>
            <a:r>
              <a:rPr sz="2400" b="1" i="1" spc="-5" dirty="0">
                <a:latin typeface="Times New Roman"/>
                <a:cs typeface="Times New Roman"/>
              </a:rPr>
              <a:t>Actual  Shed</a:t>
            </a:r>
            <a:r>
              <a:rPr sz="2400" b="1" i="1" spc="-60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Sales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294376" y="2090927"/>
            <a:ext cx="2447544" cy="68275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474334" y="1855978"/>
            <a:ext cx="2068830" cy="70231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 indent="466090">
              <a:lnSpc>
                <a:spcPts val="2450"/>
              </a:lnSpc>
              <a:spcBef>
                <a:spcPts val="540"/>
              </a:spcBef>
            </a:pPr>
            <a:r>
              <a:rPr sz="2400" b="1" i="1" spc="-5" dirty="0">
                <a:latin typeface="Times New Roman"/>
                <a:cs typeface="Times New Roman"/>
              </a:rPr>
              <a:t>3-Month  </a:t>
            </a:r>
            <a:r>
              <a:rPr sz="2400" b="1" i="1" dirty="0">
                <a:latin typeface="Times New Roman"/>
                <a:cs typeface="Times New Roman"/>
              </a:rPr>
              <a:t>Moving</a:t>
            </a:r>
            <a:r>
              <a:rPr sz="2400" b="1" i="1" spc="-150" dirty="0">
                <a:latin typeface="Times New Roman"/>
                <a:cs typeface="Times New Roman"/>
              </a:rPr>
              <a:t> </a:t>
            </a:r>
            <a:r>
              <a:rPr sz="2400" b="1" i="1" spc="-30" dirty="0">
                <a:latin typeface="Times New Roman"/>
                <a:cs typeface="Times New Roman"/>
              </a:rPr>
              <a:t>Average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64108" y="2656332"/>
            <a:ext cx="7406640" cy="0"/>
          </a:xfrm>
          <a:custGeom>
            <a:avLst/>
            <a:gdLst/>
            <a:ahLst/>
            <a:cxnLst/>
            <a:rect l="l" t="t" r="r" b="b"/>
            <a:pathLst>
              <a:path w="7406640">
                <a:moveTo>
                  <a:pt x="0" y="0"/>
                </a:moveTo>
                <a:lnTo>
                  <a:pt x="7406640" y="0"/>
                </a:lnTo>
              </a:path>
            </a:pathLst>
          </a:custGeom>
          <a:ln w="39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186856" y="883919"/>
            <a:ext cx="4799245" cy="44805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2162048" y="730961"/>
            <a:ext cx="48177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Moving </a:t>
            </a:r>
            <a:r>
              <a:rPr spc="-40" dirty="0"/>
              <a:t>Average</a:t>
            </a:r>
            <a:r>
              <a:rPr spc="-225" dirty="0"/>
              <a:t> </a:t>
            </a:r>
            <a:r>
              <a:rPr spc="-5" dirty="0"/>
              <a:t>Example</a:t>
            </a:r>
          </a:p>
        </p:txBody>
      </p:sp>
      <p:grpSp>
        <p:nvGrpSpPr>
          <p:cNvPr id="20" name="object 20"/>
          <p:cNvGrpSpPr/>
          <p:nvPr/>
        </p:nvGrpSpPr>
        <p:grpSpPr>
          <a:xfrm>
            <a:off x="3172967" y="2977895"/>
            <a:ext cx="749935" cy="1049020"/>
            <a:chOff x="3172967" y="2977895"/>
            <a:chExt cx="749935" cy="1049020"/>
          </a:xfrm>
        </p:grpSpPr>
        <p:sp>
          <p:nvSpPr>
            <p:cNvPr id="21" name="object 21"/>
            <p:cNvSpPr/>
            <p:nvPr/>
          </p:nvSpPr>
          <p:spPr>
            <a:xfrm>
              <a:off x="3172967" y="2977895"/>
              <a:ext cx="749807" cy="68275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172967" y="3343655"/>
              <a:ext cx="749807" cy="68275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353815" y="2693923"/>
            <a:ext cx="367030" cy="2586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55" dirty="0">
                <a:solidFill>
                  <a:srgbClr val="0462C1"/>
                </a:solidFill>
                <a:latin typeface="Arial"/>
                <a:cs typeface="Arial"/>
              </a:rPr>
              <a:t>1</a:t>
            </a:r>
            <a:r>
              <a:rPr sz="2400" b="1" spc="-145" dirty="0">
                <a:latin typeface="Times New Roman"/>
                <a:cs typeface="Times New Roman"/>
              </a:rPr>
              <a:t>1</a:t>
            </a:r>
            <a:r>
              <a:rPr sz="2400" b="1" spc="-1200" dirty="0">
                <a:solidFill>
                  <a:srgbClr val="0462C1"/>
                </a:solidFill>
                <a:latin typeface="Arial"/>
                <a:cs typeface="Arial"/>
              </a:rPr>
              <a:t>0</a:t>
            </a: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1050" dirty="0">
                <a:solidFill>
                  <a:srgbClr val="0462C1"/>
                </a:solidFill>
                <a:latin typeface="Arial"/>
                <a:cs typeface="Arial"/>
              </a:rPr>
              <a:t>1</a:t>
            </a:r>
            <a:r>
              <a:rPr sz="2400" b="1" spc="-150" dirty="0">
                <a:latin typeface="Times New Roman"/>
                <a:cs typeface="Times New Roman"/>
              </a:rPr>
              <a:t>1</a:t>
            </a:r>
            <a:r>
              <a:rPr sz="2400" b="1" spc="-1195" dirty="0">
                <a:solidFill>
                  <a:srgbClr val="0462C1"/>
                </a:solidFill>
                <a:latin typeface="Arial"/>
                <a:cs typeface="Arial"/>
              </a:rPr>
              <a:t>2</a:t>
            </a:r>
            <a:r>
              <a:rPr sz="2400" b="1" spc="-5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1055" dirty="0">
                <a:solidFill>
                  <a:srgbClr val="0462C1"/>
                </a:solidFill>
                <a:latin typeface="Arial"/>
                <a:cs typeface="Arial"/>
              </a:rPr>
              <a:t>1</a:t>
            </a:r>
            <a:r>
              <a:rPr sz="2400" b="1" spc="-145" dirty="0">
                <a:latin typeface="Times New Roman"/>
                <a:cs typeface="Times New Roman"/>
              </a:rPr>
              <a:t>1</a:t>
            </a:r>
            <a:r>
              <a:rPr sz="2400" b="1" spc="-1200" dirty="0">
                <a:solidFill>
                  <a:srgbClr val="0462C1"/>
                </a:solidFill>
                <a:latin typeface="Arial"/>
                <a:cs typeface="Arial"/>
              </a:rPr>
              <a:t>3</a:t>
            </a:r>
            <a:r>
              <a:rPr sz="2400" b="1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  <a:p>
            <a:pPr marL="48895">
              <a:lnSpc>
                <a:spcPct val="100000"/>
              </a:lnSpc>
            </a:pPr>
            <a:r>
              <a:rPr sz="2400" b="1" spc="-5" dirty="0">
                <a:latin typeface="Times New Roman"/>
                <a:cs typeface="Times New Roman"/>
              </a:rPr>
              <a:t>16</a:t>
            </a:r>
            <a:endParaRPr sz="2400">
              <a:latin typeface="Times New Roman"/>
              <a:cs typeface="Times New Roman"/>
            </a:endParaRPr>
          </a:p>
          <a:p>
            <a:pPr marL="48895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Times New Roman"/>
                <a:cs typeface="Times New Roman"/>
              </a:rPr>
              <a:t>19</a:t>
            </a:r>
            <a:endParaRPr sz="2400">
              <a:latin typeface="Times New Roman"/>
              <a:cs typeface="Times New Roman"/>
            </a:endParaRPr>
          </a:p>
          <a:p>
            <a:pPr marL="48895">
              <a:lnSpc>
                <a:spcPct val="100000"/>
              </a:lnSpc>
            </a:pPr>
            <a:r>
              <a:rPr sz="2400" b="1" dirty="0">
                <a:latin typeface="Times New Roman"/>
                <a:cs typeface="Times New Roman"/>
              </a:rPr>
              <a:t>23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5" dirty="0">
                <a:latin typeface="Arial"/>
                <a:cs typeface="Arial"/>
              </a:rPr>
              <a:t>26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748784" y="3715511"/>
            <a:ext cx="3335020" cy="683260"/>
            <a:chOff x="4748784" y="3715511"/>
            <a:chExt cx="3335020" cy="683260"/>
          </a:xfrm>
        </p:grpSpPr>
        <p:sp>
          <p:nvSpPr>
            <p:cNvPr id="25" name="object 25"/>
            <p:cNvSpPr/>
            <p:nvPr/>
          </p:nvSpPr>
          <p:spPr>
            <a:xfrm>
              <a:off x="4748784" y="3715511"/>
              <a:ext cx="509015" cy="682751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849368" y="3715511"/>
              <a:ext cx="713232" cy="682751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230368" y="3715511"/>
              <a:ext cx="658367" cy="68275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480304" y="3715511"/>
              <a:ext cx="713231" cy="682751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861304" y="3715511"/>
              <a:ext cx="658368" cy="68275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111240" y="3715511"/>
              <a:ext cx="713232" cy="682751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416040" y="3715511"/>
              <a:ext cx="1435608" cy="682751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504176" y="3749039"/>
              <a:ext cx="390144" cy="469392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46848" y="3715511"/>
              <a:ext cx="493775" cy="682751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693152" y="3913631"/>
              <a:ext cx="390144" cy="469392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4904866" y="3791153"/>
            <a:ext cx="3081655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spc="-5" dirty="0">
                <a:solidFill>
                  <a:srgbClr val="0462C1"/>
                </a:solidFill>
                <a:latin typeface="Times New Roman"/>
                <a:cs typeface="Times New Roman"/>
              </a:rPr>
              <a:t>10 </a:t>
            </a:r>
            <a:r>
              <a:rPr sz="2400" b="1" dirty="0">
                <a:latin typeface="Times New Roman"/>
                <a:cs typeface="Times New Roman"/>
              </a:rPr>
              <a:t>+ </a:t>
            </a:r>
            <a:r>
              <a:rPr sz="2400" b="1" spc="-5" dirty="0">
                <a:solidFill>
                  <a:srgbClr val="0462C1"/>
                </a:solidFill>
                <a:latin typeface="Times New Roman"/>
                <a:cs typeface="Times New Roman"/>
              </a:rPr>
              <a:t>12 </a:t>
            </a:r>
            <a:r>
              <a:rPr sz="2400" b="1" dirty="0">
                <a:latin typeface="Times New Roman"/>
                <a:cs typeface="Times New Roman"/>
              </a:rPr>
              <a:t>+ </a:t>
            </a:r>
            <a:r>
              <a:rPr sz="2400" b="1" spc="-5" dirty="0">
                <a:solidFill>
                  <a:srgbClr val="0462C1"/>
                </a:solidFill>
                <a:latin typeface="Times New Roman"/>
                <a:cs typeface="Times New Roman"/>
              </a:rPr>
              <a:t>13</a:t>
            </a:r>
            <a:r>
              <a:rPr sz="2400" b="1" spc="-5" dirty="0">
                <a:latin typeface="Times New Roman"/>
                <a:cs typeface="Times New Roman"/>
              </a:rPr>
              <a:t>)/3 </a:t>
            </a:r>
            <a:r>
              <a:rPr sz="2400" b="1" dirty="0">
                <a:latin typeface="Times New Roman"/>
                <a:cs typeface="Times New Roman"/>
              </a:rPr>
              <a:t>= </a:t>
            </a:r>
            <a:r>
              <a:rPr sz="2400" b="1" spc="-75" dirty="0">
                <a:latin typeface="Times New Roman"/>
                <a:cs typeface="Times New Roman"/>
              </a:rPr>
              <a:t>11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spc="7" baseline="24305" dirty="0">
                <a:latin typeface="Times New Roman"/>
                <a:cs typeface="Times New Roman"/>
              </a:rPr>
              <a:t>2</a:t>
            </a:r>
            <a:r>
              <a:rPr sz="2400" b="1" spc="5" dirty="0">
                <a:latin typeface="Times New Roman"/>
                <a:cs typeface="Times New Roman"/>
              </a:rPr>
              <a:t>/</a:t>
            </a:r>
            <a:r>
              <a:rPr sz="2400" b="1" spc="7" baseline="-20833" dirty="0">
                <a:latin typeface="Times New Roman"/>
                <a:cs typeface="Times New Roman"/>
              </a:rPr>
              <a:t>3</a:t>
            </a:r>
            <a:endParaRPr sz="2400" baseline="-20833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Times New Roman"/>
                <a:cs typeface="Times New Roman"/>
              </a:rPr>
              <a:t>(12 + 13 + </a:t>
            </a:r>
            <a:r>
              <a:rPr sz="2400" b="1" spc="-5" dirty="0">
                <a:latin typeface="Times New Roman"/>
                <a:cs typeface="Times New Roman"/>
              </a:rPr>
              <a:t>16)/3 </a:t>
            </a:r>
            <a:r>
              <a:rPr sz="2400" b="1" dirty="0">
                <a:latin typeface="Times New Roman"/>
                <a:cs typeface="Times New Roman"/>
              </a:rPr>
              <a:t>= 13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7" baseline="24305" dirty="0">
                <a:latin typeface="Times New Roman"/>
                <a:cs typeface="Times New Roman"/>
              </a:rPr>
              <a:t>2</a:t>
            </a:r>
            <a:r>
              <a:rPr sz="2400" b="1" spc="5" dirty="0">
                <a:latin typeface="Times New Roman"/>
                <a:cs typeface="Times New Roman"/>
              </a:rPr>
              <a:t>/</a:t>
            </a:r>
            <a:r>
              <a:rPr sz="2400" b="1" spc="7" baseline="-20833" dirty="0">
                <a:latin typeface="Times New Roman"/>
                <a:cs typeface="Times New Roman"/>
              </a:rPr>
              <a:t>3</a:t>
            </a:r>
            <a:endParaRPr sz="2400" baseline="-20833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2400" b="1" dirty="0">
                <a:latin typeface="Times New Roman"/>
                <a:cs typeface="Times New Roman"/>
              </a:rPr>
              <a:t>(13 + 16 + </a:t>
            </a:r>
            <a:r>
              <a:rPr sz="2400" b="1" spc="-5" dirty="0">
                <a:latin typeface="Times New Roman"/>
                <a:cs typeface="Times New Roman"/>
              </a:rPr>
              <a:t>19)/3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16</a:t>
            </a:r>
            <a:endParaRPr sz="24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2400" b="1" spc="-5" dirty="0">
                <a:latin typeface="Times New Roman"/>
                <a:cs typeface="Times New Roman"/>
              </a:rPr>
              <a:t>(16 </a:t>
            </a:r>
            <a:r>
              <a:rPr sz="2400" b="1" dirty="0">
                <a:latin typeface="Times New Roman"/>
                <a:cs typeface="Times New Roman"/>
              </a:rPr>
              <a:t>+ 19 + </a:t>
            </a:r>
            <a:r>
              <a:rPr sz="2400" b="1" spc="-5" dirty="0">
                <a:latin typeface="Times New Roman"/>
                <a:cs typeface="Times New Roman"/>
              </a:rPr>
              <a:t>23)/3 </a:t>
            </a:r>
            <a:r>
              <a:rPr sz="2400" b="1" dirty="0">
                <a:latin typeface="Times New Roman"/>
                <a:cs typeface="Times New Roman"/>
              </a:rPr>
              <a:t>= 19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7" baseline="24305" dirty="0">
                <a:latin typeface="Times New Roman"/>
                <a:cs typeface="Times New Roman"/>
              </a:rPr>
              <a:t>1</a:t>
            </a:r>
            <a:r>
              <a:rPr sz="2400" b="1" spc="5" dirty="0">
                <a:latin typeface="Times New Roman"/>
                <a:cs typeface="Times New Roman"/>
              </a:rPr>
              <a:t>/</a:t>
            </a:r>
            <a:r>
              <a:rPr sz="2400" b="1" spc="7" baseline="-20833" dirty="0">
                <a:latin typeface="Times New Roman"/>
                <a:cs typeface="Times New Roman"/>
              </a:rPr>
              <a:t>3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774948" y="2855975"/>
            <a:ext cx="2749550" cy="1007744"/>
          </a:xfrm>
          <a:custGeom>
            <a:avLst/>
            <a:gdLst/>
            <a:ahLst/>
            <a:cxnLst/>
            <a:rect l="l" t="t" r="r" b="b"/>
            <a:pathLst>
              <a:path w="2749550" h="1007745">
                <a:moveTo>
                  <a:pt x="2585453" y="780859"/>
                </a:moveTo>
                <a:lnTo>
                  <a:pt x="2576868" y="771271"/>
                </a:lnTo>
                <a:lnTo>
                  <a:pt x="2536825" y="726567"/>
                </a:lnTo>
                <a:lnTo>
                  <a:pt x="2529078" y="723011"/>
                </a:lnTo>
                <a:lnTo>
                  <a:pt x="2520950" y="723011"/>
                </a:lnTo>
                <a:lnTo>
                  <a:pt x="1823453" y="719429"/>
                </a:lnTo>
                <a:lnTo>
                  <a:pt x="1745551" y="632091"/>
                </a:lnTo>
                <a:lnTo>
                  <a:pt x="1745551" y="719035"/>
                </a:lnTo>
                <a:lnTo>
                  <a:pt x="1337576" y="716940"/>
                </a:lnTo>
                <a:lnTo>
                  <a:pt x="1337576" y="774852"/>
                </a:lnTo>
                <a:lnTo>
                  <a:pt x="1302016" y="806513"/>
                </a:lnTo>
                <a:lnTo>
                  <a:pt x="1273530" y="774522"/>
                </a:lnTo>
                <a:lnTo>
                  <a:pt x="1337576" y="774852"/>
                </a:lnTo>
                <a:lnTo>
                  <a:pt x="1337576" y="716940"/>
                </a:lnTo>
                <a:lnTo>
                  <a:pt x="1221740" y="716343"/>
                </a:lnTo>
                <a:lnTo>
                  <a:pt x="974801" y="438912"/>
                </a:lnTo>
                <a:lnTo>
                  <a:pt x="1495653" y="438912"/>
                </a:lnTo>
                <a:lnTo>
                  <a:pt x="1745551" y="719035"/>
                </a:lnTo>
                <a:lnTo>
                  <a:pt x="1745551" y="632091"/>
                </a:lnTo>
                <a:lnTo>
                  <a:pt x="1573263" y="438912"/>
                </a:lnTo>
                <a:lnTo>
                  <a:pt x="1564652" y="429260"/>
                </a:lnTo>
                <a:lnTo>
                  <a:pt x="1524762" y="384556"/>
                </a:lnTo>
                <a:lnTo>
                  <a:pt x="1516888" y="381000"/>
                </a:lnTo>
                <a:lnTo>
                  <a:pt x="923251" y="381000"/>
                </a:lnTo>
                <a:lnTo>
                  <a:pt x="635660" y="57912"/>
                </a:lnTo>
                <a:lnTo>
                  <a:pt x="627075" y="48260"/>
                </a:lnTo>
                <a:lnTo>
                  <a:pt x="587248" y="3556"/>
                </a:lnTo>
                <a:lnTo>
                  <a:pt x="579374" y="0"/>
                </a:lnTo>
                <a:lnTo>
                  <a:pt x="0" y="0"/>
                </a:lnTo>
                <a:lnTo>
                  <a:pt x="0" y="57912"/>
                </a:lnTo>
                <a:lnTo>
                  <a:pt x="557987" y="57912"/>
                </a:lnTo>
                <a:lnTo>
                  <a:pt x="845680" y="381000"/>
                </a:lnTo>
                <a:lnTo>
                  <a:pt x="15240" y="381000"/>
                </a:lnTo>
                <a:lnTo>
                  <a:pt x="15240" y="438912"/>
                </a:lnTo>
                <a:lnTo>
                  <a:pt x="897242" y="438912"/>
                </a:lnTo>
                <a:lnTo>
                  <a:pt x="1143914" y="715937"/>
                </a:lnTo>
                <a:lnTo>
                  <a:pt x="24511" y="710184"/>
                </a:lnTo>
                <a:lnTo>
                  <a:pt x="24257" y="768096"/>
                </a:lnTo>
                <a:lnTo>
                  <a:pt x="1195717" y="774128"/>
                </a:lnTo>
                <a:lnTo>
                  <a:pt x="1258824" y="844981"/>
                </a:lnTo>
                <a:lnTo>
                  <a:pt x="1215517" y="883539"/>
                </a:lnTo>
                <a:lnTo>
                  <a:pt x="1395984" y="955548"/>
                </a:lnTo>
                <a:lnTo>
                  <a:pt x="1371968" y="866648"/>
                </a:lnTo>
                <a:lnTo>
                  <a:pt x="1347177" y="774903"/>
                </a:lnTo>
                <a:lnTo>
                  <a:pt x="1797456" y="777214"/>
                </a:lnTo>
                <a:lnTo>
                  <a:pt x="1874443" y="863498"/>
                </a:lnTo>
                <a:lnTo>
                  <a:pt x="1831213" y="902081"/>
                </a:lnTo>
                <a:lnTo>
                  <a:pt x="2011680" y="973836"/>
                </a:lnTo>
                <a:lnTo>
                  <a:pt x="1987613" y="885063"/>
                </a:lnTo>
                <a:lnTo>
                  <a:pt x="1960880" y="786384"/>
                </a:lnTo>
                <a:lnTo>
                  <a:pt x="1917611" y="824992"/>
                </a:lnTo>
                <a:lnTo>
                  <a:pt x="1875345" y="777621"/>
                </a:lnTo>
                <a:lnTo>
                  <a:pt x="2507805" y="780859"/>
                </a:lnTo>
                <a:lnTo>
                  <a:pt x="2520569" y="780923"/>
                </a:lnTo>
                <a:lnTo>
                  <a:pt x="2585453" y="780859"/>
                </a:lnTo>
                <a:close/>
              </a:path>
              <a:path w="2749550" h="1007745">
                <a:moveTo>
                  <a:pt x="2749296" y="1007364"/>
                </a:moveTo>
                <a:lnTo>
                  <a:pt x="2725140" y="918718"/>
                </a:lnTo>
                <a:lnTo>
                  <a:pt x="2698242" y="819912"/>
                </a:lnTo>
                <a:lnTo>
                  <a:pt x="2655036" y="858545"/>
                </a:lnTo>
                <a:lnTo>
                  <a:pt x="2585504" y="780923"/>
                </a:lnTo>
                <a:lnTo>
                  <a:pt x="2520569" y="780923"/>
                </a:lnTo>
                <a:lnTo>
                  <a:pt x="2507869" y="780923"/>
                </a:lnTo>
                <a:lnTo>
                  <a:pt x="2611869" y="897140"/>
                </a:lnTo>
                <a:lnTo>
                  <a:pt x="2568702" y="935736"/>
                </a:lnTo>
                <a:lnTo>
                  <a:pt x="2749296" y="10073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0" y="6504431"/>
            <a:ext cx="1801495" cy="353695"/>
          </a:xfrm>
          <a:custGeom>
            <a:avLst/>
            <a:gdLst/>
            <a:ahLst/>
            <a:cxnLst/>
            <a:rect l="l" t="t" r="r" b="b"/>
            <a:pathLst>
              <a:path w="1801495" h="353695">
                <a:moveTo>
                  <a:pt x="1801368" y="0"/>
                </a:moveTo>
                <a:lnTo>
                  <a:pt x="0" y="0"/>
                </a:lnTo>
                <a:lnTo>
                  <a:pt x="0" y="353568"/>
                </a:lnTo>
                <a:lnTo>
                  <a:pt x="1801368" y="353568"/>
                </a:lnTo>
                <a:lnTo>
                  <a:pt x="18013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327392" y="6504431"/>
            <a:ext cx="1804670" cy="353695"/>
          </a:xfrm>
          <a:custGeom>
            <a:avLst/>
            <a:gdLst/>
            <a:ahLst/>
            <a:cxnLst/>
            <a:rect l="l" t="t" r="r" b="b"/>
            <a:pathLst>
              <a:path w="1804670" h="353695">
                <a:moveTo>
                  <a:pt x="1804416" y="0"/>
                </a:moveTo>
                <a:lnTo>
                  <a:pt x="0" y="0"/>
                </a:lnTo>
                <a:lnTo>
                  <a:pt x="0" y="353568"/>
                </a:lnTo>
                <a:lnTo>
                  <a:pt x="1804416" y="353568"/>
                </a:lnTo>
                <a:lnTo>
                  <a:pt x="18044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793035C7-378B-BE5A-464B-623BB24CDAA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0462C1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0462C1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89213" y="6638266"/>
            <a:ext cx="32004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0462C1"/>
                </a:solidFill>
                <a:latin typeface="Arial"/>
                <a:cs typeface="Arial"/>
              </a:rPr>
              <a:t>4 –</a:t>
            </a:r>
            <a:r>
              <a:rPr sz="900" b="1" spc="-10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462C1"/>
                </a:solidFill>
                <a:latin typeface="Arial"/>
                <a:cs typeface="Arial"/>
              </a:rPr>
              <a:t>23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85501" y="899160"/>
            <a:ext cx="4806525" cy="4434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55951" y="744092"/>
            <a:ext cx="48285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Graph of Moving</a:t>
            </a:r>
            <a:r>
              <a:rPr spc="-225" dirty="0"/>
              <a:t> </a:t>
            </a:r>
            <a:r>
              <a:rPr spc="-40" dirty="0"/>
              <a:t>Average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770888" y="5827776"/>
            <a:ext cx="5690870" cy="518159"/>
            <a:chOff x="1770888" y="5827776"/>
            <a:chExt cx="5690870" cy="518159"/>
          </a:xfrm>
        </p:grpSpPr>
        <p:sp>
          <p:nvSpPr>
            <p:cNvPr id="7" name="object 7"/>
            <p:cNvSpPr/>
            <p:nvPr/>
          </p:nvSpPr>
          <p:spPr>
            <a:xfrm>
              <a:off x="1770888" y="5827776"/>
              <a:ext cx="438912" cy="51816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6376" y="5827776"/>
              <a:ext cx="451104" cy="51816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94432" y="5827776"/>
              <a:ext cx="502919" cy="51816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88208" y="5827776"/>
              <a:ext cx="475488" cy="51816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45408" y="5827776"/>
              <a:ext cx="502920" cy="51816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157472" y="5827776"/>
              <a:ext cx="438912" cy="51816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29911" y="5827776"/>
              <a:ext cx="438912" cy="51816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093208" y="5827776"/>
              <a:ext cx="475488" cy="51816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568696" y="5827776"/>
              <a:ext cx="463296" cy="51816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38088" y="5827776"/>
              <a:ext cx="487680" cy="51816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516623" y="5827776"/>
              <a:ext cx="475487" cy="51816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986016" y="5827776"/>
              <a:ext cx="475487" cy="51816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904492" y="5474309"/>
            <a:ext cx="540766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3020">
              <a:lnSpc>
                <a:spcPct val="125699"/>
              </a:lnSpc>
              <a:spcBef>
                <a:spcPts val="100"/>
              </a:spcBef>
              <a:tabLst>
                <a:tab pos="488315" algn="l"/>
                <a:tab pos="527685" algn="l"/>
                <a:tab pos="935990" algn="l"/>
                <a:tab pos="1000125" algn="l"/>
                <a:tab pos="1430020" algn="l"/>
                <a:tab pos="1482090" algn="l"/>
                <a:tab pos="1887220" algn="l"/>
                <a:tab pos="1951355" algn="l"/>
                <a:tab pos="2399665" algn="l"/>
                <a:tab pos="2433320" algn="l"/>
                <a:tab pos="2872105" algn="l"/>
                <a:tab pos="2905760" algn="l"/>
                <a:tab pos="3335654" algn="l"/>
                <a:tab pos="3387725" algn="l"/>
                <a:tab pos="3811270" algn="l"/>
                <a:tab pos="3856990" algn="l"/>
                <a:tab pos="4281170" algn="l"/>
                <a:tab pos="4338955" algn="l"/>
                <a:tab pos="4759325" algn="l"/>
                <a:tab pos="4811395" algn="l"/>
                <a:tab pos="5229225" algn="l"/>
                <a:tab pos="5281295" algn="l"/>
              </a:tabLst>
            </a:pPr>
            <a:r>
              <a:rPr sz="1800" b="1" i="1" dirty="0">
                <a:latin typeface="Arial"/>
                <a:cs typeface="Arial"/>
              </a:rPr>
              <a:t>|		|		|		|		|		|		|		|		|		|		|		|  </a:t>
            </a:r>
            <a:r>
              <a:rPr sz="1800" b="1" i="1" spc="-5" dirty="0">
                <a:latin typeface="Arial"/>
                <a:cs typeface="Arial"/>
              </a:rPr>
              <a:t>J	F	M	A	M	J	J	A	S	O	N	D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164336" y="2237232"/>
            <a:ext cx="6261100" cy="3627754"/>
            <a:chOff x="1164336" y="2237232"/>
            <a:chExt cx="6261100" cy="3627754"/>
          </a:xfrm>
        </p:grpSpPr>
        <p:sp>
          <p:nvSpPr>
            <p:cNvPr id="21" name="object 21"/>
            <p:cNvSpPr/>
            <p:nvPr/>
          </p:nvSpPr>
          <p:spPr>
            <a:xfrm>
              <a:off x="1702308" y="2311908"/>
              <a:ext cx="5702935" cy="3533140"/>
            </a:xfrm>
            <a:custGeom>
              <a:avLst/>
              <a:gdLst/>
              <a:ahLst/>
              <a:cxnLst/>
              <a:rect l="l" t="t" r="r" b="b"/>
              <a:pathLst>
                <a:path w="5702934" h="3533140">
                  <a:moveTo>
                    <a:pt x="0" y="0"/>
                  </a:moveTo>
                  <a:lnTo>
                    <a:pt x="0" y="3532631"/>
                  </a:lnTo>
                  <a:lnTo>
                    <a:pt x="5702808" y="3532631"/>
                  </a:lnTo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164336" y="2237232"/>
              <a:ext cx="691895" cy="515112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164336" y="2538984"/>
              <a:ext cx="691895" cy="51511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164336" y="2840736"/>
              <a:ext cx="691895" cy="51511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164336" y="3142488"/>
              <a:ext cx="691895" cy="51511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164336" y="3444240"/>
              <a:ext cx="691895" cy="515112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164336" y="3745992"/>
              <a:ext cx="691895" cy="515112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164336" y="4047744"/>
              <a:ext cx="691895" cy="515112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164336" y="4349496"/>
              <a:ext cx="691895" cy="515112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164336" y="4651248"/>
              <a:ext cx="691895" cy="515112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164336" y="4953000"/>
              <a:ext cx="691895" cy="515112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164336" y="5254752"/>
              <a:ext cx="691895" cy="515112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/>
          <p:nvPr/>
        </p:nvSpPr>
        <p:spPr>
          <a:xfrm>
            <a:off x="925459" y="3343801"/>
            <a:ext cx="192590" cy="122651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872148" y="3353216"/>
            <a:ext cx="281305" cy="124650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b="1" i="1" dirty="0">
                <a:latin typeface="Arial"/>
                <a:cs typeface="Arial"/>
              </a:rPr>
              <a:t>Shed</a:t>
            </a:r>
            <a:r>
              <a:rPr sz="1800" b="1" i="1" spc="-9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Sales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298194" y="2267799"/>
            <a:ext cx="534670" cy="33458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800" b="1" i="1" dirty="0">
                <a:latin typeface="Arial"/>
                <a:cs typeface="Arial"/>
              </a:rPr>
              <a:t>30</a:t>
            </a:r>
            <a:r>
              <a:rPr sz="1800" b="1" i="1" spc="39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–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1800" b="1" i="1" dirty="0">
                <a:latin typeface="Arial"/>
                <a:cs typeface="Arial"/>
              </a:rPr>
              <a:t>28</a:t>
            </a:r>
            <a:r>
              <a:rPr sz="1800" b="1" i="1" spc="39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–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b="1" i="1" dirty="0">
                <a:latin typeface="Arial"/>
                <a:cs typeface="Arial"/>
              </a:rPr>
              <a:t>26</a:t>
            </a:r>
            <a:r>
              <a:rPr sz="1800" b="1" i="1" spc="39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–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1800" b="1" i="1" dirty="0">
                <a:latin typeface="Arial"/>
                <a:cs typeface="Arial"/>
              </a:rPr>
              <a:t>24</a:t>
            </a:r>
            <a:r>
              <a:rPr sz="1800" b="1" i="1" spc="39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–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b="1" i="1" dirty="0">
                <a:latin typeface="Arial"/>
                <a:cs typeface="Arial"/>
              </a:rPr>
              <a:t>22</a:t>
            </a:r>
            <a:r>
              <a:rPr sz="1800" b="1" i="1" spc="39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–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b="1" i="1" dirty="0">
                <a:latin typeface="Arial"/>
                <a:cs typeface="Arial"/>
              </a:rPr>
              <a:t>20</a:t>
            </a:r>
            <a:r>
              <a:rPr sz="1800" b="1" i="1" spc="39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–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800" b="1" i="1" dirty="0">
                <a:latin typeface="Arial"/>
                <a:cs typeface="Arial"/>
              </a:rPr>
              <a:t>18</a:t>
            </a:r>
            <a:r>
              <a:rPr sz="1800" b="1" i="1" spc="39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–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b="1" i="1" dirty="0">
                <a:latin typeface="Arial"/>
                <a:cs typeface="Arial"/>
              </a:rPr>
              <a:t>16</a:t>
            </a:r>
            <a:r>
              <a:rPr sz="1800" b="1" i="1" spc="39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–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800" b="1" i="1" dirty="0">
                <a:latin typeface="Arial"/>
                <a:cs typeface="Arial"/>
              </a:rPr>
              <a:t>14</a:t>
            </a:r>
            <a:r>
              <a:rPr sz="1800" b="1" i="1" spc="39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–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b="1" i="1" dirty="0">
                <a:latin typeface="Arial"/>
                <a:cs typeface="Arial"/>
              </a:rPr>
              <a:t>12</a:t>
            </a:r>
            <a:r>
              <a:rPr sz="1800" b="1" i="1" spc="39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–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b="1" i="1" dirty="0">
                <a:latin typeface="Arial"/>
                <a:cs typeface="Arial"/>
              </a:rPr>
              <a:t>10</a:t>
            </a:r>
            <a:r>
              <a:rPr sz="1800" b="1" i="1" spc="39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–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932241" y="2441257"/>
            <a:ext cx="5334635" cy="3109595"/>
            <a:chOff x="1932241" y="2441257"/>
            <a:chExt cx="5334635" cy="3109595"/>
          </a:xfrm>
        </p:grpSpPr>
        <p:sp>
          <p:nvSpPr>
            <p:cNvPr id="37" name="object 37"/>
            <p:cNvSpPr/>
            <p:nvPr/>
          </p:nvSpPr>
          <p:spPr>
            <a:xfrm>
              <a:off x="1982724" y="2491740"/>
              <a:ext cx="5233670" cy="3008630"/>
            </a:xfrm>
            <a:custGeom>
              <a:avLst/>
              <a:gdLst/>
              <a:ahLst/>
              <a:cxnLst/>
              <a:rect l="l" t="t" r="r" b="b"/>
              <a:pathLst>
                <a:path w="5233670" h="3008629">
                  <a:moveTo>
                    <a:pt x="0" y="3008376"/>
                  </a:moveTo>
                  <a:lnTo>
                    <a:pt x="470026" y="2703703"/>
                  </a:lnTo>
                  <a:lnTo>
                    <a:pt x="952626" y="2564130"/>
                  </a:lnTo>
                  <a:lnTo>
                    <a:pt x="1422653" y="2107184"/>
                  </a:lnTo>
                  <a:lnTo>
                    <a:pt x="1905380" y="1662811"/>
                  </a:lnTo>
                  <a:lnTo>
                    <a:pt x="2375408" y="1066292"/>
                  </a:lnTo>
                  <a:lnTo>
                    <a:pt x="2870708" y="583946"/>
                  </a:lnTo>
                  <a:lnTo>
                    <a:pt x="3328035" y="0"/>
                  </a:lnTo>
                  <a:lnTo>
                    <a:pt x="3810762" y="304673"/>
                  </a:lnTo>
                  <a:lnTo>
                    <a:pt x="4280789" y="1802511"/>
                  </a:lnTo>
                  <a:lnTo>
                    <a:pt x="4763389" y="2107184"/>
                  </a:lnTo>
                  <a:lnTo>
                    <a:pt x="5233416" y="2411730"/>
                  </a:lnTo>
                </a:path>
              </a:pathLst>
            </a:custGeom>
            <a:ln w="100583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406140" y="2784348"/>
              <a:ext cx="3810000" cy="2499360"/>
            </a:xfrm>
            <a:custGeom>
              <a:avLst/>
              <a:gdLst/>
              <a:ahLst/>
              <a:cxnLst/>
              <a:rect l="l" t="t" r="r" b="b"/>
              <a:pathLst>
                <a:path w="3810000" h="2499360">
                  <a:moveTo>
                    <a:pt x="0" y="2499360"/>
                  </a:moveTo>
                  <a:lnTo>
                    <a:pt x="482600" y="2182241"/>
                  </a:lnTo>
                  <a:lnTo>
                    <a:pt x="952500" y="1814195"/>
                  </a:lnTo>
                  <a:lnTo>
                    <a:pt x="1435100" y="1306829"/>
                  </a:lnTo>
                  <a:lnTo>
                    <a:pt x="1905000" y="799338"/>
                  </a:lnTo>
                  <a:lnTo>
                    <a:pt x="2387600" y="228346"/>
                  </a:lnTo>
                  <a:lnTo>
                    <a:pt x="2857500" y="0"/>
                  </a:lnTo>
                  <a:lnTo>
                    <a:pt x="3340100" y="393318"/>
                  </a:lnTo>
                  <a:lnTo>
                    <a:pt x="3810000" y="1091057"/>
                  </a:lnTo>
                </a:path>
              </a:pathLst>
            </a:custGeom>
            <a:ln w="100584">
              <a:solidFill>
                <a:srgbClr val="0462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834640" y="2657856"/>
              <a:ext cx="1423415" cy="682751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898648" y="2968752"/>
              <a:ext cx="1210055" cy="682752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3013710" y="2740228"/>
            <a:ext cx="957580" cy="702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665"/>
              </a:lnSpc>
              <a:spcBef>
                <a:spcPts val="100"/>
              </a:spcBef>
            </a:pPr>
            <a:r>
              <a:rPr sz="2400" b="1" i="1" dirty="0">
                <a:latin typeface="Arial"/>
                <a:cs typeface="Arial"/>
              </a:rPr>
              <a:t>Act</a:t>
            </a:r>
            <a:r>
              <a:rPr sz="2400" b="1" i="1" spc="-10" dirty="0">
                <a:latin typeface="Arial"/>
                <a:cs typeface="Arial"/>
              </a:rPr>
              <a:t>u</a:t>
            </a:r>
            <a:r>
              <a:rPr sz="2400" b="1" i="1" dirty="0">
                <a:latin typeface="Arial"/>
                <a:cs typeface="Arial"/>
              </a:rPr>
              <a:t>al</a:t>
            </a:r>
            <a:endParaRPr sz="2400">
              <a:latin typeface="Arial"/>
              <a:cs typeface="Arial"/>
            </a:endParaRPr>
          </a:p>
          <a:p>
            <a:pPr marL="76200">
              <a:lnSpc>
                <a:spcPts val="2665"/>
              </a:lnSpc>
            </a:pPr>
            <a:r>
              <a:rPr sz="2400" b="1" i="1" dirty="0">
                <a:latin typeface="Arial"/>
                <a:cs typeface="Arial"/>
              </a:rPr>
              <a:t>Sales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496817" y="1691639"/>
            <a:ext cx="4669155" cy="2235835"/>
            <a:chOff x="3496817" y="1691639"/>
            <a:chExt cx="4669155" cy="2235835"/>
          </a:xfrm>
        </p:grpSpPr>
        <p:sp>
          <p:nvSpPr>
            <p:cNvPr id="43" name="object 43"/>
            <p:cNvSpPr/>
            <p:nvPr/>
          </p:nvSpPr>
          <p:spPr>
            <a:xfrm>
              <a:off x="3496817" y="3411854"/>
              <a:ext cx="443230" cy="515620"/>
            </a:xfrm>
            <a:custGeom>
              <a:avLst/>
              <a:gdLst/>
              <a:ahLst/>
              <a:cxnLst/>
              <a:rect l="l" t="t" r="r" b="b"/>
              <a:pathLst>
                <a:path w="443229" h="515620">
                  <a:moveTo>
                    <a:pt x="308355" y="401616"/>
                  </a:moveTo>
                  <a:lnTo>
                    <a:pt x="264160" y="439039"/>
                  </a:lnTo>
                  <a:lnTo>
                    <a:pt x="442722" y="515493"/>
                  </a:lnTo>
                  <a:lnTo>
                    <a:pt x="420353" y="423672"/>
                  </a:lnTo>
                  <a:lnTo>
                    <a:pt x="327025" y="423672"/>
                  </a:lnTo>
                  <a:lnTo>
                    <a:pt x="308355" y="401616"/>
                  </a:lnTo>
                  <a:close/>
                </a:path>
                <a:path w="443229" h="515620">
                  <a:moveTo>
                    <a:pt x="352509" y="364229"/>
                  </a:moveTo>
                  <a:lnTo>
                    <a:pt x="308355" y="401616"/>
                  </a:lnTo>
                  <a:lnTo>
                    <a:pt x="327025" y="423672"/>
                  </a:lnTo>
                  <a:lnTo>
                    <a:pt x="371221" y="386334"/>
                  </a:lnTo>
                  <a:lnTo>
                    <a:pt x="352509" y="364229"/>
                  </a:lnTo>
                  <a:close/>
                </a:path>
                <a:path w="443229" h="515620">
                  <a:moveTo>
                    <a:pt x="396748" y="326771"/>
                  </a:moveTo>
                  <a:lnTo>
                    <a:pt x="352509" y="364229"/>
                  </a:lnTo>
                  <a:lnTo>
                    <a:pt x="371221" y="386334"/>
                  </a:lnTo>
                  <a:lnTo>
                    <a:pt x="327025" y="423672"/>
                  </a:lnTo>
                  <a:lnTo>
                    <a:pt x="420353" y="423672"/>
                  </a:lnTo>
                  <a:lnTo>
                    <a:pt x="396748" y="326771"/>
                  </a:lnTo>
                  <a:close/>
                </a:path>
                <a:path w="443229" h="515620">
                  <a:moveTo>
                    <a:pt x="44196" y="0"/>
                  </a:moveTo>
                  <a:lnTo>
                    <a:pt x="0" y="37337"/>
                  </a:lnTo>
                  <a:lnTo>
                    <a:pt x="308355" y="401616"/>
                  </a:lnTo>
                  <a:lnTo>
                    <a:pt x="352509" y="364229"/>
                  </a:lnTo>
                  <a:lnTo>
                    <a:pt x="441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537960" y="1691639"/>
              <a:ext cx="1557527" cy="682751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467855" y="2002535"/>
              <a:ext cx="1697736" cy="682751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434327" y="2313431"/>
              <a:ext cx="1682496" cy="682751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6616065" y="1774952"/>
            <a:ext cx="1299210" cy="101346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5080" indent="103505" algn="just">
              <a:lnSpc>
                <a:spcPct val="85000"/>
              </a:lnSpc>
              <a:spcBef>
                <a:spcPts val="530"/>
              </a:spcBef>
            </a:pPr>
            <a:r>
              <a:rPr sz="2400" b="1" i="1" spc="-5" dirty="0">
                <a:latin typeface="Arial"/>
                <a:cs typeface="Arial"/>
              </a:rPr>
              <a:t>Moving  </a:t>
            </a:r>
            <a:r>
              <a:rPr sz="2400" b="1" i="1" dirty="0">
                <a:latin typeface="Arial"/>
                <a:cs typeface="Arial"/>
              </a:rPr>
              <a:t>Average  </a:t>
            </a:r>
            <a:r>
              <a:rPr sz="2400" b="1" i="1" spc="-5" dirty="0">
                <a:latin typeface="Arial"/>
                <a:cs typeface="Arial"/>
              </a:rPr>
              <a:t>For</a:t>
            </a:r>
            <a:r>
              <a:rPr sz="2400" b="1" i="1" dirty="0">
                <a:latin typeface="Arial"/>
                <a:cs typeface="Arial"/>
              </a:rPr>
              <a:t>ecast</a:t>
            </a:r>
            <a:endParaRPr sz="24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6987540" y="2794254"/>
            <a:ext cx="290195" cy="471805"/>
          </a:xfrm>
          <a:custGeom>
            <a:avLst/>
            <a:gdLst/>
            <a:ahLst/>
            <a:cxnLst/>
            <a:rect l="l" t="t" r="r" b="b"/>
            <a:pathLst>
              <a:path w="290195" h="471804">
                <a:moveTo>
                  <a:pt x="12064" y="277749"/>
                </a:moveTo>
                <a:lnTo>
                  <a:pt x="0" y="471678"/>
                </a:lnTo>
                <a:lnTo>
                  <a:pt x="162305" y="364998"/>
                </a:lnTo>
                <a:lnTo>
                  <a:pt x="155307" y="360934"/>
                </a:lnTo>
                <a:lnTo>
                  <a:pt x="97662" y="360934"/>
                </a:lnTo>
                <a:lnTo>
                  <a:pt x="47625" y="331850"/>
                </a:lnTo>
                <a:lnTo>
                  <a:pt x="62141" y="306829"/>
                </a:lnTo>
                <a:lnTo>
                  <a:pt x="12064" y="277749"/>
                </a:lnTo>
                <a:close/>
              </a:path>
              <a:path w="290195" h="471804">
                <a:moveTo>
                  <a:pt x="62141" y="306829"/>
                </a:moveTo>
                <a:lnTo>
                  <a:pt x="47625" y="331850"/>
                </a:lnTo>
                <a:lnTo>
                  <a:pt x="97662" y="360934"/>
                </a:lnTo>
                <a:lnTo>
                  <a:pt x="112186" y="335892"/>
                </a:lnTo>
                <a:lnTo>
                  <a:pt x="62141" y="306829"/>
                </a:lnTo>
                <a:close/>
              </a:path>
              <a:path w="290195" h="471804">
                <a:moveTo>
                  <a:pt x="112186" y="335892"/>
                </a:moveTo>
                <a:lnTo>
                  <a:pt x="97662" y="360934"/>
                </a:lnTo>
                <a:lnTo>
                  <a:pt x="155307" y="360934"/>
                </a:lnTo>
                <a:lnTo>
                  <a:pt x="112186" y="335892"/>
                </a:lnTo>
                <a:close/>
              </a:path>
              <a:path w="290195" h="471804">
                <a:moveTo>
                  <a:pt x="240156" y="0"/>
                </a:moveTo>
                <a:lnTo>
                  <a:pt x="62141" y="306829"/>
                </a:lnTo>
                <a:lnTo>
                  <a:pt x="112186" y="335892"/>
                </a:lnTo>
                <a:lnTo>
                  <a:pt x="290194" y="28956"/>
                </a:lnTo>
                <a:lnTo>
                  <a:pt x="2401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0" y="6504431"/>
            <a:ext cx="1801495" cy="353695"/>
          </a:xfrm>
          <a:custGeom>
            <a:avLst/>
            <a:gdLst/>
            <a:ahLst/>
            <a:cxnLst/>
            <a:rect l="l" t="t" r="r" b="b"/>
            <a:pathLst>
              <a:path w="1801495" h="353695">
                <a:moveTo>
                  <a:pt x="1801368" y="0"/>
                </a:moveTo>
                <a:lnTo>
                  <a:pt x="0" y="0"/>
                </a:lnTo>
                <a:lnTo>
                  <a:pt x="0" y="353568"/>
                </a:lnTo>
                <a:lnTo>
                  <a:pt x="1801368" y="353568"/>
                </a:lnTo>
                <a:lnTo>
                  <a:pt x="18013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327392" y="6504431"/>
            <a:ext cx="1804670" cy="353695"/>
          </a:xfrm>
          <a:custGeom>
            <a:avLst/>
            <a:gdLst/>
            <a:ahLst/>
            <a:cxnLst/>
            <a:rect l="l" t="t" r="r" b="b"/>
            <a:pathLst>
              <a:path w="1804670" h="353695">
                <a:moveTo>
                  <a:pt x="1804416" y="0"/>
                </a:moveTo>
                <a:lnTo>
                  <a:pt x="0" y="0"/>
                </a:lnTo>
                <a:lnTo>
                  <a:pt x="0" y="353568"/>
                </a:lnTo>
                <a:lnTo>
                  <a:pt x="1804416" y="353568"/>
                </a:lnTo>
                <a:lnTo>
                  <a:pt x="18044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Slide Number Placeholder 50">
            <a:extLst>
              <a:ext uri="{FF2B5EF4-FFF2-40B4-BE49-F238E27FC236}">
                <a16:creationId xmlns:a16="http://schemas.microsoft.com/office/drawing/2014/main" id="{C7A7694B-8648-4FC3-319B-5D11A0FD0EB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0462C1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0462C1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89213" y="6638266"/>
            <a:ext cx="32004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0462C1"/>
                </a:solidFill>
                <a:latin typeface="Arial"/>
                <a:cs typeface="Arial"/>
              </a:rPr>
              <a:t>4 –</a:t>
            </a:r>
            <a:r>
              <a:rPr sz="900" b="1" spc="-10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462C1"/>
                </a:solidFill>
                <a:latin typeface="Arial"/>
                <a:cs typeface="Arial"/>
              </a:rPr>
              <a:t>24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351621" y="847344"/>
            <a:ext cx="4482465" cy="1179830"/>
            <a:chOff x="2351621" y="847344"/>
            <a:chExt cx="4482465" cy="1179830"/>
          </a:xfrm>
        </p:grpSpPr>
        <p:sp>
          <p:nvSpPr>
            <p:cNvPr id="5" name="object 5"/>
            <p:cNvSpPr/>
            <p:nvPr/>
          </p:nvSpPr>
          <p:spPr>
            <a:xfrm>
              <a:off x="2351621" y="847344"/>
              <a:ext cx="4481906" cy="35661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19400" y="1011936"/>
              <a:ext cx="3657600" cy="101498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326639" y="693496"/>
            <a:ext cx="4491355" cy="1014094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777875" marR="5080" indent="-765810">
              <a:lnSpc>
                <a:spcPts val="3460"/>
              </a:lnSpc>
              <a:spcBef>
                <a:spcPts val="935"/>
              </a:spcBef>
            </a:pPr>
            <a:r>
              <a:rPr dirty="0"/>
              <a:t>Potential </a:t>
            </a:r>
            <a:r>
              <a:rPr spc="-5" dirty="0"/>
              <a:t>Problems</a:t>
            </a:r>
            <a:r>
              <a:rPr spc="-155" dirty="0"/>
              <a:t> </a:t>
            </a:r>
            <a:r>
              <a:rPr spc="-40" dirty="0"/>
              <a:t>With  </a:t>
            </a:r>
            <a:r>
              <a:rPr spc="-5" dirty="0"/>
              <a:t>Moving</a:t>
            </a:r>
            <a:r>
              <a:rPr spc="-215" dirty="0"/>
              <a:t> </a:t>
            </a:r>
            <a:r>
              <a:rPr spc="-40" dirty="0"/>
              <a:t>Average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86155" y="2298268"/>
            <a:ext cx="6981825" cy="1581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4030" indent="-481965">
              <a:lnSpc>
                <a:spcPts val="2740"/>
              </a:lnSpc>
              <a:spcBef>
                <a:spcPts val="100"/>
              </a:spcBef>
              <a:buFont typeface="Wingdings"/>
              <a:buChar char=""/>
              <a:tabLst>
                <a:tab pos="494030" algn="l"/>
                <a:tab pos="494665" algn="l"/>
              </a:tabLst>
            </a:pPr>
            <a:r>
              <a:rPr sz="2400" spc="-10" dirty="0">
                <a:latin typeface="Times New Roman"/>
                <a:cs typeface="Times New Roman"/>
              </a:rPr>
              <a:t>Increasing </a:t>
            </a:r>
            <a:r>
              <a:rPr sz="2400" dirty="0">
                <a:latin typeface="Times New Roman"/>
                <a:cs typeface="Times New Roman"/>
              </a:rPr>
              <a:t>n , smoothes the </a:t>
            </a:r>
            <a:r>
              <a:rPr sz="2400" spc="-10" dirty="0">
                <a:latin typeface="Times New Roman"/>
                <a:cs typeface="Times New Roman"/>
              </a:rPr>
              <a:t>forecast </a:t>
            </a:r>
            <a:r>
              <a:rPr sz="2400" dirty="0">
                <a:latin typeface="Times New Roman"/>
                <a:cs typeface="Times New Roman"/>
              </a:rPr>
              <a:t>but </a:t>
            </a:r>
            <a:r>
              <a:rPr sz="2400" spc="-5" dirty="0">
                <a:latin typeface="Times New Roman"/>
                <a:cs typeface="Times New Roman"/>
              </a:rPr>
              <a:t>makes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less</a:t>
            </a:r>
            <a:endParaRPr sz="2400">
              <a:latin typeface="Times New Roman"/>
              <a:cs typeface="Times New Roman"/>
            </a:endParaRPr>
          </a:p>
          <a:p>
            <a:pPr marL="494030">
              <a:lnSpc>
                <a:spcPts val="2740"/>
              </a:lnSpc>
            </a:pPr>
            <a:r>
              <a:rPr sz="2400" dirty="0">
                <a:latin typeface="Times New Roman"/>
                <a:cs typeface="Times New Roman"/>
              </a:rPr>
              <a:t>sensitive to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changes</a:t>
            </a:r>
            <a:endParaRPr sz="2400">
              <a:latin typeface="Times New Roman"/>
              <a:cs typeface="Times New Roman"/>
            </a:endParaRPr>
          </a:p>
          <a:p>
            <a:pPr marL="494030" indent="-481965">
              <a:lnSpc>
                <a:spcPct val="100000"/>
              </a:lnSpc>
              <a:spcBef>
                <a:spcPts val="505"/>
              </a:spcBef>
              <a:buFont typeface="Wingdings"/>
              <a:buChar char=""/>
              <a:tabLst>
                <a:tab pos="494030" algn="l"/>
                <a:tab pos="494665" algn="l"/>
              </a:tabLst>
            </a:pPr>
            <a:r>
              <a:rPr sz="2400" dirty="0">
                <a:latin typeface="Times New Roman"/>
                <a:cs typeface="Times New Roman"/>
              </a:rPr>
              <a:t>Do not </a:t>
            </a:r>
            <a:r>
              <a:rPr sz="2400" spc="-5" dirty="0">
                <a:latin typeface="Times New Roman"/>
                <a:cs typeface="Times New Roman"/>
              </a:rPr>
              <a:t>forecast trends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well</a:t>
            </a:r>
            <a:endParaRPr sz="2400">
              <a:latin typeface="Times New Roman"/>
              <a:cs typeface="Times New Roman"/>
            </a:endParaRPr>
          </a:p>
          <a:p>
            <a:pPr marL="494030" indent="-481965">
              <a:lnSpc>
                <a:spcPct val="100000"/>
              </a:lnSpc>
              <a:spcBef>
                <a:spcPts val="505"/>
              </a:spcBef>
              <a:buFont typeface="Wingdings"/>
              <a:buChar char=""/>
              <a:tabLst>
                <a:tab pos="494030" algn="l"/>
                <a:tab pos="494665" algn="l"/>
              </a:tabLst>
            </a:pPr>
            <a:r>
              <a:rPr sz="2400" dirty="0">
                <a:latin typeface="Times New Roman"/>
                <a:cs typeface="Times New Roman"/>
              </a:rPr>
              <a:t>Require extensive historical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6504431"/>
            <a:ext cx="1801495" cy="353695"/>
          </a:xfrm>
          <a:custGeom>
            <a:avLst/>
            <a:gdLst/>
            <a:ahLst/>
            <a:cxnLst/>
            <a:rect l="l" t="t" r="r" b="b"/>
            <a:pathLst>
              <a:path w="1801495" h="353695">
                <a:moveTo>
                  <a:pt x="1801368" y="0"/>
                </a:moveTo>
                <a:lnTo>
                  <a:pt x="0" y="0"/>
                </a:lnTo>
                <a:lnTo>
                  <a:pt x="0" y="353568"/>
                </a:lnTo>
                <a:lnTo>
                  <a:pt x="1801368" y="353568"/>
                </a:lnTo>
                <a:lnTo>
                  <a:pt x="18013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327392" y="6504431"/>
            <a:ext cx="1804670" cy="353695"/>
          </a:xfrm>
          <a:custGeom>
            <a:avLst/>
            <a:gdLst/>
            <a:ahLst/>
            <a:cxnLst/>
            <a:rect l="l" t="t" r="r" b="b"/>
            <a:pathLst>
              <a:path w="1804670" h="353695">
                <a:moveTo>
                  <a:pt x="1804416" y="0"/>
                </a:moveTo>
                <a:lnTo>
                  <a:pt x="0" y="0"/>
                </a:lnTo>
                <a:lnTo>
                  <a:pt x="0" y="353568"/>
                </a:lnTo>
                <a:lnTo>
                  <a:pt x="1804416" y="353568"/>
                </a:lnTo>
                <a:lnTo>
                  <a:pt x="18044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6BA0756-0B86-FB82-4274-FBCFA722721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0462C1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0462C1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89213" y="6638266"/>
            <a:ext cx="32004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0462C1"/>
                </a:solidFill>
                <a:latin typeface="Arial"/>
                <a:cs typeface="Arial"/>
              </a:rPr>
              <a:t>4 –</a:t>
            </a:r>
            <a:r>
              <a:rPr sz="900" b="1" spc="-10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462C1"/>
                </a:solidFill>
                <a:latin typeface="Arial"/>
                <a:cs typeface="Arial"/>
              </a:rPr>
              <a:t>25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29027" y="813816"/>
            <a:ext cx="4914900" cy="4480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04135" y="659079"/>
            <a:ext cx="49333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Weighted </a:t>
            </a:r>
            <a:r>
              <a:rPr spc="-5" dirty="0"/>
              <a:t>Moving</a:t>
            </a:r>
            <a:r>
              <a:rPr spc="-195" dirty="0"/>
              <a:t> </a:t>
            </a:r>
            <a:r>
              <a:rPr spc="-40" dirty="0"/>
              <a:t>Average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67232" y="2081911"/>
            <a:ext cx="7172959" cy="202501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69315" indent="-171450">
              <a:lnSpc>
                <a:spcPts val="2160"/>
              </a:lnSpc>
              <a:spcBef>
                <a:spcPts val="90"/>
              </a:spcBef>
              <a:buSzPct val="65000"/>
              <a:buFont typeface="Wingdings"/>
              <a:buChar char=""/>
              <a:tabLst>
                <a:tab pos="869950" algn="l"/>
              </a:tabLst>
            </a:pPr>
            <a:r>
              <a:rPr sz="2000" spc="-20" dirty="0">
                <a:latin typeface="Times New Roman"/>
                <a:cs typeface="Times New Roman"/>
              </a:rPr>
              <a:t>Assumes </a:t>
            </a:r>
            <a:r>
              <a:rPr sz="2000" spc="-5" dirty="0">
                <a:latin typeface="Times New Roman"/>
                <a:cs typeface="Times New Roman"/>
              </a:rPr>
              <a:t>data </a:t>
            </a:r>
            <a:r>
              <a:rPr sz="2000" spc="-10" dirty="0">
                <a:latin typeface="Times New Roman"/>
                <a:cs typeface="Times New Roman"/>
              </a:rPr>
              <a:t>from </a:t>
            </a:r>
            <a:r>
              <a:rPr sz="2000" spc="-15" dirty="0">
                <a:latin typeface="Times New Roman"/>
                <a:cs typeface="Times New Roman"/>
              </a:rPr>
              <a:t>some </a:t>
            </a:r>
            <a:r>
              <a:rPr sz="2000" dirty="0">
                <a:latin typeface="Times New Roman"/>
                <a:cs typeface="Times New Roman"/>
              </a:rPr>
              <a:t>periods are </a:t>
            </a:r>
            <a:r>
              <a:rPr sz="2000" spc="-15" dirty="0">
                <a:latin typeface="Times New Roman"/>
                <a:cs typeface="Times New Roman"/>
              </a:rPr>
              <a:t>more </a:t>
            </a:r>
            <a:r>
              <a:rPr sz="2000" spc="-10" dirty="0">
                <a:latin typeface="Times New Roman"/>
                <a:cs typeface="Times New Roman"/>
              </a:rPr>
              <a:t>important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than</a:t>
            </a:r>
            <a:endParaRPr sz="2000" dirty="0">
              <a:latin typeface="Times New Roman"/>
              <a:cs typeface="Times New Roman"/>
            </a:endParaRPr>
          </a:p>
          <a:p>
            <a:pPr marL="869315">
              <a:lnSpc>
                <a:spcPts val="2160"/>
              </a:lnSpc>
            </a:pPr>
            <a:r>
              <a:rPr sz="2000" spc="-5" dirty="0">
                <a:latin typeface="Times New Roman"/>
                <a:cs typeface="Times New Roman"/>
              </a:rPr>
              <a:t>data </a:t>
            </a:r>
            <a:r>
              <a:rPr sz="2000" spc="-10" dirty="0">
                <a:latin typeface="Times New Roman"/>
                <a:cs typeface="Times New Roman"/>
              </a:rPr>
              <a:t>from other </a:t>
            </a:r>
            <a:r>
              <a:rPr sz="2000" dirty="0">
                <a:latin typeface="Times New Roman"/>
                <a:cs typeface="Times New Roman"/>
              </a:rPr>
              <a:t>periods </a:t>
            </a:r>
            <a:r>
              <a:rPr sz="2000" spc="-5" dirty="0">
                <a:latin typeface="Times New Roman"/>
                <a:cs typeface="Times New Roman"/>
              </a:rPr>
              <a:t>(e.g. earlier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periods).</a:t>
            </a:r>
            <a:endParaRPr sz="2000" dirty="0">
              <a:latin typeface="Times New Roman"/>
              <a:cs typeface="Times New Roman"/>
            </a:endParaRPr>
          </a:p>
          <a:p>
            <a:pPr marL="869315" indent="-171450">
              <a:lnSpc>
                <a:spcPts val="2160"/>
              </a:lnSpc>
              <a:spcBef>
                <a:spcPts val="5"/>
              </a:spcBef>
              <a:buSzPct val="65000"/>
              <a:buFont typeface="Wingdings"/>
              <a:buChar char=""/>
              <a:tabLst>
                <a:tab pos="869950" algn="l"/>
              </a:tabLst>
            </a:pPr>
            <a:r>
              <a:rPr sz="2000" spc="-5" dirty="0">
                <a:latin typeface="Times New Roman"/>
                <a:cs typeface="Times New Roman"/>
              </a:rPr>
              <a:t>Use </a:t>
            </a:r>
            <a:r>
              <a:rPr sz="2000" spc="-15" dirty="0">
                <a:latin typeface="Times New Roman"/>
                <a:cs typeface="Times New Roman"/>
              </a:rPr>
              <a:t>weights </a:t>
            </a:r>
            <a:r>
              <a:rPr sz="2000" spc="-5" dirty="0">
                <a:latin typeface="Times New Roman"/>
                <a:cs typeface="Times New Roman"/>
              </a:rPr>
              <a:t>to place </a:t>
            </a:r>
            <a:r>
              <a:rPr sz="2000" spc="-15" dirty="0">
                <a:solidFill>
                  <a:srgbClr val="FF0000"/>
                </a:solidFill>
                <a:latin typeface="Times New Roman"/>
                <a:cs typeface="Times New Roman"/>
              </a:rPr>
              <a:t>more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emphasis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on </a:t>
            </a:r>
            <a:r>
              <a:rPr sz="2000" spc="-15" dirty="0">
                <a:solidFill>
                  <a:srgbClr val="FF0000"/>
                </a:solidFill>
                <a:latin typeface="Times New Roman"/>
                <a:cs typeface="Times New Roman"/>
              </a:rPr>
              <a:t>some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periods </a:t>
            </a:r>
            <a:r>
              <a:rPr sz="2000" spc="-10" dirty="0">
                <a:latin typeface="Times New Roman"/>
                <a:cs typeface="Times New Roman"/>
              </a:rPr>
              <a:t>and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less</a:t>
            </a:r>
            <a:endParaRPr sz="2000" dirty="0">
              <a:latin typeface="Times New Roman"/>
              <a:cs typeface="Times New Roman"/>
            </a:endParaRPr>
          </a:p>
          <a:p>
            <a:pPr marL="869315">
              <a:lnSpc>
                <a:spcPts val="2160"/>
              </a:lnSpc>
            </a:pPr>
            <a:r>
              <a:rPr sz="2000" spc="-5" dirty="0">
                <a:latin typeface="Times New Roman"/>
                <a:cs typeface="Times New Roman"/>
              </a:rPr>
              <a:t>on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others</a:t>
            </a:r>
            <a:endParaRPr sz="2000" dirty="0">
              <a:latin typeface="Times New Roman"/>
              <a:cs typeface="Times New Roman"/>
            </a:endParaRPr>
          </a:p>
          <a:p>
            <a:pPr marL="494030" indent="-481965">
              <a:lnSpc>
                <a:spcPts val="2245"/>
              </a:lnSpc>
              <a:spcBef>
                <a:spcPts val="145"/>
              </a:spcBef>
              <a:buFont typeface="Wingdings"/>
              <a:buChar char=""/>
              <a:tabLst>
                <a:tab pos="494030" algn="l"/>
                <a:tab pos="494665" algn="l"/>
              </a:tabLst>
            </a:pPr>
            <a:r>
              <a:rPr sz="2000" spc="-5" dirty="0">
                <a:latin typeface="Times New Roman"/>
                <a:cs typeface="Times New Roman"/>
              </a:rPr>
              <a:t>Used </a:t>
            </a:r>
            <a:r>
              <a:rPr sz="2000" spc="-25" dirty="0">
                <a:latin typeface="Times New Roman"/>
                <a:cs typeface="Times New Roman"/>
              </a:rPr>
              <a:t>when </a:t>
            </a:r>
            <a:r>
              <a:rPr sz="2000" spc="-10" dirty="0">
                <a:latin typeface="Times New Roman"/>
                <a:cs typeface="Times New Roman"/>
              </a:rPr>
              <a:t>trend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present</a:t>
            </a:r>
            <a:endParaRPr sz="2000" dirty="0">
              <a:latin typeface="Times New Roman"/>
              <a:cs typeface="Times New Roman"/>
            </a:endParaRPr>
          </a:p>
          <a:p>
            <a:pPr marL="685800">
              <a:lnSpc>
                <a:spcPts val="2245"/>
              </a:lnSpc>
              <a:tabLst>
                <a:tab pos="1067435" algn="l"/>
              </a:tabLst>
            </a:pPr>
            <a:r>
              <a:rPr sz="2000" spc="-5" dirty="0">
                <a:latin typeface="Wingdings"/>
                <a:cs typeface="Wingdings"/>
              </a:rPr>
              <a:t></a:t>
            </a:r>
            <a:r>
              <a:rPr sz="2000" spc="-5" dirty="0">
                <a:latin typeface="Times New Roman"/>
                <a:cs typeface="Times New Roman"/>
              </a:rPr>
              <a:t>	Older data </a:t>
            </a:r>
            <a:r>
              <a:rPr sz="2000" spc="-10" dirty="0">
                <a:latin typeface="Times New Roman"/>
                <a:cs typeface="Times New Roman"/>
              </a:rPr>
              <a:t>usually 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less</a:t>
            </a:r>
            <a:r>
              <a:rPr sz="200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important</a:t>
            </a:r>
            <a:endParaRPr sz="20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94030" indent="-481965">
              <a:lnSpc>
                <a:spcPct val="100000"/>
              </a:lnSpc>
              <a:spcBef>
                <a:spcPts val="75"/>
              </a:spcBef>
              <a:buFont typeface="Wingdings"/>
              <a:buChar char=""/>
              <a:tabLst>
                <a:tab pos="494030" algn="l"/>
                <a:tab pos="494665" algn="l"/>
              </a:tabLst>
            </a:pPr>
            <a:r>
              <a:rPr sz="2000" spc="-30" dirty="0">
                <a:latin typeface="Times New Roman"/>
                <a:cs typeface="Times New Roman"/>
              </a:rPr>
              <a:t>Weights 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based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on 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experience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000" spc="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intuition</a:t>
            </a:r>
            <a:endParaRPr sz="20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139952" y="4951895"/>
            <a:ext cx="2392680" cy="805815"/>
            <a:chOff x="1139952" y="4951895"/>
            <a:chExt cx="2392680" cy="805815"/>
          </a:xfrm>
        </p:grpSpPr>
        <p:sp>
          <p:nvSpPr>
            <p:cNvPr id="8" name="object 8"/>
            <p:cNvSpPr/>
            <p:nvPr/>
          </p:nvSpPr>
          <p:spPr>
            <a:xfrm>
              <a:off x="1781556" y="4951895"/>
              <a:ext cx="1161288" cy="29784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39952" y="5074920"/>
              <a:ext cx="2392680" cy="68275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320800" y="4841875"/>
            <a:ext cx="2010410" cy="70231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 indent="408305">
              <a:lnSpc>
                <a:spcPts val="2450"/>
              </a:lnSpc>
              <a:spcBef>
                <a:spcPts val="540"/>
              </a:spcBef>
            </a:pPr>
            <a:r>
              <a:rPr sz="2400" b="1" i="1" spc="-25" dirty="0">
                <a:latin typeface="Times New Roman"/>
                <a:cs typeface="Times New Roman"/>
              </a:rPr>
              <a:t>Weighted  </a:t>
            </a:r>
            <a:r>
              <a:rPr sz="2400" b="1" i="1" dirty="0">
                <a:latin typeface="Times New Roman"/>
                <a:cs typeface="Times New Roman"/>
              </a:rPr>
              <a:t>moving</a:t>
            </a:r>
            <a:r>
              <a:rPr sz="2400" b="1" i="1" spc="-114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average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832859" y="5179083"/>
            <a:ext cx="178307" cy="13288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797934" y="5025085"/>
            <a:ext cx="2038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latin typeface="Arial"/>
                <a:cs typeface="Arial"/>
              </a:rPr>
              <a:t>=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181366" y="4361688"/>
            <a:ext cx="3475354" cy="1012190"/>
            <a:chOff x="4181366" y="4361688"/>
            <a:chExt cx="3475354" cy="1012190"/>
          </a:xfrm>
        </p:grpSpPr>
        <p:sp>
          <p:nvSpPr>
            <p:cNvPr id="14" name="object 14"/>
            <p:cNvSpPr/>
            <p:nvPr/>
          </p:nvSpPr>
          <p:spPr>
            <a:xfrm>
              <a:off x="4181366" y="4540394"/>
              <a:ext cx="228043" cy="30700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3295" y="4361688"/>
              <a:ext cx="509015" cy="68275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373879" y="4361688"/>
              <a:ext cx="2807207" cy="682751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772655" y="4361688"/>
              <a:ext cx="509016" cy="682751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370831" y="4690872"/>
              <a:ext cx="637032" cy="68275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99431" y="4690872"/>
              <a:ext cx="509015" cy="68275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700015" y="4690872"/>
              <a:ext cx="2855976" cy="68275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147559" y="4690872"/>
              <a:ext cx="509016" cy="682751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160265" y="4437633"/>
            <a:ext cx="3295650" cy="720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35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∑ 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weight for period</a:t>
            </a:r>
            <a:r>
              <a:rPr sz="2400" b="1" i="1" spc="-15" dirty="0">
                <a:latin typeface="Times New Roman"/>
                <a:cs typeface="Times New Roman"/>
              </a:rPr>
              <a:t> </a:t>
            </a:r>
            <a:r>
              <a:rPr sz="2400" b="1" i="1" spc="10" dirty="0">
                <a:latin typeface="Times New Roman"/>
                <a:cs typeface="Times New Roman"/>
              </a:rPr>
              <a:t>n</a:t>
            </a:r>
            <a:r>
              <a:rPr sz="2400" b="1" spc="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403225">
              <a:lnSpc>
                <a:spcPts val="2735"/>
              </a:lnSpc>
            </a:pPr>
            <a:r>
              <a:rPr sz="2400" b="1" i="1" dirty="0">
                <a:latin typeface="Times New Roman"/>
                <a:cs typeface="Times New Roman"/>
              </a:rPr>
              <a:t>x </a:t>
            </a:r>
            <a:r>
              <a:rPr sz="2400" b="1" dirty="0">
                <a:latin typeface="Times New Roman"/>
                <a:cs typeface="Times New Roman"/>
              </a:rPr>
              <a:t>(</a:t>
            </a:r>
            <a:r>
              <a:rPr sz="2400" b="1" i="1" dirty="0">
                <a:latin typeface="Times New Roman"/>
                <a:cs typeface="Times New Roman"/>
              </a:rPr>
              <a:t>demand in </a:t>
            </a:r>
            <a:r>
              <a:rPr sz="2400" b="1" i="1" spc="-5" dirty="0">
                <a:latin typeface="Times New Roman"/>
                <a:cs typeface="Times New Roman"/>
              </a:rPr>
              <a:t>period</a:t>
            </a:r>
            <a:r>
              <a:rPr sz="2400" b="1" i="1" spc="-105" dirty="0">
                <a:latin typeface="Times New Roman"/>
                <a:cs typeface="Times New Roman"/>
              </a:rPr>
              <a:t> </a:t>
            </a:r>
            <a:r>
              <a:rPr sz="2400" b="1" i="1" spc="10" dirty="0">
                <a:latin typeface="Times New Roman"/>
                <a:cs typeface="Times New Roman"/>
              </a:rPr>
              <a:t>n</a:t>
            </a:r>
            <a:r>
              <a:rPr sz="2400" b="1" spc="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806696" y="5166359"/>
            <a:ext cx="1652270" cy="683260"/>
            <a:chOff x="4806696" y="5166359"/>
            <a:chExt cx="1652270" cy="683260"/>
          </a:xfrm>
        </p:grpSpPr>
        <p:sp>
          <p:nvSpPr>
            <p:cNvPr id="24" name="object 24"/>
            <p:cNvSpPr/>
            <p:nvPr/>
          </p:nvSpPr>
          <p:spPr>
            <a:xfrm>
              <a:off x="4806696" y="5166359"/>
              <a:ext cx="624839" cy="68275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099304" y="5166359"/>
              <a:ext cx="1359408" cy="682751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986654" y="5242382"/>
            <a:ext cx="12687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∑</a:t>
            </a:r>
            <a:r>
              <a:rPr sz="2400" b="1" spc="-9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weights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192523" y="5234940"/>
            <a:ext cx="3697604" cy="0"/>
          </a:xfrm>
          <a:custGeom>
            <a:avLst/>
            <a:gdLst/>
            <a:ahLst/>
            <a:cxnLst/>
            <a:rect l="l" t="t" r="r" b="b"/>
            <a:pathLst>
              <a:path w="3697604">
                <a:moveTo>
                  <a:pt x="0" y="0"/>
                </a:moveTo>
                <a:lnTo>
                  <a:pt x="3697224" y="0"/>
                </a:lnTo>
              </a:path>
            </a:pathLst>
          </a:custGeom>
          <a:ln w="39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0" y="6504431"/>
            <a:ext cx="1801495" cy="353695"/>
          </a:xfrm>
          <a:custGeom>
            <a:avLst/>
            <a:gdLst/>
            <a:ahLst/>
            <a:cxnLst/>
            <a:rect l="l" t="t" r="r" b="b"/>
            <a:pathLst>
              <a:path w="1801495" h="353695">
                <a:moveTo>
                  <a:pt x="1801368" y="0"/>
                </a:moveTo>
                <a:lnTo>
                  <a:pt x="0" y="0"/>
                </a:lnTo>
                <a:lnTo>
                  <a:pt x="0" y="353568"/>
                </a:lnTo>
                <a:lnTo>
                  <a:pt x="1801368" y="353568"/>
                </a:lnTo>
                <a:lnTo>
                  <a:pt x="18013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327392" y="6504431"/>
            <a:ext cx="1804670" cy="353695"/>
          </a:xfrm>
          <a:custGeom>
            <a:avLst/>
            <a:gdLst/>
            <a:ahLst/>
            <a:cxnLst/>
            <a:rect l="l" t="t" r="r" b="b"/>
            <a:pathLst>
              <a:path w="1804670" h="353695">
                <a:moveTo>
                  <a:pt x="1804416" y="0"/>
                </a:moveTo>
                <a:lnTo>
                  <a:pt x="0" y="0"/>
                </a:lnTo>
                <a:lnTo>
                  <a:pt x="0" y="353568"/>
                </a:lnTo>
                <a:lnTo>
                  <a:pt x="1804416" y="353568"/>
                </a:lnTo>
                <a:lnTo>
                  <a:pt x="18044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7FF7CEF2-8BDF-4928-1654-C803CEA7A7C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0462C1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0462C1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89213" y="6638266"/>
            <a:ext cx="32004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0462C1"/>
                </a:solidFill>
                <a:latin typeface="Arial"/>
                <a:cs typeface="Arial"/>
              </a:rPr>
              <a:t>4 –</a:t>
            </a:r>
            <a:r>
              <a:rPr sz="900" b="1" spc="-10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462C1"/>
                </a:solidFill>
                <a:latin typeface="Arial"/>
                <a:cs typeface="Arial"/>
              </a:rPr>
              <a:t>26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32816" y="3662171"/>
            <a:ext cx="1576070" cy="2473960"/>
            <a:chOff x="432816" y="3662171"/>
            <a:chExt cx="1576070" cy="2473960"/>
          </a:xfrm>
        </p:grpSpPr>
        <p:sp>
          <p:nvSpPr>
            <p:cNvPr id="5" name="object 5"/>
            <p:cNvSpPr/>
            <p:nvPr/>
          </p:nvSpPr>
          <p:spPr>
            <a:xfrm>
              <a:off x="615888" y="3662171"/>
              <a:ext cx="1107587" cy="2834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32816" y="3828287"/>
              <a:ext cx="1575816" cy="63093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32816" y="4163567"/>
              <a:ext cx="1200911" cy="63093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2816" y="4498847"/>
              <a:ext cx="1014984" cy="63093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32816" y="4834127"/>
              <a:ext cx="923544" cy="63093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32816" y="5169407"/>
              <a:ext cx="1033272" cy="63093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2816" y="5504687"/>
              <a:ext cx="938784" cy="63093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96595" y="3570478"/>
            <a:ext cx="1223645" cy="2374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200" b="1" i="1" dirty="0">
                <a:latin typeface="Arial"/>
                <a:cs typeface="Arial"/>
              </a:rPr>
              <a:t>January  F</a:t>
            </a:r>
            <a:r>
              <a:rPr sz="2200" b="1" i="1" spc="-10" dirty="0">
                <a:latin typeface="Arial"/>
                <a:cs typeface="Arial"/>
              </a:rPr>
              <a:t>e</a:t>
            </a:r>
            <a:r>
              <a:rPr sz="2200" b="1" i="1" dirty="0">
                <a:latin typeface="Arial"/>
                <a:cs typeface="Arial"/>
              </a:rPr>
              <a:t>bru</a:t>
            </a:r>
            <a:r>
              <a:rPr sz="2200" b="1" i="1" spc="-10" dirty="0">
                <a:latin typeface="Arial"/>
                <a:cs typeface="Arial"/>
              </a:rPr>
              <a:t>a</a:t>
            </a:r>
            <a:r>
              <a:rPr sz="2200" b="1" i="1" dirty="0">
                <a:latin typeface="Arial"/>
                <a:cs typeface="Arial"/>
              </a:rPr>
              <a:t>ry  </a:t>
            </a:r>
            <a:r>
              <a:rPr sz="2200" b="1" i="1" spc="5" dirty="0">
                <a:latin typeface="Arial"/>
                <a:cs typeface="Arial"/>
              </a:rPr>
              <a:t>March  </a:t>
            </a:r>
            <a:r>
              <a:rPr sz="2200" b="1" i="1" dirty="0">
                <a:latin typeface="Arial"/>
                <a:cs typeface="Arial"/>
              </a:rPr>
              <a:t>April  </a:t>
            </a:r>
            <a:r>
              <a:rPr sz="2200" b="1" i="1" spc="5" dirty="0">
                <a:latin typeface="Arial"/>
                <a:cs typeface="Arial"/>
              </a:rPr>
              <a:t>May  </a:t>
            </a:r>
            <a:r>
              <a:rPr sz="2200" b="1" i="1" dirty="0">
                <a:latin typeface="Arial"/>
                <a:cs typeface="Arial"/>
              </a:rPr>
              <a:t>June  July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508504" y="3657600"/>
            <a:ext cx="688975" cy="2478405"/>
            <a:chOff x="2508504" y="3657600"/>
            <a:chExt cx="688975" cy="2478405"/>
          </a:xfrm>
        </p:grpSpPr>
        <p:sp>
          <p:nvSpPr>
            <p:cNvPr id="14" name="object 14"/>
            <p:cNvSpPr/>
            <p:nvPr/>
          </p:nvSpPr>
          <p:spPr>
            <a:xfrm>
              <a:off x="2704666" y="3657600"/>
              <a:ext cx="301085" cy="2331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508504" y="3828287"/>
              <a:ext cx="688848" cy="630936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508504" y="4163568"/>
              <a:ext cx="688848" cy="63093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508504" y="4498847"/>
              <a:ext cx="688848" cy="63093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08504" y="4834127"/>
              <a:ext cx="688848" cy="630936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08504" y="5169408"/>
              <a:ext cx="688848" cy="630936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08504" y="5504688"/>
              <a:ext cx="688848" cy="630936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672842" y="3570478"/>
            <a:ext cx="336550" cy="2374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-5" dirty="0">
                <a:solidFill>
                  <a:srgbClr val="0462C1"/>
                </a:solidFill>
                <a:latin typeface="Arial"/>
                <a:cs typeface="Arial"/>
              </a:rPr>
              <a:t>10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00" spc="-5" dirty="0">
                <a:solidFill>
                  <a:srgbClr val="2EFF74"/>
                </a:solidFill>
                <a:latin typeface="Arial"/>
                <a:cs typeface="Arial"/>
              </a:rPr>
              <a:t>12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solidFill>
                  <a:srgbClr val="800040"/>
                </a:solidFill>
                <a:latin typeface="Arial"/>
                <a:cs typeface="Arial"/>
              </a:rPr>
              <a:t>13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200" b="1" spc="-5" dirty="0">
                <a:latin typeface="Arial"/>
                <a:cs typeface="Arial"/>
              </a:rPr>
              <a:t>16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200" b="1" dirty="0">
                <a:latin typeface="Arial"/>
                <a:cs typeface="Arial"/>
              </a:rPr>
              <a:t>19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00" b="1" spc="-5" dirty="0">
                <a:latin typeface="Arial"/>
                <a:cs typeface="Arial"/>
              </a:rPr>
              <a:t>23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200" b="1" dirty="0">
                <a:latin typeface="Arial"/>
                <a:cs typeface="Arial"/>
              </a:rPr>
              <a:t>26</a:t>
            </a:r>
            <a:endParaRPr sz="2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28850" y="2732354"/>
            <a:ext cx="1390650" cy="702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665"/>
              </a:lnSpc>
              <a:spcBef>
                <a:spcPts val="100"/>
              </a:spcBef>
            </a:pPr>
            <a:r>
              <a:rPr sz="2400" b="1" i="1" dirty="0">
                <a:latin typeface="Times New Roman"/>
                <a:cs typeface="Times New Roman"/>
              </a:rPr>
              <a:t>Actual</a:t>
            </a: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ts val="2665"/>
              </a:lnSpc>
            </a:pPr>
            <a:r>
              <a:rPr sz="2400" b="1" i="1" spc="-5" dirty="0">
                <a:latin typeface="Times New Roman"/>
                <a:cs typeface="Times New Roman"/>
              </a:rPr>
              <a:t>Shed</a:t>
            </a:r>
            <a:r>
              <a:rPr sz="2400" b="1" i="1" spc="-6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Sales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082666" y="2732354"/>
            <a:ext cx="2366010" cy="702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665"/>
              </a:lnSpc>
              <a:spcBef>
                <a:spcPts val="100"/>
              </a:spcBef>
            </a:pPr>
            <a:r>
              <a:rPr sz="2400" b="1" i="1" dirty="0">
                <a:latin typeface="Times New Roman"/>
                <a:cs typeface="Times New Roman"/>
              </a:rPr>
              <a:t>3-Month</a:t>
            </a:r>
            <a:r>
              <a:rPr sz="2400" b="1" i="1" spc="-90" dirty="0">
                <a:latin typeface="Times New Roman"/>
                <a:cs typeface="Times New Roman"/>
              </a:rPr>
              <a:t> </a:t>
            </a:r>
            <a:r>
              <a:rPr sz="2400" b="1" i="1" spc="-25" dirty="0">
                <a:latin typeface="Times New Roman"/>
                <a:cs typeface="Times New Roman"/>
              </a:rPr>
              <a:t>Weighted</a:t>
            </a:r>
            <a:endParaRPr sz="2400">
              <a:latin typeface="Times New Roman"/>
              <a:cs typeface="Times New Roman"/>
            </a:endParaRPr>
          </a:p>
          <a:p>
            <a:pPr marL="161925">
              <a:lnSpc>
                <a:spcPts val="2665"/>
              </a:lnSpc>
            </a:pPr>
            <a:r>
              <a:rPr sz="2400" b="1" i="1" dirty="0">
                <a:latin typeface="Times New Roman"/>
                <a:cs typeface="Times New Roman"/>
              </a:rPr>
              <a:t>Moving</a:t>
            </a:r>
            <a:r>
              <a:rPr sz="2400" b="1" i="1" spc="-120" dirty="0">
                <a:latin typeface="Times New Roman"/>
                <a:cs typeface="Times New Roman"/>
              </a:rPr>
              <a:t> </a:t>
            </a:r>
            <a:r>
              <a:rPr sz="2400" b="1" i="1" spc="-30" dirty="0">
                <a:latin typeface="Times New Roman"/>
                <a:cs typeface="Times New Roman"/>
              </a:rPr>
              <a:t>Average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71245" y="3043809"/>
            <a:ext cx="8737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-5" dirty="0">
                <a:latin typeface="Times New Roman"/>
                <a:cs typeface="Times New Roman"/>
              </a:rPr>
              <a:t>Mo</a:t>
            </a:r>
            <a:r>
              <a:rPr sz="2400" b="1" i="1" dirty="0">
                <a:latin typeface="Times New Roman"/>
                <a:cs typeface="Times New Roman"/>
              </a:rPr>
              <a:t>n</a:t>
            </a:r>
            <a:r>
              <a:rPr sz="2400" b="1" i="1" spc="-5" dirty="0">
                <a:latin typeface="Times New Roman"/>
                <a:cs typeface="Times New Roman"/>
              </a:rPr>
              <a:t>th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11123" y="3531108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0" y="0"/>
                </a:moveTo>
                <a:lnTo>
                  <a:pt x="8001000" y="0"/>
                </a:lnTo>
              </a:path>
            </a:pathLst>
          </a:custGeom>
          <a:ln w="39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95527" y="847745"/>
            <a:ext cx="4421124" cy="389251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764844" y="698372"/>
            <a:ext cx="1656080" cy="530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300" spc="-5" dirty="0">
                <a:latin typeface="Trebuchet MS"/>
                <a:cs typeface="Trebuchet MS"/>
              </a:rPr>
              <a:t>W</a:t>
            </a:r>
            <a:r>
              <a:rPr sz="3300" spc="-254" dirty="0">
                <a:latin typeface="Trebuchet MS"/>
                <a:cs typeface="Trebuchet MS"/>
              </a:rPr>
              <a:t>e</a:t>
            </a:r>
            <a:r>
              <a:rPr sz="3300" spc="-150" dirty="0">
                <a:latin typeface="Trebuchet MS"/>
                <a:cs typeface="Trebuchet MS"/>
              </a:rPr>
              <a:t>i</a:t>
            </a:r>
            <a:r>
              <a:rPr sz="3300" spc="-90" dirty="0">
                <a:latin typeface="Trebuchet MS"/>
                <a:cs typeface="Trebuchet MS"/>
              </a:rPr>
              <a:t>g</a:t>
            </a:r>
            <a:r>
              <a:rPr sz="3300" spc="-110" dirty="0">
                <a:latin typeface="Trebuchet MS"/>
                <a:cs typeface="Trebuchet MS"/>
              </a:rPr>
              <a:t>h</a:t>
            </a:r>
            <a:r>
              <a:rPr sz="3300" spc="-254" dirty="0">
                <a:latin typeface="Trebuchet MS"/>
                <a:cs typeface="Trebuchet MS"/>
              </a:rPr>
              <a:t>t</a:t>
            </a:r>
            <a:r>
              <a:rPr sz="3300" spc="-150" dirty="0">
                <a:latin typeface="Trebuchet MS"/>
                <a:cs typeface="Trebuchet MS"/>
              </a:rPr>
              <a:t>ed</a:t>
            </a:r>
            <a:endParaRPr sz="33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493040" y="816228"/>
            <a:ext cx="2716530" cy="421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145"/>
              </a:lnSpc>
            </a:pPr>
            <a:r>
              <a:rPr sz="3300" spc="-30" dirty="0">
                <a:latin typeface="Trebuchet MS"/>
                <a:cs typeface="Trebuchet MS"/>
              </a:rPr>
              <a:t>Moving</a:t>
            </a:r>
            <a:r>
              <a:rPr sz="3300" spc="-365" dirty="0">
                <a:latin typeface="Trebuchet MS"/>
                <a:cs typeface="Trebuchet MS"/>
              </a:rPr>
              <a:t> </a:t>
            </a:r>
            <a:r>
              <a:rPr sz="3300" spc="-165" dirty="0">
                <a:latin typeface="Trebuchet MS"/>
                <a:cs typeface="Trebuchet MS"/>
              </a:rPr>
              <a:t>Average</a:t>
            </a:r>
            <a:endParaRPr sz="3300">
              <a:latin typeface="Trebuchet MS"/>
              <a:cs typeface="Trebuchet M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053840" y="4498847"/>
            <a:ext cx="4660900" cy="631190"/>
            <a:chOff x="4053840" y="4498847"/>
            <a:chExt cx="4660900" cy="631190"/>
          </a:xfrm>
        </p:grpSpPr>
        <p:sp>
          <p:nvSpPr>
            <p:cNvPr id="30" name="object 30"/>
            <p:cNvSpPr/>
            <p:nvPr/>
          </p:nvSpPr>
          <p:spPr>
            <a:xfrm>
              <a:off x="4053840" y="4498847"/>
              <a:ext cx="999743" cy="630936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675632" y="4498847"/>
              <a:ext cx="688848" cy="630936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986528" y="4498847"/>
              <a:ext cx="1335024" cy="63093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943600" y="4498847"/>
              <a:ext cx="688848" cy="630936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254496" y="4498847"/>
              <a:ext cx="886968" cy="630936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763512" y="4498847"/>
              <a:ext cx="688848" cy="63093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074408" y="4498847"/>
              <a:ext cx="1411224" cy="630936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162544" y="4538471"/>
              <a:ext cx="368807" cy="429768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211311" y="4498847"/>
              <a:ext cx="457200" cy="630936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345424" y="4690871"/>
              <a:ext cx="368807" cy="429768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4193413" y="4576953"/>
            <a:ext cx="4418330" cy="1368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200" spc="5" dirty="0">
                <a:latin typeface="Arial"/>
                <a:cs typeface="Arial"/>
              </a:rPr>
              <a:t>[(3 </a:t>
            </a:r>
            <a:r>
              <a:rPr sz="2200" dirty="0">
                <a:latin typeface="Arial"/>
                <a:cs typeface="Arial"/>
              </a:rPr>
              <a:t>x </a:t>
            </a:r>
            <a:r>
              <a:rPr sz="2200" dirty="0">
                <a:solidFill>
                  <a:srgbClr val="800040"/>
                </a:solidFill>
                <a:latin typeface="Arial"/>
                <a:cs typeface="Arial"/>
              </a:rPr>
              <a:t>13</a:t>
            </a:r>
            <a:r>
              <a:rPr sz="2200" dirty="0">
                <a:latin typeface="Arial"/>
                <a:cs typeface="Arial"/>
              </a:rPr>
              <a:t>) + </a:t>
            </a:r>
            <a:r>
              <a:rPr sz="2200" spc="5" dirty="0">
                <a:latin typeface="Arial"/>
                <a:cs typeface="Arial"/>
              </a:rPr>
              <a:t>(2 </a:t>
            </a:r>
            <a:r>
              <a:rPr sz="2200" dirty="0">
                <a:latin typeface="Arial"/>
                <a:cs typeface="Arial"/>
              </a:rPr>
              <a:t>x </a:t>
            </a:r>
            <a:r>
              <a:rPr sz="2200" dirty="0">
                <a:solidFill>
                  <a:srgbClr val="2EFF74"/>
                </a:solidFill>
                <a:latin typeface="Arial"/>
                <a:cs typeface="Arial"/>
              </a:rPr>
              <a:t>12</a:t>
            </a:r>
            <a:r>
              <a:rPr sz="2200" dirty="0">
                <a:latin typeface="Arial"/>
                <a:cs typeface="Arial"/>
              </a:rPr>
              <a:t>) + </a:t>
            </a:r>
            <a:r>
              <a:rPr sz="2200" spc="5" dirty="0">
                <a:latin typeface="Arial"/>
                <a:cs typeface="Arial"/>
              </a:rPr>
              <a:t>(</a:t>
            </a:r>
            <a:r>
              <a:rPr sz="2200" spc="5" dirty="0">
                <a:solidFill>
                  <a:srgbClr val="0462C1"/>
                </a:solidFill>
                <a:latin typeface="Arial"/>
                <a:cs typeface="Arial"/>
              </a:rPr>
              <a:t>10</a:t>
            </a:r>
            <a:r>
              <a:rPr sz="2200" spc="5" dirty="0">
                <a:latin typeface="Arial"/>
                <a:cs typeface="Arial"/>
              </a:rPr>
              <a:t>)]/6 </a:t>
            </a:r>
            <a:r>
              <a:rPr sz="2200" dirty="0">
                <a:latin typeface="Arial"/>
                <a:cs typeface="Arial"/>
              </a:rPr>
              <a:t>=</a:t>
            </a:r>
            <a:r>
              <a:rPr sz="2200" spc="-150" dirty="0">
                <a:latin typeface="Arial"/>
                <a:cs typeface="Arial"/>
              </a:rPr>
              <a:t> </a:t>
            </a:r>
            <a:r>
              <a:rPr sz="2200" spc="5" dirty="0">
                <a:latin typeface="Arial"/>
                <a:cs typeface="Arial"/>
              </a:rPr>
              <a:t>12</a:t>
            </a:r>
            <a:r>
              <a:rPr sz="2175" spc="7" baseline="24904" dirty="0">
                <a:latin typeface="Arial"/>
                <a:cs typeface="Arial"/>
              </a:rPr>
              <a:t>1</a:t>
            </a:r>
            <a:r>
              <a:rPr sz="2200" spc="5" dirty="0">
                <a:latin typeface="Arial"/>
                <a:cs typeface="Arial"/>
              </a:rPr>
              <a:t>/</a:t>
            </a:r>
            <a:r>
              <a:rPr sz="2175" spc="7" baseline="-21072" dirty="0">
                <a:latin typeface="Arial"/>
                <a:cs typeface="Arial"/>
              </a:rPr>
              <a:t>6</a:t>
            </a:r>
            <a:endParaRPr sz="2175" baseline="-21072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2200" spc="5" dirty="0">
                <a:latin typeface="Arial"/>
                <a:cs typeface="Arial"/>
              </a:rPr>
              <a:t>[(3 x </a:t>
            </a:r>
            <a:r>
              <a:rPr sz="2200" spc="-5" dirty="0">
                <a:latin typeface="Arial"/>
                <a:cs typeface="Arial"/>
              </a:rPr>
              <a:t>16) </a:t>
            </a:r>
            <a:r>
              <a:rPr sz="2200" spc="5" dirty="0">
                <a:latin typeface="Arial"/>
                <a:cs typeface="Arial"/>
              </a:rPr>
              <a:t>+ (2 x </a:t>
            </a:r>
            <a:r>
              <a:rPr sz="2200" spc="-5" dirty="0">
                <a:latin typeface="Arial"/>
                <a:cs typeface="Arial"/>
              </a:rPr>
              <a:t>13) </a:t>
            </a:r>
            <a:r>
              <a:rPr sz="2200" spc="5" dirty="0">
                <a:latin typeface="Arial"/>
                <a:cs typeface="Arial"/>
              </a:rPr>
              <a:t>+ (12)]/6 =</a:t>
            </a:r>
            <a:r>
              <a:rPr sz="2200" spc="-185" dirty="0">
                <a:latin typeface="Arial"/>
                <a:cs typeface="Arial"/>
              </a:rPr>
              <a:t> </a:t>
            </a:r>
            <a:r>
              <a:rPr sz="2200" spc="10" dirty="0">
                <a:latin typeface="Arial"/>
                <a:cs typeface="Arial"/>
              </a:rPr>
              <a:t>14</a:t>
            </a:r>
            <a:r>
              <a:rPr sz="2175" spc="15" baseline="24904" dirty="0">
                <a:latin typeface="Arial"/>
                <a:cs typeface="Arial"/>
              </a:rPr>
              <a:t>1</a:t>
            </a:r>
            <a:r>
              <a:rPr sz="2200" spc="10" dirty="0">
                <a:latin typeface="Arial"/>
                <a:cs typeface="Arial"/>
              </a:rPr>
              <a:t>/</a:t>
            </a:r>
            <a:r>
              <a:rPr sz="2175" spc="15" baseline="-21072" dirty="0">
                <a:latin typeface="Arial"/>
                <a:cs typeface="Arial"/>
              </a:rPr>
              <a:t>3</a:t>
            </a:r>
            <a:endParaRPr sz="2175" baseline="-21072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2200" spc="5" dirty="0">
                <a:latin typeface="Arial"/>
                <a:cs typeface="Arial"/>
              </a:rPr>
              <a:t>[(3 </a:t>
            </a:r>
            <a:r>
              <a:rPr sz="2200" dirty="0">
                <a:latin typeface="Arial"/>
                <a:cs typeface="Arial"/>
              </a:rPr>
              <a:t>x 19) + </a:t>
            </a:r>
            <a:r>
              <a:rPr sz="2200" spc="5" dirty="0">
                <a:latin typeface="Arial"/>
                <a:cs typeface="Arial"/>
              </a:rPr>
              <a:t>(2 </a:t>
            </a:r>
            <a:r>
              <a:rPr sz="2200" dirty="0">
                <a:latin typeface="Arial"/>
                <a:cs typeface="Arial"/>
              </a:rPr>
              <a:t>x 16) + (13)]/6 =</a:t>
            </a:r>
            <a:r>
              <a:rPr sz="2200" spc="-1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17</a:t>
            </a:r>
            <a:endParaRPr sz="22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2200" spc="5" dirty="0">
                <a:latin typeface="Arial"/>
                <a:cs typeface="Arial"/>
              </a:rPr>
              <a:t>[(3 x </a:t>
            </a:r>
            <a:r>
              <a:rPr sz="2200" spc="-5" dirty="0">
                <a:latin typeface="Arial"/>
                <a:cs typeface="Arial"/>
              </a:rPr>
              <a:t>23) </a:t>
            </a:r>
            <a:r>
              <a:rPr sz="2200" spc="5" dirty="0">
                <a:latin typeface="Arial"/>
                <a:cs typeface="Arial"/>
              </a:rPr>
              <a:t>+ (2 x </a:t>
            </a:r>
            <a:r>
              <a:rPr sz="2200" spc="-5" dirty="0">
                <a:latin typeface="Arial"/>
                <a:cs typeface="Arial"/>
              </a:rPr>
              <a:t>19) </a:t>
            </a:r>
            <a:r>
              <a:rPr sz="2200" spc="5" dirty="0">
                <a:latin typeface="Arial"/>
                <a:cs typeface="Arial"/>
              </a:rPr>
              <a:t>+ (16)]/6 =</a:t>
            </a:r>
            <a:r>
              <a:rPr sz="2200" spc="-185" dirty="0">
                <a:latin typeface="Arial"/>
                <a:cs typeface="Arial"/>
              </a:rPr>
              <a:t> </a:t>
            </a:r>
            <a:r>
              <a:rPr sz="2200" spc="10" dirty="0">
                <a:latin typeface="Arial"/>
                <a:cs typeface="Arial"/>
              </a:rPr>
              <a:t>20</a:t>
            </a:r>
            <a:r>
              <a:rPr sz="2175" spc="15" baseline="24904" dirty="0">
                <a:latin typeface="Arial"/>
                <a:cs typeface="Arial"/>
              </a:rPr>
              <a:t>1</a:t>
            </a:r>
            <a:r>
              <a:rPr sz="2200" spc="10" dirty="0">
                <a:latin typeface="Arial"/>
                <a:cs typeface="Arial"/>
              </a:rPr>
              <a:t>/</a:t>
            </a:r>
            <a:r>
              <a:rPr sz="2175" spc="15" baseline="-21072" dirty="0">
                <a:latin typeface="Arial"/>
                <a:cs typeface="Arial"/>
              </a:rPr>
              <a:t>2</a:t>
            </a:r>
            <a:endParaRPr sz="2175" baseline="-21072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3073781" y="3730751"/>
            <a:ext cx="3971925" cy="925194"/>
          </a:xfrm>
          <a:custGeom>
            <a:avLst/>
            <a:gdLst/>
            <a:ahLst/>
            <a:cxnLst/>
            <a:rect l="l" t="t" r="r" b="b"/>
            <a:pathLst>
              <a:path w="3971925" h="925195">
                <a:moveTo>
                  <a:pt x="1821014" y="733247"/>
                </a:moveTo>
                <a:lnTo>
                  <a:pt x="1773555" y="679069"/>
                </a:lnTo>
                <a:lnTo>
                  <a:pt x="254" y="667512"/>
                </a:lnTo>
                <a:lnTo>
                  <a:pt x="0" y="725424"/>
                </a:lnTo>
                <a:lnTo>
                  <a:pt x="1743976" y="733247"/>
                </a:lnTo>
                <a:lnTo>
                  <a:pt x="1757045" y="733298"/>
                </a:lnTo>
                <a:lnTo>
                  <a:pt x="1821014" y="733247"/>
                </a:lnTo>
                <a:close/>
              </a:path>
              <a:path w="3971925" h="925195">
                <a:moveTo>
                  <a:pt x="1950847" y="925068"/>
                </a:moveTo>
                <a:lnTo>
                  <a:pt x="1927313" y="835406"/>
                </a:lnTo>
                <a:lnTo>
                  <a:pt x="1901571" y="737235"/>
                </a:lnTo>
                <a:lnTo>
                  <a:pt x="1858010" y="775462"/>
                </a:lnTo>
                <a:lnTo>
                  <a:pt x="1821065" y="733298"/>
                </a:lnTo>
                <a:lnTo>
                  <a:pt x="1757045" y="733298"/>
                </a:lnTo>
                <a:lnTo>
                  <a:pt x="1744027" y="733298"/>
                </a:lnTo>
                <a:lnTo>
                  <a:pt x="1814512" y="813625"/>
                </a:lnTo>
                <a:lnTo>
                  <a:pt x="1771015" y="851789"/>
                </a:lnTo>
                <a:lnTo>
                  <a:pt x="1950847" y="925068"/>
                </a:lnTo>
                <a:close/>
              </a:path>
              <a:path w="3971925" h="925195">
                <a:moveTo>
                  <a:pt x="3142615" y="885444"/>
                </a:moveTo>
                <a:lnTo>
                  <a:pt x="3118523" y="796798"/>
                </a:lnTo>
                <a:lnTo>
                  <a:pt x="3091688" y="697992"/>
                </a:lnTo>
                <a:lnTo>
                  <a:pt x="3048495" y="736574"/>
                </a:lnTo>
                <a:lnTo>
                  <a:pt x="2749956" y="402336"/>
                </a:lnTo>
                <a:lnTo>
                  <a:pt x="2741345" y="392684"/>
                </a:lnTo>
                <a:lnTo>
                  <a:pt x="2701417" y="347980"/>
                </a:lnTo>
                <a:lnTo>
                  <a:pt x="2693543" y="344424"/>
                </a:lnTo>
                <a:lnTo>
                  <a:pt x="127" y="344424"/>
                </a:lnTo>
                <a:lnTo>
                  <a:pt x="127" y="402336"/>
                </a:lnTo>
                <a:lnTo>
                  <a:pt x="2672308" y="402336"/>
                </a:lnTo>
                <a:lnTo>
                  <a:pt x="3005290" y="775157"/>
                </a:lnTo>
                <a:lnTo>
                  <a:pt x="2962148" y="813689"/>
                </a:lnTo>
                <a:lnTo>
                  <a:pt x="3142615" y="885444"/>
                </a:lnTo>
                <a:close/>
              </a:path>
              <a:path w="3971925" h="925195">
                <a:moveTo>
                  <a:pt x="3971671" y="885444"/>
                </a:moveTo>
                <a:lnTo>
                  <a:pt x="3947731" y="796417"/>
                </a:lnTo>
                <a:lnTo>
                  <a:pt x="3921252" y="697865"/>
                </a:lnTo>
                <a:lnTo>
                  <a:pt x="3877919" y="736333"/>
                </a:lnTo>
                <a:lnTo>
                  <a:pt x="3275406" y="57912"/>
                </a:lnTo>
                <a:lnTo>
                  <a:pt x="3266719" y="48133"/>
                </a:lnTo>
                <a:lnTo>
                  <a:pt x="3232658" y="9779"/>
                </a:lnTo>
                <a:lnTo>
                  <a:pt x="3227197" y="3556"/>
                </a:lnTo>
                <a:lnTo>
                  <a:pt x="3219323" y="0"/>
                </a:lnTo>
                <a:lnTo>
                  <a:pt x="127" y="0"/>
                </a:lnTo>
                <a:lnTo>
                  <a:pt x="127" y="57912"/>
                </a:lnTo>
                <a:lnTo>
                  <a:pt x="3198025" y="57912"/>
                </a:lnTo>
                <a:lnTo>
                  <a:pt x="3834663" y="774725"/>
                </a:lnTo>
                <a:lnTo>
                  <a:pt x="3791331" y="813181"/>
                </a:lnTo>
                <a:lnTo>
                  <a:pt x="3971671" y="8854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2" name="object 42"/>
          <p:cNvGrpSpPr/>
          <p:nvPr/>
        </p:nvGrpSpPr>
        <p:grpSpPr>
          <a:xfrm>
            <a:off x="2496121" y="240601"/>
            <a:ext cx="5898515" cy="2408555"/>
            <a:chOff x="2496121" y="240601"/>
            <a:chExt cx="5898515" cy="2408555"/>
          </a:xfrm>
        </p:grpSpPr>
        <p:sp>
          <p:nvSpPr>
            <p:cNvPr id="43" name="object 43"/>
            <p:cNvSpPr/>
            <p:nvPr/>
          </p:nvSpPr>
          <p:spPr>
            <a:xfrm>
              <a:off x="2500883" y="245363"/>
              <a:ext cx="5888990" cy="2399030"/>
            </a:xfrm>
            <a:custGeom>
              <a:avLst/>
              <a:gdLst/>
              <a:ahLst/>
              <a:cxnLst/>
              <a:rect l="l" t="t" r="r" b="b"/>
              <a:pathLst>
                <a:path w="5888990" h="2399030">
                  <a:moveTo>
                    <a:pt x="5888736" y="0"/>
                  </a:moveTo>
                  <a:lnTo>
                    <a:pt x="0" y="0"/>
                  </a:lnTo>
                  <a:lnTo>
                    <a:pt x="0" y="2398776"/>
                  </a:lnTo>
                  <a:lnTo>
                    <a:pt x="5888736" y="2398776"/>
                  </a:lnTo>
                  <a:lnTo>
                    <a:pt x="5888736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500883" y="245363"/>
              <a:ext cx="5888990" cy="2399030"/>
            </a:xfrm>
            <a:custGeom>
              <a:avLst/>
              <a:gdLst/>
              <a:ahLst/>
              <a:cxnLst/>
              <a:rect l="l" t="t" r="r" b="b"/>
              <a:pathLst>
                <a:path w="5888990" h="2399030">
                  <a:moveTo>
                    <a:pt x="0" y="2398776"/>
                  </a:moveTo>
                  <a:lnTo>
                    <a:pt x="5888736" y="2398776"/>
                  </a:lnTo>
                  <a:lnTo>
                    <a:pt x="5888736" y="0"/>
                  </a:lnTo>
                  <a:lnTo>
                    <a:pt x="0" y="0"/>
                  </a:lnTo>
                  <a:lnTo>
                    <a:pt x="0" y="239877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2916682" y="412241"/>
            <a:ext cx="2048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-25" dirty="0">
                <a:latin typeface="Times New Roman"/>
                <a:cs typeface="Times New Roman"/>
              </a:rPr>
              <a:t>Weights</a:t>
            </a:r>
            <a:r>
              <a:rPr sz="2400" b="1" i="1" spc="-170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Applied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563359" y="412241"/>
            <a:ext cx="853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latin typeface="Times New Roman"/>
                <a:cs typeface="Times New Roman"/>
              </a:rPr>
              <a:t>P</a:t>
            </a:r>
            <a:r>
              <a:rPr sz="2400" b="1" i="1" spc="-15" dirty="0">
                <a:latin typeface="Times New Roman"/>
                <a:cs typeface="Times New Roman"/>
              </a:rPr>
              <a:t>e</a:t>
            </a:r>
            <a:r>
              <a:rPr sz="2400" b="1" i="1" dirty="0">
                <a:latin typeface="Times New Roman"/>
                <a:cs typeface="Times New Roman"/>
              </a:rPr>
              <a:t>riod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852798" y="869696"/>
            <a:ext cx="17843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i="1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i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852798" y="2040077"/>
            <a:ext cx="1784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834634" y="869696"/>
            <a:ext cx="2310130" cy="156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-5" dirty="0">
                <a:latin typeface="Times New Roman"/>
                <a:cs typeface="Times New Roman"/>
              </a:rPr>
              <a:t>Last</a:t>
            </a:r>
            <a:r>
              <a:rPr sz="2400" b="1" i="1" spc="-10" dirty="0">
                <a:latin typeface="Times New Roman"/>
                <a:cs typeface="Times New Roman"/>
              </a:rPr>
              <a:t> </a:t>
            </a:r>
            <a:r>
              <a:rPr sz="2400" b="1" i="1" spc="5" dirty="0">
                <a:latin typeface="Times New Roman"/>
                <a:cs typeface="Times New Roman"/>
              </a:rPr>
              <a:t>month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i="1" spc="-35" dirty="0">
                <a:latin typeface="Times New Roman"/>
                <a:cs typeface="Times New Roman"/>
              </a:rPr>
              <a:t>Two </a:t>
            </a:r>
            <a:r>
              <a:rPr sz="2400" b="1" i="1" spc="5" dirty="0">
                <a:latin typeface="Times New Roman"/>
                <a:cs typeface="Times New Roman"/>
              </a:rPr>
              <a:t>months</a:t>
            </a:r>
            <a:r>
              <a:rPr sz="2400" b="1" i="1" spc="-5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ago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i="1" spc="-5" dirty="0">
                <a:latin typeface="Times New Roman"/>
                <a:cs typeface="Times New Roman"/>
              </a:rPr>
              <a:t>Three </a:t>
            </a:r>
            <a:r>
              <a:rPr sz="2400" b="1" i="1" spc="5" dirty="0">
                <a:latin typeface="Times New Roman"/>
                <a:cs typeface="Times New Roman"/>
              </a:rPr>
              <a:t>months</a:t>
            </a:r>
            <a:r>
              <a:rPr sz="2400" b="1" i="1" spc="-12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ago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b="1" i="1" dirty="0">
                <a:latin typeface="Times New Roman"/>
                <a:cs typeface="Times New Roman"/>
              </a:rPr>
              <a:t>Sum of</a:t>
            </a:r>
            <a:r>
              <a:rPr sz="2400" b="1" i="1" spc="-6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weights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2708148" y="879347"/>
            <a:ext cx="5840095" cy="0"/>
          </a:xfrm>
          <a:custGeom>
            <a:avLst/>
            <a:gdLst/>
            <a:ahLst/>
            <a:cxnLst/>
            <a:rect l="l" t="t" r="r" b="b"/>
            <a:pathLst>
              <a:path w="5840095">
                <a:moveTo>
                  <a:pt x="0" y="0"/>
                </a:moveTo>
                <a:lnTo>
                  <a:pt x="5839968" y="0"/>
                </a:lnTo>
              </a:path>
            </a:pathLst>
          </a:custGeom>
          <a:ln w="39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659123" y="2034539"/>
            <a:ext cx="609600" cy="0"/>
          </a:xfrm>
          <a:custGeom>
            <a:avLst/>
            <a:gdLst/>
            <a:ahLst/>
            <a:cxnLst/>
            <a:rect l="l" t="t" r="r" b="b"/>
            <a:pathLst>
              <a:path w="609600">
                <a:moveTo>
                  <a:pt x="0" y="0"/>
                </a:moveTo>
                <a:lnTo>
                  <a:pt x="609600" y="0"/>
                </a:lnTo>
              </a:path>
            </a:pathLst>
          </a:custGeom>
          <a:ln w="39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0" y="6504431"/>
            <a:ext cx="1801495" cy="353695"/>
          </a:xfrm>
          <a:custGeom>
            <a:avLst/>
            <a:gdLst/>
            <a:ahLst/>
            <a:cxnLst/>
            <a:rect l="l" t="t" r="r" b="b"/>
            <a:pathLst>
              <a:path w="1801495" h="353695">
                <a:moveTo>
                  <a:pt x="1801368" y="0"/>
                </a:moveTo>
                <a:lnTo>
                  <a:pt x="0" y="0"/>
                </a:lnTo>
                <a:lnTo>
                  <a:pt x="0" y="353568"/>
                </a:lnTo>
                <a:lnTo>
                  <a:pt x="1801368" y="353568"/>
                </a:lnTo>
                <a:lnTo>
                  <a:pt x="18013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327392" y="6504431"/>
            <a:ext cx="1804670" cy="353695"/>
          </a:xfrm>
          <a:custGeom>
            <a:avLst/>
            <a:gdLst/>
            <a:ahLst/>
            <a:cxnLst/>
            <a:rect l="l" t="t" r="r" b="b"/>
            <a:pathLst>
              <a:path w="1804670" h="353695">
                <a:moveTo>
                  <a:pt x="1804416" y="0"/>
                </a:moveTo>
                <a:lnTo>
                  <a:pt x="0" y="0"/>
                </a:lnTo>
                <a:lnTo>
                  <a:pt x="0" y="353568"/>
                </a:lnTo>
                <a:lnTo>
                  <a:pt x="1804416" y="353568"/>
                </a:lnTo>
                <a:lnTo>
                  <a:pt x="18044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Slide Number Placeholder 53">
            <a:extLst>
              <a:ext uri="{FF2B5EF4-FFF2-40B4-BE49-F238E27FC236}">
                <a16:creationId xmlns:a16="http://schemas.microsoft.com/office/drawing/2014/main" id="{C216C641-912D-FF6E-F454-3CDD713B034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0462C1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0462C1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89213" y="6638266"/>
            <a:ext cx="32004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0462C1"/>
                </a:solidFill>
                <a:latin typeface="Arial"/>
                <a:cs typeface="Arial"/>
              </a:rPr>
              <a:t>4 –</a:t>
            </a:r>
            <a:r>
              <a:rPr sz="900" b="1" spc="-10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462C1"/>
                </a:solidFill>
                <a:latin typeface="Arial"/>
                <a:cs typeface="Arial"/>
              </a:rPr>
              <a:t>27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31848" y="566927"/>
            <a:ext cx="5514340" cy="1179830"/>
            <a:chOff x="1831848" y="566927"/>
            <a:chExt cx="5514340" cy="1179830"/>
          </a:xfrm>
        </p:grpSpPr>
        <p:sp>
          <p:nvSpPr>
            <p:cNvPr id="5" name="object 5"/>
            <p:cNvSpPr/>
            <p:nvPr/>
          </p:nvSpPr>
          <p:spPr>
            <a:xfrm>
              <a:off x="2619658" y="566927"/>
              <a:ext cx="3944342" cy="4480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31848" y="731519"/>
              <a:ext cx="5513832" cy="101498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104135" y="412445"/>
            <a:ext cx="4937125" cy="1014094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12700" marR="5080" indent="490855">
              <a:lnSpc>
                <a:spcPts val="3460"/>
              </a:lnSpc>
              <a:spcBef>
                <a:spcPts val="935"/>
              </a:spcBef>
            </a:pPr>
            <a:r>
              <a:rPr spc="-5" dirty="0"/>
              <a:t>Moving </a:t>
            </a:r>
            <a:r>
              <a:rPr spc="-40" dirty="0"/>
              <a:t>Average </a:t>
            </a:r>
            <a:r>
              <a:rPr dirty="0"/>
              <a:t>And  </a:t>
            </a:r>
            <a:r>
              <a:rPr spc="-35" dirty="0"/>
              <a:t>Weighted </a:t>
            </a:r>
            <a:r>
              <a:rPr dirty="0"/>
              <a:t>Moving</a:t>
            </a:r>
            <a:r>
              <a:rPr spc="-250" dirty="0"/>
              <a:t> </a:t>
            </a:r>
            <a:r>
              <a:rPr spc="-40" dirty="0"/>
              <a:t>Average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1182624" y="2034539"/>
            <a:ext cx="7137400" cy="3893820"/>
            <a:chOff x="1182624" y="2034539"/>
            <a:chExt cx="7137400" cy="3893820"/>
          </a:xfrm>
        </p:grpSpPr>
        <p:sp>
          <p:nvSpPr>
            <p:cNvPr id="9" name="object 9"/>
            <p:cNvSpPr/>
            <p:nvPr/>
          </p:nvSpPr>
          <p:spPr>
            <a:xfrm>
              <a:off x="1719072" y="2034539"/>
              <a:ext cx="6600825" cy="3893820"/>
            </a:xfrm>
            <a:custGeom>
              <a:avLst/>
              <a:gdLst/>
              <a:ahLst/>
              <a:cxnLst/>
              <a:rect l="l" t="t" r="r" b="b"/>
              <a:pathLst>
                <a:path w="6600825" h="3893820">
                  <a:moveTo>
                    <a:pt x="6481572" y="3774948"/>
                  </a:moveTo>
                  <a:lnTo>
                    <a:pt x="6481572" y="3893820"/>
                  </a:lnTo>
                  <a:lnTo>
                    <a:pt x="6560820" y="3854196"/>
                  </a:lnTo>
                  <a:lnTo>
                    <a:pt x="6501383" y="3854196"/>
                  </a:lnTo>
                  <a:lnTo>
                    <a:pt x="6501383" y="3814572"/>
                  </a:lnTo>
                  <a:lnTo>
                    <a:pt x="6560820" y="3814572"/>
                  </a:lnTo>
                  <a:lnTo>
                    <a:pt x="6481572" y="3774948"/>
                  </a:lnTo>
                  <a:close/>
                </a:path>
                <a:path w="6600825" h="3893820">
                  <a:moveTo>
                    <a:pt x="79247" y="99060"/>
                  </a:moveTo>
                  <a:lnTo>
                    <a:pt x="39623" y="99060"/>
                  </a:lnTo>
                  <a:lnTo>
                    <a:pt x="39623" y="3834384"/>
                  </a:lnTo>
                  <a:lnTo>
                    <a:pt x="41183" y="3842092"/>
                  </a:lnTo>
                  <a:lnTo>
                    <a:pt x="45434" y="3848390"/>
                  </a:lnTo>
                  <a:lnTo>
                    <a:pt x="51732" y="3852638"/>
                  </a:lnTo>
                  <a:lnTo>
                    <a:pt x="59435" y="3854196"/>
                  </a:lnTo>
                  <a:lnTo>
                    <a:pt x="6481572" y="3854196"/>
                  </a:lnTo>
                  <a:lnTo>
                    <a:pt x="6481572" y="3834384"/>
                  </a:lnTo>
                  <a:lnTo>
                    <a:pt x="79247" y="3834384"/>
                  </a:lnTo>
                  <a:lnTo>
                    <a:pt x="59436" y="3814572"/>
                  </a:lnTo>
                  <a:lnTo>
                    <a:pt x="79247" y="3814572"/>
                  </a:lnTo>
                  <a:lnTo>
                    <a:pt x="79247" y="99060"/>
                  </a:lnTo>
                  <a:close/>
                </a:path>
                <a:path w="6600825" h="3893820">
                  <a:moveTo>
                    <a:pt x="6560820" y="3814572"/>
                  </a:moveTo>
                  <a:lnTo>
                    <a:pt x="6501383" y="3814572"/>
                  </a:lnTo>
                  <a:lnTo>
                    <a:pt x="6501383" y="3854196"/>
                  </a:lnTo>
                  <a:lnTo>
                    <a:pt x="6560820" y="3854196"/>
                  </a:lnTo>
                  <a:lnTo>
                    <a:pt x="6600444" y="3834384"/>
                  </a:lnTo>
                  <a:lnTo>
                    <a:pt x="6560820" y="3814572"/>
                  </a:lnTo>
                  <a:close/>
                </a:path>
                <a:path w="6600825" h="3893820">
                  <a:moveTo>
                    <a:pt x="79247" y="3814572"/>
                  </a:moveTo>
                  <a:lnTo>
                    <a:pt x="59436" y="3814572"/>
                  </a:lnTo>
                  <a:lnTo>
                    <a:pt x="79247" y="3834384"/>
                  </a:lnTo>
                  <a:lnTo>
                    <a:pt x="79247" y="3814572"/>
                  </a:lnTo>
                  <a:close/>
                </a:path>
                <a:path w="6600825" h="3893820">
                  <a:moveTo>
                    <a:pt x="6481572" y="3814572"/>
                  </a:moveTo>
                  <a:lnTo>
                    <a:pt x="79247" y="3814572"/>
                  </a:lnTo>
                  <a:lnTo>
                    <a:pt x="79247" y="3834384"/>
                  </a:lnTo>
                  <a:lnTo>
                    <a:pt x="6481572" y="3834384"/>
                  </a:lnTo>
                  <a:lnTo>
                    <a:pt x="6481572" y="3814572"/>
                  </a:lnTo>
                  <a:close/>
                </a:path>
                <a:path w="6600825" h="3893820">
                  <a:moveTo>
                    <a:pt x="59435" y="0"/>
                  </a:moveTo>
                  <a:lnTo>
                    <a:pt x="0" y="118872"/>
                  </a:lnTo>
                  <a:lnTo>
                    <a:pt x="39623" y="118872"/>
                  </a:lnTo>
                  <a:lnTo>
                    <a:pt x="39623" y="99060"/>
                  </a:lnTo>
                  <a:lnTo>
                    <a:pt x="108965" y="99060"/>
                  </a:lnTo>
                  <a:lnTo>
                    <a:pt x="59435" y="0"/>
                  </a:lnTo>
                  <a:close/>
                </a:path>
                <a:path w="6600825" h="3893820">
                  <a:moveTo>
                    <a:pt x="108965" y="99060"/>
                  </a:moveTo>
                  <a:lnTo>
                    <a:pt x="79247" y="99060"/>
                  </a:lnTo>
                  <a:lnTo>
                    <a:pt x="79247" y="118872"/>
                  </a:lnTo>
                  <a:lnTo>
                    <a:pt x="118871" y="118872"/>
                  </a:lnTo>
                  <a:lnTo>
                    <a:pt x="108965" y="99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82624" y="2185415"/>
              <a:ext cx="771144" cy="5760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333246" y="2254376"/>
            <a:ext cx="59055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36245" algn="l"/>
              </a:tabLst>
            </a:pPr>
            <a:r>
              <a:rPr sz="2000" b="1" i="1" spc="-5" dirty="0">
                <a:latin typeface="Arial"/>
                <a:cs typeface="Arial"/>
              </a:rPr>
              <a:t>30	–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82624" y="2749295"/>
            <a:ext cx="771144" cy="5760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333246" y="2818637"/>
            <a:ext cx="59055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36245" algn="l"/>
              </a:tabLst>
            </a:pPr>
            <a:r>
              <a:rPr sz="2000" b="1" i="1" spc="-5" dirty="0">
                <a:latin typeface="Arial"/>
                <a:cs typeface="Arial"/>
              </a:rPr>
              <a:t>25	–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182624" y="3313176"/>
            <a:ext cx="771144" cy="5760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333246" y="3382213"/>
            <a:ext cx="59055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6245" algn="l"/>
              </a:tabLst>
            </a:pPr>
            <a:r>
              <a:rPr sz="2000" b="1" i="1" spc="-5" dirty="0">
                <a:latin typeface="Arial"/>
                <a:cs typeface="Arial"/>
              </a:rPr>
              <a:t>20	–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182624" y="3877055"/>
            <a:ext cx="771144" cy="57607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333246" y="3946347"/>
            <a:ext cx="59055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6245" algn="l"/>
              </a:tabLst>
            </a:pPr>
            <a:r>
              <a:rPr sz="2000" b="1" i="1" spc="-5" dirty="0">
                <a:latin typeface="Arial"/>
                <a:cs typeface="Arial"/>
              </a:rPr>
              <a:t>15	–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82624" y="4440935"/>
            <a:ext cx="771144" cy="57607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333246" y="4510481"/>
            <a:ext cx="59055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6245" algn="l"/>
              </a:tabLst>
            </a:pPr>
            <a:r>
              <a:rPr sz="2000" b="1" i="1" spc="-5" dirty="0">
                <a:latin typeface="Arial"/>
                <a:cs typeface="Arial"/>
              </a:rPr>
              <a:t>10	–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325880" y="5004815"/>
            <a:ext cx="627888" cy="57607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476502" y="5075046"/>
            <a:ext cx="44704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93370" algn="l"/>
              </a:tabLst>
            </a:pPr>
            <a:r>
              <a:rPr sz="2000" b="1" i="1" spc="-5" dirty="0">
                <a:latin typeface="Arial"/>
                <a:cs typeface="Arial"/>
              </a:rPr>
              <a:t>5	–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89431" y="2852927"/>
            <a:ext cx="576072" cy="205435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881192" y="3029844"/>
            <a:ext cx="308610" cy="173101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305"/>
              </a:lnSpc>
            </a:pPr>
            <a:r>
              <a:rPr sz="2000" b="1" i="1" spc="-10" dirty="0">
                <a:latin typeface="Arial"/>
                <a:cs typeface="Arial"/>
              </a:rPr>
              <a:t>Sales</a:t>
            </a:r>
            <a:r>
              <a:rPr sz="2000" b="1" i="1" spc="-40" dirty="0">
                <a:latin typeface="Arial"/>
                <a:cs typeface="Arial"/>
              </a:rPr>
              <a:t> </a:t>
            </a:r>
            <a:r>
              <a:rPr sz="2000" b="1" i="1" spc="-5" dirty="0">
                <a:latin typeface="Arial"/>
                <a:cs typeface="Arial"/>
              </a:rPr>
              <a:t>demand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716023" y="5855208"/>
            <a:ext cx="5873750" cy="576580"/>
            <a:chOff x="1716023" y="5855208"/>
            <a:chExt cx="5873750" cy="576580"/>
          </a:xfrm>
        </p:grpSpPr>
        <p:sp>
          <p:nvSpPr>
            <p:cNvPr id="25" name="object 25"/>
            <p:cNvSpPr/>
            <p:nvPr/>
          </p:nvSpPr>
          <p:spPr>
            <a:xfrm>
              <a:off x="1716023" y="5855208"/>
              <a:ext cx="487680" cy="576072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313431" y="5855208"/>
              <a:ext cx="502919" cy="57607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755391" y="5855208"/>
              <a:ext cx="557783" cy="57607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249167" y="5855208"/>
              <a:ext cx="530352" cy="57607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709416" y="5855208"/>
              <a:ext cx="557784" cy="57607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224527" y="5855208"/>
              <a:ext cx="487679" cy="576072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693919" y="5855208"/>
              <a:ext cx="487679" cy="576072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154167" y="5855208"/>
              <a:ext cx="530351" cy="57607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632703" y="5855208"/>
              <a:ext cx="518160" cy="576072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102095" y="5855208"/>
              <a:ext cx="545592" cy="576072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577583" y="5855208"/>
              <a:ext cx="530351" cy="576072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059167" y="5855208"/>
              <a:ext cx="530351" cy="576072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37" name="object 37"/>
          <p:cNvGraphicFramePr>
            <a:graphicFrameLocks noGrp="1"/>
          </p:cNvGraphicFramePr>
          <p:nvPr/>
        </p:nvGraphicFramePr>
        <p:xfrm>
          <a:off x="1847976" y="5549051"/>
          <a:ext cx="5594979" cy="727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51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3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2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8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54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08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70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7180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448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64025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000" b="1" i="1" dirty="0">
                          <a:latin typeface="Arial"/>
                          <a:cs typeface="Arial"/>
                        </a:rPr>
                        <a:t>|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4127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000" b="1" i="1" dirty="0">
                          <a:latin typeface="Arial"/>
                          <a:cs typeface="Arial"/>
                        </a:rPr>
                        <a:t>|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000" b="1" i="1" dirty="0">
                          <a:latin typeface="Arial"/>
                          <a:cs typeface="Arial"/>
                        </a:rPr>
                        <a:t>|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000" b="1" i="1" dirty="0">
                          <a:latin typeface="Arial"/>
                          <a:cs typeface="Arial"/>
                        </a:rPr>
                        <a:t>|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000" b="1" i="1" dirty="0">
                          <a:latin typeface="Arial"/>
                          <a:cs typeface="Arial"/>
                        </a:rPr>
                        <a:t>|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000" b="1" i="1" dirty="0">
                          <a:latin typeface="Arial"/>
                          <a:cs typeface="Arial"/>
                        </a:rPr>
                        <a:t>|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000" b="1" i="1" dirty="0">
                          <a:latin typeface="Arial"/>
                          <a:cs typeface="Arial"/>
                        </a:rPr>
                        <a:t>|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000" b="1" i="1" dirty="0">
                          <a:latin typeface="Arial"/>
                          <a:cs typeface="Arial"/>
                        </a:rPr>
                        <a:t>|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000" b="1" i="1" dirty="0">
                          <a:latin typeface="Arial"/>
                          <a:cs typeface="Arial"/>
                        </a:rPr>
                        <a:t>|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000" b="1" i="1" dirty="0">
                          <a:latin typeface="Arial"/>
                          <a:cs typeface="Arial"/>
                        </a:rPr>
                        <a:t>|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000" b="1" i="1" dirty="0">
                          <a:latin typeface="Arial"/>
                          <a:cs typeface="Arial"/>
                        </a:rPr>
                        <a:t>|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12128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000" b="1" i="1" dirty="0">
                          <a:latin typeface="Arial"/>
                          <a:cs typeface="Arial"/>
                        </a:rPr>
                        <a:t>|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698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68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b="1" i="1" dirty="0">
                          <a:latin typeface="Arial"/>
                          <a:cs typeface="Arial"/>
                        </a:rPr>
                        <a:t>J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L="4000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b="1" i="1" dirty="0">
                          <a:latin typeface="Arial"/>
                          <a:cs typeface="Arial"/>
                        </a:rPr>
                        <a:t>F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b="1" i="1" dirty="0">
                          <a:latin typeface="Arial"/>
                          <a:cs typeface="Arial"/>
                        </a:rPr>
                        <a:t>M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b="1" i="1" dirty="0">
                          <a:latin typeface="Arial"/>
                          <a:cs typeface="Arial"/>
                        </a:rPr>
                        <a:t>A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b="1" i="1" dirty="0">
                          <a:latin typeface="Arial"/>
                          <a:cs typeface="Arial"/>
                        </a:rPr>
                        <a:t>M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b="1" i="1" dirty="0">
                          <a:latin typeface="Arial"/>
                          <a:cs typeface="Arial"/>
                        </a:rPr>
                        <a:t>J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b="1" i="1" dirty="0">
                          <a:latin typeface="Arial"/>
                          <a:cs typeface="Arial"/>
                        </a:rPr>
                        <a:t>J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b="1" i="1" dirty="0">
                          <a:latin typeface="Arial"/>
                          <a:cs typeface="Arial"/>
                        </a:rPr>
                        <a:t>A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b="1" i="1" dirty="0">
                          <a:latin typeface="Arial"/>
                          <a:cs typeface="Arial"/>
                        </a:rPr>
                        <a:t>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b="1" i="1" dirty="0">
                          <a:latin typeface="Arial"/>
                          <a:cs typeface="Arial"/>
                        </a:rPr>
                        <a:t>O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b="1" i="1" dirty="0">
                          <a:latin typeface="Arial"/>
                          <a:cs typeface="Arial"/>
                        </a:rPr>
                        <a:t>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L="11747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b="1" i="1" dirty="0">
                          <a:latin typeface="Arial"/>
                          <a:cs typeface="Arial"/>
                        </a:rPr>
                        <a:t>D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13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8" name="object 38"/>
          <p:cNvGrpSpPr/>
          <p:nvPr/>
        </p:nvGrpSpPr>
        <p:grpSpPr>
          <a:xfrm>
            <a:off x="2020633" y="2429065"/>
            <a:ext cx="5334635" cy="2359660"/>
            <a:chOff x="2020633" y="2429065"/>
            <a:chExt cx="5334635" cy="2359660"/>
          </a:xfrm>
        </p:grpSpPr>
        <p:sp>
          <p:nvSpPr>
            <p:cNvPr id="39" name="object 39"/>
            <p:cNvSpPr/>
            <p:nvPr/>
          </p:nvSpPr>
          <p:spPr>
            <a:xfrm>
              <a:off x="2071115" y="2479547"/>
              <a:ext cx="5233670" cy="2258695"/>
            </a:xfrm>
            <a:custGeom>
              <a:avLst/>
              <a:gdLst/>
              <a:ahLst/>
              <a:cxnLst/>
              <a:rect l="l" t="t" r="r" b="b"/>
              <a:pathLst>
                <a:path w="5233670" h="2258695">
                  <a:moveTo>
                    <a:pt x="0" y="2258568"/>
                  </a:moveTo>
                  <a:lnTo>
                    <a:pt x="470026" y="2068195"/>
                  </a:lnTo>
                  <a:lnTo>
                    <a:pt x="952626" y="1928621"/>
                  </a:lnTo>
                  <a:lnTo>
                    <a:pt x="1422654" y="1611502"/>
                  </a:lnTo>
                  <a:lnTo>
                    <a:pt x="1905381" y="1230757"/>
                  </a:lnTo>
                  <a:lnTo>
                    <a:pt x="2375408" y="786638"/>
                  </a:lnTo>
                  <a:lnTo>
                    <a:pt x="2858008" y="456818"/>
                  </a:lnTo>
                  <a:lnTo>
                    <a:pt x="3328034" y="0"/>
                  </a:lnTo>
                  <a:lnTo>
                    <a:pt x="3810761" y="190373"/>
                  </a:lnTo>
                  <a:lnTo>
                    <a:pt x="4280788" y="1319657"/>
                  </a:lnTo>
                  <a:lnTo>
                    <a:pt x="4763388" y="1586102"/>
                  </a:lnTo>
                  <a:lnTo>
                    <a:pt x="5233415" y="1827149"/>
                  </a:lnTo>
                </a:path>
              </a:pathLst>
            </a:custGeom>
            <a:ln w="100584">
              <a:solidFill>
                <a:srgbClr val="944F7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142743" y="3304031"/>
              <a:ext cx="1194816" cy="576071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215895" y="3563111"/>
              <a:ext cx="978407" cy="576071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2294001" y="3373882"/>
            <a:ext cx="799465" cy="58864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85725" marR="5080" indent="-73660">
              <a:lnSpc>
                <a:spcPts val="2039"/>
              </a:lnSpc>
              <a:spcBef>
                <a:spcPts val="459"/>
              </a:spcBef>
            </a:pPr>
            <a:r>
              <a:rPr sz="2000" b="1" i="1" spc="-5" dirty="0">
                <a:latin typeface="Arial"/>
                <a:cs typeface="Arial"/>
              </a:rPr>
              <a:t>Actual  </a:t>
            </a:r>
            <a:r>
              <a:rPr sz="2000" b="1" i="1" spc="-10" dirty="0">
                <a:latin typeface="Arial"/>
                <a:cs typeface="Arial"/>
              </a:rPr>
              <a:t>sales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2664460" y="3946016"/>
            <a:ext cx="3340100" cy="1034415"/>
            <a:chOff x="2664460" y="3946016"/>
            <a:chExt cx="3340100" cy="1034415"/>
          </a:xfrm>
        </p:grpSpPr>
        <p:sp>
          <p:nvSpPr>
            <p:cNvPr id="44" name="object 44"/>
            <p:cNvSpPr/>
            <p:nvPr/>
          </p:nvSpPr>
          <p:spPr>
            <a:xfrm>
              <a:off x="2664460" y="3946016"/>
              <a:ext cx="171450" cy="462915"/>
            </a:xfrm>
            <a:custGeom>
              <a:avLst/>
              <a:gdLst/>
              <a:ahLst/>
              <a:cxnLst/>
              <a:rect l="l" t="t" r="r" b="b"/>
              <a:pathLst>
                <a:path w="171450" h="462914">
                  <a:moveTo>
                    <a:pt x="57429" y="298233"/>
                  </a:moveTo>
                  <a:lnTo>
                    <a:pt x="634" y="309625"/>
                  </a:lnTo>
                  <a:lnTo>
                    <a:pt x="119887" y="462914"/>
                  </a:lnTo>
                  <a:lnTo>
                    <a:pt x="157002" y="326643"/>
                  </a:lnTo>
                  <a:lnTo>
                    <a:pt x="63118" y="326643"/>
                  </a:lnTo>
                  <a:lnTo>
                    <a:pt x="57429" y="298233"/>
                  </a:lnTo>
                  <a:close/>
                </a:path>
                <a:path w="171450" h="462914">
                  <a:moveTo>
                    <a:pt x="114218" y="286841"/>
                  </a:moveTo>
                  <a:lnTo>
                    <a:pt x="57429" y="298233"/>
                  </a:lnTo>
                  <a:lnTo>
                    <a:pt x="63118" y="326643"/>
                  </a:lnTo>
                  <a:lnTo>
                    <a:pt x="119887" y="315213"/>
                  </a:lnTo>
                  <a:lnTo>
                    <a:pt x="114218" y="286841"/>
                  </a:lnTo>
                  <a:close/>
                </a:path>
                <a:path w="171450" h="462914">
                  <a:moveTo>
                    <a:pt x="170941" y="275462"/>
                  </a:moveTo>
                  <a:lnTo>
                    <a:pt x="114218" y="286841"/>
                  </a:lnTo>
                  <a:lnTo>
                    <a:pt x="119887" y="315213"/>
                  </a:lnTo>
                  <a:lnTo>
                    <a:pt x="63118" y="326643"/>
                  </a:lnTo>
                  <a:lnTo>
                    <a:pt x="157002" y="326643"/>
                  </a:lnTo>
                  <a:lnTo>
                    <a:pt x="170941" y="275462"/>
                  </a:lnTo>
                  <a:close/>
                </a:path>
                <a:path w="171450" h="462914">
                  <a:moveTo>
                    <a:pt x="56895" y="0"/>
                  </a:moveTo>
                  <a:lnTo>
                    <a:pt x="0" y="11429"/>
                  </a:lnTo>
                  <a:lnTo>
                    <a:pt x="57429" y="298233"/>
                  </a:lnTo>
                  <a:lnTo>
                    <a:pt x="114218" y="286841"/>
                  </a:lnTo>
                  <a:lnTo>
                    <a:pt x="568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696967" y="4145279"/>
              <a:ext cx="1307591" cy="576072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660392" y="4404359"/>
              <a:ext cx="1301496" cy="576071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4810759" y="4213986"/>
            <a:ext cx="981710" cy="5886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8895">
              <a:lnSpc>
                <a:spcPts val="2220"/>
              </a:lnSpc>
              <a:spcBef>
                <a:spcPts val="90"/>
              </a:spcBef>
            </a:pPr>
            <a:r>
              <a:rPr sz="2000" b="1" i="1" spc="-15" dirty="0">
                <a:latin typeface="Arial"/>
                <a:cs typeface="Arial"/>
              </a:rPr>
              <a:t>Moving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220"/>
              </a:lnSpc>
            </a:pPr>
            <a:r>
              <a:rPr sz="2000" b="1" i="1" spc="-10" dirty="0">
                <a:latin typeface="Arial"/>
                <a:cs typeface="Arial"/>
              </a:rPr>
              <a:t>average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138292" y="1847088"/>
            <a:ext cx="3347720" cy="2404110"/>
            <a:chOff x="5138292" y="1847088"/>
            <a:chExt cx="3347720" cy="2404110"/>
          </a:xfrm>
        </p:grpSpPr>
        <p:sp>
          <p:nvSpPr>
            <p:cNvPr id="49" name="object 49"/>
            <p:cNvSpPr/>
            <p:nvPr/>
          </p:nvSpPr>
          <p:spPr>
            <a:xfrm>
              <a:off x="5138292" y="3646932"/>
              <a:ext cx="213360" cy="604520"/>
            </a:xfrm>
            <a:custGeom>
              <a:avLst/>
              <a:gdLst/>
              <a:ahLst/>
              <a:cxnLst/>
              <a:rect l="l" t="t" r="r" b="b"/>
              <a:pathLst>
                <a:path w="213360" h="604520">
                  <a:moveTo>
                    <a:pt x="112667" y="162565"/>
                  </a:moveTo>
                  <a:lnTo>
                    <a:pt x="56281" y="175783"/>
                  </a:lnTo>
                  <a:lnTo>
                    <a:pt x="156845" y="604012"/>
                  </a:lnTo>
                  <a:lnTo>
                    <a:pt x="213233" y="590804"/>
                  </a:lnTo>
                  <a:lnTo>
                    <a:pt x="112667" y="162565"/>
                  </a:lnTo>
                  <a:close/>
                </a:path>
                <a:path w="213360" h="604520">
                  <a:moveTo>
                    <a:pt x="44831" y="0"/>
                  </a:moveTo>
                  <a:lnTo>
                    <a:pt x="0" y="188976"/>
                  </a:lnTo>
                  <a:lnTo>
                    <a:pt x="56281" y="175783"/>
                  </a:lnTo>
                  <a:lnTo>
                    <a:pt x="49657" y="147574"/>
                  </a:lnTo>
                  <a:lnTo>
                    <a:pt x="106045" y="134366"/>
                  </a:lnTo>
                  <a:lnTo>
                    <a:pt x="156574" y="134366"/>
                  </a:lnTo>
                  <a:lnTo>
                    <a:pt x="44831" y="0"/>
                  </a:lnTo>
                  <a:close/>
                </a:path>
                <a:path w="213360" h="604520">
                  <a:moveTo>
                    <a:pt x="106045" y="134366"/>
                  </a:moveTo>
                  <a:lnTo>
                    <a:pt x="49657" y="147574"/>
                  </a:lnTo>
                  <a:lnTo>
                    <a:pt x="56281" y="175783"/>
                  </a:lnTo>
                  <a:lnTo>
                    <a:pt x="112667" y="162565"/>
                  </a:lnTo>
                  <a:lnTo>
                    <a:pt x="106045" y="134366"/>
                  </a:lnTo>
                  <a:close/>
                </a:path>
                <a:path w="213360" h="604520">
                  <a:moveTo>
                    <a:pt x="156574" y="134366"/>
                  </a:moveTo>
                  <a:lnTo>
                    <a:pt x="106045" y="134366"/>
                  </a:lnTo>
                  <a:lnTo>
                    <a:pt x="112667" y="162565"/>
                  </a:lnTo>
                  <a:lnTo>
                    <a:pt x="169037" y="149352"/>
                  </a:lnTo>
                  <a:lnTo>
                    <a:pt x="156574" y="1343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931151" y="1847088"/>
              <a:ext cx="1554479" cy="576072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046975" y="2106168"/>
              <a:ext cx="1319783" cy="576072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022591" y="2365248"/>
              <a:ext cx="1301496" cy="576072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7082408" y="1914270"/>
            <a:ext cx="1158240" cy="84772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algn="ctr">
              <a:lnSpc>
                <a:spcPct val="85000"/>
              </a:lnSpc>
              <a:spcBef>
                <a:spcPts val="450"/>
              </a:spcBef>
            </a:pPr>
            <a:r>
              <a:rPr sz="2000" b="1" i="1" spc="-70" dirty="0">
                <a:latin typeface="Arial"/>
                <a:cs typeface="Arial"/>
              </a:rPr>
              <a:t>W</a:t>
            </a:r>
            <a:r>
              <a:rPr sz="2000" b="1" i="1" spc="-5" dirty="0">
                <a:latin typeface="Arial"/>
                <a:cs typeface="Arial"/>
              </a:rPr>
              <a:t>eig</a:t>
            </a:r>
            <a:r>
              <a:rPr sz="2000" b="1" i="1" dirty="0">
                <a:latin typeface="Arial"/>
                <a:cs typeface="Arial"/>
              </a:rPr>
              <a:t>ht</a:t>
            </a:r>
            <a:r>
              <a:rPr sz="2000" b="1" i="1" spc="-5" dirty="0">
                <a:latin typeface="Arial"/>
                <a:cs typeface="Arial"/>
              </a:rPr>
              <a:t>ed  moving  </a:t>
            </a:r>
            <a:r>
              <a:rPr sz="2000" b="1" i="1" spc="-10" dirty="0">
                <a:latin typeface="Arial"/>
                <a:cs typeface="Arial"/>
              </a:rPr>
              <a:t>average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3444240" y="2349119"/>
            <a:ext cx="3923029" cy="2299335"/>
            <a:chOff x="3444240" y="2349119"/>
            <a:chExt cx="3923029" cy="2299335"/>
          </a:xfrm>
        </p:grpSpPr>
        <p:sp>
          <p:nvSpPr>
            <p:cNvPr id="55" name="object 55"/>
            <p:cNvSpPr/>
            <p:nvPr/>
          </p:nvSpPr>
          <p:spPr>
            <a:xfrm>
              <a:off x="6530340" y="2349119"/>
              <a:ext cx="633095" cy="297180"/>
            </a:xfrm>
            <a:custGeom>
              <a:avLst/>
              <a:gdLst/>
              <a:ahLst/>
              <a:cxnLst/>
              <a:rect l="l" t="t" r="r" b="b"/>
              <a:pathLst>
                <a:path w="633095" h="297180">
                  <a:moveTo>
                    <a:pt x="127634" y="136397"/>
                  </a:moveTo>
                  <a:lnTo>
                    <a:pt x="0" y="282828"/>
                  </a:lnTo>
                  <a:lnTo>
                    <a:pt x="193675" y="297052"/>
                  </a:lnTo>
                  <a:lnTo>
                    <a:pt x="176186" y="254507"/>
                  </a:lnTo>
                  <a:lnTo>
                    <a:pt x="144906" y="254507"/>
                  </a:lnTo>
                  <a:lnTo>
                    <a:pt x="122808" y="200913"/>
                  </a:lnTo>
                  <a:lnTo>
                    <a:pt x="149617" y="189875"/>
                  </a:lnTo>
                  <a:lnTo>
                    <a:pt x="127634" y="136397"/>
                  </a:lnTo>
                  <a:close/>
                </a:path>
                <a:path w="633095" h="297180">
                  <a:moveTo>
                    <a:pt x="149617" y="189875"/>
                  </a:moveTo>
                  <a:lnTo>
                    <a:pt x="122808" y="200913"/>
                  </a:lnTo>
                  <a:lnTo>
                    <a:pt x="144906" y="254507"/>
                  </a:lnTo>
                  <a:lnTo>
                    <a:pt x="171658" y="243492"/>
                  </a:lnTo>
                  <a:lnTo>
                    <a:pt x="149617" y="189875"/>
                  </a:lnTo>
                  <a:close/>
                </a:path>
                <a:path w="633095" h="297180">
                  <a:moveTo>
                    <a:pt x="171658" y="243492"/>
                  </a:moveTo>
                  <a:lnTo>
                    <a:pt x="144906" y="254507"/>
                  </a:lnTo>
                  <a:lnTo>
                    <a:pt x="176186" y="254507"/>
                  </a:lnTo>
                  <a:lnTo>
                    <a:pt x="171658" y="243492"/>
                  </a:lnTo>
                  <a:close/>
                </a:path>
                <a:path w="633095" h="297180">
                  <a:moveTo>
                    <a:pt x="610742" y="0"/>
                  </a:moveTo>
                  <a:lnTo>
                    <a:pt x="149617" y="189875"/>
                  </a:lnTo>
                  <a:lnTo>
                    <a:pt x="171658" y="243492"/>
                  </a:lnTo>
                  <a:lnTo>
                    <a:pt x="632840" y="53593"/>
                  </a:lnTo>
                  <a:lnTo>
                    <a:pt x="6107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506724" y="2692908"/>
              <a:ext cx="3810000" cy="1905000"/>
            </a:xfrm>
            <a:custGeom>
              <a:avLst/>
              <a:gdLst/>
              <a:ahLst/>
              <a:cxnLst/>
              <a:rect l="l" t="t" r="r" b="b"/>
              <a:pathLst>
                <a:path w="3810000" h="1905000">
                  <a:moveTo>
                    <a:pt x="0" y="1904999"/>
                  </a:moveTo>
                  <a:lnTo>
                    <a:pt x="482600" y="1663699"/>
                  </a:lnTo>
                  <a:lnTo>
                    <a:pt x="927100" y="1396999"/>
                  </a:lnTo>
                  <a:lnTo>
                    <a:pt x="1422400" y="1028699"/>
                  </a:lnTo>
                  <a:lnTo>
                    <a:pt x="1892300" y="660400"/>
                  </a:lnTo>
                  <a:lnTo>
                    <a:pt x="2374900" y="203200"/>
                  </a:lnTo>
                  <a:lnTo>
                    <a:pt x="2832100" y="0"/>
                  </a:lnTo>
                  <a:lnTo>
                    <a:pt x="3327400" y="304800"/>
                  </a:lnTo>
                  <a:lnTo>
                    <a:pt x="3810000" y="825500"/>
                  </a:lnTo>
                </a:path>
              </a:pathLst>
            </a:custGeom>
            <a:ln w="100584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494532" y="2592324"/>
              <a:ext cx="3810000" cy="1957070"/>
            </a:xfrm>
            <a:custGeom>
              <a:avLst/>
              <a:gdLst/>
              <a:ahLst/>
              <a:cxnLst/>
              <a:rect l="l" t="t" r="r" b="b"/>
              <a:pathLst>
                <a:path w="3810000" h="1957070">
                  <a:moveTo>
                    <a:pt x="0" y="1956815"/>
                  </a:moveTo>
                  <a:lnTo>
                    <a:pt x="482600" y="1715389"/>
                  </a:lnTo>
                  <a:lnTo>
                    <a:pt x="952500" y="1372362"/>
                  </a:lnTo>
                  <a:lnTo>
                    <a:pt x="1435100" y="965708"/>
                  </a:lnTo>
                  <a:lnTo>
                    <a:pt x="1905000" y="609853"/>
                  </a:lnTo>
                  <a:lnTo>
                    <a:pt x="2387600" y="139826"/>
                  </a:lnTo>
                  <a:lnTo>
                    <a:pt x="2857500" y="0"/>
                  </a:lnTo>
                  <a:lnTo>
                    <a:pt x="3352799" y="609853"/>
                  </a:lnTo>
                  <a:lnTo>
                    <a:pt x="3809999" y="1143634"/>
                  </a:lnTo>
                </a:path>
              </a:pathLst>
            </a:custGeom>
            <a:ln w="100584">
              <a:solidFill>
                <a:srgbClr val="0462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/>
          <p:nvPr/>
        </p:nvSpPr>
        <p:spPr>
          <a:xfrm>
            <a:off x="0" y="6504431"/>
            <a:ext cx="1801495" cy="353695"/>
          </a:xfrm>
          <a:custGeom>
            <a:avLst/>
            <a:gdLst/>
            <a:ahLst/>
            <a:cxnLst/>
            <a:rect l="l" t="t" r="r" b="b"/>
            <a:pathLst>
              <a:path w="1801495" h="353695">
                <a:moveTo>
                  <a:pt x="1801368" y="0"/>
                </a:moveTo>
                <a:lnTo>
                  <a:pt x="0" y="0"/>
                </a:lnTo>
                <a:lnTo>
                  <a:pt x="0" y="353568"/>
                </a:lnTo>
                <a:lnTo>
                  <a:pt x="1801368" y="353568"/>
                </a:lnTo>
                <a:lnTo>
                  <a:pt x="18013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327392" y="6504431"/>
            <a:ext cx="1804670" cy="353695"/>
          </a:xfrm>
          <a:custGeom>
            <a:avLst/>
            <a:gdLst/>
            <a:ahLst/>
            <a:cxnLst/>
            <a:rect l="l" t="t" r="r" b="b"/>
            <a:pathLst>
              <a:path w="1804670" h="353695">
                <a:moveTo>
                  <a:pt x="1804416" y="0"/>
                </a:moveTo>
                <a:lnTo>
                  <a:pt x="0" y="0"/>
                </a:lnTo>
                <a:lnTo>
                  <a:pt x="0" y="353568"/>
                </a:lnTo>
                <a:lnTo>
                  <a:pt x="1804416" y="353568"/>
                </a:lnTo>
                <a:lnTo>
                  <a:pt x="18044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Slide Number Placeholder 59">
            <a:extLst>
              <a:ext uri="{FF2B5EF4-FFF2-40B4-BE49-F238E27FC236}">
                <a16:creationId xmlns:a16="http://schemas.microsoft.com/office/drawing/2014/main" id="{C05FEBA3-1F26-571E-B031-375ADEFDAD8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0462C1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0462C1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89213" y="6638266"/>
            <a:ext cx="32004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0462C1"/>
                </a:solidFill>
                <a:latin typeface="Arial"/>
                <a:cs typeface="Arial"/>
              </a:rPr>
              <a:t>4 –</a:t>
            </a:r>
            <a:r>
              <a:rPr sz="900" b="1" spc="-10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462C1"/>
                </a:solidFill>
                <a:latin typeface="Arial"/>
                <a:cs typeface="Arial"/>
              </a:rPr>
              <a:t>28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18679" y="871727"/>
            <a:ext cx="4340168" cy="4480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393695" y="718261"/>
            <a:ext cx="43548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Exponential</a:t>
            </a:r>
            <a:r>
              <a:rPr spc="-75" dirty="0"/>
              <a:t> </a:t>
            </a:r>
            <a:r>
              <a:rPr spc="-5" dirty="0"/>
              <a:t>Smoothing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63930" y="1782571"/>
            <a:ext cx="5560695" cy="2773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1330" marR="854075" indent="-481330" algn="r">
              <a:lnSpc>
                <a:spcPct val="100000"/>
              </a:lnSpc>
              <a:spcBef>
                <a:spcPts val="100"/>
              </a:spcBef>
              <a:buFont typeface="Wingdings"/>
              <a:buChar char=""/>
              <a:tabLst>
                <a:tab pos="481330" algn="l"/>
                <a:tab pos="481965" algn="l"/>
              </a:tabLst>
            </a:pPr>
            <a:r>
              <a:rPr sz="2400" spc="-5" dirty="0">
                <a:latin typeface="Times New Roman"/>
                <a:cs typeface="Times New Roman"/>
              </a:rPr>
              <a:t>Form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weighted </a:t>
            </a:r>
            <a:r>
              <a:rPr sz="2400" dirty="0">
                <a:latin typeface="Times New Roman"/>
                <a:cs typeface="Times New Roman"/>
              </a:rPr>
              <a:t>moving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average</a:t>
            </a:r>
            <a:endParaRPr sz="2400" dirty="0">
              <a:latin typeface="Times New Roman"/>
              <a:cs typeface="Times New Roman"/>
            </a:endParaRPr>
          </a:p>
          <a:p>
            <a:pPr marL="381000" marR="804545" lvl="1" indent="-381000" algn="r">
              <a:lnSpc>
                <a:spcPct val="100000"/>
              </a:lnSpc>
              <a:spcBef>
                <a:spcPts val="95"/>
              </a:spcBef>
              <a:buFont typeface="Wingdings"/>
              <a:buChar char=""/>
              <a:tabLst>
                <a:tab pos="381000" algn="l"/>
              </a:tabLst>
            </a:pPr>
            <a:r>
              <a:rPr sz="2400" spc="-30" dirty="0">
                <a:solidFill>
                  <a:srgbClr val="FF0000"/>
                </a:solidFill>
                <a:latin typeface="Times New Roman"/>
                <a:cs typeface="Times New Roman"/>
              </a:rPr>
              <a:t>Weights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decline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exponentially</a:t>
            </a:r>
            <a:endParaRPr sz="24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067435" lvl="1" indent="-381635">
              <a:lnSpc>
                <a:spcPct val="100000"/>
              </a:lnSpc>
              <a:spcBef>
                <a:spcPts val="120"/>
              </a:spcBef>
              <a:buFont typeface="Wingdings"/>
              <a:buChar char=""/>
              <a:tabLst>
                <a:tab pos="1068070" algn="l"/>
              </a:tabLst>
            </a:pPr>
            <a:r>
              <a:rPr sz="2400" spc="-5" dirty="0">
                <a:latin typeface="Times New Roman"/>
                <a:cs typeface="Times New Roman"/>
              </a:rPr>
              <a:t>Most </a:t>
            </a:r>
            <a:r>
              <a:rPr sz="2400" spc="-10" dirty="0">
                <a:latin typeface="Times New Roman"/>
                <a:cs typeface="Times New Roman"/>
              </a:rPr>
              <a:t>recent </a:t>
            </a:r>
            <a:r>
              <a:rPr sz="2400" dirty="0">
                <a:latin typeface="Times New Roman"/>
                <a:cs typeface="Times New Roman"/>
              </a:rPr>
              <a:t>data </a:t>
            </a:r>
            <a:r>
              <a:rPr sz="2400" spc="-5" dirty="0">
                <a:latin typeface="Times New Roman"/>
                <a:cs typeface="Times New Roman"/>
              </a:rPr>
              <a:t>weighted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most</a:t>
            </a:r>
          </a:p>
          <a:p>
            <a:pPr marL="494030" indent="-481965">
              <a:lnSpc>
                <a:spcPct val="100000"/>
              </a:lnSpc>
              <a:spcBef>
                <a:spcPts val="505"/>
              </a:spcBef>
              <a:buFont typeface="Wingdings"/>
              <a:buChar char=""/>
              <a:tabLst>
                <a:tab pos="494030" algn="l"/>
                <a:tab pos="494665" algn="l"/>
              </a:tabLst>
            </a:pPr>
            <a:r>
              <a:rPr sz="2400" spc="-5" dirty="0">
                <a:latin typeface="Times New Roman"/>
                <a:cs typeface="Times New Roman"/>
              </a:rPr>
              <a:t>Requires </a:t>
            </a:r>
            <a:r>
              <a:rPr sz="2400" dirty="0">
                <a:latin typeface="Times New Roman"/>
                <a:cs typeface="Times New Roman"/>
              </a:rPr>
              <a:t>smoothing </a:t>
            </a:r>
            <a:r>
              <a:rPr sz="2400" spc="-5" dirty="0">
                <a:latin typeface="Times New Roman"/>
                <a:cs typeface="Times New Roman"/>
              </a:rPr>
              <a:t>constant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(α)</a:t>
            </a:r>
            <a:endParaRPr sz="2400" dirty="0">
              <a:latin typeface="Times New Roman"/>
              <a:cs typeface="Times New Roman"/>
            </a:endParaRPr>
          </a:p>
          <a:p>
            <a:pPr marL="1067435" lvl="1" indent="-381635">
              <a:lnSpc>
                <a:spcPct val="100000"/>
              </a:lnSpc>
              <a:spcBef>
                <a:spcPts val="125"/>
              </a:spcBef>
              <a:buFont typeface="Wingdings"/>
              <a:buChar char=""/>
              <a:tabLst>
                <a:tab pos="1068070" algn="l"/>
              </a:tabLst>
            </a:pPr>
            <a:r>
              <a:rPr sz="2400" spc="-10" dirty="0">
                <a:latin typeface="Times New Roman"/>
                <a:cs typeface="Times New Roman"/>
              </a:rPr>
              <a:t>Ranges </a:t>
            </a:r>
            <a:r>
              <a:rPr sz="2400" spc="-5" dirty="0">
                <a:latin typeface="Times New Roman"/>
                <a:cs typeface="Times New Roman"/>
              </a:rPr>
              <a:t>from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0 to</a:t>
            </a:r>
            <a:r>
              <a:rPr sz="2400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</a:p>
          <a:p>
            <a:pPr marL="1067435" lvl="1" indent="-381635">
              <a:lnSpc>
                <a:spcPct val="100000"/>
              </a:lnSpc>
              <a:spcBef>
                <a:spcPts val="120"/>
              </a:spcBef>
              <a:buFont typeface="Wingdings"/>
              <a:buChar char=""/>
              <a:tabLst>
                <a:tab pos="1068070" algn="l"/>
              </a:tabLst>
            </a:pPr>
            <a:r>
              <a:rPr sz="2400" spc="-5" dirty="0">
                <a:latin typeface="Times New Roman"/>
                <a:cs typeface="Times New Roman"/>
              </a:rPr>
              <a:t>Subjectively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chosen</a:t>
            </a:r>
            <a:endParaRPr sz="2400" dirty="0">
              <a:latin typeface="Times New Roman"/>
              <a:cs typeface="Times New Roman"/>
            </a:endParaRPr>
          </a:p>
          <a:p>
            <a:pPr marL="494030" indent="-481965">
              <a:lnSpc>
                <a:spcPct val="100000"/>
              </a:lnSpc>
              <a:spcBef>
                <a:spcPts val="505"/>
              </a:spcBef>
              <a:buFont typeface="Wingdings"/>
              <a:buChar char=""/>
              <a:tabLst>
                <a:tab pos="494030" algn="l"/>
                <a:tab pos="494665" algn="l"/>
              </a:tabLst>
            </a:pPr>
            <a:r>
              <a:rPr sz="2400" spc="-10" dirty="0">
                <a:latin typeface="Times New Roman"/>
                <a:cs typeface="Times New Roman"/>
              </a:rPr>
              <a:t>Involves </a:t>
            </a:r>
            <a:r>
              <a:rPr sz="2400" dirty="0">
                <a:latin typeface="Times New Roman"/>
                <a:cs typeface="Times New Roman"/>
              </a:rPr>
              <a:t>little </a:t>
            </a:r>
            <a:r>
              <a:rPr sz="2400" spc="-10" dirty="0">
                <a:latin typeface="Times New Roman"/>
                <a:cs typeface="Times New Roman"/>
              </a:rPr>
              <a:t>record </a:t>
            </a:r>
            <a:r>
              <a:rPr sz="2400" spc="-5" dirty="0">
                <a:latin typeface="Times New Roman"/>
                <a:cs typeface="Times New Roman"/>
              </a:rPr>
              <a:t>keeping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past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</a:p>
        </p:txBody>
      </p:sp>
      <p:sp>
        <p:nvSpPr>
          <p:cNvPr id="7" name="object 7"/>
          <p:cNvSpPr/>
          <p:nvPr/>
        </p:nvSpPr>
        <p:spPr>
          <a:xfrm>
            <a:off x="0" y="6504431"/>
            <a:ext cx="1801495" cy="353695"/>
          </a:xfrm>
          <a:custGeom>
            <a:avLst/>
            <a:gdLst/>
            <a:ahLst/>
            <a:cxnLst/>
            <a:rect l="l" t="t" r="r" b="b"/>
            <a:pathLst>
              <a:path w="1801495" h="353695">
                <a:moveTo>
                  <a:pt x="1801368" y="0"/>
                </a:moveTo>
                <a:lnTo>
                  <a:pt x="0" y="0"/>
                </a:lnTo>
                <a:lnTo>
                  <a:pt x="0" y="353568"/>
                </a:lnTo>
                <a:lnTo>
                  <a:pt x="1801368" y="353568"/>
                </a:lnTo>
                <a:lnTo>
                  <a:pt x="18013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327392" y="6504431"/>
            <a:ext cx="1804670" cy="353695"/>
          </a:xfrm>
          <a:custGeom>
            <a:avLst/>
            <a:gdLst/>
            <a:ahLst/>
            <a:cxnLst/>
            <a:rect l="l" t="t" r="r" b="b"/>
            <a:pathLst>
              <a:path w="1804670" h="353695">
                <a:moveTo>
                  <a:pt x="1804416" y="0"/>
                </a:moveTo>
                <a:lnTo>
                  <a:pt x="0" y="0"/>
                </a:lnTo>
                <a:lnTo>
                  <a:pt x="0" y="353568"/>
                </a:lnTo>
                <a:lnTo>
                  <a:pt x="1804416" y="353568"/>
                </a:lnTo>
                <a:lnTo>
                  <a:pt x="18044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31CE47-9E53-2675-7A72-9DD8BD33762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0462C1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0462C1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89213" y="6638266"/>
            <a:ext cx="32004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0462C1"/>
                </a:solidFill>
                <a:latin typeface="Arial"/>
                <a:cs typeface="Arial"/>
              </a:rPr>
              <a:t>4 –</a:t>
            </a:r>
            <a:r>
              <a:rPr sz="900" b="1" spc="-10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462C1"/>
                </a:solidFill>
                <a:latin typeface="Arial"/>
                <a:cs typeface="Arial"/>
              </a:rPr>
              <a:t>29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03425" y="474929"/>
            <a:ext cx="61290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Why </a:t>
            </a:r>
            <a:r>
              <a:rPr dirty="0"/>
              <a:t>use exponential</a:t>
            </a:r>
            <a:r>
              <a:rPr spc="-55" dirty="0"/>
              <a:t> </a:t>
            </a:r>
            <a:r>
              <a:rPr spc="-5" dirty="0"/>
              <a:t>smoothing?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38200" y="1999488"/>
            <a:ext cx="7467600" cy="2679700"/>
          </a:xfrm>
          <a:prstGeom prst="rect">
            <a:avLst/>
          </a:prstGeom>
          <a:solidFill>
            <a:srgbClr val="BCD6ED"/>
          </a:solidFill>
        </p:spPr>
        <p:txBody>
          <a:bodyPr vert="horz" wrap="square" lIns="0" tIns="38100" rIns="0" bIns="0" rtlCol="0">
            <a:spAutoFit/>
          </a:bodyPr>
          <a:lstStyle/>
          <a:p>
            <a:pPr marL="549275" indent="-457834">
              <a:lnSpc>
                <a:spcPct val="100000"/>
              </a:lnSpc>
              <a:spcBef>
                <a:spcPts val="300"/>
              </a:spcBef>
              <a:buAutoNum type="arabicPeriod"/>
              <a:tabLst>
                <a:tab pos="548640" algn="l"/>
                <a:tab pos="549275" algn="l"/>
              </a:tabLst>
            </a:pPr>
            <a:r>
              <a:rPr sz="2400" b="1" i="1" spc="-5" dirty="0">
                <a:latin typeface="Times New Roman"/>
                <a:cs typeface="Times New Roman"/>
              </a:rPr>
              <a:t>Uses less storage space for</a:t>
            </a:r>
            <a:r>
              <a:rPr sz="2400" b="1" i="1" spc="35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data</a:t>
            </a:r>
            <a:endParaRPr sz="2400">
              <a:latin typeface="Times New Roman"/>
              <a:cs typeface="Times New Roman"/>
            </a:endParaRPr>
          </a:p>
          <a:p>
            <a:pPr marL="549275" indent="-457834">
              <a:lnSpc>
                <a:spcPct val="100000"/>
              </a:lnSpc>
              <a:spcBef>
                <a:spcPts val="1445"/>
              </a:spcBef>
              <a:buAutoNum type="arabicPeriod"/>
              <a:tabLst>
                <a:tab pos="548640" algn="l"/>
                <a:tab pos="549275" algn="l"/>
              </a:tabLst>
            </a:pPr>
            <a:r>
              <a:rPr sz="2400" b="1" i="1" dirty="0">
                <a:latin typeface="Times New Roman"/>
                <a:cs typeface="Times New Roman"/>
              </a:rPr>
              <a:t>Extremely</a:t>
            </a:r>
            <a:r>
              <a:rPr sz="2400" b="1" i="1" spc="-125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accurate</a:t>
            </a:r>
            <a:endParaRPr sz="2400">
              <a:latin typeface="Times New Roman"/>
              <a:cs typeface="Times New Roman"/>
            </a:endParaRPr>
          </a:p>
          <a:p>
            <a:pPr marL="549275" indent="-457834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548640" algn="l"/>
                <a:tab pos="549275" algn="l"/>
              </a:tabLst>
            </a:pPr>
            <a:r>
              <a:rPr sz="2400" b="1" i="1" spc="-5" dirty="0">
                <a:latin typeface="Times New Roman"/>
                <a:cs typeface="Times New Roman"/>
              </a:rPr>
              <a:t>Easy </a:t>
            </a:r>
            <a:r>
              <a:rPr sz="2400" b="1" i="1" dirty="0">
                <a:latin typeface="Times New Roman"/>
                <a:cs typeface="Times New Roman"/>
              </a:rPr>
              <a:t>to</a:t>
            </a:r>
            <a:r>
              <a:rPr sz="2400" b="1" i="1" spc="-7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understand</a:t>
            </a:r>
            <a:endParaRPr sz="2400">
              <a:latin typeface="Times New Roman"/>
              <a:cs typeface="Times New Roman"/>
            </a:endParaRPr>
          </a:p>
          <a:p>
            <a:pPr marL="549275" indent="-457834">
              <a:lnSpc>
                <a:spcPct val="100000"/>
              </a:lnSpc>
              <a:spcBef>
                <a:spcPts val="1445"/>
              </a:spcBef>
              <a:buAutoNum type="arabicPeriod"/>
              <a:tabLst>
                <a:tab pos="548640" algn="l"/>
                <a:tab pos="549275" algn="l"/>
              </a:tabLst>
            </a:pPr>
            <a:r>
              <a:rPr sz="2400" b="1" i="1" dirty="0">
                <a:latin typeface="Times New Roman"/>
                <a:cs typeface="Times New Roman"/>
              </a:rPr>
              <a:t>Little calculation</a:t>
            </a:r>
            <a:r>
              <a:rPr sz="2400" b="1" i="1" spc="-8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complexity</a:t>
            </a:r>
            <a:endParaRPr sz="2400">
              <a:latin typeface="Times New Roman"/>
              <a:cs typeface="Times New Roman"/>
            </a:endParaRPr>
          </a:p>
          <a:p>
            <a:pPr marL="549275" indent="-457834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548640" algn="l"/>
                <a:tab pos="549275" algn="l"/>
              </a:tabLst>
            </a:pPr>
            <a:r>
              <a:rPr sz="2400" b="1" i="1" dirty="0">
                <a:latin typeface="Times New Roman"/>
                <a:cs typeface="Times New Roman"/>
              </a:rPr>
              <a:t>There are </a:t>
            </a:r>
            <a:r>
              <a:rPr sz="2400" b="1" i="1" spc="5" dirty="0">
                <a:latin typeface="Times New Roman"/>
                <a:cs typeface="Times New Roman"/>
              </a:rPr>
              <a:t>simple </a:t>
            </a:r>
            <a:r>
              <a:rPr sz="2400" b="1" i="1" spc="-5" dirty="0">
                <a:latin typeface="Times New Roman"/>
                <a:cs typeface="Times New Roman"/>
              </a:rPr>
              <a:t>accuracy</a:t>
            </a:r>
            <a:r>
              <a:rPr sz="2400" b="1" i="1" spc="-6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tests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6504431"/>
            <a:ext cx="1801495" cy="353695"/>
          </a:xfrm>
          <a:custGeom>
            <a:avLst/>
            <a:gdLst/>
            <a:ahLst/>
            <a:cxnLst/>
            <a:rect l="l" t="t" r="r" b="b"/>
            <a:pathLst>
              <a:path w="1801495" h="353695">
                <a:moveTo>
                  <a:pt x="1801368" y="0"/>
                </a:moveTo>
                <a:lnTo>
                  <a:pt x="0" y="0"/>
                </a:lnTo>
                <a:lnTo>
                  <a:pt x="0" y="353568"/>
                </a:lnTo>
                <a:lnTo>
                  <a:pt x="1801368" y="353568"/>
                </a:lnTo>
                <a:lnTo>
                  <a:pt x="18013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327392" y="6504431"/>
            <a:ext cx="1804670" cy="353695"/>
          </a:xfrm>
          <a:custGeom>
            <a:avLst/>
            <a:gdLst/>
            <a:ahLst/>
            <a:cxnLst/>
            <a:rect l="l" t="t" r="r" b="b"/>
            <a:pathLst>
              <a:path w="1804670" h="353695">
                <a:moveTo>
                  <a:pt x="1804416" y="0"/>
                </a:moveTo>
                <a:lnTo>
                  <a:pt x="0" y="0"/>
                </a:lnTo>
                <a:lnTo>
                  <a:pt x="0" y="353568"/>
                </a:lnTo>
                <a:lnTo>
                  <a:pt x="1804416" y="353568"/>
                </a:lnTo>
                <a:lnTo>
                  <a:pt x="18044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1D6D114-9351-3ECD-E1EF-D4FBA7372BB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0462C1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0462C1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89213" y="6638266"/>
            <a:ext cx="32004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0462C1"/>
                </a:solidFill>
                <a:latin typeface="Arial"/>
                <a:cs typeface="Arial"/>
              </a:rPr>
              <a:t>4 –</a:t>
            </a:r>
            <a:r>
              <a:rPr sz="900" b="1" spc="-10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462C1"/>
                </a:solidFill>
                <a:latin typeface="Arial"/>
                <a:cs typeface="Arial"/>
              </a:rPr>
              <a:t>30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23253" y="856488"/>
            <a:ext cx="4335594" cy="4480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394966" y="703529"/>
            <a:ext cx="43548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Exponential</a:t>
            </a:r>
            <a:r>
              <a:rPr spc="-75" dirty="0"/>
              <a:t> </a:t>
            </a:r>
            <a:r>
              <a:rPr spc="-5" dirty="0"/>
              <a:t>Smoothing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60044" y="2080336"/>
            <a:ext cx="18954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New </a:t>
            </a:r>
            <a:r>
              <a:rPr sz="2400" i="1" spc="-15" dirty="0">
                <a:latin typeface="Times New Roman"/>
                <a:cs typeface="Times New Roman"/>
              </a:rPr>
              <a:t>forecast</a:t>
            </a:r>
            <a:r>
              <a:rPr sz="2400" i="1" spc="-8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=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28010" y="2080336"/>
            <a:ext cx="402399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Last </a:t>
            </a:r>
            <a:r>
              <a:rPr sz="2400" i="1" spc="-45" dirty="0">
                <a:latin typeface="Times New Roman"/>
                <a:cs typeface="Times New Roman"/>
              </a:rPr>
              <a:t>period’s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i="1" spc="-15" dirty="0">
                <a:latin typeface="Times New Roman"/>
                <a:cs typeface="Times New Roman"/>
              </a:rPr>
              <a:t>forecast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i="1" dirty="0">
                <a:latin typeface="Times New Roman"/>
                <a:cs typeface="Times New Roman"/>
              </a:rPr>
              <a:t>+ </a:t>
            </a:r>
            <a:r>
              <a:rPr sz="2400" spc="-5" dirty="0">
                <a:latin typeface="Times New Roman"/>
                <a:cs typeface="Times New Roman"/>
              </a:rPr>
              <a:t>α(</a:t>
            </a:r>
            <a:r>
              <a:rPr sz="2400" i="1" spc="-5" dirty="0">
                <a:latin typeface="Times New Roman"/>
                <a:cs typeface="Times New Roman"/>
              </a:rPr>
              <a:t>Last </a:t>
            </a:r>
            <a:r>
              <a:rPr sz="2400" i="1" spc="-40" dirty="0">
                <a:latin typeface="Times New Roman"/>
                <a:cs typeface="Times New Roman"/>
              </a:rPr>
              <a:t>period’s </a:t>
            </a:r>
            <a:r>
              <a:rPr sz="2400" i="1" spc="-5" dirty="0">
                <a:latin typeface="Times New Roman"/>
                <a:cs typeface="Times New Roman"/>
              </a:rPr>
              <a:t>actual demand</a:t>
            </a:r>
            <a:endParaRPr sz="2400">
              <a:latin typeface="Times New Roman"/>
              <a:cs typeface="Times New Roman"/>
            </a:endParaRPr>
          </a:p>
          <a:p>
            <a:pPr marL="774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– Last </a:t>
            </a:r>
            <a:r>
              <a:rPr sz="2400" i="1" spc="-45" dirty="0">
                <a:latin typeface="Times New Roman"/>
                <a:cs typeface="Times New Roman"/>
              </a:rPr>
              <a:t>period’s</a:t>
            </a:r>
            <a:r>
              <a:rPr sz="2400" i="1" spc="-3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forecast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557272" y="3745991"/>
            <a:ext cx="3450590" cy="683260"/>
            <a:chOff x="2557272" y="3745991"/>
            <a:chExt cx="3450590" cy="683260"/>
          </a:xfrm>
        </p:grpSpPr>
        <p:sp>
          <p:nvSpPr>
            <p:cNvPr id="9" name="object 9"/>
            <p:cNvSpPr/>
            <p:nvPr/>
          </p:nvSpPr>
          <p:spPr>
            <a:xfrm>
              <a:off x="2557272" y="3938445"/>
              <a:ext cx="242316" cy="22911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30424" y="3944111"/>
              <a:ext cx="344424" cy="46939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00528" y="3745991"/>
              <a:ext cx="862584" cy="68275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15640" y="3944111"/>
              <a:ext cx="393191" cy="46939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322320" y="3944111"/>
              <a:ext cx="390144" cy="46939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474719" y="3944111"/>
              <a:ext cx="390144" cy="46939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93591" y="3745991"/>
              <a:ext cx="582167" cy="682751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40480" y="3745991"/>
              <a:ext cx="679703" cy="68275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111752" y="3745991"/>
              <a:ext cx="612648" cy="68275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376927" y="3944111"/>
              <a:ext cx="396239" cy="46939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86655" y="3944111"/>
              <a:ext cx="390144" cy="46939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39055" y="3944111"/>
              <a:ext cx="390144" cy="46939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754879" y="3745991"/>
              <a:ext cx="509015" cy="682751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931664" y="3745991"/>
              <a:ext cx="612648" cy="682751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196839" y="3944111"/>
              <a:ext cx="393191" cy="46939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303520" y="3944111"/>
              <a:ext cx="390144" cy="46939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455920" y="3944111"/>
              <a:ext cx="390144" cy="46939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498592" y="3745991"/>
              <a:ext cx="509015" cy="68275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519426" y="3824732"/>
            <a:ext cx="33127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i="1" spc="5" dirty="0">
                <a:latin typeface="Times New Roman"/>
                <a:cs typeface="Times New Roman"/>
              </a:rPr>
              <a:t>F</a:t>
            </a:r>
            <a:r>
              <a:rPr sz="2400" b="1" i="1" spc="7" baseline="-20833" dirty="0">
                <a:latin typeface="Times New Roman"/>
                <a:cs typeface="Times New Roman"/>
              </a:rPr>
              <a:t>t </a:t>
            </a:r>
            <a:r>
              <a:rPr sz="2400" b="1" i="1" dirty="0">
                <a:latin typeface="Times New Roman"/>
                <a:cs typeface="Times New Roman"/>
              </a:rPr>
              <a:t>= F</a:t>
            </a:r>
            <a:r>
              <a:rPr sz="2400" b="1" i="1" baseline="-20833" dirty="0">
                <a:latin typeface="Times New Roman"/>
                <a:cs typeface="Times New Roman"/>
              </a:rPr>
              <a:t>t </a:t>
            </a:r>
            <a:r>
              <a:rPr sz="2400" b="1" baseline="-20833" dirty="0">
                <a:latin typeface="Times New Roman"/>
                <a:cs typeface="Times New Roman"/>
              </a:rPr>
              <a:t>– 1 </a:t>
            </a:r>
            <a:r>
              <a:rPr sz="2400" b="1" dirty="0">
                <a:latin typeface="Times New Roman"/>
                <a:cs typeface="Times New Roman"/>
              </a:rPr>
              <a:t>+ α(</a:t>
            </a:r>
            <a:r>
              <a:rPr sz="2400" b="1" i="1" dirty="0">
                <a:latin typeface="Times New Roman"/>
                <a:cs typeface="Times New Roman"/>
              </a:rPr>
              <a:t>A</a:t>
            </a:r>
            <a:r>
              <a:rPr sz="2400" b="1" i="1" baseline="-20833" dirty="0">
                <a:latin typeface="Times New Roman"/>
                <a:cs typeface="Times New Roman"/>
              </a:rPr>
              <a:t>t </a:t>
            </a:r>
            <a:r>
              <a:rPr sz="2400" b="1" baseline="-20833" dirty="0">
                <a:latin typeface="Times New Roman"/>
                <a:cs typeface="Times New Roman"/>
              </a:rPr>
              <a:t>– 1 </a:t>
            </a:r>
            <a:r>
              <a:rPr sz="2400" b="1" dirty="0">
                <a:latin typeface="Times New Roman"/>
                <a:cs typeface="Times New Roman"/>
              </a:rPr>
              <a:t>- </a:t>
            </a:r>
            <a:r>
              <a:rPr sz="2400" b="1" i="1" dirty="0">
                <a:latin typeface="Times New Roman"/>
                <a:cs typeface="Times New Roman"/>
              </a:rPr>
              <a:t>F</a:t>
            </a:r>
            <a:r>
              <a:rPr sz="2400" b="1" i="1" baseline="-20833" dirty="0">
                <a:latin typeface="Times New Roman"/>
                <a:cs typeface="Times New Roman"/>
              </a:rPr>
              <a:t>t </a:t>
            </a:r>
            <a:r>
              <a:rPr sz="2400" b="1" baseline="-20833" dirty="0">
                <a:latin typeface="Times New Roman"/>
                <a:cs typeface="Times New Roman"/>
              </a:rPr>
              <a:t>–</a:t>
            </a:r>
            <a:r>
              <a:rPr sz="2400" b="1" spc="97" baseline="-20833" dirty="0">
                <a:latin typeface="Times New Roman"/>
                <a:cs typeface="Times New Roman"/>
              </a:rPr>
              <a:t> </a:t>
            </a:r>
            <a:r>
              <a:rPr sz="2400" b="1" spc="7" baseline="-20833" dirty="0">
                <a:latin typeface="Times New Roman"/>
                <a:cs typeface="Times New Roman"/>
              </a:rPr>
              <a:t>1</a:t>
            </a:r>
            <a:r>
              <a:rPr sz="2400" b="1" spc="5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589024" y="4637913"/>
            <a:ext cx="7581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wh</a:t>
            </a:r>
            <a:r>
              <a:rPr sz="2400" i="1" spc="-10" dirty="0">
                <a:latin typeface="Times New Roman"/>
                <a:cs typeface="Times New Roman"/>
              </a:rPr>
              <a:t>e</a:t>
            </a:r>
            <a:r>
              <a:rPr sz="2400" i="1" spc="-100" dirty="0">
                <a:latin typeface="Times New Roman"/>
                <a:cs typeface="Times New Roman"/>
              </a:rPr>
              <a:t>r</a:t>
            </a:r>
            <a:r>
              <a:rPr sz="2400" i="1" dirty="0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718561" y="4546868"/>
            <a:ext cx="4225290" cy="176339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815"/>
              </a:spcBef>
              <a:tabLst>
                <a:tab pos="1080770" algn="l"/>
              </a:tabLst>
            </a:pPr>
            <a:r>
              <a:rPr sz="2400" i="1" spc="-5" dirty="0">
                <a:latin typeface="Times New Roman"/>
                <a:cs typeface="Times New Roman"/>
              </a:rPr>
              <a:t>F</a:t>
            </a:r>
            <a:r>
              <a:rPr sz="2400" i="1" spc="-7" baseline="-20833" dirty="0">
                <a:latin typeface="Times New Roman"/>
                <a:cs typeface="Times New Roman"/>
              </a:rPr>
              <a:t>t </a:t>
            </a:r>
            <a:r>
              <a:rPr sz="2400" i="1" spc="7" baseline="-2083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	</a:t>
            </a:r>
            <a:r>
              <a:rPr sz="2400" i="1" dirty="0">
                <a:latin typeface="Times New Roman"/>
                <a:cs typeface="Times New Roman"/>
              </a:rPr>
              <a:t>new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i="1" spc="-15" dirty="0">
                <a:latin typeface="Times New Roman"/>
                <a:cs typeface="Times New Roman"/>
              </a:rPr>
              <a:t>forecast</a:t>
            </a:r>
            <a:endParaRPr sz="24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720"/>
              </a:spcBef>
              <a:tabLst>
                <a:tab pos="1080770" algn="l"/>
              </a:tabLst>
            </a:pPr>
            <a:r>
              <a:rPr sz="2400" i="1" spc="-5" dirty="0">
                <a:latin typeface="Times New Roman"/>
                <a:cs typeface="Times New Roman"/>
              </a:rPr>
              <a:t>F</a:t>
            </a:r>
            <a:r>
              <a:rPr sz="2400" i="1" spc="-7" baseline="-20833" dirty="0">
                <a:latin typeface="Times New Roman"/>
                <a:cs typeface="Times New Roman"/>
              </a:rPr>
              <a:t>t </a:t>
            </a:r>
            <a:r>
              <a:rPr sz="2400" spc="7" baseline="-20833" dirty="0">
                <a:latin typeface="Times New Roman"/>
                <a:cs typeface="Times New Roman"/>
              </a:rPr>
              <a:t>–</a:t>
            </a:r>
            <a:r>
              <a:rPr sz="2400" spc="-22" baseline="-20833" dirty="0">
                <a:latin typeface="Times New Roman"/>
                <a:cs typeface="Times New Roman"/>
              </a:rPr>
              <a:t> </a:t>
            </a:r>
            <a:r>
              <a:rPr sz="2400" spc="7" baseline="-20833" dirty="0">
                <a:latin typeface="Times New Roman"/>
                <a:cs typeface="Times New Roman"/>
              </a:rPr>
              <a:t>1</a:t>
            </a:r>
            <a:r>
              <a:rPr sz="2400" spc="607" baseline="-2083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	</a:t>
            </a:r>
            <a:r>
              <a:rPr sz="2400" i="1" spc="-15" dirty="0">
                <a:latin typeface="Times New Roman"/>
                <a:cs typeface="Times New Roman"/>
              </a:rPr>
              <a:t>previous</a:t>
            </a:r>
            <a:r>
              <a:rPr sz="2400" i="1" spc="20" dirty="0">
                <a:latin typeface="Times New Roman"/>
                <a:cs typeface="Times New Roman"/>
              </a:rPr>
              <a:t> </a:t>
            </a:r>
            <a:r>
              <a:rPr sz="2400" i="1" spc="-15" dirty="0">
                <a:latin typeface="Times New Roman"/>
                <a:cs typeface="Times New Roman"/>
              </a:rPr>
              <a:t>forecast</a:t>
            </a:r>
            <a:endParaRPr sz="2400">
              <a:latin typeface="Times New Roman"/>
              <a:cs typeface="Times New Roman"/>
            </a:endParaRPr>
          </a:p>
          <a:p>
            <a:pPr marL="465455">
              <a:lnSpc>
                <a:spcPct val="100000"/>
              </a:lnSpc>
              <a:spcBef>
                <a:spcPts val="725"/>
              </a:spcBef>
              <a:tabLst>
                <a:tab pos="1080770" algn="l"/>
              </a:tabLst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	</a:t>
            </a:r>
            <a:r>
              <a:rPr sz="2400" i="1" dirty="0">
                <a:latin typeface="Times New Roman"/>
                <a:cs typeface="Times New Roman"/>
              </a:rPr>
              <a:t>smoothing </a:t>
            </a:r>
            <a:r>
              <a:rPr sz="2400" i="1" spc="-10" dirty="0">
                <a:latin typeface="Times New Roman"/>
                <a:cs typeface="Times New Roman"/>
              </a:rPr>
              <a:t>(or</a:t>
            </a:r>
            <a:r>
              <a:rPr sz="2400" i="1" spc="-3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weighting)</a:t>
            </a:r>
            <a:endParaRPr sz="2400">
              <a:latin typeface="Times New Roman"/>
              <a:cs typeface="Times New Roman"/>
            </a:endParaRPr>
          </a:p>
          <a:p>
            <a:pPr marL="1080770">
              <a:lnSpc>
                <a:spcPct val="100000"/>
              </a:lnSpc>
            </a:pPr>
            <a:r>
              <a:rPr sz="2400" i="1" spc="-5" dirty="0">
                <a:latin typeface="Times New Roman"/>
                <a:cs typeface="Times New Roman"/>
              </a:rPr>
              <a:t>constant </a:t>
            </a:r>
            <a:r>
              <a:rPr sz="2400" dirty="0">
                <a:latin typeface="Times New Roman"/>
                <a:cs typeface="Times New Roman"/>
              </a:rPr>
              <a:t>(0 ≤ a ≤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0" y="6504431"/>
            <a:ext cx="1801495" cy="353695"/>
          </a:xfrm>
          <a:custGeom>
            <a:avLst/>
            <a:gdLst/>
            <a:ahLst/>
            <a:cxnLst/>
            <a:rect l="l" t="t" r="r" b="b"/>
            <a:pathLst>
              <a:path w="1801495" h="353695">
                <a:moveTo>
                  <a:pt x="1801368" y="0"/>
                </a:moveTo>
                <a:lnTo>
                  <a:pt x="0" y="0"/>
                </a:lnTo>
                <a:lnTo>
                  <a:pt x="0" y="353568"/>
                </a:lnTo>
                <a:lnTo>
                  <a:pt x="1801368" y="353568"/>
                </a:lnTo>
                <a:lnTo>
                  <a:pt x="18013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327392" y="6504431"/>
            <a:ext cx="1804670" cy="353695"/>
          </a:xfrm>
          <a:custGeom>
            <a:avLst/>
            <a:gdLst/>
            <a:ahLst/>
            <a:cxnLst/>
            <a:rect l="l" t="t" r="r" b="b"/>
            <a:pathLst>
              <a:path w="1804670" h="353695">
                <a:moveTo>
                  <a:pt x="1804416" y="0"/>
                </a:moveTo>
                <a:lnTo>
                  <a:pt x="0" y="0"/>
                </a:lnTo>
                <a:lnTo>
                  <a:pt x="0" y="353568"/>
                </a:lnTo>
                <a:lnTo>
                  <a:pt x="1804416" y="353568"/>
                </a:lnTo>
                <a:lnTo>
                  <a:pt x="18044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E38F7C06-079E-4AF1-335E-C93B04FEC20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0462C1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0462C1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89213" y="6638266"/>
            <a:ext cx="32004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0462C1"/>
                </a:solidFill>
                <a:latin typeface="Arial"/>
                <a:cs typeface="Arial"/>
              </a:rPr>
              <a:t>4 –</a:t>
            </a:r>
            <a:r>
              <a:rPr sz="900" b="1" spc="-10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462C1"/>
                </a:solidFill>
                <a:latin typeface="Arial"/>
                <a:cs typeface="Arial"/>
              </a:rPr>
              <a:t>31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24380" y="915111"/>
            <a:ext cx="60991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Exponential </a:t>
            </a:r>
            <a:r>
              <a:rPr spc="-5" dirty="0"/>
              <a:t>Smoothing</a:t>
            </a:r>
            <a:r>
              <a:rPr spc="-25" dirty="0"/>
              <a:t> </a:t>
            </a:r>
            <a:r>
              <a:rPr spc="-5" dirty="0"/>
              <a:t>Example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40993" y="2215337"/>
            <a:ext cx="495808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15" dirty="0">
                <a:latin typeface="Times New Roman"/>
                <a:cs typeface="Times New Roman"/>
              </a:rPr>
              <a:t>Predicted </a:t>
            </a:r>
            <a:r>
              <a:rPr sz="2400" i="1" spc="-5" dirty="0">
                <a:latin typeface="Times New Roman"/>
                <a:cs typeface="Times New Roman"/>
              </a:rPr>
              <a:t>demand </a:t>
            </a:r>
            <a:r>
              <a:rPr sz="2400" dirty="0">
                <a:latin typeface="Times New Roman"/>
                <a:cs typeface="Times New Roman"/>
              </a:rPr>
              <a:t>= 142 </a:t>
            </a:r>
            <a:r>
              <a:rPr sz="2400" i="1" spc="-25" dirty="0">
                <a:latin typeface="Times New Roman"/>
                <a:cs typeface="Times New Roman"/>
              </a:rPr>
              <a:t>Ford</a:t>
            </a:r>
            <a:r>
              <a:rPr sz="2400" i="1" spc="10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Mustangs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i="1" spc="-5" dirty="0">
                <a:latin typeface="Times New Roman"/>
                <a:cs typeface="Times New Roman"/>
              </a:rPr>
              <a:t>Actual demand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153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Smoothing constant </a:t>
            </a:r>
            <a:r>
              <a:rPr sz="2400" dirty="0">
                <a:latin typeface="Times New Roman"/>
                <a:cs typeface="Times New Roman"/>
              </a:rPr>
              <a:t>a =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.20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6504431"/>
            <a:ext cx="1801495" cy="353695"/>
          </a:xfrm>
          <a:custGeom>
            <a:avLst/>
            <a:gdLst/>
            <a:ahLst/>
            <a:cxnLst/>
            <a:rect l="l" t="t" r="r" b="b"/>
            <a:pathLst>
              <a:path w="1801495" h="353695">
                <a:moveTo>
                  <a:pt x="1801368" y="0"/>
                </a:moveTo>
                <a:lnTo>
                  <a:pt x="0" y="0"/>
                </a:lnTo>
                <a:lnTo>
                  <a:pt x="0" y="353568"/>
                </a:lnTo>
                <a:lnTo>
                  <a:pt x="1801368" y="353568"/>
                </a:lnTo>
                <a:lnTo>
                  <a:pt x="18013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327392" y="6504431"/>
            <a:ext cx="1804670" cy="353695"/>
          </a:xfrm>
          <a:custGeom>
            <a:avLst/>
            <a:gdLst/>
            <a:ahLst/>
            <a:cxnLst/>
            <a:rect l="l" t="t" r="r" b="b"/>
            <a:pathLst>
              <a:path w="1804670" h="353695">
                <a:moveTo>
                  <a:pt x="1804416" y="0"/>
                </a:moveTo>
                <a:lnTo>
                  <a:pt x="0" y="0"/>
                </a:lnTo>
                <a:lnTo>
                  <a:pt x="0" y="353568"/>
                </a:lnTo>
                <a:lnTo>
                  <a:pt x="1804416" y="353568"/>
                </a:lnTo>
                <a:lnTo>
                  <a:pt x="18044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77BD90F-DC93-E202-7017-E84D3B7A0B3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0462C1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0462C1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89213" y="6638266"/>
            <a:ext cx="32004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0462C1"/>
                </a:solidFill>
                <a:latin typeface="Arial"/>
                <a:cs typeface="Arial"/>
              </a:rPr>
              <a:t>4 –</a:t>
            </a:r>
            <a:r>
              <a:rPr sz="900" b="1" spc="-10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462C1"/>
                </a:solidFill>
                <a:latin typeface="Arial"/>
                <a:cs typeface="Arial"/>
              </a:rPr>
              <a:t>32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24380" y="915111"/>
            <a:ext cx="60991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Exponential </a:t>
            </a:r>
            <a:r>
              <a:rPr spc="-5" dirty="0"/>
              <a:t>Smoothing</a:t>
            </a:r>
            <a:r>
              <a:rPr spc="-25" dirty="0"/>
              <a:t> </a:t>
            </a:r>
            <a:r>
              <a:rPr spc="-5" dirty="0"/>
              <a:t>Example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40993" y="2215337"/>
            <a:ext cx="4958080" cy="2292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15" dirty="0">
                <a:latin typeface="Times New Roman"/>
                <a:cs typeface="Times New Roman"/>
              </a:rPr>
              <a:t>Predicted </a:t>
            </a:r>
            <a:r>
              <a:rPr sz="2400" i="1" spc="-5" dirty="0">
                <a:latin typeface="Times New Roman"/>
                <a:cs typeface="Times New Roman"/>
              </a:rPr>
              <a:t>demand </a:t>
            </a:r>
            <a:r>
              <a:rPr sz="2400" dirty="0">
                <a:latin typeface="Times New Roman"/>
                <a:cs typeface="Times New Roman"/>
              </a:rPr>
              <a:t>= 142 </a:t>
            </a:r>
            <a:r>
              <a:rPr sz="2400" i="1" spc="-25" dirty="0">
                <a:latin typeface="Times New Roman"/>
                <a:cs typeface="Times New Roman"/>
              </a:rPr>
              <a:t>Ford</a:t>
            </a:r>
            <a:r>
              <a:rPr sz="2400" i="1" spc="10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Mustangs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i="1" spc="-5" dirty="0">
                <a:latin typeface="Times New Roman"/>
                <a:cs typeface="Times New Roman"/>
              </a:rPr>
              <a:t>Actual demand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153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Smoothing constant </a:t>
            </a:r>
            <a:r>
              <a:rPr sz="2400" dirty="0">
                <a:latin typeface="Times New Roman"/>
                <a:cs typeface="Times New Roman"/>
              </a:rPr>
              <a:t>a =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.20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850">
              <a:latin typeface="Times New Roman"/>
              <a:cs typeface="Times New Roman"/>
            </a:endParaRPr>
          </a:p>
          <a:p>
            <a:pPr marL="581025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New </a:t>
            </a:r>
            <a:r>
              <a:rPr sz="2400" i="1" spc="-15" dirty="0">
                <a:latin typeface="Times New Roman"/>
                <a:cs typeface="Times New Roman"/>
              </a:rPr>
              <a:t>forecast </a:t>
            </a:r>
            <a:r>
              <a:rPr sz="2400" dirty="0">
                <a:latin typeface="Times New Roman"/>
                <a:cs typeface="Times New Roman"/>
              </a:rPr>
              <a:t>= 142 + </a:t>
            </a:r>
            <a:r>
              <a:rPr sz="2400" spc="-5" dirty="0">
                <a:latin typeface="Times New Roman"/>
                <a:cs typeface="Times New Roman"/>
              </a:rPr>
              <a:t>.2(153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142)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6504431"/>
            <a:ext cx="1801495" cy="353695"/>
          </a:xfrm>
          <a:custGeom>
            <a:avLst/>
            <a:gdLst/>
            <a:ahLst/>
            <a:cxnLst/>
            <a:rect l="l" t="t" r="r" b="b"/>
            <a:pathLst>
              <a:path w="1801495" h="353695">
                <a:moveTo>
                  <a:pt x="1801368" y="0"/>
                </a:moveTo>
                <a:lnTo>
                  <a:pt x="0" y="0"/>
                </a:lnTo>
                <a:lnTo>
                  <a:pt x="0" y="353568"/>
                </a:lnTo>
                <a:lnTo>
                  <a:pt x="1801368" y="353568"/>
                </a:lnTo>
                <a:lnTo>
                  <a:pt x="18013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327392" y="6504431"/>
            <a:ext cx="1804670" cy="353695"/>
          </a:xfrm>
          <a:custGeom>
            <a:avLst/>
            <a:gdLst/>
            <a:ahLst/>
            <a:cxnLst/>
            <a:rect l="l" t="t" r="r" b="b"/>
            <a:pathLst>
              <a:path w="1804670" h="353695">
                <a:moveTo>
                  <a:pt x="1804416" y="0"/>
                </a:moveTo>
                <a:lnTo>
                  <a:pt x="0" y="0"/>
                </a:lnTo>
                <a:lnTo>
                  <a:pt x="0" y="353568"/>
                </a:lnTo>
                <a:lnTo>
                  <a:pt x="1804416" y="353568"/>
                </a:lnTo>
                <a:lnTo>
                  <a:pt x="18044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4643C8-1DB6-0056-9A7E-B08E036A428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0462C1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0462C1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89213" y="6638266"/>
            <a:ext cx="32004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0462C1"/>
                </a:solidFill>
                <a:latin typeface="Arial"/>
                <a:cs typeface="Arial"/>
              </a:rPr>
              <a:t>4 –</a:t>
            </a:r>
            <a:r>
              <a:rPr sz="900" b="1" spc="-10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462C1"/>
                </a:solidFill>
                <a:latin typeface="Arial"/>
                <a:cs typeface="Arial"/>
              </a:rPr>
              <a:t>33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24380" y="915111"/>
            <a:ext cx="60991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Exponential </a:t>
            </a:r>
            <a:r>
              <a:rPr spc="-5" dirty="0"/>
              <a:t>Smoothing</a:t>
            </a:r>
            <a:r>
              <a:rPr spc="-25" dirty="0"/>
              <a:t> </a:t>
            </a:r>
            <a:r>
              <a:rPr spc="-5" dirty="0"/>
              <a:t>Example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40993" y="2215337"/>
            <a:ext cx="495808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15" dirty="0">
                <a:latin typeface="Times New Roman"/>
                <a:cs typeface="Times New Roman"/>
              </a:rPr>
              <a:t>Predicted </a:t>
            </a:r>
            <a:r>
              <a:rPr sz="2400" i="1" spc="-5" dirty="0">
                <a:latin typeface="Times New Roman"/>
                <a:cs typeface="Times New Roman"/>
              </a:rPr>
              <a:t>demand </a:t>
            </a:r>
            <a:r>
              <a:rPr sz="2400" dirty="0">
                <a:latin typeface="Times New Roman"/>
                <a:cs typeface="Times New Roman"/>
              </a:rPr>
              <a:t>= 142 </a:t>
            </a:r>
            <a:r>
              <a:rPr sz="2400" i="1" spc="-25" dirty="0">
                <a:latin typeface="Times New Roman"/>
                <a:cs typeface="Times New Roman"/>
              </a:rPr>
              <a:t>Ford</a:t>
            </a:r>
            <a:r>
              <a:rPr sz="2400" i="1" spc="10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Mustangs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i="1" spc="-5" dirty="0">
                <a:latin typeface="Times New Roman"/>
                <a:cs typeface="Times New Roman"/>
              </a:rPr>
              <a:t>Actual demand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153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Smoothing constant </a:t>
            </a:r>
            <a:r>
              <a:rPr sz="2400" dirty="0">
                <a:latin typeface="Times New Roman"/>
                <a:cs typeface="Times New Roman"/>
              </a:rPr>
              <a:t>a =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.20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09725" y="4116146"/>
            <a:ext cx="16135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New</a:t>
            </a:r>
            <a:r>
              <a:rPr sz="2400" i="1" spc="-75" dirty="0">
                <a:latin typeface="Times New Roman"/>
                <a:cs typeface="Times New Roman"/>
              </a:rPr>
              <a:t> </a:t>
            </a:r>
            <a:r>
              <a:rPr sz="2400" i="1" spc="-15" dirty="0">
                <a:latin typeface="Times New Roman"/>
                <a:cs typeface="Times New Roman"/>
              </a:rPr>
              <a:t>forecast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88638" y="4024421"/>
            <a:ext cx="2706370" cy="139827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2400" dirty="0">
                <a:latin typeface="Times New Roman"/>
                <a:cs typeface="Times New Roman"/>
              </a:rPr>
              <a:t>= 142 + </a:t>
            </a:r>
            <a:r>
              <a:rPr sz="2400" spc="-5" dirty="0">
                <a:latin typeface="Times New Roman"/>
                <a:cs typeface="Times New Roman"/>
              </a:rPr>
              <a:t>.2(153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142)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400" dirty="0">
                <a:latin typeface="Times New Roman"/>
                <a:cs typeface="Times New Roman"/>
              </a:rPr>
              <a:t>= 142 +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2.2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400" dirty="0">
                <a:latin typeface="Times New Roman"/>
                <a:cs typeface="Times New Roman"/>
              </a:rPr>
              <a:t>= 144.2 ≈ </a:t>
            </a:r>
            <a:r>
              <a:rPr sz="2400" spc="-5" dirty="0">
                <a:latin typeface="Times New Roman"/>
                <a:cs typeface="Times New Roman"/>
              </a:rPr>
              <a:t>144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cars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6504431"/>
            <a:ext cx="1801495" cy="353695"/>
          </a:xfrm>
          <a:custGeom>
            <a:avLst/>
            <a:gdLst/>
            <a:ahLst/>
            <a:cxnLst/>
            <a:rect l="l" t="t" r="r" b="b"/>
            <a:pathLst>
              <a:path w="1801495" h="353695">
                <a:moveTo>
                  <a:pt x="1801368" y="0"/>
                </a:moveTo>
                <a:lnTo>
                  <a:pt x="0" y="0"/>
                </a:lnTo>
                <a:lnTo>
                  <a:pt x="0" y="353568"/>
                </a:lnTo>
                <a:lnTo>
                  <a:pt x="1801368" y="353568"/>
                </a:lnTo>
                <a:lnTo>
                  <a:pt x="18013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27392" y="6504431"/>
            <a:ext cx="1804670" cy="353695"/>
          </a:xfrm>
          <a:custGeom>
            <a:avLst/>
            <a:gdLst/>
            <a:ahLst/>
            <a:cxnLst/>
            <a:rect l="l" t="t" r="r" b="b"/>
            <a:pathLst>
              <a:path w="1804670" h="353695">
                <a:moveTo>
                  <a:pt x="1804416" y="0"/>
                </a:moveTo>
                <a:lnTo>
                  <a:pt x="0" y="0"/>
                </a:lnTo>
                <a:lnTo>
                  <a:pt x="0" y="353568"/>
                </a:lnTo>
                <a:lnTo>
                  <a:pt x="1804416" y="353568"/>
                </a:lnTo>
                <a:lnTo>
                  <a:pt x="18044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D87FF96-88B3-C70D-FDC0-BCF734761B7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0462C1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0462C1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89213" y="6638266"/>
            <a:ext cx="32004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0462C1"/>
                </a:solidFill>
                <a:latin typeface="Arial"/>
                <a:cs typeface="Arial"/>
              </a:rPr>
              <a:t>4 –</a:t>
            </a:r>
            <a:r>
              <a:rPr sz="900" b="1" spc="-10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462C1"/>
                </a:solidFill>
                <a:latin typeface="Arial"/>
                <a:cs typeface="Arial"/>
              </a:rPr>
              <a:t>34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597911" y="668223"/>
            <a:ext cx="3950970" cy="1014094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12700" marR="5080" indent="1161415">
              <a:lnSpc>
                <a:spcPts val="3460"/>
              </a:lnSpc>
              <a:spcBef>
                <a:spcPts val="935"/>
              </a:spcBef>
            </a:pPr>
            <a:r>
              <a:rPr spc="-10" dirty="0"/>
              <a:t>Effect </a:t>
            </a:r>
            <a:r>
              <a:rPr dirty="0"/>
              <a:t>of  </a:t>
            </a:r>
            <a:r>
              <a:rPr spc="-5" dirty="0"/>
              <a:t>Smoothing</a:t>
            </a:r>
            <a:r>
              <a:rPr spc="-60" dirty="0"/>
              <a:t> </a:t>
            </a:r>
            <a:r>
              <a:rPr dirty="0"/>
              <a:t>Constants</a:t>
            </a:r>
          </a:p>
        </p:txBody>
      </p:sp>
      <p:sp>
        <p:nvSpPr>
          <p:cNvPr id="5" name="object 5"/>
          <p:cNvSpPr/>
          <p:nvPr/>
        </p:nvSpPr>
        <p:spPr>
          <a:xfrm>
            <a:off x="4123944" y="2587751"/>
            <a:ext cx="1801368" cy="576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373882" y="2655265"/>
            <a:ext cx="238061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i="1" spc="-15" dirty="0">
                <a:latin typeface="Arial"/>
                <a:cs typeface="Arial"/>
              </a:rPr>
              <a:t>Weight </a:t>
            </a:r>
            <a:r>
              <a:rPr sz="2000" b="1" i="1" spc="-5" dirty="0">
                <a:latin typeface="Arial"/>
                <a:cs typeface="Arial"/>
              </a:rPr>
              <a:t>Assigned</a:t>
            </a:r>
            <a:r>
              <a:rPr sz="2000" b="1" i="1" spc="-80" dirty="0">
                <a:latin typeface="Arial"/>
                <a:cs typeface="Arial"/>
              </a:rPr>
              <a:t> </a:t>
            </a:r>
            <a:r>
              <a:rPr sz="2000" b="1" i="1" spc="-5" dirty="0">
                <a:latin typeface="Arial"/>
                <a:cs typeface="Arial"/>
              </a:rPr>
              <a:t>to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95016" y="3718559"/>
            <a:ext cx="438912" cy="5181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617976" y="3718559"/>
            <a:ext cx="496824" cy="5181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84903" y="3718559"/>
            <a:ext cx="438912" cy="5181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724400" y="3718559"/>
            <a:ext cx="496824" cy="5181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91328" y="3718559"/>
            <a:ext cx="438912" cy="5181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867400" y="3718559"/>
            <a:ext cx="496824" cy="5181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434328" y="3718559"/>
            <a:ext cx="438912" cy="5181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010400" y="3718559"/>
            <a:ext cx="493775" cy="5181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574280" y="3718559"/>
            <a:ext cx="438912" cy="5181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411224" y="4377494"/>
            <a:ext cx="132587" cy="13297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411224" y="4843838"/>
            <a:ext cx="132587" cy="13297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992124" y="3061716"/>
          <a:ext cx="7236460" cy="20573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6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9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5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04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17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36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R="64769" algn="ctr">
                        <a:lnSpc>
                          <a:spcPts val="1995"/>
                        </a:lnSpc>
                        <a:spcBef>
                          <a:spcPts val="1614"/>
                        </a:spcBef>
                      </a:pPr>
                      <a:r>
                        <a:rPr sz="1800" i="1" dirty="0">
                          <a:latin typeface="Times New Roman"/>
                          <a:cs typeface="Times New Roman"/>
                        </a:rPr>
                        <a:t>Smoothing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539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46075">
                        <a:lnSpc>
                          <a:spcPts val="1989"/>
                        </a:lnSpc>
                        <a:spcBef>
                          <a:spcPts val="240"/>
                        </a:spcBef>
                      </a:pPr>
                      <a:r>
                        <a:rPr sz="1800" i="1" spc="-5" dirty="0">
                          <a:latin typeface="Times New Roman"/>
                          <a:cs typeface="Times New Roman"/>
                        </a:rPr>
                        <a:t>Most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63525">
                        <a:lnSpc>
                          <a:spcPts val="1839"/>
                        </a:lnSpc>
                      </a:pPr>
                      <a:r>
                        <a:rPr sz="1800" i="1" spc="-5" dirty="0">
                          <a:latin typeface="Times New Roman"/>
                          <a:cs typeface="Times New Roman"/>
                        </a:rPr>
                        <a:t>Recent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63525">
                        <a:lnSpc>
                          <a:spcPts val="1839"/>
                        </a:lnSpc>
                      </a:pPr>
                      <a:r>
                        <a:rPr sz="1800" i="1" dirty="0">
                          <a:latin typeface="Times New Roman"/>
                          <a:cs typeface="Times New Roman"/>
                        </a:rPr>
                        <a:t>Period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T w="539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ts val="1989"/>
                        </a:lnSpc>
                        <a:spcBef>
                          <a:spcPts val="240"/>
                        </a:spcBef>
                      </a:pPr>
                      <a:r>
                        <a:rPr sz="1800" i="1" spc="5" dirty="0">
                          <a:latin typeface="Times New Roman"/>
                          <a:cs typeface="Times New Roman"/>
                        </a:rPr>
                        <a:t>2nd</a:t>
                      </a:r>
                      <a:r>
                        <a:rPr sz="1800" i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5" dirty="0">
                          <a:latin typeface="Times New Roman"/>
                          <a:cs typeface="Times New Roman"/>
                        </a:rPr>
                        <a:t>Most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7500">
                        <a:lnSpc>
                          <a:spcPts val="1839"/>
                        </a:lnSpc>
                      </a:pPr>
                      <a:r>
                        <a:rPr sz="1800" i="1" spc="-5" dirty="0">
                          <a:latin typeface="Times New Roman"/>
                          <a:cs typeface="Times New Roman"/>
                        </a:rPr>
                        <a:t>Recent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7500">
                        <a:lnSpc>
                          <a:spcPts val="1839"/>
                        </a:lnSpc>
                      </a:pPr>
                      <a:r>
                        <a:rPr sz="1800" i="1" dirty="0">
                          <a:latin typeface="Times New Roman"/>
                          <a:cs typeface="Times New Roman"/>
                        </a:rPr>
                        <a:t>Period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T w="539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4305">
                        <a:lnSpc>
                          <a:spcPts val="1989"/>
                        </a:lnSpc>
                        <a:spcBef>
                          <a:spcPts val="240"/>
                        </a:spcBef>
                      </a:pPr>
                      <a:r>
                        <a:rPr sz="1800" i="1" spc="-25" dirty="0">
                          <a:latin typeface="Times New Roman"/>
                          <a:cs typeface="Times New Roman"/>
                        </a:rPr>
                        <a:t>3rd</a:t>
                      </a:r>
                      <a:r>
                        <a:rPr sz="1800" i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5" dirty="0">
                          <a:latin typeface="Times New Roman"/>
                          <a:cs typeface="Times New Roman"/>
                        </a:rPr>
                        <a:t>Most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54635">
                        <a:lnSpc>
                          <a:spcPts val="1839"/>
                        </a:lnSpc>
                      </a:pPr>
                      <a:r>
                        <a:rPr sz="1800" i="1" spc="-5" dirty="0">
                          <a:latin typeface="Times New Roman"/>
                          <a:cs typeface="Times New Roman"/>
                        </a:rPr>
                        <a:t>Recent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54635">
                        <a:lnSpc>
                          <a:spcPts val="1839"/>
                        </a:lnSpc>
                      </a:pPr>
                      <a:r>
                        <a:rPr sz="1800" i="1" dirty="0">
                          <a:latin typeface="Times New Roman"/>
                          <a:cs typeface="Times New Roman"/>
                        </a:rPr>
                        <a:t>Period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T w="539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ts val="1989"/>
                        </a:lnSpc>
                        <a:spcBef>
                          <a:spcPts val="240"/>
                        </a:spcBef>
                      </a:pPr>
                      <a:r>
                        <a:rPr sz="1800" i="1" dirty="0">
                          <a:latin typeface="Times New Roman"/>
                          <a:cs typeface="Times New Roman"/>
                        </a:rPr>
                        <a:t>4th</a:t>
                      </a:r>
                      <a:r>
                        <a:rPr sz="1800" i="1" spc="-5" dirty="0">
                          <a:latin typeface="Times New Roman"/>
                          <a:cs typeface="Times New Roman"/>
                        </a:rPr>
                        <a:t> Most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57175">
                        <a:lnSpc>
                          <a:spcPts val="1839"/>
                        </a:lnSpc>
                      </a:pPr>
                      <a:r>
                        <a:rPr sz="1800" i="1" spc="-5" dirty="0">
                          <a:latin typeface="Times New Roman"/>
                          <a:cs typeface="Times New Roman"/>
                        </a:rPr>
                        <a:t>Recent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57175">
                        <a:lnSpc>
                          <a:spcPts val="1839"/>
                        </a:lnSpc>
                      </a:pPr>
                      <a:r>
                        <a:rPr sz="1800" i="1" dirty="0">
                          <a:latin typeface="Times New Roman"/>
                          <a:cs typeface="Times New Roman"/>
                        </a:rPr>
                        <a:t>Period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T w="539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ts val="1989"/>
                        </a:lnSpc>
                        <a:spcBef>
                          <a:spcPts val="240"/>
                        </a:spcBef>
                      </a:pPr>
                      <a:r>
                        <a:rPr sz="1800" i="1" dirty="0">
                          <a:latin typeface="Times New Roman"/>
                          <a:cs typeface="Times New Roman"/>
                        </a:rPr>
                        <a:t>5th</a:t>
                      </a:r>
                      <a:r>
                        <a:rPr sz="1800" i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5" dirty="0">
                          <a:latin typeface="Times New Roman"/>
                          <a:cs typeface="Times New Roman"/>
                        </a:rPr>
                        <a:t>Most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57175">
                        <a:lnSpc>
                          <a:spcPts val="1839"/>
                        </a:lnSpc>
                      </a:pPr>
                      <a:r>
                        <a:rPr sz="1800" i="1" spc="-5" dirty="0">
                          <a:latin typeface="Times New Roman"/>
                          <a:cs typeface="Times New Roman"/>
                        </a:rPr>
                        <a:t>Recent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57175">
                        <a:lnSpc>
                          <a:spcPts val="1839"/>
                        </a:lnSpc>
                      </a:pPr>
                      <a:r>
                        <a:rPr sz="1800" i="1" dirty="0">
                          <a:latin typeface="Times New Roman"/>
                          <a:cs typeface="Times New Roman"/>
                        </a:rPr>
                        <a:t>Period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T w="539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155">
                <a:tc>
                  <a:txBody>
                    <a:bodyPr/>
                    <a:lstStyle/>
                    <a:p>
                      <a:pPr marR="64769" algn="ctr">
                        <a:lnSpc>
                          <a:spcPts val="1889"/>
                        </a:lnSpc>
                      </a:pPr>
                      <a:r>
                        <a:rPr sz="1800" i="1" dirty="0">
                          <a:latin typeface="Times New Roman"/>
                          <a:cs typeface="Times New Roman"/>
                        </a:rPr>
                        <a:t>Constant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algn="ctr">
                        <a:lnSpc>
                          <a:spcPts val="1889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α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 algn="ctr">
                        <a:lnSpc>
                          <a:spcPts val="1889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α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(1 -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α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9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α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(1 -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α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)</a:t>
                      </a:r>
                      <a:r>
                        <a:rPr sz="1800" baseline="25462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 baseline="2546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9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α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(1 -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α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)</a:t>
                      </a:r>
                      <a:r>
                        <a:rPr sz="1800" baseline="25462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 baseline="2546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4295" algn="ctr">
                        <a:lnSpc>
                          <a:spcPts val="1889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α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(1 -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α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)</a:t>
                      </a:r>
                      <a:r>
                        <a:rPr sz="1800" baseline="25462" dirty="0">
                          <a:latin typeface="Times New Roman"/>
                          <a:cs typeface="Times New Roman"/>
                        </a:rPr>
                        <a:t>4</a:t>
                      </a:r>
                      <a:endParaRPr sz="1800" baseline="2546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729">
                <a:tc>
                  <a:txBody>
                    <a:bodyPr/>
                    <a:lstStyle/>
                    <a:p>
                      <a:pPr marR="69215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α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.1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4769" marB="0">
                    <a:lnT w="539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2865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spc="5" dirty="0">
                          <a:latin typeface="Times New Roman"/>
                          <a:cs typeface="Times New Roman"/>
                        </a:rPr>
                        <a:t>.1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4769" marB="0">
                    <a:lnT w="539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.09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4769" marB="0">
                    <a:lnT w="539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.081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4769" marB="0">
                    <a:lnT w="539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.073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4769" marB="0">
                    <a:lnT w="539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75565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spc="5" dirty="0">
                          <a:latin typeface="Times New Roman"/>
                          <a:cs typeface="Times New Roman"/>
                        </a:rPr>
                        <a:t>.066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4769" marB="0">
                    <a:lnT w="539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862">
                <a:tc>
                  <a:txBody>
                    <a:bodyPr/>
                    <a:lstStyle/>
                    <a:p>
                      <a:pPr marR="69215"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α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.5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1915" marB="0"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800" spc="5" dirty="0">
                          <a:latin typeface="Times New Roman"/>
                          <a:cs typeface="Times New Roman"/>
                        </a:rPr>
                        <a:t>.5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1915" marB="0"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.25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1915" marB="0"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.125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1915" marB="0"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.063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1915" marB="0"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5565"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800" spc="5" dirty="0">
                          <a:latin typeface="Times New Roman"/>
                          <a:cs typeface="Times New Roman"/>
                        </a:rPr>
                        <a:t>.031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1915" marB="0"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object 19"/>
          <p:cNvSpPr/>
          <p:nvPr/>
        </p:nvSpPr>
        <p:spPr>
          <a:xfrm>
            <a:off x="0" y="6504431"/>
            <a:ext cx="1801495" cy="353695"/>
          </a:xfrm>
          <a:custGeom>
            <a:avLst/>
            <a:gdLst/>
            <a:ahLst/>
            <a:cxnLst/>
            <a:rect l="l" t="t" r="r" b="b"/>
            <a:pathLst>
              <a:path w="1801495" h="353695">
                <a:moveTo>
                  <a:pt x="1801368" y="0"/>
                </a:moveTo>
                <a:lnTo>
                  <a:pt x="0" y="0"/>
                </a:lnTo>
                <a:lnTo>
                  <a:pt x="0" y="353568"/>
                </a:lnTo>
                <a:lnTo>
                  <a:pt x="1801368" y="353568"/>
                </a:lnTo>
                <a:lnTo>
                  <a:pt x="18013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327392" y="6504431"/>
            <a:ext cx="1804670" cy="353695"/>
          </a:xfrm>
          <a:custGeom>
            <a:avLst/>
            <a:gdLst/>
            <a:ahLst/>
            <a:cxnLst/>
            <a:rect l="l" t="t" r="r" b="b"/>
            <a:pathLst>
              <a:path w="1804670" h="353695">
                <a:moveTo>
                  <a:pt x="1804416" y="0"/>
                </a:moveTo>
                <a:lnTo>
                  <a:pt x="0" y="0"/>
                </a:lnTo>
                <a:lnTo>
                  <a:pt x="0" y="353568"/>
                </a:lnTo>
                <a:lnTo>
                  <a:pt x="1804416" y="353568"/>
                </a:lnTo>
                <a:lnTo>
                  <a:pt x="18044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5BE9D15A-A621-FBC4-79E8-F4D5F8DA0B0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0462C1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0462C1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89213" y="6638266"/>
            <a:ext cx="32004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0462C1"/>
                </a:solidFill>
                <a:latin typeface="Arial"/>
                <a:cs typeface="Arial"/>
              </a:rPr>
              <a:t>4 –</a:t>
            </a:r>
            <a:r>
              <a:rPr sz="900" b="1" spc="-10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462C1"/>
                </a:solidFill>
                <a:latin typeface="Arial"/>
                <a:cs typeface="Arial"/>
              </a:rPr>
              <a:t>35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82085" y="775538"/>
            <a:ext cx="21831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Choosing</a:t>
            </a:r>
            <a:r>
              <a:rPr spc="-45" dirty="0"/>
              <a:t> </a:t>
            </a:r>
            <a:r>
              <a:rPr dirty="0">
                <a:latin typeface="Symbol"/>
                <a:cs typeface="Symbol"/>
              </a:rPr>
              <a:t>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33068" y="1921586"/>
            <a:ext cx="6755130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35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objective </a:t>
            </a:r>
            <a:r>
              <a:rPr sz="2400" dirty="0">
                <a:latin typeface="Times New Roman"/>
                <a:cs typeface="Times New Roman"/>
              </a:rPr>
              <a:t>is to obtain the most </a:t>
            </a:r>
            <a:r>
              <a:rPr sz="2400" spc="-5" dirty="0">
                <a:latin typeface="Times New Roman"/>
                <a:cs typeface="Times New Roman"/>
              </a:rPr>
              <a:t>accurate forecast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735"/>
              </a:lnSpc>
            </a:pPr>
            <a:r>
              <a:rPr sz="2400" dirty="0">
                <a:latin typeface="Times New Roman"/>
                <a:cs typeface="Times New Roman"/>
              </a:rPr>
              <a:t>matter the</a:t>
            </a:r>
            <a:r>
              <a:rPr sz="2400" spc="-5" dirty="0">
                <a:latin typeface="Times New Roman"/>
                <a:cs typeface="Times New Roman"/>
              </a:rPr>
              <a:t> technique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3068" y="3561079"/>
            <a:ext cx="705104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sz="2400" b="1" i="1" spc="-85" dirty="0">
                <a:solidFill>
                  <a:srgbClr val="0462C1"/>
                </a:solidFill>
                <a:latin typeface="Times New Roman"/>
                <a:cs typeface="Times New Roman"/>
              </a:rPr>
              <a:t>We </a:t>
            </a:r>
            <a:r>
              <a:rPr sz="2400" b="1" i="1" spc="-5" dirty="0">
                <a:solidFill>
                  <a:srgbClr val="0462C1"/>
                </a:solidFill>
                <a:latin typeface="Times New Roman"/>
                <a:cs typeface="Times New Roman"/>
              </a:rPr>
              <a:t>generally </a:t>
            </a:r>
            <a:r>
              <a:rPr sz="2400" b="1" i="1" dirty="0">
                <a:solidFill>
                  <a:srgbClr val="0462C1"/>
                </a:solidFill>
                <a:latin typeface="Times New Roman"/>
                <a:cs typeface="Times New Roman"/>
              </a:rPr>
              <a:t>do this by </a:t>
            </a:r>
            <a:r>
              <a:rPr sz="2400" b="1" i="1" spc="-5" dirty="0">
                <a:solidFill>
                  <a:srgbClr val="0462C1"/>
                </a:solidFill>
                <a:latin typeface="Times New Roman"/>
                <a:cs typeface="Times New Roman"/>
              </a:rPr>
              <a:t>selecting </a:t>
            </a:r>
            <a:r>
              <a:rPr sz="2400" b="1" i="1" dirty="0">
                <a:solidFill>
                  <a:srgbClr val="0462C1"/>
                </a:solidFill>
                <a:latin typeface="Times New Roman"/>
                <a:cs typeface="Times New Roman"/>
              </a:rPr>
              <a:t>the </a:t>
            </a:r>
            <a:r>
              <a:rPr sz="2400" b="1" i="1" spc="5" dirty="0">
                <a:solidFill>
                  <a:srgbClr val="0462C1"/>
                </a:solidFill>
                <a:latin typeface="Times New Roman"/>
                <a:cs typeface="Times New Roman"/>
              </a:rPr>
              <a:t>model </a:t>
            </a:r>
            <a:r>
              <a:rPr sz="2400" b="1" i="1" dirty="0">
                <a:solidFill>
                  <a:srgbClr val="0462C1"/>
                </a:solidFill>
                <a:latin typeface="Times New Roman"/>
                <a:cs typeface="Times New Roman"/>
              </a:rPr>
              <a:t>that </a:t>
            </a:r>
            <a:r>
              <a:rPr sz="2400" b="1" i="1" spc="-5" dirty="0">
                <a:solidFill>
                  <a:srgbClr val="0462C1"/>
                </a:solidFill>
                <a:latin typeface="Times New Roman"/>
                <a:cs typeface="Times New Roman"/>
              </a:rPr>
              <a:t>gives </a:t>
            </a:r>
            <a:r>
              <a:rPr sz="2400" b="1" i="1" dirty="0">
                <a:solidFill>
                  <a:srgbClr val="0462C1"/>
                </a:solidFill>
                <a:latin typeface="Times New Roman"/>
                <a:cs typeface="Times New Roman"/>
              </a:rPr>
              <a:t>us  the lowest </a:t>
            </a:r>
            <a:r>
              <a:rPr sz="2400" b="1" i="1" spc="-5" dirty="0">
                <a:solidFill>
                  <a:srgbClr val="0462C1"/>
                </a:solidFill>
                <a:latin typeface="Times New Roman"/>
                <a:cs typeface="Times New Roman"/>
              </a:rPr>
              <a:t>forecast</a:t>
            </a:r>
            <a:r>
              <a:rPr sz="2400" b="1" i="1" spc="-25" dirty="0">
                <a:solidFill>
                  <a:srgbClr val="0462C1"/>
                </a:solidFill>
                <a:latin typeface="Times New Roman"/>
                <a:cs typeface="Times New Roman"/>
              </a:rPr>
              <a:t> </a:t>
            </a:r>
            <a:r>
              <a:rPr sz="2400" b="1" i="1" spc="-5" dirty="0">
                <a:solidFill>
                  <a:srgbClr val="0462C1"/>
                </a:solidFill>
                <a:latin typeface="Times New Roman"/>
                <a:cs typeface="Times New Roman"/>
              </a:rPr>
              <a:t>error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3068" y="5152390"/>
            <a:ext cx="184721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-5" dirty="0">
                <a:latin typeface="Times New Roman"/>
                <a:cs typeface="Times New Roman"/>
              </a:rPr>
              <a:t>Forecast</a:t>
            </a:r>
            <a:r>
              <a:rPr sz="2400" b="1" i="1" spc="-30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error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06242" y="4969154"/>
            <a:ext cx="4326890" cy="112395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40"/>
              </a:spcBef>
            </a:pPr>
            <a:r>
              <a:rPr sz="2400" b="1" i="1" dirty="0">
                <a:latin typeface="Times New Roman"/>
                <a:cs typeface="Times New Roman"/>
              </a:rPr>
              <a:t>= </a:t>
            </a:r>
            <a:r>
              <a:rPr sz="2400" b="1" i="1" spc="-5" dirty="0">
                <a:latin typeface="Times New Roman"/>
                <a:cs typeface="Times New Roman"/>
              </a:rPr>
              <a:t>Actual </a:t>
            </a:r>
            <a:r>
              <a:rPr sz="2400" b="1" i="1" dirty="0">
                <a:latin typeface="Times New Roman"/>
                <a:cs typeface="Times New Roman"/>
              </a:rPr>
              <a:t>demand - </a:t>
            </a:r>
            <a:r>
              <a:rPr sz="2400" b="1" i="1" spc="-5" dirty="0">
                <a:latin typeface="Times New Roman"/>
                <a:cs typeface="Times New Roman"/>
              </a:rPr>
              <a:t>Forecast</a:t>
            </a:r>
            <a:r>
              <a:rPr sz="2400" b="1" i="1" spc="-15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value</a:t>
            </a:r>
            <a:endParaRPr sz="24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445"/>
              </a:spcBef>
            </a:pPr>
            <a:r>
              <a:rPr sz="2400" b="1" i="1" dirty="0">
                <a:latin typeface="Times New Roman"/>
                <a:cs typeface="Times New Roman"/>
              </a:rPr>
              <a:t>= A</a:t>
            </a:r>
            <a:r>
              <a:rPr sz="2400" b="1" i="1" baseline="-20833" dirty="0">
                <a:latin typeface="Times New Roman"/>
                <a:cs typeface="Times New Roman"/>
              </a:rPr>
              <a:t>t </a:t>
            </a:r>
            <a:r>
              <a:rPr sz="2400" b="1" i="1" dirty="0">
                <a:latin typeface="Times New Roman"/>
                <a:cs typeface="Times New Roman"/>
              </a:rPr>
              <a:t>-</a:t>
            </a:r>
            <a:r>
              <a:rPr sz="2400" b="1" i="1" spc="-31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F</a:t>
            </a:r>
            <a:r>
              <a:rPr sz="2400" b="1" i="1" baseline="-20833" dirty="0">
                <a:latin typeface="Times New Roman"/>
                <a:cs typeface="Times New Roman"/>
              </a:rPr>
              <a:t>t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6504431"/>
            <a:ext cx="1801495" cy="353695"/>
          </a:xfrm>
          <a:custGeom>
            <a:avLst/>
            <a:gdLst/>
            <a:ahLst/>
            <a:cxnLst/>
            <a:rect l="l" t="t" r="r" b="b"/>
            <a:pathLst>
              <a:path w="1801495" h="353695">
                <a:moveTo>
                  <a:pt x="1801368" y="0"/>
                </a:moveTo>
                <a:lnTo>
                  <a:pt x="0" y="0"/>
                </a:lnTo>
                <a:lnTo>
                  <a:pt x="0" y="353568"/>
                </a:lnTo>
                <a:lnTo>
                  <a:pt x="1801368" y="353568"/>
                </a:lnTo>
                <a:lnTo>
                  <a:pt x="18013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327392" y="6504431"/>
            <a:ext cx="1804670" cy="353695"/>
          </a:xfrm>
          <a:custGeom>
            <a:avLst/>
            <a:gdLst/>
            <a:ahLst/>
            <a:cxnLst/>
            <a:rect l="l" t="t" r="r" b="b"/>
            <a:pathLst>
              <a:path w="1804670" h="353695">
                <a:moveTo>
                  <a:pt x="1804416" y="0"/>
                </a:moveTo>
                <a:lnTo>
                  <a:pt x="0" y="0"/>
                </a:lnTo>
                <a:lnTo>
                  <a:pt x="0" y="353568"/>
                </a:lnTo>
                <a:lnTo>
                  <a:pt x="1804416" y="353568"/>
                </a:lnTo>
                <a:lnTo>
                  <a:pt x="18044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384838A-345F-7577-0885-94B688EDD0E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0462C1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0462C1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89213" y="6638266"/>
            <a:ext cx="32004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0462C1"/>
                </a:solidFill>
                <a:latin typeface="Arial"/>
                <a:cs typeface="Arial"/>
              </a:rPr>
              <a:t>4 –</a:t>
            </a:r>
            <a:r>
              <a:rPr sz="900" b="1" spc="-10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462C1"/>
                </a:solidFill>
                <a:latin typeface="Arial"/>
                <a:cs typeface="Arial"/>
              </a:rPr>
              <a:t>36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88057" y="832561"/>
            <a:ext cx="51752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Common </a:t>
            </a:r>
            <a:r>
              <a:rPr dirty="0"/>
              <a:t>Measures of</a:t>
            </a:r>
            <a:r>
              <a:rPr spc="-20" dirty="0"/>
              <a:t> </a:t>
            </a:r>
            <a:r>
              <a:rPr dirty="0"/>
              <a:t>Error</a:t>
            </a:r>
          </a:p>
        </p:txBody>
      </p:sp>
      <p:sp>
        <p:nvSpPr>
          <p:cNvPr id="5" name="object 5"/>
          <p:cNvSpPr/>
          <p:nvPr/>
        </p:nvSpPr>
        <p:spPr>
          <a:xfrm>
            <a:off x="5394959" y="2036064"/>
            <a:ext cx="509015" cy="6827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14094" y="2111705"/>
            <a:ext cx="41884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-5" dirty="0">
                <a:latin typeface="Times New Roman"/>
                <a:cs typeface="Times New Roman"/>
              </a:rPr>
              <a:t>Mean </a:t>
            </a:r>
            <a:r>
              <a:rPr sz="2400" b="1" i="1" dirty="0">
                <a:latin typeface="Times New Roman"/>
                <a:cs typeface="Times New Roman"/>
              </a:rPr>
              <a:t>Absolute </a:t>
            </a:r>
            <a:r>
              <a:rPr sz="2400" b="1" i="1" spc="-5" dirty="0">
                <a:latin typeface="Times New Roman"/>
                <a:cs typeface="Times New Roman"/>
              </a:rPr>
              <a:t>Deviation</a:t>
            </a:r>
            <a:r>
              <a:rPr sz="2400" b="1" i="1" spc="-13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MAD</a:t>
            </a:r>
            <a:r>
              <a:rPr sz="2400" b="1" spc="-5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82976" y="3327654"/>
            <a:ext cx="9715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latin typeface="Times New Roman"/>
                <a:cs typeface="Times New Roman"/>
              </a:rPr>
              <a:t>MAD</a:t>
            </a:r>
            <a:r>
              <a:rPr sz="2400" b="1" i="1" spc="-8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=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37584" y="2863260"/>
            <a:ext cx="2635250" cy="941069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25"/>
              </a:spcBef>
            </a:pPr>
            <a:r>
              <a:rPr sz="2400" b="1" dirty="0">
                <a:latin typeface="Times New Roman"/>
                <a:cs typeface="Times New Roman"/>
              </a:rPr>
              <a:t>∑ </a:t>
            </a:r>
            <a:r>
              <a:rPr sz="2400" b="1" i="1" dirty="0">
                <a:latin typeface="Times New Roman"/>
                <a:cs typeface="Times New Roman"/>
              </a:rPr>
              <a:t>|Actual -</a:t>
            </a:r>
            <a:r>
              <a:rPr sz="2400" b="1" i="1" spc="-90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Forecast|</a:t>
            </a: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sz="2400" b="1" i="1" spc="-5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82923" y="3528059"/>
            <a:ext cx="3377565" cy="0"/>
          </a:xfrm>
          <a:custGeom>
            <a:avLst/>
            <a:gdLst/>
            <a:ahLst/>
            <a:cxnLst/>
            <a:rect l="l" t="t" r="r" b="b"/>
            <a:pathLst>
              <a:path w="3377565">
                <a:moveTo>
                  <a:pt x="0" y="0"/>
                </a:moveTo>
                <a:lnTo>
                  <a:pt x="3377183" y="0"/>
                </a:lnTo>
              </a:path>
            </a:pathLst>
          </a:custGeom>
          <a:ln w="39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002027" y="4362704"/>
            <a:ext cx="35972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-5" dirty="0">
                <a:latin typeface="Times New Roman"/>
                <a:cs typeface="Times New Roman"/>
              </a:rPr>
              <a:t>Mean Squared Error</a:t>
            </a:r>
            <a:r>
              <a:rPr sz="2400" b="1" i="1" spc="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</a:t>
            </a:r>
            <a:r>
              <a:rPr sz="2400" b="1" i="1" dirty="0">
                <a:latin typeface="Times New Roman"/>
                <a:cs typeface="Times New Roman"/>
              </a:rPr>
              <a:t>MSE</a:t>
            </a:r>
            <a:r>
              <a:rPr sz="2400" b="1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79979" y="5499912"/>
            <a:ext cx="91884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latin typeface="Times New Roman"/>
                <a:cs typeface="Times New Roman"/>
              </a:rPr>
              <a:t>MSE</a:t>
            </a:r>
            <a:r>
              <a:rPr sz="2400" b="1" i="1" spc="-10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=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50284" y="5115915"/>
            <a:ext cx="268478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57935" marR="30480" indent="-1219835">
              <a:lnSpc>
                <a:spcPct val="125099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∑ </a:t>
            </a:r>
            <a:r>
              <a:rPr sz="2400" b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latin typeface="Times New Roman"/>
                <a:cs typeface="Times New Roman"/>
              </a:rPr>
              <a:t>Forecast</a:t>
            </a:r>
            <a:r>
              <a:rPr sz="2400" b="1" i="1" spc="-5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Errors</a:t>
            </a:r>
            <a:r>
              <a:rPr sz="2400" b="1" dirty="0">
                <a:latin typeface="Times New Roman"/>
                <a:cs typeface="Times New Roman"/>
              </a:rPr>
              <a:t>)</a:t>
            </a:r>
            <a:r>
              <a:rPr sz="2400" b="1" baseline="24305" dirty="0">
                <a:latin typeface="Times New Roman"/>
                <a:cs typeface="Times New Roman"/>
              </a:rPr>
              <a:t>2  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585971" y="5780532"/>
            <a:ext cx="3377565" cy="0"/>
          </a:xfrm>
          <a:custGeom>
            <a:avLst/>
            <a:gdLst/>
            <a:ahLst/>
            <a:cxnLst/>
            <a:rect l="l" t="t" r="r" b="b"/>
            <a:pathLst>
              <a:path w="3377565">
                <a:moveTo>
                  <a:pt x="0" y="0"/>
                </a:moveTo>
                <a:lnTo>
                  <a:pt x="3377183" y="0"/>
                </a:lnTo>
              </a:path>
            </a:pathLst>
          </a:custGeom>
          <a:ln w="39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0" y="6504431"/>
            <a:ext cx="1801495" cy="353695"/>
          </a:xfrm>
          <a:custGeom>
            <a:avLst/>
            <a:gdLst/>
            <a:ahLst/>
            <a:cxnLst/>
            <a:rect l="l" t="t" r="r" b="b"/>
            <a:pathLst>
              <a:path w="1801495" h="353695">
                <a:moveTo>
                  <a:pt x="1801368" y="0"/>
                </a:moveTo>
                <a:lnTo>
                  <a:pt x="0" y="0"/>
                </a:lnTo>
                <a:lnTo>
                  <a:pt x="0" y="353568"/>
                </a:lnTo>
                <a:lnTo>
                  <a:pt x="1801368" y="353568"/>
                </a:lnTo>
                <a:lnTo>
                  <a:pt x="18013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327392" y="6504431"/>
            <a:ext cx="1804670" cy="353695"/>
          </a:xfrm>
          <a:custGeom>
            <a:avLst/>
            <a:gdLst/>
            <a:ahLst/>
            <a:cxnLst/>
            <a:rect l="l" t="t" r="r" b="b"/>
            <a:pathLst>
              <a:path w="1804670" h="353695">
                <a:moveTo>
                  <a:pt x="1804416" y="0"/>
                </a:moveTo>
                <a:lnTo>
                  <a:pt x="0" y="0"/>
                </a:lnTo>
                <a:lnTo>
                  <a:pt x="0" y="353568"/>
                </a:lnTo>
                <a:lnTo>
                  <a:pt x="1804416" y="353568"/>
                </a:lnTo>
                <a:lnTo>
                  <a:pt x="18044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097ED9D-9840-B6E6-EE30-CFA35F0C7E1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0462C1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0462C1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89213" y="6638266"/>
            <a:ext cx="32004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0462C1"/>
                </a:solidFill>
                <a:latin typeface="Arial"/>
                <a:cs typeface="Arial"/>
              </a:rPr>
              <a:t>4 –</a:t>
            </a:r>
            <a:r>
              <a:rPr sz="900" b="1" spc="-10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462C1"/>
                </a:solidFill>
                <a:latin typeface="Arial"/>
                <a:cs typeface="Arial"/>
              </a:rPr>
              <a:t>37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17856" y="987552"/>
            <a:ext cx="5163156" cy="3520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88057" y="832561"/>
            <a:ext cx="51752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Common </a:t>
            </a:r>
            <a:r>
              <a:rPr dirty="0"/>
              <a:t>Measures of</a:t>
            </a:r>
            <a:r>
              <a:rPr spc="-20" dirty="0"/>
              <a:t> </a:t>
            </a:r>
            <a:r>
              <a:rPr dirty="0"/>
              <a:t>Error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07465" y="2391232"/>
            <a:ext cx="48926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-5" dirty="0">
                <a:latin typeface="Times New Roman"/>
                <a:cs typeface="Times New Roman"/>
              </a:rPr>
              <a:t>Mean </a:t>
            </a:r>
            <a:r>
              <a:rPr sz="2400" b="1" i="1" dirty="0">
                <a:latin typeface="Times New Roman"/>
                <a:cs typeface="Times New Roman"/>
              </a:rPr>
              <a:t>Absolute </a:t>
            </a:r>
            <a:r>
              <a:rPr sz="2400" b="1" i="1" spc="-5" dirty="0">
                <a:latin typeface="Times New Roman"/>
                <a:cs typeface="Times New Roman"/>
              </a:rPr>
              <a:t>Percent </a:t>
            </a:r>
            <a:r>
              <a:rPr sz="2400" b="1" i="1" dirty="0">
                <a:latin typeface="Times New Roman"/>
                <a:cs typeface="Times New Roman"/>
              </a:rPr>
              <a:t>Error</a:t>
            </a:r>
            <a:r>
              <a:rPr sz="2400" b="1" i="1" spc="-1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</a:t>
            </a:r>
            <a:r>
              <a:rPr sz="2400" b="1" i="1" dirty="0">
                <a:latin typeface="Times New Roman"/>
                <a:cs typeface="Times New Roman"/>
              </a:rPr>
              <a:t>MAPE</a:t>
            </a:r>
            <a:r>
              <a:rPr sz="2400" b="1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773935" y="4050791"/>
            <a:ext cx="582168" cy="6827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15695" y="4129227"/>
            <a:ext cx="11385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latin typeface="Times New Roman"/>
                <a:cs typeface="Times New Roman"/>
              </a:rPr>
              <a:t>MAPE</a:t>
            </a:r>
            <a:r>
              <a:rPr sz="2400" b="1" i="1" spc="-9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=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331720" y="3502152"/>
            <a:ext cx="4645660" cy="1493520"/>
            <a:chOff x="2331720" y="3502152"/>
            <a:chExt cx="4645660" cy="1493520"/>
          </a:xfrm>
        </p:grpSpPr>
        <p:sp>
          <p:nvSpPr>
            <p:cNvPr id="10" name="object 10"/>
            <p:cNvSpPr/>
            <p:nvPr/>
          </p:nvSpPr>
          <p:spPr>
            <a:xfrm>
              <a:off x="2331720" y="3502152"/>
              <a:ext cx="929640" cy="101498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49296" y="3700272"/>
              <a:ext cx="877824" cy="69494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06496" y="3700272"/>
              <a:ext cx="1319783" cy="69494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166616" y="3898392"/>
              <a:ext cx="356615" cy="48158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33672" y="3700272"/>
              <a:ext cx="521208" cy="69494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13504" y="3700272"/>
              <a:ext cx="1520952" cy="694944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574792" y="3898392"/>
              <a:ext cx="356615" cy="48158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571744" y="3700272"/>
              <a:ext cx="573024" cy="69494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724144" y="3700272"/>
              <a:ext cx="1252727" cy="694944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17208" y="3898392"/>
              <a:ext cx="356616" cy="48158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425696" y="4312920"/>
              <a:ext cx="594360" cy="68275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516124" y="4494276"/>
              <a:ext cx="4251960" cy="48895"/>
            </a:xfrm>
            <a:custGeom>
              <a:avLst/>
              <a:gdLst/>
              <a:ahLst/>
              <a:cxnLst/>
              <a:rect l="l" t="t" r="r" b="b"/>
              <a:pathLst>
                <a:path w="4251959" h="48895">
                  <a:moveTo>
                    <a:pt x="0" y="48768"/>
                  </a:moveTo>
                  <a:lnTo>
                    <a:pt x="4251959" y="0"/>
                  </a:lnTo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720085" y="3472129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743200" y="4099559"/>
            <a:ext cx="438912" cy="51511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539238" y="3628770"/>
            <a:ext cx="4307205" cy="1159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>
              <a:lnSpc>
                <a:spcPts val="4245"/>
              </a:lnSpc>
              <a:spcBef>
                <a:spcPts val="100"/>
              </a:spcBef>
            </a:pPr>
            <a:r>
              <a:rPr sz="3600" b="1" dirty="0">
                <a:latin typeface="Arial"/>
                <a:cs typeface="Arial"/>
              </a:rPr>
              <a:t>∑</a:t>
            </a:r>
            <a:r>
              <a:rPr sz="2400" b="1" dirty="0">
                <a:latin typeface="Times New Roman"/>
                <a:cs typeface="Times New Roman"/>
              </a:rPr>
              <a:t>100</a:t>
            </a:r>
            <a:r>
              <a:rPr sz="2400" b="1" i="1" spc="-5" dirty="0">
                <a:latin typeface="Times New Roman"/>
                <a:cs typeface="Times New Roman"/>
              </a:rPr>
              <a:t>|A</a:t>
            </a:r>
            <a:r>
              <a:rPr sz="2400" b="1" i="1" spc="-10" dirty="0">
                <a:latin typeface="Times New Roman"/>
                <a:cs typeface="Times New Roman"/>
              </a:rPr>
              <a:t>c</a:t>
            </a:r>
            <a:r>
              <a:rPr sz="2400" b="1" i="1" spc="-5" dirty="0">
                <a:latin typeface="Times New Roman"/>
                <a:cs typeface="Times New Roman"/>
              </a:rPr>
              <a:t>t</a:t>
            </a:r>
            <a:r>
              <a:rPr sz="2400" b="1" i="1" spc="5" dirty="0">
                <a:latin typeface="Times New Roman"/>
                <a:cs typeface="Times New Roman"/>
              </a:rPr>
              <a:t>u</a:t>
            </a:r>
            <a:r>
              <a:rPr sz="2400" b="1" i="1" dirty="0">
                <a:latin typeface="Times New Roman"/>
                <a:cs typeface="Times New Roman"/>
              </a:rPr>
              <a:t>a</a:t>
            </a:r>
            <a:r>
              <a:rPr sz="2400" b="1" i="1" spc="10" dirty="0">
                <a:latin typeface="Times New Roman"/>
                <a:cs typeface="Times New Roman"/>
              </a:rPr>
              <a:t>l</a:t>
            </a:r>
            <a:r>
              <a:rPr sz="2400" b="1" i="1" baseline="-20833" dirty="0">
                <a:latin typeface="Times New Roman"/>
                <a:cs typeface="Times New Roman"/>
              </a:rPr>
              <a:t>i</a:t>
            </a:r>
            <a:r>
              <a:rPr sz="2400" b="1" i="1" spc="240" baseline="-20833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-</a:t>
            </a:r>
            <a:r>
              <a:rPr sz="2400" b="1" i="1" spc="1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F</a:t>
            </a:r>
            <a:r>
              <a:rPr sz="2400" b="1" i="1" spc="-5" dirty="0">
                <a:latin typeface="Times New Roman"/>
                <a:cs typeface="Times New Roman"/>
              </a:rPr>
              <a:t>or</a:t>
            </a:r>
            <a:r>
              <a:rPr sz="2400" b="1" i="1" spc="-15" dirty="0">
                <a:latin typeface="Times New Roman"/>
                <a:cs typeface="Times New Roman"/>
              </a:rPr>
              <a:t>e</a:t>
            </a:r>
            <a:r>
              <a:rPr sz="2400" b="1" i="1" spc="-10" dirty="0">
                <a:latin typeface="Times New Roman"/>
                <a:cs typeface="Times New Roman"/>
              </a:rPr>
              <a:t>c</a:t>
            </a:r>
            <a:r>
              <a:rPr sz="2400" b="1" i="1" spc="-5" dirty="0">
                <a:latin typeface="Times New Roman"/>
                <a:cs typeface="Times New Roman"/>
              </a:rPr>
              <a:t>as</a:t>
            </a:r>
            <a:r>
              <a:rPr sz="2400" b="1" i="1" spc="5" dirty="0">
                <a:latin typeface="Times New Roman"/>
                <a:cs typeface="Times New Roman"/>
              </a:rPr>
              <a:t>t</a:t>
            </a:r>
            <a:r>
              <a:rPr sz="2400" b="1" i="1" spc="7" baseline="-20833" dirty="0">
                <a:latin typeface="Times New Roman"/>
                <a:cs typeface="Times New Roman"/>
              </a:rPr>
              <a:t>i</a:t>
            </a:r>
            <a:r>
              <a:rPr sz="2400" b="1" i="1" spc="-5" dirty="0">
                <a:latin typeface="Times New Roman"/>
                <a:cs typeface="Times New Roman"/>
              </a:rPr>
              <a:t>|</a:t>
            </a:r>
            <a:r>
              <a:rPr sz="2400" b="1" i="1" dirty="0">
                <a:latin typeface="Times New Roman"/>
                <a:cs typeface="Times New Roman"/>
              </a:rPr>
              <a:t>/A</a:t>
            </a:r>
            <a:r>
              <a:rPr sz="2400" b="1" i="1" spc="-10" dirty="0">
                <a:latin typeface="Times New Roman"/>
                <a:cs typeface="Times New Roman"/>
              </a:rPr>
              <a:t>c</a:t>
            </a:r>
            <a:r>
              <a:rPr sz="2400" b="1" i="1" spc="-5" dirty="0">
                <a:latin typeface="Times New Roman"/>
                <a:cs typeface="Times New Roman"/>
              </a:rPr>
              <a:t>t</a:t>
            </a:r>
            <a:r>
              <a:rPr sz="2400" b="1" i="1" spc="5" dirty="0">
                <a:latin typeface="Times New Roman"/>
                <a:cs typeface="Times New Roman"/>
              </a:rPr>
              <a:t>u</a:t>
            </a:r>
            <a:r>
              <a:rPr sz="2400" b="1" i="1" dirty="0">
                <a:latin typeface="Times New Roman"/>
                <a:cs typeface="Times New Roman"/>
              </a:rPr>
              <a:t>a</a:t>
            </a:r>
            <a:r>
              <a:rPr sz="2400" b="1" i="1" spc="10" dirty="0">
                <a:latin typeface="Times New Roman"/>
                <a:cs typeface="Times New Roman"/>
              </a:rPr>
              <a:t>l</a:t>
            </a:r>
            <a:r>
              <a:rPr sz="2400" b="1" i="1" baseline="-20833" dirty="0">
                <a:latin typeface="Times New Roman"/>
                <a:cs typeface="Times New Roman"/>
              </a:rPr>
              <a:t>i</a:t>
            </a:r>
            <a:endParaRPr sz="2400" baseline="-20833">
              <a:latin typeface="Times New Roman"/>
              <a:cs typeface="Times New Roman"/>
            </a:endParaRPr>
          </a:p>
          <a:p>
            <a:pPr marL="38100">
              <a:lnSpc>
                <a:spcPts val="1945"/>
              </a:lnSpc>
            </a:pPr>
            <a:r>
              <a:rPr sz="1800" i="1" dirty="0">
                <a:latin typeface="Arial"/>
                <a:cs typeface="Arial"/>
              </a:rPr>
              <a:t>i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  <a:p>
            <a:pPr marL="40640" algn="ctr">
              <a:lnSpc>
                <a:spcPts val="2740"/>
              </a:lnSpc>
            </a:pPr>
            <a:r>
              <a:rPr sz="2400" b="1" i="1" dirty="0">
                <a:latin typeface="Arial"/>
                <a:cs typeface="Arial"/>
              </a:rPr>
              <a:t>n</a:t>
            </a:r>
            <a:endParaRPr sz="24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0" y="6504431"/>
            <a:ext cx="1801495" cy="353695"/>
          </a:xfrm>
          <a:custGeom>
            <a:avLst/>
            <a:gdLst/>
            <a:ahLst/>
            <a:cxnLst/>
            <a:rect l="l" t="t" r="r" b="b"/>
            <a:pathLst>
              <a:path w="1801495" h="353695">
                <a:moveTo>
                  <a:pt x="1801368" y="0"/>
                </a:moveTo>
                <a:lnTo>
                  <a:pt x="0" y="0"/>
                </a:lnTo>
                <a:lnTo>
                  <a:pt x="0" y="353568"/>
                </a:lnTo>
                <a:lnTo>
                  <a:pt x="1801368" y="353568"/>
                </a:lnTo>
                <a:lnTo>
                  <a:pt x="18013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327392" y="6504431"/>
            <a:ext cx="1804670" cy="353695"/>
          </a:xfrm>
          <a:custGeom>
            <a:avLst/>
            <a:gdLst/>
            <a:ahLst/>
            <a:cxnLst/>
            <a:rect l="l" t="t" r="r" b="b"/>
            <a:pathLst>
              <a:path w="1804670" h="353695">
                <a:moveTo>
                  <a:pt x="1804416" y="0"/>
                </a:moveTo>
                <a:lnTo>
                  <a:pt x="0" y="0"/>
                </a:lnTo>
                <a:lnTo>
                  <a:pt x="0" y="353568"/>
                </a:lnTo>
                <a:lnTo>
                  <a:pt x="1804416" y="353568"/>
                </a:lnTo>
                <a:lnTo>
                  <a:pt x="18044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5911C120-A087-06CD-C4A8-DD2CF9F90DD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0462C1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0462C1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89213" y="6638266"/>
            <a:ext cx="32004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0462C1"/>
                </a:solidFill>
                <a:latin typeface="Arial"/>
                <a:cs typeface="Arial"/>
              </a:rPr>
              <a:t>4 –</a:t>
            </a:r>
            <a:r>
              <a:rPr sz="900" b="1" spc="-10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462C1"/>
                </a:solidFill>
                <a:latin typeface="Arial"/>
                <a:cs typeface="Arial"/>
              </a:rPr>
              <a:t>38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241295" y="1039825"/>
            <a:ext cx="48145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Sources of Forecast</a:t>
            </a:r>
            <a:r>
              <a:rPr spc="-105" dirty="0"/>
              <a:t> </a:t>
            </a:r>
            <a:r>
              <a:rPr dirty="0"/>
              <a:t>errors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4844" y="2210308"/>
            <a:ext cx="4796155" cy="131572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82880" indent="-170815">
              <a:lnSpc>
                <a:spcPct val="100000"/>
              </a:lnSpc>
              <a:spcBef>
                <a:spcPts val="605"/>
              </a:spcBef>
              <a:buFont typeface="Arial"/>
              <a:buChar char="•"/>
              <a:tabLst>
                <a:tab pos="183515" algn="l"/>
              </a:tabLst>
            </a:pPr>
            <a:r>
              <a:rPr sz="2400" spc="-5" dirty="0">
                <a:latin typeface="Times New Roman"/>
                <a:cs typeface="Times New Roman"/>
              </a:rPr>
              <a:t>Model may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inadequate</a:t>
            </a:r>
            <a:endParaRPr sz="2400">
              <a:latin typeface="Times New Roman"/>
              <a:cs typeface="Times New Roman"/>
            </a:endParaRPr>
          </a:p>
          <a:p>
            <a:pPr marL="182880" indent="-17081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183515" algn="l"/>
              </a:tabLst>
            </a:pPr>
            <a:r>
              <a:rPr sz="2400" spc="-15" dirty="0">
                <a:latin typeface="Times New Roman"/>
                <a:cs typeface="Times New Roman"/>
              </a:rPr>
              <a:t>Irregular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variations</a:t>
            </a:r>
            <a:endParaRPr sz="2400">
              <a:latin typeface="Times New Roman"/>
              <a:cs typeface="Times New Roman"/>
            </a:endParaRPr>
          </a:p>
          <a:p>
            <a:pPr marL="182880" indent="-17081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183515" algn="l"/>
              </a:tabLst>
            </a:pPr>
            <a:r>
              <a:rPr sz="2400" spc="-15" dirty="0">
                <a:latin typeface="Times New Roman"/>
                <a:cs typeface="Times New Roman"/>
              </a:rPr>
              <a:t>Incorrect </a:t>
            </a:r>
            <a:r>
              <a:rPr sz="2400" dirty="0">
                <a:latin typeface="Times New Roman"/>
                <a:cs typeface="Times New Roman"/>
              </a:rPr>
              <a:t>use of </a:t>
            </a:r>
            <a:r>
              <a:rPr sz="2400" spc="-5" dirty="0">
                <a:latin typeface="Times New Roman"/>
                <a:cs typeface="Times New Roman"/>
              </a:rPr>
              <a:t>forecasting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technique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6504431"/>
            <a:ext cx="1801495" cy="353695"/>
          </a:xfrm>
          <a:custGeom>
            <a:avLst/>
            <a:gdLst/>
            <a:ahLst/>
            <a:cxnLst/>
            <a:rect l="l" t="t" r="r" b="b"/>
            <a:pathLst>
              <a:path w="1801495" h="353695">
                <a:moveTo>
                  <a:pt x="1801368" y="0"/>
                </a:moveTo>
                <a:lnTo>
                  <a:pt x="0" y="0"/>
                </a:lnTo>
                <a:lnTo>
                  <a:pt x="0" y="353568"/>
                </a:lnTo>
                <a:lnTo>
                  <a:pt x="1801368" y="353568"/>
                </a:lnTo>
                <a:lnTo>
                  <a:pt x="18013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327392" y="6504431"/>
            <a:ext cx="1804670" cy="353695"/>
          </a:xfrm>
          <a:custGeom>
            <a:avLst/>
            <a:gdLst/>
            <a:ahLst/>
            <a:cxnLst/>
            <a:rect l="l" t="t" r="r" b="b"/>
            <a:pathLst>
              <a:path w="1804670" h="353695">
                <a:moveTo>
                  <a:pt x="1804416" y="0"/>
                </a:moveTo>
                <a:lnTo>
                  <a:pt x="0" y="0"/>
                </a:lnTo>
                <a:lnTo>
                  <a:pt x="0" y="353568"/>
                </a:lnTo>
                <a:lnTo>
                  <a:pt x="1804416" y="353568"/>
                </a:lnTo>
                <a:lnTo>
                  <a:pt x="18044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C1300C8-BE2C-D0BD-69EF-FA4CA47D9E3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0462C1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0462C1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89213" y="6638266"/>
            <a:ext cx="32004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0462C1"/>
                </a:solidFill>
                <a:latin typeface="Arial"/>
                <a:cs typeface="Arial"/>
              </a:rPr>
              <a:t>4 –</a:t>
            </a:r>
            <a:r>
              <a:rPr sz="900" b="1" spc="-10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462C1"/>
                </a:solidFill>
                <a:latin typeface="Arial"/>
                <a:cs typeface="Arial"/>
              </a:rPr>
              <a:t>39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53183" y="818388"/>
            <a:ext cx="5490972" cy="4434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23466" y="661542"/>
            <a:ext cx="54978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Comparison </a:t>
            </a:r>
            <a:r>
              <a:rPr dirty="0"/>
              <a:t>of </a:t>
            </a:r>
            <a:r>
              <a:rPr spc="-5" dirty="0"/>
              <a:t>Forecast</a:t>
            </a:r>
            <a:r>
              <a:rPr spc="-30" dirty="0"/>
              <a:t> </a:t>
            </a:r>
            <a:r>
              <a:rPr dirty="0"/>
              <a:t>Error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93547" y="2441905"/>
            <a:ext cx="85216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latin typeface="Arial"/>
                <a:cs typeface="Arial"/>
              </a:rPr>
              <a:t>Quarter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18564" y="1975865"/>
            <a:ext cx="1071245" cy="76644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indent="2540" algn="ctr">
              <a:lnSpc>
                <a:spcPct val="85000"/>
              </a:lnSpc>
              <a:spcBef>
                <a:spcPts val="425"/>
              </a:spcBef>
            </a:pPr>
            <a:r>
              <a:rPr sz="1800" b="1" i="1" dirty="0">
                <a:latin typeface="Arial"/>
                <a:cs typeface="Arial"/>
              </a:rPr>
              <a:t>Actual  </a:t>
            </a:r>
            <a:r>
              <a:rPr sz="1800" b="1" i="1" spc="-10" dirty="0">
                <a:latin typeface="Arial"/>
                <a:cs typeface="Arial"/>
              </a:rPr>
              <a:t>Tonnage  </a:t>
            </a:r>
            <a:r>
              <a:rPr sz="1800" b="1" i="1" dirty="0">
                <a:latin typeface="Arial"/>
                <a:cs typeface="Arial"/>
              </a:rPr>
              <a:t>Unl</a:t>
            </a:r>
            <a:r>
              <a:rPr sz="1800" b="1" i="1" spc="5" dirty="0">
                <a:latin typeface="Arial"/>
                <a:cs typeface="Arial"/>
              </a:rPr>
              <a:t>o</a:t>
            </a:r>
            <a:r>
              <a:rPr sz="1800" b="1" i="1" dirty="0">
                <a:latin typeface="Arial"/>
                <a:cs typeface="Arial"/>
              </a:rPr>
              <a:t>ad</a:t>
            </a:r>
            <a:r>
              <a:rPr sz="1800" b="1" i="1" spc="5" dirty="0">
                <a:latin typeface="Arial"/>
                <a:cs typeface="Arial"/>
              </a:rPr>
              <a:t>e</a:t>
            </a:r>
            <a:r>
              <a:rPr sz="1800" b="1" i="1" dirty="0"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97479" y="1975865"/>
            <a:ext cx="981710" cy="766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989"/>
              </a:lnSpc>
              <a:spcBef>
                <a:spcPts val="100"/>
              </a:spcBef>
            </a:pPr>
            <a:r>
              <a:rPr sz="1800" b="1" i="1" dirty="0">
                <a:latin typeface="Arial"/>
                <a:cs typeface="Arial"/>
              </a:rPr>
              <a:t>F</a:t>
            </a:r>
            <a:r>
              <a:rPr sz="1800" b="1" i="1" spc="5" dirty="0">
                <a:latin typeface="Arial"/>
                <a:cs typeface="Arial"/>
              </a:rPr>
              <a:t>o</a:t>
            </a:r>
            <a:r>
              <a:rPr sz="1800" b="1" i="1" spc="-5" dirty="0">
                <a:latin typeface="Arial"/>
                <a:cs typeface="Arial"/>
              </a:rPr>
              <a:t>re</a:t>
            </a:r>
            <a:r>
              <a:rPr sz="1800" b="1" i="1" dirty="0">
                <a:latin typeface="Arial"/>
                <a:cs typeface="Arial"/>
              </a:rPr>
              <a:t>cast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ts val="1835"/>
              </a:lnSpc>
            </a:pPr>
            <a:r>
              <a:rPr sz="1800" b="1" i="1" spc="-5" dirty="0">
                <a:latin typeface="Arial"/>
                <a:cs typeface="Arial"/>
              </a:rPr>
              <a:t>with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ts val="2005"/>
              </a:lnSpc>
            </a:pPr>
            <a:r>
              <a:rPr sz="1800" b="1" dirty="0">
                <a:latin typeface="Symbol"/>
                <a:cs typeface="Symbol"/>
              </a:rPr>
              <a:t>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Arial"/>
                <a:cs typeface="Arial"/>
              </a:rPr>
              <a:t>= .10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81905" y="1740484"/>
            <a:ext cx="1057910" cy="10020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065" marR="5080" indent="2540" algn="ctr">
              <a:lnSpc>
                <a:spcPct val="85100"/>
              </a:lnSpc>
              <a:spcBef>
                <a:spcPts val="425"/>
              </a:spcBef>
            </a:pPr>
            <a:r>
              <a:rPr sz="1800" b="1" i="1" dirty="0">
                <a:latin typeface="Arial"/>
                <a:cs typeface="Arial"/>
              </a:rPr>
              <a:t>Absolute  </a:t>
            </a:r>
            <a:r>
              <a:rPr sz="1800" b="1" i="1" spc="-5" dirty="0">
                <a:latin typeface="Arial"/>
                <a:cs typeface="Arial"/>
              </a:rPr>
              <a:t>De</a:t>
            </a:r>
            <a:r>
              <a:rPr sz="1800" b="1" i="1" dirty="0">
                <a:latin typeface="Arial"/>
                <a:cs typeface="Arial"/>
              </a:rPr>
              <a:t>v</a:t>
            </a:r>
            <a:r>
              <a:rPr sz="1800" b="1" i="1" spc="-5" dirty="0">
                <a:latin typeface="Arial"/>
                <a:cs typeface="Arial"/>
              </a:rPr>
              <a:t>i</a:t>
            </a:r>
            <a:r>
              <a:rPr sz="1800" b="1" i="1" dirty="0">
                <a:latin typeface="Arial"/>
                <a:cs typeface="Arial"/>
              </a:rPr>
              <a:t>ati</a:t>
            </a:r>
            <a:r>
              <a:rPr sz="1800" b="1" i="1" spc="5" dirty="0">
                <a:latin typeface="Arial"/>
                <a:cs typeface="Arial"/>
              </a:rPr>
              <a:t>o</a:t>
            </a:r>
            <a:r>
              <a:rPr sz="1800" b="1" i="1" dirty="0">
                <a:latin typeface="Arial"/>
                <a:cs typeface="Arial"/>
              </a:rPr>
              <a:t>n  for</a:t>
            </a:r>
            <a:endParaRPr sz="1800">
              <a:latin typeface="Arial"/>
              <a:cs typeface="Arial"/>
            </a:endParaRPr>
          </a:p>
          <a:p>
            <a:pPr marL="3175" algn="ctr">
              <a:lnSpc>
                <a:spcPts val="1850"/>
              </a:lnSpc>
            </a:pPr>
            <a:r>
              <a:rPr sz="1800" b="1" dirty="0">
                <a:latin typeface="Symbol"/>
                <a:cs typeface="Symbol"/>
              </a:rPr>
              <a:t>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.10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57391" y="1975865"/>
            <a:ext cx="981710" cy="766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989"/>
              </a:lnSpc>
              <a:spcBef>
                <a:spcPts val="100"/>
              </a:spcBef>
            </a:pPr>
            <a:r>
              <a:rPr sz="1800" b="1" i="1" dirty="0">
                <a:latin typeface="Arial"/>
                <a:cs typeface="Arial"/>
              </a:rPr>
              <a:t>F</a:t>
            </a:r>
            <a:r>
              <a:rPr sz="1800" b="1" i="1" spc="5" dirty="0">
                <a:latin typeface="Arial"/>
                <a:cs typeface="Arial"/>
              </a:rPr>
              <a:t>o</a:t>
            </a:r>
            <a:r>
              <a:rPr sz="1800" b="1" i="1" spc="-5" dirty="0">
                <a:latin typeface="Arial"/>
                <a:cs typeface="Arial"/>
              </a:rPr>
              <a:t>re</a:t>
            </a:r>
            <a:r>
              <a:rPr sz="1800" b="1" i="1" dirty="0">
                <a:latin typeface="Arial"/>
                <a:cs typeface="Arial"/>
              </a:rPr>
              <a:t>cast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ts val="1835"/>
              </a:lnSpc>
            </a:pPr>
            <a:r>
              <a:rPr sz="1800" b="1" i="1" spc="-5" dirty="0">
                <a:latin typeface="Arial"/>
                <a:cs typeface="Arial"/>
              </a:rPr>
              <a:t>with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ts val="2005"/>
              </a:lnSpc>
            </a:pPr>
            <a:r>
              <a:rPr sz="1800" b="1" dirty="0">
                <a:latin typeface="Symbol"/>
                <a:cs typeface="Symbol"/>
              </a:rPr>
              <a:t>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.50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41818" y="1740484"/>
            <a:ext cx="1057910" cy="10020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065" marR="5080" indent="-3810" algn="ctr">
              <a:lnSpc>
                <a:spcPct val="85100"/>
              </a:lnSpc>
              <a:spcBef>
                <a:spcPts val="425"/>
              </a:spcBef>
            </a:pPr>
            <a:r>
              <a:rPr sz="1800" b="1" i="1" dirty="0">
                <a:latin typeface="Arial"/>
                <a:cs typeface="Arial"/>
              </a:rPr>
              <a:t>Absolute  </a:t>
            </a:r>
            <a:r>
              <a:rPr sz="1800" b="1" i="1" spc="-5" dirty="0">
                <a:latin typeface="Arial"/>
                <a:cs typeface="Arial"/>
              </a:rPr>
              <a:t>De</a:t>
            </a:r>
            <a:r>
              <a:rPr sz="1800" b="1" i="1" dirty="0">
                <a:latin typeface="Arial"/>
                <a:cs typeface="Arial"/>
              </a:rPr>
              <a:t>v</a:t>
            </a:r>
            <a:r>
              <a:rPr sz="1800" b="1" i="1" spc="-5" dirty="0">
                <a:latin typeface="Arial"/>
                <a:cs typeface="Arial"/>
              </a:rPr>
              <a:t>i</a:t>
            </a:r>
            <a:r>
              <a:rPr sz="1800" b="1" i="1" dirty="0">
                <a:latin typeface="Arial"/>
                <a:cs typeface="Arial"/>
              </a:rPr>
              <a:t>ati</a:t>
            </a:r>
            <a:r>
              <a:rPr sz="1800" b="1" i="1" spc="5" dirty="0">
                <a:latin typeface="Arial"/>
                <a:cs typeface="Arial"/>
              </a:rPr>
              <a:t>o</a:t>
            </a:r>
            <a:r>
              <a:rPr sz="1800" b="1" i="1" dirty="0">
                <a:latin typeface="Arial"/>
                <a:cs typeface="Arial"/>
              </a:rPr>
              <a:t>n  for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ts val="1850"/>
              </a:lnSpc>
            </a:pPr>
            <a:r>
              <a:rPr sz="1800" b="1" dirty="0">
                <a:latin typeface="Symbol"/>
                <a:cs typeface="Symbol"/>
              </a:rPr>
              <a:t>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.50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86740" y="1805939"/>
            <a:ext cx="7988934" cy="3465829"/>
          </a:xfrm>
          <a:custGeom>
            <a:avLst/>
            <a:gdLst/>
            <a:ahLst/>
            <a:cxnLst/>
            <a:rect l="l" t="t" r="r" b="b"/>
            <a:pathLst>
              <a:path w="7988934" h="3465829">
                <a:moveTo>
                  <a:pt x="0" y="978408"/>
                </a:moveTo>
                <a:lnTo>
                  <a:pt x="7988808" y="978408"/>
                </a:lnTo>
              </a:path>
              <a:path w="7988934" h="3465829">
                <a:moveTo>
                  <a:pt x="2386584" y="0"/>
                </a:moveTo>
                <a:lnTo>
                  <a:pt x="2386584" y="3465576"/>
                </a:lnTo>
              </a:path>
              <a:path w="7988934" h="3465829">
                <a:moveTo>
                  <a:pt x="5257800" y="0"/>
                </a:moveTo>
                <a:lnTo>
                  <a:pt x="5257800" y="3465576"/>
                </a:lnTo>
              </a:path>
            </a:pathLst>
          </a:custGeom>
          <a:ln w="39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882345" y="2784348"/>
          <a:ext cx="7272654" cy="28672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6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24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77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800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L="48133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180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175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R="629285" algn="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5.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L="36830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175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5.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905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990">
                <a:tc>
                  <a:txBody>
                    <a:bodyPr/>
                    <a:lstStyle/>
                    <a:p>
                      <a:pPr marL="31750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1330">
                        <a:lnSpc>
                          <a:spcPts val="2290"/>
                        </a:lnSpc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168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ts val="2290"/>
                        </a:lnSpc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175.5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29285" algn="r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7.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0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177.50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9.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990">
                <a:tc>
                  <a:txBody>
                    <a:bodyPr/>
                    <a:lstStyle/>
                    <a:p>
                      <a:pPr marL="31750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1330">
                        <a:lnSpc>
                          <a:spcPts val="2290"/>
                        </a:lnSpc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159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174.75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28650" algn="r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.75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0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172.75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8740" algn="r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13.75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662">
                <a:tc>
                  <a:txBody>
                    <a:bodyPr/>
                    <a:lstStyle/>
                    <a:p>
                      <a:pPr marL="31750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1330">
                        <a:lnSpc>
                          <a:spcPts val="2290"/>
                        </a:lnSpc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175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173.18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29285" algn="r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1.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8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0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165.88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9.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097">
                <a:tc>
                  <a:txBody>
                    <a:bodyPr/>
                    <a:lstStyle/>
                    <a:p>
                      <a:pPr marL="31750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1330">
                        <a:lnSpc>
                          <a:spcPts val="2290"/>
                        </a:lnSpc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190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173.36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29285" algn="r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0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170.44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8740" algn="r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19.56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56">
                <a:tc>
                  <a:txBody>
                    <a:bodyPr/>
                    <a:lstStyle/>
                    <a:p>
                      <a:pPr marL="31750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1330">
                        <a:lnSpc>
                          <a:spcPts val="2290"/>
                        </a:lnSpc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205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175.02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28650" algn="r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9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.98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0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180.22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8740" algn="r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24.78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5097">
                <a:tc>
                  <a:txBody>
                    <a:bodyPr/>
                    <a:lstStyle/>
                    <a:p>
                      <a:pPr marL="31750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7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1330">
                        <a:lnSpc>
                          <a:spcPts val="2290"/>
                        </a:lnSpc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180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178.02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28650" algn="r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98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0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192.61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8740" algn="r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12.61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9193">
                <a:tc>
                  <a:txBody>
                    <a:bodyPr/>
                    <a:lstStyle/>
                    <a:p>
                      <a:pPr marL="31750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1330">
                        <a:lnSpc>
                          <a:spcPts val="2290"/>
                        </a:lnSpc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182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178.22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29285" algn="r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3.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0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186.30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4.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49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29285" algn="r">
                        <a:lnSpc>
                          <a:spcPts val="2325"/>
                        </a:lnSpc>
                        <a:spcBef>
                          <a:spcPts val="254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8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4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T w="539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8740" algn="r">
                        <a:lnSpc>
                          <a:spcPts val="2325"/>
                        </a:lnSpc>
                        <a:spcBef>
                          <a:spcPts val="254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98.62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T w="539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" name="object 14"/>
          <p:cNvSpPr/>
          <p:nvPr/>
        </p:nvSpPr>
        <p:spPr>
          <a:xfrm>
            <a:off x="0" y="6504431"/>
            <a:ext cx="1801495" cy="353695"/>
          </a:xfrm>
          <a:custGeom>
            <a:avLst/>
            <a:gdLst/>
            <a:ahLst/>
            <a:cxnLst/>
            <a:rect l="l" t="t" r="r" b="b"/>
            <a:pathLst>
              <a:path w="1801495" h="353695">
                <a:moveTo>
                  <a:pt x="1801368" y="0"/>
                </a:moveTo>
                <a:lnTo>
                  <a:pt x="0" y="0"/>
                </a:lnTo>
                <a:lnTo>
                  <a:pt x="0" y="353568"/>
                </a:lnTo>
                <a:lnTo>
                  <a:pt x="1801368" y="353568"/>
                </a:lnTo>
                <a:lnTo>
                  <a:pt x="18013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327392" y="6504431"/>
            <a:ext cx="1804670" cy="353695"/>
          </a:xfrm>
          <a:custGeom>
            <a:avLst/>
            <a:gdLst/>
            <a:ahLst/>
            <a:cxnLst/>
            <a:rect l="l" t="t" r="r" b="b"/>
            <a:pathLst>
              <a:path w="1804670" h="353695">
                <a:moveTo>
                  <a:pt x="1804416" y="0"/>
                </a:moveTo>
                <a:lnTo>
                  <a:pt x="0" y="0"/>
                </a:lnTo>
                <a:lnTo>
                  <a:pt x="0" y="353568"/>
                </a:lnTo>
                <a:lnTo>
                  <a:pt x="1804416" y="353568"/>
                </a:lnTo>
                <a:lnTo>
                  <a:pt x="18044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1596" y="3005690"/>
            <a:ext cx="1133475" cy="292303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391" y="3005690"/>
            <a:ext cx="1133475" cy="292303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5071" y="2742260"/>
            <a:ext cx="1384744" cy="318646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8871" y="2742259"/>
            <a:ext cx="1384744" cy="318646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4162550F-B340-0297-5EAD-36739FAD0F2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0462C1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0462C1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89213" y="6638266"/>
            <a:ext cx="32004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0462C1"/>
                </a:solidFill>
                <a:latin typeface="Arial"/>
                <a:cs typeface="Arial"/>
              </a:rPr>
              <a:t>4 –</a:t>
            </a:r>
            <a:r>
              <a:rPr sz="900" b="1" spc="-10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462C1"/>
                </a:solidFill>
                <a:latin typeface="Arial"/>
                <a:cs typeface="Arial"/>
              </a:rPr>
              <a:t>39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53183" y="818388"/>
            <a:ext cx="5490972" cy="4434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23466" y="661542"/>
            <a:ext cx="54978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Comparison </a:t>
            </a:r>
            <a:r>
              <a:rPr dirty="0"/>
              <a:t>of </a:t>
            </a:r>
            <a:r>
              <a:rPr spc="-5" dirty="0"/>
              <a:t>Forecast</a:t>
            </a:r>
            <a:r>
              <a:rPr spc="-30" dirty="0"/>
              <a:t> </a:t>
            </a:r>
            <a:r>
              <a:rPr dirty="0"/>
              <a:t>Error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93547" y="2441905"/>
            <a:ext cx="85216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latin typeface="Arial"/>
                <a:cs typeface="Arial"/>
              </a:rPr>
              <a:t>Quarter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18564" y="1975865"/>
            <a:ext cx="1071245" cy="76644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indent="2540" algn="ctr">
              <a:lnSpc>
                <a:spcPct val="85000"/>
              </a:lnSpc>
              <a:spcBef>
                <a:spcPts val="425"/>
              </a:spcBef>
            </a:pPr>
            <a:r>
              <a:rPr sz="1800" b="1" i="1" dirty="0">
                <a:latin typeface="Arial"/>
                <a:cs typeface="Arial"/>
              </a:rPr>
              <a:t>Actual  </a:t>
            </a:r>
            <a:r>
              <a:rPr sz="1800" b="1" i="1" spc="-10" dirty="0">
                <a:latin typeface="Arial"/>
                <a:cs typeface="Arial"/>
              </a:rPr>
              <a:t>Tonnage  </a:t>
            </a:r>
            <a:r>
              <a:rPr sz="1800" b="1" i="1" dirty="0">
                <a:latin typeface="Arial"/>
                <a:cs typeface="Arial"/>
              </a:rPr>
              <a:t>Unl</a:t>
            </a:r>
            <a:r>
              <a:rPr sz="1800" b="1" i="1" spc="5" dirty="0">
                <a:latin typeface="Arial"/>
                <a:cs typeface="Arial"/>
              </a:rPr>
              <a:t>o</a:t>
            </a:r>
            <a:r>
              <a:rPr sz="1800" b="1" i="1" dirty="0">
                <a:latin typeface="Arial"/>
                <a:cs typeface="Arial"/>
              </a:rPr>
              <a:t>ad</a:t>
            </a:r>
            <a:r>
              <a:rPr sz="1800" b="1" i="1" spc="5" dirty="0">
                <a:latin typeface="Arial"/>
                <a:cs typeface="Arial"/>
              </a:rPr>
              <a:t>e</a:t>
            </a:r>
            <a:r>
              <a:rPr sz="1800" b="1" i="1" dirty="0"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97479" y="1975865"/>
            <a:ext cx="981710" cy="766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989"/>
              </a:lnSpc>
              <a:spcBef>
                <a:spcPts val="100"/>
              </a:spcBef>
            </a:pPr>
            <a:r>
              <a:rPr sz="1800" b="1" i="1" dirty="0">
                <a:latin typeface="Arial"/>
                <a:cs typeface="Arial"/>
              </a:rPr>
              <a:t>F</a:t>
            </a:r>
            <a:r>
              <a:rPr sz="1800" b="1" i="1" spc="5" dirty="0">
                <a:latin typeface="Arial"/>
                <a:cs typeface="Arial"/>
              </a:rPr>
              <a:t>o</a:t>
            </a:r>
            <a:r>
              <a:rPr sz="1800" b="1" i="1" spc="-5" dirty="0">
                <a:latin typeface="Arial"/>
                <a:cs typeface="Arial"/>
              </a:rPr>
              <a:t>re</a:t>
            </a:r>
            <a:r>
              <a:rPr sz="1800" b="1" i="1" dirty="0">
                <a:latin typeface="Arial"/>
                <a:cs typeface="Arial"/>
              </a:rPr>
              <a:t>cast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ts val="1835"/>
              </a:lnSpc>
            </a:pPr>
            <a:r>
              <a:rPr sz="1800" b="1" i="1" spc="-5" dirty="0">
                <a:latin typeface="Arial"/>
                <a:cs typeface="Arial"/>
              </a:rPr>
              <a:t>with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ts val="2005"/>
              </a:lnSpc>
            </a:pPr>
            <a:r>
              <a:rPr sz="1800" b="1" dirty="0">
                <a:latin typeface="Symbol"/>
                <a:cs typeface="Symbol"/>
              </a:rPr>
              <a:t>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Arial"/>
                <a:cs typeface="Arial"/>
              </a:rPr>
              <a:t>= .10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81905" y="1740484"/>
            <a:ext cx="1057910" cy="10020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065" marR="5080" indent="2540" algn="ctr">
              <a:lnSpc>
                <a:spcPct val="85100"/>
              </a:lnSpc>
              <a:spcBef>
                <a:spcPts val="425"/>
              </a:spcBef>
            </a:pPr>
            <a:r>
              <a:rPr sz="1800" b="1" i="1" dirty="0">
                <a:latin typeface="Arial"/>
                <a:cs typeface="Arial"/>
              </a:rPr>
              <a:t>Absolute  </a:t>
            </a:r>
            <a:r>
              <a:rPr sz="1800" b="1" i="1" spc="-5" dirty="0">
                <a:latin typeface="Arial"/>
                <a:cs typeface="Arial"/>
              </a:rPr>
              <a:t>De</a:t>
            </a:r>
            <a:r>
              <a:rPr sz="1800" b="1" i="1" dirty="0">
                <a:latin typeface="Arial"/>
                <a:cs typeface="Arial"/>
              </a:rPr>
              <a:t>v</a:t>
            </a:r>
            <a:r>
              <a:rPr sz="1800" b="1" i="1" spc="-5" dirty="0">
                <a:latin typeface="Arial"/>
                <a:cs typeface="Arial"/>
              </a:rPr>
              <a:t>i</a:t>
            </a:r>
            <a:r>
              <a:rPr sz="1800" b="1" i="1" dirty="0">
                <a:latin typeface="Arial"/>
                <a:cs typeface="Arial"/>
              </a:rPr>
              <a:t>ati</a:t>
            </a:r>
            <a:r>
              <a:rPr sz="1800" b="1" i="1" spc="5" dirty="0">
                <a:latin typeface="Arial"/>
                <a:cs typeface="Arial"/>
              </a:rPr>
              <a:t>o</a:t>
            </a:r>
            <a:r>
              <a:rPr sz="1800" b="1" i="1" dirty="0">
                <a:latin typeface="Arial"/>
                <a:cs typeface="Arial"/>
              </a:rPr>
              <a:t>n  for</a:t>
            </a:r>
            <a:endParaRPr sz="1800">
              <a:latin typeface="Arial"/>
              <a:cs typeface="Arial"/>
            </a:endParaRPr>
          </a:p>
          <a:p>
            <a:pPr marL="3175" algn="ctr">
              <a:lnSpc>
                <a:spcPts val="1850"/>
              </a:lnSpc>
            </a:pPr>
            <a:r>
              <a:rPr sz="1800" b="1" dirty="0">
                <a:latin typeface="Symbol"/>
                <a:cs typeface="Symbol"/>
              </a:rPr>
              <a:t>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.10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57391" y="1975865"/>
            <a:ext cx="981710" cy="766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989"/>
              </a:lnSpc>
              <a:spcBef>
                <a:spcPts val="100"/>
              </a:spcBef>
            </a:pPr>
            <a:r>
              <a:rPr sz="1800" b="1" i="1" dirty="0">
                <a:latin typeface="Arial"/>
                <a:cs typeface="Arial"/>
              </a:rPr>
              <a:t>F</a:t>
            </a:r>
            <a:r>
              <a:rPr sz="1800" b="1" i="1" spc="5" dirty="0">
                <a:latin typeface="Arial"/>
                <a:cs typeface="Arial"/>
              </a:rPr>
              <a:t>o</a:t>
            </a:r>
            <a:r>
              <a:rPr sz="1800" b="1" i="1" spc="-5" dirty="0">
                <a:latin typeface="Arial"/>
                <a:cs typeface="Arial"/>
              </a:rPr>
              <a:t>re</a:t>
            </a:r>
            <a:r>
              <a:rPr sz="1800" b="1" i="1" dirty="0">
                <a:latin typeface="Arial"/>
                <a:cs typeface="Arial"/>
              </a:rPr>
              <a:t>cast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ts val="1835"/>
              </a:lnSpc>
            </a:pPr>
            <a:r>
              <a:rPr sz="1800" b="1" i="1" spc="-5" dirty="0">
                <a:latin typeface="Arial"/>
                <a:cs typeface="Arial"/>
              </a:rPr>
              <a:t>with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ts val="2005"/>
              </a:lnSpc>
            </a:pPr>
            <a:r>
              <a:rPr sz="1800" b="1" dirty="0">
                <a:latin typeface="Symbol"/>
                <a:cs typeface="Symbol"/>
              </a:rPr>
              <a:t>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.50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41818" y="1740484"/>
            <a:ext cx="1057910" cy="10020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065" marR="5080" indent="-3810" algn="ctr">
              <a:lnSpc>
                <a:spcPct val="85100"/>
              </a:lnSpc>
              <a:spcBef>
                <a:spcPts val="425"/>
              </a:spcBef>
            </a:pPr>
            <a:r>
              <a:rPr sz="1800" b="1" i="1" dirty="0">
                <a:latin typeface="Arial"/>
                <a:cs typeface="Arial"/>
              </a:rPr>
              <a:t>Absolute  </a:t>
            </a:r>
            <a:r>
              <a:rPr sz="1800" b="1" i="1" spc="-5" dirty="0">
                <a:latin typeface="Arial"/>
                <a:cs typeface="Arial"/>
              </a:rPr>
              <a:t>De</a:t>
            </a:r>
            <a:r>
              <a:rPr sz="1800" b="1" i="1" dirty="0">
                <a:latin typeface="Arial"/>
                <a:cs typeface="Arial"/>
              </a:rPr>
              <a:t>v</a:t>
            </a:r>
            <a:r>
              <a:rPr sz="1800" b="1" i="1" spc="-5" dirty="0">
                <a:latin typeface="Arial"/>
                <a:cs typeface="Arial"/>
              </a:rPr>
              <a:t>i</a:t>
            </a:r>
            <a:r>
              <a:rPr sz="1800" b="1" i="1" dirty="0">
                <a:latin typeface="Arial"/>
                <a:cs typeface="Arial"/>
              </a:rPr>
              <a:t>ati</a:t>
            </a:r>
            <a:r>
              <a:rPr sz="1800" b="1" i="1" spc="5" dirty="0">
                <a:latin typeface="Arial"/>
                <a:cs typeface="Arial"/>
              </a:rPr>
              <a:t>o</a:t>
            </a:r>
            <a:r>
              <a:rPr sz="1800" b="1" i="1" dirty="0">
                <a:latin typeface="Arial"/>
                <a:cs typeface="Arial"/>
              </a:rPr>
              <a:t>n  for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ts val="1850"/>
              </a:lnSpc>
            </a:pPr>
            <a:r>
              <a:rPr sz="1800" b="1" dirty="0">
                <a:latin typeface="Symbol"/>
                <a:cs typeface="Symbol"/>
              </a:rPr>
              <a:t>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.50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86740" y="1805939"/>
            <a:ext cx="7988934" cy="3465829"/>
          </a:xfrm>
          <a:custGeom>
            <a:avLst/>
            <a:gdLst/>
            <a:ahLst/>
            <a:cxnLst/>
            <a:rect l="l" t="t" r="r" b="b"/>
            <a:pathLst>
              <a:path w="7988934" h="3465829">
                <a:moveTo>
                  <a:pt x="0" y="978408"/>
                </a:moveTo>
                <a:lnTo>
                  <a:pt x="7988808" y="978408"/>
                </a:lnTo>
              </a:path>
              <a:path w="7988934" h="3465829">
                <a:moveTo>
                  <a:pt x="2386584" y="0"/>
                </a:moveTo>
                <a:lnTo>
                  <a:pt x="2386584" y="3465576"/>
                </a:lnTo>
              </a:path>
              <a:path w="7988934" h="3465829">
                <a:moveTo>
                  <a:pt x="5257800" y="0"/>
                </a:moveTo>
                <a:lnTo>
                  <a:pt x="5257800" y="3465576"/>
                </a:lnTo>
              </a:path>
            </a:pathLst>
          </a:custGeom>
          <a:ln w="39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882345" y="2784348"/>
          <a:ext cx="7272654" cy="28672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6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24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77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800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L="48133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180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175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R="629285" algn="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5.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L="36830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175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5.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905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990">
                <a:tc>
                  <a:txBody>
                    <a:bodyPr/>
                    <a:lstStyle/>
                    <a:p>
                      <a:pPr marL="31750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1330">
                        <a:lnSpc>
                          <a:spcPts val="2290"/>
                        </a:lnSpc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168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ts val="2290"/>
                        </a:lnSpc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175.5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29285" algn="r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7.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0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177.50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9.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990">
                <a:tc>
                  <a:txBody>
                    <a:bodyPr/>
                    <a:lstStyle/>
                    <a:p>
                      <a:pPr marL="31750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1330">
                        <a:lnSpc>
                          <a:spcPts val="2290"/>
                        </a:lnSpc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159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174.75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28650" algn="r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.75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0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172.75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8740" algn="r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13.75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662">
                <a:tc>
                  <a:txBody>
                    <a:bodyPr/>
                    <a:lstStyle/>
                    <a:p>
                      <a:pPr marL="31750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1330">
                        <a:lnSpc>
                          <a:spcPts val="2290"/>
                        </a:lnSpc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175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173.18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29285" algn="r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1.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8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0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165.88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9.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097">
                <a:tc>
                  <a:txBody>
                    <a:bodyPr/>
                    <a:lstStyle/>
                    <a:p>
                      <a:pPr marL="31750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1330">
                        <a:lnSpc>
                          <a:spcPts val="2290"/>
                        </a:lnSpc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190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173.36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29285" algn="r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0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170.44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8740" algn="r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19.56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56">
                <a:tc>
                  <a:txBody>
                    <a:bodyPr/>
                    <a:lstStyle/>
                    <a:p>
                      <a:pPr marL="31750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1330">
                        <a:lnSpc>
                          <a:spcPts val="2290"/>
                        </a:lnSpc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205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175.02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28650" algn="r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9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.98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0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180.22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8740" algn="r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24.78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5097">
                <a:tc>
                  <a:txBody>
                    <a:bodyPr/>
                    <a:lstStyle/>
                    <a:p>
                      <a:pPr marL="31750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7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1330">
                        <a:lnSpc>
                          <a:spcPts val="2290"/>
                        </a:lnSpc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180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178.02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28650" algn="r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98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0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192.61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8740" algn="r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12.61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9193">
                <a:tc>
                  <a:txBody>
                    <a:bodyPr/>
                    <a:lstStyle/>
                    <a:p>
                      <a:pPr marL="31750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1330">
                        <a:lnSpc>
                          <a:spcPts val="2290"/>
                        </a:lnSpc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182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178.22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29285" algn="r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3.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0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186.30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4.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49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29285" algn="r">
                        <a:lnSpc>
                          <a:spcPts val="2325"/>
                        </a:lnSpc>
                        <a:spcBef>
                          <a:spcPts val="254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8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4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T w="539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8740" algn="r">
                        <a:lnSpc>
                          <a:spcPts val="2325"/>
                        </a:lnSpc>
                        <a:spcBef>
                          <a:spcPts val="254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98.62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T w="539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" name="object 14"/>
          <p:cNvSpPr/>
          <p:nvPr/>
        </p:nvSpPr>
        <p:spPr>
          <a:xfrm>
            <a:off x="0" y="6504431"/>
            <a:ext cx="1801495" cy="353695"/>
          </a:xfrm>
          <a:custGeom>
            <a:avLst/>
            <a:gdLst/>
            <a:ahLst/>
            <a:cxnLst/>
            <a:rect l="l" t="t" r="r" b="b"/>
            <a:pathLst>
              <a:path w="1801495" h="353695">
                <a:moveTo>
                  <a:pt x="1801368" y="0"/>
                </a:moveTo>
                <a:lnTo>
                  <a:pt x="0" y="0"/>
                </a:lnTo>
                <a:lnTo>
                  <a:pt x="0" y="353568"/>
                </a:lnTo>
                <a:lnTo>
                  <a:pt x="1801368" y="353568"/>
                </a:lnTo>
                <a:lnTo>
                  <a:pt x="18013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327392" y="6504431"/>
            <a:ext cx="1804670" cy="353695"/>
          </a:xfrm>
          <a:custGeom>
            <a:avLst/>
            <a:gdLst/>
            <a:ahLst/>
            <a:cxnLst/>
            <a:rect l="l" t="t" r="r" b="b"/>
            <a:pathLst>
              <a:path w="1804670" h="353695">
                <a:moveTo>
                  <a:pt x="1804416" y="0"/>
                </a:moveTo>
                <a:lnTo>
                  <a:pt x="0" y="0"/>
                </a:lnTo>
                <a:lnTo>
                  <a:pt x="0" y="353568"/>
                </a:lnTo>
                <a:lnTo>
                  <a:pt x="1804416" y="353568"/>
                </a:lnTo>
                <a:lnTo>
                  <a:pt x="18044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B034AAE-2E27-A13E-094F-E40D6B87C65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3399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0462C1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0462C1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89213" y="6638266"/>
            <a:ext cx="32004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0462C1"/>
                </a:solidFill>
                <a:latin typeface="Arial"/>
                <a:cs typeface="Arial"/>
              </a:rPr>
              <a:t>4 –</a:t>
            </a:r>
            <a:r>
              <a:rPr sz="900" b="1" spc="-10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462C1"/>
                </a:solidFill>
                <a:latin typeface="Arial"/>
                <a:cs typeface="Arial"/>
              </a:rPr>
              <a:t>40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00178" y="819911"/>
            <a:ext cx="4920817" cy="3886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64844" y="672541"/>
            <a:ext cx="4942205" cy="5308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300" spc="-125" dirty="0">
                <a:latin typeface="Trebuchet MS"/>
                <a:cs typeface="Trebuchet MS"/>
              </a:rPr>
              <a:t>Comparison </a:t>
            </a:r>
            <a:r>
              <a:rPr sz="3300" spc="-140" dirty="0">
                <a:latin typeface="Trebuchet MS"/>
                <a:cs typeface="Trebuchet MS"/>
              </a:rPr>
              <a:t>of </a:t>
            </a:r>
            <a:r>
              <a:rPr sz="3300" spc="-180" dirty="0">
                <a:latin typeface="Trebuchet MS"/>
                <a:cs typeface="Trebuchet MS"/>
              </a:rPr>
              <a:t>Forecast</a:t>
            </a:r>
            <a:r>
              <a:rPr sz="3300" spc="-660" dirty="0">
                <a:latin typeface="Trebuchet MS"/>
                <a:cs typeface="Trebuchet MS"/>
              </a:rPr>
              <a:t> </a:t>
            </a:r>
            <a:r>
              <a:rPr sz="3300" spc="-140" dirty="0">
                <a:latin typeface="Trebuchet MS"/>
                <a:cs typeface="Trebuchet MS"/>
              </a:rPr>
              <a:t>Error</a:t>
            </a:r>
            <a:endParaRPr sz="33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60248" y="1820060"/>
            <a:ext cx="8190230" cy="1082040"/>
            <a:chOff x="460248" y="1820060"/>
            <a:chExt cx="8190230" cy="1082040"/>
          </a:xfrm>
        </p:grpSpPr>
        <p:sp>
          <p:nvSpPr>
            <p:cNvPr id="7" name="object 7"/>
            <p:cNvSpPr/>
            <p:nvPr/>
          </p:nvSpPr>
          <p:spPr>
            <a:xfrm>
              <a:off x="3200218" y="1820060"/>
              <a:ext cx="1018363" cy="18800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63240" y="1917192"/>
              <a:ext cx="1264919" cy="51816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310127" y="2148840"/>
              <a:ext cx="768096" cy="51816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79064" y="2380488"/>
              <a:ext cx="454151" cy="51816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386327" y="2383536"/>
              <a:ext cx="826008" cy="51816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20768" y="1820060"/>
              <a:ext cx="1001267" cy="18800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447032" y="1917192"/>
              <a:ext cx="1341119" cy="51816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809744" y="2148840"/>
              <a:ext cx="615696" cy="51816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02480" y="2380488"/>
              <a:ext cx="454151" cy="51816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809744" y="2383536"/>
              <a:ext cx="826008" cy="51816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476571" y="1820060"/>
              <a:ext cx="1000088" cy="188004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306055" y="1917192"/>
              <a:ext cx="1344168" cy="51816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668767" y="2148840"/>
              <a:ext cx="615696" cy="51816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077524" y="2054756"/>
              <a:ext cx="981797" cy="188004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169151" y="2148840"/>
              <a:ext cx="768096" cy="51816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038088" y="2380488"/>
              <a:ext cx="454151" cy="51816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45351" y="2383536"/>
              <a:ext cx="826007" cy="518160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904779" y="2054756"/>
              <a:ext cx="734981" cy="188004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633728" y="2148840"/>
              <a:ext cx="1255776" cy="518160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60248" y="2383536"/>
              <a:ext cx="2478024" cy="518160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057391" y="1975865"/>
            <a:ext cx="981710" cy="766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989"/>
              </a:lnSpc>
              <a:spcBef>
                <a:spcPts val="100"/>
              </a:spcBef>
            </a:pPr>
            <a:r>
              <a:rPr sz="1800" b="1" i="1" dirty="0">
                <a:latin typeface="Arial"/>
                <a:cs typeface="Arial"/>
              </a:rPr>
              <a:t>F</a:t>
            </a:r>
            <a:r>
              <a:rPr sz="1800" b="1" i="1" spc="5" dirty="0">
                <a:latin typeface="Arial"/>
                <a:cs typeface="Arial"/>
              </a:rPr>
              <a:t>o</a:t>
            </a:r>
            <a:r>
              <a:rPr sz="1800" b="1" i="1" spc="-5" dirty="0">
                <a:latin typeface="Arial"/>
                <a:cs typeface="Arial"/>
              </a:rPr>
              <a:t>re</a:t>
            </a:r>
            <a:r>
              <a:rPr sz="1800" b="1" i="1" dirty="0">
                <a:latin typeface="Arial"/>
                <a:cs typeface="Arial"/>
              </a:rPr>
              <a:t>cast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ts val="1835"/>
              </a:lnSpc>
            </a:pPr>
            <a:r>
              <a:rPr sz="1800" b="1" i="1" spc="-5" dirty="0">
                <a:latin typeface="Arial"/>
                <a:cs typeface="Arial"/>
              </a:rPr>
              <a:t>with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ts val="2005"/>
              </a:lnSpc>
            </a:pPr>
            <a:r>
              <a:rPr sz="1800" b="1" dirty="0">
                <a:latin typeface="Symbol"/>
                <a:cs typeface="Symbol"/>
              </a:rPr>
              <a:t>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.50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458456" y="2380488"/>
            <a:ext cx="1036319" cy="521334"/>
            <a:chOff x="7458456" y="2380488"/>
            <a:chExt cx="1036319" cy="521334"/>
          </a:xfrm>
        </p:grpSpPr>
        <p:sp>
          <p:nvSpPr>
            <p:cNvPr id="29" name="object 29"/>
            <p:cNvSpPr/>
            <p:nvPr/>
          </p:nvSpPr>
          <p:spPr>
            <a:xfrm>
              <a:off x="7458456" y="2380488"/>
              <a:ext cx="454151" cy="51816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665720" y="2383536"/>
              <a:ext cx="829055" cy="518160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441818" y="1740484"/>
            <a:ext cx="1057910" cy="10020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065" marR="5080" indent="-3810" algn="ctr">
              <a:lnSpc>
                <a:spcPct val="85100"/>
              </a:lnSpc>
              <a:spcBef>
                <a:spcPts val="425"/>
              </a:spcBef>
            </a:pPr>
            <a:r>
              <a:rPr sz="1800" b="1" i="1" dirty="0">
                <a:latin typeface="Arial"/>
                <a:cs typeface="Arial"/>
              </a:rPr>
              <a:t>Absolute  </a:t>
            </a:r>
            <a:r>
              <a:rPr sz="1800" b="1" i="1" spc="-5" dirty="0">
                <a:latin typeface="Arial"/>
                <a:cs typeface="Arial"/>
              </a:rPr>
              <a:t>De</a:t>
            </a:r>
            <a:r>
              <a:rPr sz="1800" b="1" i="1" dirty="0">
                <a:latin typeface="Arial"/>
                <a:cs typeface="Arial"/>
              </a:rPr>
              <a:t>v</a:t>
            </a:r>
            <a:r>
              <a:rPr sz="1800" b="1" i="1" spc="-5" dirty="0">
                <a:latin typeface="Arial"/>
                <a:cs typeface="Arial"/>
              </a:rPr>
              <a:t>i</a:t>
            </a:r>
            <a:r>
              <a:rPr sz="1800" b="1" i="1" dirty="0">
                <a:latin typeface="Arial"/>
                <a:cs typeface="Arial"/>
              </a:rPr>
              <a:t>ati</a:t>
            </a:r>
            <a:r>
              <a:rPr sz="1800" b="1" i="1" spc="5" dirty="0">
                <a:latin typeface="Arial"/>
                <a:cs typeface="Arial"/>
              </a:rPr>
              <a:t>o</a:t>
            </a:r>
            <a:r>
              <a:rPr sz="1800" b="1" i="1" dirty="0">
                <a:latin typeface="Arial"/>
                <a:cs typeface="Arial"/>
              </a:rPr>
              <a:t>n  for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ts val="1850"/>
              </a:lnSpc>
            </a:pPr>
            <a:r>
              <a:rPr sz="1800" b="1" dirty="0">
                <a:latin typeface="Symbol"/>
                <a:cs typeface="Symbol"/>
              </a:rPr>
              <a:t>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.50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49808" y="2761488"/>
            <a:ext cx="7498080" cy="881380"/>
            <a:chOff x="749808" y="2761488"/>
            <a:chExt cx="7498080" cy="881380"/>
          </a:xfrm>
        </p:grpSpPr>
        <p:sp>
          <p:nvSpPr>
            <p:cNvPr id="33" name="object 33"/>
            <p:cNvSpPr/>
            <p:nvPr/>
          </p:nvSpPr>
          <p:spPr>
            <a:xfrm>
              <a:off x="3087624" y="2761488"/>
              <a:ext cx="771144" cy="576072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087624" y="3066288"/>
              <a:ext cx="981455" cy="576072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550663" y="2761488"/>
              <a:ext cx="838200" cy="576072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550663" y="3066288"/>
              <a:ext cx="838200" cy="576072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409688" y="2761488"/>
              <a:ext cx="838200" cy="576072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047231" y="2761488"/>
              <a:ext cx="771143" cy="576072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047231" y="3066288"/>
              <a:ext cx="1124712" cy="576072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49808" y="2761488"/>
              <a:ext cx="487680" cy="576072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853183" y="2761488"/>
              <a:ext cx="768095" cy="576072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49808" y="3066288"/>
              <a:ext cx="487680" cy="576072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853183" y="3066288"/>
              <a:ext cx="768095" cy="576072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200647" y="2831973"/>
            <a:ext cx="800100" cy="634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-10" dirty="0">
                <a:latin typeface="Arial"/>
                <a:cs typeface="Arial"/>
              </a:rPr>
              <a:t>175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latin typeface="Arial"/>
                <a:cs typeface="Arial"/>
              </a:rPr>
              <a:t>1</a:t>
            </a:r>
            <a:r>
              <a:rPr sz="2000" b="1" spc="-15" dirty="0">
                <a:latin typeface="Arial"/>
                <a:cs typeface="Arial"/>
              </a:rPr>
              <a:t>7</a:t>
            </a:r>
            <a:r>
              <a:rPr sz="2000" b="1" spc="-5" dirty="0">
                <a:latin typeface="Arial"/>
                <a:cs typeface="Arial"/>
              </a:rPr>
              <a:t>7.</a:t>
            </a:r>
            <a:r>
              <a:rPr sz="2000" b="1" spc="5" dirty="0">
                <a:latin typeface="Arial"/>
                <a:cs typeface="Arial"/>
              </a:rPr>
              <a:t>5</a:t>
            </a:r>
            <a:r>
              <a:rPr sz="2000" b="1" spc="-5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7409688" y="3066288"/>
            <a:ext cx="838200" cy="576072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7563739" y="2831973"/>
            <a:ext cx="516890" cy="634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-5" dirty="0">
                <a:latin typeface="Arial"/>
                <a:cs typeface="Arial"/>
              </a:rPr>
              <a:t>5.</a:t>
            </a:r>
            <a:r>
              <a:rPr sz="2000" b="1" spc="-15" dirty="0">
                <a:latin typeface="Arial"/>
                <a:cs typeface="Arial"/>
              </a:rPr>
              <a:t>0</a:t>
            </a:r>
            <a:r>
              <a:rPr sz="2000" b="1" spc="-5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latin typeface="Arial"/>
                <a:cs typeface="Arial"/>
              </a:rPr>
              <a:t>9.</a:t>
            </a:r>
            <a:r>
              <a:rPr sz="2000" b="1" spc="-15" dirty="0">
                <a:latin typeface="Arial"/>
                <a:cs typeface="Arial"/>
              </a:rPr>
              <a:t>5</a:t>
            </a:r>
            <a:r>
              <a:rPr sz="2000" b="1" spc="-5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06247" y="1774867"/>
            <a:ext cx="5020945" cy="320611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173480" indent="1411605" algn="just">
              <a:lnSpc>
                <a:spcPct val="85100"/>
              </a:lnSpc>
              <a:spcBef>
                <a:spcPts val="150"/>
              </a:spcBef>
              <a:tabLst>
                <a:tab pos="2850515" algn="l"/>
                <a:tab pos="4350385" algn="l"/>
              </a:tabLst>
            </a:pPr>
            <a:r>
              <a:rPr sz="1800" b="1" i="1" dirty="0">
                <a:latin typeface="Arial"/>
                <a:cs typeface="Arial"/>
              </a:rPr>
              <a:t>Rounded Absolute  Actual Forecast Deviation  </a:t>
            </a:r>
            <a:r>
              <a:rPr sz="1800" b="1" i="1" spc="-10" dirty="0">
                <a:latin typeface="Arial"/>
                <a:cs typeface="Arial"/>
              </a:rPr>
              <a:t>Tonnage	</a:t>
            </a:r>
            <a:r>
              <a:rPr sz="1800" b="1" i="1" spc="-5" dirty="0">
                <a:latin typeface="Arial"/>
                <a:cs typeface="Arial"/>
              </a:rPr>
              <a:t>with	</a:t>
            </a:r>
            <a:r>
              <a:rPr sz="1800" b="1" i="1" dirty="0">
                <a:latin typeface="Arial"/>
                <a:cs typeface="Arial"/>
              </a:rPr>
              <a:t>for</a:t>
            </a:r>
            <a:endParaRPr sz="1800">
              <a:latin typeface="Arial"/>
              <a:cs typeface="Arial"/>
            </a:endParaRPr>
          </a:p>
          <a:p>
            <a:pPr algn="just">
              <a:lnSpc>
                <a:spcPts val="1850"/>
              </a:lnSpc>
              <a:tabLst>
                <a:tab pos="4143375" algn="l"/>
              </a:tabLst>
            </a:pPr>
            <a:r>
              <a:rPr sz="1800" b="1" i="1" spc="-5" dirty="0">
                <a:latin typeface="Arial"/>
                <a:cs typeface="Arial"/>
              </a:rPr>
              <a:t>Quarter     </a:t>
            </a:r>
            <a:r>
              <a:rPr sz="1800" b="1" i="1" dirty="0">
                <a:latin typeface="Arial"/>
                <a:cs typeface="Arial"/>
              </a:rPr>
              <a:t>Unloaded         </a:t>
            </a:r>
            <a:r>
              <a:rPr sz="1800" b="1" dirty="0">
                <a:latin typeface="Symbol"/>
                <a:cs typeface="Symbol"/>
              </a:rPr>
              <a:t></a:t>
            </a:r>
            <a:r>
              <a:rPr sz="1800" b="1" spc="-2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.10	</a:t>
            </a:r>
            <a:r>
              <a:rPr sz="1800" b="1" dirty="0">
                <a:latin typeface="Symbol"/>
                <a:cs typeface="Symbol"/>
              </a:rPr>
              <a:t>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.10</a:t>
            </a:r>
            <a:endParaRPr sz="1800">
              <a:latin typeface="Arial"/>
              <a:cs typeface="Arial"/>
            </a:endParaRPr>
          </a:p>
          <a:p>
            <a:pPr marL="307340">
              <a:lnSpc>
                <a:spcPct val="100000"/>
              </a:lnSpc>
              <a:spcBef>
                <a:spcPts val="905"/>
              </a:spcBef>
              <a:tabLst>
                <a:tab pos="1410970" algn="l"/>
                <a:tab pos="2646045" algn="l"/>
                <a:tab pos="4109720" algn="l"/>
              </a:tabLst>
            </a:pPr>
            <a:r>
              <a:rPr sz="2000" b="1" spc="-5" dirty="0">
                <a:latin typeface="Arial"/>
                <a:cs typeface="Arial"/>
              </a:rPr>
              <a:t>1	</a:t>
            </a:r>
            <a:r>
              <a:rPr sz="2000" b="1" spc="-10" dirty="0">
                <a:latin typeface="Arial"/>
                <a:cs typeface="Arial"/>
              </a:rPr>
              <a:t>180	175	5.00</a:t>
            </a:r>
            <a:endParaRPr sz="2000">
              <a:latin typeface="Arial"/>
              <a:cs typeface="Arial"/>
            </a:endParaRPr>
          </a:p>
          <a:p>
            <a:pPr marL="307340">
              <a:lnSpc>
                <a:spcPct val="100000"/>
              </a:lnSpc>
              <a:tabLst>
                <a:tab pos="1410970" algn="l"/>
                <a:tab pos="2646045" algn="l"/>
                <a:tab pos="4109720" algn="l"/>
              </a:tabLst>
            </a:pPr>
            <a:r>
              <a:rPr sz="2000" b="1" spc="-5" dirty="0">
                <a:latin typeface="Arial"/>
                <a:cs typeface="Arial"/>
              </a:rPr>
              <a:t>2	</a:t>
            </a:r>
            <a:r>
              <a:rPr sz="2000" b="1" spc="-10" dirty="0">
                <a:latin typeface="Arial"/>
                <a:cs typeface="Arial"/>
              </a:rPr>
              <a:t>168	175.5	7.50</a:t>
            </a:r>
            <a:endParaRPr sz="2000">
              <a:latin typeface="Arial"/>
              <a:cs typeface="Arial"/>
            </a:endParaRPr>
          </a:p>
          <a:p>
            <a:pPr marL="307340">
              <a:lnSpc>
                <a:spcPct val="100000"/>
              </a:lnSpc>
              <a:tabLst>
                <a:tab pos="1410970" algn="l"/>
                <a:tab pos="2646045" algn="l"/>
                <a:tab pos="3969385" algn="l"/>
              </a:tabLst>
            </a:pPr>
            <a:r>
              <a:rPr sz="2000" b="1" spc="-5" dirty="0">
                <a:latin typeface="Arial"/>
                <a:cs typeface="Arial"/>
              </a:rPr>
              <a:t>3	</a:t>
            </a:r>
            <a:r>
              <a:rPr sz="2000" b="1" spc="-10" dirty="0">
                <a:latin typeface="Arial"/>
                <a:cs typeface="Arial"/>
              </a:rPr>
              <a:t>159	</a:t>
            </a:r>
            <a:r>
              <a:rPr sz="2000" b="1" spc="-5" dirty="0">
                <a:latin typeface="Arial"/>
                <a:cs typeface="Arial"/>
              </a:rPr>
              <a:t>174.75	</a:t>
            </a:r>
            <a:r>
              <a:rPr sz="2000" b="1" spc="-10" dirty="0">
                <a:latin typeface="Arial"/>
                <a:cs typeface="Arial"/>
              </a:rPr>
              <a:t>15.75</a:t>
            </a:r>
            <a:endParaRPr sz="2000">
              <a:latin typeface="Arial"/>
              <a:cs typeface="Arial"/>
            </a:endParaRPr>
          </a:p>
          <a:p>
            <a:pPr marL="307340">
              <a:lnSpc>
                <a:spcPct val="100000"/>
              </a:lnSpc>
              <a:tabLst>
                <a:tab pos="1410970" algn="l"/>
                <a:tab pos="2646045" algn="l"/>
                <a:tab pos="4109720" algn="l"/>
              </a:tabLst>
            </a:pPr>
            <a:r>
              <a:rPr sz="2000" b="1" spc="-5" dirty="0">
                <a:latin typeface="Arial"/>
                <a:cs typeface="Arial"/>
              </a:rPr>
              <a:t>4	</a:t>
            </a:r>
            <a:r>
              <a:rPr sz="2000" b="1" spc="-10" dirty="0">
                <a:latin typeface="Arial"/>
                <a:cs typeface="Arial"/>
              </a:rPr>
              <a:t>175	</a:t>
            </a:r>
            <a:r>
              <a:rPr sz="2000" b="1" spc="-5" dirty="0">
                <a:latin typeface="Arial"/>
                <a:cs typeface="Arial"/>
              </a:rPr>
              <a:t>173.18	</a:t>
            </a:r>
            <a:r>
              <a:rPr sz="2000" b="1" spc="-10" dirty="0">
                <a:latin typeface="Arial"/>
                <a:cs typeface="Arial"/>
              </a:rPr>
              <a:t>1.82</a:t>
            </a:r>
            <a:endParaRPr sz="2000">
              <a:latin typeface="Arial"/>
              <a:cs typeface="Arial"/>
            </a:endParaRPr>
          </a:p>
          <a:p>
            <a:pPr marL="307340">
              <a:lnSpc>
                <a:spcPct val="100000"/>
              </a:lnSpc>
              <a:tabLst>
                <a:tab pos="1410970" algn="l"/>
                <a:tab pos="2646045" algn="l"/>
                <a:tab pos="3969385" algn="l"/>
              </a:tabLst>
            </a:pPr>
            <a:r>
              <a:rPr sz="2000" b="1" spc="-5" dirty="0">
                <a:latin typeface="Arial"/>
                <a:cs typeface="Arial"/>
              </a:rPr>
              <a:t>5	</a:t>
            </a:r>
            <a:r>
              <a:rPr sz="2000" b="1" spc="-10" dirty="0">
                <a:latin typeface="Arial"/>
                <a:cs typeface="Arial"/>
              </a:rPr>
              <a:t>190	</a:t>
            </a:r>
            <a:r>
              <a:rPr sz="2000" b="1" spc="-5" dirty="0">
                <a:latin typeface="Arial"/>
                <a:cs typeface="Arial"/>
              </a:rPr>
              <a:t>173.36	</a:t>
            </a:r>
            <a:r>
              <a:rPr sz="2000" b="1" spc="-10" dirty="0">
                <a:latin typeface="Arial"/>
                <a:cs typeface="Arial"/>
              </a:rPr>
              <a:t>16.64</a:t>
            </a:r>
            <a:endParaRPr sz="2000">
              <a:latin typeface="Arial"/>
              <a:cs typeface="Arial"/>
            </a:endParaRPr>
          </a:p>
          <a:p>
            <a:pPr marL="307340">
              <a:lnSpc>
                <a:spcPct val="100000"/>
              </a:lnSpc>
              <a:spcBef>
                <a:spcPts val="5"/>
              </a:spcBef>
              <a:tabLst>
                <a:tab pos="1410970" algn="l"/>
                <a:tab pos="2646045" algn="l"/>
                <a:tab pos="3969385" algn="l"/>
              </a:tabLst>
            </a:pPr>
            <a:r>
              <a:rPr sz="2000" b="1" spc="-5" dirty="0">
                <a:latin typeface="Arial"/>
                <a:cs typeface="Arial"/>
              </a:rPr>
              <a:t>6	</a:t>
            </a:r>
            <a:r>
              <a:rPr sz="2000" b="1" spc="-10" dirty="0">
                <a:latin typeface="Arial"/>
                <a:cs typeface="Arial"/>
              </a:rPr>
              <a:t>205	</a:t>
            </a:r>
            <a:r>
              <a:rPr sz="2000" b="1" spc="-5" dirty="0">
                <a:latin typeface="Arial"/>
                <a:cs typeface="Arial"/>
              </a:rPr>
              <a:t>175.02	</a:t>
            </a:r>
            <a:r>
              <a:rPr sz="2000" b="1" spc="-10" dirty="0">
                <a:latin typeface="Arial"/>
                <a:cs typeface="Arial"/>
              </a:rPr>
              <a:t>29.98</a:t>
            </a:r>
            <a:endParaRPr sz="2000">
              <a:latin typeface="Arial"/>
              <a:cs typeface="Arial"/>
            </a:endParaRPr>
          </a:p>
          <a:p>
            <a:pPr marL="307340">
              <a:lnSpc>
                <a:spcPct val="100000"/>
              </a:lnSpc>
              <a:tabLst>
                <a:tab pos="1410970" algn="l"/>
                <a:tab pos="2646045" algn="l"/>
                <a:tab pos="4109720" algn="l"/>
              </a:tabLst>
            </a:pPr>
            <a:r>
              <a:rPr sz="2000" b="1" spc="-5" dirty="0">
                <a:latin typeface="Arial"/>
                <a:cs typeface="Arial"/>
              </a:rPr>
              <a:t>7	</a:t>
            </a:r>
            <a:r>
              <a:rPr sz="2000" b="1" spc="-10" dirty="0">
                <a:latin typeface="Arial"/>
                <a:cs typeface="Arial"/>
              </a:rPr>
              <a:t>180	</a:t>
            </a:r>
            <a:r>
              <a:rPr sz="2000" b="1" spc="-5" dirty="0">
                <a:latin typeface="Arial"/>
                <a:cs typeface="Arial"/>
              </a:rPr>
              <a:t>178.02	</a:t>
            </a:r>
            <a:r>
              <a:rPr sz="2000" b="1" spc="-10" dirty="0">
                <a:latin typeface="Arial"/>
                <a:cs typeface="Arial"/>
              </a:rPr>
              <a:t>1.98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749808" y="3371088"/>
            <a:ext cx="7498080" cy="1795780"/>
            <a:chOff x="749808" y="3371088"/>
            <a:chExt cx="7498080" cy="1795780"/>
          </a:xfrm>
        </p:grpSpPr>
        <p:sp>
          <p:nvSpPr>
            <p:cNvPr id="49" name="object 49"/>
            <p:cNvSpPr/>
            <p:nvPr/>
          </p:nvSpPr>
          <p:spPr>
            <a:xfrm>
              <a:off x="3087624" y="3371088"/>
              <a:ext cx="1124712" cy="576072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087624" y="3675888"/>
              <a:ext cx="1124712" cy="576072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087624" y="3980688"/>
              <a:ext cx="1124712" cy="576072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087624" y="4285488"/>
              <a:ext cx="1124712" cy="576072"/>
            </a:xfrm>
            <a:prstGeom prst="rect">
              <a:avLst/>
            </a:prstGeom>
            <a:blipFill>
              <a:blip r:embed="rId3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087624" y="4590288"/>
              <a:ext cx="1124712" cy="576072"/>
            </a:xfrm>
            <a:prstGeom prst="rect">
              <a:avLst/>
            </a:prstGeom>
            <a:blipFill>
              <a:blip r:embed="rId3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410455" y="3371088"/>
              <a:ext cx="978408" cy="576072"/>
            </a:xfrm>
            <a:prstGeom prst="rect">
              <a:avLst/>
            </a:prstGeom>
            <a:blipFill>
              <a:blip r:embed="rId3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550663" y="3675888"/>
              <a:ext cx="838200" cy="576072"/>
            </a:xfrm>
            <a:prstGeom prst="rect">
              <a:avLst/>
            </a:prstGeom>
            <a:blipFill>
              <a:blip r:embed="rId3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10455" y="3980688"/>
              <a:ext cx="978408" cy="576072"/>
            </a:xfrm>
            <a:prstGeom prst="rect">
              <a:avLst/>
            </a:prstGeom>
            <a:blipFill>
              <a:blip r:embed="rId3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10455" y="4285488"/>
              <a:ext cx="978408" cy="576072"/>
            </a:xfrm>
            <a:prstGeom prst="rect">
              <a:avLst/>
            </a:prstGeom>
            <a:blipFill>
              <a:blip r:embed="rId3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50663" y="4590288"/>
              <a:ext cx="838200" cy="576072"/>
            </a:xfrm>
            <a:prstGeom prst="rect">
              <a:avLst/>
            </a:prstGeom>
            <a:blipFill>
              <a:blip r:embed="rId3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269479" y="3371088"/>
              <a:ext cx="978407" cy="576072"/>
            </a:xfrm>
            <a:prstGeom prst="rect">
              <a:avLst/>
            </a:prstGeom>
            <a:blipFill>
              <a:blip r:embed="rId3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409688" y="3675888"/>
              <a:ext cx="838200" cy="576072"/>
            </a:xfrm>
            <a:prstGeom prst="rect">
              <a:avLst/>
            </a:prstGeom>
            <a:blipFill>
              <a:blip r:embed="rId4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269479" y="3980688"/>
              <a:ext cx="978407" cy="576072"/>
            </a:xfrm>
            <a:prstGeom prst="rect">
              <a:avLst/>
            </a:prstGeom>
            <a:blipFill>
              <a:blip r:embed="rId4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269479" y="4285488"/>
              <a:ext cx="978407" cy="576072"/>
            </a:xfrm>
            <a:prstGeom prst="rect">
              <a:avLst/>
            </a:prstGeom>
            <a:blipFill>
              <a:blip r:embed="rId4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047231" y="3371088"/>
              <a:ext cx="1124712" cy="576072"/>
            </a:xfrm>
            <a:prstGeom prst="rect">
              <a:avLst/>
            </a:prstGeom>
            <a:blipFill>
              <a:blip r:embed="rId4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047231" y="3675888"/>
              <a:ext cx="1124712" cy="576072"/>
            </a:xfrm>
            <a:prstGeom prst="rect">
              <a:avLst/>
            </a:prstGeom>
            <a:blipFill>
              <a:blip r:embed="rId4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047231" y="3980688"/>
              <a:ext cx="1124712" cy="576072"/>
            </a:xfrm>
            <a:prstGeom prst="rect">
              <a:avLst/>
            </a:prstGeom>
            <a:blipFill>
              <a:blip r:embed="rId4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047231" y="4285488"/>
              <a:ext cx="1124712" cy="576072"/>
            </a:xfrm>
            <a:prstGeom prst="rect">
              <a:avLst/>
            </a:prstGeom>
            <a:blipFill>
              <a:blip r:embed="rId4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49808" y="3371088"/>
              <a:ext cx="487680" cy="576072"/>
            </a:xfrm>
            <a:prstGeom prst="rect">
              <a:avLst/>
            </a:prstGeom>
            <a:blipFill>
              <a:blip r:embed="rId4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853183" y="3371088"/>
              <a:ext cx="768095" cy="576072"/>
            </a:xfrm>
            <a:prstGeom prst="rect">
              <a:avLst/>
            </a:prstGeom>
            <a:blipFill>
              <a:blip r:embed="rId4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749808" y="3675888"/>
              <a:ext cx="487680" cy="576072"/>
            </a:xfrm>
            <a:prstGeom prst="rect">
              <a:avLst/>
            </a:prstGeom>
            <a:blipFill>
              <a:blip r:embed="rId4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853183" y="3675888"/>
              <a:ext cx="768095" cy="576072"/>
            </a:xfrm>
            <a:prstGeom prst="rect">
              <a:avLst/>
            </a:prstGeom>
            <a:blipFill>
              <a:blip r:embed="rId5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749808" y="3980688"/>
              <a:ext cx="487680" cy="576072"/>
            </a:xfrm>
            <a:prstGeom prst="rect">
              <a:avLst/>
            </a:prstGeom>
            <a:blipFill>
              <a:blip r:embed="rId5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853183" y="3980688"/>
              <a:ext cx="768095" cy="576072"/>
            </a:xfrm>
            <a:prstGeom prst="rect">
              <a:avLst/>
            </a:prstGeom>
            <a:blipFill>
              <a:blip r:embed="rId5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749808" y="4285488"/>
              <a:ext cx="487680" cy="576072"/>
            </a:xfrm>
            <a:prstGeom prst="rect">
              <a:avLst/>
            </a:prstGeom>
            <a:blipFill>
              <a:blip r:embed="rId5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853183" y="4285488"/>
              <a:ext cx="768095" cy="576072"/>
            </a:xfrm>
            <a:prstGeom prst="rect">
              <a:avLst/>
            </a:prstGeom>
            <a:blipFill>
              <a:blip r:embed="rId5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749808" y="4590288"/>
              <a:ext cx="487680" cy="576072"/>
            </a:xfrm>
            <a:prstGeom prst="rect">
              <a:avLst/>
            </a:prstGeom>
            <a:blipFill>
              <a:blip r:embed="rId5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1853183" y="4590288"/>
              <a:ext cx="768095" cy="576072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7" name="object 77"/>
          <p:cNvGrpSpPr/>
          <p:nvPr/>
        </p:nvGrpSpPr>
        <p:grpSpPr>
          <a:xfrm>
            <a:off x="6047232" y="4590288"/>
            <a:ext cx="2200910" cy="576580"/>
            <a:chOff x="6047232" y="4590288"/>
            <a:chExt cx="2200910" cy="576580"/>
          </a:xfrm>
        </p:grpSpPr>
        <p:sp>
          <p:nvSpPr>
            <p:cNvPr id="78" name="object 78"/>
            <p:cNvSpPr/>
            <p:nvPr/>
          </p:nvSpPr>
          <p:spPr>
            <a:xfrm>
              <a:off x="7269480" y="4590288"/>
              <a:ext cx="978407" cy="576072"/>
            </a:xfrm>
            <a:prstGeom prst="rect">
              <a:avLst/>
            </a:prstGeom>
            <a:blipFill>
              <a:blip r:embed="rId5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6047232" y="4590288"/>
              <a:ext cx="1124712" cy="576072"/>
            </a:xfrm>
            <a:prstGeom prst="rect">
              <a:avLst/>
            </a:prstGeom>
            <a:blipFill>
              <a:blip r:embed="rId5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0" name="object 80"/>
          <p:cNvGraphicFramePr>
            <a:graphicFrameLocks noGrp="1"/>
          </p:cNvGraphicFramePr>
          <p:nvPr/>
        </p:nvGraphicFramePr>
        <p:xfrm>
          <a:off x="6181597" y="3478618"/>
          <a:ext cx="1917699" cy="15021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99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3715">
                <a:tc>
                  <a:txBody>
                    <a:bodyPr/>
                    <a:lstStyle/>
                    <a:p>
                      <a:pPr marL="31750">
                        <a:lnSpc>
                          <a:spcPts val="2205"/>
                        </a:lnSpc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172.75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205"/>
                        </a:lnSpc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13.75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662">
                <a:tc>
                  <a:txBody>
                    <a:bodyPr/>
                    <a:lstStyle/>
                    <a:p>
                      <a:pPr marL="31750">
                        <a:lnSpc>
                          <a:spcPts val="2290"/>
                        </a:lnSpc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165.88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290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9.</a:t>
                      </a:r>
                      <a:r>
                        <a:rPr sz="2000" b="1" spc="-1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097">
                <a:tc>
                  <a:txBody>
                    <a:bodyPr/>
                    <a:lstStyle/>
                    <a:p>
                      <a:pPr marL="31750">
                        <a:lnSpc>
                          <a:spcPts val="2290"/>
                        </a:lnSpc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170.44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290"/>
                        </a:lnSpc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19.56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56">
                <a:tc>
                  <a:txBody>
                    <a:bodyPr/>
                    <a:lstStyle/>
                    <a:p>
                      <a:pPr marL="31750">
                        <a:lnSpc>
                          <a:spcPts val="2290"/>
                        </a:lnSpc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180.22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290"/>
                        </a:lnSpc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24.78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7">
                <a:tc>
                  <a:txBody>
                    <a:bodyPr/>
                    <a:lstStyle/>
                    <a:p>
                      <a:pPr marL="31750">
                        <a:lnSpc>
                          <a:spcPts val="2215"/>
                        </a:lnSpc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192.61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215"/>
                        </a:lnSpc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12.61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1" name="object 81"/>
          <p:cNvSpPr/>
          <p:nvPr/>
        </p:nvSpPr>
        <p:spPr>
          <a:xfrm>
            <a:off x="749808" y="4895088"/>
            <a:ext cx="487680" cy="576072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901395" y="4966461"/>
            <a:ext cx="16637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-5" dirty="0">
                <a:latin typeface="Arial"/>
                <a:cs typeface="Arial"/>
              </a:rPr>
              <a:t>8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1853183" y="4895088"/>
            <a:ext cx="5318760" cy="576580"/>
            <a:chOff x="1853183" y="4895088"/>
            <a:chExt cx="5318760" cy="576580"/>
          </a:xfrm>
        </p:grpSpPr>
        <p:sp>
          <p:nvSpPr>
            <p:cNvPr id="84" name="object 84"/>
            <p:cNvSpPr/>
            <p:nvPr/>
          </p:nvSpPr>
          <p:spPr>
            <a:xfrm>
              <a:off x="3087623" y="4895088"/>
              <a:ext cx="1124712" cy="576072"/>
            </a:xfrm>
            <a:prstGeom prst="rect">
              <a:avLst/>
            </a:prstGeom>
            <a:blipFill>
              <a:blip r:embed="rId5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550663" y="4895088"/>
              <a:ext cx="838200" cy="576072"/>
            </a:xfrm>
            <a:prstGeom prst="rect">
              <a:avLst/>
            </a:prstGeom>
            <a:blipFill>
              <a:blip r:embed="rId6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6047231" y="4895088"/>
              <a:ext cx="1124712" cy="576072"/>
            </a:xfrm>
            <a:prstGeom prst="rect">
              <a:avLst/>
            </a:prstGeom>
            <a:blipFill>
              <a:blip r:embed="rId6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1853183" y="4895088"/>
              <a:ext cx="768095" cy="576072"/>
            </a:xfrm>
            <a:prstGeom prst="rect">
              <a:avLst/>
            </a:prstGeom>
            <a:blipFill>
              <a:blip r:embed="rId6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8" name="object 88"/>
          <p:cNvSpPr txBox="1"/>
          <p:nvPr/>
        </p:nvSpPr>
        <p:spPr>
          <a:xfrm>
            <a:off x="6200647" y="4966461"/>
            <a:ext cx="80010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-5" dirty="0">
                <a:latin typeface="Arial"/>
                <a:cs typeface="Arial"/>
              </a:rPr>
              <a:t>1</a:t>
            </a:r>
            <a:r>
              <a:rPr sz="2000" b="1" spc="-15" dirty="0">
                <a:latin typeface="Arial"/>
                <a:cs typeface="Arial"/>
              </a:rPr>
              <a:t>8</a:t>
            </a:r>
            <a:r>
              <a:rPr sz="2000" b="1" spc="-5" dirty="0">
                <a:latin typeface="Arial"/>
                <a:cs typeface="Arial"/>
              </a:rPr>
              <a:t>6.</a:t>
            </a:r>
            <a:r>
              <a:rPr sz="2000" b="1" spc="5" dirty="0">
                <a:latin typeface="Arial"/>
                <a:cs typeface="Arial"/>
              </a:rPr>
              <a:t>3</a:t>
            </a:r>
            <a:r>
              <a:rPr sz="2000" b="1" spc="-5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7409688" y="4895088"/>
            <a:ext cx="838200" cy="576072"/>
          </a:xfrm>
          <a:prstGeom prst="rect">
            <a:avLst/>
          </a:prstGeom>
          <a:blipFill>
            <a:blip r:embed="rId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 txBox="1"/>
          <p:nvPr/>
        </p:nvSpPr>
        <p:spPr>
          <a:xfrm>
            <a:off x="7563739" y="4966461"/>
            <a:ext cx="51689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-5" dirty="0">
                <a:latin typeface="Arial"/>
                <a:cs typeface="Arial"/>
              </a:rPr>
              <a:t>4.</a:t>
            </a:r>
            <a:r>
              <a:rPr sz="2000" b="1" spc="-15" dirty="0">
                <a:latin typeface="Arial"/>
                <a:cs typeface="Arial"/>
              </a:rPr>
              <a:t>3</a:t>
            </a:r>
            <a:r>
              <a:rPr sz="2000" b="1" spc="-5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4410455" y="5260847"/>
            <a:ext cx="3837940" cy="576580"/>
            <a:chOff x="4410455" y="5260847"/>
            <a:chExt cx="3837940" cy="576580"/>
          </a:xfrm>
        </p:grpSpPr>
        <p:sp>
          <p:nvSpPr>
            <p:cNvPr id="92" name="object 92"/>
            <p:cNvSpPr/>
            <p:nvPr/>
          </p:nvSpPr>
          <p:spPr>
            <a:xfrm>
              <a:off x="4410455" y="5260847"/>
              <a:ext cx="978408" cy="576072"/>
            </a:xfrm>
            <a:prstGeom prst="rect">
              <a:avLst/>
            </a:prstGeom>
            <a:blipFill>
              <a:blip r:embed="rId6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7269479" y="5260847"/>
              <a:ext cx="978407" cy="576072"/>
            </a:xfrm>
            <a:prstGeom prst="rect">
              <a:avLst/>
            </a:prstGeom>
            <a:blipFill>
              <a:blip r:embed="rId6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" name="object 94"/>
          <p:cNvSpPr txBox="1"/>
          <p:nvPr/>
        </p:nvSpPr>
        <p:spPr>
          <a:xfrm>
            <a:off x="7423150" y="5331967"/>
            <a:ext cx="65786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0" dirty="0">
                <a:latin typeface="Arial"/>
                <a:cs typeface="Arial"/>
              </a:rPr>
              <a:t>98.62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95" name="object 95"/>
          <p:cNvGrpSpPr/>
          <p:nvPr/>
        </p:nvGrpSpPr>
        <p:grpSpPr>
          <a:xfrm>
            <a:off x="493585" y="1051369"/>
            <a:ext cx="8101965" cy="4279900"/>
            <a:chOff x="493585" y="1051369"/>
            <a:chExt cx="8101965" cy="4279900"/>
          </a:xfrm>
        </p:grpSpPr>
        <p:sp>
          <p:nvSpPr>
            <p:cNvPr id="96" name="object 96"/>
            <p:cNvSpPr/>
            <p:nvPr/>
          </p:nvSpPr>
          <p:spPr>
            <a:xfrm>
              <a:off x="5811012" y="2784348"/>
              <a:ext cx="2764790" cy="0"/>
            </a:xfrm>
            <a:custGeom>
              <a:avLst/>
              <a:gdLst/>
              <a:ahLst/>
              <a:cxnLst/>
              <a:rect l="l" t="t" r="r" b="b"/>
              <a:pathLst>
                <a:path w="2764790">
                  <a:moveTo>
                    <a:pt x="0" y="0"/>
                  </a:moveTo>
                  <a:lnTo>
                    <a:pt x="2764536" y="0"/>
                  </a:lnTo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4549139" y="1805940"/>
              <a:ext cx="3606165" cy="3505200"/>
            </a:xfrm>
            <a:custGeom>
              <a:avLst/>
              <a:gdLst/>
              <a:ahLst/>
              <a:cxnLst/>
              <a:rect l="l" t="t" r="r" b="b"/>
              <a:pathLst>
                <a:path w="3606165" h="3505200">
                  <a:moveTo>
                    <a:pt x="0" y="3505200"/>
                  </a:moveTo>
                  <a:lnTo>
                    <a:pt x="749808" y="3505200"/>
                  </a:lnTo>
                </a:path>
                <a:path w="3606165" h="3505200">
                  <a:moveTo>
                    <a:pt x="2798064" y="3505200"/>
                  </a:moveTo>
                  <a:lnTo>
                    <a:pt x="3605784" y="3505200"/>
                  </a:lnTo>
                </a:path>
                <a:path w="3606165" h="3505200">
                  <a:moveTo>
                    <a:pt x="1295400" y="0"/>
                  </a:moveTo>
                  <a:lnTo>
                    <a:pt x="1295400" y="3465576"/>
                  </a:lnTo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2973324" y="4966716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h="304800">
                  <a:moveTo>
                    <a:pt x="0" y="0"/>
                  </a:moveTo>
                  <a:lnTo>
                    <a:pt x="0" y="304799"/>
                  </a:lnTo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498348" y="1056132"/>
              <a:ext cx="5313045" cy="3910965"/>
            </a:xfrm>
            <a:custGeom>
              <a:avLst/>
              <a:gdLst/>
              <a:ahLst/>
              <a:cxnLst/>
              <a:rect l="l" t="t" r="r" b="b"/>
              <a:pathLst>
                <a:path w="5313045" h="3910965">
                  <a:moveTo>
                    <a:pt x="5312664" y="0"/>
                  </a:moveTo>
                  <a:lnTo>
                    <a:pt x="0" y="0"/>
                  </a:lnTo>
                  <a:lnTo>
                    <a:pt x="0" y="3910584"/>
                  </a:lnTo>
                  <a:lnTo>
                    <a:pt x="5312664" y="3910584"/>
                  </a:lnTo>
                  <a:lnTo>
                    <a:pt x="5312664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498348" y="1056132"/>
              <a:ext cx="5313045" cy="3910965"/>
            </a:xfrm>
            <a:custGeom>
              <a:avLst/>
              <a:gdLst/>
              <a:ahLst/>
              <a:cxnLst/>
              <a:rect l="l" t="t" r="r" b="b"/>
              <a:pathLst>
                <a:path w="5313045" h="3910965">
                  <a:moveTo>
                    <a:pt x="0" y="3910584"/>
                  </a:moveTo>
                  <a:lnTo>
                    <a:pt x="5312664" y="3910584"/>
                  </a:lnTo>
                  <a:lnTo>
                    <a:pt x="5312664" y="0"/>
                  </a:lnTo>
                  <a:lnTo>
                    <a:pt x="0" y="0"/>
                  </a:lnTo>
                  <a:lnTo>
                    <a:pt x="0" y="391058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1" name="object 101"/>
          <p:cNvSpPr txBox="1"/>
          <p:nvPr/>
        </p:nvSpPr>
        <p:spPr>
          <a:xfrm>
            <a:off x="1244295" y="1735912"/>
            <a:ext cx="1026794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b="1" i="1" dirty="0">
                <a:latin typeface="Times New Roman"/>
                <a:cs typeface="Times New Roman"/>
              </a:rPr>
              <a:t>MAD</a:t>
            </a:r>
            <a:r>
              <a:rPr sz="2400" b="1" i="1" spc="80" dirty="0">
                <a:latin typeface="Times New Roman"/>
                <a:cs typeface="Times New Roman"/>
              </a:rPr>
              <a:t> </a:t>
            </a:r>
            <a:r>
              <a:rPr sz="2800" b="1" i="1" spc="5" dirty="0">
                <a:latin typeface="Arial"/>
                <a:cs typeface="Arial"/>
              </a:rPr>
              <a:t>=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2575686" y="1368440"/>
            <a:ext cx="1722755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77875" marR="5080" indent="-765810">
              <a:lnSpc>
                <a:spcPct val="125000"/>
              </a:lnSpc>
              <a:spcBef>
                <a:spcPts val="95"/>
              </a:spcBef>
            </a:pPr>
            <a:r>
              <a:rPr sz="2400" b="1" dirty="0">
                <a:latin typeface="Times New Roman"/>
                <a:cs typeface="Times New Roman"/>
              </a:rPr>
              <a:t>∑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|deviations|  </a:t>
            </a:r>
            <a:r>
              <a:rPr sz="2400" b="1" i="1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2540507" y="2034539"/>
            <a:ext cx="2377440" cy="0"/>
          </a:xfrm>
          <a:custGeom>
            <a:avLst/>
            <a:gdLst/>
            <a:ahLst/>
            <a:cxnLst/>
            <a:rect l="l" t="t" r="r" b="b"/>
            <a:pathLst>
              <a:path w="2377440">
                <a:moveTo>
                  <a:pt x="0" y="0"/>
                </a:moveTo>
                <a:lnTo>
                  <a:pt x="2377440" y="0"/>
                </a:lnTo>
              </a:path>
            </a:pathLst>
          </a:custGeom>
          <a:ln w="39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 txBox="1"/>
          <p:nvPr/>
        </p:nvSpPr>
        <p:spPr>
          <a:xfrm>
            <a:off x="1117498" y="2484146"/>
            <a:ext cx="4303395" cy="317754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2800" i="1" dirty="0">
                <a:latin typeface="Arial"/>
                <a:cs typeface="Arial"/>
              </a:rPr>
              <a:t>For </a:t>
            </a:r>
            <a:r>
              <a:rPr sz="2800" spc="5" dirty="0">
                <a:latin typeface="Symbol"/>
                <a:cs typeface="Symbol"/>
              </a:rPr>
              <a:t>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Arial"/>
                <a:cs typeface="Arial"/>
              </a:rPr>
              <a:t>=</a:t>
            </a:r>
            <a:r>
              <a:rPr sz="2800" spc="45" dirty="0">
                <a:latin typeface="Arial"/>
                <a:cs typeface="Arial"/>
              </a:rPr>
              <a:t> </a:t>
            </a:r>
            <a:r>
              <a:rPr sz="2800" spc="5" dirty="0">
                <a:latin typeface="Arial"/>
                <a:cs typeface="Arial"/>
              </a:rPr>
              <a:t>.10</a:t>
            </a:r>
            <a:endParaRPr sz="2800">
              <a:latin typeface="Arial"/>
              <a:cs typeface="Arial"/>
            </a:endParaRPr>
          </a:p>
          <a:p>
            <a:pPr marL="1498600">
              <a:lnSpc>
                <a:spcPct val="100000"/>
              </a:lnSpc>
              <a:spcBef>
                <a:spcPts val="560"/>
              </a:spcBef>
            </a:pPr>
            <a:r>
              <a:rPr sz="2800" dirty="0">
                <a:latin typeface="Arial"/>
                <a:cs typeface="Arial"/>
              </a:rPr>
              <a:t>= </a:t>
            </a:r>
            <a:r>
              <a:rPr sz="2800" spc="5" dirty="0">
                <a:latin typeface="Arial"/>
                <a:cs typeface="Arial"/>
              </a:rPr>
              <a:t>82.45/8 </a:t>
            </a:r>
            <a:r>
              <a:rPr sz="2800" dirty="0">
                <a:latin typeface="Arial"/>
                <a:cs typeface="Arial"/>
              </a:rPr>
              <a:t>=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10.31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2800" i="1" spc="-5" dirty="0">
                <a:latin typeface="Arial"/>
                <a:cs typeface="Arial"/>
              </a:rPr>
              <a:t>For </a:t>
            </a:r>
            <a:r>
              <a:rPr sz="2800" spc="5" dirty="0">
                <a:latin typeface="Symbol"/>
                <a:cs typeface="Symbol"/>
              </a:rPr>
              <a:t>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rial"/>
                <a:cs typeface="Arial"/>
              </a:rPr>
              <a:t>=</a:t>
            </a:r>
            <a:r>
              <a:rPr sz="2800" spc="55" dirty="0">
                <a:latin typeface="Arial"/>
                <a:cs typeface="Arial"/>
              </a:rPr>
              <a:t> </a:t>
            </a:r>
            <a:r>
              <a:rPr sz="2800" spc="5" dirty="0">
                <a:latin typeface="Arial"/>
                <a:cs typeface="Arial"/>
              </a:rPr>
              <a:t>.50</a:t>
            </a:r>
            <a:endParaRPr sz="2800">
              <a:latin typeface="Arial"/>
              <a:cs typeface="Arial"/>
            </a:endParaRPr>
          </a:p>
          <a:p>
            <a:pPr marL="1485900">
              <a:lnSpc>
                <a:spcPct val="100000"/>
              </a:lnSpc>
              <a:spcBef>
                <a:spcPts val="545"/>
              </a:spcBef>
            </a:pPr>
            <a:r>
              <a:rPr sz="2800" spc="5" dirty="0">
                <a:latin typeface="Arial"/>
                <a:cs typeface="Arial"/>
              </a:rPr>
              <a:t>= 98.62/8 =</a:t>
            </a:r>
            <a:r>
              <a:rPr sz="2800" spc="-160" dirty="0">
                <a:latin typeface="Arial"/>
                <a:cs typeface="Arial"/>
              </a:rPr>
              <a:t> </a:t>
            </a:r>
            <a:r>
              <a:rPr sz="2800" spc="5" dirty="0">
                <a:latin typeface="Arial"/>
                <a:cs typeface="Arial"/>
              </a:rPr>
              <a:t>12.33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450">
              <a:latin typeface="Arial"/>
              <a:cs typeface="Arial"/>
            </a:endParaRPr>
          </a:p>
          <a:p>
            <a:pPr marR="205104" algn="r">
              <a:lnSpc>
                <a:spcPct val="100000"/>
              </a:lnSpc>
              <a:tabLst>
                <a:tab pos="1234440" algn="l"/>
                <a:tab pos="2698115" algn="l"/>
              </a:tabLst>
            </a:pPr>
            <a:r>
              <a:rPr sz="2000" b="1" spc="-10" dirty="0">
                <a:latin typeface="Arial"/>
                <a:cs typeface="Arial"/>
              </a:rPr>
              <a:t>18</a:t>
            </a:r>
            <a:r>
              <a:rPr sz="2000" b="1" spc="-5" dirty="0">
                <a:latin typeface="Arial"/>
                <a:cs typeface="Arial"/>
              </a:rPr>
              <a:t>2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5" dirty="0">
                <a:latin typeface="Arial"/>
                <a:cs typeface="Arial"/>
              </a:rPr>
              <a:t>1</a:t>
            </a:r>
            <a:r>
              <a:rPr sz="2000" b="1" spc="-15" dirty="0">
                <a:latin typeface="Arial"/>
                <a:cs typeface="Arial"/>
              </a:rPr>
              <a:t>7</a:t>
            </a:r>
            <a:r>
              <a:rPr sz="2000" b="1" spc="-5" dirty="0">
                <a:latin typeface="Arial"/>
                <a:cs typeface="Arial"/>
              </a:rPr>
              <a:t>8.</a:t>
            </a:r>
            <a:r>
              <a:rPr sz="2000" b="1" spc="5" dirty="0">
                <a:latin typeface="Arial"/>
                <a:cs typeface="Arial"/>
              </a:rPr>
              <a:t>2</a:t>
            </a:r>
            <a:r>
              <a:rPr sz="2000" b="1" spc="-5" dirty="0">
                <a:latin typeface="Arial"/>
                <a:cs typeface="Arial"/>
              </a:rPr>
              <a:t>2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5" dirty="0">
                <a:latin typeface="Arial"/>
                <a:cs typeface="Arial"/>
              </a:rPr>
              <a:t>3.</a:t>
            </a:r>
            <a:r>
              <a:rPr sz="2000" b="1" spc="-15" dirty="0">
                <a:latin typeface="Arial"/>
                <a:cs typeface="Arial"/>
              </a:rPr>
              <a:t>7</a:t>
            </a:r>
            <a:r>
              <a:rPr sz="2000" b="1" spc="-5" dirty="0">
                <a:latin typeface="Arial"/>
                <a:cs typeface="Arial"/>
              </a:rPr>
              <a:t>8</a:t>
            </a:r>
            <a:endParaRPr sz="2000">
              <a:latin typeface="Arial"/>
              <a:cs typeface="Arial"/>
            </a:endParaRPr>
          </a:p>
          <a:p>
            <a:pPr marR="205104" algn="r">
              <a:lnSpc>
                <a:spcPct val="100000"/>
              </a:lnSpc>
              <a:spcBef>
                <a:spcPts val="480"/>
              </a:spcBef>
            </a:pPr>
            <a:r>
              <a:rPr sz="2000" b="1" spc="-5" dirty="0">
                <a:latin typeface="Arial"/>
                <a:cs typeface="Arial"/>
              </a:rPr>
              <a:t>8</a:t>
            </a:r>
            <a:r>
              <a:rPr sz="2000" b="1" spc="-15" dirty="0">
                <a:latin typeface="Arial"/>
                <a:cs typeface="Arial"/>
              </a:rPr>
              <a:t>2</a:t>
            </a:r>
            <a:r>
              <a:rPr sz="2000" b="1" spc="-5" dirty="0">
                <a:latin typeface="Arial"/>
                <a:cs typeface="Arial"/>
              </a:rPr>
              <a:t>.</a:t>
            </a:r>
            <a:r>
              <a:rPr sz="2000" b="1" spc="-15" dirty="0">
                <a:latin typeface="Arial"/>
                <a:cs typeface="Arial"/>
              </a:rPr>
              <a:t>4</a:t>
            </a:r>
            <a:r>
              <a:rPr sz="2000" b="1" spc="-5" dirty="0">
                <a:latin typeface="Arial"/>
                <a:cs typeface="Arial"/>
              </a:rPr>
              <a:t>5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5" name="object 105"/>
          <p:cNvSpPr/>
          <p:nvPr/>
        </p:nvSpPr>
        <p:spPr>
          <a:xfrm>
            <a:off x="0" y="6504431"/>
            <a:ext cx="1801495" cy="353695"/>
          </a:xfrm>
          <a:custGeom>
            <a:avLst/>
            <a:gdLst/>
            <a:ahLst/>
            <a:cxnLst/>
            <a:rect l="l" t="t" r="r" b="b"/>
            <a:pathLst>
              <a:path w="1801495" h="353695">
                <a:moveTo>
                  <a:pt x="1801368" y="0"/>
                </a:moveTo>
                <a:lnTo>
                  <a:pt x="0" y="0"/>
                </a:lnTo>
                <a:lnTo>
                  <a:pt x="0" y="353568"/>
                </a:lnTo>
                <a:lnTo>
                  <a:pt x="1801368" y="353568"/>
                </a:lnTo>
                <a:lnTo>
                  <a:pt x="18013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7327392" y="6504431"/>
            <a:ext cx="1804670" cy="353695"/>
          </a:xfrm>
          <a:custGeom>
            <a:avLst/>
            <a:gdLst/>
            <a:ahLst/>
            <a:cxnLst/>
            <a:rect l="l" t="t" r="r" b="b"/>
            <a:pathLst>
              <a:path w="1804670" h="353695">
                <a:moveTo>
                  <a:pt x="1804416" y="0"/>
                </a:moveTo>
                <a:lnTo>
                  <a:pt x="0" y="0"/>
                </a:lnTo>
                <a:lnTo>
                  <a:pt x="0" y="353568"/>
                </a:lnTo>
                <a:lnTo>
                  <a:pt x="1804416" y="353568"/>
                </a:lnTo>
                <a:lnTo>
                  <a:pt x="18044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Slide Number Placeholder 106">
            <a:extLst>
              <a:ext uri="{FF2B5EF4-FFF2-40B4-BE49-F238E27FC236}">
                <a16:creationId xmlns:a16="http://schemas.microsoft.com/office/drawing/2014/main" id="{69979F1A-3CF1-893C-7F94-911C1292182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0462C1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0462C1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89213" y="6638266"/>
            <a:ext cx="32004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0462C1"/>
                </a:solidFill>
                <a:latin typeface="Arial"/>
                <a:cs typeface="Arial"/>
              </a:rPr>
              <a:t>4 –</a:t>
            </a:r>
            <a:r>
              <a:rPr sz="900" b="1" spc="-10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462C1"/>
                </a:solidFill>
                <a:latin typeface="Arial"/>
                <a:cs typeface="Arial"/>
              </a:rPr>
              <a:t>41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00178" y="819911"/>
            <a:ext cx="4920817" cy="3886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64844" y="672541"/>
            <a:ext cx="4942205" cy="5308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300" spc="-125" dirty="0">
                <a:latin typeface="Trebuchet MS"/>
                <a:cs typeface="Trebuchet MS"/>
              </a:rPr>
              <a:t>Comparison </a:t>
            </a:r>
            <a:r>
              <a:rPr sz="3300" spc="-140" dirty="0">
                <a:latin typeface="Trebuchet MS"/>
                <a:cs typeface="Trebuchet MS"/>
              </a:rPr>
              <a:t>of </a:t>
            </a:r>
            <a:r>
              <a:rPr sz="3300" spc="-180" dirty="0">
                <a:latin typeface="Trebuchet MS"/>
                <a:cs typeface="Trebuchet MS"/>
              </a:rPr>
              <a:t>Forecast</a:t>
            </a:r>
            <a:r>
              <a:rPr sz="3300" spc="-660" dirty="0">
                <a:latin typeface="Trebuchet MS"/>
                <a:cs typeface="Trebuchet MS"/>
              </a:rPr>
              <a:t> </a:t>
            </a:r>
            <a:r>
              <a:rPr sz="3300" spc="-140" dirty="0">
                <a:latin typeface="Trebuchet MS"/>
                <a:cs typeface="Trebuchet MS"/>
              </a:rPr>
              <a:t>Error</a:t>
            </a:r>
            <a:endParaRPr sz="33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60248" y="1820060"/>
            <a:ext cx="8190230" cy="1082040"/>
            <a:chOff x="460248" y="1820060"/>
            <a:chExt cx="8190230" cy="1082040"/>
          </a:xfrm>
        </p:grpSpPr>
        <p:sp>
          <p:nvSpPr>
            <p:cNvPr id="7" name="object 7"/>
            <p:cNvSpPr/>
            <p:nvPr/>
          </p:nvSpPr>
          <p:spPr>
            <a:xfrm>
              <a:off x="3200218" y="1820060"/>
              <a:ext cx="1018363" cy="18800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63240" y="1917192"/>
              <a:ext cx="1264919" cy="51816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310127" y="2148840"/>
              <a:ext cx="768096" cy="51816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79064" y="2380488"/>
              <a:ext cx="454151" cy="51816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386327" y="2383536"/>
              <a:ext cx="826008" cy="51816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20768" y="1820060"/>
              <a:ext cx="1001267" cy="18800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447032" y="1917192"/>
              <a:ext cx="1341119" cy="51816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809744" y="2148840"/>
              <a:ext cx="615696" cy="51816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02480" y="2380488"/>
              <a:ext cx="454151" cy="51816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809744" y="2383536"/>
              <a:ext cx="826008" cy="51816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476571" y="1820060"/>
              <a:ext cx="1000088" cy="188004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306055" y="1917192"/>
              <a:ext cx="1344168" cy="51816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668767" y="2148840"/>
              <a:ext cx="615696" cy="51816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077524" y="2054756"/>
              <a:ext cx="981797" cy="188004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169151" y="2148840"/>
              <a:ext cx="768096" cy="51816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038088" y="2380488"/>
              <a:ext cx="454151" cy="51816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45351" y="2383536"/>
              <a:ext cx="826007" cy="518160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904779" y="2054756"/>
              <a:ext cx="734981" cy="188004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633728" y="2148840"/>
              <a:ext cx="1255776" cy="518160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60248" y="2383536"/>
              <a:ext cx="2478024" cy="518160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057391" y="1975865"/>
            <a:ext cx="981710" cy="766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989"/>
              </a:lnSpc>
              <a:spcBef>
                <a:spcPts val="100"/>
              </a:spcBef>
            </a:pPr>
            <a:r>
              <a:rPr sz="1800" b="1" i="1" dirty="0">
                <a:latin typeface="Arial"/>
                <a:cs typeface="Arial"/>
              </a:rPr>
              <a:t>F</a:t>
            </a:r>
            <a:r>
              <a:rPr sz="1800" b="1" i="1" spc="5" dirty="0">
                <a:latin typeface="Arial"/>
                <a:cs typeface="Arial"/>
              </a:rPr>
              <a:t>o</a:t>
            </a:r>
            <a:r>
              <a:rPr sz="1800" b="1" i="1" spc="-5" dirty="0">
                <a:latin typeface="Arial"/>
                <a:cs typeface="Arial"/>
              </a:rPr>
              <a:t>re</a:t>
            </a:r>
            <a:r>
              <a:rPr sz="1800" b="1" i="1" dirty="0">
                <a:latin typeface="Arial"/>
                <a:cs typeface="Arial"/>
              </a:rPr>
              <a:t>cast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ts val="1835"/>
              </a:lnSpc>
            </a:pPr>
            <a:r>
              <a:rPr sz="1800" b="1" i="1" spc="-5" dirty="0">
                <a:latin typeface="Arial"/>
                <a:cs typeface="Arial"/>
              </a:rPr>
              <a:t>with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ts val="2005"/>
              </a:lnSpc>
            </a:pPr>
            <a:r>
              <a:rPr sz="1800" b="1" dirty="0">
                <a:latin typeface="Symbol"/>
                <a:cs typeface="Symbol"/>
              </a:rPr>
              <a:t>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.50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458456" y="2380488"/>
            <a:ext cx="1036319" cy="521334"/>
            <a:chOff x="7458456" y="2380488"/>
            <a:chExt cx="1036319" cy="521334"/>
          </a:xfrm>
        </p:grpSpPr>
        <p:sp>
          <p:nvSpPr>
            <p:cNvPr id="29" name="object 29"/>
            <p:cNvSpPr/>
            <p:nvPr/>
          </p:nvSpPr>
          <p:spPr>
            <a:xfrm>
              <a:off x="7458456" y="2380488"/>
              <a:ext cx="454151" cy="51816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665720" y="2383536"/>
              <a:ext cx="829055" cy="518160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441818" y="1740484"/>
            <a:ext cx="1057910" cy="10020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065" marR="5080" indent="-3810" algn="ctr">
              <a:lnSpc>
                <a:spcPct val="85100"/>
              </a:lnSpc>
              <a:spcBef>
                <a:spcPts val="425"/>
              </a:spcBef>
            </a:pPr>
            <a:r>
              <a:rPr sz="1800" b="1" i="1" dirty="0">
                <a:latin typeface="Arial"/>
                <a:cs typeface="Arial"/>
              </a:rPr>
              <a:t>Absolute  </a:t>
            </a:r>
            <a:r>
              <a:rPr sz="1800" b="1" i="1" spc="-5" dirty="0">
                <a:latin typeface="Arial"/>
                <a:cs typeface="Arial"/>
              </a:rPr>
              <a:t>De</a:t>
            </a:r>
            <a:r>
              <a:rPr sz="1800" b="1" i="1" dirty="0">
                <a:latin typeface="Arial"/>
                <a:cs typeface="Arial"/>
              </a:rPr>
              <a:t>v</a:t>
            </a:r>
            <a:r>
              <a:rPr sz="1800" b="1" i="1" spc="-5" dirty="0">
                <a:latin typeface="Arial"/>
                <a:cs typeface="Arial"/>
              </a:rPr>
              <a:t>i</a:t>
            </a:r>
            <a:r>
              <a:rPr sz="1800" b="1" i="1" dirty="0">
                <a:latin typeface="Arial"/>
                <a:cs typeface="Arial"/>
              </a:rPr>
              <a:t>ati</a:t>
            </a:r>
            <a:r>
              <a:rPr sz="1800" b="1" i="1" spc="5" dirty="0">
                <a:latin typeface="Arial"/>
                <a:cs typeface="Arial"/>
              </a:rPr>
              <a:t>o</a:t>
            </a:r>
            <a:r>
              <a:rPr sz="1800" b="1" i="1" dirty="0">
                <a:latin typeface="Arial"/>
                <a:cs typeface="Arial"/>
              </a:rPr>
              <a:t>n  for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ts val="1850"/>
              </a:lnSpc>
            </a:pPr>
            <a:r>
              <a:rPr sz="1800" b="1" dirty="0">
                <a:latin typeface="Symbol"/>
                <a:cs typeface="Symbol"/>
              </a:rPr>
              <a:t>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.50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49808" y="2761488"/>
            <a:ext cx="7498080" cy="881380"/>
            <a:chOff x="749808" y="2761488"/>
            <a:chExt cx="7498080" cy="881380"/>
          </a:xfrm>
        </p:grpSpPr>
        <p:sp>
          <p:nvSpPr>
            <p:cNvPr id="33" name="object 33"/>
            <p:cNvSpPr/>
            <p:nvPr/>
          </p:nvSpPr>
          <p:spPr>
            <a:xfrm>
              <a:off x="3087624" y="2761488"/>
              <a:ext cx="771144" cy="576072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087624" y="3066288"/>
              <a:ext cx="981455" cy="576072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550663" y="2761488"/>
              <a:ext cx="838200" cy="576072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550663" y="3066288"/>
              <a:ext cx="838200" cy="576072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409688" y="2761488"/>
              <a:ext cx="838200" cy="576072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047231" y="2761488"/>
              <a:ext cx="771143" cy="576072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047231" y="3066288"/>
              <a:ext cx="1124712" cy="576072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49808" y="2761488"/>
              <a:ext cx="487680" cy="576072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853183" y="2761488"/>
              <a:ext cx="768095" cy="576072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49808" y="3066288"/>
              <a:ext cx="487680" cy="576072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853183" y="3066288"/>
              <a:ext cx="768095" cy="576072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200647" y="2831973"/>
            <a:ext cx="800100" cy="634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-10" dirty="0">
                <a:latin typeface="Arial"/>
                <a:cs typeface="Arial"/>
              </a:rPr>
              <a:t>175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latin typeface="Arial"/>
                <a:cs typeface="Arial"/>
              </a:rPr>
              <a:t>1</a:t>
            </a:r>
            <a:r>
              <a:rPr sz="2000" b="1" spc="-15" dirty="0">
                <a:latin typeface="Arial"/>
                <a:cs typeface="Arial"/>
              </a:rPr>
              <a:t>7</a:t>
            </a:r>
            <a:r>
              <a:rPr sz="2000" b="1" spc="-5" dirty="0">
                <a:latin typeface="Arial"/>
                <a:cs typeface="Arial"/>
              </a:rPr>
              <a:t>7.</a:t>
            </a:r>
            <a:r>
              <a:rPr sz="2000" b="1" spc="5" dirty="0">
                <a:latin typeface="Arial"/>
                <a:cs typeface="Arial"/>
              </a:rPr>
              <a:t>5</a:t>
            </a:r>
            <a:r>
              <a:rPr sz="2000" b="1" spc="-5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7409688" y="3066288"/>
            <a:ext cx="838200" cy="576072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7563739" y="2831973"/>
            <a:ext cx="516890" cy="634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-5" dirty="0">
                <a:latin typeface="Arial"/>
                <a:cs typeface="Arial"/>
              </a:rPr>
              <a:t>5.</a:t>
            </a:r>
            <a:r>
              <a:rPr sz="2000" b="1" spc="-15" dirty="0">
                <a:latin typeface="Arial"/>
                <a:cs typeface="Arial"/>
              </a:rPr>
              <a:t>0</a:t>
            </a:r>
            <a:r>
              <a:rPr sz="2000" b="1" spc="-5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latin typeface="Arial"/>
                <a:cs typeface="Arial"/>
              </a:rPr>
              <a:t>9.</a:t>
            </a:r>
            <a:r>
              <a:rPr sz="2000" b="1" spc="-15" dirty="0">
                <a:latin typeface="Arial"/>
                <a:cs typeface="Arial"/>
              </a:rPr>
              <a:t>5</a:t>
            </a:r>
            <a:r>
              <a:rPr sz="2000" b="1" spc="-5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06247" y="1774867"/>
            <a:ext cx="5020945" cy="320611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173480" indent="1411605" algn="just">
              <a:lnSpc>
                <a:spcPct val="85100"/>
              </a:lnSpc>
              <a:spcBef>
                <a:spcPts val="150"/>
              </a:spcBef>
              <a:tabLst>
                <a:tab pos="2850515" algn="l"/>
                <a:tab pos="4350385" algn="l"/>
              </a:tabLst>
            </a:pPr>
            <a:r>
              <a:rPr sz="1800" b="1" i="1" dirty="0">
                <a:latin typeface="Arial"/>
                <a:cs typeface="Arial"/>
              </a:rPr>
              <a:t>Rounded Absolute  Actual Forecast Deviation  </a:t>
            </a:r>
            <a:r>
              <a:rPr sz="1800" b="1" i="1" spc="-10" dirty="0">
                <a:latin typeface="Arial"/>
                <a:cs typeface="Arial"/>
              </a:rPr>
              <a:t>Tonnage	</a:t>
            </a:r>
            <a:r>
              <a:rPr sz="1800" b="1" i="1" spc="-5" dirty="0">
                <a:latin typeface="Arial"/>
                <a:cs typeface="Arial"/>
              </a:rPr>
              <a:t>with	</a:t>
            </a:r>
            <a:r>
              <a:rPr sz="1800" b="1" i="1" dirty="0">
                <a:latin typeface="Arial"/>
                <a:cs typeface="Arial"/>
              </a:rPr>
              <a:t>for</a:t>
            </a:r>
            <a:endParaRPr sz="1800">
              <a:latin typeface="Arial"/>
              <a:cs typeface="Arial"/>
            </a:endParaRPr>
          </a:p>
          <a:p>
            <a:pPr algn="just">
              <a:lnSpc>
                <a:spcPts val="1850"/>
              </a:lnSpc>
              <a:tabLst>
                <a:tab pos="4143375" algn="l"/>
              </a:tabLst>
            </a:pPr>
            <a:r>
              <a:rPr sz="1800" b="1" i="1" spc="-5" dirty="0">
                <a:latin typeface="Arial"/>
                <a:cs typeface="Arial"/>
              </a:rPr>
              <a:t>Quarter     </a:t>
            </a:r>
            <a:r>
              <a:rPr sz="1800" b="1" i="1" dirty="0">
                <a:latin typeface="Arial"/>
                <a:cs typeface="Arial"/>
              </a:rPr>
              <a:t>Unloaded         </a:t>
            </a:r>
            <a:r>
              <a:rPr sz="1800" b="1" dirty="0">
                <a:latin typeface="Symbol"/>
                <a:cs typeface="Symbol"/>
              </a:rPr>
              <a:t></a:t>
            </a:r>
            <a:r>
              <a:rPr sz="1800" b="1" spc="-2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.10	</a:t>
            </a:r>
            <a:r>
              <a:rPr sz="1800" b="1" dirty="0">
                <a:latin typeface="Symbol"/>
                <a:cs typeface="Symbol"/>
              </a:rPr>
              <a:t>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.10</a:t>
            </a:r>
            <a:endParaRPr sz="1800">
              <a:latin typeface="Arial"/>
              <a:cs typeface="Arial"/>
            </a:endParaRPr>
          </a:p>
          <a:p>
            <a:pPr marL="307340">
              <a:lnSpc>
                <a:spcPct val="100000"/>
              </a:lnSpc>
              <a:spcBef>
                <a:spcPts val="905"/>
              </a:spcBef>
              <a:tabLst>
                <a:tab pos="1410970" algn="l"/>
                <a:tab pos="2646045" algn="l"/>
                <a:tab pos="4109720" algn="l"/>
              </a:tabLst>
            </a:pPr>
            <a:r>
              <a:rPr sz="2000" b="1" spc="-5" dirty="0">
                <a:latin typeface="Arial"/>
                <a:cs typeface="Arial"/>
              </a:rPr>
              <a:t>1	</a:t>
            </a:r>
            <a:r>
              <a:rPr sz="2000" b="1" spc="-10" dirty="0">
                <a:latin typeface="Arial"/>
                <a:cs typeface="Arial"/>
              </a:rPr>
              <a:t>180	175	5.00</a:t>
            </a:r>
            <a:endParaRPr sz="2000">
              <a:latin typeface="Arial"/>
              <a:cs typeface="Arial"/>
            </a:endParaRPr>
          </a:p>
          <a:p>
            <a:pPr marL="307340">
              <a:lnSpc>
                <a:spcPct val="100000"/>
              </a:lnSpc>
              <a:tabLst>
                <a:tab pos="1410970" algn="l"/>
                <a:tab pos="2646045" algn="l"/>
                <a:tab pos="4109720" algn="l"/>
              </a:tabLst>
            </a:pPr>
            <a:r>
              <a:rPr sz="2000" b="1" spc="-5" dirty="0">
                <a:latin typeface="Arial"/>
                <a:cs typeface="Arial"/>
              </a:rPr>
              <a:t>2	</a:t>
            </a:r>
            <a:r>
              <a:rPr sz="2000" b="1" spc="-10" dirty="0">
                <a:latin typeface="Arial"/>
                <a:cs typeface="Arial"/>
              </a:rPr>
              <a:t>168	175.5	7.50</a:t>
            </a:r>
            <a:endParaRPr sz="2000">
              <a:latin typeface="Arial"/>
              <a:cs typeface="Arial"/>
            </a:endParaRPr>
          </a:p>
          <a:p>
            <a:pPr marL="307340">
              <a:lnSpc>
                <a:spcPct val="100000"/>
              </a:lnSpc>
              <a:tabLst>
                <a:tab pos="1410970" algn="l"/>
                <a:tab pos="2646045" algn="l"/>
                <a:tab pos="3969385" algn="l"/>
              </a:tabLst>
            </a:pPr>
            <a:r>
              <a:rPr sz="2000" b="1" spc="-5" dirty="0">
                <a:latin typeface="Arial"/>
                <a:cs typeface="Arial"/>
              </a:rPr>
              <a:t>3	</a:t>
            </a:r>
            <a:r>
              <a:rPr sz="2000" b="1" spc="-10" dirty="0">
                <a:latin typeface="Arial"/>
                <a:cs typeface="Arial"/>
              </a:rPr>
              <a:t>159	</a:t>
            </a:r>
            <a:r>
              <a:rPr sz="2000" b="1" spc="-5" dirty="0">
                <a:latin typeface="Arial"/>
                <a:cs typeface="Arial"/>
              </a:rPr>
              <a:t>174.75	</a:t>
            </a:r>
            <a:r>
              <a:rPr sz="2000" b="1" spc="-10" dirty="0">
                <a:latin typeface="Arial"/>
                <a:cs typeface="Arial"/>
              </a:rPr>
              <a:t>15.75</a:t>
            </a:r>
            <a:endParaRPr sz="2000">
              <a:latin typeface="Arial"/>
              <a:cs typeface="Arial"/>
            </a:endParaRPr>
          </a:p>
          <a:p>
            <a:pPr marL="307340">
              <a:lnSpc>
                <a:spcPct val="100000"/>
              </a:lnSpc>
              <a:tabLst>
                <a:tab pos="1410970" algn="l"/>
                <a:tab pos="2646045" algn="l"/>
                <a:tab pos="4109720" algn="l"/>
              </a:tabLst>
            </a:pPr>
            <a:r>
              <a:rPr sz="2000" b="1" spc="-5" dirty="0">
                <a:latin typeface="Arial"/>
                <a:cs typeface="Arial"/>
              </a:rPr>
              <a:t>4	</a:t>
            </a:r>
            <a:r>
              <a:rPr sz="2000" b="1" spc="-10" dirty="0">
                <a:latin typeface="Arial"/>
                <a:cs typeface="Arial"/>
              </a:rPr>
              <a:t>175	</a:t>
            </a:r>
            <a:r>
              <a:rPr sz="2000" b="1" spc="-5" dirty="0">
                <a:latin typeface="Arial"/>
                <a:cs typeface="Arial"/>
              </a:rPr>
              <a:t>173.18	</a:t>
            </a:r>
            <a:r>
              <a:rPr sz="2000" b="1" spc="-10" dirty="0">
                <a:latin typeface="Arial"/>
                <a:cs typeface="Arial"/>
              </a:rPr>
              <a:t>1.82</a:t>
            </a:r>
            <a:endParaRPr sz="2000">
              <a:latin typeface="Arial"/>
              <a:cs typeface="Arial"/>
            </a:endParaRPr>
          </a:p>
          <a:p>
            <a:pPr marL="307340">
              <a:lnSpc>
                <a:spcPct val="100000"/>
              </a:lnSpc>
              <a:tabLst>
                <a:tab pos="1410970" algn="l"/>
                <a:tab pos="2646045" algn="l"/>
                <a:tab pos="3969385" algn="l"/>
              </a:tabLst>
            </a:pPr>
            <a:r>
              <a:rPr sz="2000" b="1" spc="-5" dirty="0">
                <a:latin typeface="Arial"/>
                <a:cs typeface="Arial"/>
              </a:rPr>
              <a:t>5	</a:t>
            </a:r>
            <a:r>
              <a:rPr sz="2000" b="1" spc="-10" dirty="0">
                <a:latin typeface="Arial"/>
                <a:cs typeface="Arial"/>
              </a:rPr>
              <a:t>190	</a:t>
            </a:r>
            <a:r>
              <a:rPr sz="2000" b="1" spc="-5" dirty="0">
                <a:latin typeface="Arial"/>
                <a:cs typeface="Arial"/>
              </a:rPr>
              <a:t>173.36	</a:t>
            </a:r>
            <a:r>
              <a:rPr sz="2000" b="1" spc="-10" dirty="0">
                <a:latin typeface="Arial"/>
                <a:cs typeface="Arial"/>
              </a:rPr>
              <a:t>16.64</a:t>
            </a:r>
            <a:endParaRPr sz="2000">
              <a:latin typeface="Arial"/>
              <a:cs typeface="Arial"/>
            </a:endParaRPr>
          </a:p>
          <a:p>
            <a:pPr marL="307340">
              <a:lnSpc>
                <a:spcPct val="100000"/>
              </a:lnSpc>
              <a:spcBef>
                <a:spcPts val="5"/>
              </a:spcBef>
              <a:tabLst>
                <a:tab pos="1410970" algn="l"/>
                <a:tab pos="2646045" algn="l"/>
                <a:tab pos="3969385" algn="l"/>
              </a:tabLst>
            </a:pPr>
            <a:r>
              <a:rPr sz="2000" b="1" spc="-5" dirty="0">
                <a:latin typeface="Arial"/>
                <a:cs typeface="Arial"/>
              </a:rPr>
              <a:t>6	</a:t>
            </a:r>
            <a:r>
              <a:rPr sz="2000" b="1" spc="-10" dirty="0">
                <a:latin typeface="Arial"/>
                <a:cs typeface="Arial"/>
              </a:rPr>
              <a:t>205	</a:t>
            </a:r>
            <a:r>
              <a:rPr sz="2000" b="1" spc="-5" dirty="0">
                <a:latin typeface="Arial"/>
                <a:cs typeface="Arial"/>
              </a:rPr>
              <a:t>175.02	</a:t>
            </a:r>
            <a:r>
              <a:rPr sz="2000" b="1" spc="-10" dirty="0">
                <a:latin typeface="Arial"/>
                <a:cs typeface="Arial"/>
              </a:rPr>
              <a:t>29.98</a:t>
            </a:r>
            <a:endParaRPr sz="2000">
              <a:latin typeface="Arial"/>
              <a:cs typeface="Arial"/>
            </a:endParaRPr>
          </a:p>
          <a:p>
            <a:pPr marL="307340">
              <a:lnSpc>
                <a:spcPct val="100000"/>
              </a:lnSpc>
              <a:tabLst>
                <a:tab pos="1410970" algn="l"/>
                <a:tab pos="2646045" algn="l"/>
                <a:tab pos="4109720" algn="l"/>
              </a:tabLst>
            </a:pPr>
            <a:r>
              <a:rPr sz="2000" b="1" spc="-5" dirty="0">
                <a:latin typeface="Arial"/>
                <a:cs typeface="Arial"/>
              </a:rPr>
              <a:t>7	</a:t>
            </a:r>
            <a:r>
              <a:rPr sz="2000" b="1" spc="-10" dirty="0">
                <a:latin typeface="Arial"/>
                <a:cs typeface="Arial"/>
              </a:rPr>
              <a:t>180	</a:t>
            </a:r>
            <a:r>
              <a:rPr sz="2000" b="1" spc="-5" dirty="0">
                <a:latin typeface="Arial"/>
                <a:cs typeface="Arial"/>
              </a:rPr>
              <a:t>178.02	</a:t>
            </a:r>
            <a:r>
              <a:rPr sz="2000" b="1" spc="-10" dirty="0">
                <a:latin typeface="Arial"/>
                <a:cs typeface="Arial"/>
              </a:rPr>
              <a:t>1.98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749808" y="3371088"/>
            <a:ext cx="7498080" cy="1795780"/>
            <a:chOff x="749808" y="3371088"/>
            <a:chExt cx="7498080" cy="1795780"/>
          </a:xfrm>
        </p:grpSpPr>
        <p:sp>
          <p:nvSpPr>
            <p:cNvPr id="49" name="object 49"/>
            <p:cNvSpPr/>
            <p:nvPr/>
          </p:nvSpPr>
          <p:spPr>
            <a:xfrm>
              <a:off x="3087624" y="3371088"/>
              <a:ext cx="1124712" cy="576072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087624" y="3675888"/>
              <a:ext cx="1124712" cy="576072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087624" y="3980688"/>
              <a:ext cx="1124712" cy="576072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087624" y="4285488"/>
              <a:ext cx="1124712" cy="576072"/>
            </a:xfrm>
            <a:prstGeom prst="rect">
              <a:avLst/>
            </a:prstGeom>
            <a:blipFill>
              <a:blip r:embed="rId3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087624" y="4590288"/>
              <a:ext cx="1124712" cy="576072"/>
            </a:xfrm>
            <a:prstGeom prst="rect">
              <a:avLst/>
            </a:prstGeom>
            <a:blipFill>
              <a:blip r:embed="rId3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410455" y="3371088"/>
              <a:ext cx="978408" cy="576072"/>
            </a:xfrm>
            <a:prstGeom prst="rect">
              <a:avLst/>
            </a:prstGeom>
            <a:blipFill>
              <a:blip r:embed="rId3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550663" y="3675888"/>
              <a:ext cx="838200" cy="576072"/>
            </a:xfrm>
            <a:prstGeom prst="rect">
              <a:avLst/>
            </a:prstGeom>
            <a:blipFill>
              <a:blip r:embed="rId3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10455" y="3980688"/>
              <a:ext cx="978408" cy="576072"/>
            </a:xfrm>
            <a:prstGeom prst="rect">
              <a:avLst/>
            </a:prstGeom>
            <a:blipFill>
              <a:blip r:embed="rId3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10455" y="4285488"/>
              <a:ext cx="978408" cy="576072"/>
            </a:xfrm>
            <a:prstGeom prst="rect">
              <a:avLst/>
            </a:prstGeom>
            <a:blipFill>
              <a:blip r:embed="rId3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50663" y="4590288"/>
              <a:ext cx="838200" cy="576072"/>
            </a:xfrm>
            <a:prstGeom prst="rect">
              <a:avLst/>
            </a:prstGeom>
            <a:blipFill>
              <a:blip r:embed="rId3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269479" y="3371088"/>
              <a:ext cx="978407" cy="576072"/>
            </a:xfrm>
            <a:prstGeom prst="rect">
              <a:avLst/>
            </a:prstGeom>
            <a:blipFill>
              <a:blip r:embed="rId3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409688" y="3675888"/>
              <a:ext cx="838200" cy="576072"/>
            </a:xfrm>
            <a:prstGeom prst="rect">
              <a:avLst/>
            </a:prstGeom>
            <a:blipFill>
              <a:blip r:embed="rId4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269479" y="3980688"/>
              <a:ext cx="978407" cy="576072"/>
            </a:xfrm>
            <a:prstGeom prst="rect">
              <a:avLst/>
            </a:prstGeom>
            <a:blipFill>
              <a:blip r:embed="rId4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269479" y="4285488"/>
              <a:ext cx="978407" cy="576072"/>
            </a:xfrm>
            <a:prstGeom prst="rect">
              <a:avLst/>
            </a:prstGeom>
            <a:blipFill>
              <a:blip r:embed="rId4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047231" y="3371088"/>
              <a:ext cx="1124712" cy="576072"/>
            </a:xfrm>
            <a:prstGeom prst="rect">
              <a:avLst/>
            </a:prstGeom>
            <a:blipFill>
              <a:blip r:embed="rId4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047231" y="3675888"/>
              <a:ext cx="1124712" cy="576072"/>
            </a:xfrm>
            <a:prstGeom prst="rect">
              <a:avLst/>
            </a:prstGeom>
            <a:blipFill>
              <a:blip r:embed="rId4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047231" y="3980688"/>
              <a:ext cx="1124712" cy="576072"/>
            </a:xfrm>
            <a:prstGeom prst="rect">
              <a:avLst/>
            </a:prstGeom>
            <a:blipFill>
              <a:blip r:embed="rId4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047231" y="4285488"/>
              <a:ext cx="1124712" cy="576072"/>
            </a:xfrm>
            <a:prstGeom prst="rect">
              <a:avLst/>
            </a:prstGeom>
            <a:blipFill>
              <a:blip r:embed="rId4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49808" y="3371088"/>
              <a:ext cx="487680" cy="576072"/>
            </a:xfrm>
            <a:prstGeom prst="rect">
              <a:avLst/>
            </a:prstGeom>
            <a:blipFill>
              <a:blip r:embed="rId4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853183" y="3371088"/>
              <a:ext cx="768095" cy="576072"/>
            </a:xfrm>
            <a:prstGeom prst="rect">
              <a:avLst/>
            </a:prstGeom>
            <a:blipFill>
              <a:blip r:embed="rId4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749808" y="3675888"/>
              <a:ext cx="487680" cy="576072"/>
            </a:xfrm>
            <a:prstGeom prst="rect">
              <a:avLst/>
            </a:prstGeom>
            <a:blipFill>
              <a:blip r:embed="rId4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853183" y="3675888"/>
              <a:ext cx="768095" cy="576072"/>
            </a:xfrm>
            <a:prstGeom prst="rect">
              <a:avLst/>
            </a:prstGeom>
            <a:blipFill>
              <a:blip r:embed="rId5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749808" y="3980688"/>
              <a:ext cx="487680" cy="576072"/>
            </a:xfrm>
            <a:prstGeom prst="rect">
              <a:avLst/>
            </a:prstGeom>
            <a:blipFill>
              <a:blip r:embed="rId5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853183" y="3980688"/>
              <a:ext cx="768095" cy="576072"/>
            </a:xfrm>
            <a:prstGeom prst="rect">
              <a:avLst/>
            </a:prstGeom>
            <a:blipFill>
              <a:blip r:embed="rId5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749808" y="4285488"/>
              <a:ext cx="487680" cy="576072"/>
            </a:xfrm>
            <a:prstGeom prst="rect">
              <a:avLst/>
            </a:prstGeom>
            <a:blipFill>
              <a:blip r:embed="rId5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853183" y="4285488"/>
              <a:ext cx="768095" cy="576072"/>
            </a:xfrm>
            <a:prstGeom prst="rect">
              <a:avLst/>
            </a:prstGeom>
            <a:blipFill>
              <a:blip r:embed="rId5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749808" y="4590288"/>
              <a:ext cx="487680" cy="576072"/>
            </a:xfrm>
            <a:prstGeom prst="rect">
              <a:avLst/>
            </a:prstGeom>
            <a:blipFill>
              <a:blip r:embed="rId5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1853183" y="4590288"/>
              <a:ext cx="768095" cy="576072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7" name="object 77"/>
          <p:cNvGrpSpPr/>
          <p:nvPr/>
        </p:nvGrpSpPr>
        <p:grpSpPr>
          <a:xfrm>
            <a:off x="6047232" y="4590288"/>
            <a:ext cx="2200910" cy="576580"/>
            <a:chOff x="6047232" y="4590288"/>
            <a:chExt cx="2200910" cy="576580"/>
          </a:xfrm>
        </p:grpSpPr>
        <p:sp>
          <p:nvSpPr>
            <p:cNvPr id="78" name="object 78"/>
            <p:cNvSpPr/>
            <p:nvPr/>
          </p:nvSpPr>
          <p:spPr>
            <a:xfrm>
              <a:off x="7269480" y="4590288"/>
              <a:ext cx="978407" cy="576072"/>
            </a:xfrm>
            <a:prstGeom prst="rect">
              <a:avLst/>
            </a:prstGeom>
            <a:blipFill>
              <a:blip r:embed="rId5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6047232" y="4590288"/>
              <a:ext cx="1124712" cy="576072"/>
            </a:xfrm>
            <a:prstGeom prst="rect">
              <a:avLst/>
            </a:prstGeom>
            <a:blipFill>
              <a:blip r:embed="rId5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0" name="object 80"/>
          <p:cNvGraphicFramePr>
            <a:graphicFrameLocks noGrp="1"/>
          </p:cNvGraphicFramePr>
          <p:nvPr/>
        </p:nvGraphicFramePr>
        <p:xfrm>
          <a:off x="6181597" y="3478618"/>
          <a:ext cx="1917699" cy="15021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99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3715">
                <a:tc>
                  <a:txBody>
                    <a:bodyPr/>
                    <a:lstStyle/>
                    <a:p>
                      <a:pPr marL="31750">
                        <a:lnSpc>
                          <a:spcPts val="2205"/>
                        </a:lnSpc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172.75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205"/>
                        </a:lnSpc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13.75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662">
                <a:tc>
                  <a:txBody>
                    <a:bodyPr/>
                    <a:lstStyle/>
                    <a:p>
                      <a:pPr marL="31750">
                        <a:lnSpc>
                          <a:spcPts val="2290"/>
                        </a:lnSpc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165.88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290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9.</a:t>
                      </a:r>
                      <a:r>
                        <a:rPr sz="2000" b="1" spc="-1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097">
                <a:tc>
                  <a:txBody>
                    <a:bodyPr/>
                    <a:lstStyle/>
                    <a:p>
                      <a:pPr marL="31750">
                        <a:lnSpc>
                          <a:spcPts val="2290"/>
                        </a:lnSpc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170.44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290"/>
                        </a:lnSpc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19.56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56">
                <a:tc>
                  <a:txBody>
                    <a:bodyPr/>
                    <a:lstStyle/>
                    <a:p>
                      <a:pPr marL="31750">
                        <a:lnSpc>
                          <a:spcPts val="2290"/>
                        </a:lnSpc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180.22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290"/>
                        </a:lnSpc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24.78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7">
                <a:tc>
                  <a:txBody>
                    <a:bodyPr/>
                    <a:lstStyle/>
                    <a:p>
                      <a:pPr marL="31750">
                        <a:lnSpc>
                          <a:spcPts val="2215"/>
                        </a:lnSpc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192.61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215"/>
                        </a:lnSpc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12.61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1" name="object 81"/>
          <p:cNvSpPr/>
          <p:nvPr/>
        </p:nvSpPr>
        <p:spPr>
          <a:xfrm>
            <a:off x="749808" y="4895088"/>
            <a:ext cx="487680" cy="576072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901395" y="4966461"/>
            <a:ext cx="16637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-5" dirty="0">
                <a:latin typeface="Arial"/>
                <a:cs typeface="Arial"/>
              </a:rPr>
              <a:t>8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1853183" y="4895088"/>
            <a:ext cx="5318760" cy="576580"/>
            <a:chOff x="1853183" y="4895088"/>
            <a:chExt cx="5318760" cy="576580"/>
          </a:xfrm>
        </p:grpSpPr>
        <p:sp>
          <p:nvSpPr>
            <p:cNvPr id="84" name="object 84"/>
            <p:cNvSpPr/>
            <p:nvPr/>
          </p:nvSpPr>
          <p:spPr>
            <a:xfrm>
              <a:off x="3087623" y="4895088"/>
              <a:ext cx="1124712" cy="576072"/>
            </a:xfrm>
            <a:prstGeom prst="rect">
              <a:avLst/>
            </a:prstGeom>
            <a:blipFill>
              <a:blip r:embed="rId5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550663" y="4895088"/>
              <a:ext cx="838200" cy="576072"/>
            </a:xfrm>
            <a:prstGeom prst="rect">
              <a:avLst/>
            </a:prstGeom>
            <a:blipFill>
              <a:blip r:embed="rId6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6047231" y="4895088"/>
              <a:ext cx="1124712" cy="576072"/>
            </a:xfrm>
            <a:prstGeom prst="rect">
              <a:avLst/>
            </a:prstGeom>
            <a:blipFill>
              <a:blip r:embed="rId6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1853183" y="4895088"/>
              <a:ext cx="768095" cy="576072"/>
            </a:xfrm>
            <a:prstGeom prst="rect">
              <a:avLst/>
            </a:prstGeom>
            <a:blipFill>
              <a:blip r:embed="rId6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8" name="object 88"/>
          <p:cNvSpPr txBox="1"/>
          <p:nvPr/>
        </p:nvSpPr>
        <p:spPr>
          <a:xfrm>
            <a:off x="6200647" y="4966461"/>
            <a:ext cx="80010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-5" dirty="0">
                <a:latin typeface="Arial"/>
                <a:cs typeface="Arial"/>
              </a:rPr>
              <a:t>1</a:t>
            </a:r>
            <a:r>
              <a:rPr sz="2000" b="1" spc="-15" dirty="0">
                <a:latin typeface="Arial"/>
                <a:cs typeface="Arial"/>
              </a:rPr>
              <a:t>8</a:t>
            </a:r>
            <a:r>
              <a:rPr sz="2000" b="1" spc="-5" dirty="0">
                <a:latin typeface="Arial"/>
                <a:cs typeface="Arial"/>
              </a:rPr>
              <a:t>6.</a:t>
            </a:r>
            <a:r>
              <a:rPr sz="2000" b="1" spc="5" dirty="0">
                <a:latin typeface="Arial"/>
                <a:cs typeface="Arial"/>
              </a:rPr>
              <a:t>3</a:t>
            </a:r>
            <a:r>
              <a:rPr sz="2000" b="1" spc="-5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7409688" y="4895088"/>
            <a:ext cx="838200" cy="576072"/>
          </a:xfrm>
          <a:prstGeom prst="rect">
            <a:avLst/>
          </a:prstGeom>
          <a:blipFill>
            <a:blip r:embed="rId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 txBox="1"/>
          <p:nvPr/>
        </p:nvSpPr>
        <p:spPr>
          <a:xfrm>
            <a:off x="7563739" y="4966461"/>
            <a:ext cx="51689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-5" dirty="0">
                <a:latin typeface="Arial"/>
                <a:cs typeface="Arial"/>
              </a:rPr>
              <a:t>4.</a:t>
            </a:r>
            <a:r>
              <a:rPr sz="2000" b="1" spc="-15" dirty="0">
                <a:latin typeface="Arial"/>
                <a:cs typeface="Arial"/>
              </a:rPr>
              <a:t>3</a:t>
            </a:r>
            <a:r>
              <a:rPr sz="2000" b="1" spc="-5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3270203" y="5721096"/>
            <a:ext cx="570561" cy="201168"/>
          </a:xfrm>
          <a:prstGeom prst="rect">
            <a:avLst/>
          </a:prstGeom>
          <a:blipFill>
            <a:blip r:embed="rId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2" name="object 92"/>
          <p:cNvGrpSpPr/>
          <p:nvPr/>
        </p:nvGrpSpPr>
        <p:grpSpPr>
          <a:xfrm>
            <a:off x="4410455" y="5260847"/>
            <a:ext cx="3837940" cy="881380"/>
            <a:chOff x="4410455" y="5260847"/>
            <a:chExt cx="3837940" cy="881380"/>
          </a:xfrm>
        </p:grpSpPr>
        <p:sp>
          <p:nvSpPr>
            <p:cNvPr id="93" name="object 93"/>
            <p:cNvSpPr/>
            <p:nvPr/>
          </p:nvSpPr>
          <p:spPr>
            <a:xfrm>
              <a:off x="4410455" y="5260847"/>
              <a:ext cx="978408" cy="576072"/>
            </a:xfrm>
            <a:prstGeom prst="rect">
              <a:avLst/>
            </a:prstGeom>
            <a:blipFill>
              <a:blip r:embed="rId6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4410455" y="5565647"/>
              <a:ext cx="978408" cy="576071"/>
            </a:xfrm>
            <a:prstGeom prst="rect">
              <a:avLst/>
            </a:prstGeom>
            <a:blipFill>
              <a:blip r:embed="rId6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7269479" y="5260847"/>
              <a:ext cx="978407" cy="576072"/>
            </a:xfrm>
            <a:prstGeom prst="rect">
              <a:avLst/>
            </a:prstGeom>
            <a:blipFill>
              <a:blip r:embed="rId6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6" name="object 96"/>
          <p:cNvSpPr txBox="1"/>
          <p:nvPr/>
        </p:nvSpPr>
        <p:spPr>
          <a:xfrm>
            <a:off x="2005076" y="4904611"/>
            <a:ext cx="3215640" cy="106235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580"/>
              </a:spcBef>
              <a:tabLst>
                <a:tab pos="1234440" algn="l"/>
                <a:tab pos="2698115" algn="l"/>
              </a:tabLst>
            </a:pPr>
            <a:r>
              <a:rPr sz="2000" b="1" spc="-10" dirty="0">
                <a:latin typeface="Arial"/>
                <a:cs typeface="Arial"/>
              </a:rPr>
              <a:t>18</a:t>
            </a:r>
            <a:r>
              <a:rPr sz="2000" b="1" spc="-5" dirty="0">
                <a:latin typeface="Arial"/>
                <a:cs typeface="Arial"/>
              </a:rPr>
              <a:t>2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5" dirty="0">
                <a:latin typeface="Arial"/>
                <a:cs typeface="Arial"/>
              </a:rPr>
              <a:t>1</a:t>
            </a:r>
            <a:r>
              <a:rPr sz="2000" b="1" spc="-15" dirty="0">
                <a:latin typeface="Arial"/>
                <a:cs typeface="Arial"/>
              </a:rPr>
              <a:t>7</a:t>
            </a:r>
            <a:r>
              <a:rPr sz="2000" b="1" spc="-5" dirty="0">
                <a:latin typeface="Arial"/>
                <a:cs typeface="Arial"/>
              </a:rPr>
              <a:t>8.</a:t>
            </a:r>
            <a:r>
              <a:rPr sz="2000" b="1" spc="5" dirty="0">
                <a:latin typeface="Arial"/>
                <a:cs typeface="Arial"/>
              </a:rPr>
              <a:t>2</a:t>
            </a:r>
            <a:r>
              <a:rPr sz="2000" b="1" spc="-5" dirty="0">
                <a:latin typeface="Arial"/>
                <a:cs typeface="Arial"/>
              </a:rPr>
              <a:t>2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5" dirty="0">
                <a:latin typeface="Arial"/>
                <a:cs typeface="Arial"/>
              </a:rPr>
              <a:t>3.</a:t>
            </a:r>
            <a:r>
              <a:rPr sz="2000" b="1" spc="-15" dirty="0">
                <a:latin typeface="Arial"/>
                <a:cs typeface="Arial"/>
              </a:rPr>
              <a:t>7</a:t>
            </a:r>
            <a:r>
              <a:rPr sz="2000" b="1" spc="-5" dirty="0">
                <a:latin typeface="Arial"/>
                <a:cs typeface="Arial"/>
              </a:rPr>
              <a:t>8</a:t>
            </a:r>
            <a:endParaRPr sz="20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480"/>
              </a:spcBef>
            </a:pPr>
            <a:r>
              <a:rPr sz="2000" b="1" spc="-5" dirty="0">
                <a:latin typeface="Arial"/>
                <a:cs typeface="Arial"/>
              </a:rPr>
              <a:t>8</a:t>
            </a:r>
            <a:r>
              <a:rPr sz="2000" b="1" spc="-15" dirty="0">
                <a:latin typeface="Arial"/>
                <a:cs typeface="Arial"/>
              </a:rPr>
              <a:t>2</a:t>
            </a:r>
            <a:r>
              <a:rPr sz="2000" b="1" spc="-5" dirty="0">
                <a:latin typeface="Arial"/>
                <a:cs typeface="Arial"/>
              </a:rPr>
              <a:t>.</a:t>
            </a:r>
            <a:r>
              <a:rPr sz="2000" b="1" spc="-15" dirty="0">
                <a:latin typeface="Arial"/>
                <a:cs typeface="Arial"/>
              </a:rPr>
              <a:t>4</a:t>
            </a:r>
            <a:r>
              <a:rPr sz="2000" b="1" spc="-5" dirty="0">
                <a:latin typeface="Arial"/>
                <a:cs typeface="Arial"/>
              </a:rPr>
              <a:t>5</a:t>
            </a:r>
            <a:endParaRPr sz="2000">
              <a:latin typeface="Arial"/>
              <a:cs typeface="Arial"/>
            </a:endParaRPr>
          </a:p>
          <a:p>
            <a:pPr marL="1247775">
              <a:lnSpc>
                <a:spcPct val="100000"/>
              </a:lnSpc>
              <a:tabLst>
                <a:tab pos="2570480" algn="l"/>
              </a:tabLst>
            </a:pPr>
            <a:r>
              <a:rPr sz="2000" b="1" spc="55" dirty="0">
                <a:latin typeface="Arial"/>
                <a:cs typeface="Arial"/>
              </a:rPr>
              <a:t>M</a:t>
            </a:r>
            <a:r>
              <a:rPr sz="2000" b="1" spc="-80" dirty="0">
                <a:latin typeface="Arial"/>
                <a:cs typeface="Arial"/>
              </a:rPr>
              <a:t>A</a:t>
            </a:r>
            <a:r>
              <a:rPr sz="2000" b="1" spc="-10" dirty="0">
                <a:latin typeface="Arial"/>
                <a:cs typeface="Arial"/>
              </a:rPr>
              <a:t>D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5" dirty="0">
                <a:latin typeface="Arial"/>
                <a:cs typeface="Arial"/>
              </a:rPr>
              <a:t>1</a:t>
            </a:r>
            <a:r>
              <a:rPr sz="2000" b="1" spc="-15" dirty="0">
                <a:latin typeface="Arial"/>
                <a:cs typeface="Arial"/>
              </a:rPr>
              <a:t>0</a:t>
            </a:r>
            <a:r>
              <a:rPr sz="2000" b="1" spc="-5" dirty="0">
                <a:latin typeface="Arial"/>
                <a:cs typeface="Arial"/>
              </a:rPr>
              <a:t>.31</a:t>
            </a:r>
            <a:endParaRPr sz="2000">
              <a:latin typeface="Arial"/>
              <a:cs typeface="Arial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7269480" y="5565647"/>
            <a:ext cx="978407" cy="576071"/>
          </a:xfrm>
          <a:prstGeom prst="rect">
            <a:avLst/>
          </a:prstGeom>
          <a:blipFill>
            <a:blip r:embed="rId6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 txBox="1"/>
          <p:nvPr/>
        </p:nvSpPr>
        <p:spPr>
          <a:xfrm>
            <a:off x="7423150" y="5331967"/>
            <a:ext cx="6578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0" dirty="0">
                <a:latin typeface="Arial"/>
                <a:cs typeface="Arial"/>
              </a:rPr>
              <a:t>98.62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spc="-10" dirty="0">
                <a:latin typeface="Arial"/>
                <a:cs typeface="Arial"/>
              </a:rPr>
              <a:t>12.33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498348" y="1056132"/>
            <a:ext cx="8077327" cy="4255007"/>
            <a:chOff x="498348" y="1056132"/>
            <a:chExt cx="8077327" cy="4255007"/>
          </a:xfrm>
        </p:grpSpPr>
        <p:sp>
          <p:nvSpPr>
            <p:cNvPr id="100" name="object 100"/>
            <p:cNvSpPr/>
            <p:nvPr/>
          </p:nvSpPr>
          <p:spPr>
            <a:xfrm>
              <a:off x="4549140" y="5311139"/>
              <a:ext cx="749935" cy="0"/>
            </a:xfrm>
            <a:custGeom>
              <a:avLst/>
              <a:gdLst/>
              <a:ahLst/>
              <a:cxnLst/>
              <a:rect l="l" t="t" r="r" b="b"/>
              <a:pathLst>
                <a:path w="749935">
                  <a:moveTo>
                    <a:pt x="0" y="0"/>
                  </a:moveTo>
                  <a:lnTo>
                    <a:pt x="749808" y="0"/>
                  </a:lnTo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5844540" y="2784348"/>
              <a:ext cx="2731135" cy="2487295"/>
            </a:xfrm>
            <a:custGeom>
              <a:avLst/>
              <a:gdLst/>
              <a:ahLst/>
              <a:cxnLst/>
              <a:rect l="l" t="t" r="r" b="b"/>
              <a:pathLst>
                <a:path w="2731134" h="2487295">
                  <a:moveTo>
                    <a:pt x="0" y="2182368"/>
                  </a:moveTo>
                  <a:lnTo>
                    <a:pt x="0" y="2487167"/>
                  </a:lnTo>
                </a:path>
                <a:path w="2731134" h="2487295">
                  <a:moveTo>
                    <a:pt x="198120" y="0"/>
                  </a:moveTo>
                  <a:lnTo>
                    <a:pt x="2731008" y="0"/>
                  </a:lnTo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7347204" y="5311139"/>
              <a:ext cx="807720" cy="0"/>
            </a:xfrm>
            <a:custGeom>
              <a:avLst/>
              <a:gdLst/>
              <a:ahLst/>
              <a:cxnLst/>
              <a:rect l="l" t="t" r="r" b="b"/>
              <a:pathLst>
                <a:path w="807720">
                  <a:moveTo>
                    <a:pt x="0" y="0"/>
                  </a:moveTo>
                  <a:lnTo>
                    <a:pt x="807720" y="0"/>
                  </a:lnTo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2973324" y="4966716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h="304800">
                  <a:moveTo>
                    <a:pt x="0" y="0"/>
                  </a:moveTo>
                  <a:lnTo>
                    <a:pt x="0" y="304799"/>
                  </a:lnTo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498348" y="1056132"/>
              <a:ext cx="5544820" cy="3910965"/>
            </a:xfrm>
            <a:custGeom>
              <a:avLst/>
              <a:gdLst/>
              <a:ahLst/>
              <a:cxnLst/>
              <a:rect l="l" t="t" r="r" b="b"/>
              <a:pathLst>
                <a:path w="5544820" h="3910965">
                  <a:moveTo>
                    <a:pt x="5544312" y="0"/>
                  </a:moveTo>
                  <a:lnTo>
                    <a:pt x="0" y="0"/>
                  </a:lnTo>
                  <a:lnTo>
                    <a:pt x="0" y="3910584"/>
                  </a:lnTo>
                  <a:lnTo>
                    <a:pt x="5544312" y="3910584"/>
                  </a:lnTo>
                  <a:lnTo>
                    <a:pt x="5544312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498348" y="1056132"/>
              <a:ext cx="5544820" cy="3910965"/>
            </a:xfrm>
            <a:custGeom>
              <a:avLst/>
              <a:gdLst/>
              <a:ahLst/>
              <a:cxnLst/>
              <a:rect l="l" t="t" r="r" b="b"/>
              <a:pathLst>
                <a:path w="5544820" h="3910965">
                  <a:moveTo>
                    <a:pt x="0" y="3910584"/>
                  </a:moveTo>
                  <a:lnTo>
                    <a:pt x="5544312" y="3910584"/>
                  </a:lnTo>
                  <a:lnTo>
                    <a:pt x="5544312" y="0"/>
                  </a:lnTo>
                  <a:lnTo>
                    <a:pt x="0" y="0"/>
                  </a:lnTo>
                  <a:lnTo>
                    <a:pt x="0" y="391058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6" name="object 106"/>
          <p:cNvSpPr txBox="1"/>
          <p:nvPr/>
        </p:nvSpPr>
        <p:spPr>
          <a:xfrm>
            <a:off x="1117498" y="2484146"/>
            <a:ext cx="4532630" cy="214693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2800" i="1" dirty="0">
                <a:latin typeface="Arial"/>
                <a:cs typeface="Arial"/>
              </a:rPr>
              <a:t>For </a:t>
            </a:r>
            <a:r>
              <a:rPr sz="2800" spc="5" dirty="0">
                <a:latin typeface="Symbol"/>
                <a:cs typeface="Symbol"/>
              </a:rPr>
              <a:t>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Arial"/>
                <a:cs typeface="Arial"/>
              </a:rPr>
              <a:t>=</a:t>
            </a:r>
            <a:r>
              <a:rPr sz="2800" spc="45" dirty="0">
                <a:latin typeface="Arial"/>
                <a:cs typeface="Arial"/>
              </a:rPr>
              <a:t> </a:t>
            </a:r>
            <a:r>
              <a:rPr sz="2800" spc="5" dirty="0">
                <a:latin typeface="Arial"/>
                <a:cs typeface="Arial"/>
              </a:rPr>
              <a:t>.10</a:t>
            </a:r>
            <a:endParaRPr sz="2800">
              <a:latin typeface="Arial"/>
              <a:cs typeface="Arial"/>
            </a:endParaRPr>
          </a:p>
          <a:p>
            <a:pPr marL="1028700">
              <a:lnSpc>
                <a:spcPct val="100000"/>
              </a:lnSpc>
              <a:spcBef>
                <a:spcPts val="560"/>
              </a:spcBef>
            </a:pPr>
            <a:r>
              <a:rPr sz="2800" b="1" dirty="0">
                <a:latin typeface="Arial"/>
                <a:cs typeface="Arial"/>
              </a:rPr>
              <a:t>= </a:t>
            </a:r>
            <a:r>
              <a:rPr sz="2800" spc="5" dirty="0">
                <a:latin typeface="Arial"/>
                <a:cs typeface="Arial"/>
              </a:rPr>
              <a:t>1,526.54/8 </a:t>
            </a:r>
            <a:r>
              <a:rPr sz="2800" dirty="0">
                <a:latin typeface="Arial"/>
                <a:cs typeface="Arial"/>
              </a:rPr>
              <a:t>=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5" dirty="0">
                <a:latin typeface="Arial"/>
                <a:cs typeface="Arial"/>
              </a:rPr>
              <a:t>190.82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2800" i="1" spc="-5" dirty="0">
                <a:latin typeface="Arial"/>
                <a:cs typeface="Arial"/>
              </a:rPr>
              <a:t>For </a:t>
            </a:r>
            <a:r>
              <a:rPr sz="2800" spc="5" dirty="0">
                <a:latin typeface="Symbol"/>
                <a:cs typeface="Symbol"/>
              </a:rPr>
              <a:t>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rial"/>
                <a:cs typeface="Arial"/>
              </a:rPr>
              <a:t>=</a:t>
            </a:r>
            <a:r>
              <a:rPr sz="2800" spc="55" dirty="0">
                <a:latin typeface="Arial"/>
                <a:cs typeface="Arial"/>
              </a:rPr>
              <a:t> </a:t>
            </a:r>
            <a:r>
              <a:rPr sz="2800" spc="5" dirty="0">
                <a:latin typeface="Arial"/>
                <a:cs typeface="Arial"/>
              </a:rPr>
              <a:t>.50</a:t>
            </a:r>
            <a:endParaRPr sz="2800">
              <a:latin typeface="Arial"/>
              <a:cs typeface="Arial"/>
            </a:endParaRPr>
          </a:p>
          <a:p>
            <a:pPr marL="1016000">
              <a:lnSpc>
                <a:spcPct val="100000"/>
              </a:lnSpc>
              <a:spcBef>
                <a:spcPts val="545"/>
              </a:spcBef>
            </a:pPr>
            <a:r>
              <a:rPr sz="2800" b="1" spc="5" dirty="0">
                <a:latin typeface="Arial"/>
                <a:cs typeface="Arial"/>
              </a:rPr>
              <a:t>= </a:t>
            </a:r>
            <a:r>
              <a:rPr sz="2800" spc="5" dirty="0">
                <a:latin typeface="Arial"/>
                <a:cs typeface="Arial"/>
              </a:rPr>
              <a:t>1,561.91/8 =</a:t>
            </a:r>
            <a:r>
              <a:rPr sz="2800" spc="-155" dirty="0">
                <a:latin typeface="Arial"/>
                <a:cs typeface="Arial"/>
              </a:rPr>
              <a:t> </a:t>
            </a:r>
            <a:r>
              <a:rPr sz="2800" spc="5" dirty="0">
                <a:latin typeface="Arial"/>
                <a:cs typeface="Arial"/>
              </a:rPr>
              <a:t>195.24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763320" y="1737436"/>
            <a:ext cx="110236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i="1" spc="-10" dirty="0">
                <a:latin typeface="Arial"/>
                <a:cs typeface="Arial"/>
              </a:rPr>
              <a:t>MSE</a:t>
            </a:r>
            <a:r>
              <a:rPr sz="2800" i="1" spc="-80" dirty="0">
                <a:latin typeface="Arial"/>
                <a:cs typeface="Arial"/>
              </a:rPr>
              <a:t> </a:t>
            </a:r>
            <a:r>
              <a:rPr sz="2800" i="1" spc="5" dirty="0">
                <a:latin typeface="Arial"/>
                <a:cs typeface="Arial"/>
              </a:rPr>
              <a:t>=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2122677" y="1411605"/>
            <a:ext cx="309880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800" spc="5" dirty="0">
                <a:latin typeface="Arial"/>
                <a:cs typeface="Arial"/>
              </a:rPr>
              <a:t>∑ (</a:t>
            </a:r>
            <a:r>
              <a:rPr sz="2800" i="1" spc="5" dirty="0">
                <a:latin typeface="Arial"/>
                <a:cs typeface="Arial"/>
              </a:rPr>
              <a:t>forecast</a:t>
            </a:r>
            <a:r>
              <a:rPr sz="2800" i="1" spc="-130" dirty="0">
                <a:latin typeface="Arial"/>
                <a:cs typeface="Arial"/>
              </a:rPr>
              <a:t> </a:t>
            </a:r>
            <a:r>
              <a:rPr sz="2800" i="1" spc="5" dirty="0">
                <a:latin typeface="Arial"/>
                <a:cs typeface="Arial"/>
              </a:rPr>
              <a:t>errors</a:t>
            </a:r>
            <a:r>
              <a:rPr sz="2800" spc="5" dirty="0">
                <a:latin typeface="Arial"/>
                <a:cs typeface="Arial"/>
              </a:rPr>
              <a:t>)</a:t>
            </a:r>
            <a:r>
              <a:rPr sz="2775" spc="7" baseline="25525" dirty="0">
                <a:latin typeface="Arial"/>
                <a:cs typeface="Arial"/>
              </a:rPr>
              <a:t>2</a:t>
            </a:r>
            <a:endParaRPr sz="2775" baseline="25525">
              <a:latin typeface="Arial"/>
              <a:cs typeface="Arial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3559809" y="1945386"/>
            <a:ext cx="224154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i="1" dirty="0">
                <a:latin typeface="Arial"/>
                <a:cs typeface="Arial"/>
              </a:rPr>
              <a:t>n</a:t>
            </a:r>
            <a:endParaRPr sz="2800">
              <a:latin typeface="Arial"/>
              <a:cs typeface="Arial"/>
            </a:endParaRPr>
          </a:p>
        </p:txBody>
      </p:sp>
      <p:sp>
        <p:nvSpPr>
          <p:cNvPr id="110" name="object 110"/>
          <p:cNvSpPr/>
          <p:nvPr/>
        </p:nvSpPr>
        <p:spPr>
          <a:xfrm>
            <a:off x="2086355" y="1982723"/>
            <a:ext cx="3377565" cy="0"/>
          </a:xfrm>
          <a:custGeom>
            <a:avLst/>
            <a:gdLst/>
            <a:ahLst/>
            <a:cxnLst/>
            <a:rect l="l" t="t" r="r" b="b"/>
            <a:pathLst>
              <a:path w="3377565">
                <a:moveTo>
                  <a:pt x="0" y="0"/>
                </a:moveTo>
                <a:lnTo>
                  <a:pt x="3377183" y="0"/>
                </a:lnTo>
              </a:path>
            </a:pathLst>
          </a:custGeom>
          <a:ln w="39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0" y="6504431"/>
            <a:ext cx="1801495" cy="353695"/>
          </a:xfrm>
          <a:custGeom>
            <a:avLst/>
            <a:gdLst/>
            <a:ahLst/>
            <a:cxnLst/>
            <a:rect l="l" t="t" r="r" b="b"/>
            <a:pathLst>
              <a:path w="1801495" h="353695">
                <a:moveTo>
                  <a:pt x="1801368" y="0"/>
                </a:moveTo>
                <a:lnTo>
                  <a:pt x="0" y="0"/>
                </a:lnTo>
                <a:lnTo>
                  <a:pt x="0" y="353568"/>
                </a:lnTo>
                <a:lnTo>
                  <a:pt x="1801368" y="353568"/>
                </a:lnTo>
                <a:lnTo>
                  <a:pt x="18013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7327392" y="6504431"/>
            <a:ext cx="1804670" cy="353695"/>
          </a:xfrm>
          <a:custGeom>
            <a:avLst/>
            <a:gdLst/>
            <a:ahLst/>
            <a:cxnLst/>
            <a:rect l="l" t="t" r="r" b="b"/>
            <a:pathLst>
              <a:path w="1804670" h="353695">
                <a:moveTo>
                  <a:pt x="1804416" y="0"/>
                </a:moveTo>
                <a:lnTo>
                  <a:pt x="0" y="0"/>
                </a:lnTo>
                <a:lnTo>
                  <a:pt x="0" y="353568"/>
                </a:lnTo>
                <a:lnTo>
                  <a:pt x="1804416" y="353568"/>
                </a:lnTo>
                <a:lnTo>
                  <a:pt x="18044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Slide Number Placeholder 112">
            <a:extLst>
              <a:ext uri="{FF2B5EF4-FFF2-40B4-BE49-F238E27FC236}">
                <a16:creationId xmlns:a16="http://schemas.microsoft.com/office/drawing/2014/main" id="{A7D85731-8C69-3FF3-C841-454667FB0A3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0462C1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0462C1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89213" y="6638266"/>
            <a:ext cx="32004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0462C1"/>
                </a:solidFill>
                <a:latin typeface="Arial"/>
                <a:cs typeface="Arial"/>
              </a:rPr>
              <a:t>4 –</a:t>
            </a:r>
            <a:r>
              <a:rPr sz="900" b="1" spc="-10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462C1"/>
                </a:solidFill>
                <a:latin typeface="Arial"/>
                <a:cs typeface="Arial"/>
              </a:rPr>
              <a:t>42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00178" y="819911"/>
            <a:ext cx="4920817" cy="3886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64844" y="672541"/>
            <a:ext cx="4942205" cy="5308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300" spc="-125" dirty="0">
                <a:latin typeface="Trebuchet MS"/>
                <a:cs typeface="Trebuchet MS"/>
              </a:rPr>
              <a:t>Comparison </a:t>
            </a:r>
            <a:r>
              <a:rPr sz="3300" spc="-140" dirty="0">
                <a:latin typeface="Trebuchet MS"/>
                <a:cs typeface="Trebuchet MS"/>
              </a:rPr>
              <a:t>of </a:t>
            </a:r>
            <a:r>
              <a:rPr sz="3300" spc="-180" dirty="0">
                <a:latin typeface="Trebuchet MS"/>
                <a:cs typeface="Trebuchet MS"/>
              </a:rPr>
              <a:t>Forecast</a:t>
            </a:r>
            <a:r>
              <a:rPr sz="3300" spc="-660" dirty="0">
                <a:latin typeface="Trebuchet MS"/>
                <a:cs typeface="Trebuchet MS"/>
              </a:rPr>
              <a:t> </a:t>
            </a:r>
            <a:r>
              <a:rPr sz="3300" spc="-140" dirty="0">
                <a:latin typeface="Trebuchet MS"/>
                <a:cs typeface="Trebuchet MS"/>
              </a:rPr>
              <a:t>Error</a:t>
            </a:r>
            <a:endParaRPr sz="33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60248" y="1820060"/>
            <a:ext cx="8190230" cy="1082040"/>
            <a:chOff x="460248" y="1820060"/>
            <a:chExt cx="8190230" cy="1082040"/>
          </a:xfrm>
        </p:grpSpPr>
        <p:sp>
          <p:nvSpPr>
            <p:cNvPr id="7" name="object 7"/>
            <p:cNvSpPr/>
            <p:nvPr/>
          </p:nvSpPr>
          <p:spPr>
            <a:xfrm>
              <a:off x="3200218" y="1820060"/>
              <a:ext cx="1018363" cy="18800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63240" y="1917192"/>
              <a:ext cx="1264919" cy="51816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310127" y="2148840"/>
              <a:ext cx="768096" cy="51816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79064" y="2380488"/>
              <a:ext cx="454151" cy="51816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386327" y="2383536"/>
              <a:ext cx="826008" cy="51816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20768" y="1820060"/>
              <a:ext cx="1001267" cy="18800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447032" y="1917192"/>
              <a:ext cx="1341119" cy="51816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809744" y="2148840"/>
              <a:ext cx="615696" cy="51816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02480" y="2380488"/>
              <a:ext cx="454151" cy="51816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809744" y="2383536"/>
              <a:ext cx="826008" cy="51816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59242" y="1820060"/>
              <a:ext cx="1018363" cy="18800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922263" y="1917192"/>
              <a:ext cx="1264919" cy="51816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69151" y="2148840"/>
              <a:ext cx="768096" cy="51816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038088" y="2380488"/>
              <a:ext cx="454151" cy="51816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45351" y="2383536"/>
              <a:ext cx="826007" cy="51816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476571" y="1820060"/>
              <a:ext cx="1000088" cy="18800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306055" y="1917192"/>
              <a:ext cx="1344168" cy="51816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668767" y="2148840"/>
              <a:ext cx="615696" cy="51816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458455" y="2380488"/>
              <a:ext cx="454151" cy="51816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665719" y="2383536"/>
              <a:ext cx="829055" cy="518160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904779" y="2054756"/>
              <a:ext cx="734981" cy="188004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633728" y="2148840"/>
              <a:ext cx="1255776" cy="518160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60248" y="2383536"/>
              <a:ext cx="2478024" cy="518160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764128" y="1740484"/>
            <a:ext cx="1735455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05"/>
              </a:lnSpc>
              <a:spcBef>
                <a:spcPts val="100"/>
              </a:spcBef>
              <a:tabLst>
                <a:tab pos="714375" algn="l"/>
              </a:tabLst>
            </a:pPr>
            <a:r>
              <a:rPr sz="1800" b="1" i="1" dirty="0">
                <a:latin typeface="Arial"/>
                <a:cs typeface="Arial"/>
              </a:rPr>
              <a:t>ed	Absolute</a:t>
            </a:r>
            <a:endParaRPr sz="1800">
              <a:latin typeface="Arial"/>
              <a:cs typeface="Arial"/>
            </a:endParaRPr>
          </a:p>
          <a:p>
            <a:pPr marL="57785">
              <a:lnSpc>
                <a:spcPts val="1839"/>
              </a:lnSpc>
              <a:tabLst>
                <a:tab pos="690245" algn="l"/>
              </a:tabLst>
            </a:pPr>
            <a:r>
              <a:rPr sz="1800" b="1" i="1" dirty="0">
                <a:latin typeface="Arial"/>
                <a:cs typeface="Arial"/>
              </a:rPr>
              <a:t>st	</a:t>
            </a:r>
            <a:r>
              <a:rPr sz="1800" b="1" i="1" spc="-5" dirty="0">
                <a:latin typeface="Arial"/>
                <a:cs typeface="Arial"/>
              </a:rPr>
              <a:t>De</a:t>
            </a:r>
            <a:r>
              <a:rPr sz="1800" b="1" i="1" dirty="0">
                <a:latin typeface="Arial"/>
                <a:cs typeface="Arial"/>
              </a:rPr>
              <a:t>v</a:t>
            </a:r>
            <a:r>
              <a:rPr sz="1800" b="1" i="1" spc="-5" dirty="0">
                <a:latin typeface="Arial"/>
                <a:cs typeface="Arial"/>
              </a:rPr>
              <a:t>i</a:t>
            </a:r>
            <a:r>
              <a:rPr sz="1800" b="1" i="1" dirty="0">
                <a:latin typeface="Arial"/>
                <a:cs typeface="Arial"/>
              </a:rPr>
              <a:t>ati</a:t>
            </a:r>
            <a:r>
              <a:rPr sz="1800" b="1" i="1" spc="5" dirty="0">
                <a:latin typeface="Arial"/>
                <a:cs typeface="Arial"/>
              </a:rPr>
              <a:t>o</a:t>
            </a:r>
            <a:r>
              <a:rPr sz="1800" b="1" i="1" dirty="0"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  <a:p>
            <a:pPr marL="1052830">
              <a:lnSpc>
                <a:spcPts val="1835"/>
              </a:lnSpc>
            </a:pPr>
            <a:r>
              <a:rPr sz="1800" b="1" i="1" dirty="0">
                <a:latin typeface="Arial"/>
                <a:cs typeface="Arial"/>
              </a:rPr>
              <a:t>for</a:t>
            </a:r>
            <a:endParaRPr sz="1800">
              <a:latin typeface="Arial"/>
              <a:cs typeface="Arial"/>
            </a:endParaRPr>
          </a:p>
          <a:p>
            <a:pPr marL="19050">
              <a:lnSpc>
                <a:spcPts val="2005"/>
              </a:lnSpc>
              <a:tabLst>
                <a:tab pos="842644" algn="l"/>
              </a:tabLst>
            </a:pPr>
            <a:r>
              <a:rPr sz="1800" b="1" dirty="0">
                <a:latin typeface="Arial"/>
                <a:cs typeface="Arial"/>
              </a:rPr>
              <a:t>0	</a:t>
            </a:r>
            <a:r>
              <a:rPr sz="1800" b="1" dirty="0">
                <a:latin typeface="Symbol"/>
                <a:cs typeface="Symbol"/>
              </a:rPr>
              <a:t>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.50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06247" y="1774867"/>
            <a:ext cx="6239510" cy="320611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173480" marR="15875" indent="1411605" algn="just">
              <a:lnSpc>
                <a:spcPct val="85100"/>
              </a:lnSpc>
              <a:spcBef>
                <a:spcPts val="150"/>
              </a:spcBef>
              <a:tabLst>
                <a:tab pos="2850515" algn="l"/>
                <a:tab pos="4350385" algn="l"/>
                <a:tab pos="5710555" algn="l"/>
              </a:tabLst>
            </a:pPr>
            <a:r>
              <a:rPr sz="1800" b="1" i="1" dirty="0">
                <a:latin typeface="Arial"/>
                <a:cs typeface="Arial"/>
              </a:rPr>
              <a:t>Rounded Absolute Round  Actual Forecast Deviation Foreca  </a:t>
            </a:r>
            <a:r>
              <a:rPr sz="1800" b="1" i="1" spc="-10" dirty="0">
                <a:latin typeface="Arial"/>
                <a:cs typeface="Arial"/>
              </a:rPr>
              <a:t>Tonnage	</a:t>
            </a:r>
            <a:r>
              <a:rPr sz="1800" b="1" i="1" spc="-5" dirty="0">
                <a:latin typeface="Arial"/>
                <a:cs typeface="Arial"/>
              </a:rPr>
              <a:t>with	</a:t>
            </a:r>
            <a:r>
              <a:rPr sz="1800" b="1" i="1" dirty="0">
                <a:latin typeface="Arial"/>
                <a:cs typeface="Arial"/>
              </a:rPr>
              <a:t>for	</a:t>
            </a:r>
            <a:r>
              <a:rPr sz="1800" b="1" i="1" spc="-5" dirty="0">
                <a:latin typeface="Arial"/>
                <a:cs typeface="Arial"/>
              </a:rPr>
              <a:t>with</a:t>
            </a:r>
            <a:endParaRPr sz="1800">
              <a:latin typeface="Arial"/>
              <a:cs typeface="Arial"/>
            </a:endParaRPr>
          </a:p>
          <a:p>
            <a:pPr algn="just">
              <a:lnSpc>
                <a:spcPts val="1850"/>
              </a:lnSpc>
              <a:tabLst>
                <a:tab pos="4143375" algn="l"/>
                <a:tab pos="5579110" algn="l"/>
              </a:tabLst>
            </a:pPr>
            <a:r>
              <a:rPr sz="1800" b="1" i="1" spc="-5" dirty="0">
                <a:latin typeface="Arial"/>
                <a:cs typeface="Arial"/>
              </a:rPr>
              <a:t>Quarter     </a:t>
            </a:r>
            <a:r>
              <a:rPr sz="1800" b="1" i="1" dirty="0">
                <a:latin typeface="Arial"/>
                <a:cs typeface="Arial"/>
              </a:rPr>
              <a:t>Unloaded         </a:t>
            </a:r>
            <a:r>
              <a:rPr sz="1800" b="1" dirty="0">
                <a:latin typeface="Symbol"/>
                <a:cs typeface="Symbol"/>
              </a:rPr>
              <a:t></a:t>
            </a:r>
            <a:r>
              <a:rPr sz="1800" b="1" spc="-2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.10	</a:t>
            </a:r>
            <a:r>
              <a:rPr sz="1800" b="1" dirty="0">
                <a:latin typeface="Symbol"/>
                <a:cs typeface="Symbol"/>
              </a:rPr>
              <a:t></a:t>
            </a:r>
            <a:r>
              <a:rPr sz="1800" b="1" spc="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.10	</a:t>
            </a:r>
            <a:r>
              <a:rPr sz="1800" b="1" dirty="0">
                <a:latin typeface="Symbol"/>
                <a:cs typeface="Symbol"/>
              </a:rPr>
              <a:t>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.5</a:t>
            </a:r>
            <a:endParaRPr sz="1800">
              <a:latin typeface="Arial"/>
              <a:cs typeface="Arial"/>
            </a:endParaRPr>
          </a:p>
          <a:p>
            <a:pPr marL="307340">
              <a:lnSpc>
                <a:spcPct val="100000"/>
              </a:lnSpc>
              <a:spcBef>
                <a:spcPts val="905"/>
              </a:spcBef>
              <a:tabLst>
                <a:tab pos="1410970" algn="l"/>
                <a:tab pos="2646045" algn="l"/>
                <a:tab pos="4109720" algn="l"/>
                <a:tab pos="5606415" algn="l"/>
              </a:tabLst>
            </a:pPr>
            <a:r>
              <a:rPr sz="2000" b="1" spc="-5" dirty="0">
                <a:latin typeface="Arial"/>
                <a:cs typeface="Arial"/>
              </a:rPr>
              <a:t>1	</a:t>
            </a:r>
            <a:r>
              <a:rPr sz="2000" b="1" spc="-10" dirty="0">
                <a:latin typeface="Arial"/>
                <a:cs typeface="Arial"/>
              </a:rPr>
              <a:t>180	175	5.00	175</a:t>
            </a:r>
            <a:endParaRPr sz="2000">
              <a:latin typeface="Arial"/>
              <a:cs typeface="Arial"/>
            </a:endParaRPr>
          </a:p>
          <a:p>
            <a:pPr marL="307340">
              <a:lnSpc>
                <a:spcPct val="100000"/>
              </a:lnSpc>
              <a:tabLst>
                <a:tab pos="1410970" algn="l"/>
                <a:tab pos="2646045" algn="l"/>
                <a:tab pos="4109720" algn="l"/>
                <a:tab pos="5606415" algn="l"/>
              </a:tabLst>
            </a:pPr>
            <a:r>
              <a:rPr sz="2000" b="1" spc="-5" dirty="0">
                <a:latin typeface="Arial"/>
                <a:cs typeface="Arial"/>
              </a:rPr>
              <a:t>2	</a:t>
            </a:r>
            <a:r>
              <a:rPr sz="2000" b="1" spc="-10" dirty="0">
                <a:latin typeface="Arial"/>
                <a:cs typeface="Arial"/>
              </a:rPr>
              <a:t>16</a:t>
            </a:r>
            <a:r>
              <a:rPr sz="2000" b="1" spc="-5" dirty="0">
                <a:latin typeface="Arial"/>
                <a:cs typeface="Arial"/>
              </a:rPr>
              <a:t>8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5" dirty="0">
                <a:latin typeface="Arial"/>
                <a:cs typeface="Arial"/>
              </a:rPr>
              <a:t>1</a:t>
            </a:r>
            <a:r>
              <a:rPr sz="2000" b="1" spc="-15" dirty="0">
                <a:latin typeface="Arial"/>
                <a:cs typeface="Arial"/>
              </a:rPr>
              <a:t>7</a:t>
            </a:r>
            <a:r>
              <a:rPr sz="2000" b="1" spc="-5" dirty="0">
                <a:latin typeface="Arial"/>
                <a:cs typeface="Arial"/>
              </a:rPr>
              <a:t>5.5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5" dirty="0">
                <a:latin typeface="Arial"/>
                <a:cs typeface="Arial"/>
              </a:rPr>
              <a:t>7.</a:t>
            </a:r>
            <a:r>
              <a:rPr sz="2000" b="1" spc="-15" dirty="0">
                <a:latin typeface="Arial"/>
                <a:cs typeface="Arial"/>
              </a:rPr>
              <a:t>5</a:t>
            </a:r>
            <a:r>
              <a:rPr sz="2000" b="1" spc="-5" dirty="0">
                <a:latin typeface="Arial"/>
                <a:cs typeface="Arial"/>
              </a:rPr>
              <a:t>0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5" dirty="0">
                <a:latin typeface="Arial"/>
                <a:cs typeface="Arial"/>
              </a:rPr>
              <a:t>1</a:t>
            </a:r>
            <a:r>
              <a:rPr sz="2000" b="1" spc="-15" dirty="0">
                <a:latin typeface="Arial"/>
                <a:cs typeface="Arial"/>
              </a:rPr>
              <a:t>7</a:t>
            </a:r>
            <a:r>
              <a:rPr sz="2000" b="1" spc="-5" dirty="0">
                <a:latin typeface="Arial"/>
                <a:cs typeface="Arial"/>
              </a:rPr>
              <a:t>7.5</a:t>
            </a:r>
            <a:endParaRPr sz="2000">
              <a:latin typeface="Arial"/>
              <a:cs typeface="Arial"/>
            </a:endParaRPr>
          </a:p>
          <a:p>
            <a:pPr marL="307340">
              <a:lnSpc>
                <a:spcPct val="100000"/>
              </a:lnSpc>
              <a:tabLst>
                <a:tab pos="1410970" algn="l"/>
                <a:tab pos="2646045" algn="l"/>
                <a:tab pos="3969385" algn="l"/>
                <a:tab pos="5606415" algn="l"/>
              </a:tabLst>
            </a:pPr>
            <a:r>
              <a:rPr sz="2000" b="1" spc="-5" dirty="0">
                <a:latin typeface="Arial"/>
                <a:cs typeface="Arial"/>
              </a:rPr>
              <a:t>3	</a:t>
            </a:r>
            <a:r>
              <a:rPr sz="2000" b="1" spc="-10" dirty="0">
                <a:latin typeface="Arial"/>
                <a:cs typeface="Arial"/>
              </a:rPr>
              <a:t>15</a:t>
            </a:r>
            <a:r>
              <a:rPr sz="2000" b="1" spc="-5" dirty="0">
                <a:latin typeface="Arial"/>
                <a:cs typeface="Arial"/>
              </a:rPr>
              <a:t>9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5" dirty="0">
                <a:latin typeface="Arial"/>
                <a:cs typeface="Arial"/>
              </a:rPr>
              <a:t>1</a:t>
            </a:r>
            <a:r>
              <a:rPr sz="2000" b="1" spc="-15" dirty="0">
                <a:latin typeface="Arial"/>
                <a:cs typeface="Arial"/>
              </a:rPr>
              <a:t>7</a:t>
            </a:r>
            <a:r>
              <a:rPr sz="2000" b="1" spc="-5" dirty="0">
                <a:latin typeface="Arial"/>
                <a:cs typeface="Arial"/>
              </a:rPr>
              <a:t>4.</a:t>
            </a:r>
            <a:r>
              <a:rPr sz="2000" b="1" spc="5" dirty="0">
                <a:latin typeface="Arial"/>
                <a:cs typeface="Arial"/>
              </a:rPr>
              <a:t>7</a:t>
            </a:r>
            <a:r>
              <a:rPr sz="2000" b="1" spc="-5" dirty="0">
                <a:latin typeface="Arial"/>
                <a:cs typeface="Arial"/>
              </a:rPr>
              <a:t>5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5" dirty="0">
                <a:latin typeface="Arial"/>
                <a:cs typeface="Arial"/>
              </a:rPr>
              <a:t>1</a:t>
            </a:r>
            <a:r>
              <a:rPr sz="2000" b="1" spc="-15" dirty="0">
                <a:latin typeface="Arial"/>
                <a:cs typeface="Arial"/>
              </a:rPr>
              <a:t>5</a:t>
            </a:r>
            <a:r>
              <a:rPr sz="2000" b="1" spc="-5" dirty="0">
                <a:latin typeface="Arial"/>
                <a:cs typeface="Arial"/>
              </a:rPr>
              <a:t>.75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5" dirty="0">
                <a:latin typeface="Arial"/>
                <a:cs typeface="Arial"/>
              </a:rPr>
              <a:t>1</a:t>
            </a:r>
            <a:r>
              <a:rPr sz="2000" b="1" spc="-15" dirty="0">
                <a:latin typeface="Arial"/>
                <a:cs typeface="Arial"/>
              </a:rPr>
              <a:t>7</a:t>
            </a:r>
            <a:r>
              <a:rPr sz="2000" b="1" spc="-5" dirty="0">
                <a:latin typeface="Arial"/>
                <a:cs typeface="Arial"/>
              </a:rPr>
              <a:t>2.7</a:t>
            </a:r>
            <a:endParaRPr sz="2000">
              <a:latin typeface="Arial"/>
              <a:cs typeface="Arial"/>
            </a:endParaRPr>
          </a:p>
          <a:p>
            <a:pPr marL="307340">
              <a:lnSpc>
                <a:spcPct val="100000"/>
              </a:lnSpc>
              <a:tabLst>
                <a:tab pos="1410970" algn="l"/>
                <a:tab pos="2646045" algn="l"/>
                <a:tab pos="4109720" algn="l"/>
                <a:tab pos="5606415" algn="l"/>
              </a:tabLst>
            </a:pPr>
            <a:r>
              <a:rPr sz="2000" b="1" spc="-5" dirty="0">
                <a:latin typeface="Arial"/>
                <a:cs typeface="Arial"/>
              </a:rPr>
              <a:t>4	</a:t>
            </a:r>
            <a:r>
              <a:rPr sz="2000" b="1" spc="-10" dirty="0">
                <a:latin typeface="Arial"/>
                <a:cs typeface="Arial"/>
              </a:rPr>
              <a:t>17</a:t>
            </a:r>
            <a:r>
              <a:rPr sz="2000" b="1" spc="-5" dirty="0">
                <a:latin typeface="Arial"/>
                <a:cs typeface="Arial"/>
              </a:rPr>
              <a:t>5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5" dirty="0">
                <a:latin typeface="Arial"/>
                <a:cs typeface="Arial"/>
              </a:rPr>
              <a:t>1</a:t>
            </a:r>
            <a:r>
              <a:rPr sz="2000" b="1" spc="-15" dirty="0">
                <a:latin typeface="Arial"/>
                <a:cs typeface="Arial"/>
              </a:rPr>
              <a:t>7</a:t>
            </a:r>
            <a:r>
              <a:rPr sz="2000" b="1" spc="-5" dirty="0">
                <a:latin typeface="Arial"/>
                <a:cs typeface="Arial"/>
              </a:rPr>
              <a:t>3.</a:t>
            </a:r>
            <a:r>
              <a:rPr sz="2000" b="1" spc="5" dirty="0">
                <a:latin typeface="Arial"/>
                <a:cs typeface="Arial"/>
              </a:rPr>
              <a:t>1</a:t>
            </a:r>
            <a:r>
              <a:rPr sz="2000" b="1" spc="-5" dirty="0">
                <a:latin typeface="Arial"/>
                <a:cs typeface="Arial"/>
              </a:rPr>
              <a:t>8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5" dirty="0">
                <a:latin typeface="Arial"/>
                <a:cs typeface="Arial"/>
              </a:rPr>
              <a:t>1.</a:t>
            </a:r>
            <a:r>
              <a:rPr sz="2000" b="1" spc="-15" dirty="0">
                <a:latin typeface="Arial"/>
                <a:cs typeface="Arial"/>
              </a:rPr>
              <a:t>8</a:t>
            </a:r>
            <a:r>
              <a:rPr sz="2000" b="1" spc="-5" dirty="0">
                <a:latin typeface="Arial"/>
                <a:cs typeface="Arial"/>
              </a:rPr>
              <a:t>2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5" dirty="0">
                <a:latin typeface="Arial"/>
                <a:cs typeface="Arial"/>
              </a:rPr>
              <a:t>1</a:t>
            </a:r>
            <a:r>
              <a:rPr sz="2000" b="1" spc="-15" dirty="0">
                <a:latin typeface="Arial"/>
                <a:cs typeface="Arial"/>
              </a:rPr>
              <a:t>6</a:t>
            </a:r>
            <a:r>
              <a:rPr sz="2000" b="1" spc="-5" dirty="0">
                <a:latin typeface="Arial"/>
                <a:cs typeface="Arial"/>
              </a:rPr>
              <a:t>5.8</a:t>
            </a:r>
            <a:endParaRPr sz="2000">
              <a:latin typeface="Arial"/>
              <a:cs typeface="Arial"/>
            </a:endParaRPr>
          </a:p>
          <a:p>
            <a:pPr marL="307340">
              <a:lnSpc>
                <a:spcPct val="100000"/>
              </a:lnSpc>
              <a:tabLst>
                <a:tab pos="1410970" algn="l"/>
                <a:tab pos="2646045" algn="l"/>
                <a:tab pos="3969385" algn="l"/>
                <a:tab pos="5606415" algn="l"/>
              </a:tabLst>
            </a:pPr>
            <a:r>
              <a:rPr sz="2000" b="1" spc="-5" dirty="0">
                <a:latin typeface="Arial"/>
                <a:cs typeface="Arial"/>
              </a:rPr>
              <a:t>5	</a:t>
            </a:r>
            <a:r>
              <a:rPr sz="2000" b="1" spc="-10" dirty="0">
                <a:latin typeface="Arial"/>
                <a:cs typeface="Arial"/>
              </a:rPr>
              <a:t>19</a:t>
            </a:r>
            <a:r>
              <a:rPr sz="2000" b="1" spc="-5" dirty="0">
                <a:latin typeface="Arial"/>
                <a:cs typeface="Arial"/>
              </a:rPr>
              <a:t>0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5" dirty="0">
                <a:latin typeface="Arial"/>
                <a:cs typeface="Arial"/>
              </a:rPr>
              <a:t>1</a:t>
            </a:r>
            <a:r>
              <a:rPr sz="2000" b="1" spc="-15" dirty="0">
                <a:latin typeface="Arial"/>
                <a:cs typeface="Arial"/>
              </a:rPr>
              <a:t>7</a:t>
            </a:r>
            <a:r>
              <a:rPr sz="2000" b="1" spc="-5" dirty="0">
                <a:latin typeface="Arial"/>
                <a:cs typeface="Arial"/>
              </a:rPr>
              <a:t>3</a:t>
            </a:r>
            <a:r>
              <a:rPr sz="2000" b="1" spc="-15" dirty="0">
                <a:latin typeface="Arial"/>
                <a:cs typeface="Arial"/>
              </a:rPr>
              <a:t>.</a:t>
            </a:r>
            <a:r>
              <a:rPr sz="2000" b="1" spc="10" dirty="0">
                <a:latin typeface="Arial"/>
                <a:cs typeface="Arial"/>
              </a:rPr>
              <a:t>3</a:t>
            </a:r>
            <a:r>
              <a:rPr sz="2000" b="1" spc="-5" dirty="0">
                <a:latin typeface="Arial"/>
                <a:cs typeface="Arial"/>
              </a:rPr>
              <a:t>6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5" dirty="0">
                <a:latin typeface="Arial"/>
                <a:cs typeface="Arial"/>
              </a:rPr>
              <a:t>1</a:t>
            </a:r>
            <a:r>
              <a:rPr sz="2000" b="1" spc="-15" dirty="0">
                <a:latin typeface="Arial"/>
                <a:cs typeface="Arial"/>
              </a:rPr>
              <a:t>6</a:t>
            </a:r>
            <a:r>
              <a:rPr sz="2000" b="1" spc="-5" dirty="0">
                <a:latin typeface="Arial"/>
                <a:cs typeface="Arial"/>
              </a:rPr>
              <a:t>.</a:t>
            </a:r>
            <a:r>
              <a:rPr sz="2000" b="1" spc="-15" dirty="0">
                <a:latin typeface="Arial"/>
                <a:cs typeface="Arial"/>
              </a:rPr>
              <a:t>6</a:t>
            </a:r>
            <a:r>
              <a:rPr sz="2000" b="1" spc="-5" dirty="0">
                <a:latin typeface="Arial"/>
                <a:cs typeface="Arial"/>
              </a:rPr>
              <a:t>4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5" dirty="0">
                <a:latin typeface="Arial"/>
                <a:cs typeface="Arial"/>
              </a:rPr>
              <a:t>1</a:t>
            </a:r>
            <a:r>
              <a:rPr sz="2000" b="1" spc="-15" dirty="0">
                <a:latin typeface="Arial"/>
                <a:cs typeface="Arial"/>
              </a:rPr>
              <a:t>7</a:t>
            </a:r>
            <a:r>
              <a:rPr sz="2000" b="1" spc="-5" dirty="0">
                <a:latin typeface="Arial"/>
                <a:cs typeface="Arial"/>
              </a:rPr>
              <a:t>0</a:t>
            </a:r>
            <a:r>
              <a:rPr sz="2000" b="1" spc="-15" dirty="0">
                <a:latin typeface="Arial"/>
                <a:cs typeface="Arial"/>
              </a:rPr>
              <a:t>.</a:t>
            </a:r>
            <a:r>
              <a:rPr sz="2000" b="1" spc="-5" dirty="0"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  <a:p>
            <a:pPr marL="307340">
              <a:lnSpc>
                <a:spcPct val="100000"/>
              </a:lnSpc>
              <a:spcBef>
                <a:spcPts val="5"/>
              </a:spcBef>
              <a:tabLst>
                <a:tab pos="1410970" algn="l"/>
                <a:tab pos="2646045" algn="l"/>
                <a:tab pos="3969385" algn="l"/>
                <a:tab pos="5606415" algn="l"/>
              </a:tabLst>
            </a:pPr>
            <a:r>
              <a:rPr sz="2000" b="1" spc="-5" dirty="0">
                <a:latin typeface="Arial"/>
                <a:cs typeface="Arial"/>
              </a:rPr>
              <a:t>6	</a:t>
            </a:r>
            <a:r>
              <a:rPr sz="2000" b="1" spc="-10" dirty="0">
                <a:latin typeface="Arial"/>
                <a:cs typeface="Arial"/>
              </a:rPr>
              <a:t>20</a:t>
            </a:r>
            <a:r>
              <a:rPr sz="2000" b="1" spc="-5" dirty="0">
                <a:latin typeface="Arial"/>
                <a:cs typeface="Arial"/>
              </a:rPr>
              <a:t>5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5" dirty="0">
                <a:latin typeface="Arial"/>
                <a:cs typeface="Arial"/>
              </a:rPr>
              <a:t>1</a:t>
            </a:r>
            <a:r>
              <a:rPr sz="2000" b="1" spc="-15" dirty="0">
                <a:latin typeface="Arial"/>
                <a:cs typeface="Arial"/>
              </a:rPr>
              <a:t>7</a:t>
            </a:r>
            <a:r>
              <a:rPr sz="2000" b="1" spc="-5" dirty="0">
                <a:latin typeface="Arial"/>
                <a:cs typeface="Arial"/>
              </a:rPr>
              <a:t>5.</a:t>
            </a:r>
            <a:r>
              <a:rPr sz="2000" b="1" spc="5" dirty="0">
                <a:latin typeface="Arial"/>
                <a:cs typeface="Arial"/>
              </a:rPr>
              <a:t>0</a:t>
            </a:r>
            <a:r>
              <a:rPr sz="2000" b="1" spc="-5" dirty="0">
                <a:latin typeface="Arial"/>
                <a:cs typeface="Arial"/>
              </a:rPr>
              <a:t>2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5" dirty="0">
                <a:latin typeface="Arial"/>
                <a:cs typeface="Arial"/>
              </a:rPr>
              <a:t>2</a:t>
            </a:r>
            <a:r>
              <a:rPr sz="2000" b="1" spc="-15" dirty="0">
                <a:latin typeface="Arial"/>
                <a:cs typeface="Arial"/>
              </a:rPr>
              <a:t>9</a:t>
            </a:r>
            <a:r>
              <a:rPr sz="2000" b="1" spc="-5" dirty="0">
                <a:latin typeface="Arial"/>
                <a:cs typeface="Arial"/>
              </a:rPr>
              <a:t>.98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5" dirty="0">
                <a:latin typeface="Arial"/>
                <a:cs typeface="Arial"/>
              </a:rPr>
              <a:t>1</a:t>
            </a:r>
            <a:r>
              <a:rPr sz="2000" b="1" spc="-15" dirty="0">
                <a:latin typeface="Arial"/>
                <a:cs typeface="Arial"/>
              </a:rPr>
              <a:t>8</a:t>
            </a:r>
            <a:r>
              <a:rPr sz="2000" b="1" spc="-5" dirty="0">
                <a:latin typeface="Arial"/>
                <a:cs typeface="Arial"/>
              </a:rPr>
              <a:t>0.2</a:t>
            </a:r>
            <a:endParaRPr sz="2000">
              <a:latin typeface="Arial"/>
              <a:cs typeface="Arial"/>
            </a:endParaRPr>
          </a:p>
          <a:p>
            <a:pPr marL="307340">
              <a:lnSpc>
                <a:spcPct val="100000"/>
              </a:lnSpc>
              <a:tabLst>
                <a:tab pos="1410970" algn="l"/>
                <a:tab pos="2646045" algn="l"/>
                <a:tab pos="4109720" algn="l"/>
                <a:tab pos="5606415" algn="l"/>
              </a:tabLst>
            </a:pPr>
            <a:r>
              <a:rPr sz="2000" b="1" spc="-5" dirty="0">
                <a:latin typeface="Arial"/>
                <a:cs typeface="Arial"/>
              </a:rPr>
              <a:t>7	</a:t>
            </a:r>
            <a:r>
              <a:rPr sz="2000" b="1" spc="-10" dirty="0">
                <a:latin typeface="Arial"/>
                <a:cs typeface="Arial"/>
              </a:rPr>
              <a:t>18</a:t>
            </a:r>
            <a:r>
              <a:rPr sz="2000" b="1" spc="-5" dirty="0">
                <a:latin typeface="Arial"/>
                <a:cs typeface="Arial"/>
              </a:rPr>
              <a:t>0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5" dirty="0">
                <a:latin typeface="Arial"/>
                <a:cs typeface="Arial"/>
              </a:rPr>
              <a:t>1</a:t>
            </a:r>
            <a:r>
              <a:rPr sz="2000" b="1" spc="-15" dirty="0">
                <a:latin typeface="Arial"/>
                <a:cs typeface="Arial"/>
              </a:rPr>
              <a:t>7</a:t>
            </a:r>
            <a:r>
              <a:rPr sz="2000" b="1" spc="-5" dirty="0">
                <a:latin typeface="Arial"/>
                <a:cs typeface="Arial"/>
              </a:rPr>
              <a:t>8</a:t>
            </a:r>
            <a:r>
              <a:rPr sz="2000" b="1" spc="-15" dirty="0">
                <a:latin typeface="Arial"/>
                <a:cs typeface="Arial"/>
              </a:rPr>
              <a:t>.</a:t>
            </a:r>
            <a:r>
              <a:rPr sz="2000" b="1" spc="10" dirty="0">
                <a:latin typeface="Arial"/>
                <a:cs typeface="Arial"/>
              </a:rPr>
              <a:t>0</a:t>
            </a:r>
            <a:r>
              <a:rPr sz="2000" b="1" spc="-5" dirty="0">
                <a:latin typeface="Arial"/>
                <a:cs typeface="Arial"/>
              </a:rPr>
              <a:t>2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5" dirty="0">
                <a:latin typeface="Arial"/>
                <a:cs typeface="Arial"/>
              </a:rPr>
              <a:t>1</a:t>
            </a:r>
            <a:r>
              <a:rPr sz="2000" b="1" spc="-15" dirty="0">
                <a:latin typeface="Arial"/>
                <a:cs typeface="Arial"/>
              </a:rPr>
              <a:t>.</a:t>
            </a:r>
            <a:r>
              <a:rPr sz="2000" b="1" spc="-5" dirty="0">
                <a:latin typeface="Arial"/>
                <a:cs typeface="Arial"/>
              </a:rPr>
              <a:t>98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5" dirty="0">
                <a:latin typeface="Arial"/>
                <a:cs typeface="Arial"/>
              </a:rPr>
              <a:t>1</a:t>
            </a:r>
            <a:r>
              <a:rPr sz="2000" b="1" spc="-15" dirty="0">
                <a:latin typeface="Arial"/>
                <a:cs typeface="Arial"/>
              </a:rPr>
              <a:t>9</a:t>
            </a:r>
            <a:r>
              <a:rPr sz="2000" b="1" spc="-5" dirty="0">
                <a:latin typeface="Arial"/>
                <a:cs typeface="Arial"/>
              </a:rPr>
              <a:t>2</a:t>
            </a:r>
            <a:r>
              <a:rPr sz="2000" b="1" spc="-15" dirty="0">
                <a:latin typeface="Arial"/>
                <a:cs typeface="Arial"/>
              </a:rPr>
              <a:t>.</a:t>
            </a:r>
            <a:r>
              <a:rPr sz="2000" b="1" spc="-5" dirty="0">
                <a:latin typeface="Arial"/>
                <a:cs typeface="Arial"/>
              </a:rPr>
              <a:t>6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49808" y="2761488"/>
            <a:ext cx="7498080" cy="2405380"/>
            <a:chOff x="749808" y="2761488"/>
            <a:chExt cx="7498080" cy="2405380"/>
          </a:xfrm>
        </p:grpSpPr>
        <p:sp>
          <p:nvSpPr>
            <p:cNvPr id="33" name="object 33"/>
            <p:cNvSpPr/>
            <p:nvPr/>
          </p:nvSpPr>
          <p:spPr>
            <a:xfrm>
              <a:off x="3087624" y="2761488"/>
              <a:ext cx="771144" cy="576072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087624" y="3066288"/>
              <a:ext cx="981455" cy="576072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087624" y="3371088"/>
              <a:ext cx="1124712" cy="576072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087624" y="3675888"/>
              <a:ext cx="1124712" cy="576072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087624" y="3980688"/>
              <a:ext cx="1124712" cy="576072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087624" y="4285488"/>
              <a:ext cx="1124712" cy="576072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087624" y="4590288"/>
              <a:ext cx="1124712" cy="576072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550663" y="2761488"/>
              <a:ext cx="838200" cy="576072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550663" y="3066288"/>
              <a:ext cx="838200" cy="576072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410455" y="3371088"/>
              <a:ext cx="978408" cy="576072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550663" y="3675888"/>
              <a:ext cx="838200" cy="576072"/>
            </a:xfrm>
            <a:prstGeom prst="rect">
              <a:avLst/>
            </a:prstGeom>
            <a:blipFill>
              <a:blip r:embed="rId2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410455" y="3980688"/>
              <a:ext cx="978408" cy="576072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410455" y="4285488"/>
              <a:ext cx="978408" cy="576072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550663" y="4590288"/>
              <a:ext cx="838200" cy="576072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047231" y="2761488"/>
              <a:ext cx="771143" cy="576072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047231" y="3066288"/>
              <a:ext cx="1124712" cy="576072"/>
            </a:xfrm>
            <a:prstGeom prst="rect">
              <a:avLst/>
            </a:prstGeom>
            <a:blipFill>
              <a:blip r:embed="rId3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047231" y="3371088"/>
              <a:ext cx="1124712" cy="576072"/>
            </a:xfrm>
            <a:prstGeom prst="rect">
              <a:avLst/>
            </a:prstGeom>
            <a:blipFill>
              <a:blip r:embed="rId3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047231" y="3675888"/>
              <a:ext cx="1124712" cy="576072"/>
            </a:xfrm>
            <a:prstGeom prst="rect">
              <a:avLst/>
            </a:prstGeom>
            <a:blipFill>
              <a:blip r:embed="rId3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047231" y="3980688"/>
              <a:ext cx="1124712" cy="576072"/>
            </a:xfrm>
            <a:prstGeom prst="rect">
              <a:avLst/>
            </a:prstGeom>
            <a:blipFill>
              <a:blip r:embed="rId3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047231" y="4285488"/>
              <a:ext cx="1124712" cy="576072"/>
            </a:xfrm>
            <a:prstGeom prst="rect">
              <a:avLst/>
            </a:prstGeom>
            <a:blipFill>
              <a:blip r:embed="rId3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047231" y="4590288"/>
              <a:ext cx="1124712" cy="576072"/>
            </a:xfrm>
            <a:prstGeom prst="rect">
              <a:avLst/>
            </a:prstGeom>
            <a:blipFill>
              <a:blip r:embed="rId3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409688" y="2761488"/>
              <a:ext cx="838200" cy="576072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409688" y="3066288"/>
              <a:ext cx="838200" cy="576072"/>
            </a:xfrm>
            <a:prstGeom prst="rect">
              <a:avLst/>
            </a:prstGeom>
            <a:blipFill>
              <a:blip r:embed="rId3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269479" y="3371088"/>
              <a:ext cx="978407" cy="576072"/>
            </a:xfrm>
            <a:prstGeom prst="rect">
              <a:avLst/>
            </a:prstGeom>
            <a:blipFill>
              <a:blip r:embed="rId3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409688" y="3675888"/>
              <a:ext cx="838200" cy="576072"/>
            </a:xfrm>
            <a:prstGeom prst="rect">
              <a:avLst/>
            </a:prstGeom>
            <a:blipFill>
              <a:blip r:embed="rId4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269479" y="3980688"/>
              <a:ext cx="978407" cy="576072"/>
            </a:xfrm>
            <a:prstGeom prst="rect">
              <a:avLst/>
            </a:prstGeom>
            <a:blipFill>
              <a:blip r:embed="rId4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269479" y="4285488"/>
              <a:ext cx="978407" cy="576072"/>
            </a:xfrm>
            <a:prstGeom prst="rect">
              <a:avLst/>
            </a:prstGeom>
            <a:blipFill>
              <a:blip r:embed="rId4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49808" y="2761488"/>
              <a:ext cx="487680" cy="576072"/>
            </a:xfrm>
            <a:prstGeom prst="rect">
              <a:avLst/>
            </a:prstGeom>
            <a:blipFill>
              <a:blip r:embed="rId4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853183" y="2761488"/>
              <a:ext cx="768095" cy="576072"/>
            </a:xfrm>
            <a:prstGeom prst="rect">
              <a:avLst/>
            </a:prstGeom>
            <a:blipFill>
              <a:blip r:embed="rId4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49808" y="3066288"/>
              <a:ext cx="487680" cy="576072"/>
            </a:xfrm>
            <a:prstGeom prst="rect">
              <a:avLst/>
            </a:prstGeom>
            <a:blipFill>
              <a:blip r:embed="rId4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853183" y="3066288"/>
              <a:ext cx="768095" cy="576072"/>
            </a:xfrm>
            <a:prstGeom prst="rect">
              <a:avLst/>
            </a:prstGeom>
            <a:blipFill>
              <a:blip r:embed="rId4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49808" y="3371088"/>
              <a:ext cx="487680" cy="576072"/>
            </a:xfrm>
            <a:prstGeom prst="rect">
              <a:avLst/>
            </a:prstGeom>
            <a:blipFill>
              <a:blip r:embed="rId4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853183" y="3371088"/>
              <a:ext cx="768095" cy="576072"/>
            </a:xfrm>
            <a:prstGeom prst="rect">
              <a:avLst/>
            </a:prstGeom>
            <a:blipFill>
              <a:blip r:embed="rId4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749808" y="3675888"/>
              <a:ext cx="487680" cy="576072"/>
            </a:xfrm>
            <a:prstGeom prst="rect">
              <a:avLst/>
            </a:prstGeom>
            <a:blipFill>
              <a:blip r:embed="rId4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853183" y="3675888"/>
              <a:ext cx="768095" cy="576072"/>
            </a:xfrm>
            <a:prstGeom prst="rect">
              <a:avLst/>
            </a:prstGeom>
            <a:blipFill>
              <a:blip r:embed="rId5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49808" y="3980688"/>
              <a:ext cx="487680" cy="576072"/>
            </a:xfrm>
            <a:prstGeom prst="rect">
              <a:avLst/>
            </a:prstGeom>
            <a:blipFill>
              <a:blip r:embed="rId5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853183" y="3980688"/>
              <a:ext cx="768095" cy="576072"/>
            </a:xfrm>
            <a:prstGeom prst="rect">
              <a:avLst/>
            </a:prstGeom>
            <a:blipFill>
              <a:blip r:embed="rId5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749808" y="4285488"/>
              <a:ext cx="487680" cy="576072"/>
            </a:xfrm>
            <a:prstGeom prst="rect">
              <a:avLst/>
            </a:prstGeom>
            <a:blipFill>
              <a:blip r:embed="rId5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853183" y="4285488"/>
              <a:ext cx="768095" cy="576072"/>
            </a:xfrm>
            <a:prstGeom prst="rect">
              <a:avLst/>
            </a:prstGeom>
            <a:blipFill>
              <a:blip r:embed="rId5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749808" y="4590288"/>
              <a:ext cx="487680" cy="576072"/>
            </a:xfrm>
            <a:prstGeom prst="rect">
              <a:avLst/>
            </a:prstGeom>
            <a:blipFill>
              <a:blip r:embed="rId5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853183" y="4590288"/>
              <a:ext cx="768095" cy="576072"/>
            </a:xfrm>
            <a:prstGeom prst="rect">
              <a:avLst/>
            </a:prstGeom>
            <a:blipFill>
              <a:blip r:embed="rId4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/>
          <p:nvPr/>
        </p:nvSpPr>
        <p:spPr>
          <a:xfrm>
            <a:off x="7269480" y="4590288"/>
            <a:ext cx="978407" cy="576072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6834330" y="2831973"/>
            <a:ext cx="1246505" cy="21590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0"/>
              </a:spcBef>
            </a:pPr>
            <a:r>
              <a:rPr sz="2000" b="1" spc="-5" dirty="0">
                <a:latin typeface="Arial"/>
                <a:cs typeface="Arial"/>
              </a:rPr>
              <a:t>5.</a:t>
            </a:r>
            <a:r>
              <a:rPr sz="2000" b="1" spc="-15" dirty="0">
                <a:latin typeface="Arial"/>
                <a:cs typeface="Arial"/>
              </a:rPr>
              <a:t>0</a:t>
            </a:r>
            <a:r>
              <a:rPr sz="2000" b="1" spc="-5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tabLst>
                <a:tab pos="728980" algn="l"/>
              </a:tabLst>
            </a:pPr>
            <a:r>
              <a:rPr sz="2000" b="1" spc="-5" dirty="0">
                <a:latin typeface="Arial"/>
                <a:cs typeface="Arial"/>
              </a:rPr>
              <a:t>0	9.</a:t>
            </a:r>
            <a:r>
              <a:rPr sz="2000" b="1" spc="-15" dirty="0">
                <a:latin typeface="Arial"/>
                <a:cs typeface="Arial"/>
              </a:rPr>
              <a:t>5</a:t>
            </a:r>
            <a:r>
              <a:rPr sz="2000" b="1" spc="-5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  <a:tabLst>
                <a:tab pos="588645" algn="l"/>
              </a:tabLst>
            </a:pPr>
            <a:r>
              <a:rPr sz="2000" b="1" spc="-5" dirty="0">
                <a:latin typeface="Arial"/>
                <a:cs typeface="Arial"/>
              </a:rPr>
              <a:t>5	</a:t>
            </a:r>
            <a:r>
              <a:rPr sz="2000" b="1" spc="-10" dirty="0">
                <a:latin typeface="Arial"/>
                <a:cs typeface="Arial"/>
              </a:rPr>
              <a:t>13.75</a:t>
            </a:r>
            <a:endParaRPr sz="20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tabLst>
                <a:tab pos="728980" algn="l"/>
              </a:tabLst>
            </a:pPr>
            <a:r>
              <a:rPr sz="2000" b="1" spc="-5" dirty="0">
                <a:latin typeface="Arial"/>
                <a:cs typeface="Arial"/>
              </a:rPr>
              <a:t>8	9.</a:t>
            </a:r>
            <a:r>
              <a:rPr sz="2000" b="1" spc="-15" dirty="0">
                <a:latin typeface="Arial"/>
                <a:cs typeface="Arial"/>
              </a:rPr>
              <a:t>1</a:t>
            </a:r>
            <a:r>
              <a:rPr sz="2000" b="1" spc="-5" dirty="0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tabLst>
                <a:tab pos="588645" algn="l"/>
              </a:tabLst>
            </a:pPr>
            <a:r>
              <a:rPr sz="2000" b="1" spc="-5" dirty="0">
                <a:latin typeface="Arial"/>
                <a:cs typeface="Arial"/>
              </a:rPr>
              <a:t>4	</a:t>
            </a:r>
            <a:r>
              <a:rPr sz="2000" b="1" spc="-10" dirty="0">
                <a:latin typeface="Arial"/>
                <a:cs typeface="Arial"/>
              </a:rPr>
              <a:t>19.56</a:t>
            </a:r>
            <a:endParaRPr sz="20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tabLst>
                <a:tab pos="588645" algn="l"/>
              </a:tabLst>
            </a:pPr>
            <a:r>
              <a:rPr sz="2000" b="1" spc="-5" dirty="0">
                <a:latin typeface="Arial"/>
                <a:cs typeface="Arial"/>
              </a:rPr>
              <a:t>2	</a:t>
            </a:r>
            <a:r>
              <a:rPr sz="2000" b="1" spc="-10" dirty="0">
                <a:latin typeface="Arial"/>
                <a:cs typeface="Arial"/>
              </a:rPr>
              <a:t>24.78</a:t>
            </a:r>
            <a:endParaRPr sz="20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tabLst>
                <a:tab pos="588645" algn="l"/>
              </a:tabLst>
            </a:pPr>
            <a:r>
              <a:rPr sz="2000" b="1" spc="-5" dirty="0">
                <a:latin typeface="Arial"/>
                <a:cs typeface="Arial"/>
              </a:rPr>
              <a:t>1	</a:t>
            </a:r>
            <a:r>
              <a:rPr sz="2000" b="1" spc="-10" dirty="0">
                <a:latin typeface="Arial"/>
                <a:cs typeface="Arial"/>
              </a:rPr>
              <a:t>12.61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3087623" y="5721096"/>
            <a:ext cx="899160" cy="725805"/>
            <a:chOff x="3087623" y="5721096"/>
            <a:chExt cx="899160" cy="725805"/>
          </a:xfrm>
        </p:grpSpPr>
        <p:sp>
          <p:nvSpPr>
            <p:cNvPr id="77" name="object 77"/>
            <p:cNvSpPr/>
            <p:nvPr/>
          </p:nvSpPr>
          <p:spPr>
            <a:xfrm>
              <a:off x="3270203" y="5721096"/>
              <a:ext cx="570561" cy="201168"/>
            </a:xfrm>
            <a:prstGeom prst="rect">
              <a:avLst/>
            </a:prstGeom>
            <a:blipFill>
              <a:blip r:embed="rId5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3087623" y="5870448"/>
              <a:ext cx="899160" cy="576071"/>
            </a:xfrm>
            <a:prstGeom prst="rect">
              <a:avLst/>
            </a:prstGeom>
            <a:blipFill>
              <a:blip r:embed="rId5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9" name="object 79"/>
          <p:cNvGrpSpPr/>
          <p:nvPr/>
        </p:nvGrpSpPr>
        <p:grpSpPr>
          <a:xfrm>
            <a:off x="4270247" y="5260847"/>
            <a:ext cx="1118870" cy="1186180"/>
            <a:chOff x="4270247" y="5260847"/>
            <a:chExt cx="1118870" cy="1186180"/>
          </a:xfrm>
        </p:grpSpPr>
        <p:sp>
          <p:nvSpPr>
            <p:cNvPr id="80" name="object 80"/>
            <p:cNvSpPr/>
            <p:nvPr/>
          </p:nvSpPr>
          <p:spPr>
            <a:xfrm>
              <a:off x="4410455" y="5260847"/>
              <a:ext cx="978408" cy="576072"/>
            </a:xfrm>
            <a:prstGeom prst="rect">
              <a:avLst/>
            </a:prstGeom>
            <a:blipFill>
              <a:blip r:embed="rId5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4410455" y="5565647"/>
              <a:ext cx="978408" cy="576071"/>
            </a:xfrm>
            <a:prstGeom prst="rect">
              <a:avLst/>
            </a:prstGeom>
            <a:blipFill>
              <a:blip r:embed="rId6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4270247" y="5870447"/>
              <a:ext cx="1118615" cy="576071"/>
            </a:xfrm>
            <a:prstGeom prst="rect">
              <a:avLst/>
            </a:prstGeom>
            <a:blipFill>
              <a:blip r:embed="rId6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3" name="object 83"/>
          <p:cNvGrpSpPr/>
          <p:nvPr/>
        </p:nvGrpSpPr>
        <p:grpSpPr>
          <a:xfrm>
            <a:off x="749808" y="4895088"/>
            <a:ext cx="7498080" cy="1551940"/>
            <a:chOff x="749808" y="4895088"/>
            <a:chExt cx="7498080" cy="1551940"/>
          </a:xfrm>
        </p:grpSpPr>
        <p:sp>
          <p:nvSpPr>
            <p:cNvPr id="84" name="object 84"/>
            <p:cNvSpPr/>
            <p:nvPr/>
          </p:nvSpPr>
          <p:spPr>
            <a:xfrm>
              <a:off x="3087624" y="4895088"/>
              <a:ext cx="1124712" cy="576072"/>
            </a:xfrm>
            <a:prstGeom prst="rect">
              <a:avLst/>
            </a:prstGeom>
            <a:blipFill>
              <a:blip r:embed="rId6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550663" y="4895088"/>
              <a:ext cx="838200" cy="576072"/>
            </a:xfrm>
            <a:prstGeom prst="rect">
              <a:avLst/>
            </a:prstGeom>
            <a:blipFill>
              <a:blip r:embed="rId6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6047231" y="4895088"/>
              <a:ext cx="1124712" cy="576072"/>
            </a:xfrm>
            <a:prstGeom prst="rect">
              <a:avLst/>
            </a:prstGeom>
            <a:blipFill>
              <a:blip r:embed="rId6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7409688" y="4895088"/>
              <a:ext cx="838200" cy="576072"/>
            </a:xfrm>
            <a:prstGeom prst="rect">
              <a:avLst/>
            </a:prstGeom>
            <a:blipFill>
              <a:blip r:embed="rId6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7269479" y="5260848"/>
              <a:ext cx="978407" cy="576072"/>
            </a:xfrm>
            <a:prstGeom prst="rect">
              <a:avLst/>
            </a:prstGeom>
            <a:blipFill>
              <a:blip r:embed="rId6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7269479" y="5565648"/>
              <a:ext cx="978407" cy="576071"/>
            </a:xfrm>
            <a:prstGeom prst="rect">
              <a:avLst/>
            </a:prstGeom>
            <a:blipFill>
              <a:blip r:embed="rId6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7129272" y="5870448"/>
              <a:ext cx="1118616" cy="576071"/>
            </a:xfrm>
            <a:prstGeom prst="rect">
              <a:avLst/>
            </a:prstGeom>
            <a:blipFill>
              <a:blip r:embed="rId6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749808" y="4895088"/>
              <a:ext cx="487680" cy="576072"/>
            </a:xfrm>
            <a:prstGeom prst="rect">
              <a:avLst/>
            </a:prstGeom>
            <a:blipFill>
              <a:blip r:embed="rId6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1853183" y="4895088"/>
              <a:ext cx="768095" cy="576072"/>
            </a:xfrm>
            <a:prstGeom prst="rect">
              <a:avLst/>
            </a:prstGeom>
            <a:blipFill>
              <a:blip r:embed="rId7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3" name="object 93"/>
          <p:cNvGrpSpPr/>
          <p:nvPr/>
        </p:nvGrpSpPr>
        <p:grpSpPr>
          <a:xfrm>
            <a:off x="493585" y="1051369"/>
            <a:ext cx="8101965" cy="4240530"/>
            <a:chOff x="493585" y="1051369"/>
            <a:chExt cx="8101965" cy="4240530"/>
          </a:xfrm>
        </p:grpSpPr>
        <p:sp>
          <p:nvSpPr>
            <p:cNvPr id="94" name="object 94"/>
            <p:cNvSpPr/>
            <p:nvPr/>
          </p:nvSpPr>
          <p:spPr>
            <a:xfrm>
              <a:off x="2973324" y="2784348"/>
              <a:ext cx="5602605" cy="2487295"/>
            </a:xfrm>
            <a:custGeom>
              <a:avLst/>
              <a:gdLst/>
              <a:ahLst/>
              <a:cxnLst/>
              <a:rect l="l" t="t" r="r" b="b"/>
              <a:pathLst>
                <a:path w="5602605" h="2487295">
                  <a:moveTo>
                    <a:pt x="2871216" y="2182368"/>
                  </a:moveTo>
                  <a:lnTo>
                    <a:pt x="2871216" y="2487167"/>
                  </a:lnTo>
                </a:path>
                <a:path w="5602605" h="2487295">
                  <a:moveTo>
                    <a:pt x="3849624" y="0"/>
                  </a:moveTo>
                  <a:lnTo>
                    <a:pt x="5602224" y="0"/>
                  </a:lnTo>
                </a:path>
                <a:path w="5602605" h="2487295">
                  <a:moveTo>
                    <a:pt x="0" y="2182368"/>
                  </a:moveTo>
                  <a:lnTo>
                    <a:pt x="0" y="2487167"/>
                  </a:lnTo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98348" y="1056132"/>
              <a:ext cx="6324600" cy="3910965"/>
            </a:xfrm>
            <a:custGeom>
              <a:avLst/>
              <a:gdLst/>
              <a:ahLst/>
              <a:cxnLst/>
              <a:rect l="l" t="t" r="r" b="b"/>
              <a:pathLst>
                <a:path w="6324600" h="3910965">
                  <a:moveTo>
                    <a:pt x="6324600" y="0"/>
                  </a:moveTo>
                  <a:lnTo>
                    <a:pt x="0" y="0"/>
                  </a:lnTo>
                  <a:lnTo>
                    <a:pt x="0" y="3910584"/>
                  </a:lnTo>
                  <a:lnTo>
                    <a:pt x="6324600" y="3910584"/>
                  </a:lnTo>
                  <a:lnTo>
                    <a:pt x="6324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498348" y="1056132"/>
              <a:ext cx="6324600" cy="3910965"/>
            </a:xfrm>
            <a:custGeom>
              <a:avLst/>
              <a:gdLst/>
              <a:ahLst/>
              <a:cxnLst/>
              <a:rect l="l" t="t" r="r" b="b"/>
              <a:pathLst>
                <a:path w="6324600" h="3910965">
                  <a:moveTo>
                    <a:pt x="0" y="3910584"/>
                  </a:moveTo>
                  <a:lnTo>
                    <a:pt x="6324600" y="3910584"/>
                  </a:lnTo>
                  <a:lnTo>
                    <a:pt x="6324600" y="0"/>
                  </a:lnTo>
                  <a:lnTo>
                    <a:pt x="0" y="0"/>
                  </a:lnTo>
                  <a:lnTo>
                    <a:pt x="0" y="391058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97" name="object 97"/>
          <p:cNvGraphicFramePr>
            <a:graphicFrameLocks noGrp="1"/>
          </p:cNvGraphicFramePr>
          <p:nvPr/>
        </p:nvGraphicFramePr>
        <p:xfrm>
          <a:off x="882345" y="5003126"/>
          <a:ext cx="7272654" cy="12584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9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5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27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34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8013">
                <a:tc>
                  <a:txBody>
                    <a:bodyPr/>
                    <a:lstStyle/>
                    <a:p>
                      <a:pPr marL="31750">
                        <a:lnSpc>
                          <a:spcPts val="2205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1330">
                        <a:lnSpc>
                          <a:spcPts val="2205"/>
                        </a:lnSpc>
                      </a:pPr>
                      <a:r>
                        <a:rPr sz="2000" b="1" spc="-10" dirty="0">
                          <a:latin typeface="Arial"/>
                          <a:cs typeface="Arial"/>
                        </a:rPr>
                        <a:t>182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ts val="2205"/>
                        </a:lnSpc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178.22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2205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3.</a:t>
                      </a:r>
                      <a:r>
                        <a:rPr sz="2000" b="1" spc="-10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0">
                        <a:lnSpc>
                          <a:spcPts val="2205"/>
                        </a:lnSpc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186.30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ts val="2205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4.</a:t>
                      </a:r>
                      <a:r>
                        <a:rPr sz="2000" b="1" spc="-1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8</a:t>
                      </a:r>
                      <a:r>
                        <a:rPr sz="2000" b="1" spc="-1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2000" b="1" spc="-10" dirty="0">
                          <a:latin typeface="Arial"/>
                          <a:cs typeface="Arial"/>
                        </a:rPr>
                        <a:t>4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T w="539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8740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98.62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T w="539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ts val="2290"/>
                        </a:lnSpc>
                      </a:pPr>
                      <a:r>
                        <a:rPr sz="2000" b="1" spc="-10" dirty="0">
                          <a:latin typeface="Arial"/>
                          <a:cs typeface="Arial"/>
                        </a:rPr>
                        <a:t>MAD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ts val="2290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2000" b="1" spc="-1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.31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8740" algn="r">
                        <a:lnSpc>
                          <a:spcPts val="2290"/>
                        </a:lnSpc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12.33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ts val="2215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MSE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ts val="2215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2000" b="1" spc="-10" dirty="0">
                          <a:latin typeface="Arial"/>
                          <a:cs typeface="Arial"/>
                        </a:rPr>
                        <a:t>9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2000" b="1" spc="-1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82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ts val="2215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2000" b="1" spc="-10" dirty="0">
                          <a:latin typeface="Arial"/>
                          <a:cs typeface="Arial"/>
                        </a:rPr>
                        <a:t>9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2000" b="1" spc="-1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24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8" name="object 98"/>
          <p:cNvSpPr txBox="1"/>
          <p:nvPr/>
        </p:nvSpPr>
        <p:spPr>
          <a:xfrm>
            <a:off x="1358900" y="2484146"/>
            <a:ext cx="4422140" cy="214693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2800" i="1" dirty="0">
                <a:latin typeface="Arial"/>
                <a:cs typeface="Arial"/>
              </a:rPr>
              <a:t>For </a:t>
            </a:r>
            <a:r>
              <a:rPr sz="2800" spc="5" dirty="0">
                <a:latin typeface="Symbol"/>
                <a:cs typeface="Symbol"/>
              </a:rPr>
              <a:t>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Arial"/>
                <a:cs typeface="Arial"/>
              </a:rPr>
              <a:t>=</a:t>
            </a:r>
            <a:r>
              <a:rPr sz="2800" spc="45" dirty="0">
                <a:latin typeface="Arial"/>
                <a:cs typeface="Arial"/>
              </a:rPr>
              <a:t> </a:t>
            </a:r>
            <a:r>
              <a:rPr sz="2800" spc="5" dirty="0">
                <a:latin typeface="Arial"/>
                <a:cs typeface="Arial"/>
              </a:rPr>
              <a:t>.10</a:t>
            </a:r>
            <a:endParaRPr sz="2800">
              <a:latin typeface="Arial"/>
              <a:cs typeface="Arial"/>
            </a:endParaRPr>
          </a:p>
          <a:p>
            <a:pPr marL="1498600">
              <a:lnSpc>
                <a:spcPct val="100000"/>
              </a:lnSpc>
              <a:spcBef>
                <a:spcPts val="560"/>
              </a:spcBef>
            </a:pPr>
            <a:r>
              <a:rPr sz="2800" dirty="0">
                <a:latin typeface="Arial"/>
                <a:cs typeface="Arial"/>
              </a:rPr>
              <a:t>= </a:t>
            </a:r>
            <a:r>
              <a:rPr sz="2800" spc="5" dirty="0">
                <a:latin typeface="Arial"/>
                <a:cs typeface="Arial"/>
              </a:rPr>
              <a:t>44.75/8 </a:t>
            </a:r>
            <a:r>
              <a:rPr sz="2800" dirty="0">
                <a:latin typeface="Arial"/>
                <a:cs typeface="Arial"/>
              </a:rPr>
              <a:t>=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5" dirty="0">
                <a:latin typeface="Arial"/>
                <a:cs typeface="Arial"/>
              </a:rPr>
              <a:t>5.59%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2800" i="1" spc="-5" dirty="0">
                <a:latin typeface="Arial"/>
                <a:cs typeface="Arial"/>
              </a:rPr>
              <a:t>For </a:t>
            </a:r>
            <a:r>
              <a:rPr sz="2800" spc="5" dirty="0">
                <a:latin typeface="Symbol"/>
                <a:cs typeface="Symbol"/>
              </a:rPr>
              <a:t>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rial"/>
                <a:cs typeface="Arial"/>
              </a:rPr>
              <a:t>=</a:t>
            </a:r>
            <a:r>
              <a:rPr sz="2800" spc="50" dirty="0">
                <a:latin typeface="Arial"/>
                <a:cs typeface="Arial"/>
              </a:rPr>
              <a:t> </a:t>
            </a:r>
            <a:r>
              <a:rPr sz="2800" spc="5" dirty="0">
                <a:latin typeface="Arial"/>
                <a:cs typeface="Arial"/>
              </a:rPr>
              <a:t>.50</a:t>
            </a:r>
            <a:endParaRPr sz="2800">
              <a:latin typeface="Arial"/>
              <a:cs typeface="Arial"/>
            </a:endParaRPr>
          </a:p>
          <a:p>
            <a:pPr marL="1485900">
              <a:lnSpc>
                <a:spcPct val="100000"/>
              </a:lnSpc>
              <a:spcBef>
                <a:spcPts val="545"/>
              </a:spcBef>
            </a:pPr>
            <a:r>
              <a:rPr sz="2800" spc="5" dirty="0">
                <a:latin typeface="Arial"/>
                <a:cs typeface="Arial"/>
              </a:rPr>
              <a:t>= 54.05/8 =</a:t>
            </a:r>
            <a:r>
              <a:rPr sz="2800" spc="-155" dirty="0">
                <a:latin typeface="Arial"/>
                <a:cs typeface="Arial"/>
              </a:rPr>
              <a:t> </a:t>
            </a:r>
            <a:r>
              <a:rPr sz="2800" spc="5" dirty="0">
                <a:latin typeface="Arial"/>
                <a:cs typeface="Arial"/>
              </a:rPr>
              <a:t>6.76%</a:t>
            </a:r>
            <a:endParaRPr sz="2800">
              <a:latin typeface="Arial"/>
              <a:cs typeface="Arial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739546" y="1775536"/>
            <a:ext cx="134048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i="1" spc="-5" dirty="0">
                <a:latin typeface="Arial"/>
                <a:cs typeface="Arial"/>
              </a:rPr>
              <a:t>MAPE</a:t>
            </a:r>
            <a:r>
              <a:rPr sz="2800" i="1" spc="-80" dirty="0">
                <a:latin typeface="Arial"/>
                <a:cs typeface="Arial"/>
              </a:rPr>
              <a:t> </a:t>
            </a:r>
            <a:r>
              <a:rPr sz="2800" i="1" spc="5" dirty="0">
                <a:latin typeface="Arial"/>
                <a:cs typeface="Arial"/>
              </a:rPr>
              <a:t>=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2238755" y="2193035"/>
            <a:ext cx="4267200" cy="0"/>
          </a:xfrm>
          <a:custGeom>
            <a:avLst/>
            <a:gdLst/>
            <a:ahLst/>
            <a:cxnLst/>
            <a:rect l="l" t="t" r="r" b="b"/>
            <a:pathLst>
              <a:path w="4267200">
                <a:moveTo>
                  <a:pt x="0" y="0"/>
                </a:moveTo>
                <a:lnTo>
                  <a:pt x="4267200" y="0"/>
                </a:lnTo>
              </a:path>
            </a:pathLst>
          </a:custGeom>
          <a:ln w="39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 txBox="1"/>
          <p:nvPr/>
        </p:nvSpPr>
        <p:spPr>
          <a:xfrm>
            <a:off x="2496439" y="1129360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2315591" y="1278128"/>
            <a:ext cx="3824604" cy="1240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">
              <a:lnSpc>
                <a:spcPts val="4275"/>
              </a:lnSpc>
              <a:spcBef>
                <a:spcPts val="100"/>
              </a:spcBef>
            </a:pPr>
            <a:r>
              <a:rPr sz="3600" b="1" dirty="0">
                <a:latin typeface="Arial"/>
                <a:cs typeface="Arial"/>
              </a:rPr>
              <a:t>∑</a:t>
            </a:r>
            <a:r>
              <a:rPr sz="2800" dirty="0">
                <a:latin typeface="Arial"/>
                <a:cs typeface="Arial"/>
              </a:rPr>
              <a:t>100</a:t>
            </a:r>
            <a:r>
              <a:rPr sz="2800" i="1" dirty="0">
                <a:latin typeface="Arial"/>
                <a:cs typeface="Arial"/>
              </a:rPr>
              <a:t>|deviation</a:t>
            </a:r>
            <a:r>
              <a:rPr sz="2775" i="1" baseline="-19519" dirty="0">
                <a:latin typeface="Arial"/>
                <a:cs typeface="Arial"/>
              </a:rPr>
              <a:t>i</a:t>
            </a:r>
            <a:r>
              <a:rPr sz="2800" i="1" dirty="0">
                <a:latin typeface="Arial"/>
                <a:cs typeface="Arial"/>
              </a:rPr>
              <a:t>|/actual</a:t>
            </a:r>
            <a:r>
              <a:rPr sz="2775" i="1" baseline="-19519" dirty="0">
                <a:latin typeface="Arial"/>
                <a:cs typeface="Arial"/>
              </a:rPr>
              <a:t>i</a:t>
            </a:r>
            <a:endParaRPr sz="2775" baseline="-19519">
              <a:latin typeface="Arial"/>
              <a:cs typeface="Arial"/>
            </a:endParaRPr>
          </a:p>
          <a:p>
            <a:pPr marL="38100">
              <a:lnSpc>
                <a:spcPts val="2020"/>
              </a:lnSpc>
            </a:pPr>
            <a:r>
              <a:rPr sz="1800" i="1" dirty="0">
                <a:latin typeface="Arial"/>
                <a:cs typeface="Arial"/>
              </a:rPr>
              <a:t>i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  <a:p>
            <a:pPr marL="53975" algn="ctr">
              <a:lnSpc>
                <a:spcPts val="3265"/>
              </a:lnSpc>
            </a:pPr>
            <a:r>
              <a:rPr sz="2800" i="1" dirty="0">
                <a:latin typeface="Arial"/>
                <a:cs typeface="Arial"/>
              </a:rPr>
              <a:t>n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0" y="6504431"/>
            <a:ext cx="1801495" cy="353695"/>
          </a:xfrm>
          <a:custGeom>
            <a:avLst/>
            <a:gdLst/>
            <a:ahLst/>
            <a:cxnLst/>
            <a:rect l="l" t="t" r="r" b="b"/>
            <a:pathLst>
              <a:path w="1801495" h="353695">
                <a:moveTo>
                  <a:pt x="1801368" y="0"/>
                </a:moveTo>
                <a:lnTo>
                  <a:pt x="0" y="0"/>
                </a:lnTo>
                <a:lnTo>
                  <a:pt x="0" y="353568"/>
                </a:lnTo>
                <a:lnTo>
                  <a:pt x="1801368" y="353568"/>
                </a:lnTo>
                <a:lnTo>
                  <a:pt x="18013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7327392" y="6504431"/>
            <a:ext cx="1804670" cy="353695"/>
          </a:xfrm>
          <a:custGeom>
            <a:avLst/>
            <a:gdLst/>
            <a:ahLst/>
            <a:cxnLst/>
            <a:rect l="l" t="t" r="r" b="b"/>
            <a:pathLst>
              <a:path w="1804670" h="353695">
                <a:moveTo>
                  <a:pt x="1804416" y="0"/>
                </a:moveTo>
                <a:lnTo>
                  <a:pt x="0" y="0"/>
                </a:lnTo>
                <a:lnTo>
                  <a:pt x="0" y="353568"/>
                </a:lnTo>
                <a:lnTo>
                  <a:pt x="1804416" y="353568"/>
                </a:lnTo>
                <a:lnTo>
                  <a:pt x="18044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Slide Number Placeholder 104">
            <a:extLst>
              <a:ext uri="{FF2B5EF4-FFF2-40B4-BE49-F238E27FC236}">
                <a16:creationId xmlns:a16="http://schemas.microsoft.com/office/drawing/2014/main" id="{11C34819-DD6B-DF0A-3853-092324C8B50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0462C1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0462C1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89213" y="6638266"/>
            <a:ext cx="32004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0462C1"/>
                </a:solidFill>
                <a:latin typeface="Arial"/>
                <a:cs typeface="Arial"/>
              </a:rPr>
              <a:t>4 –</a:t>
            </a:r>
            <a:r>
              <a:rPr sz="900" b="1" spc="-10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462C1"/>
                </a:solidFill>
                <a:latin typeface="Arial"/>
                <a:cs typeface="Arial"/>
              </a:rPr>
              <a:t>43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823466" y="661542"/>
            <a:ext cx="54978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Comparison </a:t>
            </a:r>
            <a:r>
              <a:rPr dirty="0"/>
              <a:t>of </a:t>
            </a:r>
            <a:r>
              <a:rPr spc="-5" dirty="0"/>
              <a:t>Forecast</a:t>
            </a:r>
            <a:r>
              <a:rPr spc="-30" dirty="0"/>
              <a:t> </a:t>
            </a:r>
            <a:r>
              <a:rPr dirty="0"/>
              <a:t>Error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24619" y="1820060"/>
            <a:ext cx="8025765" cy="902969"/>
            <a:chOff x="624619" y="1820060"/>
            <a:chExt cx="8025765" cy="902969"/>
          </a:xfrm>
        </p:grpSpPr>
        <p:sp>
          <p:nvSpPr>
            <p:cNvPr id="6" name="object 6"/>
            <p:cNvSpPr/>
            <p:nvPr/>
          </p:nvSpPr>
          <p:spPr>
            <a:xfrm>
              <a:off x="4620768" y="1820060"/>
              <a:ext cx="1001267" cy="18800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47032" y="1917192"/>
              <a:ext cx="1341119" cy="51816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809744" y="2148840"/>
              <a:ext cx="615696" cy="51816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476571" y="1820060"/>
              <a:ext cx="1000088" cy="18800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306056" y="1917192"/>
              <a:ext cx="1344168" cy="51816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68768" y="2148840"/>
              <a:ext cx="615696" cy="51816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04779" y="2054756"/>
              <a:ext cx="734981" cy="18800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633728" y="2148840"/>
              <a:ext cx="1255776" cy="51816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18500" y="2054756"/>
              <a:ext cx="981797" cy="18800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10128" y="2148840"/>
              <a:ext cx="768096" cy="51816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77524" y="2054756"/>
              <a:ext cx="981797" cy="18800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69152" y="2148840"/>
              <a:ext cx="768096" cy="51816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4619" y="2516515"/>
              <a:ext cx="849253" cy="20634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93547" y="2441905"/>
            <a:ext cx="85216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latin typeface="Arial"/>
                <a:cs typeface="Arial"/>
              </a:rPr>
              <a:t>Quarter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584960" y="2383535"/>
            <a:ext cx="1353312" cy="51816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718564" y="1975865"/>
            <a:ext cx="1071245" cy="76644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indent="2540" algn="ctr">
              <a:lnSpc>
                <a:spcPct val="85000"/>
              </a:lnSpc>
              <a:spcBef>
                <a:spcPts val="425"/>
              </a:spcBef>
            </a:pPr>
            <a:r>
              <a:rPr sz="1800" b="1" i="1" dirty="0">
                <a:latin typeface="Arial"/>
                <a:cs typeface="Arial"/>
              </a:rPr>
              <a:t>Actual  </a:t>
            </a:r>
            <a:r>
              <a:rPr sz="1800" b="1" i="1" spc="-10" dirty="0">
                <a:latin typeface="Arial"/>
                <a:cs typeface="Arial"/>
              </a:rPr>
              <a:t>Tonnage  </a:t>
            </a:r>
            <a:r>
              <a:rPr sz="1800" b="1" i="1" dirty="0">
                <a:latin typeface="Arial"/>
                <a:cs typeface="Arial"/>
              </a:rPr>
              <a:t>Unl</a:t>
            </a:r>
            <a:r>
              <a:rPr sz="1800" b="1" i="1" spc="5" dirty="0">
                <a:latin typeface="Arial"/>
                <a:cs typeface="Arial"/>
              </a:rPr>
              <a:t>o</a:t>
            </a:r>
            <a:r>
              <a:rPr sz="1800" b="1" i="1" dirty="0">
                <a:latin typeface="Arial"/>
                <a:cs typeface="Arial"/>
              </a:rPr>
              <a:t>ad</a:t>
            </a:r>
            <a:r>
              <a:rPr sz="1800" b="1" i="1" spc="5" dirty="0">
                <a:latin typeface="Arial"/>
                <a:cs typeface="Arial"/>
              </a:rPr>
              <a:t>e</a:t>
            </a:r>
            <a:r>
              <a:rPr sz="1800" b="1" i="1" dirty="0"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179064" y="2380488"/>
            <a:ext cx="1033780" cy="521334"/>
            <a:chOff x="3179064" y="2380488"/>
            <a:chExt cx="1033780" cy="521334"/>
          </a:xfrm>
        </p:grpSpPr>
        <p:sp>
          <p:nvSpPr>
            <p:cNvPr id="23" name="object 23"/>
            <p:cNvSpPr/>
            <p:nvPr/>
          </p:nvSpPr>
          <p:spPr>
            <a:xfrm>
              <a:off x="3179064" y="2380488"/>
              <a:ext cx="454151" cy="518160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386328" y="2383536"/>
              <a:ext cx="826008" cy="518160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197479" y="1975865"/>
            <a:ext cx="981710" cy="766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989"/>
              </a:lnSpc>
              <a:spcBef>
                <a:spcPts val="100"/>
              </a:spcBef>
            </a:pPr>
            <a:r>
              <a:rPr sz="1800" b="1" i="1" dirty="0">
                <a:latin typeface="Arial"/>
                <a:cs typeface="Arial"/>
              </a:rPr>
              <a:t>F</a:t>
            </a:r>
            <a:r>
              <a:rPr sz="1800" b="1" i="1" spc="5" dirty="0">
                <a:latin typeface="Arial"/>
                <a:cs typeface="Arial"/>
              </a:rPr>
              <a:t>o</a:t>
            </a:r>
            <a:r>
              <a:rPr sz="1800" b="1" i="1" spc="-5" dirty="0">
                <a:latin typeface="Arial"/>
                <a:cs typeface="Arial"/>
              </a:rPr>
              <a:t>re</a:t>
            </a:r>
            <a:r>
              <a:rPr sz="1800" b="1" i="1" dirty="0">
                <a:latin typeface="Arial"/>
                <a:cs typeface="Arial"/>
              </a:rPr>
              <a:t>cast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ts val="1835"/>
              </a:lnSpc>
            </a:pPr>
            <a:r>
              <a:rPr sz="1800" b="1" i="1" spc="-5" dirty="0">
                <a:latin typeface="Arial"/>
                <a:cs typeface="Arial"/>
              </a:rPr>
              <a:t>with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ts val="2005"/>
              </a:lnSpc>
            </a:pPr>
            <a:r>
              <a:rPr sz="1800" b="1" dirty="0">
                <a:latin typeface="Symbol"/>
                <a:cs typeface="Symbol"/>
              </a:rPr>
              <a:t>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Arial"/>
                <a:cs typeface="Arial"/>
              </a:rPr>
              <a:t>= .10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602479" y="2380488"/>
            <a:ext cx="1033780" cy="521334"/>
            <a:chOff x="4602479" y="2380488"/>
            <a:chExt cx="1033780" cy="521334"/>
          </a:xfrm>
        </p:grpSpPr>
        <p:sp>
          <p:nvSpPr>
            <p:cNvPr id="27" name="object 27"/>
            <p:cNvSpPr/>
            <p:nvPr/>
          </p:nvSpPr>
          <p:spPr>
            <a:xfrm>
              <a:off x="4602479" y="2380488"/>
              <a:ext cx="454151" cy="518160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809743" y="2383536"/>
              <a:ext cx="826008" cy="518160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581905" y="1740484"/>
            <a:ext cx="1057910" cy="10020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065" marR="5080" indent="2540" algn="ctr">
              <a:lnSpc>
                <a:spcPct val="85100"/>
              </a:lnSpc>
              <a:spcBef>
                <a:spcPts val="425"/>
              </a:spcBef>
            </a:pPr>
            <a:r>
              <a:rPr sz="1800" b="1" i="1" dirty="0">
                <a:latin typeface="Arial"/>
                <a:cs typeface="Arial"/>
              </a:rPr>
              <a:t>Absolute  </a:t>
            </a:r>
            <a:r>
              <a:rPr sz="1800" b="1" i="1" spc="-5" dirty="0">
                <a:latin typeface="Arial"/>
                <a:cs typeface="Arial"/>
              </a:rPr>
              <a:t>De</a:t>
            </a:r>
            <a:r>
              <a:rPr sz="1800" b="1" i="1" dirty="0">
                <a:latin typeface="Arial"/>
                <a:cs typeface="Arial"/>
              </a:rPr>
              <a:t>v</a:t>
            </a:r>
            <a:r>
              <a:rPr sz="1800" b="1" i="1" spc="-5" dirty="0">
                <a:latin typeface="Arial"/>
                <a:cs typeface="Arial"/>
              </a:rPr>
              <a:t>i</a:t>
            </a:r>
            <a:r>
              <a:rPr sz="1800" b="1" i="1" dirty="0">
                <a:latin typeface="Arial"/>
                <a:cs typeface="Arial"/>
              </a:rPr>
              <a:t>ati</a:t>
            </a:r>
            <a:r>
              <a:rPr sz="1800" b="1" i="1" spc="5" dirty="0">
                <a:latin typeface="Arial"/>
                <a:cs typeface="Arial"/>
              </a:rPr>
              <a:t>o</a:t>
            </a:r>
            <a:r>
              <a:rPr sz="1800" b="1" i="1" dirty="0">
                <a:latin typeface="Arial"/>
                <a:cs typeface="Arial"/>
              </a:rPr>
              <a:t>n  for</a:t>
            </a:r>
            <a:endParaRPr sz="1800">
              <a:latin typeface="Arial"/>
              <a:cs typeface="Arial"/>
            </a:endParaRPr>
          </a:p>
          <a:p>
            <a:pPr marL="3175" algn="ctr">
              <a:lnSpc>
                <a:spcPts val="1850"/>
              </a:lnSpc>
            </a:pPr>
            <a:r>
              <a:rPr sz="1800" b="1" dirty="0">
                <a:latin typeface="Symbol"/>
                <a:cs typeface="Symbol"/>
              </a:rPr>
              <a:t>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.10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038088" y="2380488"/>
            <a:ext cx="1033780" cy="521334"/>
            <a:chOff x="6038088" y="2380488"/>
            <a:chExt cx="1033780" cy="521334"/>
          </a:xfrm>
        </p:grpSpPr>
        <p:sp>
          <p:nvSpPr>
            <p:cNvPr id="31" name="object 31"/>
            <p:cNvSpPr/>
            <p:nvPr/>
          </p:nvSpPr>
          <p:spPr>
            <a:xfrm>
              <a:off x="6038088" y="2380488"/>
              <a:ext cx="454151" cy="518160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245352" y="2383536"/>
              <a:ext cx="826007" cy="518160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057391" y="1975865"/>
            <a:ext cx="981710" cy="766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989"/>
              </a:lnSpc>
              <a:spcBef>
                <a:spcPts val="100"/>
              </a:spcBef>
            </a:pPr>
            <a:r>
              <a:rPr sz="1800" b="1" i="1" dirty="0">
                <a:latin typeface="Arial"/>
                <a:cs typeface="Arial"/>
              </a:rPr>
              <a:t>F</a:t>
            </a:r>
            <a:r>
              <a:rPr sz="1800" b="1" i="1" spc="5" dirty="0">
                <a:latin typeface="Arial"/>
                <a:cs typeface="Arial"/>
              </a:rPr>
              <a:t>o</a:t>
            </a:r>
            <a:r>
              <a:rPr sz="1800" b="1" i="1" spc="-5" dirty="0">
                <a:latin typeface="Arial"/>
                <a:cs typeface="Arial"/>
              </a:rPr>
              <a:t>re</a:t>
            </a:r>
            <a:r>
              <a:rPr sz="1800" b="1" i="1" dirty="0">
                <a:latin typeface="Arial"/>
                <a:cs typeface="Arial"/>
              </a:rPr>
              <a:t>cast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ts val="1835"/>
              </a:lnSpc>
            </a:pPr>
            <a:r>
              <a:rPr sz="1800" b="1" i="1" spc="-5" dirty="0">
                <a:latin typeface="Arial"/>
                <a:cs typeface="Arial"/>
              </a:rPr>
              <a:t>with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ts val="2005"/>
              </a:lnSpc>
            </a:pPr>
            <a:r>
              <a:rPr sz="1800" b="1" dirty="0">
                <a:latin typeface="Symbol"/>
                <a:cs typeface="Symbol"/>
              </a:rPr>
              <a:t>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.50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7458456" y="2380488"/>
            <a:ext cx="1036319" cy="521334"/>
            <a:chOff x="7458456" y="2380488"/>
            <a:chExt cx="1036319" cy="521334"/>
          </a:xfrm>
        </p:grpSpPr>
        <p:sp>
          <p:nvSpPr>
            <p:cNvPr id="35" name="object 35"/>
            <p:cNvSpPr/>
            <p:nvPr/>
          </p:nvSpPr>
          <p:spPr>
            <a:xfrm>
              <a:off x="7458456" y="2380488"/>
              <a:ext cx="454151" cy="518160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665720" y="2383536"/>
              <a:ext cx="829055" cy="518160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7441818" y="1740484"/>
            <a:ext cx="1057910" cy="10020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065" marR="5080" indent="-3810" algn="ctr">
              <a:lnSpc>
                <a:spcPct val="85100"/>
              </a:lnSpc>
              <a:spcBef>
                <a:spcPts val="425"/>
              </a:spcBef>
            </a:pPr>
            <a:r>
              <a:rPr sz="1800" b="1" i="1" dirty="0">
                <a:latin typeface="Arial"/>
                <a:cs typeface="Arial"/>
              </a:rPr>
              <a:t>Absolute  </a:t>
            </a:r>
            <a:r>
              <a:rPr sz="1800" b="1" i="1" spc="-5" dirty="0">
                <a:latin typeface="Arial"/>
                <a:cs typeface="Arial"/>
              </a:rPr>
              <a:t>De</a:t>
            </a:r>
            <a:r>
              <a:rPr sz="1800" b="1" i="1" dirty="0">
                <a:latin typeface="Arial"/>
                <a:cs typeface="Arial"/>
              </a:rPr>
              <a:t>v</a:t>
            </a:r>
            <a:r>
              <a:rPr sz="1800" b="1" i="1" spc="-5" dirty="0">
                <a:latin typeface="Arial"/>
                <a:cs typeface="Arial"/>
              </a:rPr>
              <a:t>i</a:t>
            </a:r>
            <a:r>
              <a:rPr sz="1800" b="1" i="1" dirty="0">
                <a:latin typeface="Arial"/>
                <a:cs typeface="Arial"/>
              </a:rPr>
              <a:t>ati</a:t>
            </a:r>
            <a:r>
              <a:rPr sz="1800" b="1" i="1" spc="5" dirty="0">
                <a:latin typeface="Arial"/>
                <a:cs typeface="Arial"/>
              </a:rPr>
              <a:t>o</a:t>
            </a:r>
            <a:r>
              <a:rPr sz="1800" b="1" i="1" dirty="0">
                <a:latin typeface="Arial"/>
                <a:cs typeface="Arial"/>
              </a:rPr>
              <a:t>n  for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ts val="1850"/>
              </a:lnSpc>
            </a:pPr>
            <a:r>
              <a:rPr sz="1800" b="1" dirty="0">
                <a:latin typeface="Symbol"/>
                <a:cs typeface="Symbol"/>
              </a:rPr>
              <a:t>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.50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749808" y="2912364"/>
            <a:ext cx="487680" cy="2559050"/>
            <a:chOff x="749808" y="2912364"/>
            <a:chExt cx="487680" cy="2559050"/>
          </a:xfrm>
        </p:grpSpPr>
        <p:sp>
          <p:nvSpPr>
            <p:cNvPr id="39" name="object 39"/>
            <p:cNvSpPr/>
            <p:nvPr/>
          </p:nvSpPr>
          <p:spPr>
            <a:xfrm>
              <a:off x="941233" y="2912364"/>
              <a:ext cx="91155" cy="20573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49808" y="3066288"/>
              <a:ext cx="487680" cy="576072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49808" y="3371088"/>
              <a:ext cx="487680" cy="576072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49808" y="3675888"/>
              <a:ext cx="487680" cy="576072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49808" y="3980688"/>
              <a:ext cx="487680" cy="576072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49808" y="4285488"/>
              <a:ext cx="487680" cy="576072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49808" y="4590288"/>
              <a:ext cx="487680" cy="576072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49808" y="4895088"/>
              <a:ext cx="487680" cy="576072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7" name="object 47"/>
          <p:cNvGrpSpPr/>
          <p:nvPr/>
        </p:nvGrpSpPr>
        <p:grpSpPr>
          <a:xfrm>
            <a:off x="3087623" y="5721096"/>
            <a:ext cx="1066800" cy="1030605"/>
            <a:chOff x="3087623" y="5721096"/>
            <a:chExt cx="1066800" cy="1030605"/>
          </a:xfrm>
        </p:grpSpPr>
        <p:sp>
          <p:nvSpPr>
            <p:cNvPr id="48" name="object 48"/>
            <p:cNvSpPr/>
            <p:nvPr/>
          </p:nvSpPr>
          <p:spPr>
            <a:xfrm>
              <a:off x="3270810" y="5721096"/>
              <a:ext cx="549558" cy="201168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087623" y="5870448"/>
              <a:ext cx="899160" cy="576071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087623" y="6175248"/>
              <a:ext cx="1066800" cy="576072"/>
            </a:xfrm>
            <a:prstGeom prst="rect">
              <a:avLst/>
            </a:prstGeom>
            <a:blipFill>
              <a:blip r:embed="rId2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1853183" y="2761488"/>
            <a:ext cx="6395085" cy="3990340"/>
            <a:chOff x="1853183" y="2761488"/>
            <a:chExt cx="6395085" cy="3990340"/>
          </a:xfrm>
        </p:grpSpPr>
        <p:sp>
          <p:nvSpPr>
            <p:cNvPr id="52" name="object 52"/>
            <p:cNvSpPr/>
            <p:nvPr/>
          </p:nvSpPr>
          <p:spPr>
            <a:xfrm>
              <a:off x="7409687" y="2761488"/>
              <a:ext cx="838200" cy="576072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409687" y="3066288"/>
              <a:ext cx="838200" cy="576072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269480" y="3371088"/>
              <a:ext cx="978407" cy="576072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409687" y="3675888"/>
              <a:ext cx="838200" cy="576072"/>
            </a:xfrm>
            <a:prstGeom prst="rect">
              <a:avLst/>
            </a:prstGeom>
            <a:blipFill>
              <a:blip r:embed="rId3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269480" y="3980688"/>
              <a:ext cx="978407" cy="576072"/>
            </a:xfrm>
            <a:prstGeom prst="rect">
              <a:avLst/>
            </a:prstGeom>
            <a:blipFill>
              <a:blip r:embed="rId3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269480" y="4285488"/>
              <a:ext cx="978407" cy="576072"/>
            </a:xfrm>
            <a:prstGeom prst="rect">
              <a:avLst/>
            </a:prstGeom>
            <a:blipFill>
              <a:blip r:embed="rId3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269480" y="4590288"/>
              <a:ext cx="978407" cy="576072"/>
            </a:xfrm>
            <a:prstGeom prst="rect">
              <a:avLst/>
            </a:prstGeom>
            <a:blipFill>
              <a:blip r:embed="rId3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409687" y="4895088"/>
              <a:ext cx="838200" cy="576072"/>
            </a:xfrm>
            <a:prstGeom prst="rect">
              <a:avLst/>
            </a:prstGeom>
            <a:blipFill>
              <a:blip r:embed="rId3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269480" y="5260848"/>
              <a:ext cx="978407" cy="576072"/>
            </a:xfrm>
            <a:prstGeom prst="rect">
              <a:avLst/>
            </a:prstGeom>
            <a:blipFill>
              <a:blip r:embed="rId3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269480" y="5565648"/>
              <a:ext cx="978407" cy="576071"/>
            </a:xfrm>
            <a:prstGeom prst="rect">
              <a:avLst/>
            </a:prstGeom>
            <a:blipFill>
              <a:blip r:embed="rId3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129272" y="5870448"/>
              <a:ext cx="1118616" cy="576071"/>
            </a:xfrm>
            <a:prstGeom prst="rect">
              <a:avLst/>
            </a:prstGeom>
            <a:blipFill>
              <a:blip r:embed="rId3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184136" y="6175247"/>
              <a:ext cx="1063752" cy="576072"/>
            </a:xfrm>
            <a:prstGeom prst="rect">
              <a:avLst/>
            </a:prstGeom>
            <a:blipFill>
              <a:blip r:embed="rId4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853183" y="2761488"/>
              <a:ext cx="768095" cy="576072"/>
            </a:xfrm>
            <a:prstGeom prst="rect">
              <a:avLst/>
            </a:prstGeom>
            <a:blipFill>
              <a:blip r:embed="rId4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853183" y="3066288"/>
              <a:ext cx="768095" cy="576072"/>
            </a:xfrm>
            <a:prstGeom prst="rect">
              <a:avLst/>
            </a:prstGeom>
            <a:blipFill>
              <a:blip r:embed="rId4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853183" y="3371088"/>
              <a:ext cx="768095" cy="576072"/>
            </a:xfrm>
            <a:prstGeom prst="rect">
              <a:avLst/>
            </a:prstGeom>
            <a:blipFill>
              <a:blip r:embed="rId4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853183" y="3675888"/>
              <a:ext cx="768095" cy="576072"/>
            </a:xfrm>
            <a:prstGeom prst="rect">
              <a:avLst/>
            </a:prstGeom>
            <a:blipFill>
              <a:blip r:embed="rId4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853183" y="3980688"/>
              <a:ext cx="768095" cy="576072"/>
            </a:xfrm>
            <a:prstGeom prst="rect">
              <a:avLst/>
            </a:prstGeom>
            <a:blipFill>
              <a:blip r:embed="rId4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853183" y="4285488"/>
              <a:ext cx="768095" cy="576072"/>
            </a:xfrm>
            <a:prstGeom prst="rect">
              <a:avLst/>
            </a:prstGeom>
            <a:blipFill>
              <a:blip r:embed="rId4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853183" y="4590288"/>
              <a:ext cx="768095" cy="576072"/>
            </a:xfrm>
            <a:prstGeom prst="rect">
              <a:avLst/>
            </a:prstGeom>
            <a:blipFill>
              <a:blip r:embed="rId4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853183" y="4895088"/>
              <a:ext cx="768095" cy="576072"/>
            </a:xfrm>
            <a:prstGeom prst="rect">
              <a:avLst/>
            </a:prstGeom>
            <a:blipFill>
              <a:blip r:embed="rId4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087623" y="2761488"/>
              <a:ext cx="771144" cy="576072"/>
            </a:xfrm>
            <a:prstGeom prst="rect">
              <a:avLst/>
            </a:prstGeom>
            <a:blipFill>
              <a:blip r:embed="rId4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087623" y="3066288"/>
              <a:ext cx="981455" cy="576072"/>
            </a:xfrm>
            <a:prstGeom prst="rect">
              <a:avLst/>
            </a:prstGeom>
            <a:blipFill>
              <a:blip r:embed="rId4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3087623" y="3371088"/>
              <a:ext cx="1124712" cy="576072"/>
            </a:xfrm>
            <a:prstGeom prst="rect">
              <a:avLst/>
            </a:prstGeom>
            <a:blipFill>
              <a:blip r:embed="rId5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087623" y="3675888"/>
              <a:ext cx="1124712" cy="576072"/>
            </a:xfrm>
            <a:prstGeom prst="rect">
              <a:avLst/>
            </a:prstGeom>
            <a:blipFill>
              <a:blip r:embed="rId5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087623" y="3980688"/>
              <a:ext cx="1124712" cy="576072"/>
            </a:xfrm>
            <a:prstGeom prst="rect">
              <a:avLst/>
            </a:prstGeom>
            <a:blipFill>
              <a:blip r:embed="rId5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087623" y="4285488"/>
              <a:ext cx="1124712" cy="576072"/>
            </a:xfrm>
            <a:prstGeom prst="rect">
              <a:avLst/>
            </a:prstGeom>
            <a:blipFill>
              <a:blip r:embed="rId5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3087623" y="4590288"/>
              <a:ext cx="1124712" cy="576072"/>
            </a:xfrm>
            <a:prstGeom prst="rect">
              <a:avLst/>
            </a:prstGeom>
            <a:blipFill>
              <a:blip r:embed="rId5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087623" y="4895088"/>
              <a:ext cx="1124712" cy="576072"/>
            </a:xfrm>
            <a:prstGeom prst="rect">
              <a:avLst/>
            </a:prstGeom>
            <a:blipFill>
              <a:blip r:embed="rId5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550663" y="2761488"/>
              <a:ext cx="838200" cy="576072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4550663" y="3066288"/>
              <a:ext cx="838200" cy="576072"/>
            </a:xfrm>
            <a:prstGeom prst="rect">
              <a:avLst/>
            </a:prstGeom>
            <a:blipFill>
              <a:blip r:embed="rId5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4410455" y="3371088"/>
              <a:ext cx="978408" cy="576072"/>
            </a:xfrm>
            <a:prstGeom prst="rect">
              <a:avLst/>
            </a:prstGeom>
            <a:blipFill>
              <a:blip r:embed="rId5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4550663" y="3675888"/>
              <a:ext cx="838200" cy="576072"/>
            </a:xfrm>
            <a:prstGeom prst="rect">
              <a:avLst/>
            </a:prstGeom>
            <a:blipFill>
              <a:blip r:embed="rId5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410455" y="3980688"/>
              <a:ext cx="978408" cy="576072"/>
            </a:xfrm>
            <a:prstGeom prst="rect">
              <a:avLst/>
            </a:prstGeom>
            <a:blipFill>
              <a:blip r:embed="rId5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410455" y="4285488"/>
              <a:ext cx="978408" cy="576072"/>
            </a:xfrm>
            <a:prstGeom prst="rect">
              <a:avLst/>
            </a:prstGeom>
            <a:blipFill>
              <a:blip r:embed="rId6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4550663" y="4590288"/>
              <a:ext cx="838200" cy="576072"/>
            </a:xfrm>
            <a:prstGeom prst="rect">
              <a:avLst/>
            </a:prstGeom>
            <a:blipFill>
              <a:blip r:embed="rId6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4550663" y="4895088"/>
              <a:ext cx="838200" cy="576072"/>
            </a:xfrm>
            <a:prstGeom prst="rect">
              <a:avLst/>
            </a:prstGeom>
            <a:blipFill>
              <a:blip r:embed="rId6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4410455" y="5260848"/>
              <a:ext cx="978408" cy="576072"/>
            </a:xfrm>
            <a:prstGeom prst="rect">
              <a:avLst/>
            </a:prstGeom>
            <a:blipFill>
              <a:blip r:embed="rId6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4410455" y="5565648"/>
              <a:ext cx="978408" cy="576071"/>
            </a:xfrm>
            <a:prstGeom prst="rect">
              <a:avLst/>
            </a:prstGeom>
            <a:blipFill>
              <a:blip r:embed="rId6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4270248" y="5870448"/>
              <a:ext cx="1118615" cy="576071"/>
            </a:xfrm>
            <a:prstGeom prst="rect">
              <a:avLst/>
            </a:prstGeom>
            <a:blipFill>
              <a:blip r:embed="rId6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325111" y="6175247"/>
              <a:ext cx="1063752" cy="576072"/>
            </a:xfrm>
            <a:prstGeom prst="rect">
              <a:avLst/>
            </a:prstGeom>
            <a:blipFill>
              <a:blip r:embed="rId6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6047231" y="2761488"/>
              <a:ext cx="771143" cy="576072"/>
            </a:xfrm>
            <a:prstGeom prst="rect">
              <a:avLst/>
            </a:prstGeom>
            <a:blipFill>
              <a:blip r:embed="rId4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6047231" y="3066288"/>
              <a:ext cx="1124712" cy="576072"/>
            </a:xfrm>
            <a:prstGeom prst="rect">
              <a:avLst/>
            </a:prstGeom>
            <a:blipFill>
              <a:blip r:embed="rId6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6047231" y="3371088"/>
              <a:ext cx="1124712" cy="576072"/>
            </a:xfrm>
            <a:prstGeom prst="rect">
              <a:avLst/>
            </a:prstGeom>
            <a:blipFill>
              <a:blip r:embed="rId6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6047231" y="3675888"/>
              <a:ext cx="1124712" cy="576072"/>
            </a:xfrm>
            <a:prstGeom prst="rect">
              <a:avLst/>
            </a:prstGeom>
            <a:blipFill>
              <a:blip r:embed="rId6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6047231" y="3980688"/>
              <a:ext cx="1124712" cy="576072"/>
            </a:xfrm>
            <a:prstGeom prst="rect">
              <a:avLst/>
            </a:prstGeom>
            <a:blipFill>
              <a:blip r:embed="rId7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6047231" y="4285488"/>
              <a:ext cx="1124712" cy="576072"/>
            </a:xfrm>
            <a:prstGeom prst="rect">
              <a:avLst/>
            </a:prstGeom>
            <a:blipFill>
              <a:blip r:embed="rId7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047231" y="4590288"/>
              <a:ext cx="1124712" cy="576072"/>
            </a:xfrm>
            <a:prstGeom prst="rect">
              <a:avLst/>
            </a:prstGeom>
            <a:blipFill>
              <a:blip r:embed="rId7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047231" y="4895088"/>
              <a:ext cx="1124712" cy="576072"/>
            </a:xfrm>
            <a:prstGeom prst="rect">
              <a:avLst/>
            </a:prstGeom>
            <a:blipFill>
              <a:blip r:embed="rId7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0" name="object 100"/>
          <p:cNvGrpSpPr/>
          <p:nvPr/>
        </p:nvGrpSpPr>
        <p:grpSpPr>
          <a:xfrm>
            <a:off x="0" y="1805939"/>
            <a:ext cx="9138285" cy="5058410"/>
            <a:chOff x="0" y="1805939"/>
            <a:chExt cx="9138285" cy="5058410"/>
          </a:xfrm>
        </p:grpSpPr>
        <p:sp>
          <p:nvSpPr>
            <p:cNvPr id="101" name="object 101"/>
            <p:cNvSpPr/>
            <p:nvPr/>
          </p:nvSpPr>
          <p:spPr>
            <a:xfrm>
              <a:off x="586740" y="1805939"/>
              <a:ext cx="7988934" cy="3465829"/>
            </a:xfrm>
            <a:custGeom>
              <a:avLst/>
              <a:gdLst/>
              <a:ahLst/>
              <a:cxnLst/>
              <a:rect l="l" t="t" r="r" b="b"/>
              <a:pathLst>
                <a:path w="7988934" h="3465829">
                  <a:moveTo>
                    <a:pt x="0" y="978408"/>
                  </a:moveTo>
                  <a:lnTo>
                    <a:pt x="7988808" y="978408"/>
                  </a:lnTo>
                </a:path>
                <a:path w="7988934" h="3465829">
                  <a:moveTo>
                    <a:pt x="2386584" y="0"/>
                  </a:moveTo>
                  <a:lnTo>
                    <a:pt x="2386584" y="3465576"/>
                  </a:lnTo>
                </a:path>
                <a:path w="7988934" h="3465829">
                  <a:moveTo>
                    <a:pt x="5257800" y="0"/>
                  </a:moveTo>
                  <a:lnTo>
                    <a:pt x="5257800" y="3465576"/>
                  </a:lnTo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0" y="6504431"/>
              <a:ext cx="9131935" cy="353695"/>
            </a:xfrm>
            <a:custGeom>
              <a:avLst/>
              <a:gdLst/>
              <a:ahLst/>
              <a:cxnLst/>
              <a:rect l="l" t="t" r="r" b="b"/>
              <a:pathLst>
                <a:path w="9131935" h="353695">
                  <a:moveTo>
                    <a:pt x="1801368" y="0"/>
                  </a:moveTo>
                  <a:lnTo>
                    <a:pt x="0" y="0"/>
                  </a:lnTo>
                  <a:lnTo>
                    <a:pt x="0" y="353568"/>
                  </a:lnTo>
                  <a:lnTo>
                    <a:pt x="1801368" y="353568"/>
                  </a:lnTo>
                  <a:lnTo>
                    <a:pt x="1801368" y="0"/>
                  </a:lnTo>
                  <a:close/>
                </a:path>
                <a:path w="9131935" h="353695">
                  <a:moveTo>
                    <a:pt x="9131808" y="0"/>
                  </a:moveTo>
                  <a:lnTo>
                    <a:pt x="7327392" y="0"/>
                  </a:lnTo>
                  <a:lnTo>
                    <a:pt x="7327392" y="353568"/>
                  </a:lnTo>
                  <a:lnTo>
                    <a:pt x="9131808" y="353568"/>
                  </a:lnTo>
                  <a:lnTo>
                    <a:pt x="91318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327392" y="6504431"/>
              <a:ext cx="1804670" cy="353695"/>
            </a:xfrm>
            <a:custGeom>
              <a:avLst/>
              <a:gdLst/>
              <a:ahLst/>
              <a:cxnLst/>
              <a:rect l="l" t="t" r="r" b="b"/>
              <a:pathLst>
                <a:path w="1804670" h="353695">
                  <a:moveTo>
                    <a:pt x="0" y="353568"/>
                  </a:moveTo>
                  <a:lnTo>
                    <a:pt x="1804416" y="353568"/>
                  </a:lnTo>
                  <a:lnTo>
                    <a:pt x="1804416" y="0"/>
                  </a:lnTo>
                  <a:lnTo>
                    <a:pt x="0" y="0"/>
                  </a:lnTo>
                  <a:lnTo>
                    <a:pt x="0" y="353568"/>
                  </a:lnTo>
                  <a:close/>
                </a:path>
              </a:pathLst>
            </a:custGeom>
            <a:ln w="1219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04" name="object 104"/>
          <p:cNvGraphicFramePr>
            <a:graphicFrameLocks noGrp="1"/>
          </p:cNvGraphicFramePr>
          <p:nvPr/>
        </p:nvGraphicFramePr>
        <p:xfrm>
          <a:off x="882345" y="2784348"/>
          <a:ext cx="7275194" cy="37822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8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35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79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40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800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L="48133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180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175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R="629285" algn="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5.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L="36830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175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5.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905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990">
                <a:tc>
                  <a:txBody>
                    <a:bodyPr/>
                    <a:lstStyle/>
                    <a:p>
                      <a:pPr marL="31750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1330">
                        <a:lnSpc>
                          <a:spcPts val="2290"/>
                        </a:lnSpc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168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ts val="2290"/>
                        </a:lnSpc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175.5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29285" algn="r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7.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0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177.50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9.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990">
                <a:tc>
                  <a:txBody>
                    <a:bodyPr/>
                    <a:lstStyle/>
                    <a:p>
                      <a:pPr marL="31750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1330">
                        <a:lnSpc>
                          <a:spcPts val="2290"/>
                        </a:lnSpc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159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174.75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28650" algn="r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.75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0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172.75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8740" algn="r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13.75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662">
                <a:tc>
                  <a:txBody>
                    <a:bodyPr/>
                    <a:lstStyle/>
                    <a:p>
                      <a:pPr marL="31750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1330">
                        <a:lnSpc>
                          <a:spcPts val="2290"/>
                        </a:lnSpc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175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173.18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29285" algn="r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1.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8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0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165.88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9.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097">
                <a:tc>
                  <a:txBody>
                    <a:bodyPr/>
                    <a:lstStyle/>
                    <a:p>
                      <a:pPr marL="31750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1330">
                        <a:lnSpc>
                          <a:spcPts val="2290"/>
                        </a:lnSpc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190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173.36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29285" algn="r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0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170.44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8740" algn="r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19.56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56">
                <a:tc>
                  <a:txBody>
                    <a:bodyPr/>
                    <a:lstStyle/>
                    <a:p>
                      <a:pPr marL="31750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1330">
                        <a:lnSpc>
                          <a:spcPts val="2290"/>
                        </a:lnSpc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205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175.02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28650" algn="r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9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.98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0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180.22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8740" algn="r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24.78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5097">
                <a:tc>
                  <a:txBody>
                    <a:bodyPr/>
                    <a:lstStyle/>
                    <a:p>
                      <a:pPr marL="31750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7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1330">
                        <a:lnSpc>
                          <a:spcPts val="2290"/>
                        </a:lnSpc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180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178.02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28650" algn="r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98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0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192.61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8740" algn="r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12.61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9193">
                <a:tc>
                  <a:txBody>
                    <a:bodyPr/>
                    <a:lstStyle/>
                    <a:p>
                      <a:pPr marL="31750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1330">
                        <a:lnSpc>
                          <a:spcPts val="2290"/>
                        </a:lnSpc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182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178.22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29285" algn="r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3.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0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186.30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4.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16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29285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8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4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T w="539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8740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98.62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T w="539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7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ts val="2290"/>
                        </a:lnSpc>
                      </a:pPr>
                      <a:r>
                        <a:rPr sz="2000" spc="-15" dirty="0">
                          <a:latin typeface="Arial"/>
                          <a:cs typeface="Arial"/>
                        </a:rPr>
                        <a:t>MAD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28650" algn="r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.31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8740" algn="r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12.33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512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ts val="229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MSE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28650" algn="r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9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82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ts val="229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9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24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8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ts val="2215"/>
                        </a:lnSpc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MAPE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29920" algn="r">
                        <a:lnSpc>
                          <a:spcPts val="2215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5.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9%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0010" algn="r">
                        <a:lnSpc>
                          <a:spcPts val="2215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6.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6%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5" name="object 105"/>
          <p:cNvSpPr/>
          <p:nvPr/>
        </p:nvSpPr>
        <p:spPr>
          <a:xfrm>
            <a:off x="4146803" y="5658611"/>
            <a:ext cx="1374775" cy="1045844"/>
          </a:xfrm>
          <a:custGeom>
            <a:avLst/>
            <a:gdLst/>
            <a:ahLst/>
            <a:cxnLst/>
            <a:rect l="l" t="t" r="r" b="b"/>
            <a:pathLst>
              <a:path w="1374775" h="1045845">
                <a:moveTo>
                  <a:pt x="0" y="522731"/>
                </a:moveTo>
                <a:lnTo>
                  <a:pt x="2067" y="481880"/>
                </a:lnTo>
                <a:lnTo>
                  <a:pt x="8169" y="441889"/>
                </a:lnTo>
                <a:lnTo>
                  <a:pt x="18152" y="402874"/>
                </a:lnTo>
                <a:lnTo>
                  <a:pt x="31863" y="364951"/>
                </a:lnTo>
                <a:lnTo>
                  <a:pt x="49150" y="328237"/>
                </a:lnTo>
                <a:lnTo>
                  <a:pt x="69859" y="292847"/>
                </a:lnTo>
                <a:lnTo>
                  <a:pt x="93838" y="258899"/>
                </a:lnTo>
                <a:lnTo>
                  <a:pt x="120935" y="226508"/>
                </a:lnTo>
                <a:lnTo>
                  <a:pt x="150995" y="195790"/>
                </a:lnTo>
                <a:lnTo>
                  <a:pt x="183868" y="166861"/>
                </a:lnTo>
                <a:lnTo>
                  <a:pt x="219399" y="139839"/>
                </a:lnTo>
                <a:lnTo>
                  <a:pt x="257436" y="114838"/>
                </a:lnTo>
                <a:lnTo>
                  <a:pt x="297826" y="91976"/>
                </a:lnTo>
                <a:lnTo>
                  <a:pt x="340416" y="71368"/>
                </a:lnTo>
                <a:lnTo>
                  <a:pt x="385054" y="53131"/>
                </a:lnTo>
                <a:lnTo>
                  <a:pt x="431587" y="37380"/>
                </a:lnTo>
                <a:lnTo>
                  <a:pt x="479861" y="24233"/>
                </a:lnTo>
                <a:lnTo>
                  <a:pt x="529725" y="13805"/>
                </a:lnTo>
                <a:lnTo>
                  <a:pt x="581025" y="6213"/>
                </a:lnTo>
                <a:lnTo>
                  <a:pt x="633609" y="1572"/>
                </a:lnTo>
                <a:lnTo>
                  <a:pt x="687324" y="0"/>
                </a:lnTo>
                <a:lnTo>
                  <a:pt x="741038" y="1572"/>
                </a:lnTo>
                <a:lnTo>
                  <a:pt x="793622" y="6213"/>
                </a:lnTo>
                <a:lnTo>
                  <a:pt x="844922" y="13805"/>
                </a:lnTo>
                <a:lnTo>
                  <a:pt x="894786" y="24233"/>
                </a:lnTo>
                <a:lnTo>
                  <a:pt x="943060" y="37380"/>
                </a:lnTo>
                <a:lnTo>
                  <a:pt x="989593" y="53131"/>
                </a:lnTo>
                <a:lnTo>
                  <a:pt x="1034231" y="71368"/>
                </a:lnTo>
                <a:lnTo>
                  <a:pt x="1076821" y="91976"/>
                </a:lnTo>
                <a:lnTo>
                  <a:pt x="1117211" y="114838"/>
                </a:lnTo>
                <a:lnTo>
                  <a:pt x="1155248" y="139839"/>
                </a:lnTo>
                <a:lnTo>
                  <a:pt x="1190779" y="166861"/>
                </a:lnTo>
                <a:lnTo>
                  <a:pt x="1223652" y="195790"/>
                </a:lnTo>
                <a:lnTo>
                  <a:pt x="1253712" y="226508"/>
                </a:lnTo>
                <a:lnTo>
                  <a:pt x="1280809" y="258899"/>
                </a:lnTo>
                <a:lnTo>
                  <a:pt x="1304788" y="292847"/>
                </a:lnTo>
                <a:lnTo>
                  <a:pt x="1325497" y="328237"/>
                </a:lnTo>
                <a:lnTo>
                  <a:pt x="1342784" y="364951"/>
                </a:lnTo>
                <a:lnTo>
                  <a:pt x="1356495" y="402874"/>
                </a:lnTo>
                <a:lnTo>
                  <a:pt x="1366478" y="441889"/>
                </a:lnTo>
                <a:lnTo>
                  <a:pt x="1372580" y="481880"/>
                </a:lnTo>
                <a:lnTo>
                  <a:pt x="1374648" y="522731"/>
                </a:lnTo>
                <a:lnTo>
                  <a:pt x="1372580" y="563583"/>
                </a:lnTo>
                <a:lnTo>
                  <a:pt x="1366478" y="603574"/>
                </a:lnTo>
                <a:lnTo>
                  <a:pt x="1356495" y="642589"/>
                </a:lnTo>
                <a:lnTo>
                  <a:pt x="1342784" y="680512"/>
                </a:lnTo>
                <a:lnTo>
                  <a:pt x="1325497" y="717226"/>
                </a:lnTo>
                <a:lnTo>
                  <a:pt x="1304788" y="752616"/>
                </a:lnTo>
                <a:lnTo>
                  <a:pt x="1280809" y="786564"/>
                </a:lnTo>
                <a:lnTo>
                  <a:pt x="1253712" y="818955"/>
                </a:lnTo>
                <a:lnTo>
                  <a:pt x="1223652" y="849673"/>
                </a:lnTo>
                <a:lnTo>
                  <a:pt x="1190779" y="878602"/>
                </a:lnTo>
                <a:lnTo>
                  <a:pt x="1155248" y="905624"/>
                </a:lnTo>
                <a:lnTo>
                  <a:pt x="1117211" y="930625"/>
                </a:lnTo>
                <a:lnTo>
                  <a:pt x="1076821" y="953487"/>
                </a:lnTo>
                <a:lnTo>
                  <a:pt x="1034231" y="974095"/>
                </a:lnTo>
                <a:lnTo>
                  <a:pt x="989593" y="992332"/>
                </a:lnTo>
                <a:lnTo>
                  <a:pt x="943060" y="1008083"/>
                </a:lnTo>
                <a:lnTo>
                  <a:pt x="894786" y="1021230"/>
                </a:lnTo>
                <a:lnTo>
                  <a:pt x="844922" y="1031658"/>
                </a:lnTo>
                <a:lnTo>
                  <a:pt x="793622" y="1039250"/>
                </a:lnTo>
                <a:lnTo>
                  <a:pt x="741038" y="1043891"/>
                </a:lnTo>
                <a:lnTo>
                  <a:pt x="687324" y="1045463"/>
                </a:lnTo>
                <a:lnTo>
                  <a:pt x="633609" y="1043891"/>
                </a:lnTo>
                <a:lnTo>
                  <a:pt x="581025" y="1039250"/>
                </a:lnTo>
                <a:lnTo>
                  <a:pt x="529725" y="1031658"/>
                </a:lnTo>
                <a:lnTo>
                  <a:pt x="479861" y="1021230"/>
                </a:lnTo>
                <a:lnTo>
                  <a:pt x="431587" y="1008083"/>
                </a:lnTo>
                <a:lnTo>
                  <a:pt x="385054" y="992332"/>
                </a:lnTo>
                <a:lnTo>
                  <a:pt x="340416" y="974095"/>
                </a:lnTo>
                <a:lnTo>
                  <a:pt x="297826" y="953487"/>
                </a:lnTo>
                <a:lnTo>
                  <a:pt x="257436" y="930625"/>
                </a:lnTo>
                <a:lnTo>
                  <a:pt x="219399" y="905624"/>
                </a:lnTo>
                <a:lnTo>
                  <a:pt x="183868" y="878602"/>
                </a:lnTo>
                <a:lnTo>
                  <a:pt x="150995" y="849673"/>
                </a:lnTo>
                <a:lnTo>
                  <a:pt x="120935" y="818955"/>
                </a:lnTo>
                <a:lnTo>
                  <a:pt x="93838" y="786564"/>
                </a:lnTo>
                <a:lnTo>
                  <a:pt x="69859" y="752616"/>
                </a:lnTo>
                <a:lnTo>
                  <a:pt x="49150" y="717226"/>
                </a:lnTo>
                <a:lnTo>
                  <a:pt x="31863" y="680512"/>
                </a:lnTo>
                <a:lnTo>
                  <a:pt x="18152" y="642589"/>
                </a:lnTo>
                <a:lnTo>
                  <a:pt x="8169" y="603574"/>
                </a:lnTo>
                <a:lnTo>
                  <a:pt x="2067" y="563583"/>
                </a:lnTo>
                <a:lnTo>
                  <a:pt x="0" y="522731"/>
                </a:lnTo>
                <a:close/>
              </a:path>
            </a:pathLst>
          </a:custGeom>
          <a:ln w="100583">
            <a:solidFill>
              <a:srgbClr val="944F7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Slide Number Placeholder 105">
            <a:extLst>
              <a:ext uri="{FF2B5EF4-FFF2-40B4-BE49-F238E27FC236}">
                <a16:creationId xmlns:a16="http://schemas.microsoft.com/office/drawing/2014/main" id="{78D03426-FC96-66F1-69C4-BFDFB577F2A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0462C1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0462C1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89213" y="6638266"/>
            <a:ext cx="32004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0462C1"/>
                </a:solidFill>
                <a:latin typeface="Arial"/>
                <a:cs typeface="Arial"/>
              </a:rPr>
              <a:t>4 –</a:t>
            </a:r>
            <a:r>
              <a:rPr sz="900" b="1" spc="-10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462C1"/>
                </a:solidFill>
                <a:latin typeface="Arial"/>
                <a:cs typeface="Arial"/>
              </a:rPr>
              <a:t>92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96746" y="582929"/>
            <a:ext cx="63487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Choosing a </a:t>
            </a:r>
            <a:r>
              <a:rPr dirty="0"/>
              <a:t>Forecasting</a:t>
            </a:r>
            <a:r>
              <a:rPr spc="-100" dirty="0"/>
              <a:t> </a:t>
            </a:r>
            <a:r>
              <a:rPr spc="-30" dirty="0"/>
              <a:t>Technique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41044" y="1586090"/>
            <a:ext cx="5883275" cy="3596004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82880" indent="-17081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183515" algn="l"/>
              </a:tabLst>
            </a:pPr>
            <a:r>
              <a:rPr sz="2400" spc="-5" dirty="0">
                <a:latin typeface="Times New Roman"/>
                <a:cs typeface="Times New Roman"/>
              </a:rPr>
              <a:t>No single technique works </a:t>
            </a: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spc="-5" dirty="0">
                <a:latin typeface="Times New Roman"/>
                <a:cs typeface="Times New Roman"/>
              </a:rPr>
              <a:t>every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situation</a:t>
            </a:r>
            <a:endParaRPr sz="2400">
              <a:latin typeface="Times New Roman"/>
              <a:cs typeface="Times New Roman"/>
            </a:endParaRPr>
          </a:p>
          <a:p>
            <a:pPr marL="182880" indent="-17081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183515" algn="l"/>
              </a:tabLst>
            </a:pPr>
            <a:r>
              <a:rPr sz="2400" spc="-60" dirty="0">
                <a:latin typeface="Times New Roman"/>
                <a:cs typeface="Times New Roman"/>
              </a:rPr>
              <a:t>Two </a:t>
            </a:r>
            <a:r>
              <a:rPr sz="2400" dirty="0">
                <a:latin typeface="Times New Roman"/>
                <a:cs typeface="Times New Roman"/>
              </a:rPr>
              <a:t>most </a:t>
            </a:r>
            <a:r>
              <a:rPr sz="2400" spc="-5" dirty="0">
                <a:latin typeface="Times New Roman"/>
                <a:cs typeface="Times New Roman"/>
              </a:rPr>
              <a:t>important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factors</a:t>
            </a:r>
            <a:endParaRPr sz="2400">
              <a:latin typeface="Times New Roman"/>
              <a:cs typeface="Times New Roman"/>
            </a:endParaRPr>
          </a:p>
          <a:p>
            <a:pPr marL="600710" lvl="1" indent="-244475">
              <a:lnSpc>
                <a:spcPct val="100000"/>
              </a:lnSpc>
              <a:spcBef>
                <a:spcPts val="120"/>
              </a:spcBef>
              <a:buSzPct val="95833"/>
              <a:buFont typeface="Wingdings"/>
              <a:buChar char=""/>
              <a:tabLst>
                <a:tab pos="601345" algn="l"/>
              </a:tabLst>
            </a:pPr>
            <a:r>
              <a:rPr sz="2400" spc="-5" dirty="0">
                <a:latin typeface="Times New Roman"/>
                <a:cs typeface="Times New Roman"/>
              </a:rPr>
              <a:t>Cost</a:t>
            </a:r>
            <a:endParaRPr sz="2400">
              <a:latin typeface="Times New Roman"/>
              <a:cs typeface="Times New Roman"/>
            </a:endParaRPr>
          </a:p>
          <a:p>
            <a:pPr marL="600710" lvl="1" indent="-244475">
              <a:lnSpc>
                <a:spcPct val="100000"/>
              </a:lnSpc>
              <a:spcBef>
                <a:spcPts val="95"/>
              </a:spcBef>
              <a:buSzPct val="95833"/>
              <a:buFont typeface="Wingdings"/>
              <a:buChar char=""/>
              <a:tabLst>
                <a:tab pos="601345" algn="l"/>
              </a:tabLst>
            </a:pPr>
            <a:r>
              <a:rPr sz="2400" spc="-10" dirty="0">
                <a:latin typeface="Times New Roman"/>
                <a:cs typeface="Times New Roman"/>
              </a:rPr>
              <a:t>Accuracy</a:t>
            </a:r>
            <a:endParaRPr sz="2400">
              <a:latin typeface="Times New Roman"/>
              <a:cs typeface="Times New Roman"/>
            </a:endParaRPr>
          </a:p>
          <a:p>
            <a:pPr marL="182880" indent="-170815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183515" algn="l"/>
              </a:tabLst>
            </a:pPr>
            <a:r>
              <a:rPr sz="2400" spc="-5" dirty="0">
                <a:latin typeface="Times New Roman"/>
                <a:cs typeface="Times New Roman"/>
              </a:rPr>
              <a:t>Other factors include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availability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of:</a:t>
            </a:r>
            <a:endParaRPr sz="2400">
              <a:latin typeface="Times New Roman"/>
              <a:cs typeface="Times New Roman"/>
            </a:endParaRPr>
          </a:p>
          <a:p>
            <a:pPr marL="600710" lvl="1" indent="-244475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"/>
              <a:tabLst>
                <a:tab pos="601345" algn="l"/>
              </a:tabLst>
            </a:pPr>
            <a:r>
              <a:rPr sz="2400" spc="-5" dirty="0">
                <a:latin typeface="Times New Roman"/>
                <a:cs typeface="Times New Roman"/>
              </a:rPr>
              <a:t>Historical </a:t>
            </a:r>
            <a:r>
              <a:rPr sz="2400" dirty="0">
                <a:latin typeface="Times New Roman"/>
                <a:cs typeface="Times New Roman"/>
              </a:rPr>
              <a:t>data</a:t>
            </a:r>
            <a:endParaRPr sz="2400">
              <a:latin typeface="Times New Roman"/>
              <a:cs typeface="Times New Roman"/>
            </a:endParaRPr>
          </a:p>
          <a:p>
            <a:pPr marL="600710" lvl="1" indent="-244475">
              <a:lnSpc>
                <a:spcPct val="100000"/>
              </a:lnSpc>
              <a:spcBef>
                <a:spcPts val="120"/>
              </a:spcBef>
              <a:buSzPct val="95833"/>
              <a:buFont typeface="Wingdings"/>
              <a:buChar char=""/>
              <a:tabLst>
                <a:tab pos="601345" algn="l"/>
              </a:tabLst>
            </a:pPr>
            <a:r>
              <a:rPr sz="2400" spc="-5" dirty="0">
                <a:latin typeface="Times New Roman"/>
                <a:cs typeface="Times New Roman"/>
              </a:rPr>
              <a:t>Computers</a:t>
            </a:r>
            <a:endParaRPr sz="2400">
              <a:latin typeface="Times New Roman"/>
              <a:cs typeface="Times New Roman"/>
            </a:endParaRPr>
          </a:p>
          <a:p>
            <a:pPr marL="600710" lvl="1" indent="-244475">
              <a:lnSpc>
                <a:spcPct val="100000"/>
              </a:lnSpc>
              <a:spcBef>
                <a:spcPts val="125"/>
              </a:spcBef>
              <a:buSzPct val="95833"/>
              <a:buFont typeface="Wingdings"/>
              <a:buChar char=""/>
              <a:tabLst>
                <a:tab pos="601345" algn="l"/>
              </a:tabLst>
            </a:pPr>
            <a:r>
              <a:rPr sz="2400" spc="-25" dirty="0">
                <a:latin typeface="Times New Roman"/>
                <a:cs typeface="Times New Roman"/>
              </a:rPr>
              <a:t>Time </a:t>
            </a:r>
            <a:r>
              <a:rPr sz="2400" spc="-5" dirty="0">
                <a:latin typeface="Times New Roman"/>
                <a:cs typeface="Times New Roman"/>
              </a:rPr>
              <a:t>needed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10" dirty="0">
                <a:latin typeface="Times New Roman"/>
                <a:cs typeface="Times New Roman"/>
              </a:rPr>
              <a:t>gather </a:t>
            </a:r>
            <a:r>
              <a:rPr sz="2400" spc="-5" dirty="0">
                <a:latin typeface="Times New Roman"/>
                <a:cs typeface="Times New Roman"/>
              </a:rPr>
              <a:t>and </a:t>
            </a:r>
            <a:r>
              <a:rPr sz="2400" spc="-15" dirty="0">
                <a:latin typeface="Times New Roman"/>
                <a:cs typeface="Times New Roman"/>
              </a:rPr>
              <a:t>analyze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data</a:t>
            </a:r>
            <a:endParaRPr sz="2400">
              <a:latin typeface="Times New Roman"/>
              <a:cs typeface="Times New Roman"/>
            </a:endParaRPr>
          </a:p>
          <a:p>
            <a:pPr marL="600710" lvl="1" indent="-244475">
              <a:lnSpc>
                <a:spcPct val="100000"/>
              </a:lnSpc>
              <a:spcBef>
                <a:spcPts val="95"/>
              </a:spcBef>
              <a:buSzPct val="95833"/>
              <a:buFont typeface="Wingdings"/>
              <a:buChar char=""/>
              <a:tabLst>
                <a:tab pos="601345" algn="l"/>
              </a:tabLst>
            </a:pPr>
            <a:r>
              <a:rPr sz="2400" spc="-10" dirty="0">
                <a:latin typeface="Times New Roman"/>
                <a:cs typeface="Times New Roman"/>
              </a:rPr>
              <a:t>Forecast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horizon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6504431"/>
            <a:ext cx="1801495" cy="353695"/>
          </a:xfrm>
          <a:custGeom>
            <a:avLst/>
            <a:gdLst/>
            <a:ahLst/>
            <a:cxnLst/>
            <a:rect l="l" t="t" r="r" b="b"/>
            <a:pathLst>
              <a:path w="1801495" h="353695">
                <a:moveTo>
                  <a:pt x="1801368" y="0"/>
                </a:moveTo>
                <a:lnTo>
                  <a:pt x="0" y="0"/>
                </a:lnTo>
                <a:lnTo>
                  <a:pt x="0" y="353568"/>
                </a:lnTo>
                <a:lnTo>
                  <a:pt x="1801368" y="353568"/>
                </a:lnTo>
                <a:lnTo>
                  <a:pt x="18013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327392" y="6504431"/>
            <a:ext cx="1804670" cy="353695"/>
          </a:xfrm>
          <a:custGeom>
            <a:avLst/>
            <a:gdLst/>
            <a:ahLst/>
            <a:cxnLst/>
            <a:rect l="l" t="t" r="r" b="b"/>
            <a:pathLst>
              <a:path w="1804670" h="353695">
                <a:moveTo>
                  <a:pt x="1804416" y="0"/>
                </a:moveTo>
                <a:lnTo>
                  <a:pt x="0" y="0"/>
                </a:lnTo>
                <a:lnTo>
                  <a:pt x="0" y="353568"/>
                </a:lnTo>
                <a:lnTo>
                  <a:pt x="1804416" y="353568"/>
                </a:lnTo>
                <a:lnTo>
                  <a:pt x="18044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E17CA56-0A53-5A63-D060-DA3CE2008E8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0462C1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0462C1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0462C1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89213" y="6638266"/>
            <a:ext cx="32004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0462C1"/>
                </a:solidFill>
                <a:latin typeface="Arial"/>
                <a:cs typeface="Arial"/>
              </a:rPr>
              <a:t>4 –</a:t>
            </a:r>
            <a:r>
              <a:rPr sz="900" b="1" spc="-105" dirty="0">
                <a:solidFill>
                  <a:srgbClr val="0462C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462C1"/>
                </a:solidFill>
                <a:latin typeface="Arial"/>
                <a:cs typeface="Arial"/>
              </a:rPr>
              <a:t>92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6504431"/>
            <a:ext cx="1801495" cy="353695"/>
          </a:xfrm>
          <a:custGeom>
            <a:avLst/>
            <a:gdLst/>
            <a:ahLst/>
            <a:cxnLst/>
            <a:rect l="l" t="t" r="r" b="b"/>
            <a:pathLst>
              <a:path w="1801495" h="353695">
                <a:moveTo>
                  <a:pt x="1801368" y="0"/>
                </a:moveTo>
                <a:lnTo>
                  <a:pt x="0" y="0"/>
                </a:lnTo>
                <a:lnTo>
                  <a:pt x="0" y="353568"/>
                </a:lnTo>
                <a:lnTo>
                  <a:pt x="1801368" y="353568"/>
                </a:lnTo>
                <a:lnTo>
                  <a:pt x="18013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327392" y="6504431"/>
            <a:ext cx="1804670" cy="353695"/>
          </a:xfrm>
          <a:custGeom>
            <a:avLst/>
            <a:gdLst/>
            <a:ahLst/>
            <a:cxnLst/>
            <a:rect l="l" t="t" r="r" b="b"/>
            <a:pathLst>
              <a:path w="1804670" h="353695">
                <a:moveTo>
                  <a:pt x="1804416" y="0"/>
                </a:moveTo>
                <a:lnTo>
                  <a:pt x="0" y="0"/>
                </a:lnTo>
                <a:lnTo>
                  <a:pt x="0" y="353568"/>
                </a:lnTo>
                <a:lnTo>
                  <a:pt x="1804416" y="353568"/>
                </a:lnTo>
                <a:lnTo>
                  <a:pt x="18044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426337" y="2667000"/>
            <a:ext cx="6690766" cy="830997"/>
          </a:xfrm>
        </p:spPr>
        <p:txBody>
          <a:bodyPr/>
          <a:lstStyle/>
          <a:p>
            <a:pPr algn="ctr"/>
            <a:r>
              <a:rPr lang="en-US" sz="5400" dirty="0"/>
              <a:t>Thank You!</a:t>
            </a:r>
          </a:p>
        </p:txBody>
      </p:sp>
      <p:sp>
        <p:nvSpPr>
          <p:cNvPr id="9" name="object 4"/>
          <p:cNvSpPr txBox="1"/>
          <p:nvPr/>
        </p:nvSpPr>
        <p:spPr>
          <a:xfrm>
            <a:off x="1981122" y="6504431"/>
            <a:ext cx="7661657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</a:t>
            </a:r>
            <a:r>
              <a:rPr sz="1600" b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r>
              <a:rPr sz="1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r>
              <a:rPr sz="1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(11</a:t>
            </a:r>
            <a:r>
              <a:rPr sz="1600" spc="-7" baseline="277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sz="1600" spc="67" baseline="277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edition)</a:t>
            </a:r>
            <a:r>
              <a:rPr sz="1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16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William</a:t>
            </a:r>
            <a:r>
              <a:rPr sz="1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Stevenson</a:t>
            </a:r>
            <a:r>
              <a:rPr sz="1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1600" b="1" u="sng" spc="15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Chapter</a:t>
            </a:r>
            <a:r>
              <a:rPr sz="1600" b="1" u="sng" spc="-35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u="sng" spc="-1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746425-8CE9-5717-0A4C-E449F472347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406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</TotalTime>
  <Words>2498</Words>
  <Application>Microsoft Office PowerPoint</Application>
  <PresentationFormat>On-screen Show (4:3)</PresentationFormat>
  <Paragraphs>762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</vt:lpstr>
      <vt:lpstr>Calibri</vt:lpstr>
      <vt:lpstr>Symbol</vt:lpstr>
      <vt:lpstr>Times New Roman</vt:lpstr>
      <vt:lpstr>Trebuchet MS</vt:lpstr>
      <vt:lpstr>Wingdings</vt:lpstr>
      <vt:lpstr>Office Theme</vt:lpstr>
      <vt:lpstr>PowerPoint Presentation</vt:lpstr>
      <vt:lpstr>PowerPoint Presentation</vt:lpstr>
      <vt:lpstr>Introduction</vt:lpstr>
      <vt:lpstr>Importance</vt:lpstr>
      <vt:lpstr>Forecasting Time Horizons</vt:lpstr>
      <vt:lpstr>Forecasting Approaches</vt:lpstr>
      <vt:lpstr>Forecasting Approaches</vt:lpstr>
      <vt:lpstr>Forecasting Approaches</vt:lpstr>
      <vt:lpstr>PowerPoint Presentation</vt:lpstr>
      <vt:lpstr>PowerPoint Presentation</vt:lpstr>
      <vt:lpstr>Overview of Quantitative Approaches</vt:lpstr>
      <vt:lpstr>Naive Approach</vt:lpstr>
      <vt:lpstr>Moving Average</vt:lpstr>
      <vt:lpstr>Moving Average Example</vt:lpstr>
      <vt:lpstr>Graph of Moving Average</vt:lpstr>
      <vt:lpstr>Potential Problems With  Moving Average</vt:lpstr>
      <vt:lpstr>Weighted Moving Average</vt:lpstr>
      <vt:lpstr>Weighted</vt:lpstr>
      <vt:lpstr>Moving Average And  Weighted Moving Average</vt:lpstr>
      <vt:lpstr>Exponential Smoothing</vt:lpstr>
      <vt:lpstr>Why use exponential smoothing?</vt:lpstr>
      <vt:lpstr>Exponential Smoothing</vt:lpstr>
      <vt:lpstr>Exponential Smoothing Example</vt:lpstr>
      <vt:lpstr>Exponential Smoothing Example</vt:lpstr>
      <vt:lpstr>Exponential Smoothing Example</vt:lpstr>
      <vt:lpstr>Effect of  Smoothing Constants</vt:lpstr>
      <vt:lpstr>Choosing </vt:lpstr>
      <vt:lpstr>Common Measures of Error</vt:lpstr>
      <vt:lpstr>Common Measures of Error</vt:lpstr>
      <vt:lpstr>Sources of Forecast errors</vt:lpstr>
      <vt:lpstr>Comparison of Forecast Error</vt:lpstr>
      <vt:lpstr>Comparison of Forecast Error</vt:lpstr>
      <vt:lpstr>Comparison of Forecast Error</vt:lpstr>
      <vt:lpstr>Comparison of Forecast Error</vt:lpstr>
      <vt:lpstr>Comparison of Forecast Error</vt:lpstr>
      <vt:lpstr>Comparison of Forecast Error</vt:lpstr>
      <vt:lpstr>Choosing a Forecasting Technique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Forecasting</dc:title>
  <dc:subject>Heizer/Render 9E</dc:subject>
  <dc:creator>Jeff Heyl</dc:creator>
  <cp:lastModifiedBy>Ahmadul Karim Chowdhury</cp:lastModifiedBy>
  <cp:revision>13</cp:revision>
  <dcterms:created xsi:type="dcterms:W3CDTF">2023-01-04T07:24:37Z</dcterms:created>
  <dcterms:modified xsi:type="dcterms:W3CDTF">2023-02-11T17:26:38Z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2021-03-22T00:00:00Z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2023-01-04T00:00:00Z</vt:filetime>
  </property>
</Properties>
</file>