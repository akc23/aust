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301" r:id="rId5"/>
    <p:sldId id="276" r:id="rId6"/>
    <p:sldId id="277" r:id="rId7"/>
    <p:sldId id="278" r:id="rId8"/>
    <p:sldId id="279" r:id="rId9"/>
    <p:sldId id="300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93" r:id="rId20"/>
    <p:sldId id="294" r:id="rId21"/>
    <p:sldId id="295" r:id="rId22"/>
    <p:sldId id="296" r:id="rId23"/>
    <p:sldId id="297" r:id="rId24"/>
    <p:sldId id="298" r:id="rId25"/>
    <p:sldId id="299" r:id="rId2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3F8DB9-61C1-44DA-92A6-C3A24F302992}" type="datetimeFigureOut">
              <a:rPr lang="en-US" smtClean="0"/>
              <a:t>12/11/2022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EDBA3-AB07-4178-9AFB-49A490C3E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14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Demand, customization, complexity of workflow, amount of setup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EDBA3-AB07-4178-9AFB-49A490C3E4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82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EDBA3-AB07-4178-9AFB-49A490C3E4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12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4276" y="510540"/>
            <a:ext cx="7775447" cy="927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7F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67992" y="802970"/>
            <a:ext cx="5208015" cy="636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7550" y="1430616"/>
            <a:ext cx="5143500" cy="2560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40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8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18" Type="http://schemas.openxmlformats.org/officeDocument/2006/relationships/image" Target="../media/image20.png"/><Relationship Id="rId26" Type="http://schemas.openxmlformats.org/officeDocument/2006/relationships/image" Target="../media/image50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44.png"/><Relationship Id="rId12" Type="http://schemas.openxmlformats.org/officeDocument/2006/relationships/image" Target="../media/image45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55.png"/><Relationship Id="rId38" Type="http://schemas.openxmlformats.org/officeDocument/2006/relationships/image" Target="../media/image57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54.png"/><Relationship Id="rId37" Type="http://schemas.openxmlformats.org/officeDocument/2006/relationships/image" Target="../media/image56.png"/><Relationship Id="rId5" Type="http://schemas.openxmlformats.org/officeDocument/2006/relationships/image" Target="../media/image42.png"/><Relationship Id="rId15" Type="http://schemas.openxmlformats.org/officeDocument/2006/relationships/image" Target="../media/image48.png"/><Relationship Id="rId23" Type="http://schemas.openxmlformats.org/officeDocument/2006/relationships/image" Target="../media/image49.png"/><Relationship Id="rId28" Type="http://schemas.openxmlformats.org/officeDocument/2006/relationships/image" Target="../media/image52.png"/><Relationship Id="rId36" Type="http://schemas.openxmlformats.org/officeDocument/2006/relationships/image" Target="../media/image38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41.png"/><Relationship Id="rId9" Type="http://schemas.openxmlformats.org/officeDocument/2006/relationships/image" Target="../media/image11.png"/><Relationship Id="rId14" Type="http://schemas.openxmlformats.org/officeDocument/2006/relationships/image" Target="../media/image47.png"/><Relationship Id="rId22" Type="http://schemas.openxmlformats.org/officeDocument/2006/relationships/image" Target="../media/image24.png"/><Relationship Id="rId27" Type="http://schemas.openxmlformats.org/officeDocument/2006/relationships/image" Target="../media/image51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8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20.png"/><Relationship Id="rId26" Type="http://schemas.openxmlformats.org/officeDocument/2006/relationships/image" Target="../media/image67.png"/><Relationship Id="rId21" Type="http://schemas.openxmlformats.org/officeDocument/2006/relationships/image" Target="../media/image23.png"/><Relationship Id="rId34" Type="http://schemas.openxmlformats.org/officeDocument/2006/relationships/image" Target="../media/image36.png"/><Relationship Id="rId7" Type="http://schemas.openxmlformats.org/officeDocument/2006/relationships/image" Target="../media/image9.png"/><Relationship Id="rId12" Type="http://schemas.openxmlformats.org/officeDocument/2006/relationships/image" Target="../media/image62.png"/><Relationship Id="rId17" Type="http://schemas.openxmlformats.org/officeDocument/2006/relationships/image" Target="../media/image19.png"/><Relationship Id="rId25" Type="http://schemas.openxmlformats.org/officeDocument/2006/relationships/image" Target="../media/image66.png"/><Relationship Id="rId33" Type="http://schemas.openxmlformats.org/officeDocument/2006/relationships/image" Target="../media/image72.png"/><Relationship Id="rId38" Type="http://schemas.openxmlformats.org/officeDocument/2006/relationships/image" Target="../media/image76.png"/><Relationship Id="rId2" Type="http://schemas.openxmlformats.org/officeDocument/2006/relationships/image" Target="../media/image4.png"/><Relationship Id="rId16" Type="http://schemas.openxmlformats.org/officeDocument/2006/relationships/image" Target="../media/image64.png"/><Relationship Id="rId20" Type="http://schemas.openxmlformats.org/officeDocument/2006/relationships/image" Target="../media/image22.png"/><Relationship Id="rId29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75.png"/><Relationship Id="rId5" Type="http://schemas.openxmlformats.org/officeDocument/2006/relationships/image" Target="../media/image59.png"/><Relationship Id="rId15" Type="http://schemas.openxmlformats.org/officeDocument/2006/relationships/image" Target="../media/image17.png"/><Relationship Id="rId23" Type="http://schemas.openxmlformats.org/officeDocument/2006/relationships/image" Target="../media/image65.png"/><Relationship Id="rId28" Type="http://schemas.openxmlformats.org/officeDocument/2006/relationships/image" Target="../media/image68.png"/><Relationship Id="rId36" Type="http://schemas.openxmlformats.org/officeDocument/2006/relationships/image" Target="../media/image74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31" Type="http://schemas.openxmlformats.org/officeDocument/2006/relationships/image" Target="../media/image71.png"/><Relationship Id="rId4" Type="http://schemas.openxmlformats.org/officeDocument/2006/relationships/image" Target="../media/image58.png"/><Relationship Id="rId9" Type="http://schemas.openxmlformats.org/officeDocument/2006/relationships/image" Target="../media/image11.png"/><Relationship Id="rId14" Type="http://schemas.openxmlformats.org/officeDocument/2006/relationships/image" Target="../media/image63.png"/><Relationship Id="rId22" Type="http://schemas.openxmlformats.org/officeDocument/2006/relationships/image" Target="../media/image24.png"/><Relationship Id="rId27" Type="http://schemas.openxmlformats.org/officeDocument/2006/relationships/image" Target="../media/image51.png"/><Relationship Id="rId30" Type="http://schemas.openxmlformats.org/officeDocument/2006/relationships/image" Target="../media/image70.png"/><Relationship Id="rId35" Type="http://schemas.openxmlformats.org/officeDocument/2006/relationships/image" Target="../media/image73.png"/><Relationship Id="rId8" Type="http://schemas.openxmlformats.org/officeDocument/2006/relationships/image" Target="../media/image61.png"/><Relationship Id="rId3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26" Type="http://schemas.openxmlformats.org/officeDocument/2006/relationships/image" Target="../media/image111.png"/><Relationship Id="rId39" Type="http://schemas.openxmlformats.org/officeDocument/2006/relationships/image" Target="../media/image84.png"/><Relationship Id="rId21" Type="http://schemas.openxmlformats.org/officeDocument/2006/relationships/image" Target="../media/image106.png"/><Relationship Id="rId34" Type="http://schemas.openxmlformats.org/officeDocument/2006/relationships/image" Target="../media/image119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29" Type="http://schemas.openxmlformats.org/officeDocument/2006/relationships/image" Target="../media/image114.png"/><Relationship Id="rId41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24" Type="http://schemas.openxmlformats.org/officeDocument/2006/relationships/image" Target="../media/image109.png"/><Relationship Id="rId32" Type="http://schemas.openxmlformats.org/officeDocument/2006/relationships/image" Target="../media/image117.png"/><Relationship Id="rId37" Type="http://schemas.openxmlformats.org/officeDocument/2006/relationships/image" Target="../media/image82.png"/><Relationship Id="rId40" Type="http://schemas.openxmlformats.org/officeDocument/2006/relationships/image" Target="../media/image85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23" Type="http://schemas.openxmlformats.org/officeDocument/2006/relationships/image" Target="../media/image108.png"/><Relationship Id="rId28" Type="http://schemas.openxmlformats.org/officeDocument/2006/relationships/image" Target="../media/image113.png"/><Relationship Id="rId36" Type="http://schemas.openxmlformats.org/officeDocument/2006/relationships/image" Target="../media/image121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31" Type="http://schemas.openxmlformats.org/officeDocument/2006/relationships/image" Target="../media/image116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Relationship Id="rId27" Type="http://schemas.openxmlformats.org/officeDocument/2006/relationships/image" Target="../media/image112.png"/><Relationship Id="rId30" Type="http://schemas.openxmlformats.org/officeDocument/2006/relationships/image" Target="../media/image115.png"/><Relationship Id="rId35" Type="http://schemas.openxmlformats.org/officeDocument/2006/relationships/image" Target="../media/image120.png"/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5" Type="http://schemas.openxmlformats.org/officeDocument/2006/relationships/image" Target="../media/image110.png"/><Relationship Id="rId33" Type="http://schemas.openxmlformats.org/officeDocument/2006/relationships/image" Target="../media/image118.png"/><Relationship Id="rId38" Type="http://schemas.openxmlformats.org/officeDocument/2006/relationships/image" Target="../media/image8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1813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5" name="object 5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8" name="object 8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45201" y="1524000"/>
            <a:ext cx="5817235" cy="11802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20" algn="ctr">
              <a:lnSpc>
                <a:spcPts val="3910"/>
              </a:lnSpc>
            </a:pPr>
            <a:endParaRPr sz="4800" dirty="0">
              <a:latin typeface="Times New Roman"/>
              <a:cs typeface="Times New Roman"/>
            </a:endParaRPr>
          </a:p>
          <a:p>
            <a:pPr marL="6350" algn="ctr">
              <a:lnSpc>
                <a:spcPts val="4870"/>
              </a:lnSpc>
            </a:pPr>
            <a:r>
              <a:rPr sz="6600" b="1" i="1" dirty="0">
                <a:solidFill>
                  <a:schemeClr val="accent4">
                    <a:lumMod val="50000"/>
                  </a:schemeClr>
                </a:solidFill>
                <a:latin typeface="Times New Roman"/>
                <a:cs typeface="Times New Roman"/>
              </a:rPr>
              <a:t>“</a:t>
            </a:r>
            <a:r>
              <a:rPr sz="6600" b="1" i="1" dirty="0">
                <a:solidFill>
                  <a:schemeClr val="accent4">
                    <a:lumMod val="50000"/>
                  </a:schemeClr>
                </a:solidFill>
                <a:latin typeface="Arial"/>
                <a:cs typeface="Arial"/>
              </a:rPr>
              <a:t>Scheduling</a:t>
            </a:r>
            <a:r>
              <a:rPr sz="6600" b="1" i="1" dirty="0">
                <a:solidFill>
                  <a:schemeClr val="accent4">
                    <a:lumMod val="50000"/>
                  </a:schemeClr>
                </a:solidFill>
                <a:latin typeface="Times New Roman"/>
                <a:cs typeface="Times New Roman"/>
              </a:rPr>
              <a:t>”</a:t>
            </a:r>
            <a:endParaRPr lang="en-US" sz="6600" b="1" i="1" dirty="0">
              <a:solidFill>
                <a:schemeClr val="accent4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4267200"/>
            <a:ext cx="784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Sadia</a:t>
            </a:r>
            <a:r>
              <a:rPr lang="en-US" sz="2400" b="1" i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Hasanat</a:t>
            </a:r>
          </a:p>
          <a:p>
            <a:r>
              <a:rPr lang="en-US" sz="2400" i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Lecturer</a:t>
            </a:r>
          </a:p>
          <a:p>
            <a:r>
              <a:rPr lang="en-US" sz="2400" i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Mechanical and Production Engineering</a:t>
            </a:r>
          </a:p>
          <a:p>
            <a:r>
              <a:rPr lang="en-US" sz="2400" i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Ahsanullah</a:t>
            </a:r>
            <a:r>
              <a:rPr lang="en-US" sz="2400" i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University of Science and Technology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70572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3600" b="0" i="0" u="none" strike="noStrike" baseline="0" dirty="0">
              <a:solidFill>
                <a:srgbClr val="000000"/>
              </a:solidFill>
              <a:latin typeface="Trebuchet MS" panose="020B0603020202020204" pitchFamily="34" charset="0"/>
            </a:endParaRPr>
          </a:p>
          <a:p>
            <a:r>
              <a:rPr lang="en-US" sz="3600" b="0" i="0" u="none" strike="noStrike" baseline="0" dirty="0">
                <a:solidFill>
                  <a:srgbClr val="000000"/>
                </a:solidFill>
                <a:latin typeface="Trebuchet MS" panose="020B0603020202020204" pitchFamily="34" charset="0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3" y="-1694"/>
            <a:ext cx="43223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accent4">
                    <a:lumMod val="50000"/>
                  </a:schemeClr>
                </a:solidFill>
              </a:rPr>
              <a:t>IPE 4111: Industrial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1813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6" name="object 6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9" name="object 9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63904" y="457200"/>
            <a:ext cx="7772400" cy="909223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1689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30"/>
              </a:spcBef>
            </a:pPr>
            <a:r>
              <a:rPr lang="en-US" sz="4800" spc="-5" dirty="0"/>
              <a:t>Learning Outcome</a:t>
            </a:r>
            <a:endParaRPr sz="4800" dirty="0"/>
          </a:p>
        </p:txBody>
      </p:sp>
      <p:sp>
        <p:nvSpPr>
          <p:cNvPr id="12" name="TextBox 11"/>
          <p:cNvSpPr txBox="1"/>
          <p:nvPr/>
        </p:nvSpPr>
        <p:spPr>
          <a:xfrm>
            <a:off x="626971" y="1559953"/>
            <a:ext cx="775684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At the end of this lecture the students should be able to explain scheduling, priority rules of scheduling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At the end of this lecture the students should be able to describe types of scheduling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At the end of this lecture the students should be able to calculate different priority rules of scheduling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At the end of this lecture the students should be able to solve Johnson’s Rule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1813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323" y="586740"/>
            <a:ext cx="7772400" cy="763029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4400" spc="-5" dirty="0"/>
              <a:t>Scheduling</a:t>
            </a:r>
            <a:endParaRPr sz="4400" dirty="0"/>
          </a:p>
        </p:txBody>
      </p:sp>
      <p:sp>
        <p:nvSpPr>
          <p:cNvPr id="5" name="object 5"/>
          <p:cNvSpPr txBox="1"/>
          <p:nvPr/>
        </p:nvSpPr>
        <p:spPr>
          <a:xfrm>
            <a:off x="1158810" y="2133600"/>
            <a:ext cx="6829425" cy="2376933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algn="ctr"/>
            <a:r>
              <a:rPr lang="en-US" sz="3600" b="1" dirty="0"/>
              <a:t>Scheduling </a:t>
            </a:r>
            <a:r>
              <a:rPr lang="en-US" sz="3600" dirty="0"/>
              <a:t>means</a:t>
            </a:r>
            <a:r>
              <a:rPr lang="en-US" sz="3600" b="1" dirty="0"/>
              <a:t> </a:t>
            </a:r>
            <a:r>
              <a:rPr lang="en-US" sz="3600" dirty="0"/>
              <a:t>Establishing the</a:t>
            </a:r>
          </a:p>
          <a:p>
            <a:pPr algn="ctr"/>
            <a:r>
              <a:rPr lang="en-US" sz="3600" dirty="0"/>
              <a:t>timing of the use of equipment,</a:t>
            </a:r>
          </a:p>
          <a:p>
            <a:pPr algn="ctr"/>
            <a:r>
              <a:rPr lang="en-US" sz="3600" dirty="0"/>
              <a:t>facilities, and human activities in</a:t>
            </a:r>
          </a:p>
          <a:p>
            <a:pPr algn="ctr"/>
            <a:r>
              <a:rPr lang="en-US" sz="3600" dirty="0"/>
              <a:t>an organization</a:t>
            </a:r>
            <a:endParaRPr sz="3600"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7" name="object 7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10" name="object 10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/>
          <p:cNvSpPr txBox="1">
            <a:spLocks/>
          </p:cNvSpPr>
          <p:nvPr/>
        </p:nvSpPr>
        <p:spPr>
          <a:xfrm>
            <a:off x="687323" y="586740"/>
            <a:ext cx="7772400" cy="763029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670"/>
              </a:spcBef>
            </a:pPr>
            <a:r>
              <a:rPr lang="en-US" sz="4400" kern="0" spc="-5" dirty="0">
                <a:solidFill>
                  <a:sysClr val="windowText" lastClr="000000"/>
                </a:solidFill>
              </a:rPr>
              <a:t>Type of Scheduling</a:t>
            </a:r>
            <a:endParaRPr lang="en-US" sz="4400" kern="0" dirty="0">
              <a:solidFill>
                <a:sysClr val="windowText" lastClr="0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7323" y="2327851"/>
            <a:ext cx="4572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A work location in which a number of general purpose work stations exist and are used to perform a variety of jobs </a:t>
            </a:r>
          </a:p>
        </p:txBody>
      </p:sp>
      <p:sp>
        <p:nvSpPr>
          <p:cNvPr id="4" name="Rectangle 3"/>
          <p:cNvSpPr/>
          <p:nvPr/>
        </p:nvSpPr>
        <p:spPr>
          <a:xfrm>
            <a:off x="3887723" y="5117100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</a:rPr>
              <a:t>Flow-shop scheduling is a special case of job-shop scheduling where there is strict order of all operations to be performed on all jobs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4515" t="2941" r="1840" b="6863"/>
          <a:stretch/>
        </p:blipFill>
        <p:spPr>
          <a:xfrm>
            <a:off x="687323" y="4748748"/>
            <a:ext cx="2667001" cy="1752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1840" t="3171" r="4514" b="3171"/>
          <a:stretch/>
        </p:blipFill>
        <p:spPr>
          <a:xfrm>
            <a:off x="5526022" y="1802503"/>
            <a:ext cx="2667001" cy="1828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83679" y="4580093"/>
            <a:ext cx="342754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4040"/>
                </a:solidFill>
                <a:latin typeface="TimesNewRomanPS-Bold"/>
              </a:rPr>
              <a:t>Flow-shop scheduling</a:t>
            </a:r>
            <a:endParaRPr lang="en-US" sz="2400" dirty="0"/>
          </a:p>
          <a:p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687323" y="1802503"/>
            <a:ext cx="32752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4040"/>
                </a:solidFill>
                <a:latin typeface="TimesNewRomanPS-Bold"/>
              </a:rPr>
              <a:t>Job-shop scheduling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67753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21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323" y="477012"/>
            <a:ext cx="7772400" cy="9271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4400" spc="-5" dirty="0"/>
              <a:t>Sequencing</a:t>
            </a:r>
            <a:r>
              <a:rPr sz="4400" spc="20" dirty="0"/>
              <a:t> </a:t>
            </a:r>
            <a:r>
              <a:rPr sz="4400" spc="-5" dirty="0"/>
              <a:t>Jobs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696569" y="1776475"/>
            <a:ext cx="7754620" cy="427873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94030" marR="5080" indent="-481965">
              <a:lnSpc>
                <a:spcPts val="3460"/>
              </a:lnSpc>
              <a:spcBef>
                <a:spcPts val="525"/>
              </a:spcBef>
              <a:buFont typeface="Wingdings"/>
              <a:buChar char=""/>
              <a:tabLst>
                <a:tab pos="494665" algn="l"/>
              </a:tabLst>
            </a:pPr>
            <a:r>
              <a:rPr sz="3200" dirty="0">
                <a:latin typeface="Arial"/>
                <a:cs typeface="Arial"/>
              </a:rPr>
              <a:t>Specifies </a:t>
            </a:r>
            <a:r>
              <a:rPr sz="3200" spc="-5" dirty="0">
                <a:latin typeface="Arial"/>
                <a:cs typeface="Arial"/>
              </a:rPr>
              <a:t>the </a:t>
            </a:r>
            <a:r>
              <a:rPr sz="3200" spc="-15" dirty="0">
                <a:latin typeface="Arial"/>
                <a:cs typeface="Arial"/>
              </a:rPr>
              <a:t>order </a:t>
            </a:r>
            <a:r>
              <a:rPr sz="3200" dirty="0">
                <a:latin typeface="Arial"/>
                <a:cs typeface="Arial"/>
              </a:rPr>
              <a:t>in </a:t>
            </a:r>
            <a:r>
              <a:rPr sz="3200" spc="-10" dirty="0">
                <a:latin typeface="Arial"/>
                <a:cs typeface="Arial"/>
              </a:rPr>
              <a:t>which </a:t>
            </a:r>
            <a:r>
              <a:rPr sz="3200" spc="-5" dirty="0">
                <a:latin typeface="Arial"/>
                <a:cs typeface="Arial"/>
              </a:rPr>
              <a:t>jobs should  be </a:t>
            </a:r>
            <a:r>
              <a:rPr sz="3200" spc="-10" dirty="0">
                <a:latin typeface="Arial"/>
                <a:cs typeface="Arial"/>
              </a:rPr>
              <a:t>performed </a:t>
            </a:r>
            <a:r>
              <a:rPr sz="3200" spc="-5" dirty="0">
                <a:latin typeface="Arial"/>
                <a:cs typeface="Arial"/>
              </a:rPr>
              <a:t>at </a:t>
            </a:r>
            <a:r>
              <a:rPr sz="3200" spc="-15" dirty="0">
                <a:latin typeface="Arial"/>
                <a:cs typeface="Arial"/>
              </a:rPr>
              <a:t>work</a:t>
            </a:r>
            <a:r>
              <a:rPr sz="3200" spc="3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centers</a:t>
            </a:r>
            <a:endParaRPr sz="3200" dirty="0">
              <a:latin typeface="Arial"/>
              <a:cs typeface="Arial"/>
            </a:endParaRPr>
          </a:p>
          <a:p>
            <a:pPr marL="494030" marR="6350" indent="-481965">
              <a:lnSpc>
                <a:spcPts val="3460"/>
              </a:lnSpc>
              <a:spcBef>
                <a:spcPts val="1530"/>
              </a:spcBef>
              <a:buFont typeface="Wingdings"/>
              <a:buChar char=""/>
              <a:tabLst>
                <a:tab pos="494665" algn="l"/>
                <a:tab pos="1993900" algn="l"/>
                <a:tab pos="3112770" algn="l"/>
                <a:tab pos="3936365" algn="l"/>
                <a:tab pos="5055235" algn="l"/>
                <a:tab pos="5631815" algn="l"/>
                <a:tab pos="7378700" algn="l"/>
              </a:tabLst>
            </a:pPr>
            <a:r>
              <a:rPr sz="3200" spc="-5" dirty="0">
                <a:latin typeface="Arial"/>
                <a:cs typeface="Arial"/>
              </a:rPr>
              <a:t>Pr</a:t>
            </a:r>
            <a:r>
              <a:rPr sz="3200" spc="5" dirty="0">
                <a:latin typeface="Arial"/>
                <a:cs typeface="Arial"/>
              </a:rPr>
              <a:t>i</a:t>
            </a:r>
            <a:r>
              <a:rPr sz="3200" spc="-5" dirty="0">
                <a:latin typeface="Arial"/>
                <a:cs typeface="Arial"/>
              </a:rPr>
              <a:t>or</a:t>
            </a:r>
            <a:r>
              <a:rPr sz="3200" dirty="0">
                <a:latin typeface="Arial"/>
                <a:cs typeface="Arial"/>
              </a:rPr>
              <a:t>i</a:t>
            </a:r>
            <a:r>
              <a:rPr sz="3200" spc="15" dirty="0">
                <a:latin typeface="Arial"/>
                <a:cs typeface="Arial"/>
              </a:rPr>
              <a:t>t</a:t>
            </a:r>
            <a:r>
              <a:rPr sz="3200" spc="-5" dirty="0">
                <a:latin typeface="Arial"/>
                <a:cs typeface="Arial"/>
              </a:rPr>
              <a:t>y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5" dirty="0">
                <a:latin typeface="Arial"/>
                <a:cs typeface="Arial"/>
              </a:rPr>
              <a:t>rules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5" dirty="0">
                <a:latin typeface="Arial"/>
                <a:cs typeface="Arial"/>
              </a:rPr>
              <a:t>are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5" dirty="0">
                <a:latin typeface="Arial"/>
                <a:cs typeface="Arial"/>
              </a:rPr>
              <a:t>u</a:t>
            </a:r>
            <a:r>
              <a:rPr sz="3200" spc="5" dirty="0">
                <a:latin typeface="Arial"/>
                <a:cs typeface="Arial"/>
              </a:rPr>
              <a:t>s</a:t>
            </a:r>
            <a:r>
              <a:rPr sz="3200" spc="-5" dirty="0">
                <a:latin typeface="Arial"/>
                <a:cs typeface="Arial"/>
              </a:rPr>
              <a:t>ed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5" dirty="0">
                <a:latin typeface="Arial"/>
                <a:cs typeface="Arial"/>
              </a:rPr>
              <a:t>to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5" dirty="0">
                <a:latin typeface="Arial"/>
                <a:cs typeface="Arial"/>
              </a:rPr>
              <a:t>d</a:t>
            </a:r>
            <a:r>
              <a:rPr sz="3200" spc="-20" dirty="0">
                <a:latin typeface="Arial"/>
                <a:cs typeface="Arial"/>
              </a:rPr>
              <a:t>i</a:t>
            </a:r>
            <a:r>
              <a:rPr sz="3200" dirty="0">
                <a:latin typeface="Arial"/>
                <a:cs typeface="Arial"/>
              </a:rPr>
              <a:t>s</a:t>
            </a:r>
            <a:r>
              <a:rPr sz="3200" spc="-35" dirty="0">
                <a:latin typeface="Arial"/>
                <a:cs typeface="Arial"/>
              </a:rPr>
              <a:t>p</a:t>
            </a:r>
            <a:r>
              <a:rPr sz="3200" spc="-5" dirty="0">
                <a:latin typeface="Arial"/>
                <a:cs typeface="Arial"/>
              </a:rPr>
              <a:t>at</a:t>
            </a:r>
            <a:r>
              <a:rPr sz="3200" dirty="0">
                <a:latin typeface="Arial"/>
                <a:cs typeface="Arial"/>
              </a:rPr>
              <a:t>c</a:t>
            </a:r>
            <a:r>
              <a:rPr sz="3200" spc="-5" dirty="0">
                <a:latin typeface="Arial"/>
                <a:cs typeface="Arial"/>
              </a:rPr>
              <a:t>h</a:t>
            </a:r>
            <a:r>
              <a:rPr sz="3200" dirty="0">
                <a:latin typeface="Arial"/>
                <a:cs typeface="Arial"/>
              </a:rPr>
              <a:t>	</a:t>
            </a:r>
            <a:r>
              <a:rPr sz="3200" spc="-10" dirty="0">
                <a:latin typeface="Arial"/>
                <a:cs typeface="Arial"/>
              </a:rPr>
              <a:t>or  </a:t>
            </a:r>
            <a:r>
              <a:rPr sz="3200" spc="-5" dirty="0">
                <a:latin typeface="Arial"/>
                <a:cs typeface="Arial"/>
              </a:rPr>
              <a:t>sequence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jobs</a:t>
            </a:r>
            <a:endParaRPr sz="3200" dirty="0">
              <a:latin typeface="Arial"/>
              <a:cs typeface="Arial"/>
            </a:endParaRPr>
          </a:p>
          <a:p>
            <a:pPr marL="1067435" lvl="1" indent="-381635">
              <a:lnSpc>
                <a:spcPct val="100000"/>
              </a:lnSpc>
              <a:spcBef>
                <a:spcPts val="944"/>
              </a:spcBef>
              <a:buFont typeface="Wingdings"/>
              <a:buChar char=""/>
              <a:tabLst>
                <a:tab pos="1068070" algn="l"/>
              </a:tabLst>
            </a:pPr>
            <a:r>
              <a:rPr sz="2800" spc="-5" dirty="0">
                <a:latin typeface="Arial"/>
                <a:cs typeface="Arial"/>
              </a:rPr>
              <a:t>FCFS: </a:t>
            </a:r>
            <a:r>
              <a:rPr sz="2800" dirty="0">
                <a:latin typeface="Arial"/>
                <a:cs typeface="Arial"/>
              </a:rPr>
              <a:t>First come, </a:t>
            </a:r>
            <a:r>
              <a:rPr sz="2800" spc="5" dirty="0">
                <a:latin typeface="Arial"/>
                <a:cs typeface="Arial"/>
              </a:rPr>
              <a:t>first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served</a:t>
            </a:r>
            <a:endParaRPr sz="2800" dirty="0">
              <a:latin typeface="Arial"/>
              <a:cs typeface="Arial"/>
            </a:endParaRPr>
          </a:p>
          <a:p>
            <a:pPr marL="1067435" lvl="1" indent="-381635">
              <a:lnSpc>
                <a:spcPct val="100000"/>
              </a:lnSpc>
              <a:spcBef>
                <a:spcPts val="1015"/>
              </a:spcBef>
              <a:buFont typeface="Wingdings"/>
              <a:buChar char=""/>
              <a:tabLst>
                <a:tab pos="1068070" algn="l"/>
              </a:tabLst>
            </a:pPr>
            <a:r>
              <a:rPr sz="2800" spc="-80" dirty="0">
                <a:latin typeface="Arial"/>
                <a:cs typeface="Arial"/>
              </a:rPr>
              <a:t>SPT: </a:t>
            </a:r>
            <a:r>
              <a:rPr sz="2800" spc="5" dirty="0">
                <a:latin typeface="Arial"/>
                <a:cs typeface="Arial"/>
              </a:rPr>
              <a:t>Shortest processing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time</a:t>
            </a:r>
          </a:p>
          <a:p>
            <a:pPr marL="1067435" lvl="1" indent="-381635">
              <a:lnSpc>
                <a:spcPct val="100000"/>
              </a:lnSpc>
              <a:spcBef>
                <a:spcPts val="1005"/>
              </a:spcBef>
              <a:buFont typeface="Wingdings"/>
              <a:buChar char=""/>
              <a:tabLst>
                <a:tab pos="1068070" algn="l"/>
              </a:tabLst>
            </a:pPr>
            <a:r>
              <a:rPr sz="2800" spc="-5" dirty="0">
                <a:latin typeface="Arial"/>
                <a:cs typeface="Arial"/>
              </a:rPr>
              <a:t>EDD: </a:t>
            </a:r>
            <a:r>
              <a:rPr sz="2800" dirty="0">
                <a:latin typeface="Arial"/>
                <a:cs typeface="Arial"/>
              </a:rPr>
              <a:t>Earliest </a:t>
            </a:r>
            <a:r>
              <a:rPr sz="2800" spc="5" dirty="0">
                <a:latin typeface="Arial"/>
                <a:cs typeface="Arial"/>
              </a:rPr>
              <a:t>due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date</a:t>
            </a:r>
          </a:p>
          <a:p>
            <a:pPr marL="1067435" lvl="1" indent="-381635">
              <a:lnSpc>
                <a:spcPct val="100000"/>
              </a:lnSpc>
              <a:spcBef>
                <a:spcPts val="1010"/>
              </a:spcBef>
              <a:buFont typeface="Wingdings"/>
              <a:buChar char=""/>
              <a:tabLst>
                <a:tab pos="1068070" algn="l"/>
              </a:tabLst>
            </a:pPr>
            <a:r>
              <a:rPr sz="2800" spc="-80" dirty="0">
                <a:latin typeface="Arial"/>
                <a:cs typeface="Arial"/>
              </a:rPr>
              <a:t>LPT: </a:t>
            </a:r>
            <a:r>
              <a:rPr sz="2800" dirty="0">
                <a:latin typeface="Arial"/>
                <a:cs typeface="Arial"/>
              </a:rPr>
              <a:t>Longest </a:t>
            </a:r>
            <a:r>
              <a:rPr sz="2800" spc="5" dirty="0">
                <a:latin typeface="Arial"/>
                <a:cs typeface="Arial"/>
              </a:rPr>
              <a:t>processing </a:t>
            </a:r>
            <a:r>
              <a:rPr sz="2800" dirty="0">
                <a:latin typeface="Arial"/>
                <a:cs typeface="Arial"/>
              </a:rPr>
              <a:t>time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2191" y="6595871"/>
            <a:ext cx="1628139" cy="253365"/>
            <a:chOff x="12191" y="6595871"/>
            <a:chExt cx="1628139" cy="253365"/>
          </a:xfrm>
        </p:grpSpPr>
        <p:sp>
          <p:nvSpPr>
            <p:cNvPr id="7" name="object 7"/>
            <p:cNvSpPr/>
            <p:nvPr/>
          </p:nvSpPr>
          <p:spPr>
            <a:xfrm>
              <a:off x="16763" y="6600443"/>
              <a:ext cx="1618615" cy="243840"/>
            </a:xfrm>
            <a:custGeom>
              <a:avLst/>
              <a:gdLst/>
              <a:ahLst/>
              <a:cxnLst/>
              <a:rect l="l" t="t" r="r" b="b"/>
              <a:pathLst>
                <a:path w="1618614" h="243840">
                  <a:moveTo>
                    <a:pt x="1618488" y="0"/>
                  </a:moveTo>
                  <a:lnTo>
                    <a:pt x="0" y="0"/>
                  </a:lnTo>
                  <a:lnTo>
                    <a:pt x="0" y="243839"/>
                  </a:lnTo>
                  <a:lnTo>
                    <a:pt x="1618488" y="243839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763" y="6600443"/>
              <a:ext cx="1618615" cy="243840"/>
            </a:xfrm>
            <a:custGeom>
              <a:avLst/>
              <a:gdLst/>
              <a:ahLst/>
              <a:cxnLst/>
              <a:rect l="l" t="t" r="r" b="b"/>
              <a:pathLst>
                <a:path w="1618614" h="243840">
                  <a:moveTo>
                    <a:pt x="0" y="243839"/>
                  </a:moveTo>
                  <a:lnTo>
                    <a:pt x="1618488" y="243839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243839"/>
                  </a:lnTo>
                  <a:close/>
                </a:path>
              </a:pathLst>
            </a:custGeom>
            <a:ln w="9143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10" name="object 10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22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1915" y="1305010"/>
            <a:ext cx="6976871" cy="505112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2400" b="1" i="1" spc="-10" dirty="0">
                <a:solidFill>
                  <a:srgbClr val="003399"/>
                </a:solidFill>
                <a:latin typeface="Times New Roman"/>
                <a:cs typeface="Times New Roman"/>
              </a:rPr>
              <a:t>First </a:t>
            </a:r>
            <a:r>
              <a:rPr sz="2400" b="1" i="1" dirty="0">
                <a:solidFill>
                  <a:srgbClr val="003399"/>
                </a:solidFill>
                <a:latin typeface="Times New Roman"/>
                <a:cs typeface="Times New Roman"/>
              </a:rPr>
              <a:t>come, </a:t>
            </a:r>
            <a:r>
              <a:rPr sz="2400" b="1" i="1" spc="-10" dirty="0">
                <a:solidFill>
                  <a:srgbClr val="003399"/>
                </a:solidFill>
                <a:latin typeface="Times New Roman"/>
                <a:cs typeface="Times New Roman"/>
              </a:rPr>
              <a:t>first</a:t>
            </a:r>
            <a:r>
              <a:rPr sz="2400" b="1" i="1" spc="-2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3399"/>
                </a:solidFill>
                <a:latin typeface="Times New Roman"/>
                <a:cs typeface="Times New Roman"/>
              </a:rPr>
              <a:t>served</a:t>
            </a:r>
            <a:endParaRPr sz="2400" dirty="0">
              <a:latin typeface="Times New Roman"/>
              <a:cs typeface="Times New Roman"/>
            </a:endParaRPr>
          </a:p>
          <a:p>
            <a:pPr marL="12700" marR="301625">
              <a:lnSpc>
                <a:spcPts val="3120"/>
              </a:lnSpc>
              <a:spcBef>
                <a:spcPts val="22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The </a:t>
            </a:r>
            <a:r>
              <a:rPr sz="2400" b="1" i="1" spc="-10" dirty="0">
                <a:latin typeface="Times New Roman"/>
                <a:cs typeface="Times New Roman"/>
              </a:rPr>
              <a:t>first </a:t>
            </a:r>
            <a:r>
              <a:rPr sz="2400" b="1" i="1" spc="-5" dirty="0">
                <a:latin typeface="Times New Roman"/>
                <a:cs typeface="Times New Roman"/>
              </a:rPr>
              <a:t>job to arrive </a:t>
            </a:r>
            <a:r>
              <a:rPr sz="2400" b="1" i="1" dirty="0">
                <a:latin typeface="Times New Roman"/>
                <a:cs typeface="Times New Roman"/>
              </a:rPr>
              <a:t>at </a:t>
            </a:r>
            <a:r>
              <a:rPr sz="2400" b="1" i="1" spc="-5" dirty="0">
                <a:latin typeface="Times New Roman"/>
                <a:cs typeface="Times New Roman"/>
              </a:rPr>
              <a:t>a </a:t>
            </a:r>
            <a:r>
              <a:rPr sz="2400" b="1" i="1" spc="-10" dirty="0">
                <a:latin typeface="Times New Roman"/>
                <a:cs typeface="Times New Roman"/>
              </a:rPr>
              <a:t>work </a:t>
            </a:r>
            <a:r>
              <a:rPr sz="2400" b="1" i="1" spc="-5" dirty="0">
                <a:latin typeface="Times New Roman"/>
                <a:cs typeface="Times New Roman"/>
              </a:rPr>
              <a:t>center is processed </a:t>
            </a:r>
            <a:r>
              <a:rPr sz="2400" b="1" i="1" spc="-10" dirty="0">
                <a:latin typeface="Times New Roman"/>
                <a:cs typeface="Times New Roman"/>
              </a:rPr>
              <a:t>first  </a:t>
            </a:r>
            <a:endParaRPr lang="en-US" sz="2400" b="1" i="1" spc="-10" dirty="0">
              <a:latin typeface="Times New Roman"/>
              <a:cs typeface="Times New Roman"/>
            </a:endParaRPr>
          </a:p>
          <a:p>
            <a:pPr marL="12700" marR="301625">
              <a:lnSpc>
                <a:spcPts val="3120"/>
              </a:lnSpc>
              <a:spcBef>
                <a:spcPts val="225"/>
              </a:spcBef>
            </a:pPr>
            <a:r>
              <a:rPr sz="2400" b="1" i="1" spc="-10" dirty="0">
                <a:solidFill>
                  <a:srgbClr val="003399"/>
                </a:solidFill>
                <a:latin typeface="Times New Roman"/>
                <a:cs typeface="Times New Roman"/>
              </a:rPr>
              <a:t>Earliest </a:t>
            </a:r>
            <a:r>
              <a:rPr sz="2400" b="1" i="1" spc="-5" dirty="0">
                <a:solidFill>
                  <a:srgbClr val="003399"/>
                </a:solidFill>
                <a:latin typeface="Times New Roman"/>
                <a:cs typeface="Times New Roman"/>
              </a:rPr>
              <a:t>due</a:t>
            </a:r>
            <a:r>
              <a:rPr sz="2400" b="1" i="1" spc="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3399"/>
                </a:solidFill>
                <a:latin typeface="Times New Roman"/>
                <a:cs typeface="Times New Roman"/>
              </a:rPr>
              <a:t>date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The job </a:t>
            </a:r>
            <a:r>
              <a:rPr sz="2400" b="1" i="1" spc="-10" dirty="0">
                <a:latin typeface="Times New Roman"/>
                <a:cs typeface="Times New Roman"/>
              </a:rPr>
              <a:t>with the </a:t>
            </a:r>
            <a:r>
              <a:rPr sz="2400" b="1" i="1" spc="-5" dirty="0">
                <a:latin typeface="Times New Roman"/>
                <a:cs typeface="Times New Roman"/>
              </a:rPr>
              <a:t>earliest </a:t>
            </a:r>
            <a:r>
              <a:rPr sz="2400" b="1" i="1" dirty="0">
                <a:latin typeface="Times New Roman"/>
                <a:cs typeface="Times New Roman"/>
              </a:rPr>
              <a:t>due date </a:t>
            </a:r>
            <a:r>
              <a:rPr sz="2400" b="1" i="1" spc="-5" dirty="0">
                <a:latin typeface="Times New Roman"/>
                <a:cs typeface="Times New Roman"/>
              </a:rPr>
              <a:t>is processed</a:t>
            </a:r>
            <a:r>
              <a:rPr sz="2400" b="1" i="1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first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b="1" i="1" spc="-5" dirty="0">
                <a:solidFill>
                  <a:srgbClr val="003399"/>
                </a:solidFill>
                <a:latin typeface="Times New Roman"/>
                <a:cs typeface="Times New Roman"/>
              </a:rPr>
              <a:t>Shortest processing</a:t>
            </a:r>
            <a:r>
              <a:rPr sz="2400" b="1" i="1" spc="2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3399"/>
                </a:solidFill>
                <a:latin typeface="Times New Roman"/>
                <a:cs typeface="Times New Roman"/>
              </a:rPr>
              <a:t>time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400" b="1" i="1" spc="-5" dirty="0">
                <a:latin typeface="Times New Roman"/>
                <a:cs typeface="Times New Roman"/>
              </a:rPr>
              <a:t>The job </a:t>
            </a:r>
            <a:r>
              <a:rPr sz="2400" b="1" i="1" spc="-10" dirty="0">
                <a:latin typeface="Times New Roman"/>
                <a:cs typeface="Times New Roman"/>
              </a:rPr>
              <a:t>with </a:t>
            </a:r>
            <a:r>
              <a:rPr sz="2400" b="1" i="1" spc="-5" dirty="0">
                <a:latin typeface="Times New Roman"/>
                <a:cs typeface="Times New Roman"/>
              </a:rPr>
              <a:t>the shortest processing </a:t>
            </a:r>
            <a:r>
              <a:rPr sz="2400" b="1" i="1" dirty="0">
                <a:latin typeface="Times New Roman"/>
                <a:cs typeface="Times New Roman"/>
              </a:rPr>
              <a:t>time </a:t>
            </a:r>
            <a:r>
              <a:rPr sz="2400" b="1" i="1" spc="-5" dirty="0">
                <a:latin typeface="Times New Roman"/>
                <a:cs typeface="Times New Roman"/>
              </a:rPr>
              <a:t>is processed</a:t>
            </a:r>
            <a:r>
              <a:rPr sz="2400" b="1" i="1" spc="20" dirty="0">
                <a:latin typeface="Times New Roman"/>
                <a:cs typeface="Times New Roman"/>
              </a:rPr>
              <a:t> </a:t>
            </a:r>
            <a:r>
              <a:rPr sz="2400" b="1" i="1" spc="-10" dirty="0">
                <a:latin typeface="Times New Roman"/>
                <a:cs typeface="Times New Roman"/>
              </a:rPr>
              <a:t>first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1" i="1" spc="-5" dirty="0">
                <a:solidFill>
                  <a:srgbClr val="003399"/>
                </a:solidFill>
                <a:latin typeface="Times New Roman"/>
                <a:cs typeface="Times New Roman"/>
              </a:rPr>
              <a:t>Longest processing</a:t>
            </a:r>
            <a:r>
              <a:rPr sz="2400" b="1" i="1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400" b="1" i="1" spc="5" dirty="0">
                <a:solidFill>
                  <a:srgbClr val="003399"/>
                </a:solidFill>
                <a:latin typeface="Times New Roman"/>
                <a:cs typeface="Times New Roman"/>
              </a:rPr>
              <a:t>time</a:t>
            </a:r>
            <a:endParaRPr sz="2400" dirty="0">
              <a:latin typeface="Times New Roman"/>
              <a:cs typeface="Times New Roman"/>
            </a:endParaRPr>
          </a:p>
          <a:p>
            <a:pPr marL="12700" marR="75565">
              <a:lnSpc>
                <a:spcPct val="130100"/>
              </a:lnSpc>
              <a:spcBef>
                <a:spcPts val="244"/>
              </a:spcBef>
            </a:pPr>
            <a:r>
              <a:rPr sz="2400" b="1" i="1" spc="-5" dirty="0">
                <a:latin typeface="Times New Roman"/>
                <a:cs typeface="Times New Roman"/>
              </a:rPr>
              <a:t>The job </a:t>
            </a:r>
            <a:r>
              <a:rPr sz="2400" b="1" i="1" spc="-10" dirty="0">
                <a:latin typeface="Times New Roman"/>
                <a:cs typeface="Times New Roman"/>
              </a:rPr>
              <a:t>with </a:t>
            </a:r>
            <a:r>
              <a:rPr sz="2400" b="1" i="1" spc="-5" dirty="0">
                <a:latin typeface="Times New Roman"/>
                <a:cs typeface="Times New Roman"/>
              </a:rPr>
              <a:t>the longest processing </a:t>
            </a:r>
            <a:r>
              <a:rPr sz="2400" b="1" i="1" dirty="0">
                <a:latin typeface="Times New Roman"/>
                <a:cs typeface="Times New Roman"/>
              </a:rPr>
              <a:t>time </a:t>
            </a:r>
            <a:r>
              <a:rPr sz="2400" b="1" i="1" spc="-5" dirty="0">
                <a:latin typeface="Times New Roman"/>
                <a:cs typeface="Times New Roman"/>
              </a:rPr>
              <a:t>is processed </a:t>
            </a:r>
            <a:r>
              <a:rPr sz="2400" b="1" i="1" spc="-10" dirty="0">
                <a:latin typeface="Times New Roman"/>
                <a:cs typeface="Times New Roman"/>
              </a:rPr>
              <a:t>first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1583" y="204215"/>
            <a:ext cx="8247888" cy="10149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504444" y="220979"/>
            <a:ext cx="8171815" cy="9271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 marL="261620">
              <a:lnSpc>
                <a:spcPct val="100000"/>
              </a:lnSpc>
              <a:spcBef>
                <a:spcPts val="950"/>
              </a:spcBef>
            </a:pPr>
            <a:r>
              <a:rPr sz="3600" i="1" dirty="0">
                <a:latin typeface="Arial"/>
                <a:cs typeface="Arial"/>
              </a:rPr>
              <a:t>Priority </a:t>
            </a:r>
            <a:r>
              <a:rPr sz="3600" i="1" spc="-5" dirty="0">
                <a:latin typeface="Arial"/>
                <a:cs typeface="Arial"/>
              </a:rPr>
              <a:t>Rules </a:t>
            </a:r>
            <a:r>
              <a:rPr sz="3600" i="1" dirty="0">
                <a:latin typeface="Arial"/>
                <a:cs typeface="Arial"/>
              </a:rPr>
              <a:t>for </a:t>
            </a:r>
            <a:r>
              <a:rPr sz="3600" i="1" spc="-5" dirty="0">
                <a:latin typeface="Arial"/>
                <a:cs typeface="Arial"/>
              </a:rPr>
              <a:t>Dispatching</a:t>
            </a:r>
            <a:r>
              <a:rPr sz="3600" i="1" spc="-60" dirty="0">
                <a:latin typeface="Arial"/>
                <a:cs typeface="Arial"/>
              </a:rPr>
              <a:t> </a:t>
            </a:r>
            <a:r>
              <a:rPr sz="3600" i="1" spc="-5" dirty="0">
                <a:latin typeface="Arial"/>
                <a:cs typeface="Arial"/>
              </a:rPr>
              <a:t>Jobs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24" name="object 24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7495955" y="6435174"/>
            <a:ext cx="1630680" cy="411480"/>
            <a:chOff x="7491983" y="6437376"/>
            <a:chExt cx="1630680" cy="411480"/>
          </a:xfrm>
        </p:grpSpPr>
        <p:sp>
          <p:nvSpPr>
            <p:cNvPr id="27" name="object 27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23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55191" y="4776215"/>
            <a:ext cx="1524635" cy="843915"/>
            <a:chOff x="1155191" y="4776215"/>
            <a:chExt cx="1524635" cy="843915"/>
          </a:xfrm>
        </p:grpSpPr>
        <p:sp>
          <p:nvSpPr>
            <p:cNvPr id="5" name="object 5"/>
            <p:cNvSpPr/>
            <p:nvPr/>
          </p:nvSpPr>
          <p:spPr>
            <a:xfrm>
              <a:off x="1155191" y="5202935"/>
              <a:ext cx="1524635" cy="417195"/>
            </a:xfrm>
            <a:custGeom>
              <a:avLst/>
              <a:gdLst/>
              <a:ahLst/>
              <a:cxnLst/>
              <a:rect l="l" t="t" r="r" b="b"/>
              <a:pathLst>
                <a:path w="1524635" h="417195">
                  <a:moveTo>
                    <a:pt x="0" y="416725"/>
                  </a:moveTo>
                  <a:lnTo>
                    <a:pt x="1524508" y="416725"/>
                  </a:lnTo>
                  <a:lnTo>
                    <a:pt x="1524508" y="0"/>
                  </a:lnTo>
                  <a:lnTo>
                    <a:pt x="0" y="0"/>
                  </a:lnTo>
                  <a:lnTo>
                    <a:pt x="0" y="416725"/>
                  </a:lnTo>
                  <a:close/>
                </a:path>
              </a:pathLst>
            </a:custGeom>
            <a:solidFill>
              <a:srgbClr val="FFD9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55191" y="4776215"/>
              <a:ext cx="1524635" cy="399415"/>
            </a:xfrm>
            <a:custGeom>
              <a:avLst/>
              <a:gdLst/>
              <a:ahLst/>
              <a:cxnLst/>
              <a:rect l="l" t="t" r="r" b="b"/>
              <a:pathLst>
                <a:path w="1524635" h="399414">
                  <a:moveTo>
                    <a:pt x="0" y="398906"/>
                  </a:moveTo>
                  <a:lnTo>
                    <a:pt x="1524508" y="398906"/>
                  </a:lnTo>
                  <a:lnTo>
                    <a:pt x="1524508" y="0"/>
                  </a:lnTo>
                  <a:lnTo>
                    <a:pt x="0" y="0"/>
                  </a:lnTo>
                  <a:lnTo>
                    <a:pt x="0" y="398906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43000" y="3911256"/>
            <a:ext cx="6858000" cy="1708785"/>
            <a:chOff x="1143000" y="3911256"/>
            <a:chExt cx="6858000" cy="1708785"/>
          </a:xfrm>
        </p:grpSpPr>
        <p:sp>
          <p:nvSpPr>
            <p:cNvPr id="8" name="object 8"/>
            <p:cNvSpPr/>
            <p:nvPr/>
          </p:nvSpPr>
          <p:spPr>
            <a:xfrm>
              <a:off x="1155191" y="3913631"/>
              <a:ext cx="6833870" cy="420370"/>
            </a:xfrm>
            <a:custGeom>
              <a:avLst/>
              <a:gdLst/>
              <a:ahLst/>
              <a:cxnLst/>
              <a:rect l="l" t="t" r="r" b="b"/>
              <a:pathLst>
                <a:path w="6833870" h="420370">
                  <a:moveTo>
                    <a:pt x="0" y="420027"/>
                  </a:moveTo>
                  <a:lnTo>
                    <a:pt x="6833616" y="420027"/>
                  </a:lnTo>
                  <a:lnTo>
                    <a:pt x="6833616" y="0"/>
                  </a:lnTo>
                  <a:lnTo>
                    <a:pt x="0" y="0"/>
                  </a:lnTo>
                  <a:lnTo>
                    <a:pt x="0" y="420027"/>
                  </a:lnTo>
                  <a:close/>
                </a:path>
              </a:pathLst>
            </a:custGeom>
            <a:solidFill>
              <a:srgbClr val="A4D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55191" y="4340351"/>
              <a:ext cx="1524635" cy="414020"/>
            </a:xfrm>
            <a:custGeom>
              <a:avLst/>
              <a:gdLst/>
              <a:ahLst/>
              <a:cxnLst/>
              <a:rect l="l" t="t" r="r" b="b"/>
              <a:pathLst>
                <a:path w="1524635" h="414020">
                  <a:moveTo>
                    <a:pt x="0" y="414020"/>
                  </a:moveTo>
                  <a:lnTo>
                    <a:pt x="1524508" y="414020"/>
                  </a:lnTo>
                  <a:lnTo>
                    <a:pt x="1524508" y="0"/>
                  </a:lnTo>
                  <a:lnTo>
                    <a:pt x="0" y="0"/>
                  </a:lnTo>
                  <a:lnTo>
                    <a:pt x="0" y="414020"/>
                  </a:lnTo>
                  <a:close/>
                </a:path>
              </a:pathLst>
            </a:custGeom>
            <a:solidFill>
              <a:srgbClr val="F400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43000" y="3911256"/>
              <a:ext cx="6858000" cy="1708785"/>
            </a:xfrm>
            <a:custGeom>
              <a:avLst/>
              <a:gdLst/>
              <a:ahLst/>
              <a:cxnLst/>
              <a:rect l="l" t="t" r="r" b="b"/>
              <a:pathLst>
                <a:path w="6858000" h="1708785">
                  <a:moveTo>
                    <a:pt x="1536700" y="843153"/>
                  </a:moveTo>
                  <a:lnTo>
                    <a:pt x="0" y="843153"/>
                  </a:lnTo>
                  <a:lnTo>
                    <a:pt x="0" y="1263815"/>
                  </a:lnTo>
                  <a:lnTo>
                    <a:pt x="0" y="1708404"/>
                  </a:lnTo>
                  <a:lnTo>
                    <a:pt x="1536700" y="1708404"/>
                  </a:lnTo>
                  <a:lnTo>
                    <a:pt x="1536700" y="1263865"/>
                  </a:lnTo>
                  <a:lnTo>
                    <a:pt x="1536700" y="843153"/>
                  </a:lnTo>
                  <a:close/>
                </a:path>
                <a:path w="6858000" h="1708785">
                  <a:moveTo>
                    <a:pt x="1536700" y="422402"/>
                  </a:moveTo>
                  <a:lnTo>
                    <a:pt x="0" y="422402"/>
                  </a:lnTo>
                  <a:lnTo>
                    <a:pt x="0" y="843114"/>
                  </a:lnTo>
                  <a:lnTo>
                    <a:pt x="1536700" y="843114"/>
                  </a:lnTo>
                  <a:lnTo>
                    <a:pt x="1536700" y="422402"/>
                  </a:lnTo>
                  <a:close/>
                </a:path>
                <a:path w="6858000" h="1708785">
                  <a:moveTo>
                    <a:pt x="6858000" y="0"/>
                  </a:moveTo>
                  <a:lnTo>
                    <a:pt x="4902200" y="0"/>
                  </a:lnTo>
                  <a:lnTo>
                    <a:pt x="1536700" y="0"/>
                  </a:lnTo>
                  <a:lnTo>
                    <a:pt x="0" y="0"/>
                  </a:lnTo>
                  <a:lnTo>
                    <a:pt x="0" y="422363"/>
                  </a:lnTo>
                  <a:lnTo>
                    <a:pt x="1536700" y="422363"/>
                  </a:lnTo>
                  <a:lnTo>
                    <a:pt x="4902200" y="422363"/>
                  </a:lnTo>
                  <a:lnTo>
                    <a:pt x="6858000" y="422363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87323" y="510540"/>
            <a:ext cx="7772400" cy="9271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4400" spc="-5" dirty="0"/>
              <a:t>Sequencing</a:t>
            </a:r>
            <a:r>
              <a:rPr sz="4400" spc="20" dirty="0"/>
              <a:t> </a:t>
            </a:r>
            <a:r>
              <a:rPr sz="4400" spc="-5" dirty="0"/>
              <a:t>Example</a:t>
            </a:r>
            <a:endParaRPr sz="4400"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155191" y="2862347"/>
          <a:ext cx="6834504" cy="31294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1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8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89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  <a:p>
                      <a:pPr marR="4445" algn="ctr">
                        <a:lnSpc>
                          <a:spcPct val="100000"/>
                        </a:lnSpc>
                        <a:spcBef>
                          <a:spcPts val="1855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Job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125730" algn="ctr">
                        <a:lnSpc>
                          <a:spcPts val="2510"/>
                        </a:lnSpc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Job </a:t>
                      </a:r>
                      <a:r>
                        <a:rPr sz="2400" i="1" spc="5" dirty="0">
                          <a:latin typeface="Arial"/>
                          <a:cs typeface="Arial"/>
                        </a:rPr>
                        <a:t>Work</a:t>
                      </a:r>
                      <a:r>
                        <a:rPr sz="2400" i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i="1" spc="-5" dirty="0">
                          <a:latin typeface="Arial"/>
                          <a:cs typeface="Arial"/>
                        </a:rPr>
                        <a:t>(Processing)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 marL="1236345" marR="1358900" indent="-2540" algn="ctr">
                        <a:lnSpc>
                          <a:spcPts val="2590"/>
                        </a:lnSpc>
                        <a:spcBef>
                          <a:spcPts val="185"/>
                        </a:spcBef>
                      </a:pPr>
                      <a:r>
                        <a:rPr sz="2400" i="1" spc="-20" dirty="0">
                          <a:latin typeface="Arial"/>
                          <a:cs typeface="Arial"/>
                        </a:rPr>
                        <a:t>Time  </a:t>
                      </a:r>
                      <a:r>
                        <a:rPr sz="2400" i="1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2400" i="1" dirty="0">
                          <a:latin typeface="Arial"/>
                          <a:cs typeface="Arial"/>
                        </a:rPr>
                        <a:t>Days)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275590" marR="389255" algn="ctr">
                        <a:lnSpc>
                          <a:spcPct val="90000"/>
                        </a:lnSpc>
                        <a:spcBef>
                          <a:spcPts val="6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Job</a:t>
                      </a:r>
                      <a:r>
                        <a:rPr sz="2400" i="1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i="1" dirty="0">
                          <a:latin typeface="Arial"/>
                          <a:cs typeface="Arial"/>
                        </a:rPr>
                        <a:t>Due  Date  </a:t>
                      </a:r>
                      <a:r>
                        <a:rPr sz="2400" i="1" spc="-5" dirty="0">
                          <a:latin typeface="Arial"/>
                          <a:cs typeface="Arial"/>
                        </a:rPr>
                        <a:t>(Days)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659"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T w="381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A4DF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893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88670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A4D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88">
                <a:tc>
                  <a:txBody>
                    <a:bodyPr/>
                    <a:lstStyle/>
                    <a:p>
                      <a:pPr marR="5715" algn="ctr">
                        <a:lnSpc>
                          <a:spcPts val="2870"/>
                        </a:lnSpc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B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A4DF00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8930">
                        <a:lnSpc>
                          <a:spcPts val="287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788670" algn="r">
                        <a:lnSpc>
                          <a:spcPts val="287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35">
                <a:tc>
                  <a:txBody>
                    <a:bodyPr/>
                    <a:lstStyle/>
                    <a:p>
                      <a:pPr marR="1905" algn="ctr">
                        <a:lnSpc>
                          <a:spcPts val="2810"/>
                        </a:lnSpc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C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8930">
                        <a:lnSpc>
                          <a:spcPts val="281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787400" algn="r">
                        <a:lnSpc>
                          <a:spcPts val="2810"/>
                        </a:lnSpc>
                      </a:pPr>
                      <a:r>
                        <a:rPr sz="2400" spc="5" dirty="0">
                          <a:latin typeface="Arial"/>
                          <a:cs typeface="Arial"/>
                        </a:rPr>
                        <a:t>18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631">
                <a:tc>
                  <a:txBody>
                    <a:bodyPr/>
                    <a:lstStyle/>
                    <a:p>
                      <a:pPr marR="1905" algn="ctr">
                        <a:lnSpc>
                          <a:spcPts val="2790"/>
                        </a:lnSpc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98930">
                        <a:lnSpc>
                          <a:spcPts val="279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787400" algn="r">
                        <a:lnSpc>
                          <a:spcPts val="2790"/>
                        </a:lnSpc>
                      </a:pPr>
                      <a:r>
                        <a:rPr sz="2400" spc="5" dirty="0">
                          <a:latin typeface="Arial"/>
                          <a:cs typeface="Arial"/>
                        </a:rPr>
                        <a:t>15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135">
                <a:tc>
                  <a:txBody>
                    <a:bodyPr/>
                    <a:lstStyle/>
                    <a:p>
                      <a:pPr marR="5715" algn="ctr">
                        <a:lnSpc>
                          <a:spcPts val="2810"/>
                        </a:lnSpc>
                        <a:spcBef>
                          <a:spcPts val="2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1598930">
                        <a:lnSpc>
                          <a:spcPts val="2810"/>
                        </a:lnSpc>
                        <a:spcBef>
                          <a:spcPts val="2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9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787400" algn="r">
                        <a:lnSpc>
                          <a:spcPts val="2810"/>
                        </a:lnSpc>
                        <a:spcBef>
                          <a:spcPts val="20"/>
                        </a:spcBef>
                      </a:pPr>
                      <a:r>
                        <a:rPr sz="2400" spc="5" dirty="0">
                          <a:latin typeface="Arial"/>
                          <a:cs typeface="Arial"/>
                        </a:rPr>
                        <a:t>23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1063244" y="1682623"/>
            <a:ext cx="6711950" cy="83756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90"/>
              </a:spcBef>
            </a:pPr>
            <a:r>
              <a:rPr sz="2800" dirty="0">
                <a:latin typeface="Arial"/>
                <a:cs typeface="Arial"/>
              </a:rPr>
              <a:t>Apply </a:t>
            </a:r>
            <a:r>
              <a:rPr sz="2800" spc="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four popular </a:t>
            </a:r>
            <a:r>
              <a:rPr sz="2800" spc="5" dirty="0">
                <a:latin typeface="Arial"/>
                <a:cs typeface="Arial"/>
              </a:rPr>
              <a:t>sequencing </a:t>
            </a:r>
            <a:r>
              <a:rPr sz="2800" dirty="0">
                <a:latin typeface="Arial"/>
                <a:cs typeface="Arial"/>
              </a:rPr>
              <a:t>rules </a:t>
            </a:r>
            <a:r>
              <a:rPr sz="2800" spc="5" dirty="0">
                <a:latin typeface="Arial"/>
                <a:cs typeface="Arial"/>
              </a:rPr>
              <a:t>to  these </a:t>
            </a:r>
            <a:r>
              <a:rPr sz="2800" spc="-5" dirty="0">
                <a:latin typeface="Arial"/>
                <a:cs typeface="Arial"/>
              </a:rPr>
              <a:t>five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jobs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15" name="object 15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18" name="object 18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24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5800" y="3314700"/>
            <a:ext cx="7772400" cy="2222500"/>
            <a:chOff x="685800" y="3314700"/>
            <a:chExt cx="7772400" cy="2222500"/>
          </a:xfrm>
        </p:grpSpPr>
        <p:sp>
          <p:nvSpPr>
            <p:cNvPr id="5" name="object 5"/>
            <p:cNvSpPr/>
            <p:nvPr/>
          </p:nvSpPr>
          <p:spPr>
            <a:xfrm>
              <a:off x="719328" y="3316223"/>
              <a:ext cx="7736205" cy="455930"/>
            </a:xfrm>
            <a:custGeom>
              <a:avLst/>
              <a:gdLst/>
              <a:ahLst/>
              <a:cxnLst/>
              <a:rect l="l" t="t" r="r" b="b"/>
              <a:pathLst>
                <a:path w="7736205" h="455929">
                  <a:moveTo>
                    <a:pt x="0" y="455675"/>
                  </a:moveTo>
                  <a:lnTo>
                    <a:pt x="7735824" y="455675"/>
                  </a:lnTo>
                  <a:lnTo>
                    <a:pt x="7735824" y="0"/>
                  </a:lnTo>
                  <a:lnTo>
                    <a:pt x="0" y="0"/>
                  </a:lnTo>
                  <a:lnTo>
                    <a:pt x="0" y="455675"/>
                  </a:lnTo>
                  <a:close/>
                </a:path>
              </a:pathLst>
            </a:custGeom>
            <a:solidFill>
              <a:srgbClr val="A4D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800" y="3314699"/>
              <a:ext cx="7772400" cy="2222500"/>
            </a:xfrm>
            <a:custGeom>
              <a:avLst/>
              <a:gdLst/>
              <a:ahLst/>
              <a:cxnLst/>
              <a:rect l="l" t="t" r="r" b="b"/>
              <a:pathLst>
                <a:path w="7772400" h="2222500">
                  <a:moveTo>
                    <a:pt x="7772400" y="0"/>
                  </a:moveTo>
                  <a:lnTo>
                    <a:pt x="7772400" y="0"/>
                  </a:lnTo>
                  <a:lnTo>
                    <a:pt x="0" y="0"/>
                  </a:lnTo>
                  <a:lnTo>
                    <a:pt x="0" y="457200"/>
                  </a:lnTo>
                  <a:lnTo>
                    <a:pt x="0" y="901700"/>
                  </a:lnTo>
                  <a:lnTo>
                    <a:pt x="0" y="1346200"/>
                  </a:lnTo>
                  <a:lnTo>
                    <a:pt x="0" y="1765300"/>
                  </a:lnTo>
                  <a:lnTo>
                    <a:pt x="0" y="2222500"/>
                  </a:lnTo>
                  <a:lnTo>
                    <a:pt x="1600200" y="2222500"/>
                  </a:lnTo>
                  <a:lnTo>
                    <a:pt x="1600200" y="1765300"/>
                  </a:lnTo>
                  <a:lnTo>
                    <a:pt x="1600200" y="1346200"/>
                  </a:lnTo>
                  <a:lnTo>
                    <a:pt x="1600200" y="901700"/>
                  </a:lnTo>
                  <a:lnTo>
                    <a:pt x="1600200" y="457200"/>
                  </a:lnTo>
                  <a:lnTo>
                    <a:pt x="3810000" y="457200"/>
                  </a:lnTo>
                  <a:lnTo>
                    <a:pt x="4851400" y="457200"/>
                  </a:lnTo>
                  <a:lnTo>
                    <a:pt x="6286500" y="457200"/>
                  </a:lnTo>
                  <a:lnTo>
                    <a:pt x="7772400" y="457200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87323" y="510540"/>
            <a:ext cx="7772400" cy="9271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4400" spc="-5" dirty="0"/>
              <a:t>Sequencing</a:t>
            </a:r>
            <a:r>
              <a:rPr sz="4400" spc="20" dirty="0"/>
              <a:t> </a:t>
            </a:r>
            <a:r>
              <a:rPr sz="4400" spc="-5" dirty="0"/>
              <a:t>Example</a:t>
            </a:r>
            <a:endParaRPr sz="4400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19327" y="2434678"/>
          <a:ext cx="7738108" cy="34604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6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4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0021">
                <a:tc>
                  <a:txBody>
                    <a:bodyPr/>
                    <a:lstStyle/>
                    <a:p>
                      <a:pPr marR="25400" algn="ctr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Job</a:t>
                      </a:r>
                      <a:endParaRPr sz="2000" dirty="0">
                        <a:latin typeface="Arial"/>
                        <a:cs typeface="Arial"/>
                      </a:endParaRPr>
                    </a:p>
                    <a:p>
                      <a:pPr marR="23495" algn="ctr">
                        <a:lnSpc>
                          <a:spcPts val="2280"/>
                        </a:lnSpc>
                      </a:pPr>
                      <a:r>
                        <a:rPr sz="2000" i="1" spc="-10" dirty="0">
                          <a:latin typeface="Arial"/>
                          <a:cs typeface="Arial"/>
                        </a:rPr>
                        <a:t>Sequence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394335" marR="310515" indent="635" algn="ctr">
                        <a:lnSpc>
                          <a:spcPts val="2160"/>
                        </a:lnSpc>
                        <a:spcBef>
                          <a:spcPts val="75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Job </a:t>
                      </a:r>
                      <a:r>
                        <a:rPr sz="2000" i="1" spc="5" dirty="0">
                          <a:latin typeface="Arial"/>
                          <a:cs typeface="Arial"/>
                        </a:rPr>
                        <a:t>Work  (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2000" i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oce</a:t>
                      </a:r>
                      <a:r>
                        <a:rPr sz="2000" i="1" spc="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00" i="1" spc="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)  </a:t>
                      </a:r>
                      <a:r>
                        <a:rPr sz="2000" i="1" spc="-15" dirty="0">
                          <a:latin typeface="Arial"/>
                          <a:cs typeface="Arial"/>
                        </a:rPr>
                        <a:t>Time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i="1" spc="-10" dirty="0">
                          <a:latin typeface="Arial"/>
                          <a:cs typeface="Arial"/>
                        </a:rPr>
                        <a:t>Flow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8135">
                        <a:lnSpc>
                          <a:spcPts val="2280"/>
                        </a:lnSpc>
                      </a:pPr>
                      <a:r>
                        <a:rPr sz="2000" i="1" spc="-15" dirty="0">
                          <a:latin typeface="Arial"/>
                          <a:cs typeface="Arial"/>
                        </a:rPr>
                        <a:t>Time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Job</a:t>
                      </a:r>
                      <a:r>
                        <a:rPr sz="20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Due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810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Date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Job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9525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Lateness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10">
                <a:tc>
                  <a:txBody>
                    <a:bodyPr/>
                    <a:lstStyle/>
                    <a:p>
                      <a:pPr marL="6838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A4DF00"/>
                    </a:solidFill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A4DF00"/>
                    </a:solidFill>
                  </a:tcPr>
                </a:tc>
                <a:tc>
                  <a:txBody>
                    <a:bodyPr/>
                    <a:lstStyle/>
                    <a:p>
                      <a:pPr marR="37020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6388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2197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229">
                <a:tc>
                  <a:txBody>
                    <a:bodyPr/>
                    <a:lstStyle/>
                    <a:p>
                      <a:pPr marL="68389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F400F4"/>
                    </a:solidFill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7020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6388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197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754">
                <a:tc>
                  <a:txBody>
                    <a:bodyPr/>
                    <a:lstStyle/>
                    <a:p>
                      <a:pPr marL="67437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7084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64515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197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54">
                <a:tc>
                  <a:txBody>
                    <a:bodyPr/>
                    <a:lstStyle/>
                    <a:p>
                      <a:pPr marL="674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T w="63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80"/>
                    </a:solidFill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7084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64515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197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960">
                <a:tc>
                  <a:txBody>
                    <a:bodyPr/>
                    <a:lstStyle/>
                    <a:p>
                      <a:pPr marL="6838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7084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6451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B w="28575">
                      <a:solidFill>
                        <a:srgbClr val="80808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197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890905" algn="r">
                        <a:lnSpc>
                          <a:spcPts val="2320"/>
                        </a:lnSpc>
                        <a:spcBef>
                          <a:spcPts val="37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70840" algn="r">
                        <a:lnSpc>
                          <a:spcPts val="2320"/>
                        </a:lnSpc>
                        <a:spcBef>
                          <a:spcPts val="37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77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80808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41020" algn="r">
                        <a:lnSpc>
                          <a:spcPts val="2320"/>
                        </a:lnSpc>
                        <a:spcBef>
                          <a:spcPts val="375"/>
                        </a:spcBef>
                      </a:pPr>
                      <a:r>
                        <a:rPr sz="2000" spc="-150" dirty="0">
                          <a:latin typeface="Arial"/>
                          <a:cs typeface="Arial"/>
                        </a:rPr>
                        <a:t>11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36193" y="1610994"/>
            <a:ext cx="45383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5" dirty="0">
                <a:latin typeface="Arial"/>
                <a:cs typeface="Arial"/>
              </a:rPr>
              <a:t>FCFS: </a:t>
            </a:r>
            <a:r>
              <a:rPr sz="2800" dirty="0">
                <a:latin typeface="Arial"/>
                <a:cs typeface="Arial"/>
              </a:rPr>
              <a:t>Sequence</a:t>
            </a:r>
            <a:r>
              <a:rPr sz="2800" spc="-20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A-B-C-D-E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11" name="object 11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14" name="object 14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/>
          <p:cNvSpPr txBox="1">
            <a:spLocks/>
          </p:cNvSpPr>
          <p:nvPr/>
        </p:nvSpPr>
        <p:spPr>
          <a:xfrm>
            <a:off x="687323" y="510540"/>
            <a:ext cx="7772400" cy="9271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335"/>
              </a:spcBef>
            </a:pPr>
            <a:r>
              <a:rPr lang="en-US" sz="4400" kern="0" spc="-5">
                <a:solidFill>
                  <a:sysClr val="windowText" lastClr="000000"/>
                </a:solidFill>
              </a:rPr>
              <a:t>Sequencing</a:t>
            </a:r>
            <a:r>
              <a:rPr lang="en-US" sz="4400" kern="0" spc="20">
                <a:solidFill>
                  <a:sysClr val="windowText" lastClr="000000"/>
                </a:solidFill>
              </a:rPr>
              <a:t> </a:t>
            </a:r>
            <a:r>
              <a:rPr lang="en-US" sz="4400" kern="0" spc="-5">
                <a:solidFill>
                  <a:sysClr val="windowText" lastClr="000000"/>
                </a:solidFill>
              </a:rPr>
              <a:t>Example</a:t>
            </a:r>
            <a:endParaRPr lang="en-US" sz="4400" kern="0" dirty="0">
              <a:solidFill>
                <a:sysClr val="windowText" lastClr="000000"/>
              </a:solidFill>
            </a:endParaRPr>
          </a:p>
        </p:txBody>
      </p:sp>
      <p:sp>
        <p:nvSpPr>
          <p:cNvPr id="4" name="object 9"/>
          <p:cNvSpPr txBox="1"/>
          <p:nvPr/>
        </p:nvSpPr>
        <p:spPr>
          <a:xfrm>
            <a:off x="736193" y="1610994"/>
            <a:ext cx="45383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5" dirty="0">
                <a:latin typeface="Arial"/>
                <a:cs typeface="Arial"/>
              </a:rPr>
              <a:t>FCFS: </a:t>
            </a:r>
            <a:r>
              <a:rPr sz="2800" dirty="0">
                <a:latin typeface="Arial"/>
                <a:cs typeface="Arial"/>
              </a:rPr>
              <a:t>Sequence</a:t>
            </a:r>
            <a:r>
              <a:rPr sz="2800" spc="-20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A-B-C-D-E</a:t>
            </a:r>
          </a:p>
        </p:txBody>
      </p:sp>
      <p:grpSp>
        <p:nvGrpSpPr>
          <p:cNvPr id="6" name="object 47"/>
          <p:cNvGrpSpPr/>
          <p:nvPr/>
        </p:nvGrpSpPr>
        <p:grpSpPr>
          <a:xfrm>
            <a:off x="341185" y="2456497"/>
            <a:ext cx="8467725" cy="3438525"/>
            <a:chOff x="341185" y="2456497"/>
            <a:chExt cx="8467725" cy="3438525"/>
          </a:xfrm>
        </p:grpSpPr>
        <p:sp>
          <p:nvSpPr>
            <p:cNvPr id="7" name="object 48"/>
            <p:cNvSpPr/>
            <p:nvPr/>
          </p:nvSpPr>
          <p:spPr>
            <a:xfrm>
              <a:off x="345947" y="2461260"/>
              <a:ext cx="8458200" cy="3429000"/>
            </a:xfrm>
            <a:custGeom>
              <a:avLst/>
              <a:gdLst/>
              <a:ahLst/>
              <a:cxnLst/>
              <a:rect l="l" t="t" r="r" b="b"/>
              <a:pathLst>
                <a:path w="8458200" h="3429000">
                  <a:moveTo>
                    <a:pt x="84582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8458200" y="342900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49"/>
            <p:cNvSpPr/>
            <p:nvPr/>
          </p:nvSpPr>
          <p:spPr>
            <a:xfrm>
              <a:off x="345947" y="2461260"/>
              <a:ext cx="8458200" cy="3429000"/>
            </a:xfrm>
            <a:custGeom>
              <a:avLst/>
              <a:gdLst/>
              <a:ahLst/>
              <a:cxnLst/>
              <a:rect l="l" t="t" r="r" b="b"/>
              <a:pathLst>
                <a:path w="8458200" h="3429000">
                  <a:moveTo>
                    <a:pt x="0" y="3429000"/>
                  </a:moveTo>
                  <a:lnTo>
                    <a:pt x="8458200" y="3429000"/>
                  </a:lnTo>
                  <a:lnTo>
                    <a:pt x="8458200" y="0"/>
                  </a:lnTo>
                  <a:lnTo>
                    <a:pt x="0" y="0"/>
                  </a:lnTo>
                  <a:lnTo>
                    <a:pt x="0" y="3429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50"/>
          <p:cNvSpPr txBox="1"/>
          <p:nvPr/>
        </p:nvSpPr>
        <p:spPr>
          <a:xfrm>
            <a:off x="553516" y="2816098"/>
            <a:ext cx="803783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lang="en-US" sz="2000" b="1" i="1" spc="-10" dirty="0">
                <a:latin typeface="Arial"/>
                <a:cs typeface="Arial"/>
              </a:rPr>
              <a:t>  </a:t>
            </a:r>
            <a:r>
              <a:rPr sz="2000" b="1" i="1" spc="-10" dirty="0">
                <a:latin typeface="Arial"/>
                <a:cs typeface="Arial"/>
              </a:rPr>
              <a:t>Average </a:t>
            </a:r>
            <a:r>
              <a:rPr sz="2000" b="1" i="1" spc="-5" dirty="0">
                <a:latin typeface="Arial"/>
                <a:cs typeface="Arial"/>
              </a:rPr>
              <a:t>completion time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700" b="1" i="1" baseline="44753" dirty="0">
                <a:latin typeface="Arial"/>
                <a:cs typeface="Arial"/>
              </a:rPr>
              <a:t>Sum of total flow time </a:t>
            </a:r>
            <a:r>
              <a:rPr sz="2000" b="1" spc="-5" dirty="0">
                <a:latin typeface="Arial"/>
                <a:cs typeface="Arial"/>
              </a:rPr>
              <a:t>=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1" name="object 51"/>
          <p:cNvSpPr txBox="1"/>
          <p:nvPr/>
        </p:nvSpPr>
        <p:spPr>
          <a:xfrm>
            <a:off x="4269994" y="2960623"/>
            <a:ext cx="1702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Number of</a:t>
            </a:r>
            <a:r>
              <a:rPr sz="1800" b="1" i="1" spc="-10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jobs</a:t>
            </a:r>
            <a:endParaRPr sz="1800" dirty="0">
              <a:latin typeface="Arial"/>
              <a:cs typeface="Arial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962400" y="2960623"/>
            <a:ext cx="2209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bject 54"/>
          <p:cNvSpPr txBox="1"/>
          <p:nvPr/>
        </p:nvSpPr>
        <p:spPr>
          <a:xfrm>
            <a:off x="968713" y="3542539"/>
            <a:ext cx="7473950" cy="10130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2110" algn="ctr">
              <a:lnSpc>
                <a:spcPts val="1795"/>
              </a:lnSpc>
              <a:spcBef>
                <a:spcPts val="100"/>
              </a:spcBef>
            </a:pPr>
            <a:r>
              <a:rPr lang="en-US" sz="1800" b="1" i="1" spc="-15" dirty="0">
                <a:latin typeface="Arial"/>
                <a:cs typeface="Arial"/>
              </a:rPr>
              <a:t>                             </a:t>
            </a: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job </a:t>
            </a:r>
            <a:r>
              <a:rPr sz="1800" b="1" i="1" spc="-5" dirty="0">
                <a:latin typeface="Arial"/>
                <a:cs typeface="Arial"/>
              </a:rPr>
              <a:t>work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time</a:t>
            </a:r>
            <a:endParaRPr sz="1800" dirty="0">
              <a:latin typeface="Arial"/>
              <a:cs typeface="Arial"/>
            </a:endParaRPr>
          </a:p>
          <a:p>
            <a:pPr marL="62865" algn="ctr">
              <a:lnSpc>
                <a:spcPts val="2035"/>
              </a:lnSpc>
            </a:pPr>
            <a:r>
              <a:rPr sz="2000" b="1" i="1" spc="-5" dirty="0">
                <a:latin typeface="Arial"/>
                <a:cs typeface="Arial"/>
              </a:rPr>
              <a:t>Utilization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700" b="1" i="1" baseline="-23148" dirty="0">
                <a:latin typeface="Arial"/>
                <a:cs typeface="Arial"/>
              </a:rPr>
              <a:t>Sum of total flow time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lang="en-US" sz="2000" b="1" spc="-5" dirty="0">
                <a:latin typeface="Arial"/>
                <a:cs typeface="Arial"/>
              </a:rPr>
              <a:t>                                  </a:t>
            </a:r>
          </a:p>
          <a:p>
            <a:pPr marL="62865" algn="ctr">
              <a:lnSpc>
                <a:spcPts val="2035"/>
              </a:lnSpc>
            </a:pPr>
            <a:endParaRPr lang="en-US" sz="2000" b="1" i="1" spc="-5" baseline="-5555" dirty="0">
              <a:latin typeface="Arial"/>
              <a:cs typeface="Arial"/>
            </a:endParaRPr>
          </a:p>
          <a:p>
            <a:pPr marL="62865" algn="ctr">
              <a:lnSpc>
                <a:spcPts val="2035"/>
              </a:lnSpc>
            </a:pPr>
            <a:r>
              <a:rPr lang="en-US" sz="3000" b="1" spc="-7" dirty="0">
                <a:latin typeface="Arial"/>
                <a:cs typeface="Arial"/>
              </a:rPr>
              <a:t>                   </a:t>
            </a:r>
            <a:r>
              <a:rPr sz="3000" b="1" spc="-7" baseline="-38888" dirty="0">
                <a:latin typeface="Arial"/>
                <a:cs typeface="Arial"/>
              </a:rPr>
              <a:t>=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Sum of total flow time</a:t>
            </a:r>
            <a:r>
              <a:rPr sz="1800" b="1" i="1" dirty="0">
                <a:latin typeface="Arial"/>
                <a:cs typeface="Arial"/>
              </a:rPr>
              <a:t> </a:t>
            </a:r>
            <a:r>
              <a:rPr sz="3000" b="1" spc="-7" baseline="-38888" dirty="0">
                <a:latin typeface="Arial"/>
                <a:cs typeface="Arial"/>
              </a:rPr>
              <a:t>=</a:t>
            </a:r>
            <a:endParaRPr sz="3000" baseline="-38888" dirty="0">
              <a:latin typeface="Arial"/>
              <a:cs typeface="Arial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4350088" y="3810000"/>
            <a:ext cx="2209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object 55"/>
          <p:cNvSpPr txBox="1"/>
          <p:nvPr/>
        </p:nvSpPr>
        <p:spPr>
          <a:xfrm>
            <a:off x="4724400" y="4502524"/>
            <a:ext cx="2099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job </a:t>
            </a:r>
            <a:r>
              <a:rPr sz="1800" b="1" i="1" spc="-5" dirty="0">
                <a:latin typeface="Arial"/>
                <a:cs typeface="Arial"/>
              </a:rPr>
              <a:t>work</a:t>
            </a:r>
            <a:r>
              <a:rPr sz="1800" b="1" i="1" spc="-7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time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6" name="object 56"/>
          <p:cNvSpPr txBox="1"/>
          <p:nvPr/>
        </p:nvSpPr>
        <p:spPr>
          <a:xfrm>
            <a:off x="968713" y="5058166"/>
            <a:ext cx="27838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spc="-5" dirty="0">
                <a:latin typeface="Arial"/>
                <a:cs typeface="Arial"/>
              </a:rPr>
              <a:t>Average job lateness</a:t>
            </a:r>
            <a:r>
              <a:rPr sz="2000" b="1" i="1" spc="-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=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7" name="object 58"/>
          <p:cNvSpPr txBox="1"/>
          <p:nvPr/>
        </p:nvSpPr>
        <p:spPr>
          <a:xfrm>
            <a:off x="4016311" y="4896654"/>
            <a:ext cx="1702435" cy="6299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320"/>
              </a:spcBef>
            </a:pP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late</a:t>
            </a:r>
            <a:r>
              <a:rPr sz="1800" b="1" i="1" spc="-7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days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i="1" dirty="0">
                <a:latin typeface="Arial"/>
                <a:cs typeface="Arial"/>
              </a:rPr>
              <a:t>Number of</a:t>
            </a:r>
            <a:r>
              <a:rPr sz="1800" b="1" i="1" spc="-10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jobs</a:t>
            </a:r>
            <a:endParaRPr sz="1800" dirty="0">
              <a:latin typeface="Arial"/>
              <a:cs typeface="Arial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3762629" y="5242743"/>
            <a:ext cx="2209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007685" y="5077522"/>
            <a:ext cx="3331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spc="-5" dirty="0">
                <a:latin typeface="Arial"/>
                <a:cs typeface="Arial"/>
              </a:rPr>
              <a:t>=</a:t>
            </a: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1808650" y="4175760"/>
            <a:ext cx="2593594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spc="-15" baseline="-5555" dirty="0">
                <a:latin typeface="Arial"/>
                <a:cs typeface="Arial"/>
              </a:rPr>
              <a:t>Average </a:t>
            </a:r>
            <a:r>
              <a:rPr lang="en-US" sz="2800" b="1" i="1" spc="-7" baseline="-5555" dirty="0">
                <a:latin typeface="Arial"/>
                <a:cs typeface="Arial"/>
              </a:rPr>
              <a:t>number of jobs in the system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5609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25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323" y="510540"/>
            <a:ext cx="7772400" cy="9271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4400" spc="-5" dirty="0"/>
              <a:t>Sequencing</a:t>
            </a:r>
            <a:r>
              <a:rPr sz="4400" spc="20" dirty="0"/>
              <a:t> </a:t>
            </a:r>
            <a:r>
              <a:rPr sz="4400" spc="-5" dirty="0"/>
              <a:t>Example</a:t>
            </a:r>
            <a:endParaRPr sz="4400" dirty="0"/>
          </a:p>
        </p:txBody>
      </p:sp>
      <p:sp>
        <p:nvSpPr>
          <p:cNvPr id="5" name="object 5"/>
          <p:cNvSpPr txBox="1"/>
          <p:nvPr/>
        </p:nvSpPr>
        <p:spPr>
          <a:xfrm>
            <a:off x="887882" y="2434678"/>
            <a:ext cx="7376795" cy="346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360295" algn="ctr">
              <a:lnSpc>
                <a:spcPts val="2085"/>
              </a:lnSpc>
            </a:pPr>
            <a:r>
              <a:rPr sz="2000" b="1" i="1" spc="-5" dirty="0">
                <a:latin typeface="Arial"/>
                <a:cs typeface="Arial"/>
              </a:rPr>
              <a:t>Job</a:t>
            </a:r>
            <a:r>
              <a:rPr sz="2000" b="1" i="1" dirty="0">
                <a:latin typeface="Arial"/>
                <a:cs typeface="Arial"/>
              </a:rPr>
              <a:t> </a:t>
            </a:r>
            <a:r>
              <a:rPr sz="2000" b="1" i="1" spc="-20" dirty="0">
                <a:latin typeface="Arial"/>
                <a:cs typeface="Arial"/>
              </a:rPr>
              <a:t>Work</a:t>
            </a:r>
            <a:endParaRPr sz="2000">
              <a:latin typeface="Arial"/>
              <a:cs typeface="Arial"/>
            </a:endParaRPr>
          </a:p>
          <a:p>
            <a:pPr marL="48260" algn="ctr">
              <a:lnSpc>
                <a:spcPts val="2160"/>
              </a:lnSpc>
              <a:tabLst>
                <a:tab pos="1414145" algn="l"/>
                <a:tab pos="3515360" algn="l"/>
                <a:tab pos="4544695" algn="l"/>
                <a:tab pos="6278880" algn="l"/>
              </a:tabLst>
            </a:pPr>
            <a:r>
              <a:rPr sz="2000" b="1" i="1" spc="-5" dirty="0">
                <a:latin typeface="Arial"/>
                <a:cs typeface="Arial"/>
              </a:rPr>
              <a:t>Job	</a:t>
            </a:r>
            <a:r>
              <a:rPr sz="2000" b="1" i="1" spc="-10" dirty="0">
                <a:latin typeface="Arial"/>
                <a:cs typeface="Arial"/>
              </a:rPr>
              <a:t>(Processing)	</a:t>
            </a:r>
            <a:r>
              <a:rPr sz="2000" b="1" i="1" spc="-5" dirty="0">
                <a:latin typeface="Arial"/>
                <a:cs typeface="Arial"/>
              </a:rPr>
              <a:t>Flow	Job Due	Job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280"/>
              </a:lnSpc>
              <a:tabLst>
                <a:tab pos="2210435" algn="l"/>
                <a:tab pos="3835400" algn="l"/>
                <a:tab pos="5093970" algn="l"/>
                <a:tab pos="6278880" algn="l"/>
              </a:tabLst>
            </a:pPr>
            <a:r>
              <a:rPr sz="2000" b="1" i="1" spc="-20" dirty="0">
                <a:latin typeface="Arial"/>
                <a:cs typeface="Arial"/>
              </a:rPr>
              <a:t>S</a:t>
            </a:r>
            <a:r>
              <a:rPr sz="2000" b="1" i="1" spc="-5" dirty="0">
                <a:latin typeface="Arial"/>
                <a:cs typeface="Arial"/>
              </a:rPr>
              <a:t>eq</a:t>
            </a:r>
            <a:r>
              <a:rPr sz="2000" b="1" i="1" dirty="0">
                <a:latin typeface="Arial"/>
                <a:cs typeface="Arial"/>
              </a:rPr>
              <a:t>u</a:t>
            </a:r>
            <a:r>
              <a:rPr sz="2000" b="1" i="1" spc="-5" dirty="0">
                <a:latin typeface="Arial"/>
                <a:cs typeface="Arial"/>
              </a:rPr>
              <a:t>ence</a:t>
            </a:r>
            <a:r>
              <a:rPr sz="2000" b="1" i="1" dirty="0">
                <a:latin typeface="Arial"/>
                <a:cs typeface="Arial"/>
              </a:rPr>
              <a:t>	</a:t>
            </a:r>
            <a:r>
              <a:rPr sz="2000" b="1" i="1" spc="-50" dirty="0">
                <a:latin typeface="Arial"/>
                <a:cs typeface="Arial"/>
              </a:rPr>
              <a:t>T</a:t>
            </a:r>
            <a:r>
              <a:rPr sz="2000" b="1" i="1" spc="-5" dirty="0">
                <a:latin typeface="Arial"/>
                <a:cs typeface="Arial"/>
              </a:rPr>
              <a:t>ime</a:t>
            </a:r>
            <a:r>
              <a:rPr sz="2000" b="1" i="1" dirty="0">
                <a:latin typeface="Arial"/>
                <a:cs typeface="Arial"/>
              </a:rPr>
              <a:t>	</a:t>
            </a:r>
            <a:r>
              <a:rPr sz="2000" b="1" i="1" spc="-50" dirty="0">
                <a:latin typeface="Arial"/>
                <a:cs typeface="Arial"/>
              </a:rPr>
              <a:t>T</a:t>
            </a:r>
            <a:r>
              <a:rPr sz="2000" b="1" i="1" spc="-5" dirty="0">
                <a:latin typeface="Arial"/>
                <a:cs typeface="Arial"/>
              </a:rPr>
              <a:t>ime</a:t>
            </a:r>
            <a:r>
              <a:rPr sz="2000" b="1" i="1" dirty="0">
                <a:latin typeface="Arial"/>
                <a:cs typeface="Arial"/>
              </a:rPr>
              <a:t>	</a:t>
            </a:r>
            <a:r>
              <a:rPr sz="2000" b="1" i="1" spc="-5" dirty="0">
                <a:latin typeface="Arial"/>
                <a:cs typeface="Arial"/>
              </a:rPr>
              <a:t>Date</a:t>
            </a:r>
            <a:r>
              <a:rPr sz="2000" b="1" i="1" dirty="0">
                <a:latin typeface="Arial"/>
                <a:cs typeface="Arial"/>
              </a:rPr>
              <a:t>	</a:t>
            </a:r>
            <a:r>
              <a:rPr sz="2000" b="1" i="1" spc="-5" dirty="0">
                <a:latin typeface="Arial"/>
                <a:cs typeface="Arial"/>
              </a:rPr>
              <a:t>Latene</a:t>
            </a:r>
            <a:r>
              <a:rPr sz="2000" b="1" i="1" spc="-15" dirty="0">
                <a:latin typeface="Arial"/>
                <a:cs typeface="Arial"/>
              </a:rPr>
              <a:t>s</a:t>
            </a:r>
            <a:r>
              <a:rPr sz="2000" b="1" i="1" spc="-5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R="326390" algn="r">
              <a:lnSpc>
                <a:spcPct val="100000"/>
              </a:lnSpc>
              <a:spcBef>
                <a:spcPts val="840"/>
              </a:spcBef>
              <a:tabLst>
                <a:tab pos="1986914" algn="l"/>
                <a:tab pos="3627120" algn="l"/>
                <a:tab pos="4858385" algn="l"/>
                <a:tab pos="6394450" algn="l"/>
              </a:tabLst>
            </a:pPr>
            <a:r>
              <a:rPr sz="2000" b="1" i="1" spc="-5" dirty="0">
                <a:latin typeface="Arial"/>
                <a:cs typeface="Arial"/>
              </a:rPr>
              <a:t>A	</a:t>
            </a:r>
            <a:r>
              <a:rPr sz="2000" b="1" spc="-5" dirty="0">
                <a:latin typeface="Arial"/>
                <a:cs typeface="Arial"/>
              </a:rPr>
              <a:t>6	6	8	0</a:t>
            </a:r>
            <a:endParaRPr sz="2000">
              <a:latin typeface="Arial"/>
              <a:cs typeface="Arial"/>
            </a:endParaRPr>
          </a:p>
          <a:p>
            <a:pPr marR="326390" algn="r">
              <a:lnSpc>
                <a:spcPct val="100000"/>
              </a:lnSpc>
              <a:spcBef>
                <a:spcPts val="1150"/>
              </a:spcBef>
              <a:tabLst>
                <a:tab pos="1986914" algn="l"/>
                <a:tab pos="3627120" algn="l"/>
                <a:tab pos="4858385" algn="l"/>
                <a:tab pos="6394450" algn="l"/>
              </a:tabLst>
            </a:pPr>
            <a:r>
              <a:rPr sz="2000" b="1" i="1" spc="-5" dirty="0">
                <a:latin typeface="Arial"/>
                <a:cs typeface="Arial"/>
              </a:rPr>
              <a:t>B	</a:t>
            </a:r>
            <a:r>
              <a:rPr sz="2000" b="1" spc="-5" dirty="0">
                <a:latin typeface="Arial"/>
                <a:cs typeface="Arial"/>
              </a:rPr>
              <a:t>2	8	6	2</a:t>
            </a:r>
            <a:endParaRPr sz="2000">
              <a:latin typeface="Arial"/>
              <a:cs typeface="Arial"/>
            </a:endParaRPr>
          </a:p>
          <a:p>
            <a:pPr marR="326390" algn="r">
              <a:lnSpc>
                <a:spcPct val="100000"/>
              </a:lnSpc>
              <a:spcBef>
                <a:spcPts val="1105"/>
              </a:spcBef>
              <a:tabLst>
                <a:tab pos="1986914" algn="l"/>
                <a:tab pos="3486785" algn="l"/>
                <a:tab pos="4718050" algn="l"/>
                <a:tab pos="6394450" algn="l"/>
              </a:tabLst>
            </a:pPr>
            <a:r>
              <a:rPr sz="2000" b="1" i="1" spc="-5" dirty="0">
                <a:latin typeface="Arial"/>
                <a:cs typeface="Arial"/>
              </a:rPr>
              <a:t>C	</a:t>
            </a:r>
            <a:r>
              <a:rPr sz="2000" b="1" spc="-5" dirty="0">
                <a:latin typeface="Arial"/>
                <a:cs typeface="Arial"/>
              </a:rPr>
              <a:t>8	</a:t>
            </a:r>
            <a:r>
              <a:rPr sz="2000" b="1" spc="-10" dirty="0">
                <a:latin typeface="Arial"/>
                <a:cs typeface="Arial"/>
              </a:rPr>
              <a:t>1</a:t>
            </a:r>
            <a:r>
              <a:rPr sz="2000" b="1" spc="-5" dirty="0">
                <a:latin typeface="Arial"/>
                <a:cs typeface="Arial"/>
              </a:rPr>
              <a:t>6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1</a:t>
            </a: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R="327025" algn="r">
              <a:lnSpc>
                <a:spcPct val="100000"/>
              </a:lnSpc>
              <a:spcBef>
                <a:spcPts val="1000"/>
              </a:spcBef>
              <a:tabLst>
                <a:tab pos="1986914" algn="l"/>
                <a:tab pos="3486785" algn="l"/>
                <a:tab pos="4718050" algn="l"/>
                <a:tab pos="6394450" algn="l"/>
              </a:tabLst>
            </a:pPr>
            <a:r>
              <a:rPr sz="2000" b="1" i="1" spc="-10" dirty="0">
                <a:latin typeface="Arial"/>
                <a:cs typeface="Arial"/>
              </a:rPr>
              <a:t>D	</a:t>
            </a:r>
            <a:r>
              <a:rPr sz="2000" b="1" spc="-5" dirty="0">
                <a:latin typeface="Arial"/>
                <a:cs typeface="Arial"/>
              </a:rPr>
              <a:t>3	</a:t>
            </a:r>
            <a:r>
              <a:rPr sz="2000" b="1" spc="-10" dirty="0">
                <a:latin typeface="Arial"/>
                <a:cs typeface="Arial"/>
              </a:rPr>
              <a:t>1</a:t>
            </a:r>
            <a:r>
              <a:rPr sz="2000" b="1" spc="-5" dirty="0">
                <a:latin typeface="Arial"/>
                <a:cs typeface="Arial"/>
              </a:rPr>
              <a:t>9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1</a:t>
            </a:r>
            <a:r>
              <a:rPr sz="2000" b="1" spc="-5" dirty="0">
                <a:latin typeface="Arial"/>
                <a:cs typeface="Arial"/>
              </a:rPr>
              <a:t>5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  <a:p>
            <a:pPr marR="327025" algn="r">
              <a:lnSpc>
                <a:spcPct val="100000"/>
              </a:lnSpc>
              <a:spcBef>
                <a:spcPts val="1050"/>
              </a:spcBef>
              <a:tabLst>
                <a:tab pos="1978025" algn="l"/>
                <a:tab pos="3477895" algn="l"/>
                <a:tab pos="4708525" algn="l"/>
                <a:tab pos="6384925" algn="l"/>
              </a:tabLst>
            </a:pPr>
            <a:r>
              <a:rPr sz="2000" b="1" i="1" spc="-10" dirty="0">
                <a:latin typeface="Arial"/>
                <a:cs typeface="Arial"/>
              </a:rPr>
              <a:t>E	</a:t>
            </a:r>
            <a:r>
              <a:rPr sz="2000" b="1" spc="-5" dirty="0">
                <a:latin typeface="Arial"/>
                <a:cs typeface="Arial"/>
              </a:rPr>
              <a:t>9	</a:t>
            </a:r>
            <a:r>
              <a:rPr sz="2000" b="1" spc="-10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3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  <a:p>
            <a:pPr marR="342265" algn="r">
              <a:lnSpc>
                <a:spcPct val="100000"/>
              </a:lnSpc>
              <a:spcBef>
                <a:spcPts val="1155"/>
              </a:spcBef>
              <a:tabLst>
                <a:tab pos="1640205" algn="l"/>
                <a:tab pos="4422140" algn="l"/>
              </a:tabLst>
            </a:pPr>
            <a:r>
              <a:rPr sz="2000" b="1" spc="-10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7</a:t>
            </a:r>
            <a:r>
              <a:rPr sz="2000" b="1" spc="-5" dirty="0">
                <a:latin typeface="Arial"/>
                <a:cs typeface="Arial"/>
              </a:rPr>
              <a:t>7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30" dirty="0">
                <a:latin typeface="Arial"/>
                <a:cs typeface="Arial"/>
              </a:rPr>
              <a:t>11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25423" y="2328672"/>
            <a:ext cx="7720965" cy="3752215"/>
            <a:chOff x="725423" y="2328672"/>
            <a:chExt cx="7720965" cy="3752215"/>
          </a:xfrm>
        </p:grpSpPr>
        <p:sp>
          <p:nvSpPr>
            <p:cNvPr id="7" name="object 7"/>
            <p:cNvSpPr/>
            <p:nvPr/>
          </p:nvSpPr>
          <p:spPr>
            <a:xfrm>
              <a:off x="1097279" y="2602992"/>
              <a:ext cx="868680" cy="5760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5423" y="2877312"/>
              <a:ext cx="1542288" cy="5760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31391" y="3288791"/>
              <a:ext cx="530352" cy="5760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31391" y="3739896"/>
              <a:ext cx="530352" cy="57607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1391" y="4184904"/>
              <a:ext cx="530352" cy="5760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31391" y="4617720"/>
              <a:ext cx="530352" cy="57607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40536" y="5053583"/>
              <a:ext cx="515112" cy="57607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54807" y="2328672"/>
              <a:ext cx="1569720" cy="5760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62784" y="2602992"/>
              <a:ext cx="1956816" cy="5760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35223" y="2877312"/>
              <a:ext cx="932688" cy="5760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18688" y="3288791"/>
              <a:ext cx="487679" cy="57607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18688" y="3739896"/>
              <a:ext cx="487679" cy="57607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18688" y="4184904"/>
              <a:ext cx="487679" cy="57607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18688" y="4617720"/>
              <a:ext cx="487679" cy="5760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18688" y="5053583"/>
              <a:ext cx="487679" cy="57607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78479" y="5504688"/>
              <a:ext cx="627888" cy="57607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62856" y="2602992"/>
              <a:ext cx="996696" cy="57607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59808" y="2877312"/>
              <a:ext cx="932688" cy="5760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93079" y="2602992"/>
              <a:ext cx="1420368" cy="57607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18632" y="2877312"/>
              <a:ext cx="896112" cy="57607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324343" y="2602992"/>
              <a:ext cx="868679" cy="5760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01256" y="2877312"/>
              <a:ext cx="1444752" cy="57607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58512" y="3288791"/>
              <a:ext cx="487679" cy="57607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86856" y="3288791"/>
              <a:ext cx="487679" cy="57607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23047" y="3288791"/>
              <a:ext cx="487679" cy="57607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58512" y="3739896"/>
              <a:ext cx="487679" cy="576071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86856" y="3739896"/>
              <a:ext cx="487679" cy="576071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23047" y="3739896"/>
              <a:ext cx="487679" cy="576071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18303" y="4184904"/>
              <a:ext cx="627888" cy="576072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46647" y="4184904"/>
              <a:ext cx="627888" cy="5760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23047" y="4184904"/>
              <a:ext cx="487679" cy="5760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18303" y="4617720"/>
              <a:ext cx="627888" cy="576071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46647" y="4617720"/>
              <a:ext cx="627888" cy="576071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623047" y="4617720"/>
              <a:ext cx="487679" cy="576071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18303" y="5053583"/>
              <a:ext cx="627888" cy="576071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46647" y="5053583"/>
              <a:ext cx="627888" cy="576071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23047" y="5053583"/>
              <a:ext cx="487679" cy="576071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718303" y="5504688"/>
              <a:ext cx="627888" cy="576072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498080" y="5504688"/>
              <a:ext cx="612648" cy="576072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36193" y="1610994"/>
            <a:ext cx="45383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5" dirty="0">
                <a:latin typeface="Arial"/>
                <a:cs typeface="Arial"/>
              </a:rPr>
              <a:t>FCFS: </a:t>
            </a:r>
            <a:r>
              <a:rPr sz="2800" dirty="0">
                <a:latin typeface="Arial"/>
                <a:cs typeface="Arial"/>
              </a:rPr>
              <a:t>Sequence</a:t>
            </a:r>
            <a:r>
              <a:rPr sz="2800" spc="-20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A-B-C-D-E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41185" y="2456497"/>
            <a:ext cx="8467725" cy="3438525"/>
            <a:chOff x="341185" y="2456497"/>
            <a:chExt cx="8467725" cy="3438525"/>
          </a:xfrm>
        </p:grpSpPr>
        <p:sp>
          <p:nvSpPr>
            <p:cNvPr id="48" name="object 48"/>
            <p:cNvSpPr/>
            <p:nvPr/>
          </p:nvSpPr>
          <p:spPr>
            <a:xfrm>
              <a:off x="345947" y="2461260"/>
              <a:ext cx="8458200" cy="3429000"/>
            </a:xfrm>
            <a:custGeom>
              <a:avLst/>
              <a:gdLst/>
              <a:ahLst/>
              <a:cxnLst/>
              <a:rect l="l" t="t" r="r" b="b"/>
              <a:pathLst>
                <a:path w="8458200" h="3429000">
                  <a:moveTo>
                    <a:pt x="84582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8458200" y="342900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5947" y="2461260"/>
              <a:ext cx="8458200" cy="3429000"/>
            </a:xfrm>
            <a:custGeom>
              <a:avLst/>
              <a:gdLst/>
              <a:ahLst/>
              <a:cxnLst/>
              <a:rect l="l" t="t" r="r" b="b"/>
              <a:pathLst>
                <a:path w="8458200" h="3429000">
                  <a:moveTo>
                    <a:pt x="0" y="3429000"/>
                  </a:moveTo>
                  <a:lnTo>
                    <a:pt x="8458200" y="3429000"/>
                  </a:lnTo>
                  <a:lnTo>
                    <a:pt x="8458200" y="0"/>
                  </a:lnTo>
                  <a:lnTo>
                    <a:pt x="0" y="0"/>
                  </a:lnTo>
                  <a:lnTo>
                    <a:pt x="0" y="3429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53516" y="2816098"/>
            <a:ext cx="803783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00" b="1" i="1" spc="-10" dirty="0">
                <a:latin typeface="Arial"/>
                <a:cs typeface="Arial"/>
              </a:rPr>
              <a:t>Average </a:t>
            </a:r>
            <a:r>
              <a:rPr sz="2000" b="1" i="1" spc="-5" dirty="0">
                <a:latin typeface="Arial"/>
                <a:cs typeface="Arial"/>
              </a:rPr>
              <a:t>completion time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700" b="1" i="1" baseline="44753" dirty="0">
                <a:latin typeface="Arial"/>
                <a:cs typeface="Arial"/>
              </a:rPr>
              <a:t>Sum of total flow time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77/5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15.4</a:t>
            </a:r>
            <a:r>
              <a:rPr sz="2000" b="1" spc="165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days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269994" y="2960623"/>
            <a:ext cx="1702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Number of</a:t>
            </a:r>
            <a:r>
              <a:rPr sz="1800" b="1" i="1" spc="-10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jobs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162300" y="2994660"/>
            <a:ext cx="3161030" cy="814069"/>
          </a:xfrm>
          <a:custGeom>
            <a:avLst/>
            <a:gdLst/>
            <a:ahLst/>
            <a:cxnLst/>
            <a:rect l="l" t="t" r="r" b="b"/>
            <a:pathLst>
              <a:path w="3161029" h="814070">
                <a:moveTo>
                  <a:pt x="3160776" y="0"/>
                </a:moveTo>
                <a:lnTo>
                  <a:pt x="771144" y="0"/>
                </a:lnTo>
              </a:path>
              <a:path w="3161029" h="814070">
                <a:moveTo>
                  <a:pt x="0" y="813815"/>
                </a:moveTo>
                <a:lnTo>
                  <a:pt x="2395728" y="813815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856894" y="4525213"/>
            <a:ext cx="22345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spc="-5" dirty="0">
                <a:latin typeface="Arial"/>
                <a:cs typeface="Arial"/>
              </a:rPr>
              <a:t>jobs in the</a:t>
            </a:r>
            <a:r>
              <a:rPr sz="2000" b="1" i="1" spc="-55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system</a:t>
            </a:r>
            <a:endParaRPr sz="2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61443" y="3489426"/>
            <a:ext cx="7473950" cy="1109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2110" algn="ctr">
              <a:lnSpc>
                <a:spcPts val="1795"/>
              </a:lnSpc>
              <a:spcBef>
                <a:spcPts val="100"/>
              </a:spcBef>
            </a:pP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job </a:t>
            </a:r>
            <a:r>
              <a:rPr sz="1800" b="1" i="1" spc="-5" dirty="0">
                <a:latin typeface="Arial"/>
                <a:cs typeface="Arial"/>
              </a:rPr>
              <a:t>work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time</a:t>
            </a:r>
            <a:endParaRPr sz="1800" dirty="0">
              <a:latin typeface="Arial"/>
              <a:cs typeface="Arial"/>
            </a:endParaRPr>
          </a:p>
          <a:p>
            <a:pPr marL="62865" algn="ctr">
              <a:lnSpc>
                <a:spcPts val="2035"/>
              </a:lnSpc>
            </a:pPr>
            <a:r>
              <a:rPr sz="2000" b="1" i="1" spc="-5" dirty="0">
                <a:latin typeface="Arial"/>
                <a:cs typeface="Arial"/>
              </a:rPr>
              <a:t>Utilization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700" b="1" i="1" baseline="-23148" dirty="0">
                <a:latin typeface="Arial"/>
                <a:cs typeface="Arial"/>
              </a:rPr>
              <a:t>Sum of total flow time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28/77 </a:t>
            </a:r>
            <a:r>
              <a:rPr sz="2000" b="1" spc="-5" dirty="0">
                <a:latin typeface="Arial"/>
                <a:cs typeface="Arial"/>
              </a:rPr>
              <a:t>=</a:t>
            </a:r>
            <a:r>
              <a:rPr sz="2000" b="1" spc="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36.4%</a:t>
            </a:r>
            <a:endParaRPr sz="2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305"/>
              </a:spcBef>
            </a:pPr>
            <a:r>
              <a:rPr sz="3000" b="1" i="1" spc="-15" baseline="-5555" dirty="0">
                <a:latin typeface="Arial"/>
                <a:cs typeface="Arial"/>
              </a:rPr>
              <a:t>Average </a:t>
            </a:r>
            <a:r>
              <a:rPr sz="3000" b="1" i="1" spc="-7" baseline="-5555" dirty="0">
                <a:latin typeface="Arial"/>
                <a:cs typeface="Arial"/>
              </a:rPr>
              <a:t>number of </a:t>
            </a:r>
            <a:r>
              <a:rPr sz="3000" b="1" spc="-7" baseline="-38888" dirty="0">
                <a:latin typeface="Arial"/>
                <a:cs typeface="Arial"/>
              </a:rPr>
              <a:t>=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Sum of total flow time</a:t>
            </a:r>
            <a:r>
              <a:rPr sz="1800" b="1" i="1" dirty="0">
                <a:latin typeface="Arial"/>
                <a:cs typeface="Arial"/>
              </a:rPr>
              <a:t> </a:t>
            </a:r>
            <a:r>
              <a:rPr sz="3000" b="1" spc="-7" baseline="-38888" dirty="0">
                <a:latin typeface="Arial"/>
                <a:cs typeface="Arial"/>
              </a:rPr>
              <a:t>= 77/28 = 2.75</a:t>
            </a:r>
            <a:r>
              <a:rPr sz="3000" b="1" spc="-337" baseline="-38888" dirty="0">
                <a:latin typeface="Arial"/>
                <a:cs typeface="Arial"/>
              </a:rPr>
              <a:t> </a:t>
            </a:r>
            <a:r>
              <a:rPr sz="3000" b="1" i="1" spc="-7" baseline="-38888" dirty="0">
                <a:latin typeface="Arial"/>
                <a:cs typeface="Arial"/>
              </a:rPr>
              <a:t>jobs</a:t>
            </a:r>
            <a:endParaRPr sz="3000" baseline="-38888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684523" y="4569332"/>
            <a:ext cx="2099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job </a:t>
            </a:r>
            <a:r>
              <a:rPr sz="1800" b="1" i="1" spc="-5" dirty="0">
                <a:latin typeface="Arial"/>
                <a:cs typeface="Arial"/>
              </a:rPr>
              <a:t>work</a:t>
            </a:r>
            <a:r>
              <a:rPr sz="1800" b="1" i="1" spc="-7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time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45844" y="5255209"/>
            <a:ext cx="27838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spc="-5" dirty="0">
                <a:latin typeface="Arial"/>
                <a:cs typeface="Arial"/>
              </a:rPr>
              <a:t>Average job lateness</a:t>
            </a:r>
            <a:r>
              <a:rPr sz="2000" b="1" i="1" spc="-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=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929114" y="5255209"/>
            <a:ext cx="20129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40" dirty="0">
                <a:latin typeface="Arial"/>
                <a:cs typeface="Arial"/>
              </a:rPr>
              <a:t>11/5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2.2</a:t>
            </a:r>
            <a:r>
              <a:rPr sz="2000" b="1" spc="10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days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098797" y="5044667"/>
            <a:ext cx="1702435" cy="6299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320"/>
              </a:spcBef>
            </a:pP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late</a:t>
            </a:r>
            <a:r>
              <a:rPr sz="1800" b="1" i="1" spc="-7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days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i="1" dirty="0">
                <a:latin typeface="Arial"/>
                <a:cs typeface="Arial"/>
              </a:rPr>
              <a:t>Number of</a:t>
            </a:r>
            <a:r>
              <a:rPr sz="1800" b="1" i="1" spc="-10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jobs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046220" y="5420867"/>
            <a:ext cx="1807845" cy="0"/>
          </a:xfrm>
          <a:custGeom>
            <a:avLst/>
            <a:gdLst/>
            <a:ahLst/>
            <a:cxnLst/>
            <a:rect l="l" t="t" r="r" b="b"/>
            <a:pathLst>
              <a:path w="1807845">
                <a:moveTo>
                  <a:pt x="0" y="0"/>
                </a:moveTo>
                <a:lnTo>
                  <a:pt x="1807464" y="0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0" name="object 60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61" name="object 61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64" name="object 64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26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4087" y="4672584"/>
            <a:ext cx="1582420" cy="407670"/>
          </a:xfrm>
          <a:custGeom>
            <a:avLst/>
            <a:gdLst/>
            <a:ahLst/>
            <a:cxnLst/>
            <a:rect l="l" t="t" r="r" b="b"/>
            <a:pathLst>
              <a:path w="1582420" h="407670">
                <a:moveTo>
                  <a:pt x="0" y="407416"/>
                </a:moveTo>
                <a:lnTo>
                  <a:pt x="1581912" y="407416"/>
                </a:lnTo>
                <a:lnTo>
                  <a:pt x="1581912" y="0"/>
                </a:lnTo>
                <a:lnTo>
                  <a:pt x="0" y="0"/>
                </a:lnTo>
                <a:lnTo>
                  <a:pt x="0" y="407416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85800" y="3314700"/>
            <a:ext cx="1600200" cy="457200"/>
            <a:chOff x="685800" y="3314700"/>
            <a:chExt cx="1600200" cy="457200"/>
          </a:xfrm>
        </p:grpSpPr>
        <p:sp>
          <p:nvSpPr>
            <p:cNvPr id="6" name="object 6"/>
            <p:cNvSpPr/>
            <p:nvPr/>
          </p:nvSpPr>
          <p:spPr>
            <a:xfrm>
              <a:off x="704088" y="3328416"/>
              <a:ext cx="1582420" cy="443865"/>
            </a:xfrm>
            <a:custGeom>
              <a:avLst/>
              <a:gdLst/>
              <a:ahLst/>
              <a:cxnLst/>
              <a:rect l="l" t="t" r="r" b="b"/>
              <a:pathLst>
                <a:path w="1582420" h="443864">
                  <a:moveTo>
                    <a:pt x="0" y="443484"/>
                  </a:moveTo>
                  <a:lnTo>
                    <a:pt x="1581912" y="443484"/>
                  </a:lnTo>
                  <a:lnTo>
                    <a:pt x="1581912" y="0"/>
                  </a:lnTo>
                  <a:lnTo>
                    <a:pt x="0" y="0"/>
                  </a:lnTo>
                  <a:lnTo>
                    <a:pt x="0" y="443484"/>
                  </a:lnTo>
                  <a:close/>
                </a:path>
              </a:pathLst>
            </a:custGeom>
            <a:solidFill>
              <a:srgbClr val="F400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800" y="3314700"/>
              <a:ext cx="1600200" cy="457200"/>
            </a:xfrm>
            <a:custGeom>
              <a:avLst/>
              <a:gdLst/>
              <a:ahLst/>
              <a:cxnLst/>
              <a:rect l="l" t="t" r="r" b="b"/>
              <a:pathLst>
                <a:path w="1600200" h="457200">
                  <a:moveTo>
                    <a:pt x="1600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600200" y="457200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87323" y="510540"/>
            <a:ext cx="7772400" cy="9271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4400" spc="-5" dirty="0"/>
              <a:t>Sequencing</a:t>
            </a:r>
            <a:r>
              <a:rPr sz="4400" spc="20" dirty="0"/>
              <a:t> </a:t>
            </a:r>
            <a:r>
              <a:rPr sz="4400" spc="-5" dirty="0"/>
              <a:t>Example</a:t>
            </a:r>
            <a:endParaRPr sz="4400"/>
          </a:p>
        </p:txBody>
      </p:sp>
      <p:sp>
        <p:nvSpPr>
          <p:cNvPr id="9" name="object 9"/>
          <p:cNvSpPr/>
          <p:nvPr/>
        </p:nvSpPr>
        <p:spPr>
          <a:xfrm>
            <a:off x="685800" y="4660900"/>
            <a:ext cx="1600200" cy="876300"/>
          </a:xfrm>
          <a:custGeom>
            <a:avLst/>
            <a:gdLst/>
            <a:ahLst/>
            <a:cxnLst/>
            <a:rect l="l" t="t" r="r" b="b"/>
            <a:pathLst>
              <a:path w="1600200" h="876300">
                <a:moveTo>
                  <a:pt x="1600200" y="0"/>
                </a:moveTo>
                <a:lnTo>
                  <a:pt x="0" y="0"/>
                </a:lnTo>
                <a:lnTo>
                  <a:pt x="0" y="419100"/>
                </a:lnTo>
                <a:lnTo>
                  <a:pt x="0" y="876300"/>
                </a:lnTo>
                <a:lnTo>
                  <a:pt x="1600200" y="876300"/>
                </a:lnTo>
                <a:lnTo>
                  <a:pt x="1600200" y="419100"/>
                </a:lnTo>
                <a:lnTo>
                  <a:pt x="1600200" y="0"/>
                </a:lnTo>
                <a:close/>
              </a:path>
            </a:pathLst>
          </a:custGeom>
          <a:solidFill>
            <a:srgbClr val="F7F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04087" y="2434678"/>
          <a:ext cx="7753348" cy="3460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1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9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4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0021">
                <a:tc>
                  <a:txBody>
                    <a:bodyPr/>
                    <a:lstStyle/>
                    <a:p>
                      <a:pPr marR="10160" algn="ctr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Job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R="8255" algn="ctr">
                        <a:lnSpc>
                          <a:spcPts val="2280"/>
                        </a:lnSpc>
                      </a:pPr>
                      <a:r>
                        <a:rPr sz="2000" i="1" spc="-10" dirty="0">
                          <a:latin typeface="Arial"/>
                          <a:cs typeface="Arial"/>
                        </a:rPr>
                        <a:t>Sequence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394335" marR="310515" indent="635" algn="ctr">
                        <a:lnSpc>
                          <a:spcPts val="2160"/>
                        </a:lnSpc>
                        <a:spcBef>
                          <a:spcPts val="75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Job </a:t>
                      </a:r>
                      <a:r>
                        <a:rPr sz="2000" i="1" spc="5" dirty="0">
                          <a:latin typeface="Arial"/>
                          <a:cs typeface="Arial"/>
                        </a:rPr>
                        <a:t>Work  (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2000" i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oce</a:t>
                      </a:r>
                      <a:r>
                        <a:rPr sz="2000" i="1" spc="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00" i="1" spc="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)  </a:t>
                      </a:r>
                      <a:r>
                        <a:rPr sz="2000" i="1" spc="-15" dirty="0">
                          <a:latin typeface="Arial"/>
                          <a:cs typeface="Arial"/>
                        </a:rPr>
                        <a:t>Time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i="1" spc="-10" dirty="0">
                          <a:latin typeface="Arial"/>
                          <a:cs typeface="Arial"/>
                        </a:rPr>
                        <a:t>Flow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8135">
                        <a:lnSpc>
                          <a:spcPts val="2280"/>
                        </a:lnSpc>
                      </a:pPr>
                      <a:r>
                        <a:rPr sz="2000" i="1" spc="-15" dirty="0">
                          <a:latin typeface="Arial"/>
                          <a:cs typeface="Arial"/>
                        </a:rPr>
                        <a:t>Time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Job</a:t>
                      </a:r>
                      <a:r>
                        <a:rPr sz="20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Due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810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Date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Job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9525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Lateness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99">
                <a:tc>
                  <a:txBody>
                    <a:bodyPr/>
                    <a:lstStyle/>
                    <a:p>
                      <a:pPr marL="69913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7020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6388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197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944">
                <a:tc>
                  <a:txBody>
                    <a:bodyPr/>
                    <a:lstStyle/>
                    <a:p>
                      <a:pPr marL="68961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B w="9525">
                      <a:solidFill>
                        <a:srgbClr val="A4DF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7020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6451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1970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897">
                <a:tc>
                  <a:txBody>
                    <a:bodyPr/>
                    <a:lstStyle/>
                    <a:p>
                      <a:pPr marL="69913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T w="9525">
                      <a:solidFill>
                        <a:srgbClr val="A4DF00"/>
                      </a:solidFill>
                      <a:prstDash val="solid"/>
                    </a:lnT>
                    <a:lnB w="12700">
                      <a:solidFill>
                        <a:srgbClr val="A4DF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88620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2000" spc="-150" dirty="0">
                          <a:latin typeface="Arial"/>
                          <a:cs typeface="Arial"/>
                        </a:rPr>
                        <a:t>11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63880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1970" algn="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02">
                <a:tc>
                  <a:txBody>
                    <a:bodyPr/>
                    <a:lstStyle/>
                    <a:p>
                      <a:pPr marL="6896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A4D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7084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6451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197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307">
                <a:tc>
                  <a:txBody>
                    <a:bodyPr/>
                    <a:lstStyle/>
                    <a:p>
                      <a:pPr marL="6991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7084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6451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B w="28575">
                      <a:solidFill>
                        <a:srgbClr val="80808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197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159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890905" algn="r">
                        <a:lnSpc>
                          <a:spcPts val="2320"/>
                        </a:lnSpc>
                        <a:spcBef>
                          <a:spcPts val="32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70840" algn="r">
                        <a:lnSpc>
                          <a:spcPts val="2320"/>
                        </a:lnSpc>
                        <a:spcBef>
                          <a:spcPts val="32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65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80808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1970" algn="r">
                        <a:lnSpc>
                          <a:spcPts val="2320"/>
                        </a:lnSpc>
                        <a:spcBef>
                          <a:spcPts val="32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36193" y="1610994"/>
            <a:ext cx="427926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80" dirty="0">
                <a:latin typeface="Arial"/>
                <a:cs typeface="Arial"/>
              </a:rPr>
              <a:t>SPT: </a:t>
            </a:r>
            <a:r>
              <a:rPr sz="2800" dirty="0">
                <a:latin typeface="Arial"/>
                <a:cs typeface="Arial"/>
              </a:rPr>
              <a:t>Sequence B-D-A-C-E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13" name="object 13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16" name="object 16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27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323" y="510540"/>
            <a:ext cx="7772400" cy="9271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4400" spc="-5" dirty="0"/>
              <a:t>Sequencing</a:t>
            </a:r>
            <a:r>
              <a:rPr sz="4400" spc="20" dirty="0"/>
              <a:t> </a:t>
            </a:r>
            <a:r>
              <a:rPr sz="4400" spc="-5" dirty="0"/>
              <a:t>Example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918362" y="2434678"/>
            <a:ext cx="7312659" cy="346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357120" algn="ctr">
              <a:lnSpc>
                <a:spcPts val="2085"/>
              </a:lnSpc>
            </a:pPr>
            <a:r>
              <a:rPr sz="2000" i="1" spc="-5" dirty="0">
                <a:latin typeface="Arial"/>
                <a:cs typeface="Arial"/>
              </a:rPr>
              <a:t>Job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spc="5" dirty="0">
                <a:latin typeface="Arial"/>
                <a:cs typeface="Arial"/>
              </a:rPr>
              <a:t>Work</a:t>
            </a:r>
            <a:endParaRPr sz="2000">
              <a:latin typeface="Arial"/>
              <a:cs typeface="Arial"/>
            </a:endParaRPr>
          </a:p>
          <a:p>
            <a:pPr marL="53340" algn="ctr">
              <a:lnSpc>
                <a:spcPts val="2160"/>
              </a:lnSpc>
              <a:tabLst>
                <a:tab pos="1452880" algn="l"/>
                <a:tab pos="3522979" algn="l"/>
                <a:tab pos="4555490" algn="l"/>
                <a:tab pos="6283960" algn="l"/>
              </a:tabLst>
            </a:pPr>
            <a:r>
              <a:rPr sz="2000" i="1" spc="-5" dirty="0">
                <a:latin typeface="Arial"/>
                <a:cs typeface="Arial"/>
              </a:rPr>
              <a:t>Job	(Processing)	</a:t>
            </a:r>
            <a:r>
              <a:rPr sz="2000" i="1" spc="-10" dirty="0">
                <a:latin typeface="Arial"/>
                <a:cs typeface="Arial"/>
              </a:rPr>
              <a:t>Flow	</a:t>
            </a:r>
            <a:r>
              <a:rPr sz="2000" i="1" spc="-5" dirty="0">
                <a:latin typeface="Arial"/>
                <a:cs typeface="Arial"/>
              </a:rPr>
              <a:t>Job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spc="-5" dirty="0">
                <a:latin typeface="Arial"/>
                <a:cs typeface="Arial"/>
              </a:rPr>
              <a:t>Due	Job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280"/>
              </a:lnSpc>
              <a:tabLst>
                <a:tab pos="2195195" algn="l"/>
                <a:tab pos="3820160" algn="l"/>
                <a:tab pos="5069205" algn="l"/>
                <a:tab pos="6285230" algn="l"/>
              </a:tabLst>
            </a:pPr>
            <a:r>
              <a:rPr sz="2000" i="1" spc="-20" dirty="0">
                <a:latin typeface="Arial"/>
                <a:cs typeface="Arial"/>
              </a:rPr>
              <a:t>S</a:t>
            </a:r>
            <a:r>
              <a:rPr sz="2000" i="1" spc="-5" dirty="0">
                <a:latin typeface="Arial"/>
                <a:cs typeface="Arial"/>
              </a:rPr>
              <a:t>e</a:t>
            </a:r>
            <a:r>
              <a:rPr sz="2000" i="1" spc="-15" dirty="0">
                <a:latin typeface="Arial"/>
                <a:cs typeface="Arial"/>
              </a:rPr>
              <a:t>q</a:t>
            </a:r>
            <a:r>
              <a:rPr sz="2000" i="1" spc="-5" dirty="0">
                <a:latin typeface="Arial"/>
                <a:cs typeface="Arial"/>
              </a:rPr>
              <a:t>u</a:t>
            </a:r>
            <a:r>
              <a:rPr sz="2000" i="1" spc="-15" dirty="0">
                <a:latin typeface="Arial"/>
                <a:cs typeface="Arial"/>
              </a:rPr>
              <a:t>e</a:t>
            </a:r>
            <a:r>
              <a:rPr sz="2000" i="1" spc="-5" dirty="0">
                <a:latin typeface="Arial"/>
                <a:cs typeface="Arial"/>
              </a:rPr>
              <a:t>n</a:t>
            </a:r>
            <a:r>
              <a:rPr sz="2000" i="1" dirty="0">
                <a:latin typeface="Arial"/>
                <a:cs typeface="Arial"/>
              </a:rPr>
              <a:t>c</a:t>
            </a:r>
            <a:r>
              <a:rPr sz="2000" i="1" spc="-5" dirty="0">
                <a:latin typeface="Arial"/>
                <a:cs typeface="Arial"/>
              </a:rPr>
              <a:t>e</a:t>
            </a:r>
            <a:r>
              <a:rPr sz="2000" i="1" dirty="0">
                <a:latin typeface="Arial"/>
                <a:cs typeface="Arial"/>
              </a:rPr>
              <a:t>	</a:t>
            </a:r>
            <a:r>
              <a:rPr sz="2000" i="1" spc="-25" dirty="0">
                <a:latin typeface="Arial"/>
                <a:cs typeface="Arial"/>
              </a:rPr>
              <a:t>T</a:t>
            </a:r>
            <a:r>
              <a:rPr sz="2000" i="1" spc="-15" dirty="0">
                <a:latin typeface="Arial"/>
                <a:cs typeface="Arial"/>
              </a:rPr>
              <a:t>i</a:t>
            </a:r>
            <a:r>
              <a:rPr sz="2000" i="1" spc="-10" dirty="0">
                <a:latin typeface="Arial"/>
                <a:cs typeface="Arial"/>
              </a:rPr>
              <a:t>me</a:t>
            </a:r>
            <a:r>
              <a:rPr sz="2000" i="1" dirty="0">
                <a:latin typeface="Arial"/>
                <a:cs typeface="Arial"/>
              </a:rPr>
              <a:t>	</a:t>
            </a:r>
            <a:r>
              <a:rPr sz="2000" i="1" spc="-25" dirty="0">
                <a:latin typeface="Arial"/>
                <a:cs typeface="Arial"/>
              </a:rPr>
              <a:t>T</a:t>
            </a:r>
            <a:r>
              <a:rPr sz="2000" i="1" spc="-15" dirty="0">
                <a:latin typeface="Arial"/>
                <a:cs typeface="Arial"/>
              </a:rPr>
              <a:t>i</a:t>
            </a:r>
            <a:r>
              <a:rPr sz="2000" i="1" spc="-10" dirty="0">
                <a:latin typeface="Arial"/>
                <a:cs typeface="Arial"/>
              </a:rPr>
              <a:t>me</a:t>
            </a:r>
            <a:r>
              <a:rPr sz="2000" i="1" dirty="0">
                <a:latin typeface="Arial"/>
                <a:cs typeface="Arial"/>
              </a:rPr>
              <a:t>	</a:t>
            </a:r>
            <a:r>
              <a:rPr sz="2000" i="1" spc="-5" dirty="0">
                <a:latin typeface="Arial"/>
                <a:cs typeface="Arial"/>
              </a:rPr>
              <a:t>Date</a:t>
            </a:r>
            <a:r>
              <a:rPr sz="2000" i="1" dirty="0">
                <a:latin typeface="Arial"/>
                <a:cs typeface="Arial"/>
              </a:rPr>
              <a:t>	</a:t>
            </a:r>
            <a:r>
              <a:rPr sz="2000" i="1" spc="-5" dirty="0">
                <a:latin typeface="Arial"/>
                <a:cs typeface="Arial"/>
              </a:rPr>
              <a:t>Late</a:t>
            </a:r>
            <a:r>
              <a:rPr sz="2000" i="1" spc="-15" dirty="0">
                <a:latin typeface="Arial"/>
                <a:cs typeface="Arial"/>
              </a:rPr>
              <a:t>n</a:t>
            </a:r>
            <a:r>
              <a:rPr sz="2000" i="1" spc="-5" dirty="0">
                <a:latin typeface="Arial"/>
                <a:cs typeface="Arial"/>
              </a:rPr>
              <a:t>e</a:t>
            </a:r>
            <a:r>
              <a:rPr sz="2000" i="1" dirty="0">
                <a:latin typeface="Arial"/>
                <a:cs typeface="Arial"/>
              </a:rPr>
              <a:t>s</a:t>
            </a:r>
            <a:r>
              <a:rPr sz="2000" i="1" spc="-5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R="293370" algn="r">
              <a:lnSpc>
                <a:spcPct val="100000"/>
              </a:lnSpc>
              <a:spcBef>
                <a:spcPts val="840"/>
              </a:spcBef>
              <a:tabLst>
                <a:tab pos="1978025" algn="l"/>
                <a:tab pos="3618229" algn="l"/>
                <a:tab pos="4848860" algn="l"/>
                <a:tab pos="6384925" algn="l"/>
              </a:tabLst>
            </a:pPr>
            <a:r>
              <a:rPr sz="2000" i="1" spc="-5" dirty="0">
                <a:latin typeface="Arial"/>
                <a:cs typeface="Arial"/>
              </a:rPr>
              <a:t>B	</a:t>
            </a:r>
            <a:r>
              <a:rPr sz="2000" spc="-5" dirty="0">
                <a:latin typeface="Arial"/>
                <a:cs typeface="Arial"/>
              </a:rPr>
              <a:t>2	2	6	0</a:t>
            </a:r>
            <a:endParaRPr sz="2000">
              <a:latin typeface="Arial"/>
              <a:cs typeface="Arial"/>
            </a:endParaRPr>
          </a:p>
          <a:p>
            <a:pPr marR="293370" algn="r">
              <a:lnSpc>
                <a:spcPct val="100000"/>
              </a:lnSpc>
              <a:spcBef>
                <a:spcPts val="1150"/>
              </a:spcBef>
              <a:tabLst>
                <a:tab pos="1986914" algn="l"/>
                <a:tab pos="3627120" algn="l"/>
                <a:tab pos="4718050" algn="l"/>
                <a:tab pos="6394450" algn="l"/>
              </a:tabLst>
            </a:pPr>
            <a:r>
              <a:rPr sz="2000" i="1" spc="-5" dirty="0">
                <a:latin typeface="Arial"/>
                <a:cs typeface="Arial"/>
              </a:rPr>
              <a:t>D	</a:t>
            </a:r>
            <a:r>
              <a:rPr sz="2000" spc="-5" dirty="0">
                <a:latin typeface="Arial"/>
                <a:cs typeface="Arial"/>
              </a:rPr>
              <a:t>3	5	</a:t>
            </a:r>
            <a:r>
              <a:rPr sz="2000" spc="-10" dirty="0">
                <a:latin typeface="Arial"/>
                <a:cs typeface="Arial"/>
              </a:rPr>
              <a:t>1</a:t>
            </a:r>
            <a:r>
              <a:rPr sz="2000" spc="-5" dirty="0">
                <a:latin typeface="Arial"/>
                <a:cs typeface="Arial"/>
              </a:rPr>
              <a:t>5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R="293370" algn="r">
              <a:lnSpc>
                <a:spcPct val="100000"/>
              </a:lnSpc>
              <a:spcBef>
                <a:spcPts val="1105"/>
              </a:spcBef>
              <a:tabLst>
                <a:tab pos="1978025" algn="l"/>
                <a:tab pos="3496310" algn="l"/>
                <a:tab pos="4848860" algn="l"/>
                <a:tab pos="6384925" algn="l"/>
              </a:tabLst>
            </a:pPr>
            <a:r>
              <a:rPr sz="2000" i="1" spc="-5" dirty="0">
                <a:latin typeface="Arial"/>
                <a:cs typeface="Arial"/>
              </a:rPr>
              <a:t>A	</a:t>
            </a:r>
            <a:r>
              <a:rPr sz="2000" spc="-5" dirty="0">
                <a:latin typeface="Arial"/>
                <a:cs typeface="Arial"/>
              </a:rPr>
              <a:t>6	</a:t>
            </a:r>
            <a:r>
              <a:rPr sz="2000" spc="-155" dirty="0">
                <a:latin typeface="Arial"/>
                <a:cs typeface="Arial"/>
              </a:rPr>
              <a:t>1</a:t>
            </a:r>
            <a:r>
              <a:rPr sz="2000" spc="-5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" dirty="0">
                <a:latin typeface="Arial"/>
                <a:cs typeface="Arial"/>
              </a:rPr>
              <a:t>8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R="293370" algn="r">
              <a:lnSpc>
                <a:spcPct val="100000"/>
              </a:lnSpc>
              <a:spcBef>
                <a:spcPts val="1000"/>
              </a:spcBef>
              <a:tabLst>
                <a:tab pos="1986914" algn="l"/>
                <a:tab pos="3486785" algn="l"/>
                <a:tab pos="4718050" algn="l"/>
                <a:tab pos="6394450" algn="l"/>
              </a:tabLst>
            </a:pPr>
            <a:r>
              <a:rPr sz="2000" i="1" spc="-10" dirty="0">
                <a:latin typeface="Arial"/>
                <a:cs typeface="Arial"/>
              </a:rPr>
              <a:t>C	</a:t>
            </a:r>
            <a:r>
              <a:rPr sz="2000" spc="-5" dirty="0">
                <a:latin typeface="Arial"/>
                <a:cs typeface="Arial"/>
              </a:rPr>
              <a:t>8	</a:t>
            </a:r>
            <a:r>
              <a:rPr sz="2000" spc="-10" dirty="0">
                <a:latin typeface="Arial"/>
                <a:cs typeface="Arial"/>
              </a:rPr>
              <a:t>1</a:t>
            </a:r>
            <a:r>
              <a:rPr sz="2000" spc="-5" dirty="0">
                <a:latin typeface="Arial"/>
                <a:cs typeface="Arial"/>
              </a:rPr>
              <a:t>9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1</a:t>
            </a:r>
            <a:r>
              <a:rPr sz="2000" spc="-5" dirty="0">
                <a:latin typeface="Arial"/>
                <a:cs typeface="Arial"/>
              </a:rPr>
              <a:t>8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R="293370" algn="r">
              <a:lnSpc>
                <a:spcPct val="100000"/>
              </a:lnSpc>
              <a:spcBef>
                <a:spcPts val="1050"/>
              </a:spcBef>
              <a:tabLst>
                <a:tab pos="1978025" algn="l"/>
                <a:tab pos="3477895" algn="l"/>
                <a:tab pos="4708525" algn="l"/>
                <a:tab pos="6384925" algn="l"/>
              </a:tabLst>
            </a:pPr>
            <a:r>
              <a:rPr sz="2000" i="1" spc="-10" dirty="0">
                <a:latin typeface="Arial"/>
                <a:cs typeface="Arial"/>
              </a:rPr>
              <a:t>E	</a:t>
            </a:r>
            <a:r>
              <a:rPr sz="2000" spc="-5" dirty="0">
                <a:latin typeface="Arial"/>
                <a:cs typeface="Arial"/>
              </a:rPr>
              <a:t>9	</a:t>
            </a:r>
            <a:r>
              <a:rPr sz="2000" spc="-10" dirty="0">
                <a:latin typeface="Arial"/>
                <a:cs typeface="Arial"/>
              </a:rPr>
              <a:t>2</a:t>
            </a:r>
            <a:r>
              <a:rPr sz="2000" spc="-5" dirty="0">
                <a:latin typeface="Arial"/>
                <a:cs typeface="Arial"/>
              </a:rPr>
              <a:t>8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2</a:t>
            </a:r>
            <a:r>
              <a:rPr sz="2000" spc="-5" dirty="0">
                <a:latin typeface="Arial"/>
                <a:cs typeface="Arial"/>
              </a:rPr>
              <a:t>3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" dirty="0"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  <a:p>
            <a:pPr marR="293370" algn="r">
              <a:lnSpc>
                <a:spcPct val="100000"/>
              </a:lnSpc>
              <a:spcBef>
                <a:spcPts val="1155"/>
              </a:spcBef>
              <a:tabLst>
                <a:tab pos="1640205" algn="l"/>
                <a:tab pos="4547235" algn="l"/>
              </a:tabLst>
            </a:pPr>
            <a:r>
              <a:rPr sz="2000" spc="-10" dirty="0">
                <a:latin typeface="Arial"/>
                <a:cs typeface="Arial"/>
              </a:rPr>
              <a:t>2</a:t>
            </a:r>
            <a:r>
              <a:rPr sz="2000" spc="-5" dirty="0">
                <a:latin typeface="Arial"/>
                <a:cs typeface="Arial"/>
              </a:rPr>
              <a:t>8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6</a:t>
            </a:r>
            <a:r>
              <a:rPr sz="2000" spc="-5" dirty="0">
                <a:latin typeface="Arial"/>
                <a:cs typeface="Arial"/>
              </a:rPr>
              <a:t>5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" dirty="0">
                <a:latin typeface="Arial"/>
                <a:cs typeface="Arial"/>
              </a:rPr>
              <a:t>9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193" y="1610994"/>
            <a:ext cx="427926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80" dirty="0">
                <a:latin typeface="Arial"/>
                <a:cs typeface="Arial"/>
              </a:rPr>
              <a:t>SPT: </a:t>
            </a:r>
            <a:r>
              <a:rPr sz="2800" dirty="0">
                <a:latin typeface="Arial"/>
                <a:cs typeface="Arial"/>
              </a:rPr>
              <a:t>Sequence B-D-A-C-E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1185" y="2456497"/>
            <a:ext cx="8467725" cy="3438525"/>
            <a:chOff x="341185" y="2456497"/>
            <a:chExt cx="8467725" cy="3438525"/>
          </a:xfrm>
        </p:grpSpPr>
        <p:sp>
          <p:nvSpPr>
            <p:cNvPr id="8" name="object 8"/>
            <p:cNvSpPr/>
            <p:nvPr/>
          </p:nvSpPr>
          <p:spPr>
            <a:xfrm>
              <a:off x="345947" y="2461260"/>
              <a:ext cx="8458200" cy="3429000"/>
            </a:xfrm>
            <a:custGeom>
              <a:avLst/>
              <a:gdLst/>
              <a:ahLst/>
              <a:cxnLst/>
              <a:rect l="l" t="t" r="r" b="b"/>
              <a:pathLst>
                <a:path w="8458200" h="3429000">
                  <a:moveTo>
                    <a:pt x="84582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8458200" y="342900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5947" y="2461260"/>
              <a:ext cx="8458200" cy="3429000"/>
            </a:xfrm>
            <a:custGeom>
              <a:avLst/>
              <a:gdLst/>
              <a:ahLst/>
              <a:cxnLst/>
              <a:rect l="l" t="t" r="r" b="b"/>
              <a:pathLst>
                <a:path w="8458200" h="3429000">
                  <a:moveTo>
                    <a:pt x="0" y="3429000"/>
                  </a:moveTo>
                  <a:lnTo>
                    <a:pt x="8458200" y="3429000"/>
                  </a:lnTo>
                  <a:lnTo>
                    <a:pt x="8458200" y="0"/>
                  </a:lnTo>
                  <a:lnTo>
                    <a:pt x="0" y="0"/>
                  </a:lnTo>
                  <a:lnTo>
                    <a:pt x="0" y="3429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9470" y="2816098"/>
            <a:ext cx="7827009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00" b="1" i="1" spc="-10" dirty="0">
                <a:latin typeface="Arial"/>
                <a:cs typeface="Arial"/>
              </a:rPr>
              <a:t>Average </a:t>
            </a:r>
            <a:r>
              <a:rPr sz="2000" b="1" i="1" spc="-5" dirty="0">
                <a:latin typeface="Arial"/>
                <a:cs typeface="Arial"/>
              </a:rPr>
              <a:t>completion time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700" b="1" i="1" baseline="44753" dirty="0">
                <a:latin typeface="Arial"/>
                <a:cs typeface="Arial"/>
              </a:rPr>
              <a:t>Sum of total flow time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65/5 </a:t>
            </a:r>
            <a:r>
              <a:rPr sz="2000" b="1" spc="-5" dirty="0">
                <a:latin typeface="Arial"/>
                <a:cs typeface="Arial"/>
              </a:rPr>
              <a:t>= 13</a:t>
            </a:r>
            <a:r>
              <a:rPr sz="2000" b="1" spc="145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days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5719" y="2960623"/>
            <a:ext cx="1706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Number of</a:t>
            </a:r>
            <a:r>
              <a:rPr sz="1800" b="1" i="1" spc="-8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jobs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62300" y="2994660"/>
            <a:ext cx="3249295" cy="814069"/>
          </a:xfrm>
          <a:custGeom>
            <a:avLst/>
            <a:gdLst/>
            <a:ahLst/>
            <a:cxnLst/>
            <a:rect l="l" t="t" r="r" b="b"/>
            <a:pathLst>
              <a:path w="3249295" h="814070">
                <a:moveTo>
                  <a:pt x="3249167" y="0"/>
                </a:moveTo>
                <a:lnTo>
                  <a:pt x="856488" y="0"/>
                </a:lnTo>
              </a:path>
              <a:path w="3249295" h="814070">
                <a:moveTo>
                  <a:pt x="0" y="813815"/>
                </a:moveTo>
                <a:lnTo>
                  <a:pt x="2395728" y="813815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56894" y="4525213"/>
            <a:ext cx="22345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spc="-5" dirty="0">
                <a:latin typeface="Arial"/>
                <a:cs typeface="Arial"/>
              </a:rPr>
              <a:t>jobs in the</a:t>
            </a:r>
            <a:r>
              <a:rPr sz="2000" b="1" i="1" spc="-55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system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8794" y="3462273"/>
            <a:ext cx="7473950" cy="1109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2110" algn="ctr">
              <a:lnSpc>
                <a:spcPts val="1795"/>
              </a:lnSpc>
              <a:spcBef>
                <a:spcPts val="100"/>
              </a:spcBef>
            </a:pP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job </a:t>
            </a:r>
            <a:r>
              <a:rPr sz="1800" b="1" i="1" spc="-5" dirty="0">
                <a:latin typeface="Arial"/>
                <a:cs typeface="Arial"/>
              </a:rPr>
              <a:t>work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  <a:p>
            <a:pPr marL="62865" algn="ctr">
              <a:lnSpc>
                <a:spcPts val="2035"/>
              </a:lnSpc>
            </a:pPr>
            <a:r>
              <a:rPr sz="2000" b="1" i="1" spc="-5" dirty="0">
                <a:latin typeface="Arial"/>
                <a:cs typeface="Arial"/>
              </a:rPr>
              <a:t>Utilization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700" b="1" i="1" baseline="-23148" dirty="0">
                <a:latin typeface="Arial"/>
                <a:cs typeface="Arial"/>
              </a:rPr>
              <a:t>Sum of total flow time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28/65 </a:t>
            </a:r>
            <a:r>
              <a:rPr sz="2000" b="1" spc="-5" dirty="0">
                <a:latin typeface="Arial"/>
                <a:cs typeface="Arial"/>
              </a:rPr>
              <a:t>=</a:t>
            </a:r>
            <a:r>
              <a:rPr sz="2000" b="1" spc="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43.1%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305"/>
              </a:spcBef>
            </a:pPr>
            <a:r>
              <a:rPr sz="3000" b="1" i="1" spc="-15" baseline="-5555" dirty="0">
                <a:latin typeface="Arial"/>
                <a:cs typeface="Arial"/>
              </a:rPr>
              <a:t>Average </a:t>
            </a:r>
            <a:r>
              <a:rPr sz="3000" b="1" i="1" spc="-7" baseline="-5555" dirty="0">
                <a:latin typeface="Arial"/>
                <a:cs typeface="Arial"/>
              </a:rPr>
              <a:t>number of </a:t>
            </a:r>
            <a:r>
              <a:rPr sz="3000" b="1" spc="-7" baseline="-38888" dirty="0">
                <a:latin typeface="Arial"/>
                <a:cs typeface="Arial"/>
              </a:rPr>
              <a:t>=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Sum of total flow time</a:t>
            </a:r>
            <a:r>
              <a:rPr sz="1800" b="1" i="1" dirty="0">
                <a:latin typeface="Arial"/>
                <a:cs typeface="Arial"/>
              </a:rPr>
              <a:t> </a:t>
            </a:r>
            <a:r>
              <a:rPr sz="3000" b="1" spc="-7" baseline="-38888" dirty="0">
                <a:latin typeface="Arial"/>
                <a:cs typeface="Arial"/>
              </a:rPr>
              <a:t>= 65/28 = 2.32</a:t>
            </a:r>
            <a:r>
              <a:rPr sz="3000" b="1" spc="-337" baseline="-38888" dirty="0">
                <a:latin typeface="Arial"/>
                <a:cs typeface="Arial"/>
              </a:rPr>
              <a:t> </a:t>
            </a:r>
            <a:r>
              <a:rPr sz="3000" b="1" i="1" spc="-7" baseline="-38888" dirty="0">
                <a:latin typeface="Arial"/>
                <a:cs typeface="Arial"/>
              </a:rPr>
              <a:t>jobs</a:t>
            </a:r>
            <a:endParaRPr sz="3000" baseline="-38888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84523" y="4569332"/>
            <a:ext cx="2099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job </a:t>
            </a:r>
            <a:r>
              <a:rPr sz="1800" b="1" i="1" spc="-5" dirty="0">
                <a:latin typeface="Arial"/>
                <a:cs typeface="Arial"/>
              </a:rPr>
              <a:t>work</a:t>
            </a:r>
            <a:r>
              <a:rPr sz="1800" b="1" i="1" spc="-7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7472" y="5255209"/>
            <a:ext cx="27838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spc="-10" dirty="0">
                <a:latin typeface="Arial"/>
                <a:cs typeface="Arial"/>
              </a:rPr>
              <a:t>Average </a:t>
            </a:r>
            <a:r>
              <a:rPr sz="2000" b="1" i="1" spc="-5" dirty="0">
                <a:latin typeface="Arial"/>
                <a:cs typeface="Arial"/>
              </a:rPr>
              <a:t>job lateness</a:t>
            </a:r>
            <a:r>
              <a:rPr sz="2000" b="1" i="1" spc="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=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00741" y="5255209"/>
            <a:ext cx="188404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9/5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1.8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days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70426" y="5044667"/>
            <a:ext cx="1702435" cy="6299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320"/>
              </a:spcBef>
            </a:pP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late</a:t>
            </a:r>
            <a:r>
              <a:rPr sz="1800" b="1" i="1" spc="-7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days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i="1" dirty="0">
                <a:latin typeface="Arial"/>
                <a:cs typeface="Arial"/>
              </a:rPr>
              <a:t>Number of</a:t>
            </a:r>
            <a:r>
              <a:rPr sz="1800" b="1" i="1" spc="-10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jobs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19371" y="5420867"/>
            <a:ext cx="1807845" cy="0"/>
          </a:xfrm>
          <a:custGeom>
            <a:avLst/>
            <a:gdLst/>
            <a:ahLst/>
            <a:cxnLst/>
            <a:rect l="l" t="t" r="r" b="b"/>
            <a:pathLst>
              <a:path w="1807845">
                <a:moveTo>
                  <a:pt x="0" y="0"/>
                </a:moveTo>
                <a:lnTo>
                  <a:pt x="1807464" y="0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21" name="object 21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24" name="object 24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28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4087" y="4660900"/>
            <a:ext cx="7748270" cy="419100"/>
          </a:xfrm>
          <a:custGeom>
            <a:avLst/>
            <a:gdLst/>
            <a:ahLst/>
            <a:cxnLst/>
            <a:rect l="l" t="t" r="r" b="b"/>
            <a:pathLst>
              <a:path w="7748270" h="419100">
                <a:moveTo>
                  <a:pt x="0" y="419100"/>
                </a:moveTo>
                <a:lnTo>
                  <a:pt x="7748015" y="419100"/>
                </a:lnTo>
                <a:lnTo>
                  <a:pt x="7748015" y="0"/>
                </a:lnTo>
                <a:lnTo>
                  <a:pt x="0" y="0"/>
                </a:lnTo>
                <a:lnTo>
                  <a:pt x="0" y="41910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85800" y="3314700"/>
            <a:ext cx="1600200" cy="2222500"/>
            <a:chOff x="685800" y="3314700"/>
            <a:chExt cx="1600200" cy="2222500"/>
          </a:xfrm>
        </p:grpSpPr>
        <p:sp>
          <p:nvSpPr>
            <p:cNvPr id="6" name="object 6"/>
            <p:cNvSpPr/>
            <p:nvPr/>
          </p:nvSpPr>
          <p:spPr>
            <a:xfrm>
              <a:off x="704088" y="3791712"/>
              <a:ext cx="1582420" cy="424815"/>
            </a:xfrm>
            <a:custGeom>
              <a:avLst/>
              <a:gdLst/>
              <a:ahLst/>
              <a:cxnLst/>
              <a:rect l="l" t="t" r="r" b="b"/>
              <a:pathLst>
                <a:path w="1582420" h="424814">
                  <a:moveTo>
                    <a:pt x="0" y="424688"/>
                  </a:moveTo>
                  <a:lnTo>
                    <a:pt x="1581912" y="424688"/>
                  </a:lnTo>
                  <a:lnTo>
                    <a:pt x="1581912" y="0"/>
                  </a:lnTo>
                  <a:lnTo>
                    <a:pt x="0" y="0"/>
                  </a:lnTo>
                  <a:lnTo>
                    <a:pt x="0" y="424688"/>
                  </a:lnTo>
                  <a:close/>
                </a:path>
              </a:pathLst>
            </a:custGeom>
            <a:solidFill>
              <a:srgbClr val="A4D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4088" y="3328416"/>
              <a:ext cx="1582420" cy="443865"/>
            </a:xfrm>
            <a:custGeom>
              <a:avLst/>
              <a:gdLst/>
              <a:ahLst/>
              <a:cxnLst/>
              <a:rect l="l" t="t" r="r" b="b"/>
              <a:pathLst>
                <a:path w="1582420" h="443864">
                  <a:moveTo>
                    <a:pt x="0" y="443484"/>
                  </a:moveTo>
                  <a:lnTo>
                    <a:pt x="1581912" y="443484"/>
                  </a:lnTo>
                  <a:lnTo>
                    <a:pt x="1581912" y="0"/>
                  </a:lnTo>
                  <a:lnTo>
                    <a:pt x="0" y="0"/>
                  </a:lnTo>
                  <a:lnTo>
                    <a:pt x="0" y="443484"/>
                  </a:lnTo>
                  <a:close/>
                </a:path>
              </a:pathLst>
            </a:custGeom>
            <a:solidFill>
              <a:srgbClr val="F400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800" y="3314699"/>
              <a:ext cx="1600200" cy="2222500"/>
            </a:xfrm>
            <a:custGeom>
              <a:avLst/>
              <a:gdLst/>
              <a:ahLst/>
              <a:cxnLst/>
              <a:rect l="l" t="t" r="r" b="b"/>
              <a:pathLst>
                <a:path w="1600200" h="2222500">
                  <a:moveTo>
                    <a:pt x="1600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0" y="901700"/>
                  </a:lnTo>
                  <a:lnTo>
                    <a:pt x="0" y="1346200"/>
                  </a:lnTo>
                  <a:lnTo>
                    <a:pt x="0" y="1765300"/>
                  </a:lnTo>
                  <a:lnTo>
                    <a:pt x="0" y="2222500"/>
                  </a:lnTo>
                  <a:lnTo>
                    <a:pt x="1600200" y="2222500"/>
                  </a:lnTo>
                  <a:lnTo>
                    <a:pt x="1600200" y="1765300"/>
                  </a:lnTo>
                  <a:lnTo>
                    <a:pt x="1600200" y="1346200"/>
                  </a:lnTo>
                  <a:lnTo>
                    <a:pt x="1600200" y="901700"/>
                  </a:lnTo>
                  <a:lnTo>
                    <a:pt x="1600200" y="457200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87323" y="510540"/>
            <a:ext cx="7772400" cy="9271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4400" spc="-5" dirty="0"/>
              <a:t>Sequencing</a:t>
            </a:r>
            <a:r>
              <a:rPr sz="4400" spc="20" dirty="0"/>
              <a:t> </a:t>
            </a:r>
            <a:r>
              <a:rPr sz="4400" spc="-5" dirty="0"/>
              <a:t>Example</a:t>
            </a:r>
            <a:endParaRPr sz="4400"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04087" y="2434678"/>
          <a:ext cx="7753983" cy="34604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1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4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0021">
                <a:tc>
                  <a:txBody>
                    <a:bodyPr/>
                    <a:lstStyle/>
                    <a:p>
                      <a:pPr marR="12065" algn="ctr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b="1" i="1" spc="-5" dirty="0">
                          <a:latin typeface="Arial"/>
                          <a:cs typeface="Arial"/>
                        </a:rPr>
                        <a:t>Job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R="11430" algn="ctr">
                        <a:lnSpc>
                          <a:spcPts val="2280"/>
                        </a:lnSpc>
                      </a:pPr>
                      <a:r>
                        <a:rPr sz="2000" b="1" i="1" spc="-10" dirty="0">
                          <a:latin typeface="Arial"/>
                          <a:cs typeface="Arial"/>
                        </a:rPr>
                        <a:t>Sequence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339725" marR="275590" indent="635" algn="ctr">
                        <a:lnSpc>
                          <a:spcPts val="2160"/>
                        </a:lnSpc>
                        <a:spcBef>
                          <a:spcPts val="75"/>
                        </a:spcBef>
                      </a:pPr>
                      <a:r>
                        <a:rPr sz="2000" b="1" i="1" spc="-5" dirty="0">
                          <a:latin typeface="Arial"/>
                          <a:cs typeface="Arial"/>
                        </a:rPr>
                        <a:t>Job </a:t>
                      </a:r>
                      <a:r>
                        <a:rPr sz="2000" b="1" i="1" spc="-20" dirty="0">
                          <a:latin typeface="Arial"/>
                          <a:cs typeface="Arial"/>
                        </a:rPr>
                        <a:t>Work  </a:t>
                      </a:r>
                      <a:r>
                        <a:rPr sz="2000" b="1" i="1" spc="5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2000" b="1" i="1" spc="-10" dirty="0">
                          <a:latin typeface="Arial"/>
                          <a:cs typeface="Arial"/>
                        </a:rPr>
                        <a:t>Pr</a:t>
                      </a:r>
                      <a:r>
                        <a:rPr sz="2000" b="1" i="1" dirty="0">
                          <a:latin typeface="Arial"/>
                          <a:cs typeface="Arial"/>
                        </a:rPr>
                        <a:t>oce</a:t>
                      </a:r>
                      <a:r>
                        <a:rPr sz="2000" b="1" i="1" spc="-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00" b="1" i="1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00" b="1" i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2000" b="1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00" b="1" i="1" spc="5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2000" b="1" i="1" dirty="0">
                          <a:latin typeface="Arial"/>
                          <a:cs typeface="Arial"/>
                        </a:rPr>
                        <a:t>)  </a:t>
                      </a:r>
                      <a:r>
                        <a:rPr sz="2000" b="1" i="1" spc="-20" dirty="0">
                          <a:latin typeface="Arial"/>
                          <a:cs typeface="Arial"/>
                        </a:rPr>
                        <a:t>Time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b="1" i="1" spc="-5" dirty="0">
                          <a:latin typeface="Arial"/>
                          <a:cs typeface="Arial"/>
                        </a:rPr>
                        <a:t>Flow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283210">
                        <a:lnSpc>
                          <a:spcPts val="2280"/>
                        </a:lnSpc>
                      </a:pPr>
                      <a:r>
                        <a:rPr sz="2000" b="1" i="1" spc="-20" dirty="0">
                          <a:latin typeface="Arial"/>
                          <a:cs typeface="Arial"/>
                        </a:rPr>
                        <a:t>Time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b="1" i="1" spc="-5" dirty="0">
                          <a:latin typeface="Arial"/>
                          <a:cs typeface="Arial"/>
                        </a:rPr>
                        <a:t>Job</a:t>
                      </a:r>
                      <a:r>
                        <a:rPr sz="2000" b="1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i="1" spc="-5" dirty="0">
                          <a:latin typeface="Arial"/>
                          <a:cs typeface="Arial"/>
                        </a:rPr>
                        <a:t>Due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2540" algn="ctr">
                        <a:lnSpc>
                          <a:spcPts val="2280"/>
                        </a:lnSpc>
                      </a:pPr>
                      <a:r>
                        <a:rPr sz="2000" b="1" i="1" spc="-5" dirty="0">
                          <a:latin typeface="Arial"/>
                          <a:cs typeface="Arial"/>
                        </a:rPr>
                        <a:t>Date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b="1" i="1" spc="-5" dirty="0">
                          <a:latin typeface="Arial"/>
                          <a:cs typeface="Arial"/>
                        </a:rPr>
                        <a:t>Job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ts val="2280"/>
                        </a:lnSpc>
                      </a:pPr>
                      <a:r>
                        <a:rPr sz="2000" b="1" i="1" spc="-10" dirty="0">
                          <a:latin typeface="Arial"/>
                          <a:cs typeface="Arial"/>
                        </a:rPr>
                        <a:t>Lateness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012">
                <a:tc>
                  <a:txBody>
                    <a:bodyPr/>
                    <a:lstStyle/>
                    <a:p>
                      <a:pPr marL="6896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0995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6639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7086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070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688">
                <a:tc>
                  <a:txBody>
                    <a:bodyPr/>
                    <a:lstStyle/>
                    <a:p>
                      <a:pPr marL="6896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 marR="90995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6639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7086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070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101">
                <a:tc>
                  <a:txBody>
                    <a:bodyPr/>
                    <a:lstStyle/>
                    <a:p>
                      <a:pPr marL="6896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B w="19050">
                      <a:solidFill>
                        <a:srgbClr val="99CCFF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09955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8227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000" b="1" spc="-125" dirty="0">
                          <a:latin typeface="Arial"/>
                          <a:cs typeface="Arial"/>
                        </a:rPr>
                        <a:t>11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7150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0700" algn="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198">
                <a:tc>
                  <a:txBody>
                    <a:bodyPr/>
                    <a:lstStyle/>
                    <a:p>
                      <a:pPr marL="68961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T w="19050">
                      <a:solidFill>
                        <a:srgbClr val="99CCFF"/>
                      </a:solidFill>
                      <a:prstDash val="solid"/>
                    </a:lnT>
                    <a:lnB w="28575">
                      <a:solidFill>
                        <a:srgbClr val="99CC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10590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67030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71500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18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0700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6991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i="1" dirty="0">
                          <a:latin typeface="Arial"/>
                          <a:cs typeface="Arial"/>
                        </a:rPr>
                        <a:t>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T w="28575">
                      <a:solidFill>
                        <a:srgbClr val="99CCFF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1059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6703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28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7150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23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070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9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10590" algn="r">
                        <a:lnSpc>
                          <a:spcPts val="2320"/>
                        </a:lnSpc>
                        <a:spcBef>
                          <a:spcPts val="3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28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67030" algn="r">
                        <a:lnSpc>
                          <a:spcPts val="2320"/>
                        </a:lnSpc>
                        <a:spcBef>
                          <a:spcPts val="395"/>
                        </a:spcBef>
                      </a:pPr>
                      <a:r>
                        <a:rPr sz="2000" b="1" spc="-5" dirty="0">
                          <a:latin typeface="Arial"/>
                          <a:cs typeface="Arial"/>
                        </a:rPr>
                        <a:t>68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0700" algn="r">
                        <a:lnSpc>
                          <a:spcPts val="2320"/>
                        </a:lnSpc>
                        <a:spcBef>
                          <a:spcPts val="39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36193" y="1610994"/>
            <a:ext cx="45046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5" dirty="0">
                <a:latin typeface="Arial"/>
                <a:cs typeface="Arial"/>
              </a:rPr>
              <a:t>EDD: Sequence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B-A-D-C-E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13" name="object 13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16" name="object 16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29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323" y="510540"/>
            <a:ext cx="7772400" cy="9271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4400" spc="-5" dirty="0"/>
              <a:t>Sequencing</a:t>
            </a:r>
            <a:r>
              <a:rPr sz="4400" spc="20" dirty="0"/>
              <a:t> </a:t>
            </a:r>
            <a:r>
              <a:rPr sz="4400" spc="-5" dirty="0"/>
              <a:t>Example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887882" y="2434678"/>
            <a:ext cx="7376795" cy="346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360295" algn="ctr">
              <a:lnSpc>
                <a:spcPts val="2085"/>
              </a:lnSpc>
            </a:pPr>
            <a:r>
              <a:rPr sz="2000" b="1" i="1" spc="-5" dirty="0">
                <a:latin typeface="Arial"/>
                <a:cs typeface="Arial"/>
              </a:rPr>
              <a:t>Job</a:t>
            </a:r>
            <a:r>
              <a:rPr sz="2000" b="1" i="1" dirty="0">
                <a:latin typeface="Arial"/>
                <a:cs typeface="Arial"/>
              </a:rPr>
              <a:t> </a:t>
            </a:r>
            <a:r>
              <a:rPr sz="2000" b="1" i="1" spc="-20" dirty="0">
                <a:latin typeface="Arial"/>
                <a:cs typeface="Arial"/>
              </a:rPr>
              <a:t>Work</a:t>
            </a:r>
            <a:endParaRPr sz="2000">
              <a:latin typeface="Arial"/>
              <a:cs typeface="Arial"/>
            </a:endParaRPr>
          </a:p>
          <a:p>
            <a:pPr marL="48260" algn="ctr">
              <a:lnSpc>
                <a:spcPts val="2160"/>
              </a:lnSpc>
              <a:tabLst>
                <a:tab pos="1414145" algn="l"/>
                <a:tab pos="3515360" algn="l"/>
                <a:tab pos="4544695" algn="l"/>
                <a:tab pos="6278880" algn="l"/>
              </a:tabLst>
            </a:pPr>
            <a:r>
              <a:rPr sz="2000" b="1" i="1" spc="-5" dirty="0">
                <a:latin typeface="Arial"/>
                <a:cs typeface="Arial"/>
              </a:rPr>
              <a:t>Job	</a:t>
            </a:r>
            <a:r>
              <a:rPr sz="2000" b="1" i="1" spc="-10" dirty="0">
                <a:latin typeface="Arial"/>
                <a:cs typeface="Arial"/>
              </a:rPr>
              <a:t>(Processing)	</a:t>
            </a:r>
            <a:r>
              <a:rPr sz="2000" b="1" i="1" spc="-5" dirty="0">
                <a:latin typeface="Arial"/>
                <a:cs typeface="Arial"/>
              </a:rPr>
              <a:t>Flow	Job Due	Job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280"/>
              </a:lnSpc>
              <a:tabLst>
                <a:tab pos="2210435" algn="l"/>
                <a:tab pos="3835400" algn="l"/>
                <a:tab pos="5093970" algn="l"/>
                <a:tab pos="6278880" algn="l"/>
              </a:tabLst>
            </a:pPr>
            <a:r>
              <a:rPr sz="2000" b="1" i="1" spc="-20" dirty="0">
                <a:latin typeface="Arial"/>
                <a:cs typeface="Arial"/>
              </a:rPr>
              <a:t>S</a:t>
            </a:r>
            <a:r>
              <a:rPr sz="2000" b="1" i="1" spc="-5" dirty="0">
                <a:latin typeface="Arial"/>
                <a:cs typeface="Arial"/>
              </a:rPr>
              <a:t>eq</a:t>
            </a:r>
            <a:r>
              <a:rPr sz="2000" b="1" i="1" dirty="0">
                <a:latin typeface="Arial"/>
                <a:cs typeface="Arial"/>
              </a:rPr>
              <a:t>u</a:t>
            </a:r>
            <a:r>
              <a:rPr sz="2000" b="1" i="1" spc="-5" dirty="0">
                <a:latin typeface="Arial"/>
                <a:cs typeface="Arial"/>
              </a:rPr>
              <a:t>ence</a:t>
            </a:r>
            <a:r>
              <a:rPr sz="2000" b="1" i="1" dirty="0">
                <a:latin typeface="Arial"/>
                <a:cs typeface="Arial"/>
              </a:rPr>
              <a:t>	</a:t>
            </a:r>
            <a:r>
              <a:rPr sz="2000" b="1" i="1" spc="-50" dirty="0">
                <a:latin typeface="Arial"/>
                <a:cs typeface="Arial"/>
              </a:rPr>
              <a:t>T</a:t>
            </a:r>
            <a:r>
              <a:rPr sz="2000" b="1" i="1" spc="-5" dirty="0">
                <a:latin typeface="Arial"/>
                <a:cs typeface="Arial"/>
              </a:rPr>
              <a:t>ime</a:t>
            </a:r>
            <a:r>
              <a:rPr sz="2000" b="1" i="1" dirty="0">
                <a:latin typeface="Arial"/>
                <a:cs typeface="Arial"/>
              </a:rPr>
              <a:t>	</a:t>
            </a:r>
            <a:r>
              <a:rPr sz="2000" b="1" i="1" spc="-50" dirty="0">
                <a:latin typeface="Arial"/>
                <a:cs typeface="Arial"/>
              </a:rPr>
              <a:t>T</a:t>
            </a:r>
            <a:r>
              <a:rPr sz="2000" b="1" i="1" spc="-5" dirty="0">
                <a:latin typeface="Arial"/>
                <a:cs typeface="Arial"/>
              </a:rPr>
              <a:t>ime</a:t>
            </a:r>
            <a:r>
              <a:rPr sz="2000" b="1" i="1" dirty="0">
                <a:latin typeface="Arial"/>
                <a:cs typeface="Arial"/>
              </a:rPr>
              <a:t>	</a:t>
            </a:r>
            <a:r>
              <a:rPr sz="2000" b="1" i="1" spc="-5" dirty="0">
                <a:latin typeface="Arial"/>
                <a:cs typeface="Arial"/>
              </a:rPr>
              <a:t>Date</a:t>
            </a:r>
            <a:r>
              <a:rPr sz="2000" b="1" i="1" dirty="0">
                <a:latin typeface="Arial"/>
                <a:cs typeface="Arial"/>
              </a:rPr>
              <a:t>	</a:t>
            </a:r>
            <a:r>
              <a:rPr sz="2000" b="1" i="1" spc="-5" dirty="0">
                <a:latin typeface="Arial"/>
                <a:cs typeface="Arial"/>
              </a:rPr>
              <a:t>Latene</a:t>
            </a:r>
            <a:r>
              <a:rPr sz="2000" b="1" i="1" spc="-15" dirty="0">
                <a:latin typeface="Arial"/>
                <a:cs typeface="Arial"/>
              </a:rPr>
              <a:t>s</a:t>
            </a:r>
            <a:r>
              <a:rPr sz="2000" b="1" i="1" spc="-5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R="326390" algn="r">
              <a:lnSpc>
                <a:spcPct val="100000"/>
              </a:lnSpc>
              <a:spcBef>
                <a:spcPts val="840"/>
              </a:spcBef>
              <a:tabLst>
                <a:tab pos="1986914" algn="l"/>
                <a:tab pos="3627120" algn="l"/>
                <a:tab pos="4858385" algn="l"/>
                <a:tab pos="6394450" algn="l"/>
              </a:tabLst>
            </a:pPr>
            <a:r>
              <a:rPr sz="2000" b="1" i="1" spc="-5" dirty="0">
                <a:latin typeface="Arial"/>
                <a:cs typeface="Arial"/>
              </a:rPr>
              <a:t>B	</a:t>
            </a:r>
            <a:r>
              <a:rPr sz="2000" b="1" spc="-5" dirty="0">
                <a:latin typeface="Arial"/>
                <a:cs typeface="Arial"/>
              </a:rPr>
              <a:t>2	2	6	0</a:t>
            </a:r>
            <a:endParaRPr sz="2000">
              <a:latin typeface="Arial"/>
              <a:cs typeface="Arial"/>
            </a:endParaRPr>
          </a:p>
          <a:p>
            <a:pPr marR="326390" algn="r">
              <a:lnSpc>
                <a:spcPct val="100000"/>
              </a:lnSpc>
              <a:spcBef>
                <a:spcPts val="1150"/>
              </a:spcBef>
              <a:tabLst>
                <a:tab pos="1986914" algn="l"/>
                <a:tab pos="3627120" algn="l"/>
                <a:tab pos="4858385" algn="l"/>
                <a:tab pos="6394450" algn="l"/>
              </a:tabLst>
            </a:pPr>
            <a:r>
              <a:rPr sz="2000" b="1" i="1" spc="-5" dirty="0">
                <a:latin typeface="Arial"/>
                <a:cs typeface="Arial"/>
              </a:rPr>
              <a:t>A	</a:t>
            </a:r>
            <a:r>
              <a:rPr sz="2000" b="1" spc="-5" dirty="0">
                <a:latin typeface="Arial"/>
                <a:cs typeface="Arial"/>
              </a:rPr>
              <a:t>6	8	8	0</a:t>
            </a:r>
            <a:endParaRPr sz="2000">
              <a:latin typeface="Arial"/>
              <a:cs typeface="Arial"/>
            </a:endParaRPr>
          </a:p>
          <a:p>
            <a:pPr marR="326390" algn="r">
              <a:lnSpc>
                <a:spcPct val="100000"/>
              </a:lnSpc>
              <a:spcBef>
                <a:spcPts val="1105"/>
              </a:spcBef>
              <a:tabLst>
                <a:tab pos="1986914" algn="l"/>
                <a:tab pos="3502025" algn="l"/>
                <a:tab pos="4718050" algn="l"/>
                <a:tab pos="6394450" algn="l"/>
              </a:tabLst>
            </a:pPr>
            <a:r>
              <a:rPr sz="2000" b="1" i="1" spc="-5" dirty="0">
                <a:latin typeface="Arial"/>
                <a:cs typeface="Arial"/>
              </a:rPr>
              <a:t>D	</a:t>
            </a:r>
            <a:r>
              <a:rPr sz="2000" b="1" spc="-5" dirty="0">
                <a:latin typeface="Arial"/>
                <a:cs typeface="Arial"/>
              </a:rPr>
              <a:t>3	</a:t>
            </a:r>
            <a:r>
              <a:rPr sz="2000" b="1" spc="-130" dirty="0">
                <a:latin typeface="Arial"/>
                <a:cs typeface="Arial"/>
              </a:rPr>
              <a:t>1</a:t>
            </a:r>
            <a:r>
              <a:rPr sz="2000" b="1" spc="-5" dirty="0">
                <a:latin typeface="Arial"/>
                <a:cs typeface="Arial"/>
              </a:rPr>
              <a:t>1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1</a:t>
            </a:r>
            <a:r>
              <a:rPr sz="2000" b="1" spc="-5" dirty="0">
                <a:latin typeface="Arial"/>
                <a:cs typeface="Arial"/>
              </a:rPr>
              <a:t>5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R="327025" algn="r">
              <a:lnSpc>
                <a:spcPct val="100000"/>
              </a:lnSpc>
              <a:spcBef>
                <a:spcPts val="1000"/>
              </a:spcBef>
              <a:tabLst>
                <a:tab pos="1986914" algn="l"/>
                <a:tab pos="3486785" algn="l"/>
                <a:tab pos="4718050" algn="l"/>
                <a:tab pos="6394450" algn="l"/>
              </a:tabLst>
            </a:pPr>
            <a:r>
              <a:rPr sz="2000" b="1" i="1" spc="-10" dirty="0">
                <a:latin typeface="Arial"/>
                <a:cs typeface="Arial"/>
              </a:rPr>
              <a:t>C	</a:t>
            </a:r>
            <a:r>
              <a:rPr sz="2000" b="1" spc="-5" dirty="0">
                <a:latin typeface="Arial"/>
                <a:cs typeface="Arial"/>
              </a:rPr>
              <a:t>8	</a:t>
            </a:r>
            <a:r>
              <a:rPr sz="2000" b="1" spc="-10" dirty="0">
                <a:latin typeface="Arial"/>
                <a:cs typeface="Arial"/>
              </a:rPr>
              <a:t>1</a:t>
            </a:r>
            <a:r>
              <a:rPr sz="2000" b="1" spc="-5" dirty="0">
                <a:latin typeface="Arial"/>
                <a:cs typeface="Arial"/>
              </a:rPr>
              <a:t>9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1</a:t>
            </a: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R="327025" algn="r">
              <a:lnSpc>
                <a:spcPct val="100000"/>
              </a:lnSpc>
              <a:spcBef>
                <a:spcPts val="1050"/>
              </a:spcBef>
              <a:tabLst>
                <a:tab pos="1978025" algn="l"/>
                <a:tab pos="3477895" algn="l"/>
                <a:tab pos="4708525" algn="l"/>
                <a:tab pos="6384925" algn="l"/>
              </a:tabLst>
            </a:pPr>
            <a:r>
              <a:rPr sz="2000" b="1" i="1" spc="-10" dirty="0">
                <a:latin typeface="Arial"/>
                <a:cs typeface="Arial"/>
              </a:rPr>
              <a:t>E	</a:t>
            </a:r>
            <a:r>
              <a:rPr sz="2000" b="1" spc="-5" dirty="0">
                <a:latin typeface="Arial"/>
                <a:cs typeface="Arial"/>
              </a:rPr>
              <a:t>9	</a:t>
            </a:r>
            <a:r>
              <a:rPr sz="2000" b="1" spc="-10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3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  <a:p>
            <a:pPr marR="327025" algn="r">
              <a:lnSpc>
                <a:spcPct val="100000"/>
              </a:lnSpc>
              <a:spcBef>
                <a:spcPts val="1155"/>
              </a:spcBef>
              <a:tabLst>
                <a:tab pos="1640205" algn="l"/>
                <a:tab pos="4547235" algn="l"/>
              </a:tabLst>
            </a:pPr>
            <a:r>
              <a:rPr sz="2000" b="1" spc="-10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6</a:t>
            </a: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6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25423" y="2328672"/>
            <a:ext cx="7720965" cy="3752215"/>
            <a:chOff x="725423" y="2328672"/>
            <a:chExt cx="7720965" cy="3752215"/>
          </a:xfrm>
        </p:grpSpPr>
        <p:sp>
          <p:nvSpPr>
            <p:cNvPr id="7" name="object 7"/>
            <p:cNvSpPr/>
            <p:nvPr/>
          </p:nvSpPr>
          <p:spPr>
            <a:xfrm>
              <a:off x="1097279" y="2602992"/>
              <a:ext cx="868680" cy="5760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5423" y="2877312"/>
              <a:ext cx="1542288" cy="5760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31391" y="3288791"/>
              <a:ext cx="530352" cy="5760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31391" y="3739896"/>
              <a:ext cx="530352" cy="57607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1391" y="4184904"/>
              <a:ext cx="530352" cy="5760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31391" y="4617720"/>
              <a:ext cx="530352" cy="57607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40536" y="5053583"/>
              <a:ext cx="515112" cy="57607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54807" y="2328672"/>
              <a:ext cx="1569720" cy="5760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62784" y="2602992"/>
              <a:ext cx="1956816" cy="5760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35223" y="2877312"/>
              <a:ext cx="932688" cy="5760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18688" y="3288791"/>
              <a:ext cx="487679" cy="57607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18688" y="3739896"/>
              <a:ext cx="487679" cy="57607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18688" y="4184904"/>
              <a:ext cx="487679" cy="57607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18688" y="4617720"/>
              <a:ext cx="487679" cy="5760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18688" y="5053583"/>
              <a:ext cx="487679" cy="57607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78479" y="5504688"/>
              <a:ext cx="627888" cy="57607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62856" y="2602992"/>
              <a:ext cx="996696" cy="57607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59808" y="2877312"/>
              <a:ext cx="932688" cy="5760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93079" y="2602992"/>
              <a:ext cx="1420368" cy="57607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18632" y="2877312"/>
              <a:ext cx="896112" cy="57607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324343" y="2602992"/>
              <a:ext cx="868679" cy="5760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01256" y="2877312"/>
              <a:ext cx="1444752" cy="57607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58512" y="3288791"/>
              <a:ext cx="487679" cy="57607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86856" y="3288791"/>
              <a:ext cx="487679" cy="57607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23047" y="3288791"/>
              <a:ext cx="487679" cy="57607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58512" y="3739896"/>
              <a:ext cx="487679" cy="576071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86856" y="3739896"/>
              <a:ext cx="487679" cy="576071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23047" y="3739896"/>
              <a:ext cx="487679" cy="576071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33544" y="4184904"/>
              <a:ext cx="612648" cy="576072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46647" y="4184904"/>
              <a:ext cx="627888" cy="5760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623047" y="4184904"/>
              <a:ext cx="487679" cy="5760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18303" y="4617720"/>
              <a:ext cx="627888" cy="576071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46647" y="4617720"/>
              <a:ext cx="627888" cy="576071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623047" y="4617720"/>
              <a:ext cx="487679" cy="576071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18303" y="5053583"/>
              <a:ext cx="627888" cy="576071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46647" y="5053583"/>
              <a:ext cx="627888" cy="576071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23047" y="5053583"/>
              <a:ext cx="487679" cy="576071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718303" y="5504688"/>
              <a:ext cx="627888" cy="576072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623047" y="5504688"/>
              <a:ext cx="487679" cy="576072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36193" y="1610994"/>
            <a:ext cx="438023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5" dirty="0">
                <a:latin typeface="Arial"/>
                <a:cs typeface="Arial"/>
              </a:rPr>
              <a:t>EDD: </a:t>
            </a:r>
            <a:r>
              <a:rPr sz="2800" dirty="0">
                <a:latin typeface="Arial"/>
                <a:cs typeface="Arial"/>
              </a:rPr>
              <a:t>Sequence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B-A-D-C-E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41185" y="2456497"/>
            <a:ext cx="8467725" cy="3438525"/>
            <a:chOff x="341185" y="2456497"/>
            <a:chExt cx="8467725" cy="3438525"/>
          </a:xfrm>
        </p:grpSpPr>
        <p:sp>
          <p:nvSpPr>
            <p:cNvPr id="48" name="object 48"/>
            <p:cNvSpPr/>
            <p:nvPr/>
          </p:nvSpPr>
          <p:spPr>
            <a:xfrm>
              <a:off x="345947" y="2461260"/>
              <a:ext cx="8458200" cy="3429000"/>
            </a:xfrm>
            <a:custGeom>
              <a:avLst/>
              <a:gdLst/>
              <a:ahLst/>
              <a:cxnLst/>
              <a:rect l="l" t="t" r="r" b="b"/>
              <a:pathLst>
                <a:path w="8458200" h="3429000">
                  <a:moveTo>
                    <a:pt x="84582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8458200" y="342900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5947" y="2461260"/>
              <a:ext cx="8458200" cy="3429000"/>
            </a:xfrm>
            <a:custGeom>
              <a:avLst/>
              <a:gdLst/>
              <a:ahLst/>
              <a:cxnLst/>
              <a:rect l="l" t="t" r="r" b="b"/>
              <a:pathLst>
                <a:path w="8458200" h="3429000">
                  <a:moveTo>
                    <a:pt x="0" y="3429000"/>
                  </a:moveTo>
                  <a:lnTo>
                    <a:pt x="8458200" y="3429000"/>
                  </a:lnTo>
                  <a:lnTo>
                    <a:pt x="8458200" y="0"/>
                  </a:lnTo>
                  <a:lnTo>
                    <a:pt x="0" y="0"/>
                  </a:lnTo>
                  <a:lnTo>
                    <a:pt x="0" y="3429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553516" y="2816098"/>
            <a:ext cx="803783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00" b="1" i="1" spc="-10" dirty="0">
                <a:latin typeface="Arial"/>
                <a:cs typeface="Arial"/>
              </a:rPr>
              <a:t>Average </a:t>
            </a:r>
            <a:r>
              <a:rPr sz="2000" b="1" i="1" spc="-5" dirty="0">
                <a:latin typeface="Arial"/>
                <a:cs typeface="Arial"/>
              </a:rPr>
              <a:t>completion time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700" b="1" i="1" baseline="44753" dirty="0">
                <a:latin typeface="Arial"/>
                <a:cs typeface="Arial"/>
              </a:rPr>
              <a:t>Sum of total flow time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68/5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13.6</a:t>
            </a:r>
            <a:r>
              <a:rPr sz="2000" b="1" spc="165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days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269994" y="2960623"/>
            <a:ext cx="1702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Number of</a:t>
            </a:r>
            <a:r>
              <a:rPr sz="1800" b="1" i="1" spc="-10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jobs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162300" y="2994660"/>
            <a:ext cx="3161030" cy="814069"/>
          </a:xfrm>
          <a:custGeom>
            <a:avLst/>
            <a:gdLst/>
            <a:ahLst/>
            <a:cxnLst/>
            <a:rect l="l" t="t" r="r" b="b"/>
            <a:pathLst>
              <a:path w="3161029" h="814070">
                <a:moveTo>
                  <a:pt x="3160776" y="0"/>
                </a:moveTo>
                <a:lnTo>
                  <a:pt x="771144" y="0"/>
                </a:lnTo>
              </a:path>
              <a:path w="3161029" h="814070">
                <a:moveTo>
                  <a:pt x="0" y="813815"/>
                </a:moveTo>
                <a:lnTo>
                  <a:pt x="2395728" y="813815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856894" y="4525213"/>
            <a:ext cx="22345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spc="-5" dirty="0">
                <a:latin typeface="Arial"/>
                <a:cs typeface="Arial"/>
              </a:rPr>
              <a:t>jobs in the</a:t>
            </a:r>
            <a:r>
              <a:rPr sz="2000" b="1" i="1" spc="-55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system</a:t>
            </a:r>
            <a:endParaRPr sz="2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18794" y="3462273"/>
            <a:ext cx="7473950" cy="1109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2110" algn="ctr">
              <a:lnSpc>
                <a:spcPts val="1795"/>
              </a:lnSpc>
              <a:spcBef>
                <a:spcPts val="100"/>
              </a:spcBef>
            </a:pP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job </a:t>
            </a:r>
            <a:r>
              <a:rPr sz="1800" b="1" i="1" spc="-5" dirty="0">
                <a:latin typeface="Arial"/>
                <a:cs typeface="Arial"/>
              </a:rPr>
              <a:t>work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  <a:p>
            <a:pPr marL="62865" algn="ctr">
              <a:lnSpc>
                <a:spcPts val="2035"/>
              </a:lnSpc>
            </a:pPr>
            <a:r>
              <a:rPr sz="2000" b="1" i="1" spc="-5" dirty="0">
                <a:latin typeface="Arial"/>
                <a:cs typeface="Arial"/>
              </a:rPr>
              <a:t>Utilization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700" b="1" i="1" baseline="-23148" dirty="0">
                <a:latin typeface="Arial"/>
                <a:cs typeface="Arial"/>
              </a:rPr>
              <a:t>Sum of total flow time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28/68 </a:t>
            </a:r>
            <a:r>
              <a:rPr sz="2000" b="1" spc="-5" dirty="0">
                <a:latin typeface="Arial"/>
                <a:cs typeface="Arial"/>
              </a:rPr>
              <a:t>=</a:t>
            </a:r>
            <a:r>
              <a:rPr sz="2000" b="1" spc="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41.2%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305"/>
              </a:spcBef>
            </a:pPr>
            <a:r>
              <a:rPr sz="3000" b="1" i="1" spc="-15" baseline="-5555" dirty="0">
                <a:latin typeface="Arial"/>
                <a:cs typeface="Arial"/>
              </a:rPr>
              <a:t>Average </a:t>
            </a:r>
            <a:r>
              <a:rPr sz="3000" b="1" i="1" spc="-7" baseline="-5555" dirty="0">
                <a:latin typeface="Arial"/>
                <a:cs typeface="Arial"/>
              </a:rPr>
              <a:t>number of </a:t>
            </a:r>
            <a:r>
              <a:rPr sz="3000" b="1" spc="-7" baseline="-38888" dirty="0">
                <a:latin typeface="Arial"/>
                <a:cs typeface="Arial"/>
              </a:rPr>
              <a:t>=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Sum of total flow time</a:t>
            </a:r>
            <a:r>
              <a:rPr sz="1800" b="1" i="1" dirty="0">
                <a:latin typeface="Arial"/>
                <a:cs typeface="Arial"/>
              </a:rPr>
              <a:t> </a:t>
            </a:r>
            <a:r>
              <a:rPr sz="3000" b="1" spc="-7" baseline="-38888" dirty="0">
                <a:latin typeface="Arial"/>
                <a:cs typeface="Arial"/>
              </a:rPr>
              <a:t>= 68/28 = 2.43</a:t>
            </a:r>
            <a:r>
              <a:rPr sz="3000" b="1" spc="-337" baseline="-38888" dirty="0">
                <a:latin typeface="Arial"/>
                <a:cs typeface="Arial"/>
              </a:rPr>
              <a:t> </a:t>
            </a:r>
            <a:r>
              <a:rPr sz="3000" b="1" i="1" spc="-7" baseline="-38888" dirty="0">
                <a:latin typeface="Arial"/>
                <a:cs typeface="Arial"/>
              </a:rPr>
              <a:t>jobs</a:t>
            </a:r>
            <a:endParaRPr sz="3000" baseline="-38888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684523" y="4569332"/>
            <a:ext cx="2099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job </a:t>
            </a:r>
            <a:r>
              <a:rPr sz="1800" b="1" i="1" spc="-5" dirty="0">
                <a:latin typeface="Arial"/>
                <a:cs typeface="Arial"/>
              </a:rPr>
              <a:t>work</a:t>
            </a:r>
            <a:r>
              <a:rPr sz="1800" b="1" i="1" spc="-7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217472" y="5255209"/>
            <a:ext cx="27838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spc="-10" dirty="0">
                <a:latin typeface="Arial"/>
                <a:cs typeface="Arial"/>
              </a:rPr>
              <a:t>Average </a:t>
            </a:r>
            <a:r>
              <a:rPr sz="2000" b="1" i="1" spc="-5" dirty="0">
                <a:latin typeface="Arial"/>
                <a:cs typeface="Arial"/>
              </a:rPr>
              <a:t>job lateness</a:t>
            </a:r>
            <a:r>
              <a:rPr sz="2000" b="1" i="1" spc="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=</a:t>
            </a:r>
            <a:endParaRPr sz="2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000741" y="5255209"/>
            <a:ext cx="188404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6/5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1.2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days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170426" y="5044667"/>
            <a:ext cx="1702435" cy="6299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320"/>
              </a:spcBef>
            </a:pP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late</a:t>
            </a:r>
            <a:r>
              <a:rPr sz="1800" b="1" i="1" spc="-7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days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i="1" dirty="0">
                <a:latin typeface="Arial"/>
                <a:cs typeface="Arial"/>
              </a:rPr>
              <a:t>Number of</a:t>
            </a:r>
            <a:r>
              <a:rPr sz="1800" b="1" i="1" spc="-10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jobs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119371" y="5420867"/>
            <a:ext cx="1807845" cy="0"/>
          </a:xfrm>
          <a:custGeom>
            <a:avLst/>
            <a:gdLst/>
            <a:ahLst/>
            <a:cxnLst/>
            <a:rect l="l" t="t" r="r" b="b"/>
            <a:pathLst>
              <a:path w="1807845">
                <a:moveTo>
                  <a:pt x="0" y="0"/>
                </a:moveTo>
                <a:lnTo>
                  <a:pt x="1807464" y="0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0" name="object 60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61" name="object 61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64" name="object 64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30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5800" y="3771900"/>
            <a:ext cx="7766684" cy="889000"/>
            <a:chOff x="685800" y="3771900"/>
            <a:chExt cx="7766684" cy="889000"/>
          </a:xfrm>
        </p:grpSpPr>
        <p:sp>
          <p:nvSpPr>
            <p:cNvPr id="5" name="object 5"/>
            <p:cNvSpPr/>
            <p:nvPr/>
          </p:nvSpPr>
          <p:spPr>
            <a:xfrm>
              <a:off x="704088" y="4216400"/>
              <a:ext cx="7748270" cy="444500"/>
            </a:xfrm>
            <a:custGeom>
              <a:avLst/>
              <a:gdLst/>
              <a:ahLst/>
              <a:cxnLst/>
              <a:rect l="l" t="t" r="r" b="b"/>
              <a:pathLst>
                <a:path w="7748270" h="444500">
                  <a:moveTo>
                    <a:pt x="0" y="444500"/>
                  </a:moveTo>
                  <a:lnTo>
                    <a:pt x="7748015" y="444500"/>
                  </a:lnTo>
                  <a:lnTo>
                    <a:pt x="7748015" y="0"/>
                  </a:lnTo>
                  <a:lnTo>
                    <a:pt x="0" y="0"/>
                  </a:lnTo>
                  <a:lnTo>
                    <a:pt x="0" y="444500"/>
                  </a:lnTo>
                  <a:close/>
                </a:path>
              </a:pathLst>
            </a:custGeom>
            <a:solidFill>
              <a:srgbClr val="A4D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5800" y="3771899"/>
              <a:ext cx="1600200" cy="889000"/>
            </a:xfrm>
            <a:custGeom>
              <a:avLst/>
              <a:gdLst/>
              <a:ahLst/>
              <a:cxnLst/>
              <a:rect l="l" t="t" r="r" b="b"/>
              <a:pathLst>
                <a:path w="1600200" h="889000">
                  <a:moveTo>
                    <a:pt x="1600200" y="0"/>
                  </a:moveTo>
                  <a:lnTo>
                    <a:pt x="0" y="0"/>
                  </a:lnTo>
                  <a:lnTo>
                    <a:pt x="0" y="444500"/>
                  </a:lnTo>
                  <a:lnTo>
                    <a:pt x="0" y="889000"/>
                  </a:lnTo>
                  <a:lnTo>
                    <a:pt x="1600200" y="889000"/>
                  </a:lnTo>
                  <a:lnTo>
                    <a:pt x="1600200" y="444500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87323" y="510540"/>
            <a:ext cx="7772400" cy="9271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4400" spc="-5" dirty="0"/>
              <a:t>Sequencing</a:t>
            </a:r>
            <a:r>
              <a:rPr sz="4400" spc="20" dirty="0"/>
              <a:t> </a:t>
            </a:r>
            <a:r>
              <a:rPr sz="4400" spc="-5" dirty="0"/>
              <a:t>Example</a:t>
            </a:r>
            <a:endParaRPr sz="4400"/>
          </a:p>
        </p:txBody>
      </p:sp>
      <p:sp>
        <p:nvSpPr>
          <p:cNvPr id="8" name="object 8"/>
          <p:cNvSpPr/>
          <p:nvPr/>
        </p:nvSpPr>
        <p:spPr>
          <a:xfrm>
            <a:off x="685800" y="5080000"/>
            <a:ext cx="6286500" cy="457200"/>
          </a:xfrm>
          <a:custGeom>
            <a:avLst/>
            <a:gdLst/>
            <a:ahLst/>
            <a:cxnLst/>
            <a:rect l="l" t="t" r="r" b="b"/>
            <a:pathLst>
              <a:path w="6286500" h="457200">
                <a:moveTo>
                  <a:pt x="6286500" y="0"/>
                </a:moveTo>
                <a:lnTo>
                  <a:pt x="4851400" y="0"/>
                </a:lnTo>
                <a:lnTo>
                  <a:pt x="3810000" y="0"/>
                </a:lnTo>
                <a:lnTo>
                  <a:pt x="1600200" y="0"/>
                </a:lnTo>
                <a:lnTo>
                  <a:pt x="0" y="0"/>
                </a:lnTo>
                <a:lnTo>
                  <a:pt x="0" y="457200"/>
                </a:lnTo>
                <a:lnTo>
                  <a:pt x="1600200" y="457200"/>
                </a:lnTo>
                <a:lnTo>
                  <a:pt x="3810000" y="457200"/>
                </a:lnTo>
                <a:lnTo>
                  <a:pt x="4851400" y="457200"/>
                </a:lnTo>
                <a:lnTo>
                  <a:pt x="6286500" y="457200"/>
                </a:lnTo>
                <a:lnTo>
                  <a:pt x="6286500" y="0"/>
                </a:lnTo>
                <a:close/>
              </a:path>
            </a:pathLst>
          </a:custGeom>
          <a:solidFill>
            <a:srgbClr val="F7F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01801" y="2434678"/>
          <a:ext cx="7758428" cy="3460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4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65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80021">
                <a:tc>
                  <a:txBody>
                    <a:bodyPr/>
                    <a:lstStyle/>
                    <a:p>
                      <a:pPr marR="7620" algn="ctr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Job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R="6350" algn="ctr">
                        <a:lnSpc>
                          <a:spcPts val="2280"/>
                        </a:lnSpc>
                      </a:pPr>
                      <a:r>
                        <a:rPr sz="2000" i="1" spc="-10" dirty="0">
                          <a:latin typeface="Arial"/>
                          <a:cs typeface="Arial"/>
                        </a:rPr>
                        <a:t>Sequence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394335" marR="310515" indent="635" algn="ctr">
                        <a:lnSpc>
                          <a:spcPts val="2160"/>
                        </a:lnSpc>
                        <a:spcBef>
                          <a:spcPts val="75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Job </a:t>
                      </a:r>
                      <a:r>
                        <a:rPr sz="2000" i="1" spc="5" dirty="0">
                          <a:latin typeface="Arial"/>
                          <a:cs typeface="Arial"/>
                        </a:rPr>
                        <a:t>Work  (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2000" i="1" spc="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oce</a:t>
                      </a:r>
                      <a:r>
                        <a:rPr sz="2000" i="1" spc="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00" i="1" spc="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)  </a:t>
                      </a:r>
                      <a:r>
                        <a:rPr sz="2000" i="1" spc="-15" dirty="0">
                          <a:latin typeface="Arial"/>
                          <a:cs typeface="Arial"/>
                        </a:rPr>
                        <a:t>Time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i="1" spc="-10" dirty="0">
                          <a:latin typeface="Arial"/>
                          <a:cs typeface="Arial"/>
                        </a:rPr>
                        <a:t>Flow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18135">
                        <a:lnSpc>
                          <a:spcPts val="2280"/>
                        </a:lnSpc>
                      </a:pPr>
                      <a:r>
                        <a:rPr sz="2000" i="1" spc="-15" dirty="0">
                          <a:latin typeface="Arial"/>
                          <a:cs typeface="Arial"/>
                        </a:rPr>
                        <a:t>Time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Job</a:t>
                      </a:r>
                      <a:r>
                        <a:rPr sz="20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Due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635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Date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Job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3810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Lateness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113">
                <a:tc>
                  <a:txBody>
                    <a:bodyPr/>
                    <a:lstStyle/>
                    <a:p>
                      <a:pPr marL="70104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6639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7150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070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982">
                <a:tc>
                  <a:txBody>
                    <a:bodyPr/>
                    <a:lstStyle/>
                    <a:p>
                      <a:pPr marL="692150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B w="19050">
                      <a:solidFill>
                        <a:srgbClr val="A4DF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67030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71500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0700" algn="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103">
                <a:tc>
                  <a:txBody>
                    <a:bodyPr/>
                    <a:lstStyle/>
                    <a:p>
                      <a:pPr marL="71755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lnT w="19050">
                      <a:solidFill>
                        <a:srgbClr val="A4DF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67030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70865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1334" algn="r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58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036">
                <a:tc>
                  <a:txBody>
                    <a:bodyPr/>
                    <a:lstStyle/>
                    <a:p>
                      <a:pPr marL="6921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B w="9525">
                      <a:solidFill>
                        <a:srgbClr val="F400F4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6703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7150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397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50" dirty="0">
                          <a:latin typeface="Arial"/>
                          <a:cs typeface="Arial"/>
                        </a:rPr>
                        <a:t>11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263">
                <a:tc>
                  <a:txBody>
                    <a:bodyPr/>
                    <a:lstStyle/>
                    <a:p>
                      <a:pPr marL="70104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T w="9525">
                      <a:solidFill>
                        <a:srgbClr val="F400F4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890269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670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7086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1334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9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890905" algn="r">
                        <a:lnSpc>
                          <a:spcPts val="2320"/>
                        </a:lnSpc>
                        <a:spcBef>
                          <a:spcPts val="39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366395" algn="r">
                        <a:lnSpc>
                          <a:spcPts val="2320"/>
                        </a:lnSpc>
                        <a:spcBef>
                          <a:spcPts val="39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103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521334" algn="r">
                        <a:lnSpc>
                          <a:spcPts val="2320"/>
                        </a:lnSpc>
                        <a:spcBef>
                          <a:spcPts val="39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48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50165" marB="0"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36193" y="1610994"/>
            <a:ext cx="42430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80" dirty="0">
                <a:latin typeface="Arial"/>
                <a:cs typeface="Arial"/>
              </a:rPr>
              <a:t>LPT: </a:t>
            </a:r>
            <a:r>
              <a:rPr sz="2800" dirty="0">
                <a:latin typeface="Arial"/>
                <a:cs typeface="Arial"/>
              </a:rPr>
              <a:t>Sequence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E-C-A-D-B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12" name="object 12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15" name="object 15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31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323" y="510540"/>
            <a:ext cx="7772400" cy="9271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4400" spc="-5" dirty="0"/>
              <a:t>Sequencing</a:t>
            </a:r>
            <a:r>
              <a:rPr sz="4400" spc="20" dirty="0"/>
              <a:t> </a:t>
            </a:r>
            <a:r>
              <a:rPr sz="4400" spc="-5" dirty="0"/>
              <a:t>Example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887882" y="2434678"/>
            <a:ext cx="7376795" cy="3460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360295" algn="ctr">
              <a:lnSpc>
                <a:spcPts val="2085"/>
              </a:lnSpc>
            </a:pPr>
            <a:r>
              <a:rPr sz="2000" b="1" i="1" spc="-5" dirty="0">
                <a:latin typeface="Arial"/>
                <a:cs typeface="Arial"/>
              </a:rPr>
              <a:t>Job</a:t>
            </a:r>
            <a:r>
              <a:rPr sz="2000" b="1" i="1" dirty="0">
                <a:latin typeface="Arial"/>
                <a:cs typeface="Arial"/>
              </a:rPr>
              <a:t> </a:t>
            </a:r>
            <a:r>
              <a:rPr sz="2000" b="1" i="1" spc="-20" dirty="0">
                <a:latin typeface="Arial"/>
                <a:cs typeface="Arial"/>
              </a:rPr>
              <a:t>Work</a:t>
            </a:r>
            <a:endParaRPr sz="2000">
              <a:latin typeface="Arial"/>
              <a:cs typeface="Arial"/>
            </a:endParaRPr>
          </a:p>
          <a:p>
            <a:pPr marL="48260" algn="ctr">
              <a:lnSpc>
                <a:spcPts val="2160"/>
              </a:lnSpc>
              <a:tabLst>
                <a:tab pos="1414145" algn="l"/>
                <a:tab pos="3515360" algn="l"/>
                <a:tab pos="4544695" algn="l"/>
                <a:tab pos="6278880" algn="l"/>
              </a:tabLst>
            </a:pPr>
            <a:r>
              <a:rPr sz="2000" b="1" i="1" spc="-5" dirty="0">
                <a:latin typeface="Arial"/>
                <a:cs typeface="Arial"/>
              </a:rPr>
              <a:t>Job	</a:t>
            </a:r>
            <a:r>
              <a:rPr sz="2000" b="1" i="1" spc="-10" dirty="0">
                <a:latin typeface="Arial"/>
                <a:cs typeface="Arial"/>
              </a:rPr>
              <a:t>(Processing)	</a:t>
            </a:r>
            <a:r>
              <a:rPr sz="2000" b="1" i="1" spc="-5" dirty="0">
                <a:latin typeface="Arial"/>
                <a:cs typeface="Arial"/>
              </a:rPr>
              <a:t>Flow	Job Due	Job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280"/>
              </a:lnSpc>
              <a:tabLst>
                <a:tab pos="2210435" algn="l"/>
                <a:tab pos="3835400" algn="l"/>
                <a:tab pos="5093970" algn="l"/>
                <a:tab pos="6278880" algn="l"/>
              </a:tabLst>
            </a:pPr>
            <a:r>
              <a:rPr sz="2000" b="1" i="1" spc="-20" dirty="0">
                <a:latin typeface="Arial"/>
                <a:cs typeface="Arial"/>
              </a:rPr>
              <a:t>S</a:t>
            </a:r>
            <a:r>
              <a:rPr sz="2000" b="1" i="1" spc="-5" dirty="0">
                <a:latin typeface="Arial"/>
                <a:cs typeface="Arial"/>
              </a:rPr>
              <a:t>eq</a:t>
            </a:r>
            <a:r>
              <a:rPr sz="2000" b="1" i="1" dirty="0">
                <a:latin typeface="Arial"/>
                <a:cs typeface="Arial"/>
              </a:rPr>
              <a:t>u</a:t>
            </a:r>
            <a:r>
              <a:rPr sz="2000" b="1" i="1" spc="-5" dirty="0">
                <a:latin typeface="Arial"/>
                <a:cs typeface="Arial"/>
              </a:rPr>
              <a:t>ence</a:t>
            </a:r>
            <a:r>
              <a:rPr sz="2000" b="1" i="1" dirty="0">
                <a:latin typeface="Arial"/>
                <a:cs typeface="Arial"/>
              </a:rPr>
              <a:t>	</a:t>
            </a:r>
            <a:r>
              <a:rPr sz="2000" b="1" i="1" spc="-50" dirty="0">
                <a:latin typeface="Arial"/>
                <a:cs typeface="Arial"/>
              </a:rPr>
              <a:t>T</a:t>
            </a:r>
            <a:r>
              <a:rPr sz="2000" b="1" i="1" spc="-5" dirty="0">
                <a:latin typeface="Arial"/>
                <a:cs typeface="Arial"/>
              </a:rPr>
              <a:t>ime</a:t>
            </a:r>
            <a:r>
              <a:rPr sz="2000" b="1" i="1" dirty="0">
                <a:latin typeface="Arial"/>
                <a:cs typeface="Arial"/>
              </a:rPr>
              <a:t>	</a:t>
            </a:r>
            <a:r>
              <a:rPr sz="2000" b="1" i="1" spc="-50" dirty="0">
                <a:latin typeface="Arial"/>
                <a:cs typeface="Arial"/>
              </a:rPr>
              <a:t>T</a:t>
            </a:r>
            <a:r>
              <a:rPr sz="2000" b="1" i="1" spc="-5" dirty="0">
                <a:latin typeface="Arial"/>
                <a:cs typeface="Arial"/>
              </a:rPr>
              <a:t>ime</a:t>
            </a:r>
            <a:r>
              <a:rPr sz="2000" b="1" i="1" dirty="0">
                <a:latin typeface="Arial"/>
                <a:cs typeface="Arial"/>
              </a:rPr>
              <a:t>	</a:t>
            </a:r>
            <a:r>
              <a:rPr sz="2000" b="1" i="1" spc="-5" dirty="0">
                <a:latin typeface="Arial"/>
                <a:cs typeface="Arial"/>
              </a:rPr>
              <a:t>Date</a:t>
            </a:r>
            <a:r>
              <a:rPr sz="2000" b="1" i="1" dirty="0">
                <a:latin typeface="Arial"/>
                <a:cs typeface="Arial"/>
              </a:rPr>
              <a:t>	</a:t>
            </a:r>
            <a:r>
              <a:rPr sz="2000" b="1" i="1" spc="-5" dirty="0">
                <a:latin typeface="Arial"/>
                <a:cs typeface="Arial"/>
              </a:rPr>
              <a:t>Latene</a:t>
            </a:r>
            <a:r>
              <a:rPr sz="2000" b="1" i="1" spc="-15" dirty="0">
                <a:latin typeface="Arial"/>
                <a:cs typeface="Arial"/>
              </a:rPr>
              <a:t>s</a:t>
            </a:r>
            <a:r>
              <a:rPr sz="2000" b="1" i="1" spc="-5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R="326390" algn="r">
              <a:lnSpc>
                <a:spcPct val="100000"/>
              </a:lnSpc>
              <a:spcBef>
                <a:spcPts val="840"/>
              </a:spcBef>
              <a:tabLst>
                <a:tab pos="1978025" algn="l"/>
                <a:tab pos="3618229" algn="l"/>
                <a:tab pos="4708525" algn="l"/>
                <a:tab pos="6384925" algn="l"/>
              </a:tabLst>
            </a:pPr>
            <a:r>
              <a:rPr sz="2000" b="1" i="1" spc="-5" dirty="0">
                <a:latin typeface="Arial"/>
                <a:cs typeface="Arial"/>
              </a:rPr>
              <a:t>E	</a:t>
            </a:r>
            <a:r>
              <a:rPr sz="2000" b="1" spc="-5" dirty="0">
                <a:latin typeface="Arial"/>
                <a:cs typeface="Arial"/>
              </a:rPr>
              <a:t>9	9	</a:t>
            </a:r>
            <a:r>
              <a:rPr sz="2000" b="1" spc="-10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3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R="326390" algn="r">
              <a:lnSpc>
                <a:spcPct val="100000"/>
              </a:lnSpc>
              <a:spcBef>
                <a:spcPts val="1150"/>
              </a:spcBef>
              <a:tabLst>
                <a:tab pos="1986914" algn="l"/>
                <a:tab pos="3486785" algn="l"/>
                <a:tab pos="4718050" algn="l"/>
                <a:tab pos="6394450" algn="l"/>
              </a:tabLst>
            </a:pPr>
            <a:r>
              <a:rPr sz="2000" b="1" i="1" spc="-5" dirty="0">
                <a:latin typeface="Arial"/>
                <a:cs typeface="Arial"/>
              </a:rPr>
              <a:t>C	</a:t>
            </a:r>
            <a:r>
              <a:rPr sz="2000" b="1" spc="-5" dirty="0">
                <a:latin typeface="Arial"/>
                <a:cs typeface="Arial"/>
              </a:rPr>
              <a:t>8	</a:t>
            </a:r>
            <a:r>
              <a:rPr sz="2000" b="1" spc="-10" dirty="0">
                <a:latin typeface="Arial"/>
                <a:cs typeface="Arial"/>
              </a:rPr>
              <a:t>1</a:t>
            </a:r>
            <a:r>
              <a:rPr sz="2000" b="1" spc="-5" dirty="0">
                <a:latin typeface="Arial"/>
                <a:cs typeface="Arial"/>
              </a:rPr>
              <a:t>7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1</a:t>
            </a: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R="327025" algn="r">
              <a:lnSpc>
                <a:spcPct val="100000"/>
              </a:lnSpc>
              <a:spcBef>
                <a:spcPts val="1105"/>
              </a:spcBef>
              <a:tabLst>
                <a:tab pos="1986914" algn="l"/>
                <a:tab pos="3486785" algn="l"/>
                <a:tab pos="4858385" algn="l"/>
                <a:tab pos="6254115" algn="l"/>
              </a:tabLst>
            </a:pPr>
            <a:r>
              <a:rPr sz="2000" b="1" i="1" spc="-5" dirty="0">
                <a:latin typeface="Arial"/>
                <a:cs typeface="Arial"/>
              </a:rPr>
              <a:t>A	</a:t>
            </a:r>
            <a:r>
              <a:rPr sz="2000" b="1" spc="-5" dirty="0">
                <a:latin typeface="Arial"/>
                <a:cs typeface="Arial"/>
              </a:rPr>
              <a:t>6	</a:t>
            </a:r>
            <a:r>
              <a:rPr sz="2000" b="1" spc="-10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3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15</a:t>
            </a:r>
            <a:endParaRPr sz="2000">
              <a:latin typeface="Arial"/>
              <a:cs typeface="Arial"/>
            </a:endParaRPr>
          </a:p>
          <a:p>
            <a:pPr marR="342265" algn="r">
              <a:lnSpc>
                <a:spcPct val="100000"/>
              </a:lnSpc>
              <a:spcBef>
                <a:spcPts val="1000"/>
              </a:spcBef>
              <a:tabLst>
                <a:tab pos="1986914" algn="l"/>
                <a:tab pos="3486785" algn="l"/>
                <a:tab pos="4718050" algn="l"/>
                <a:tab pos="6269355" algn="l"/>
              </a:tabLst>
            </a:pPr>
            <a:r>
              <a:rPr sz="2000" b="1" i="1" spc="-10" dirty="0">
                <a:latin typeface="Arial"/>
                <a:cs typeface="Arial"/>
              </a:rPr>
              <a:t>D	</a:t>
            </a:r>
            <a:r>
              <a:rPr sz="2000" b="1" spc="-5" dirty="0">
                <a:latin typeface="Arial"/>
                <a:cs typeface="Arial"/>
              </a:rPr>
              <a:t>3	</a:t>
            </a:r>
            <a:r>
              <a:rPr sz="2000" b="1" spc="-10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6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1</a:t>
            </a:r>
            <a:r>
              <a:rPr sz="2000" b="1" spc="-5" dirty="0">
                <a:latin typeface="Arial"/>
                <a:cs typeface="Arial"/>
              </a:rPr>
              <a:t>5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30" dirty="0">
                <a:latin typeface="Arial"/>
                <a:cs typeface="Arial"/>
              </a:rPr>
              <a:t>11</a:t>
            </a:r>
            <a:endParaRPr sz="2000">
              <a:latin typeface="Arial"/>
              <a:cs typeface="Arial"/>
            </a:endParaRPr>
          </a:p>
          <a:p>
            <a:pPr marR="327025" algn="r">
              <a:lnSpc>
                <a:spcPct val="100000"/>
              </a:lnSpc>
              <a:spcBef>
                <a:spcPts val="1050"/>
              </a:spcBef>
              <a:tabLst>
                <a:tab pos="1986914" algn="l"/>
                <a:tab pos="3486785" algn="l"/>
                <a:tab pos="4858385" algn="l"/>
                <a:tab pos="6254115" algn="l"/>
              </a:tabLst>
            </a:pPr>
            <a:r>
              <a:rPr sz="2000" b="1" i="1" spc="-10" dirty="0">
                <a:latin typeface="Arial"/>
                <a:cs typeface="Arial"/>
              </a:rPr>
              <a:t>B	</a:t>
            </a:r>
            <a:r>
              <a:rPr sz="2000" b="1" spc="-5" dirty="0">
                <a:latin typeface="Arial"/>
                <a:cs typeface="Arial"/>
              </a:rPr>
              <a:t>2	</a:t>
            </a:r>
            <a:r>
              <a:rPr sz="2000" b="1" spc="-10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5" dirty="0">
                <a:latin typeface="Arial"/>
                <a:cs typeface="Arial"/>
              </a:rPr>
              <a:t>6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22</a:t>
            </a:r>
            <a:endParaRPr sz="2000">
              <a:latin typeface="Arial"/>
              <a:cs typeface="Arial"/>
            </a:endParaRPr>
          </a:p>
          <a:p>
            <a:pPr marR="327025" algn="r">
              <a:lnSpc>
                <a:spcPct val="100000"/>
              </a:lnSpc>
              <a:spcBef>
                <a:spcPts val="1155"/>
              </a:spcBef>
              <a:tabLst>
                <a:tab pos="1499235" algn="l"/>
                <a:tab pos="4406900" algn="l"/>
              </a:tabLst>
            </a:pPr>
            <a:r>
              <a:rPr sz="2000" b="1" spc="-10" dirty="0">
                <a:latin typeface="Arial"/>
                <a:cs typeface="Arial"/>
              </a:rPr>
              <a:t>2</a:t>
            </a:r>
            <a:r>
              <a:rPr sz="2000" b="1" spc="-5" dirty="0">
                <a:latin typeface="Arial"/>
                <a:cs typeface="Arial"/>
              </a:rPr>
              <a:t>8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10</a:t>
            </a:r>
            <a:r>
              <a:rPr sz="2000" b="1" spc="-5" dirty="0">
                <a:latin typeface="Arial"/>
                <a:cs typeface="Arial"/>
              </a:rPr>
              <a:t>3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48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25423" y="2328672"/>
            <a:ext cx="7720965" cy="3752215"/>
            <a:chOff x="725423" y="2328672"/>
            <a:chExt cx="7720965" cy="3752215"/>
          </a:xfrm>
        </p:grpSpPr>
        <p:sp>
          <p:nvSpPr>
            <p:cNvPr id="7" name="object 7"/>
            <p:cNvSpPr/>
            <p:nvPr/>
          </p:nvSpPr>
          <p:spPr>
            <a:xfrm>
              <a:off x="1097279" y="2602992"/>
              <a:ext cx="868680" cy="5760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5423" y="2877312"/>
              <a:ext cx="1542288" cy="5760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40536" y="3288791"/>
              <a:ext cx="515112" cy="5760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31391" y="3739896"/>
              <a:ext cx="530352" cy="57607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1391" y="4184904"/>
              <a:ext cx="530352" cy="5760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31391" y="4617720"/>
              <a:ext cx="530352" cy="57607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31391" y="5053583"/>
              <a:ext cx="530352" cy="57607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654807" y="2328672"/>
              <a:ext cx="1569720" cy="5760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62784" y="2602992"/>
              <a:ext cx="1956816" cy="57607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35223" y="2877312"/>
              <a:ext cx="932688" cy="5760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18688" y="3288791"/>
              <a:ext cx="487679" cy="57607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18688" y="3739896"/>
              <a:ext cx="487679" cy="57607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18688" y="4184904"/>
              <a:ext cx="487679" cy="57607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18688" y="4617720"/>
              <a:ext cx="487679" cy="5760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18688" y="5053583"/>
              <a:ext cx="487679" cy="57607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78479" y="5504688"/>
              <a:ext cx="627888" cy="57607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62856" y="2602992"/>
              <a:ext cx="996696" cy="57607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59808" y="2877312"/>
              <a:ext cx="932688" cy="57607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93079" y="2602992"/>
              <a:ext cx="1420368" cy="57607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18632" y="2877312"/>
              <a:ext cx="896112" cy="57607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324343" y="2602992"/>
              <a:ext cx="868679" cy="57607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01256" y="2877312"/>
              <a:ext cx="1444752" cy="57607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58512" y="3288791"/>
              <a:ext cx="487679" cy="57607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46647" y="3288791"/>
              <a:ext cx="627888" cy="57607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23047" y="3288791"/>
              <a:ext cx="487679" cy="57607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718303" y="3739896"/>
              <a:ext cx="627888" cy="576071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46647" y="3739896"/>
              <a:ext cx="627888" cy="576071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23047" y="3739896"/>
              <a:ext cx="487679" cy="576071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18303" y="4184904"/>
              <a:ext cx="627888" cy="576072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86856" y="4184904"/>
              <a:ext cx="487679" cy="57607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482840" y="4184904"/>
              <a:ext cx="627888" cy="576072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18303" y="4617720"/>
              <a:ext cx="627888" cy="576071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946647" y="4617720"/>
              <a:ext cx="627888" cy="576071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498080" y="4617720"/>
              <a:ext cx="612648" cy="576071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18303" y="5053583"/>
              <a:ext cx="627888" cy="576071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086856" y="5053583"/>
              <a:ext cx="487679" cy="576071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82840" y="5053583"/>
              <a:ext cx="627888" cy="576071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78095" y="5504688"/>
              <a:ext cx="768096" cy="576072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482840" y="5504688"/>
              <a:ext cx="627888" cy="576072"/>
            </a:xfrm>
            <a:prstGeom prst="rect">
              <a:avLst/>
            </a:prstGeom>
            <a:blipFill>
              <a:blip r:embed="rId3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36193" y="1610994"/>
            <a:ext cx="42430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80" dirty="0">
                <a:latin typeface="Arial"/>
                <a:cs typeface="Arial"/>
              </a:rPr>
              <a:t>LPT: </a:t>
            </a:r>
            <a:r>
              <a:rPr sz="2800" dirty="0">
                <a:latin typeface="Arial"/>
                <a:cs typeface="Arial"/>
              </a:rPr>
              <a:t>Sequence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E-C-A-D-B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41185" y="2456497"/>
            <a:ext cx="8467725" cy="3438525"/>
            <a:chOff x="341185" y="2456497"/>
            <a:chExt cx="8467725" cy="3438525"/>
          </a:xfrm>
        </p:grpSpPr>
        <p:sp>
          <p:nvSpPr>
            <p:cNvPr id="48" name="object 48"/>
            <p:cNvSpPr/>
            <p:nvPr/>
          </p:nvSpPr>
          <p:spPr>
            <a:xfrm>
              <a:off x="345947" y="2461260"/>
              <a:ext cx="8458200" cy="3429000"/>
            </a:xfrm>
            <a:custGeom>
              <a:avLst/>
              <a:gdLst/>
              <a:ahLst/>
              <a:cxnLst/>
              <a:rect l="l" t="t" r="r" b="b"/>
              <a:pathLst>
                <a:path w="8458200" h="3429000">
                  <a:moveTo>
                    <a:pt x="84582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8458200" y="342900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5947" y="2461260"/>
              <a:ext cx="8458200" cy="3429000"/>
            </a:xfrm>
            <a:custGeom>
              <a:avLst/>
              <a:gdLst/>
              <a:ahLst/>
              <a:cxnLst/>
              <a:rect l="l" t="t" r="r" b="b"/>
              <a:pathLst>
                <a:path w="8458200" h="3429000">
                  <a:moveTo>
                    <a:pt x="0" y="3429000"/>
                  </a:moveTo>
                  <a:lnTo>
                    <a:pt x="8458200" y="3429000"/>
                  </a:lnTo>
                  <a:lnTo>
                    <a:pt x="8458200" y="0"/>
                  </a:lnTo>
                  <a:lnTo>
                    <a:pt x="0" y="0"/>
                  </a:lnTo>
                  <a:lnTo>
                    <a:pt x="0" y="3429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67868" y="2816098"/>
            <a:ext cx="817753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00" b="1" i="1" spc="-10" dirty="0">
                <a:latin typeface="Arial"/>
                <a:cs typeface="Arial"/>
              </a:rPr>
              <a:t>Average </a:t>
            </a:r>
            <a:r>
              <a:rPr sz="2000" b="1" i="1" spc="-5" dirty="0">
                <a:latin typeface="Arial"/>
                <a:cs typeface="Arial"/>
              </a:rPr>
              <a:t>completion time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700" b="1" i="1" baseline="44753" dirty="0">
                <a:latin typeface="Arial"/>
                <a:cs typeface="Arial"/>
              </a:rPr>
              <a:t>Sum of total flow time </a:t>
            </a:r>
            <a:r>
              <a:rPr sz="2000" b="1" spc="-5" dirty="0">
                <a:latin typeface="Arial"/>
                <a:cs typeface="Arial"/>
              </a:rPr>
              <a:t>= 103/5 = 20.6</a:t>
            </a:r>
            <a:r>
              <a:rPr sz="2000" b="1" spc="-415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days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184396" y="2960623"/>
            <a:ext cx="1702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Number of</a:t>
            </a:r>
            <a:r>
              <a:rPr sz="1800" b="1" i="1" spc="-10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jobs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076955" y="2994660"/>
            <a:ext cx="3161030" cy="814069"/>
          </a:xfrm>
          <a:custGeom>
            <a:avLst/>
            <a:gdLst/>
            <a:ahLst/>
            <a:cxnLst/>
            <a:rect l="l" t="t" r="r" b="b"/>
            <a:pathLst>
              <a:path w="3161029" h="814070">
                <a:moveTo>
                  <a:pt x="3160776" y="0"/>
                </a:moveTo>
                <a:lnTo>
                  <a:pt x="771144" y="0"/>
                </a:lnTo>
              </a:path>
              <a:path w="3161029" h="814070">
                <a:moveTo>
                  <a:pt x="0" y="813815"/>
                </a:moveTo>
                <a:lnTo>
                  <a:pt x="2395728" y="813815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85571" y="4525213"/>
            <a:ext cx="22345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spc="-5" dirty="0">
                <a:latin typeface="Arial"/>
                <a:cs typeface="Arial"/>
              </a:rPr>
              <a:t>jobs in the</a:t>
            </a:r>
            <a:r>
              <a:rPr sz="2000" b="1" i="1" spc="-55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system</a:t>
            </a:r>
            <a:endParaRPr sz="2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47471" y="3462273"/>
            <a:ext cx="7616825" cy="1109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5550">
              <a:lnSpc>
                <a:spcPts val="1795"/>
              </a:lnSpc>
              <a:spcBef>
                <a:spcPts val="100"/>
              </a:spcBef>
            </a:pP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job </a:t>
            </a:r>
            <a:r>
              <a:rPr sz="1800" b="1" i="1" spc="-5" dirty="0">
                <a:latin typeface="Arial"/>
                <a:cs typeface="Arial"/>
              </a:rPr>
              <a:t>work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  <a:p>
            <a:pPr marL="31750" algn="ctr">
              <a:lnSpc>
                <a:spcPts val="2035"/>
              </a:lnSpc>
            </a:pPr>
            <a:r>
              <a:rPr sz="2000" b="1" i="1" spc="-5" dirty="0">
                <a:latin typeface="Arial"/>
                <a:cs typeface="Arial"/>
              </a:rPr>
              <a:t>Utilization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700" b="1" i="1" baseline="-23148" dirty="0">
                <a:latin typeface="Arial"/>
                <a:cs typeface="Arial"/>
              </a:rPr>
              <a:t>Sum of total flow time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28/103 </a:t>
            </a:r>
            <a:r>
              <a:rPr sz="2000" b="1" spc="-5" dirty="0">
                <a:latin typeface="Arial"/>
                <a:cs typeface="Arial"/>
              </a:rPr>
              <a:t>=</a:t>
            </a:r>
            <a:r>
              <a:rPr sz="2000" b="1" spc="5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27.2%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305"/>
              </a:spcBef>
            </a:pPr>
            <a:r>
              <a:rPr sz="3000" b="1" i="1" spc="-15" baseline="-5555" dirty="0">
                <a:latin typeface="Arial"/>
                <a:cs typeface="Arial"/>
              </a:rPr>
              <a:t>Average </a:t>
            </a:r>
            <a:r>
              <a:rPr sz="3000" b="1" i="1" spc="-7" baseline="-5555" dirty="0">
                <a:latin typeface="Arial"/>
                <a:cs typeface="Arial"/>
              </a:rPr>
              <a:t>number of </a:t>
            </a:r>
            <a:r>
              <a:rPr sz="3000" b="1" spc="-7" baseline="-38888" dirty="0">
                <a:latin typeface="Arial"/>
                <a:cs typeface="Arial"/>
              </a:rPr>
              <a:t>=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i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Sum </a:t>
            </a:r>
            <a:r>
              <a:rPr sz="1800" b="1" i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 total flow time</a:t>
            </a:r>
            <a:r>
              <a:rPr sz="1800" b="1" i="1" dirty="0">
                <a:latin typeface="Arial"/>
                <a:cs typeface="Arial"/>
              </a:rPr>
              <a:t> </a:t>
            </a:r>
            <a:r>
              <a:rPr sz="3000" b="1" spc="-7" baseline="-38888" dirty="0">
                <a:latin typeface="Arial"/>
                <a:cs typeface="Arial"/>
              </a:rPr>
              <a:t>= </a:t>
            </a:r>
            <a:r>
              <a:rPr sz="3000" b="1" spc="-15" baseline="-38888" dirty="0">
                <a:latin typeface="Arial"/>
                <a:cs typeface="Arial"/>
              </a:rPr>
              <a:t>103/28 </a:t>
            </a:r>
            <a:r>
              <a:rPr sz="3000" b="1" spc="-7" baseline="-38888" dirty="0">
                <a:latin typeface="Arial"/>
                <a:cs typeface="Arial"/>
              </a:rPr>
              <a:t>= </a:t>
            </a:r>
            <a:r>
              <a:rPr sz="3000" b="1" spc="-15" baseline="-38888" dirty="0">
                <a:latin typeface="Arial"/>
                <a:cs typeface="Arial"/>
              </a:rPr>
              <a:t>3.68</a:t>
            </a:r>
            <a:r>
              <a:rPr sz="3000" b="1" spc="555" baseline="-38888" dirty="0">
                <a:latin typeface="Arial"/>
                <a:cs typeface="Arial"/>
              </a:rPr>
              <a:t> </a:t>
            </a:r>
            <a:r>
              <a:rPr sz="3000" b="1" i="1" spc="-7" baseline="-38888" dirty="0">
                <a:latin typeface="Arial"/>
                <a:cs typeface="Arial"/>
              </a:rPr>
              <a:t>jobs</a:t>
            </a:r>
            <a:endParaRPr sz="3000" baseline="-38888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612896" y="4569332"/>
            <a:ext cx="2099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job </a:t>
            </a:r>
            <a:r>
              <a:rPr sz="1800" b="1" i="1" spc="-5" dirty="0">
                <a:latin typeface="Arial"/>
                <a:cs typeface="Arial"/>
              </a:rPr>
              <a:t>work</a:t>
            </a:r>
            <a:r>
              <a:rPr sz="1800" b="1" i="1" spc="-7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time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45844" y="5255209"/>
            <a:ext cx="27838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spc="-5" dirty="0">
                <a:latin typeface="Arial"/>
                <a:cs typeface="Arial"/>
              </a:rPr>
              <a:t>Average job lateness</a:t>
            </a:r>
            <a:r>
              <a:rPr sz="2000" b="1" i="1" spc="-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=</a:t>
            </a:r>
            <a:endParaRPr sz="20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929114" y="5255209"/>
            <a:ext cx="2025014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48/5 </a:t>
            </a:r>
            <a:r>
              <a:rPr sz="2000" b="1" spc="-5" dirty="0">
                <a:latin typeface="Arial"/>
                <a:cs typeface="Arial"/>
              </a:rPr>
              <a:t>= </a:t>
            </a:r>
            <a:r>
              <a:rPr sz="2000" b="1" spc="-10" dirty="0">
                <a:latin typeface="Arial"/>
                <a:cs typeface="Arial"/>
              </a:rPr>
              <a:t>9.6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i="1" spc="-5" dirty="0">
                <a:latin typeface="Arial"/>
                <a:cs typeface="Arial"/>
              </a:rPr>
              <a:t>days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098797" y="5044667"/>
            <a:ext cx="1702435" cy="6299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320"/>
              </a:spcBef>
            </a:pPr>
            <a:r>
              <a:rPr sz="1800" b="1" i="1" spc="-15" dirty="0">
                <a:latin typeface="Arial"/>
                <a:cs typeface="Arial"/>
              </a:rPr>
              <a:t>Total </a:t>
            </a:r>
            <a:r>
              <a:rPr sz="1800" b="1" i="1" dirty="0">
                <a:latin typeface="Arial"/>
                <a:cs typeface="Arial"/>
              </a:rPr>
              <a:t>late</a:t>
            </a:r>
            <a:r>
              <a:rPr sz="1800" b="1" i="1" spc="-7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days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i="1" dirty="0">
                <a:latin typeface="Arial"/>
                <a:cs typeface="Arial"/>
              </a:rPr>
              <a:t>Number of</a:t>
            </a:r>
            <a:r>
              <a:rPr sz="1800" b="1" i="1" spc="-10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jobs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4046220" y="5420867"/>
            <a:ext cx="1807845" cy="0"/>
          </a:xfrm>
          <a:custGeom>
            <a:avLst/>
            <a:gdLst/>
            <a:ahLst/>
            <a:cxnLst/>
            <a:rect l="l" t="t" r="r" b="b"/>
            <a:pathLst>
              <a:path w="1807845">
                <a:moveTo>
                  <a:pt x="0" y="0"/>
                </a:moveTo>
                <a:lnTo>
                  <a:pt x="1807464" y="0"/>
                </a:lnTo>
              </a:path>
            </a:pathLst>
          </a:custGeom>
          <a:ln w="274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0" name="object 60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61" name="object 61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64" name="object 64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32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323" y="510540"/>
            <a:ext cx="7772400" cy="9271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sz="4400" spc="-5" dirty="0"/>
              <a:t>Sequencing</a:t>
            </a:r>
            <a:r>
              <a:rPr sz="4400" spc="20" dirty="0"/>
              <a:t> </a:t>
            </a:r>
            <a:r>
              <a:rPr sz="4400" spc="-5" dirty="0"/>
              <a:t>Example</a:t>
            </a:r>
            <a:endParaRPr sz="440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85800" y="2644355"/>
          <a:ext cx="7771765" cy="2945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5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6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7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1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798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98755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sz="2000" i="1" spc="-10" dirty="0">
                          <a:latin typeface="Arial"/>
                          <a:cs typeface="Arial"/>
                        </a:rPr>
                        <a:t>Rule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172085" marR="179070" indent="6985" algn="ctr">
                        <a:lnSpc>
                          <a:spcPts val="2160"/>
                        </a:lnSpc>
                        <a:spcBef>
                          <a:spcPts val="75"/>
                        </a:spcBef>
                      </a:pPr>
                      <a:r>
                        <a:rPr sz="2000" i="1" spc="-15" dirty="0">
                          <a:latin typeface="Arial"/>
                          <a:cs typeface="Arial"/>
                        </a:rPr>
                        <a:t>Average  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Completion  </a:t>
                      </a:r>
                      <a:r>
                        <a:rPr sz="2000" i="1" spc="-15" dirty="0">
                          <a:latin typeface="Arial"/>
                          <a:cs typeface="Arial"/>
                        </a:rPr>
                        <a:t>Time</a:t>
                      </a:r>
                      <a:r>
                        <a:rPr sz="200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(Days)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i="1" spc="-10" dirty="0">
                          <a:latin typeface="Arial"/>
                          <a:cs typeface="Arial"/>
                        </a:rPr>
                        <a:t>Utilization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21590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(%)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205740">
                        <a:lnSpc>
                          <a:spcPts val="2280"/>
                        </a:lnSpc>
                        <a:spcBef>
                          <a:spcPts val="1960"/>
                        </a:spcBef>
                      </a:pPr>
                      <a:r>
                        <a:rPr sz="2000" i="1" spc="-15" dirty="0">
                          <a:latin typeface="Arial"/>
                          <a:cs typeface="Arial"/>
                        </a:rPr>
                        <a:t>Average</a:t>
                      </a:r>
                      <a:r>
                        <a:rPr sz="2000" i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Number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160020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of Jobs 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in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System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153035" marR="162560" indent="45720" algn="just">
                        <a:lnSpc>
                          <a:spcPts val="2160"/>
                        </a:lnSpc>
                        <a:spcBef>
                          <a:spcPts val="75"/>
                        </a:spcBef>
                      </a:pPr>
                      <a:r>
                        <a:rPr sz="2000" i="1" spc="-15" dirty="0">
                          <a:latin typeface="Arial"/>
                          <a:cs typeface="Arial"/>
                        </a:rPr>
                        <a:t>Average  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Lat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ne</a:t>
                      </a:r>
                      <a:r>
                        <a:rPr sz="2000" i="1" spc="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s 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(Days)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1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FCFS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604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15.4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604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450850" algn="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604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2.75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604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49212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2.2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604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11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000" i="1" spc="-20" dirty="0">
                          <a:latin typeface="Arial"/>
                          <a:cs typeface="Arial"/>
                        </a:rPr>
                        <a:t>SPT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1303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13.0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1303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450215" algn="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1303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2.32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1303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49212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1.8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1303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8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i="1" spc="-10" dirty="0">
                          <a:latin typeface="Arial"/>
                          <a:cs typeface="Arial"/>
                        </a:rPr>
                        <a:t>EDD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13.6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45085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2.43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49212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1.2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56">
                <a:tc>
                  <a:txBody>
                    <a:bodyPr/>
                    <a:lstStyle/>
                    <a:p>
                      <a:pPr marL="91440">
                        <a:lnSpc>
                          <a:spcPts val="2325"/>
                        </a:lnSpc>
                        <a:spcBef>
                          <a:spcPts val="815"/>
                        </a:spcBef>
                      </a:pPr>
                      <a:r>
                        <a:rPr sz="2000" i="1" spc="-15" dirty="0">
                          <a:latin typeface="Arial"/>
                          <a:cs typeface="Arial"/>
                        </a:rPr>
                        <a:t>LPT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25"/>
                        </a:lnSpc>
                        <a:spcBef>
                          <a:spcPts val="81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20.6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450215" algn="r">
                        <a:lnSpc>
                          <a:spcPts val="2325"/>
                        </a:lnSpc>
                        <a:spcBef>
                          <a:spcPts val="81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.2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325"/>
                        </a:lnSpc>
                        <a:spcBef>
                          <a:spcPts val="81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3.68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492125">
                        <a:lnSpc>
                          <a:spcPts val="2325"/>
                        </a:lnSpc>
                        <a:spcBef>
                          <a:spcPts val="815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9.6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3505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825195" y="1750263"/>
            <a:ext cx="295338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latin typeface="Arial"/>
                <a:cs typeface="Arial"/>
              </a:rPr>
              <a:t>Summary of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Rules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8" name="object 8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11" name="object 11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33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323" y="446531"/>
            <a:ext cx="7772400" cy="13716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1462405" marR="1459230" indent="450850">
              <a:lnSpc>
                <a:spcPts val="4230"/>
              </a:lnSpc>
              <a:spcBef>
                <a:spcPts val="994"/>
              </a:spcBef>
            </a:pPr>
            <a:r>
              <a:rPr sz="4400" spc="-5" dirty="0"/>
              <a:t>Comparison of  Sequencing</a:t>
            </a:r>
            <a:r>
              <a:rPr sz="4400" spc="-50" dirty="0"/>
              <a:t> </a:t>
            </a:r>
            <a:r>
              <a:rPr sz="4400" spc="-5" dirty="0"/>
              <a:t>Rules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902919" y="2336165"/>
            <a:ext cx="6496685" cy="9042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494030" algn="l"/>
              </a:tabLst>
            </a:pPr>
            <a:r>
              <a:rPr sz="2400" dirty="0">
                <a:latin typeface="Wingdings"/>
                <a:cs typeface="Wingdings"/>
              </a:rPr>
              <a:t>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Arial"/>
                <a:cs typeface="Arial"/>
              </a:rPr>
              <a:t>No </a:t>
            </a:r>
            <a:r>
              <a:rPr sz="2400" dirty="0">
                <a:latin typeface="Arial"/>
                <a:cs typeface="Arial"/>
              </a:rPr>
              <a:t>one sequencing </a:t>
            </a:r>
            <a:r>
              <a:rPr sz="2400" spc="-5" dirty="0">
                <a:latin typeface="Arial"/>
                <a:cs typeface="Arial"/>
              </a:rPr>
              <a:t>rule excels </a:t>
            </a:r>
            <a:r>
              <a:rPr sz="2400" dirty="0">
                <a:latin typeface="Arial"/>
                <a:cs typeface="Arial"/>
              </a:rPr>
              <a:t>on all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criteria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Wingdings"/>
                <a:cs typeface="Wingdings"/>
              </a:rPr>
              <a:t>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4808" y="2848736"/>
            <a:ext cx="68173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9310" algn="l"/>
                <a:tab pos="1722755" algn="l"/>
                <a:tab pos="2475865" algn="l"/>
                <a:tab pos="3042920" algn="l"/>
                <a:tab pos="4713605" algn="l"/>
                <a:tab pos="5488305" algn="l"/>
                <a:tab pos="6296660" algn="l"/>
              </a:tabLst>
            </a:pPr>
            <a:r>
              <a:rPr sz="2400" dirty="0">
                <a:latin typeface="Arial"/>
                <a:cs typeface="Arial"/>
              </a:rPr>
              <a:t>S</a:t>
            </a:r>
            <a:r>
              <a:rPr sz="2400" spc="-20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T	doe</a:t>
            </a:r>
            <a:r>
              <a:rPr sz="2400" spc="-5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5" dirty="0">
                <a:latin typeface="Arial"/>
                <a:cs typeface="Arial"/>
              </a:rPr>
              <a:t>w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-5" dirty="0">
                <a:latin typeface="Arial"/>
                <a:cs typeface="Arial"/>
              </a:rPr>
              <a:t>ll</a:t>
            </a:r>
            <a:r>
              <a:rPr sz="2400" dirty="0">
                <a:latin typeface="Arial"/>
                <a:cs typeface="Arial"/>
              </a:rPr>
              <a:t>	o</a:t>
            </a:r>
            <a:r>
              <a:rPr sz="2400" spc="-5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10" dirty="0">
                <a:latin typeface="Arial"/>
                <a:cs typeface="Arial"/>
              </a:rPr>
              <a:t>m</a:t>
            </a:r>
            <a:r>
              <a:rPr sz="2400" spc="-5" dirty="0">
                <a:latin typeface="Arial"/>
                <a:cs typeface="Arial"/>
              </a:rPr>
              <a:t>ini</a:t>
            </a:r>
            <a:r>
              <a:rPr sz="2400" spc="5" dirty="0">
                <a:latin typeface="Arial"/>
                <a:cs typeface="Arial"/>
              </a:rPr>
              <a:t>m</a:t>
            </a:r>
            <a:r>
              <a:rPr sz="2400" spc="-5" dirty="0">
                <a:latin typeface="Arial"/>
                <a:cs typeface="Arial"/>
              </a:rPr>
              <a:t>i</a:t>
            </a:r>
            <a:r>
              <a:rPr sz="2400" spc="-35" dirty="0">
                <a:latin typeface="Arial"/>
                <a:cs typeface="Arial"/>
              </a:rPr>
              <a:t>z</a:t>
            </a:r>
            <a:r>
              <a:rPr sz="2400" spc="-5" dirty="0">
                <a:latin typeface="Arial"/>
                <a:cs typeface="Arial"/>
              </a:rPr>
              <a:t>ing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25" dirty="0">
                <a:latin typeface="Arial"/>
                <a:cs typeface="Arial"/>
              </a:rPr>
              <a:t>f</a:t>
            </a:r>
            <a:r>
              <a:rPr sz="2400" spc="-5" dirty="0">
                <a:latin typeface="Arial"/>
                <a:cs typeface="Arial"/>
              </a:rPr>
              <a:t>low</a:t>
            </a:r>
            <a:r>
              <a:rPr sz="2400" dirty="0">
                <a:latin typeface="Arial"/>
                <a:cs typeface="Arial"/>
              </a:rPr>
              <a:t>	ti</a:t>
            </a:r>
            <a:r>
              <a:rPr sz="2400" spc="10" dirty="0">
                <a:latin typeface="Arial"/>
                <a:cs typeface="Arial"/>
              </a:rPr>
              <a:t>m</a:t>
            </a:r>
            <a:r>
              <a:rPr sz="2400" spc="-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a</a:t>
            </a:r>
            <a:r>
              <a:rPr sz="2400" spc="-20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919" y="3104388"/>
            <a:ext cx="7303134" cy="24409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9403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Arial"/>
                <a:cs typeface="Arial"/>
              </a:rPr>
              <a:t>number of jobs </a:t>
            </a:r>
            <a:r>
              <a:rPr sz="2400" spc="-5" dirty="0">
                <a:latin typeface="Arial"/>
                <a:cs typeface="Arial"/>
              </a:rPr>
              <a:t>in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system</a:t>
            </a:r>
            <a:endParaRPr sz="2400">
              <a:latin typeface="Arial"/>
              <a:cs typeface="Arial"/>
            </a:endParaRPr>
          </a:p>
          <a:p>
            <a:pPr marL="494030" marR="5080" indent="-481965">
              <a:lnSpc>
                <a:spcPts val="2590"/>
              </a:lnSpc>
              <a:spcBef>
                <a:spcPts val="910"/>
              </a:spcBef>
              <a:buFont typeface="Wingdings"/>
              <a:buChar char=""/>
              <a:tabLst>
                <a:tab pos="494030" algn="l"/>
                <a:tab pos="494665" algn="l"/>
                <a:tab pos="1082675" algn="l"/>
                <a:tab pos="2826385" algn="l"/>
                <a:tab pos="3533775" algn="l"/>
                <a:tab pos="4225925" algn="l"/>
                <a:tab pos="4606925" algn="l"/>
                <a:tab pos="5161915" algn="l"/>
                <a:tab pos="5802630" algn="l"/>
                <a:tab pos="6711315" algn="l"/>
              </a:tabLst>
            </a:pPr>
            <a:r>
              <a:rPr sz="2400" dirty="0">
                <a:latin typeface="Arial"/>
                <a:cs typeface="Arial"/>
              </a:rPr>
              <a:t>But	</a:t>
            </a:r>
            <a:r>
              <a:rPr sz="2400" spc="5" dirty="0">
                <a:latin typeface="Arial"/>
                <a:cs typeface="Arial"/>
              </a:rPr>
              <a:t>S</a:t>
            </a:r>
            <a:r>
              <a:rPr sz="2400" spc="-15" dirty="0">
                <a:latin typeface="Arial"/>
                <a:cs typeface="Arial"/>
              </a:rPr>
              <a:t>P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3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mo</a:t>
            </a:r>
            <a:r>
              <a:rPr sz="2400" spc="-20" dirty="0">
                <a:latin typeface="Arial"/>
                <a:cs typeface="Arial"/>
              </a:rPr>
              <a:t>v</a:t>
            </a:r>
            <a:r>
              <a:rPr sz="2400" dirty="0">
                <a:latin typeface="Arial"/>
                <a:cs typeface="Arial"/>
              </a:rPr>
              <a:t>es	</a:t>
            </a:r>
            <a:r>
              <a:rPr sz="2400" spc="-5" dirty="0">
                <a:latin typeface="Arial"/>
                <a:cs typeface="Arial"/>
              </a:rPr>
              <a:t>lo</a:t>
            </a:r>
            <a:r>
              <a:rPr sz="2400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g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jo</a:t>
            </a:r>
            <a:r>
              <a:rPr sz="2400" spc="5" dirty="0">
                <a:latin typeface="Arial"/>
                <a:cs typeface="Arial"/>
              </a:rPr>
              <a:t>b</a:t>
            </a:r>
            <a:r>
              <a:rPr sz="2400" dirty="0">
                <a:latin typeface="Arial"/>
                <a:cs typeface="Arial"/>
              </a:rPr>
              <a:t>s	</a:t>
            </a:r>
            <a:r>
              <a:rPr sz="2400" spc="-20" dirty="0">
                <a:latin typeface="Arial"/>
                <a:cs typeface="Arial"/>
              </a:rPr>
              <a:t>t</a:t>
            </a:r>
            <a:r>
              <a:rPr sz="2400" dirty="0">
                <a:latin typeface="Arial"/>
                <a:cs typeface="Arial"/>
              </a:rPr>
              <a:t>o	t</a:t>
            </a:r>
            <a:r>
              <a:rPr sz="2400" spc="15" dirty="0">
                <a:latin typeface="Arial"/>
                <a:cs typeface="Arial"/>
              </a:rPr>
              <a:t>h</a:t>
            </a:r>
            <a:r>
              <a:rPr sz="2400" spc="-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e</a:t>
            </a:r>
            <a:r>
              <a:rPr sz="2400" spc="-20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d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5" dirty="0">
                <a:latin typeface="Arial"/>
                <a:cs typeface="Arial"/>
              </a:rPr>
              <a:t>w</a:t>
            </a:r>
            <a:r>
              <a:rPr sz="2400" dirty="0">
                <a:latin typeface="Arial"/>
                <a:cs typeface="Arial"/>
              </a:rPr>
              <a:t>h</a:t>
            </a:r>
            <a:r>
              <a:rPr sz="2400" spc="-5" dirty="0">
                <a:latin typeface="Arial"/>
                <a:cs typeface="Arial"/>
              </a:rPr>
              <a:t>ich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10" dirty="0">
                <a:latin typeface="Arial"/>
                <a:cs typeface="Arial"/>
              </a:rPr>
              <a:t>m</a:t>
            </a:r>
            <a:r>
              <a:rPr sz="2400" dirty="0">
                <a:latin typeface="Arial"/>
                <a:cs typeface="Arial"/>
              </a:rPr>
              <a:t>ay  </a:t>
            </a:r>
            <a:r>
              <a:rPr sz="2400" spc="-5" dirty="0">
                <a:latin typeface="Arial"/>
                <a:cs typeface="Arial"/>
              </a:rPr>
              <a:t>result in </a:t>
            </a:r>
            <a:r>
              <a:rPr sz="2400" dirty="0">
                <a:latin typeface="Arial"/>
                <a:cs typeface="Arial"/>
              </a:rPr>
              <a:t>dissatisfied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customers</a:t>
            </a:r>
            <a:endParaRPr sz="2400">
              <a:latin typeface="Arial"/>
              <a:cs typeface="Arial"/>
            </a:endParaRPr>
          </a:p>
          <a:p>
            <a:pPr marL="494030" marR="10160" indent="-481965">
              <a:lnSpc>
                <a:spcPts val="2590"/>
              </a:lnSpc>
              <a:spcBef>
                <a:spcPts val="869"/>
              </a:spcBef>
              <a:buFont typeface="Wingdings"/>
              <a:buChar char=""/>
              <a:tabLst>
                <a:tab pos="494030" algn="l"/>
                <a:tab pos="494665" algn="l"/>
                <a:tab pos="1424305" algn="l"/>
                <a:tab pos="2216785" algn="l"/>
                <a:tab pos="2774950" algn="l"/>
                <a:tab pos="3244215" algn="l"/>
                <a:tab pos="4717415" algn="l"/>
                <a:tab pos="5375275" algn="l"/>
                <a:tab pos="5882005" algn="l"/>
                <a:tab pos="6943090" algn="l"/>
              </a:tabLst>
            </a:pPr>
            <a:r>
              <a:rPr sz="2400" dirty="0">
                <a:latin typeface="Arial"/>
                <a:cs typeface="Arial"/>
              </a:rPr>
              <a:t>F</a:t>
            </a:r>
            <a:r>
              <a:rPr sz="2400" spc="-10" dirty="0">
                <a:latin typeface="Arial"/>
                <a:cs typeface="Arial"/>
              </a:rPr>
              <a:t>C</a:t>
            </a:r>
            <a:r>
              <a:rPr sz="2400" dirty="0">
                <a:latin typeface="Arial"/>
                <a:cs typeface="Arial"/>
              </a:rPr>
              <a:t>FS	d</a:t>
            </a:r>
            <a:r>
              <a:rPr sz="2400" spc="-2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es	</a:t>
            </a:r>
            <a:r>
              <a:rPr sz="2400" spc="5" dirty="0">
                <a:latin typeface="Arial"/>
                <a:cs typeface="Arial"/>
              </a:rPr>
              <a:t>no</a:t>
            </a:r>
            <a:r>
              <a:rPr sz="2400" dirty="0">
                <a:latin typeface="Arial"/>
                <a:cs typeface="Arial"/>
              </a:rPr>
              <a:t>t	</a:t>
            </a:r>
            <a:r>
              <a:rPr sz="2400" spc="-20" dirty="0">
                <a:latin typeface="Arial"/>
                <a:cs typeface="Arial"/>
              </a:rPr>
              <a:t>d</a:t>
            </a:r>
            <a:r>
              <a:rPr sz="2400" spc="-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	e</a:t>
            </a:r>
            <a:r>
              <a:rPr sz="2400" spc="-25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pe</a:t>
            </a:r>
            <a:r>
              <a:rPr sz="2400" spc="-5" dirty="0">
                <a:latin typeface="Arial"/>
                <a:cs typeface="Arial"/>
              </a:rPr>
              <a:t>cially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5" dirty="0">
                <a:latin typeface="Arial"/>
                <a:cs typeface="Arial"/>
              </a:rPr>
              <a:t>w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10" dirty="0">
                <a:latin typeface="Arial"/>
                <a:cs typeface="Arial"/>
              </a:rPr>
              <a:t>l</a:t>
            </a:r>
            <a:r>
              <a:rPr sz="2400" spc="-5" dirty="0">
                <a:latin typeface="Arial"/>
                <a:cs typeface="Arial"/>
              </a:rPr>
              <a:t>l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(or</a:t>
            </a:r>
            <a:r>
              <a:rPr sz="2400" dirty="0">
                <a:latin typeface="Arial"/>
                <a:cs typeface="Arial"/>
              </a:rPr>
              <a:t>	poo</a:t>
            </a:r>
            <a:r>
              <a:rPr sz="2400" spc="-5" dirty="0">
                <a:latin typeface="Arial"/>
                <a:cs typeface="Arial"/>
              </a:rPr>
              <a:t>r</a:t>
            </a:r>
            <a:r>
              <a:rPr sz="2400" spc="-45" dirty="0">
                <a:latin typeface="Arial"/>
                <a:cs typeface="Arial"/>
              </a:rPr>
              <a:t>l</a:t>
            </a:r>
            <a:r>
              <a:rPr sz="2400" spc="-25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)	on  any </a:t>
            </a:r>
            <a:r>
              <a:rPr sz="2400" spc="-5" dirty="0">
                <a:latin typeface="Arial"/>
                <a:cs typeface="Arial"/>
              </a:rPr>
              <a:t>criteria </a:t>
            </a:r>
            <a:r>
              <a:rPr sz="2400" dirty="0">
                <a:latin typeface="Arial"/>
                <a:cs typeface="Arial"/>
              </a:rPr>
              <a:t>but </a:t>
            </a:r>
            <a:r>
              <a:rPr sz="2400" spc="-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perceived as </a:t>
            </a:r>
            <a:r>
              <a:rPr sz="2400" spc="5" dirty="0">
                <a:latin typeface="Arial"/>
                <a:cs typeface="Arial"/>
              </a:rPr>
              <a:t>fair </a:t>
            </a:r>
            <a:r>
              <a:rPr sz="2400" dirty="0">
                <a:latin typeface="Arial"/>
                <a:cs typeface="Arial"/>
              </a:rPr>
              <a:t>by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customers</a:t>
            </a:r>
            <a:endParaRPr sz="2400">
              <a:latin typeface="Arial"/>
              <a:cs typeface="Arial"/>
            </a:endParaRPr>
          </a:p>
          <a:p>
            <a:pPr marL="494030" indent="-481965">
              <a:lnSpc>
                <a:spcPct val="100000"/>
              </a:lnSpc>
              <a:spcBef>
                <a:spcPts val="540"/>
              </a:spcBef>
              <a:buFont typeface="Wingdings"/>
              <a:buChar char=""/>
              <a:tabLst>
                <a:tab pos="494030" algn="l"/>
                <a:tab pos="494665" algn="l"/>
              </a:tabLst>
            </a:pPr>
            <a:r>
              <a:rPr sz="2400" spc="-5" dirty="0">
                <a:latin typeface="Arial"/>
                <a:cs typeface="Arial"/>
              </a:rPr>
              <a:t>EDD minimizes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lateness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9" name="object 9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12" name="object 12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38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323" y="586740"/>
            <a:ext cx="7772400" cy="1371600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370840" marR="248285" indent="-116205">
              <a:lnSpc>
                <a:spcPts val="4490"/>
              </a:lnSpc>
              <a:spcBef>
                <a:spcPts val="780"/>
              </a:spcBef>
              <a:tabLst>
                <a:tab pos="6435725" algn="l"/>
              </a:tabLst>
            </a:pPr>
            <a:r>
              <a:rPr sz="4400" spc="-5" dirty="0"/>
              <a:t>Seq</a:t>
            </a:r>
            <a:r>
              <a:rPr sz="4400" spc="5" dirty="0"/>
              <a:t>u</a:t>
            </a:r>
            <a:r>
              <a:rPr sz="4400" spc="-5" dirty="0"/>
              <a:t>en</a:t>
            </a:r>
            <a:r>
              <a:rPr sz="4400" spc="5" dirty="0"/>
              <a:t>c</a:t>
            </a:r>
            <a:r>
              <a:rPr sz="4400" spc="-5" dirty="0"/>
              <a:t>ing</a:t>
            </a:r>
            <a:r>
              <a:rPr sz="4400" spc="30" dirty="0"/>
              <a:t> </a:t>
            </a:r>
            <a:r>
              <a:rPr sz="4400" spc="-5" dirty="0"/>
              <a:t>N Jo</a:t>
            </a:r>
            <a:r>
              <a:rPr sz="4400" spc="5" dirty="0"/>
              <a:t>b</a:t>
            </a:r>
            <a:r>
              <a:rPr sz="4400" spc="-5" dirty="0"/>
              <a:t>s </a:t>
            </a:r>
            <a:r>
              <a:rPr sz="4400" dirty="0"/>
              <a:t>o</a:t>
            </a:r>
            <a:r>
              <a:rPr sz="4400" spc="-5" dirty="0"/>
              <a:t>n</a:t>
            </a:r>
            <a:r>
              <a:rPr sz="4400" dirty="0"/>
              <a:t>	</a:t>
            </a:r>
            <a:r>
              <a:rPr sz="4400" spc="-330" dirty="0"/>
              <a:t>T</a:t>
            </a:r>
            <a:r>
              <a:rPr sz="4400" spc="30" dirty="0"/>
              <a:t>w</a:t>
            </a:r>
            <a:r>
              <a:rPr sz="4400" spc="-5" dirty="0"/>
              <a:t>o  Machines: </a:t>
            </a:r>
            <a:r>
              <a:rPr sz="4400" spc="-20" dirty="0"/>
              <a:t>Johnson’s </a:t>
            </a:r>
            <a:r>
              <a:rPr sz="4400" spc="-5" dirty="0"/>
              <a:t>Rule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772769" y="2482672"/>
            <a:ext cx="7600315" cy="246443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94030" marR="5080" indent="-481965" algn="just">
              <a:lnSpc>
                <a:spcPts val="3460"/>
              </a:lnSpc>
              <a:spcBef>
                <a:spcPts val="525"/>
              </a:spcBef>
              <a:buFont typeface="Wingdings"/>
              <a:buChar char=""/>
              <a:tabLst>
                <a:tab pos="494665" algn="l"/>
              </a:tabLst>
            </a:pPr>
            <a:r>
              <a:rPr sz="3200" spc="-15" dirty="0">
                <a:latin typeface="Arial"/>
                <a:cs typeface="Arial"/>
              </a:rPr>
              <a:t>Works </a:t>
            </a:r>
            <a:r>
              <a:rPr sz="3200" spc="-10" dirty="0">
                <a:latin typeface="Arial"/>
                <a:cs typeface="Arial"/>
              </a:rPr>
              <a:t>with two or </a:t>
            </a:r>
            <a:r>
              <a:rPr sz="3200" spc="-5" dirty="0">
                <a:latin typeface="Arial"/>
                <a:cs typeface="Arial"/>
              </a:rPr>
              <a:t>more jobs that pass  through the </a:t>
            </a:r>
            <a:r>
              <a:rPr sz="3200" spc="-10" dirty="0">
                <a:latin typeface="Arial"/>
                <a:cs typeface="Arial"/>
              </a:rPr>
              <a:t>same </a:t>
            </a:r>
            <a:r>
              <a:rPr sz="3200" spc="-15" dirty="0">
                <a:latin typeface="Arial"/>
                <a:cs typeface="Arial"/>
              </a:rPr>
              <a:t>two </a:t>
            </a:r>
            <a:r>
              <a:rPr sz="3200" spc="-5" dirty="0">
                <a:latin typeface="Arial"/>
                <a:cs typeface="Arial"/>
              </a:rPr>
              <a:t>machines </a:t>
            </a:r>
            <a:r>
              <a:rPr sz="3200" spc="-10" dirty="0">
                <a:latin typeface="Arial"/>
                <a:cs typeface="Arial"/>
              </a:rPr>
              <a:t>or  </a:t>
            </a:r>
            <a:r>
              <a:rPr sz="3200" spc="-15" dirty="0">
                <a:latin typeface="Arial"/>
                <a:cs typeface="Arial"/>
              </a:rPr>
              <a:t>work</a:t>
            </a:r>
            <a:r>
              <a:rPr sz="3200" spc="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centers</a:t>
            </a:r>
            <a:endParaRPr sz="3200">
              <a:latin typeface="Arial"/>
              <a:cs typeface="Arial"/>
            </a:endParaRPr>
          </a:p>
          <a:p>
            <a:pPr marL="494030" marR="5715" indent="-481965" algn="just">
              <a:lnSpc>
                <a:spcPts val="3460"/>
              </a:lnSpc>
              <a:spcBef>
                <a:spcPts val="1530"/>
              </a:spcBef>
              <a:buFont typeface="Wingdings"/>
              <a:buChar char=""/>
              <a:tabLst>
                <a:tab pos="494665" algn="l"/>
              </a:tabLst>
            </a:pPr>
            <a:r>
              <a:rPr sz="3200" spc="-5" dirty="0">
                <a:latin typeface="Arial"/>
                <a:cs typeface="Arial"/>
              </a:rPr>
              <a:t>Minimizes total production </a:t>
            </a:r>
            <a:r>
              <a:rPr sz="3200" spc="-15" dirty="0">
                <a:latin typeface="Arial"/>
                <a:cs typeface="Arial"/>
              </a:rPr>
              <a:t>time </a:t>
            </a:r>
            <a:r>
              <a:rPr sz="3200" spc="-5" dirty="0">
                <a:latin typeface="Arial"/>
                <a:cs typeface="Arial"/>
              </a:rPr>
              <a:t>and  idle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time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7" name="object 7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10" name="object 10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39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323" y="559308"/>
            <a:ext cx="7772400" cy="902335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sz="4400" spc="-25" dirty="0"/>
              <a:t>Johnson’s</a:t>
            </a:r>
            <a:r>
              <a:rPr sz="4400" spc="-15" dirty="0"/>
              <a:t> </a:t>
            </a:r>
            <a:r>
              <a:rPr sz="4400" spc="-10" dirty="0"/>
              <a:t>Rule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715467" y="1636404"/>
            <a:ext cx="7715884" cy="416687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494030" indent="-481965" algn="just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494665" algn="l"/>
              </a:tabLst>
            </a:pPr>
            <a:r>
              <a:rPr sz="2800" dirty="0">
                <a:latin typeface="Arial"/>
                <a:cs typeface="Arial"/>
              </a:rPr>
              <a:t>List all jobs and times </a:t>
            </a:r>
            <a:r>
              <a:rPr sz="2800" spc="5" dirty="0">
                <a:latin typeface="Arial"/>
                <a:cs typeface="Arial"/>
              </a:rPr>
              <a:t>for each </a:t>
            </a:r>
            <a:r>
              <a:rPr sz="2800" spc="-5" dirty="0">
                <a:latin typeface="Arial"/>
                <a:cs typeface="Arial"/>
              </a:rPr>
              <a:t>work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center</a:t>
            </a:r>
            <a:endParaRPr sz="2800">
              <a:latin typeface="Arial"/>
              <a:cs typeface="Arial"/>
            </a:endParaRPr>
          </a:p>
          <a:p>
            <a:pPr marL="494030" marR="6350" indent="-481965" algn="just">
              <a:lnSpc>
                <a:spcPct val="90000"/>
              </a:lnSpc>
              <a:spcBef>
                <a:spcPts val="1345"/>
              </a:spcBef>
              <a:buAutoNum type="arabicPeriod"/>
              <a:tabLst>
                <a:tab pos="494665" algn="l"/>
              </a:tabLst>
            </a:pPr>
            <a:r>
              <a:rPr sz="2800" dirty="0">
                <a:latin typeface="Arial"/>
                <a:cs typeface="Arial"/>
              </a:rPr>
              <a:t>Choose </a:t>
            </a:r>
            <a:r>
              <a:rPr sz="2800" spc="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job </a:t>
            </a:r>
            <a:r>
              <a:rPr sz="2800" spc="-5" dirty="0">
                <a:latin typeface="Arial"/>
                <a:cs typeface="Arial"/>
              </a:rPr>
              <a:t>with </a:t>
            </a:r>
            <a:r>
              <a:rPr sz="2800" spc="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shortest activity </a:t>
            </a:r>
            <a:r>
              <a:rPr sz="2800" spc="-5" dirty="0">
                <a:latin typeface="Arial"/>
                <a:cs typeface="Arial"/>
              </a:rPr>
              <a:t>time.  </a:t>
            </a:r>
            <a:r>
              <a:rPr sz="2800" spc="5" dirty="0">
                <a:latin typeface="Arial"/>
                <a:cs typeface="Arial"/>
              </a:rPr>
              <a:t>If </a:t>
            </a:r>
            <a:r>
              <a:rPr sz="2800" dirty="0">
                <a:latin typeface="Arial"/>
                <a:cs typeface="Arial"/>
              </a:rPr>
              <a:t>that time is in </a:t>
            </a:r>
            <a:r>
              <a:rPr sz="2800" spc="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first </a:t>
            </a:r>
            <a:r>
              <a:rPr sz="2800" spc="-5" dirty="0">
                <a:latin typeface="Arial"/>
                <a:cs typeface="Arial"/>
              </a:rPr>
              <a:t>work </a:t>
            </a:r>
            <a:r>
              <a:rPr sz="2800" spc="-25" dirty="0">
                <a:latin typeface="Arial"/>
                <a:cs typeface="Arial"/>
              </a:rPr>
              <a:t>center, </a:t>
            </a:r>
            <a:r>
              <a:rPr sz="2800" dirty="0">
                <a:latin typeface="Arial"/>
                <a:cs typeface="Arial"/>
              </a:rPr>
              <a:t>schedule  </a:t>
            </a:r>
            <a:r>
              <a:rPr sz="2800" spc="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job </a:t>
            </a:r>
            <a:r>
              <a:rPr sz="2800" spc="-5" dirty="0">
                <a:latin typeface="Arial"/>
                <a:cs typeface="Arial"/>
              </a:rPr>
              <a:t>first. If </a:t>
            </a:r>
            <a:r>
              <a:rPr sz="2800" spc="-10" dirty="0">
                <a:latin typeface="Arial"/>
                <a:cs typeface="Arial"/>
              </a:rPr>
              <a:t>it is in </a:t>
            </a:r>
            <a:r>
              <a:rPr sz="2800" spc="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second </a:t>
            </a:r>
            <a:r>
              <a:rPr sz="2800" spc="-5" dirty="0">
                <a:latin typeface="Arial"/>
                <a:cs typeface="Arial"/>
              </a:rPr>
              <a:t>work </a:t>
            </a:r>
            <a:r>
              <a:rPr sz="2800" spc="-20" dirty="0">
                <a:latin typeface="Arial"/>
                <a:cs typeface="Arial"/>
              </a:rPr>
              <a:t>center,  </a:t>
            </a:r>
            <a:r>
              <a:rPr sz="2800" dirty="0">
                <a:latin typeface="Arial"/>
                <a:cs typeface="Arial"/>
              </a:rPr>
              <a:t>schedule </a:t>
            </a:r>
            <a:r>
              <a:rPr sz="2800" spc="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job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last.</a:t>
            </a:r>
            <a:endParaRPr sz="2800">
              <a:latin typeface="Arial"/>
              <a:cs typeface="Arial"/>
            </a:endParaRPr>
          </a:p>
          <a:p>
            <a:pPr marL="494030" marR="7620" indent="-481965" algn="just">
              <a:lnSpc>
                <a:spcPts val="3020"/>
              </a:lnSpc>
              <a:spcBef>
                <a:spcPts val="1395"/>
              </a:spcBef>
              <a:buAutoNum type="arabicPeriod"/>
              <a:tabLst>
                <a:tab pos="494665" algn="l"/>
              </a:tabLst>
            </a:pPr>
            <a:r>
              <a:rPr sz="2800" spc="5" dirty="0">
                <a:latin typeface="Arial"/>
                <a:cs typeface="Arial"/>
              </a:rPr>
              <a:t>Once </a:t>
            </a:r>
            <a:r>
              <a:rPr sz="2800" dirty="0">
                <a:latin typeface="Arial"/>
                <a:cs typeface="Arial"/>
              </a:rPr>
              <a:t>a job </a:t>
            </a:r>
            <a:r>
              <a:rPr sz="2800" spc="-10" dirty="0">
                <a:latin typeface="Arial"/>
                <a:cs typeface="Arial"/>
              </a:rPr>
              <a:t>is </a:t>
            </a:r>
            <a:r>
              <a:rPr sz="2800" dirty="0">
                <a:latin typeface="Arial"/>
                <a:cs typeface="Arial"/>
              </a:rPr>
              <a:t>scheduled, </a:t>
            </a:r>
            <a:r>
              <a:rPr sz="2800" spc="-15" dirty="0">
                <a:latin typeface="Arial"/>
                <a:cs typeface="Arial"/>
              </a:rPr>
              <a:t>it </a:t>
            </a:r>
            <a:r>
              <a:rPr sz="2800" spc="-10" dirty="0">
                <a:latin typeface="Arial"/>
                <a:cs typeface="Arial"/>
              </a:rPr>
              <a:t>is </a:t>
            </a:r>
            <a:r>
              <a:rPr sz="2800" dirty="0">
                <a:latin typeface="Arial"/>
                <a:cs typeface="Arial"/>
              </a:rPr>
              <a:t>eliminated </a:t>
            </a:r>
            <a:r>
              <a:rPr sz="2800" spc="5" dirty="0">
                <a:latin typeface="Arial"/>
                <a:cs typeface="Arial"/>
              </a:rPr>
              <a:t>from  the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list</a:t>
            </a:r>
            <a:endParaRPr sz="2800">
              <a:latin typeface="Arial"/>
              <a:cs typeface="Arial"/>
            </a:endParaRPr>
          </a:p>
          <a:p>
            <a:pPr marL="494030" marR="5080" indent="-481965" algn="just">
              <a:lnSpc>
                <a:spcPts val="3030"/>
              </a:lnSpc>
              <a:spcBef>
                <a:spcPts val="1350"/>
              </a:spcBef>
              <a:buAutoNum type="arabicPeriod"/>
              <a:tabLst>
                <a:tab pos="494665" algn="l"/>
              </a:tabLst>
            </a:pPr>
            <a:r>
              <a:rPr sz="2800" dirty="0">
                <a:latin typeface="Arial"/>
                <a:cs typeface="Arial"/>
              </a:rPr>
              <a:t>Repeat steps </a:t>
            </a:r>
            <a:r>
              <a:rPr sz="2800" spc="5" dirty="0">
                <a:latin typeface="Arial"/>
                <a:cs typeface="Arial"/>
              </a:rPr>
              <a:t>2 </a:t>
            </a:r>
            <a:r>
              <a:rPr sz="2800" dirty="0">
                <a:latin typeface="Arial"/>
                <a:cs typeface="Arial"/>
              </a:rPr>
              <a:t>and </a:t>
            </a:r>
            <a:r>
              <a:rPr sz="2800" spc="5" dirty="0">
                <a:latin typeface="Arial"/>
                <a:cs typeface="Arial"/>
              </a:rPr>
              <a:t>3 </a:t>
            </a:r>
            <a:r>
              <a:rPr sz="2800" dirty="0">
                <a:latin typeface="Arial"/>
                <a:cs typeface="Arial"/>
              </a:rPr>
              <a:t>working </a:t>
            </a:r>
            <a:r>
              <a:rPr sz="2800" spc="-5" dirty="0">
                <a:latin typeface="Arial"/>
                <a:cs typeface="Arial"/>
              </a:rPr>
              <a:t>toward </a:t>
            </a:r>
            <a:r>
              <a:rPr sz="2800" spc="5" dirty="0">
                <a:latin typeface="Arial"/>
                <a:cs typeface="Arial"/>
              </a:rPr>
              <a:t>the  center </a:t>
            </a:r>
            <a:r>
              <a:rPr sz="2800" dirty="0">
                <a:latin typeface="Arial"/>
                <a:cs typeface="Arial"/>
              </a:rPr>
              <a:t>of </a:t>
            </a:r>
            <a:r>
              <a:rPr sz="2800" spc="5" dirty="0">
                <a:latin typeface="Arial"/>
                <a:cs typeface="Arial"/>
              </a:rPr>
              <a:t>the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sequence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7" name="object 7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10" name="object 10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40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323" y="318515"/>
            <a:ext cx="7772400" cy="902335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89635">
              <a:lnSpc>
                <a:spcPct val="100000"/>
              </a:lnSpc>
              <a:spcBef>
                <a:spcPts val="670"/>
              </a:spcBef>
            </a:pPr>
            <a:r>
              <a:rPr spc="-20" dirty="0"/>
              <a:t>Johnson’s </a:t>
            </a:r>
            <a:r>
              <a:rPr dirty="0"/>
              <a:t>Rule</a:t>
            </a:r>
            <a:r>
              <a:rPr spc="-85" dirty="0"/>
              <a:t> </a:t>
            </a:r>
            <a:r>
              <a:rPr dirty="0"/>
              <a:t>Example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7550" y="1430616"/>
          <a:ext cx="5143500" cy="25597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20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6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Job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2085"/>
                        </a:lnSpc>
                      </a:pPr>
                      <a:r>
                        <a:rPr sz="2000" i="1" spc="5" dirty="0">
                          <a:latin typeface="Arial"/>
                          <a:cs typeface="Arial"/>
                        </a:rPr>
                        <a:t>Work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Center</a:t>
                      </a:r>
                      <a:r>
                        <a:rPr sz="20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8890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(Drill</a:t>
                      </a:r>
                      <a:r>
                        <a:rPr sz="2000" i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Press)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085"/>
                        </a:lnSpc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Work 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Center</a:t>
                      </a:r>
                      <a:r>
                        <a:rPr sz="200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9525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(Lathe)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68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  <a:spcBef>
                          <a:spcPts val="3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ts val="232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ts val="2320"/>
                        </a:lnSpc>
                        <a:spcBef>
                          <a:spcPts val="34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13703" y="2575560"/>
          <a:ext cx="2393312" cy="7498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0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8" name="object 8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11" name="object 11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41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55791" y="2593848"/>
            <a:ext cx="628015" cy="771525"/>
            <a:chOff x="5955791" y="2593848"/>
            <a:chExt cx="628015" cy="771525"/>
          </a:xfrm>
        </p:grpSpPr>
        <p:sp>
          <p:nvSpPr>
            <p:cNvPr id="5" name="object 5"/>
            <p:cNvSpPr/>
            <p:nvPr/>
          </p:nvSpPr>
          <p:spPr>
            <a:xfrm>
              <a:off x="6035039" y="2593848"/>
              <a:ext cx="457200" cy="746760"/>
            </a:xfrm>
            <a:custGeom>
              <a:avLst/>
              <a:gdLst/>
              <a:ahLst/>
              <a:cxnLst/>
              <a:rect l="l" t="t" r="r" b="b"/>
              <a:pathLst>
                <a:path w="457200" h="746760">
                  <a:moveTo>
                    <a:pt x="457200" y="0"/>
                  </a:moveTo>
                  <a:lnTo>
                    <a:pt x="0" y="0"/>
                  </a:lnTo>
                  <a:lnTo>
                    <a:pt x="0" y="746760"/>
                  </a:lnTo>
                  <a:lnTo>
                    <a:pt x="457200" y="7467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55791" y="2682240"/>
              <a:ext cx="627888" cy="68275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33515" y="2595372"/>
            <a:ext cx="469900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425"/>
              </a:spcBef>
            </a:pPr>
            <a:r>
              <a:rPr sz="2400" b="1" i="1" spc="-5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43471" y="2596895"/>
            <a:ext cx="612775" cy="768350"/>
            <a:chOff x="6443471" y="2596895"/>
            <a:chExt cx="612775" cy="768350"/>
          </a:xfrm>
        </p:grpSpPr>
        <p:sp>
          <p:nvSpPr>
            <p:cNvPr id="9" name="object 9"/>
            <p:cNvSpPr/>
            <p:nvPr/>
          </p:nvSpPr>
          <p:spPr>
            <a:xfrm>
              <a:off x="6504431" y="2596895"/>
              <a:ext cx="487680" cy="746760"/>
            </a:xfrm>
            <a:custGeom>
              <a:avLst/>
              <a:gdLst/>
              <a:ahLst/>
              <a:cxnLst/>
              <a:rect l="l" t="t" r="r" b="b"/>
              <a:pathLst>
                <a:path w="487679" h="746760">
                  <a:moveTo>
                    <a:pt x="487679" y="0"/>
                  </a:moveTo>
                  <a:lnTo>
                    <a:pt x="0" y="0"/>
                  </a:lnTo>
                  <a:lnTo>
                    <a:pt x="0" y="746760"/>
                  </a:lnTo>
                  <a:lnTo>
                    <a:pt x="487679" y="746760"/>
                  </a:lnTo>
                  <a:lnTo>
                    <a:pt x="487679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43471" y="2682239"/>
              <a:ext cx="612648" cy="68275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502907" y="2595372"/>
            <a:ext cx="497205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425"/>
              </a:spcBef>
            </a:pPr>
            <a:r>
              <a:rPr sz="2400" b="1" i="1" dirty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915911" y="2593848"/>
            <a:ext cx="628015" cy="771525"/>
            <a:chOff x="6915911" y="2593848"/>
            <a:chExt cx="628015" cy="771525"/>
          </a:xfrm>
        </p:grpSpPr>
        <p:sp>
          <p:nvSpPr>
            <p:cNvPr id="13" name="object 13"/>
            <p:cNvSpPr/>
            <p:nvPr/>
          </p:nvSpPr>
          <p:spPr>
            <a:xfrm>
              <a:off x="7004303" y="2593848"/>
              <a:ext cx="485140" cy="746760"/>
            </a:xfrm>
            <a:custGeom>
              <a:avLst/>
              <a:gdLst/>
              <a:ahLst/>
              <a:cxnLst/>
              <a:rect l="l" t="t" r="r" b="b"/>
              <a:pathLst>
                <a:path w="485140" h="746760">
                  <a:moveTo>
                    <a:pt x="484631" y="0"/>
                  </a:moveTo>
                  <a:lnTo>
                    <a:pt x="0" y="0"/>
                  </a:lnTo>
                  <a:lnTo>
                    <a:pt x="0" y="746760"/>
                  </a:lnTo>
                  <a:lnTo>
                    <a:pt x="484631" y="746760"/>
                  </a:lnTo>
                  <a:lnTo>
                    <a:pt x="484631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15911" y="2682240"/>
              <a:ext cx="627888" cy="68275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999731" y="2595372"/>
            <a:ext cx="490855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425"/>
              </a:spcBef>
            </a:pPr>
            <a:r>
              <a:rPr sz="2400" b="1" i="1" spc="-5" dirty="0"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406640" y="2593848"/>
            <a:ext cx="628015" cy="771525"/>
            <a:chOff x="7406640" y="2593848"/>
            <a:chExt cx="628015" cy="771525"/>
          </a:xfrm>
        </p:grpSpPr>
        <p:sp>
          <p:nvSpPr>
            <p:cNvPr id="17" name="object 17"/>
            <p:cNvSpPr/>
            <p:nvPr/>
          </p:nvSpPr>
          <p:spPr>
            <a:xfrm>
              <a:off x="7488936" y="2593848"/>
              <a:ext cx="485140" cy="746760"/>
            </a:xfrm>
            <a:custGeom>
              <a:avLst/>
              <a:gdLst/>
              <a:ahLst/>
              <a:cxnLst/>
              <a:rect l="l" t="t" r="r" b="b"/>
              <a:pathLst>
                <a:path w="485140" h="746760">
                  <a:moveTo>
                    <a:pt x="484631" y="0"/>
                  </a:moveTo>
                  <a:lnTo>
                    <a:pt x="0" y="0"/>
                  </a:lnTo>
                  <a:lnTo>
                    <a:pt x="0" y="746760"/>
                  </a:lnTo>
                  <a:lnTo>
                    <a:pt x="484631" y="746760"/>
                  </a:lnTo>
                  <a:lnTo>
                    <a:pt x="484631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06640" y="2682240"/>
              <a:ext cx="627888" cy="6827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490459" y="2595372"/>
            <a:ext cx="487680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425"/>
              </a:spcBef>
            </a:pPr>
            <a:r>
              <a:rPr sz="2400" b="1" i="1" spc="-5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897368" y="2584704"/>
            <a:ext cx="628015" cy="780415"/>
            <a:chOff x="7897368" y="2584704"/>
            <a:chExt cx="628015" cy="780415"/>
          </a:xfrm>
        </p:grpSpPr>
        <p:sp>
          <p:nvSpPr>
            <p:cNvPr id="21" name="object 21"/>
            <p:cNvSpPr/>
            <p:nvPr/>
          </p:nvSpPr>
          <p:spPr>
            <a:xfrm>
              <a:off x="7973568" y="2584704"/>
              <a:ext cx="457200" cy="749935"/>
            </a:xfrm>
            <a:custGeom>
              <a:avLst/>
              <a:gdLst/>
              <a:ahLst/>
              <a:cxnLst/>
              <a:rect l="l" t="t" r="r" b="b"/>
              <a:pathLst>
                <a:path w="457200" h="749935">
                  <a:moveTo>
                    <a:pt x="457200" y="0"/>
                  </a:moveTo>
                  <a:lnTo>
                    <a:pt x="0" y="0"/>
                  </a:lnTo>
                  <a:lnTo>
                    <a:pt x="0" y="749808"/>
                  </a:lnTo>
                  <a:lnTo>
                    <a:pt x="457200" y="749808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97368" y="2682240"/>
              <a:ext cx="627887" cy="6827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978140" y="2595372"/>
            <a:ext cx="451484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425"/>
              </a:spcBef>
            </a:pPr>
            <a:r>
              <a:rPr sz="2400" b="1" i="1" spc="-5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687323" y="318515"/>
            <a:ext cx="7772400" cy="902335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89635">
              <a:lnSpc>
                <a:spcPct val="100000"/>
              </a:lnSpc>
              <a:spcBef>
                <a:spcPts val="670"/>
              </a:spcBef>
            </a:pPr>
            <a:r>
              <a:rPr spc="-20" dirty="0"/>
              <a:t>Johnson’s </a:t>
            </a:r>
            <a:r>
              <a:rPr dirty="0"/>
              <a:t>Rule</a:t>
            </a:r>
            <a:r>
              <a:rPr spc="-85" dirty="0"/>
              <a:t> </a:t>
            </a:r>
            <a:r>
              <a:rPr dirty="0"/>
              <a:t>Example</a:t>
            </a:r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717550" y="1430616"/>
          <a:ext cx="5143500" cy="25597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20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6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Job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2085"/>
                        </a:lnSpc>
                      </a:pPr>
                      <a:r>
                        <a:rPr sz="2000" i="1" spc="5" dirty="0">
                          <a:latin typeface="Arial"/>
                          <a:cs typeface="Arial"/>
                        </a:rPr>
                        <a:t>Work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Center</a:t>
                      </a:r>
                      <a:r>
                        <a:rPr sz="20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8890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(Drill</a:t>
                      </a:r>
                      <a:r>
                        <a:rPr sz="2000" i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Press)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085"/>
                        </a:lnSpc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Work 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Center</a:t>
                      </a:r>
                      <a:r>
                        <a:rPr sz="200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9525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(Lathe)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68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  <a:spcBef>
                          <a:spcPts val="3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ts val="232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ts val="2320"/>
                        </a:lnSpc>
                        <a:spcBef>
                          <a:spcPts val="34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6" name="object 26"/>
          <p:cNvGrpSpPr/>
          <p:nvPr/>
        </p:nvGrpSpPr>
        <p:grpSpPr>
          <a:xfrm>
            <a:off x="2414016" y="1972055"/>
            <a:ext cx="5805170" cy="2297430"/>
            <a:chOff x="2414016" y="1972055"/>
            <a:chExt cx="5805170" cy="2297430"/>
          </a:xfrm>
        </p:grpSpPr>
        <p:sp>
          <p:nvSpPr>
            <p:cNvPr id="27" name="object 27"/>
            <p:cNvSpPr/>
            <p:nvPr/>
          </p:nvSpPr>
          <p:spPr>
            <a:xfrm>
              <a:off x="4613148" y="279653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00584">
              <a:solidFill>
                <a:srgbClr val="FCB0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50408" y="3092322"/>
              <a:ext cx="2583815" cy="572770"/>
            </a:xfrm>
            <a:custGeom>
              <a:avLst/>
              <a:gdLst/>
              <a:ahLst/>
              <a:cxnLst/>
              <a:rect l="l" t="t" r="r" b="b"/>
              <a:pathLst>
                <a:path w="2583815" h="572770">
                  <a:moveTo>
                    <a:pt x="39877" y="0"/>
                  </a:moveTo>
                  <a:lnTo>
                    <a:pt x="0" y="92328"/>
                  </a:lnTo>
                  <a:lnTo>
                    <a:pt x="17652" y="99949"/>
                  </a:lnTo>
                  <a:lnTo>
                    <a:pt x="36321" y="108457"/>
                  </a:lnTo>
                  <a:lnTo>
                    <a:pt x="80771" y="129286"/>
                  </a:lnTo>
                  <a:lnTo>
                    <a:pt x="254000" y="214122"/>
                  </a:lnTo>
                  <a:lnTo>
                    <a:pt x="430529" y="299338"/>
                  </a:lnTo>
                  <a:lnTo>
                    <a:pt x="544321" y="352043"/>
                  </a:lnTo>
                  <a:lnTo>
                    <a:pt x="621664" y="386461"/>
                  </a:lnTo>
                  <a:lnTo>
                    <a:pt x="699262" y="419353"/>
                  </a:lnTo>
                  <a:lnTo>
                    <a:pt x="738124" y="435228"/>
                  </a:lnTo>
                  <a:lnTo>
                    <a:pt x="814451" y="464692"/>
                  </a:lnTo>
                  <a:lnTo>
                    <a:pt x="851915" y="478281"/>
                  </a:lnTo>
                  <a:lnTo>
                    <a:pt x="889000" y="491109"/>
                  </a:lnTo>
                  <a:lnTo>
                    <a:pt x="925449" y="502919"/>
                  </a:lnTo>
                  <a:lnTo>
                    <a:pt x="995806" y="523366"/>
                  </a:lnTo>
                  <a:lnTo>
                    <a:pt x="1062608" y="538860"/>
                  </a:lnTo>
                  <a:lnTo>
                    <a:pt x="1126616" y="550290"/>
                  </a:lnTo>
                  <a:lnTo>
                    <a:pt x="1189989" y="559181"/>
                  </a:lnTo>
                  <a:lnTo>
                    <a:pt x="1252727" y="565657"/>
                  </a:lnTo>
                  <a:lnTo>
                    <a:pt x="1315592" y="569976"/>
                  </a:lnTo>
                  <a:lnTo>
                    <a:pt x="1377950" y="572262"/>
                  </a:lnTo>
                  <a:lnTo>
                    <a:pt x="1439926" y="572515"/>
                  </a:lnTo>
                  <a:lnTo>
                    <a:pt x="1501139" y="570864"/>
                  </a:lnTo>
                  <a:lnTo>
                    <a:pt x="1561591" y="567435"/>
                  </a:lnTo>
                  <a:lnTo>
                    <a:pt x="1620900" y="562356"/>
                  </a:lnTo>
                  <a:lnTo>
                    <a:pt x="1679447" y="555497"/>
                  </a:lnTo>
                  <a:lnTo>
                    <a:pt x="1736470" y="547369"/>
                  </a:lnTo>
                  <a:lnTo>
                    <a:pt x="1792477" y="537718"/>
                  </a:lnTo>
                  <a:lnTo>
                    <a:pt x="1846961" y="526795"/>
                  </a:lnTo>
                  <a:lnTo>
                    <a:pt x="1899919" y="514731"/>
                  </a:lnTo>
                  <a:lnTo>
                    <a:pt x="1951227" y="501523"/>
                  </a:lnTo>
                  <a:lnTo>
                    <a:pt x="2000758" y="487299"/>
                  </a:lnTo>
                  <a:lnTo>
                    <a:pt x="2045938" y="471931"/>
                  </a:lnTo>
                  <a:lnTo>
                    <a:pt x="1440306" y="471931"/>
                  </a:lnTo>
                  <a:lnTo>
                    <a:pt x="1381632" y="471804"/>
                  </a:lnTo>
                  <a:lnTo>
                    <a:pt x="1322451" y="469646"/>
                  </a:lnTo>
                  <a:lnTo>
                    <a:pt x="1263141" y="465581"/>
                  </a:lnTo>
                  <a:lnTo>
                    <a:pt x="1202943" y="459359"/>
                  </a:lnTo>
                  <a:lnTo>
                    <a:pt x="1143127" y="451103"/>
                  </a:lnTo>
                  <a:lnTo>
                    <a:pt x="1083817" y="440563"/>
                  </a:lnTo>
                  <a:lnTo>
                    <a:pt x="1022603" y="426465"/>
                  </a:lnTo>
                  <a:lnTo>
                    <a:pt x="956437" y="407288"/>
                  </a:lnTo>
                  <a:lnTo>
                    <a:pt x="886460" y="383793"/>
                  </a:lnTo>
                  <a:lnTo>
                    <a:pt x="850138" y="370586"/>
                  </a:lnTo>
                  <a:lnTo>
                    <a:pt x="813307" y="356615"/>
                  </a:lnTo>
                  <a:lnTo>
                    <a:pt x="775969" y="342011"/>
                  </a:lnTo>
                  <a:lnTo>
                    <a:pt x="738504" y="326771"/>
                  </a:lnTo>
                  <a:lnTo>
                    <a:pt x="662558" y="294513"/>
                  </a:lnTo>
                  <a:lnTo>
                    <a:pt x="586358" y="260730"/>
                  </a:lnTo>
                  <a:lnTo>
                    <a:pt x="473837" y="208661"/>
                  </a:lnTo>
                  <a:lnTo>
                    <a:pt x="99949" y="27050"/>
                  </a:lnTo>
                  <a:lnTo>
                    <a:pt x="57530" y="7619"/>
                  </a:lnTo>
                  <a:lnTo>
                    <a:pt x="39877" y="0"/>
                  </a:lnTo>
                  <a:close/>
                </a:path>
                <a:path w="2583815" h="572770">
                  <a:moveTo>
                    <a:pt x="2396049" y="122132"/>
                  </a:moveTo>
                  <a:lnTo>
                    <a:pt x="2339086" y="169672"/>
                  </a:lnTo>
                  <a:lnTo>
                    <a:pt x="2302383" y="199516"/>
                  </a:lnTo>
                  <a:lnTo>
                    <a:pt x="2264537" y="229107"/>
                  </a:lnTo>
                  <a:lnTo>
                    <a:pt x="2225293" y="257937"/>
                  </a:lnTo>
                  <a:lnTo>
                    <a:pt x="2185162" y="285623"/>
                  </a:lnTo>
                  <a:lnTo>
                    <a:pt x="2143760" y="311912"/>
                  </a:lnTo>
                  <a:lnTo>
                    <a:pt x="2101849" y="335914"/>
                  </a:lnTo>
                  <a:lnTo>
                    <a:pt x="2059559" y="357250"/>
                  </a:lnTo>
                  <a:lnTo>
                    <a:pt x="2016506" y="375538"/>
                  </a:lnTo>
                  <a:lnTo>
                    <a:pt x="1973071" y="390651"/>
                  </a:lnTo>
                  <a:lnTo>
                    <a:pt x="1926209" y="404113"/>
                  </a:lnTo>
                  <a:lnTo>
                    <a:pt x="1877567" y="416560"/>
                  </a:lnTo>
                  <a:lnTo>
                    <a:pt x="1827275" y="428116"/>
                  </a:lnTo>
                  <a:lnTo>
                    <a:pt x="1775460" y="438530"/>
                  </a:lnTo>
                  <a:lnTo>
                    <a:pt x="1722246" y="447801"/>
                  </a:lnTo>
                  <a:lnTo>
                    <a:pt x="1667764" y="455549"/>
                  </a:lnTo>
                  <a:lnTo>
                    <a:pt x="1612264" y="462152"/>
                  </a:lnTo>
                  <a:lnTo>
                    <a:pt x="1555749" y="466978"/>
                  </a:lnTo>
                  <a:lnTo>
                    <a:pt x="1498345" y="470280"/>
                  </a:lnTo>
                  <a:lnTo>
                    <a:pt x="1440306" y="471931"/>
                  </a:lnTo>
                  <a:lnTo>
                    <a:pt x="2045938" y="471931"/>
                  </a:lnTo>
                  <a:lnTo>
                    <a:pt x="2100325" y="449072"/>
                  </a:lnTo>
                  <a:lnTo>
                    <a:pt x="2148332" y="425068"/>
                  </a:lnTo>
                  <a:lnTo>
                    <a:pt x="2194560" y="398779"/>
                  </a:lnTo>
                  <a:lnTo>
                    <a:pt x="2239010" y="370586"/>
                  </a:lnTo>
                  <a:lnTo>
                    <a:pt x="2282316" y="340867"/>
                  </a:lnTo>
                  <a:lnTo>
                    <a:pt x="2324099" y="310134"/>
                  </a:lnTo>
                  <a:lnTo>
                    <a:pt x="2364232" y="278891"/>
                  </a:lnTo>
                  <a:lnTo>
                    <a:pt x="2402586" y="247650"/>
                  </a:lnTo>
                  <a:lnTo>
                    <a:pt x="2439035" y="217042"/>
                  </a:lnTo>
                  <a:lnTo>
                    <a:pt x="2459684" y="199915"/>
                  </a:lnTo>
                  <a:lnTo>
                    <a:pt x="2396049" y="122132"/>
                  </a:lnTo>
                  <a:close/>
                </a:path>
                <a:path w="2583815" h="572770">
                  <a:moveTo>
                    <a:pt x="2557816" y="90297"/>
                  </a:moveTo>
                  <a:lnTo>
                    <a:pt x="2434463" y="90297"/>
                  </a:lnTo>
                  <a:lnTo>
                    <a:pt x="2498597" y="167639"/>
                  </a:lnTo>
                  <a:lnTo>
                    <a:pt x="2459684" y="199915"/>
                  </a:lnTo>
                  <a:lnTo>
                    <a:pt x="2491359" y="238632"/>
                  </a:lnTo>
                  <a:lnTo>
                    <a:pt x="2557816" y="90297"/>
                  </a:lnTo>
                  <a:close/>
                </a:path>
                <a:path w="2583815" h="572770">
                  <a:moveTo>
                    <a:pt x="2434463" y="90297"/>
                  </a:moveTo>
                  <a:lnTo>
                    <a:pt x="2396049" y="122132"/>
                  </a:lnTo>
                  <a:lnTo>
                    <a:pt x="2459684" y="199915"/>
                  </a:lnTo>
                  <a:lnTo>
                    <a:pt x="2498597" y="167639"/>
                  </a:lnTo>
                  <a:lnTo>
                    <a:pt x="2434463" y="90297"/>
                  </a:lnTo>
                  <a:close/>
                </a:path>
                <a:path w="2583815" h="572770">
                  <a:moveTo>
                    <a:pt x="2583307" y="33400"/>
                  </a:moveTo>
                  <a:lnTo>
                    <a:pt x="2363977" y="82930"/>
                  </a:lnTo>
                  <a:lnTo>
                    <a:pt x="2396049" y="122132"/>
                  </a:lnTo>
                  <a:lnTo>
                    <a:pt x="2434463" y="90297"/>
                  </a:lnTo>
                  <a:lnTo>
                    <a:pt x="2557816" y="90297"/>
                  </a:lnTo>
                  <a:lnTo>
                    <a:pt x="2583307" y="33400"/>
                  </a:lnTo>
                  <a:close/>
                </a:path>
              </a:pathLst>
            </a:custGeom>
            <a:solidFill>
              <a:srgbClr val="FCB0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13148" y="202234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00584">
              <a:solidFill>
                <a:srgbClr val="FCB0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20335" y="2080259"/>
              <a:ext cx="2999105" cy="728980"/>
            </a:xfrm>
            <a:custGeom>
              <a:avLst/>
              <a:gdLst/>
              <a:ahLst/>
              <a:cxnLst/>
              <a:rect l="l" t="t" r="r" b="b"/>
              <a:pathLst>
                <a:path w="2999104" h="728980">
                  <a:moveTo>
                    <a:pt x="2853779" y="580191"/>
                  </a:moveTo>
                  <a:lnTo>
                    <a:pt x="2810256" y="605663"/>
                  </a:lnTo>
                  <a:lnTo>
                    <a:pt x="2998596" y="728472"/>
                  </a:lnTo>
                  <a:lnTo>
                    <a:pt x="2991702" y="623442"/>
                  </a:lnTo>
                  <a:lnTo>
                    <a:pt x="2878963" y="623442"/>
                  </a:lnTo>
                  <a:lnTo>
                    <a:pt x="2853779" y="580191"/>
                  </a:lnTo>
                  <a:close/>
                </a:path>
                <a:path w="2999104" h="728980">
                  <a:moveTo>
                    <a:pt x="2940635" y="529361"/>
                  </a:moveTo>
                  <a:lnTo>
                    <a:pt x="2853779" y="580191"/>
                  </a:lnTo>
                  <a:lnTo>
                    <a:pt x="2878963" y="623442"/>
                  </a:lnTo>
                  <a:lnTo>
                    <a:pt x="2965958" y="573024"/>
                  </a:lnTo>
                  <a:lnTo>
                    <a:pt x="2940635" y="529361"/>
                  </a:lnTo>
                  <a:close/>
                </a:path>
                <a:path w="2999104" h="728980">
                  <a:moveTo>
                    <a:pt x="2983865" y="504063"/>
                  </a:moveTo>
                  <a:lnTo>
                    <a:pt x="2940635" y="529361"/>
                  </a:lnTo>
                  <a:lnTo>
                    <a:pt x="2965958" y="573024"/>
                  </a:lnTo>
                  <a:lnTo>
                    <a:pt x="2878963" y="623442"/>
                  </a:lnTo>
                  <a:lnTo>
                    <a:pt x="2991702" y="623442"/>
                  </a:lnTo>
                  <a:lnTo>
                    <a:pt x="2983865" y="504063"/>
                  </a:lnTo>
                  <a:close/>
                </a:path>
                <a:path w="2999104" h="728980">
                  <a:moveTo>
                    <a:pt x="2386157" y="100584"/>
                  </a:moveTo>
                  <a:lnTo>
                    <a:pt x="1601978" y="100584"/>
                  </a:lnTo>
                  <a:lnTo>
                    <a:pt x="1653666" y="100711"/>
                  </a:lnTo>
                  <a:lnTo>
                    <a:pt x="1702562" y="101473"/>
                  </a:lnTo>
                  <a:lnTo>
                    <a:pt x="1748155" y="102742"/>
                  </a:lnTo>
                  <a:lnTo>
                    <a:pt x="1790318" y="104648"/>
                  </a:lnTo>
                  <a:lnTo>
                    <a:pt x="1830196" y="106934"/>
                  </a:lnTo>
                  <a:lnTo>
                    <a:pt x="1906269" y="112649"/>
                  </a:lnTo>
                  <a:lnTo>
                    <a:pt x="1977516" y="119506"/>
                  </a:lnTo>
                  <a:lnTo>
                    <a:pt x="2043811" y="127635"/>
                  </a:lnTo>
                  <a:lnTo>
                    <a:pt x="2105914" y="136905"/>
                  </a:lnTo>
                  <a:lnTo>
                    <a:pt x="2164207" y="147319"/>
                  </a:lnTo>
                  <a:lnTo>
                    <a:pt x="2218563" y="158623"/>
                  </a:lnTo>
                  <a:lnTo>
                    <a:pt x="2269616" y="171068"/>
                  </a:lnTo>
                  <a:lnTo>
                    <a:pt x="2317622" y="184403"/>
                  </a:lnTo>
                  <a:lnTo>
                    <a:pt x="2363089" y="198881"/>
                  </a:lnTo>
                  <a:lnTo>
                    <a:pt x="2427478" y="222376"/>
                  </a:lnTo>
                  <a:lnTo>
                    <a:pt x="2467864" y="239013"/>
                  </a:lnTo>
                  <a:lnTo>
                    <a:pt x="2506598" y="256539"/>
                  </a:lnTo>
                  <a:lnTo>
                    <a:pt x="2544825" y="275081"/>
                  </a:lnTo>
                  <a:lnTo>
                    <a:pt x="2581910" y="294386"/>
                  </a:lnTo>
                  <a:lnTo>
                    <a:pt x="2618993" y="314705"/>
                  </a:lnTo>
                  <a:lnTo>
                    <a:pt x="2651887" y="335279"/>
                  </a:lnTo>
                  <a:lnTo>
                    <a:pt x="2696464" y="370586"/>
                  </a:lnTo>
                  <a:lnTo>
                    <a:pt x="2736595" y="410844"/>
                  </a:lnTo>
                  <a:lnTo>
                    <a:pt x="2761488" y="440181"/>
                  </a:lnTo>
                  <a:lnTo>
                    <a:pt x="2806065" y="501523"/>
                  </a:lnTo>
                  <a:lnTo>
                    <a:pt x="2844799" y="564768"/>
                  </a:lnTo>
                  <a:lnTo>
                    <a:pt x="2853779" y="580191"/>
                  </a:lnTo>
                  <a:lnTo>
                    <a:pt x="2940635" y="529361"/>
                  </a:lnTo>
                  <a:lnTo>
                    <a:pt x="2910840" y="479043"/>
                  </a:lnTo>
                  <a:lnTo>
                    <a:pt x="2888615" y="444245"/>
                  </a:lnTo>
                  <a:lnTo>
                    <a:pt x="2864485" y="409448"/>
                  </a:lnTo>
                  <a:lnTo>
                    <a:pt x="2838068" y="375030"/>
                  </a:lnTo>
                  <a:lnTo>
                    <a:pt x="2809874" y="341884"/>
                  </a:lnTo>
                  <a:lnTo>
                    <a:pt x="2778633" y="309752"/>
                  </a:lnTo>
                  <a:lnTo>
                    <a:pt x="2744342" y="279273"/>
                  </a:lnTo>
                  <a:lnTo>
                    <a:pt x="2707132" y="251205"/>
                  </a:lnTo>
                  <a:lnTo>
                    <a:pt x="2667254" y="226440"/>
                  </a:lnTo>
                  <a:lnTo>
                    <a:pt x="2628391" y="205231"/>
                  </a:lnTo>
                  <a:lnTo>
                    <a:pt x="2588641" y="184530"/>
                  </a:lnTo>
                  <a:lnTo>
                    <a:pt x="2548128" y="164973"/>
                  </a:lnTo>
                  <a:lnTo>
                    <a:pt x="2506091" y="146050"/>
                  </a:lnTo>
                  <a:lnTo>
                    <a:pt x="2462657" y="128142"/>
                  </a:lnTo>
                  <a:lnTo>
                    <a:pt x="2417698" y="111378"/>
                  </a:lnTo>
                  <a:lnTo>
                    <a:pt x="2394331" y="103250"/>
                  </a:lnTo>
                  <a:lnTo>
                    <a:pt x="2386157" y="100584"/>
                  </a:lnTo>
                  <a:close/>
                </a:path>
                <a:path w="2999104" h="728980">
                  <a:moveTo>
                    <a:pt x="1601342" y="0"/>
                  </a:moveTo>
                  <a:lnTo>
                    <a:pt x="1488566" y="1142"/>
                  </a:lnTo>
                  <a:lnTo>
                    <a:pt x="1304670" y="6223"/>
                  </a:lnTo>
                  <a:lnTo>
                    <a:pt x="975487" y="21209"/>
                  </a:lnTo>
                  <a:lnTo>
                    <a:pt x="189229" y="69850"/>
                  </a:lnTo>
                  <a:lnTo>
                    <a:pt x="0" y="80390"/>
                  </a:lnTo>
                  <a:lnTo>
                    <a:pt x="4825" y="180975"/>
                  </a:lnTo>
                  <a:lnTo>
                    <a:pt x="981075" y="121665"/>
                  </a:lnTo>
                  <a:lnTo>
                    <a:pt x="1308608" y="106679"/>
                  </a:lnTo>
                  <a:lnTo>
                    <a:pt x="1490725" y="101726"/>
                  </a:lnTo>
                  <a:lnTo>
                    <a:pt x="1601978" y="100584"/>
                  </a:lnTo>
                  <a:lnTo>
                    <a:pt x="2386157" y="100584"/>
                  </a:lnTo>
                  <a:lnTo>
                    <a:pt x="2370200" y="95376"/>
                  </a:lnTo>
                  <a:lnTo>
                    <a:pt x="2320163" y="80517"/>
                  </a:lnTo>
                  <a:lnTo>
                    <a:pt x="2267331" y="66801"/>
                  </a:lnTo>
                  <a:lnTo>
                    <a:pt x="2211705" y="54228"/>
                  </a:lnTo>
                  <a:lnTo>
                    <a:pt x="2152395" y="42799"/>
                  </a:lnTo>
                  <a:lnTo>
                    <a:pt x="2089658" y="32638"/>
                  </a:lnTo>
                  <a:lnTo>
                    <a:pt x="2022856" y="23622"/>
                  </a:lnTo>
                  <a:lnTo>
                    <a:pt x="1951609" y="15875"/>
                  </a:lnTo>
                  <a:lnTo>
                    <a:pt x="1836039" y="6603"/>
                  </a:lnTo>
                  <a:lnTo>
                    <a:pt x="1794764" y="4190"/>
                  </a:lnTo>
                  <a:lnTo>
                    <a:pt x="1751075" y="2159"/>
                  </a:lnTo>
                  <a:lnTo>
                    <a:pt x="1703959" y="888"/>
                  </a:lnTo>
                  <a:lnTo>
                    <a:pt x="1654047" y="126"/>
                  </a:lnTo>
                  <a:lnTo>
                    <a:pt x="1601342" y="0"/>
                  </a:lnTo>
                  <a:close/>
                </a:path>
              </a:pathLst>
            </a:custGeom>
            <a:solidFill>
              <a:srgbClr val="FCB0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479548" y="240334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100584">
              <a:solidFill>
                <a:srgbClr val="FCB0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12313" y="2568701"/>
              <a:ext cx="3085465" cy="380365"/>
            </a:xfrm>
            <a:custGeom>
              <a:avLst/>
              <a:gdLst/>
              <a:ahLst/>
              <a:cxnLst/>
              <a:rect l="l" t="t" r="r" b="b"/>
              <a:pathLst>
                <a:path w="3085465" h="380364">
                  <a:moveTo>
                    <a:pt x="2885766" y="323112"/>
                  </a:moveTo>
                  <a:lnTo>
                    <a:pt x="2860548" y="367030"/>
                  </a:lnTo>
                  <a:lnTo>
                    <a:pt x="3085084" y="379984"/>
                  </a:lnTo>
                  <a:lnTo>
                    <a:pt x="3064024" y="348234"/>
                  </a:lnTo>
                  <a:lnTo>
                    <a:pt x="2929001" y="348234"/>
                  </a:lnTo>
                  <a:lnTo>
                    <a:pt x="2885766" y="323112"/>
                  </a:lnTo>
                  <a:close/>
                </a:path>
                <a:path w="3085465" h="380364">
                  <a:moveTo>
                    <a:pt x="2935846" y="235902"/>
                  </a:moveTo>
                  <a:lnTo>
                    <a:pt x="2885766" y="323112"/>
                  </a:lnTo>
                  <a:lnTo>
                    <a:pt x="2929001" y="348234"/>
                  </a:lnTo>
                  <a:lnTo>
                    <a:pt x="2979547" y="261365"/>
                  </a:lnTo>
                  <a:lnTo>
                    <a:pt x="2935846" y="235902"/>
                  </a:lnTo>
                  <a:close/>
                </a:path>
                <a:path w="3085465" h="380364">
                  <a:moveTo>
                    <a:pt x="2960751" y="192532"/>
                  </a:moveTo>
                  <a:lnTo>
                    <a:pt x="2935846" y="235902"/>
                  </a:lnTo>
                  <a:lnTo>
                    <a:pt x="2979547" y="261365"/>
                  </a:lnTo>
                  <a:lnTo>
                    <a:pt x="2929001" y="348234"/>
                  </a:lnTo>
                  <a:lnTo>
                    <a:pt x="3064024" y="348234"/>
                  </a:lnTo>
                  <a:lnTo>
                    <a:pt x="2960751" y="192532"/>
                  </a:lnTo>
                  <a:close/>
                </a:path>
                <a:path w="3085465" h="380364">
                  <a:moveTo>
                    <a:pt x="2640356" y="100711"/>
                  </a:moveTo>
                  <a:lnTo>
                    <a:pt x="933069" y="100711"/>
                  </a:lnTo>
                  <a:lnTo>
                    <a:pt x="1705610" y="108076"/>
                  </a:lnTo>
                  <a:lnTo>
                    <a:pt x="2009394" y="117856"/>
                  </a:lnTo>
                  <a:lnTo>
                    <a:pt x="2141347" y="124840"/>
                  </a:lnTo>
                  <a:lnTo>
                    <a:pt x="2201037" y="128905"/>
                  </a:lnTo>
                  <a:lnTo>
                    <a:pt x="2256028" y="133476"/>
                  </a:lnTo>
                  <a:lnTo>
                    <a:pt x="2306066" y="138302"/>
                  </a:lnTo>
                  <a:lnTo>
                    <a:pt x="2373884" y="146685"/>
                  </a:lnTo>
                  <a:lnTo>
                    <a:pt x="2437003" y="156590"/>
                  </a:lnTo>
                  <a:lnTo>
                    <a:pt x="2475991" y="163702"/>
                  </a:lnTo>
                  <a:lnTo>
                    <a:pt x="2548128" y="179705"/>
                  </a:lnTo>
                  <a:lnTo>
                    <a:pt x="2612136" y="197231"/>
                  </a:lnTo>
                  <a:lnTo>
                    <a:pt x="2669413" y="216026"/>
                  </a:lnTo>
                  <a:lnTo>
                    <a:pt x="2720340" y="235838"/>
                  </a:lnTo>
                  <a:lnTo>
                    <a:pt x="2766060" y="256286"/>
                  </a:lnTo>
                  <a:lnTo>
                    <a:pt x="2806827" y="276987"/>
                  </a:lnTo>
                  <a:lnTo>
                    <a:pt x="2843911" y="297814"/>
                  </a:lnTo>
                  <a:lnTo>
                    <a:pt x="2878074" y="318643"/>
                  </a:lnTo>
                  <a:lnTo>
                    <a:pt x="2885766" y="323112"/>
                  </a:lnTo>
                  <a:lnTo>
                    <a:pt x="2935846" y="235902"/>
                  </a:lnTo>
                  <a:lnTo>
                    <a:pt x="2931160" y="233172"/>
                  </a:lnTo>
                  <a:lnTo>
                    <a:pt x="2912999" y="221996"/>
                  </a:lnTo>
                  <a:lnTo>
                    <a:pt x="2874264" y="199262"/>
                  </a:lnTo>
                  <a:lnTo>
                    <a:pt x="2831338" y="176275"/>
                  </a:lnTo>
                  <a:lnTo>
                    <a:pt x="2783713" y="153670"/>
                  </a:lnTo>
                  <a:lnTo>
                    <a:pt x="2730627" y="131572"/>
                  </a:lnTo>
                  <a:lnTo>
                    <a:pt x="2671699" y="110489"/>
                  </a:lnTo>
                  <a:lnTo>
                    <a:pt x="2640356" y="100711"/>
                  </a:lnTo>
                  <a:close/>
                </a:path>
                <a:path w="3085465" h="380364">
                  <a:moveTo>
                    <a:pt x="1269" y="0"/>
                  </a:moveTo>
                  <a:lnTo>
                    <a:pt x="0" y="100584"/>
                  </a:lnTo>
                  <a:lnTo>
                    <a:pt x="188594" y="101726"/>
                  </a:lnTo>
                  <a:lnTo>
                    <a:pt x="248031" y="101726"/>
                  </a:lnTo>
                  <a:lnTo>
                    <a:pt x="2640356" y="100711"/>
                  </a:lnTo>
                  <a:lnTo>
                    <a:pt x="2606294" y="90805"/>
                  </a:lnTo>
                  <a:lnTo>
                    <a:pt x="2533523" y="73025"/>
                  </a:lnTo>
                  <a:lnTo>
                    <a:pt x="2494279" y="64897"/>
                  </a:lnTo>
                  <a:lnTo>
                    <a:pt x="2452878" y="57150"/>
                  </a:lnTo>
                  <a:lnTo>
                    <a:pt x="2409825" y="50292"/>
                  </a:lnTo>
                  <a:lnTo>
                    <a:pt x="2340356" y="41021"/>
                  </a:lnTo>
                  <a:lnTo>
                    <a:pt x="2264283" y="33274"/>
                  </a:lnTo>
                  <a:lnTo>
                    <a:pt x="2207895" y="28575"/>
                  </a:lnTo>
                  <a:lnTo>
                    <a:pt x="2082164" y="20700"/>
                  </a:lnTo>
                  <a:lnTo>
                    <a:pt x="1941322" y="14350"/>
                  </a:lnTo>
                  <a:lnTo>
                    <a:pt x="1625219" y="5842"/>
                  </a:lnTo>
                  <a:lnTo>
                    <a:pt x="1215929" y="1143"/>
                  </a:lnTo>
                  <a:lnTo>
                    <a:pt x="188722" y="1143"/>
                  </a:lnTo>
                  <a:lnTo>
                    <a:pt x="1269" y="0"/>
                  </a:lnTo>
                  <a:close/>
                </a:path>
                <a:path w="3085465" h="380364">
                  <a:moveTo>
                    <a:pt x="933069" y="126"/>
                  </a:moveTo>
                  <a:lnTo>
                    <a:pt x="764159" y="126"/>
                  </a:lnTo>
                  <a:lnTo>
                    <a:pt x="248031" y="1143"/>
                  </a:lnTo>
                  <a:lnTo>
                    <a:pt x="1215929" y="1143"/>
                  </a:lnTo>
                  <a:lnTo>
                    <a:pt x="933069" y="126"/>
                  </a:lnTo>
                  <a:close/>
                </a:path>
              </a:pathLst>
            </a:custGeom>
            <a:solidFill>
              <a:srgbClr val="FCB0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64308" y="360426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close/>
                </a:path>
              </a:pathLst>
            </a:custGeom>
            <a:ln w="100584">
              <a:solidFill>
                <a:srgbClr val="FCB0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930144" y="3177539"/>
              <a:ext cx="3764915" cy="1091565"/>
            </a:xfrm>
            <a:custGeom>
              <a:avLst/>
              <a:gdLst/>
              <a:ahLst/>
              <a:cxnLst/>
              <a:rect l="l" t="t" r="r" b="b"/>
              <a:pathLst>
                <a:path w="3764915" h="1091564">
                  <a:moveTo>
                    <a:pt x="13207" y="787400"/>
                  </a:moveTo>
                  <a:lnTo>
                    <a:pt x="0" y="887095"/>
                  </a:lnTo>
                  <a:lnTo>
                    <a:pt x="26797" y="890651"/>
                  </a:lnTo>
                  <a:lnTo>
                    <a:pt x="88773" y="900049"/>
                  </a:lnTo>
                  <a:lnTo>
                    <a:pt x="604011" y="988822"/>
                  </a:lnTo>
                  <a:lnTo>
                    <a:pt x="834517" y="1025398"/>
                  </a:lnTo>
                  <a:lnTo>
                    <a:pt x="952881" y="1042162"/>
                  </a:lnTo>
                  <a:lnTo>
                    <a:pt x="1071118" y="1057402"/>
                  </a:lnTo>
                  <a:lnTo>
                    <a:pt x="1188466" y="1070483"/>
                  </a:lnTo>
                  <a:lnTo>
                    <a:pt x="1303146" y="1080897"/>
                  </a:lnTo>
                  <a:lnTo>
                    <a:pt x="1414018" y="1088009"/>
                  </a:lnTo>
                  <a:lnTo>
                    <a:pt x="1468120" y="1090295"/>
                  </a:lnTo>
                  <a:lnTo>
                    <a:pt x="1520444" y="1091438"/>
                  </a:lnTo>
                  <a:lnTo>
                    <a:pt x="1571117" y="1091565"/>
                  </a:lnTo>
                  <a:lnTo>
                    <a:pt x="1620139" y="1090549"/>
                  </a:lnTo>
                  <a:lnTo>
                    <a:pt x="1715389" y="1086104"/>
                  </a:lnTo>
                  <a:lnTo>
                    <a:pt x="1811020" y="1079500"/>
                  </a:lnTo>
                  <a:lnTo>
                    <a:pt x="1906523" y="1070610"/>
                  </a:lnTo>
                  <a:lnTo>
                    <a:pt x="2001901" y="1059561"/>
                  </a:lnTo>
                  <a:lnTo>
                    <a:pt x="2096643" y="1046480"/>
                  </a:lnTo>
                  <a:lnTo>
                    <a:pt x="2190496" y="1031494"/>
                  </a:lnTo>
                  <a:lnTo>
                    <a:pt x="2283460" y="1014476"/>
                  </a:lnTo>
                  <a:lnTo>
                    <a:pt x="2374772" y="995553"/>
                  </a:lnTo>
                  <a:lnTo>
                    <a:pt x="2394631" y="990981"/>
                  </a:lnTo>
                  <a:lnTo>
                    <a:pt x="1571370" y="990981"/>
                  </a:lnTo>
                  <a:lnTo>
                    <a:pt x="1522730" y="990854"/>
                  </a:lnTo>
                  <a:lnTo>
                    <a:pt x="1472310" y="989838"/>
                  </a:lnTo>
                  <a:lnTo>
                    <a:pt x="1420495" y="987679"/>
                  </a:lnTo>
                  <a:lnTo>
                    <a:pt x="1312164" y="980694"/>
                  </a:lnTo>
                  <a:lnTo>
                    <a:pt x="1199515" y="970534"/>
                  </a:lnTo>
                  <a:lnTo>
                    <a:pt x="1084071" y="957707"/>
                  </a:lnTo>
                  <a:lnTo>
                    <a:pt x="967105" y="942594"/>
                  </a:lnTo>
                  <a:lnTo>
                    <a:pt x="849883" y="925957"/>
                  </a:lnTo>
                  <a:lnTo>
                    <a:pt x="620776" y="889635"/>
                  </a:lnTo>
                  <a:lnTo>
                    <a:pt x="104267" y="800735"/>
                  </a:lnTo>
                  <a:lnTo>
                    <a:pt x="39878" y="790956"/>
                  </a:lnTo>
                  <a:lnTo>
                    <a:pt x="13207" y="787400"/>
                  </a:lnTo>
                  <a:close/>
                </a:path>
                <a:path w="3764915" h="1091564">
                  <a:moveTo>
                    <a:pt x="3594677" y="118475"/>
                  </a:moveTo>
                  <a:lnTo>
                    <a:pt x="3590035" y="123825"/>
                  </a:lnTo>
                  <a:lnTo>
                    <a:pt x="3509518" y="222758"/>
                  </a:lnTo>
                  <a:lnTo>
                    <a:pt x="3488054" y="248538"/>
                  </a:lnTo>
                  <a:lnTo>
                    <a:pt x="3443604" y="300989"/>
                  </a:lnTo>
                  <a:lnTo>
                    <a:pt x="3397377" y="353568"/>
                  </a:lnTo>
                  <a:lnTo>
                    <a:pt x="3348735" y="406146"/>
                  </a:lnTo>
                  <a:lnTo>
                    <a:pt x="3298190" y="457327"/>
                  </a:lnTo>
                  <a:lnTo>
                    <a:pt x="3245358" y="506984"/>
                  </a:lnTo>
                  <a:lnTo>
                    <a:pt x="3190367" y="554228"/>
                  </a:lnTo>
                  <a:lnTo>
                    <a:pt x="3133471" y="598170"/>
                  </a:lnTo>
                  <a:lnTo>
                    <a:pt x="3074416" y="638429"/>
                  </a:lnTo>
                  <a:lnTo>
                    <a:pt x="3013456" y="674116"/>
                  </a:lnTo>
                  <a:lnTo>
                    <a:pt x="2948432" y="705993"/>
                  </a:lnTo>
                  <a:lnTo>
                    <a:pt x="2879344" y="736346"/>
                  </a:lnTo>
                  <a:lnTo>
                    <a:pt x="2843403" y="750951"/>
                  </a:lnTo>
                  <a:lnTo>
                    <a:pt x="2806572" y="765175"/>
                  </a:lnTo>
                  <a:lnTo>
                    <a:pt x="2768981" y="779145"/>
                  </a:lnTo>
                  <a:lnTo>
                    <a:pt x="2730372" y="792734"/>
                  </a:lnTo>
                  <a:lnTo>
                    <a:pt x="2691130" y="805942"/>
                  </a:lnTo>
                  <a:lnTo>
                    <a:pt x="2651125" y="818769"/>
                  </a:lnTo>
                  <a:lnTo>
                    <a:pt x="2610485" y="831215"/>
                  </a:lnTo>
                  <a:lnTo>
                    <a:pt x="2569210" y="843280"/>
                  </a:lnTo>
                  <a:lnTo>
                    <a:pt x="2527554" y="854837"/>
                  </a:lnTo>
                  <a:lnTo>
                    <a:pt x="2442083" y="876808"/>
                  </a:lnTo>
                  <a:lnTo>
                    <a:pt x="2354453" y="897001"/>
                  </a:lnTo>
                  <a:lnTo>
                    <a:pt x="2265172" y="915543"/>
                  </a:lnTo>
                  <a:lnTo>
                    <a:pt x="2174621" y="932180"/>
                  </a:lnTo>
                  <a:lnTo>
                    <a:pt x="2082800" y="946912"/>
                  </a:lnTo>
                  <a:lnTo>
                    <a:pt x="1990344" y="959739"/>
                  </a:lnTo>
                  <a:lnTo>
                    <a:pt x="1897253" y="970407"/>
                  </a:lnTo>
                  <a:lnTo>
                    <a:pt x="1804034" y="979043"/>
                  </a:lnTo>
                  <a:lnTo>
                    <a:pt x="1710817" y="985647"/>
                  </a:lnTo>
                  <a:lnTo>
                    <a:pt x="1617980" y="989965"/>
                  </a:lnTo>
                  <a:lnTo>
                    <a:pt x="1571370" y="990981"/>
                  </a:lnTo>
                  <a:lnTo>
                    <a:pt x="2394631" y="990981"/>
                  </a:lnTo>
                  <a:lnTo>
                    <a:pt x="2464689" y="974852"/>
                  </a:lnTo>
                  <a:lnTo>
                    <a:pt x="2552572" y="952246"/>
                  </a:lnTo>
                  <a:lnTo>
                    <a:pt x="2596134" y="940181"/>
                  </a:lnTo>
                  <a:lnTo>
                    <a:pt x="2638552" y="927862"/>
                  </a:lnTo>
                  <a:lnTo>
                    <a:pt x="2680589" y="914908"/>
                  </a:lnTo>
                  <a:lnTo>
                    <a:pt x="2721864" y="901700"/>
                  </a:lnTo>
                  <a:lnTo>
                    <a:pt x="2762377" y="888111"/>
                  </a:lnTo>
                  <a:lnTo>
                    <a:pt x="2802255" y="874014"/>
                  </a:lnTo>
                  <a:lnTo>
                    <a:pt x="2841497" y="859536"/>
                  </a:lnTo>
                  <a:lnTo>
                    <a:pt x="2879852" y="844677"/>
                  </a:lnTo>
                  <a:lnTo>
                    <a:pt x="2917317" y="829437"/>
                  </a:lnTo>
                  <a:lnTo>
                    <a:pt x="2954020" y="813816"/>
                  </a:lnTo>
                  <a:lnTo>
                    <a:pt x="2989707" y="797687"/>
                  </a:lnTo>
                  <a:lnTo>
                    <a:pt x="3024505" y="781304"/>
                  </a:lnTo>
                  <a:lnTo>
                    <a:pt x="3059048" y="763778"/>
                  </a:lnTo>
                  <a:lnTo>
                    <a:pt x="3093339" y="744601"/>
                  </a:lnTo>
                  <a:lnTo>
                    <a:pt x="3126740" y="724281"/>
                  </a:lnTo>
                  <a:lnTo>
                    <a:pt x="3159379" y="702945"/>
                  </a:lnTo>
                  <a:lnTo>
                    <a:pt x="3191383" y="680466"/>
                  </a:lnTo>
                  <a:lnTo>
                    <a:pt x="3222497" y="657225"/>
                  </a:lnTo>
                  <a:lnTo>
                    <a:pt x="3252978" y="632968"/>
                  </a:lnTo>
                  <a:lnTo>
                    <a:pt x="3282696" y="608076"/>
                  </a:lnTo>
                  <a:lnTo>
                    <a:pt x="3311779" y="582676"/>
                  </a:lnTo>
                  <a:lnTo>
                    <a:pt x="3340100" y="556387"/>
                  </a:lnTo>
                  <a:lnTo>
                    <a:pt x="3394709" y="503174"/>
                  </a:lnTo>
                  <a:lnTo>
                    <a:pt x="3446526" y="448818"/>
                  </a:lnTo>
                  <a:lnTo>
                    <a:pt x="3495929" y="394208"/>
                  </a:lnTo>
                  <a:lnTo>
                    <a:pt x="3542665" y="339979"/>
                  </a:lnTo>
                  <a:lnTo>
                    <a:pt x="3628771" y="235838"/>
                  </a:lnTo>
                  <a:lnTo>
                    <a:pt x="3648709" y="211074"/>
                  </a:lnTo>
                  <a:lnTo>
                    <a:pt x="3668140" y="187325"/>
                  </a:lnTo>
                  <a:lnTo>
                    <a:pt x="3670419" y="184694"/>
                  </a:lnTo>
                  <a:lnTo>
                    <a:pt x="3594677" y="118475"/>
                  </a:lnTo>
                  <a:close/>
                </a:path>
                <a:path w="3764915" h="1091564">
                  <a:moveTo>
                    <a:pt x="3743803" y="80645"/>
                  </a:moveTo>
                  <a:lnTo>
                    <a:pt x="3627501" y="80645"/>
                  </a:lnTo>
                  <a:lnTo>
                    <a:pt x="3703447" y="146558"/>
                  </a:lnTo>
                  <a:lnTo>
                    <a:pt x="3670419" y="184694"/>
                  </a:lnTo>
                  <a:lnTo>
                    <a:pt x="3708146" y="217677"/>
                  </a:lnTo>
                  <a:lnTo>
                    <a:pt x="3743803" y="80645"/>
                  </a:lnTo>
                  <a:close/>
                </a:path>
                <a:path w="3764915" h="1091564">
                  <a:moveTo>
                    <a:pt x="3627501" y="80645"/>
                  </a:moveTo>
                  <a:lnTo>
                    <a:pt x="3594677" y="118475"/>
                  </a:lnTo>
                  <a:lnTo>
                    <a:pt x="3670419" y="184694"/>
                  </a:lnTo>
                  <a:lnTo>
                    <a:pt x="3703447" y="146558"/>
                  </a:lnTo>
                  <a:lnTo>
                    <a:pt x="3627501" y="80645"/>
                  </a:lnTo>
                  <a:close/>
                </a:path>
                <a:path w="3764915" h="1091564">
                  <a:moveTo>
                    <a:pt x="3764787" y="0"/>
                  </a:moveTo>
                  <a:lnTo>
                    <a:pt x="3556634" y="85217"/>
                  </a:lnTo>
                  <a:lnTo>
                    <a:pt x="3594677" y="118475"/>
                  </a:lnTo>
                  <a:lnTo>
                    <a:pt x="3627501" y="80645"/>
                  </a:lnTo>
                  <a:lnTo>
                    <a:pt x="3743803" y="80645"/>
                  </a:lnTo>
                  <a:lnTo>
                    <a:pt x="3764787" y="0"/>
                  </a:lnTo>
                  <a:close/>
                </a:path>
              </a:pathLst>
            </a:custGeom>
            <a:solidFill>
              <a:srgbClr val="FCB0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915924" y="2223516"/>
            <a:ext cx="4444365" cy="0"/>
          </a:xfrm>
          <a:custGeom>
            <a:avLst/>
            <a:gdLst/>
            <a:ahLst/>
            <a:cxnLst/>
            <a:rect l="l" t="t" r="r" b="b"/>
            <a:pathLst>
              <a:path w="4444365">
                <a:moveTo>
                  <a:pt x="0" y="0"/>
                </a:moveTo>
                <a:lnTo>
                  <a:pt x="4443984" y="0"/>
                </a:lnTo>
              </a:path>
            </a:pathLst>
          </a:custGeom>
          <a:ln w="76200">
            <a:solidFill>
              <a:srgbClr val="AE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15924" y="2644139"/>
            <a:ext cx="4444365" cy="0"/>
          </a:xfrm>
          <a:custGeom>
            <a:avLst/>
            <a:gdLst/>
            <a:ahLst/>
            <a:cxnLst/>
            <a:rect l="l" t="t" r="r" b="b"/>
            <a:pathLst>
              <a:path w="4444365">
                <a:moveTo>
                  <a:pt x="0" y="0"/>
                </a:moveTo>
                <a:lnTo>
                  <a:pt x="4443984" y="0"/>
                </a:lnTo>
              </a:path>
            </a:pathLst>
          </a:custGeom>
          <a:ln w="76200">
            <a:solidFill>
              <a:srgbClr val="AE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15924" y="3037332"/>
            <a:ext cx="4444365" cy="0"/>
          </a:xfrm>
          <a:custGeom>
            <a:avLst/>
            <a:gdLst/>
            <a:ahLst/>
            <a:cxnLst/>
            <a:rect l="l" t="t" r="r" b="b"/>
            <a:pathLst>
              <a:path w="4444365">
                <a:moveTo>
                  <a:pt x="0" y="0"/>
                </a:moveTo>
                <a:lnTo>
                  <a:pt x="4443984" y="0"/>
                </a:lnTo>
              </a:path>
            </a:pathLst>
          </a:custGeom>
          <a:ln w="76200">
            <a:solidFill>
              <a:srgbClr val="AE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15924" y="3851147"/>
            <a:ext cx="4444365" cy="0"/>
          </a:xfrm>
          <a:custGeom>
            <a:avLst/>
            <a:gdLst/>
            <a:ahLst/>
            <a:cxnLst/>
            <a:rect l="l" t="t" r="r" b="b"/>
            <a:pathLst>
              <a:path w="4444365">
                <a:moveTo>
                  <a:pt x="0" y="0"/>
                </a:moveTo>
                <a:lnTo>
                  <a:pt x="4443984" y="0"/>
                </a:lnTo>
              </a:path>
            </a:pathLst>
          </a:custGeom>
          <a:ln w="76200">
            <a:solidFill>
              <a:srgbClr val="AE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40" name="object 40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43" name="object 43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42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323" y="318515"/>
            <a:ext cx="7772400" cy="902335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89635">
              <a:lnSpc>
                <a:spcPct val="100000"/>
              </a:lnSpc>
              <a:spcBef>
                <a:spcPts val="670"/>
              </a:spcBef>
            </a:pPr>
            <a:r>
              <a:rPr spc="-20" dirty="0"/>
              <a:t>Johnson’s </a:t>
            </a:r>
            <a:r>
              <a:rPr dirty="0"/>
              <a:t>Rule</a:t>
            </a:r>
            <a:r>
              <a:rPr spc="-85" dirty="0"/>
              <a:t> </a:t>
            </a:r>
            <a:r>
              <a:rPr dirty="0"/>
              <a:t>Example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7550" y="1430616"/>
          <a:ext cx="5143500" cy="25597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20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6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Job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2085"/>
                        </a:lnSpc>
                      </a:pPr>
                      <a:r>
                        <a:rPr sz="2000" i="1" spc="5" dirty="0">
                          <a:latin typeface="Arial"/>
                          <a:cs typeface="Arial"/>
                        </a:rPr>
                        <a:t>Work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Center</a:t>
                      </a:r>
                      <a:r>
                        <a:rPr sz="20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8890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(Drill</a:t>
                      </a:r>
                      <a:r>
                        <a:rPr sz="2000" i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Press)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085"/>
                        </a:lnSpc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Work 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Center</a:t>
                      </a:r>
                      <a:r>
                        <a:rPr sz="200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9525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(Lathe)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68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  <a:spcBef>
                          <a:spcPts val="3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ts val="232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ts val="2320"/>
                        </a:lnSpc>
                        <a:spcBef>
                          <a:spcPts val="34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1395" y="4219397"/>
            <a:ext cx="78867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6910" algn="l"/>
              </a:tabLst>
            </a:pPr>
            <a:r>
              <a:rPr sz="1400" spc="-45" dirty="0">
                <a:latin typeface="Arial"/>
                <a:cs typeface="Arial"/>
              </a:rPr>
              <a:t>T</a:t>
            </a:r>
            <a:r>
              <a:rPr sz="1400" spc="-5" dirty="0">
                <a:latin typeface="Arial"/>
                <a:cs typeface="Arial"/>
              </a:rPr>
              <a:t>i</a:t>
            </a:r>
            <a:r>
              <a:rPr sz="1400" spc="10" dirty="0">
                <a:latin typeface="Arial"/>
                <a:cs typeface="Arial"/>
              </a:rPr>
              <a:t>m</a:t>
            </a:r>
            <a:r>
              <a:rPr sz="1400" spc="-5" dirty="0">
                <a:latin typeface="Arial"/>
                <a:cs typeface="Arial"/>
              </a:rPr>
              <a:t>e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9188" y="4219397"/>
            <a:ext cx="12446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2822" y="4219397"/>
            <a:ext cx="220979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5" dirty="0"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7873" y="4219397"/>
            <a:ext cx="220979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5" dirty="0">
                <a:latin typeface="Arial"/>
                <a:cs typeface="Arial"/>
              </a:rPr>
              <a:t>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12128" y="4219397"/>
            <a:ext cx="22161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28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66786" y="4219397"/>
            <a:ext cx="220979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5" dirty="0">
                <a:latin typeface="Arial"/>
                <a:cs typeface="Arial"/>
              </a:rPr>
              <a:t>33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926591" y="4468367"/>
          <a:ext cx="7256778" cy="1362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6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1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3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4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73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82751">
                <a:tc>
                  <a:txBody>
                    <a:bodyPr/>
                    <a:lstStyle/>
                    <a:p>
                      <a:pPr marR="26670" algn="ctr">
                        <a:lnSpc>
                          <a:spcPts val="1775"/>
                        </a:lnSpc>
                        <a:spcBef>
                          <a:spcPts val="720"/>
                        </a:spcBef>
                      </a:pPr>
                      <a:r>
                        <a:rPr sz="1600" b="1" i="1" dirty="0">
                          <a:latin typeface="Arial"/>
                          <a:cs typeface="Arial"/>
                        </a:rPr>
                        <a:t>WC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R="27305" algn="ctr">
                        <a:lnSpc>
                          <a:spcPts val="1775"/>
                        </a:lnSpc>
                      </a:pPr>
                      <a:r>
                        <a:rPr sz="1600" b="1" i="1" dirty="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800" b="1" i="1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542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R="25400" algn="ct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800" b="1" i="1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542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81915" algn="ct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800" b="1" i="1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542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800" b="1" i="1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542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800" b="1" i="1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8542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AE6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704">
                <a:tc>
                  <a:txBody>
                    <a:bodyPr/>
                    <a:lstStyle/>
                    <a:p>
                      <a:pPr marR="26034" algn="ctr">
                        <a:lnSpc>
                          <a:spcPts val="1775"/>
                        </a:lnSpc>
                        <a:spcBef>
                          <a:spcPts val="745"/>
                        </a:spcBef>
                      </a:pPr>
                      <a:r>
                        <a:rPr sz="1600" b="1" i="1" dirty="0">
                          <a:latin typeface="Arial"/>
                          <a:cs typeface="Arial"/>
                        </a:rPr>
                        <a:t>WC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R="26670" algn="ctr">
                        <a:lnSpc>
                          <a:spcPts val="1775"/>
                        </a:lnSpc>
                      </a:pPr>
                      <a:r>
                        <a:rPr sz="1600" b="1" i="1" dirty="0">
                          <a:latin typeface="Arial"/>
                          <a:cs typeface="Arial"/>
                        </a:rPr>
                        <a:t>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53975">
                      <a:solidFill>
                        <a:srgbClr val="000000"/>
                      </a:solidFill>
                      <a:prstDash val="solid"/>
                    </a:lnL>
                    <a:lnR w="539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539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3975">
                      <a:solidFill>
                        <a:srgbClr val="000000"/>
                      </a:solidFill>
                      <a:prstDash val="solid"/>
                    </a:lnL>
                    <a:lnT w="53975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5955791" y="2587751"/>
            <a:ext cx="2481580" cy="777240"/>
            <a:chOff x="5955791" y="2587751"/>
            <a:chExt cx="2481580" cy="777240"/>
          </a:xfrm>
        </p:grpSpPr>
        <p:sp>
          <p:nvSpPr>
            <p:cNvPr id="14" name="object 14"/>
            <p:cNvSpPr/>
            <p:nvPr/>
          </p:nvSpPr>
          <p:spPr>
            <a:xfrm>
              <a:off x="6038087" y="2587751"/>
              <a:ext cx="2399030" cy="759460"/>
            </a:xfrm>
            <a:custGeom>
              <a:avLst/>
              <a:gdLst/>
              <a:ahLst/>
              <a:cxnLst/>
              <a:rect l="l" t="t" r="r" b="b"/>
              <a:pathLst>
                <a:path w="2399029" h="759460">
                  <a:moveTo>
                    <a:pt x="2398775" y="0"/>
                  </a:moveTo>
                  <a:lnTo>
                    <a:pt x="0" y="0"/>
                  </a:lnTo>
                  <a:lnTo>
                    <a:pt x="0" y="758951"/>
                  </a:lnTo>
                  <a:lnTo>
                    <a:pt x="2398775" y="758951"/>
                  </a:lnTo>
                  <a:lnTo>
                    <a:pt x="2398775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55791" y="2682239"/>
              <a:ext cx="612647" cy="68275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033515" y="2595372"/>
            <a:ext cx="469900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425"/>
              </a:spcBef>
            </a:pPr>
            <a:r>
              <a:rPr sz="2400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97368" y="2682239"/>
            <a:ext cx="612648" cy="6827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978140" y="2595372"/>
            <a:ext cx="451484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425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06640" y="2682239"/>
            <a:ext cx="627888" cy="6827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490459" y="2595372"/>
            <a:ext cx="487680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425"/>
              </a:spcBef>
            </a:pPr>
            <a:r>
              <a:rPr sz="2400" spc="-5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915911" y="2682239"/>
            <a:ext cx="627888" cy="6827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999731" y="2595372"/>
            <a:ext cx="490855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425"/>
              </a:spcBef>
            </a:pPr>
            <a:r>
              <a:rPr sz="2400" spc="-5" dirty="0"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443471" y="2682239"/>
            <a:ext cx="612648" cy="68275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502907" y="2595372"/>
            <a:ext cx="497205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425"/>
              </a:spcBef>
            </a:pPr>
            <a:r>
              <a:rPr sz="2400" dirty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191" y="6437376"/>
            <a:ext cx="1628139" cy="411480"/>
            <a:chOff x="12191" y="6437376"/>
            <a:chExt cx="1628139" cy="411480"/>
          </a:xfrm>
        </p:grpSpPr>
        <p:sp>
          <p:nvSpPr>
            <p:cNvPr id="26" name="object 26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763" y="6441948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7491983" y="6437376"/>
            <a:ext cx="1630680" cy="411480"/>
            <a:chOff x="7491983" y="6437376"/>
            <a:chExt cx="1630680" cy="411480"/>
          </a:xfrm>
        </p:grpSpPr>
        <p:sp>
          <p:nvSpPr>
            <p:cNvPr id="29" name="object 29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1621536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21536" y="402335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96555" y="6441948"/>
              <a:ext cx="1621790" cy="402590"/>
            </a:xfrm>
            <a:custGeom>
              <a:avLst/>
              <a:gdLst/>
              <a:ahLst/>
              <a:cxnLst/>
              <a:rect l="l" t="t" r="r" b="b"/>
              <a:pathLst>
                <a:path w="1621790" h="402590">
                  <a:moveTo>
                    <a:pt x="0" y="402335"/>
                  </a:moveTo>
                  <a:lnTo>
                    <a:pt x="1621536" y="402335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492" y="6638266"/>
            <a:ext cx="1299845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spc="10" dirty="0">
                <a:solidFill>
                  <a:srgbClr val="3333CC"/>
                </a:solidFill>
                <a:latin typeface="Arial"/>
                <a:cs typeface="Arial"/>
              </a:rPr>
              <a:t>© </a:t>
            </a:r>
            <a:r>
              <a:rPr sz="900" dirty="0">
                <a:solidFill>
                  <a:srgbClr val="3333CC"/>
                </a:solidFill>
                <a:latin typeface="Arial"/>
                <a:cs typeface="Arial"/>
              </a:rPr>
              <a:t>2008 Prentice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Hall,</a:t>
            </a:r>
            <a:r>
              <a:rPr sz="900" spc="-1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spc="5" dirty="0">
                <a:solidFill>
                  <a:srgbClr val="3333CC"/>
                </a:solidFill>
                <a:latin typeface="Arial"/>
                <a:cs typeface="Arial"/>
              </a:rPr>
              <a:t>Inc.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82914" y="6638266"/>
            <a:ext cx="381000" cy="130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10"/>
              </a:lnSpc>
            </a:pPr>
            <a:r>
              <a:rPr sz="900" b="1" spc="5" dirty="0">
                <a:solidFill>
                  <a:srgbClr val="3333CC"/>
                </a:solidFill>
                <a:latin typeface="Arial"/>
                <a:cs typeface="Arial"/>
              </a:rPr>
              <a:t>15 –</a:t>
            </a:r>
            <a:r>
              <a:rPr sz="900" b="1" spc="-1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3333CC"/>
                </a:solidFill>
                <a:latin typeface="Arial"/>
                <a:cs typeface="Arial"/>
              </a:rPr>
              <a:t>43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7323" y="318515"/>
            <a:ext cx="7772400" cy="902335"/>
          </a:xfrm>
          <a:prstGeom prst="rect">
            <a:avLst/>
          </a:prstGeom>
          <a:solidFill>
            <a:srgbClr val="F7FAFF"/>
          </a:solidFill>
          <a:ln w="9144">
            <a:solidFill>
              <a:srgbClr val="00000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89635">
              <a:lnSpc>
                <a:spcPct val="100000"/>
              </a:lnSpc>
              <a:spcBef>
                <a:spcPts val="670"/>
              </a:spcBef>
            </a:pPr>
            <a:r>
              <a:rPr spc="-20" dirty="0"/>
              <a:t>Johnson’s </a:t>
            </a:r>
            <a:r>
              <a:rPr dirty="0"/>
              <a:t>Rule</a:t>
            </a:r>
            <a:r>
              <a:rPr spc="-85" dirty="0"/>
              <a:t> </a:t>
            </a:r>
            <a:r>
              <a:rPr dirty="0"/>
              <a:t>Example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17550" y="1430616"/>
          <a:ext cx="5143500" cy="25597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20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96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Job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4892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2085"/>
                        </a:lnSpc>
                      </a:pPr>
                      <a:r>
                        <a:rPr sz="2000" i="1" spc="5" dirty="0">
                          <a:latin typeface="Arial"/>
                          <a:cs typeface="Arial"/>
                        </a:rPr>
                        <a:t>Work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Center</a:t>
                      </a:r>
                      <a:r>
                        <a:rPr sz="20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8890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(Drill</a:t>
                      </a:r>
                      <a:r>
                        <a:rPr sz="2000" i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Press)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2085"/>
                        </a:lnSpc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Work </a:t>
                      </a:r>
                      <a:r>
                        <a:rPr sz="2000" i="1" spc="-10" dirty="0">
                          <a:latin typeface="Arial"/>
                          <a:cs typeface="Arial"/>
                        </a:rPr>
                        <a:t>Center</a:t>
                      </a:r>
                      <a:r>
                        <a:rPr sz="200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i="1" spc="-5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9525" algn="ctr">
                        <a:lnSpc>
                          <a:spcPts val="2280"/>
                        </a:lnSpc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(Lathe)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5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A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B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68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C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59">
                <a:tc>
                  <a:txBody>
                    <a:bodyPr/>
                    <a:lstStyle/>
                    <a:p>
                      <a:pPr algn="ctr">
                        <a:lnSpc>
                          <a:spcPts val="2320"/>
                        </a:lnSpc>
                        <a:spcBef>
                          <a:spcPts val="340"/>
                        </a:spcBef>
                      </a:pPr>
                      <a:r>
                        <a:rPr sz="2000" i="1" dirty="0">
                          <a:latin typeface="Arial"/>
                          <a:cs typeface="Arial"/>
                        </a:rPr>
                        <a:t>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70280" algn="r">
                        <a:lnSpc>
                          <a:spcPts val="2320"/>
                        </a:lnSpc>
                        <a:spcBef>
                          <a:spcPts val="34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F"/>
                    </a:solidFill>
                  </a:tcPr>
                </a:tc>
                <a:tc>
                  <a:txBody>
                    <a:bodyPr/>
                    <a:lstStyle/>
                    <a:p>
                      <a:pPr marR="939165" algn="r">
                        <a:lnSpc>
                          <a:spcPts val="2320"/>
                        </a:lnSpc>
                        <a:spcBef>
                          <a:spcPts val="340"/>
                        </a:spcBef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12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43180" marB="0">
                    <a:solidFill>
                      <a:srgbClr val="F7F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798576" y="4169664"/>
            <a:ext cx="7422515" cy="1701164"/>
            <a:chOff x="798576" y="4169664"/>
            <a:chExt cx="7422515" cy="1701164"/>
          </a:xfrm>
        </p:grpSpPr>
        <p:sp>
          <p:nvSpPr>
            <p:cNvPr id="7" name="object 7"/>
            <p:cNvSpPr/>
            <p:nvPr/>
          </p:nvSpPr>
          <p:spPr>
            <a:xfrm>
              <a:off x="8011668" y="5167884"/>
              <a:ext cx="189230" cy="683260"/>
            </a:xfrm>
            <a:custGeom>
              <a:avLst/>
              <a:gdLst/>
              <a:ahLst/>
              <a:cxnLst/>
              <a:rect l="l" t="t" r="r" b="b"/>
              <a:pathLst>
                <a:path w="189229" h="683260">
                  <a:moveTo>
                    <a:pt x="188975" y="0"/>
                  </a:moveTo>
                  <a:lnTo>
                    <a:pt x="0" y="0"/>
                  </a:lnTo>
                  <a:lnTo>
                    <a:pt x="0" y="682751"/>
                  </a:lnTo>
                  <a:lnTo>
                    <a:pt x="188975" y="682751"/>
                  </a:lnTo>
                  <a:lnTo>
                    <a:pt x="188975" y="0"/>
                  </a:lnTo>
                  <a:close/>
                </a:path>
              </a:pathLst>
            </a:custGeom>
            <a:solidFill>
              <a:srgbClr val="AE6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11668" y="5167884"/>
              <a:ext cx="189230" cy="683260"/>
            </a:xfrm>
            <a:custGeom>
              <a:avLst/>
              <a:gdLst/>
              <a:ahLst/>
              <a:cxnLst/>
              <a:rect l="l" t="t" r="r" b="b"/>
              <a:pathLst>
                <a:path w="189229" h="683260">
                  <a:moveTo>
                    <a:pt x="0" y="682751"/>
                  </a:moveTo>
                  <a:lnTo>
                    <a:pt x="188975" y="682751"/>
                  </a:lnTo>
                  <a:lnTo>
                    <a:pt x="188975" y="0"/>
                  </a:lnTo>
                  <a:lnTo>
                    <a:pt x="0" y="0"/>
                  </a:lnTo>
                  <a:lnTo>
                    <a:pt x="0" y="68275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55052" y="4488180"/>
              <a:ext cx="546100" cy="683260"/>
            </a:xfrm>
            <a:custGeom>
              <a:avLst/>
              <a:gdLst/>
              <a:ahLst/>
              <a:cxnLst/>
              <a:rect l="l" t="t" r="r" b="b"/>
              <a:pathLst>
                <a:path w="546100" h="683260">
                  <a:moveTo>
                    <a:pt x="545592" y="0"/>
                  </a:moveTo>
                  <a:lnTo>
                    <a:pt x="0" y="0"/>
                  </a:lnTo>
                  <a:lnTo>
                    <a:pt x="0" y="682752"/>
                  </a:lnTo>
                  <a:lnTo>
                    <a:pt x="545592" y="682752"/>
                  </a:lnTo>
                  <a:lnTo>
                    <a:pt x="545592" y="0"/>
                  </a:lnTo>
                  <a:close/>
                </a:path>
              </a:pathLst>
            </a:custGeom>
            <a:solidFill>
              <a:srgbClr val="AE6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55052" y="4488180"/>
              <a:ext cx="546100" cy="683260"/>
            </a:xfrm>
            <a:custGeom>
              <a:avLst/>
              <a:gdLst/>
              <a:ahLst/>
              <a:cxnLst/>
              <a:rect l="l" t="t" r="r" b="b"/>
              <a:pathLst>
                <a:path w="546100" h="683260">
                  <a:moveTo>
                    <a:pt x="0" y="682752"/>
                  </a:moveTo>
                  <a:lnTo>
                    <a:pt x="545592" y="682752"/>
                  </a:lnTo>
                  <a:lnTo>
                    <a:pt x="545592" y="0"/>
                  </a:lnTo>
                  <a:lnTo>
                    <a:pt x="0" y="0"/>
                  </a:lnTo>
                  <a:lnTo>
                    <a:pt x="0" y="68275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17164" y="5167884"/>
              <a:ext cx="186055" cy="683260"/>
            </a:xfrm>
            <a:custGeom>
              <a:avLst/>
              <a:gdLst/>
              <a:ahLst/>
              <a:cxnLst/>
              <a:rect l="l" t="t" r="r" b="b"/>
              <a:pathLst>
                <a:path w="186054" h="683260">
                  <a:moveTo>
                    <a:pt x="185927" y="0"/>
                  </a:moveTo>
                  <a:lnTo>
                    <a:pt x="0" y="0"/>
                  </a:lnTo>
                  <a:lnTo>
                    <a:pt x="0" y="682751"/>
                  </a:lnTo>
                  <a:lnTo>
                    <a:pt x="185927" y="682751"/>
                  </a:lnTo>
                  <a:lnTo>
                    <a:pt x="185927" y="0"/>
                  </a:lnTo>
                  <a:close/>
                </a:path>
              </a:pathLst>
            </a:custGeom>
            <a:solidFill>
              <a:srgbClr val="AE6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17164" y="5167884"/>
              <a:ext cx="186055" cy="683260"/>
            </a:xfrm>
            <a:custGeom>
              <a:avLst/>
              <a:gdLst/>
              <a:ahLst/>
              <a:cxnLst/>
              <a:rect l="l" t="t" r="r" b="b"/>
              <a:pathLst>
                <a:path w="186054" h="683260">
                  <a:moveTo>
                    <a:pt x="0" y="682751"/>
                  </a:moveTo>
                  <a:lnTo>
                    <a:pt x="185927" y="682751"/>
                  </a:lnTo>
                  <a:lnTo>
                    <a:pt x="185927" y="0"/>
                  </a:lnTo>
                  <a:lnTo>
                    <a:pt x="0" y="0"/>
                  </a:lnTo>
                  <a:lnTo>
                    <a:pt x="0" y="68275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92580" y="5167884"/>
              <a:ext cx="542925" cy="683260"/>
            </a:xfrm>
            <a:custGeom>
              <a:avLst/>
              <a:gdLst/>
              <a:ahLst/>
              <a:cxnLst/>
              <a:rect l="l" t="t" r="r" b="b"/>
              <a:pathLst>
                <a:path w="542925" h="683260">
                  <a:moveTo>
                    <a:pt x="542544" y="0"/>
                  </a:moveTo>
                  <a:lnTo>
                    <a:pt x="0" y="0"/>
                  </a:lnTo>
                  <a:lnTo>
                    <a:pt x="0" y="682751"/>
                  </a:lnTo>
                  <a:lnTo>
                    <a:pt x="542544" y="682751"/>
                  </a:lnTo>
                  <a:lnTo>
                    <a:pt x="542544" y="0"/>
                  </a:lnTo>
                  <a:close/>
                </a:path>
              </a:pathLst>
            </a:custGeom>
            <a:solidFill>
              <a:srgbClr val="AE6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92580" y="5167884"/>
              <a:ext cx="542925" cy="683260"/>
            </a:xfrm>
            <a:custGeom>
              <a:avLst/>
              <a:gdLst/>
              <a:ahLst/>
              <a:cxnLst/>
              <a:rect l="l" t="t" r="r" b="b"/>
              <a:pathLst>
                <a:path w="542925" h="683260">
                  <a:moveTo>
                    <a:pt x="0" y="682751"/>
                  </a:moveTo>
                  <a:lnTo>
                    <a:pt x="542544" y="682751"/>
                  </a:lnTo>
                  <a:lnTo>
                    <a:pt x="542544" y="0"/>
                  </a:lnTo>
                  <a:lnTo>
                    <a:pt x="0" y="0"/>
                  </a:lnTo>
                  <a:lnTo>
                    <a:pt x="0" y="68275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8576" y="4169664"/>
              <a:ext cx="661416" cy="4114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63040" y="4169664"/>
              <a:ext cx="347472" cy="4114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01395" y="4219397"/>
            <a:ext cx="78867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76910" algn="l"/>
              </a:tabLst>
            </a:pPr>
            <a:r>
              <a:rPr sz="1400" b="1" i="1" spc="-45" dirty="0">
                <a:latin typeface="Arial"/>
                <a:cs typeface="Arial"/>
              </a:rPr>
              <a:t>T</a:t>
            </a:r>
            <a:r>
              <a:rPr sz="1400" b="1" i="1" spc="-5" dirty="0">
                <a:latin typeface="Arial"/>
                <a:cs typeface="Arial"/>
              </a:rPr>
              <a:t>ime</a:t>
            </a:r>
            <a:r>
              <a:rPr sz="1400" b="1" i="1" dirty="0">
                <a:latin typeface="Arial"/>
                <a:cs typeface="Arial"/>
              </a:rPr>
              <a:t>	</a:t>
            </a:r>
            <a:r>
              <a:rPr sz="1400" b="1" i="1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36064" y="4169664"/>
            <a:ext cx="347472" cy="4114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139188" y="4219397"/>
            <a:ext cx="12446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i="1" spc="-5" dirty="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179064" y="4169664"/>
            <a:ext cx="448056" cy="4114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82822" y="4219397"/>
            <a:ext cx="220979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i="1" spc="-15" dirty="0"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983479" y="4169664"/>
            <a:ext cx="448055" cy="4114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087873" y="4219397"/>
            <a:ext cx="220979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i="1" spc="-15" dirty="0">
                <a:latin typeface="Arial"/>
                <a:cs typeface="Arial"/>
              </a:rPr>
              <a:t>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07480" y="4169664"/>
            <a:ext cx="448055" cy="4114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612128" y="4219397"/>
            <a:ext cx="22161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i="1" spc="-10" dirty="0">
                <a:latin typeface="Arial"/>
                <a:cs typeface="Arial"/>
              </a:rPr>
              <a:t>28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461504" y="4169664"/>
            <a:ext cx="445007" cy="41148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566786" y="4219397"/>
            <a:ext cx="220979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i="1" spc="-15" dirty="0">
                <a:latin typeface="Arial"/>
                <a:cs typeface="Arial"/>
              </a:rPr>
              <a:t>33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98576" y="5836920"/>
            <a:ext cx="1000125" cy="408940"/>
            <a:chOff x="798576" y="5836920"/>
            <a:chExt cx="1000125" cy="408940"/>
          </a:xfrm>
        </p:grpSpPr>
        <p:sp>
          <p:nvSpPr>
            <p:cNvPr id="29" name="object 29"/>
            <p:cNvSpPr/>
            <p:nvPr/>
          </p:nvSpPr>
          <p:spPr>
            <a:xfrm>
              <a:off x="798576" y="5836920"/>
              <a:ext cx="658368" cy="40843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07008" y="5836920"/>
              <a:ext cx="441959" cy="40843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47800" y="5836920"/>
              <a:ext cx="350519" cy="40843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01395" y="5885484"/>
            <a:ext cx="77343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i="1" spc="-15" dirty="0">
                <a:latin typeface="Arial"/>
                <a:cs typeface="Arial"/>
              </a:rPr>
              <a:t>Time</a:t>
            </a:r>
            <a:r>
              <a:rPr sz="1400" b="1" spc="-15" dirty="0">
                <a:latin typeface="Wingdings"/>
                <a:cs typeface="Wingdings"/>
              </a:rPr>
              <a:t>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i="1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572577" y="4468177"/>
            <a:ext cx="6709409" cy="1777364"/>
            <a:chOff x="1572577" y="4468177"/>
            <a:chExt cx="6709409" cy="1777364"/>
          </a:xfrm>
        </p:grpSpPr>
        <p:sp>
          <p:nvSpPr>
            <p:cNvPr id="34" name="object 34"/>
            <p:cNvSpPr/>
            <p:nvPr/>
          </p:nvSpPr>
          <p:spPr>
            <a:xfrm>
              <a:off x="1703831" y="5836920"/>
              <a:ext cx="347471" cy="40843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93391" y="5836920"/>
              <a:ext cx="347471" cy="40843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74391" y="5836920"/>
              <a:ext cx="347471" cy="4084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55391" y="5836920"/>
              <a:ext cx="347471" cy="40843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35807" y="5836920"/>
              <a:ext cx="347471" cy="408432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179063" y="5836920"/>
              <a:ext cx="448056" cy="40843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474719" y="5836920"/>
              <a:ext cx="432815" cy="40843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749039" y="5836920"/>
              <a:ext cx="448056" cy="408432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041647" y="5836920"/>
              <a:ext cx="448055" cy="408432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11039" y="5836920"/>
              <a:ext cx="448056" cy="408432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803647" y="5836920"/>
              <a:ext cx="448055" cy="40843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126736" y="5836920"/>
              <a:ext cx="938784" cy="408432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15583" y="5836920"/>
              <a:ext cx="448056" cy="408432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60592" y="5836920"/>
              <a:ext cx="448056" cy="40843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708648" y="5836920"/>
              <a:ext cx="448055" cy="408432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089648" y="5836920"/>
              <a:ext cx="448055" cy="408432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470648" y="5836920"/>
              <a:ext cx="448055" cy="408432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836407" y="5836920"/>
              <a:ext cx="445007" cy="40843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92579" y="4488180"/>
              <a:ext cx="539750" cy="683260"/>
            </a:xfrm>
            <a:custGeom>
              <a:avLst/>
              <a:gdLst/>
              <a:ahLst/>
              <a:cxnLst/>
              <a:rect l="l" t="t" r="r" b="b"/>
              <a:pathLst>
                <a:path w="539750" h="683260">
                  <a:moveTo>
                    <a:pt x="539495" y="0"/>
                  </a:moveTo>
                  <a:lnTo>
                    <a:pt x="0" y="0"/>
                  </a:lnTo>
                  <a:lnTo>
                    <a:pt x="0" y="682752"/>
                  </a:lnTo>
                  <a:lnTo>
                    <a:pt x="539495" y="682752"/>
                  </a:lnTo>
                  <a:lnTo>
                    <a:pt x="539495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92579" y="4488180"/>
              <a:ext cx="539750" cy="683260"/>
            </a:xfrm>
            <a:custGeom>
              <a:avLst/>
              <a:gdLst/>
              <a:ahLst/>
              <a:cxnLst/>
              <a:rect l="l" t="t" r="r" b="b"/>
              <a:pathLst>
                <a:path w="539750" h="683260">
                  <a:moveTo>
                    <a:pt x="0" y="682752"/>
                  </a:moveTo>
                  <a:lnTo>
                    <a:pt x="539495" y="682752"/>
                  </a:lnTo>
                  <a:lnTo>
                    <a:pt x="539495" y="0"/>
                  </a:lnTo>
                  <a:lnTo>
                    <a:pt x="0" y="0"/>
                  </a:lnTo>
                  <a:lnTo>
                    <a:pt x="0" y="68275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612391" y="4661103"/>
            <a:ext cx="5016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699313" y="4462081"/>
            <a:ext cx="972819" cy="723265"/>
            <a:chOff x="6699313" y="4462081"/>
            <a:chExt cx="972819" cy="723265"/>
          </a:xfrm>
        </p:grpSpPr>
        <p:sp>
          <p:nvSpPr>
            <p:cNvPr id="56" name="object 56"/>
            <p:cNvSpPr/>
            <p:nvPr/>
          </p:nvSpPr>
          <p:spPr>
            <a:xfrm>
              <a:off x="6719316" y="4482084"/>
              <a:ext cx="932815" cy="683260"/>
            </a:xfrm>
            <a:custGeom>
              <a:avLst/>
              <a:gdLst/>
              <a:ahLst/>
              <a:cxnLst/>
              <a:rect l="l" t="t" r="r" b="b"/>
              <a:pathLst>
                <a:path w="932815" h="683260">
                  <a:moveTo>
                    <a:pt x="932687" y="0"/>
                  </a:moveTo>
                  <a:lnTo>
                    <a:pt x="0" y="0"/>
                  </a:lnTo>
                  <a:lnTo>
                    <a:pt x="0" y="682751"/>
                  </a:lnTo>
                  <a:lnTo>
                    <a:pt x="932687" y="682751"/>
                  </a:lnTo>
                  <a:lnTo>
                    <a:pt x="932687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719316" y="4482084"/>
              <a:ext cx="932815" cy="683260"/>
            </a:xfrm>
            <a:custGeom>
              <a:avLst/>
              <a:gdLst/>
              <a:ahLst/>
              <a:cxnLst/>
              <a:rect l="l" t="t" r="r" b="b"/>
              <a:pathLst>
                <a:path w="932815" h="683260">
                  <a:moveTo>
                    <a:pt x="0" y="682751"/>
                  </a:moveTo>
                  <a:lnTo>
                    <a:pt x="932687" y="682751"/>
                  </a:lnTo>
                  <a:lnTo>
                    <a:pt x="932687" y="0"/>
                  </a:lnTo>
                  <a:lnTo>
                    <a:pt x="0" y="0"/>
                  </a:lnTo>
                  <a:lnTo>
                    <a:pt x="0" y="682751"/>
                  </a:lnTo>
                  <a:close/>
                </a:path>
              </a:pathLst>
            </a:custGeom>
            <a:ln w="396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739128" y="4661103"/>
            <a:ext cx="89344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1590" algn="ctr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214937" y="4468177"/>
            <a:ext cx="1524635" cy="723265"/>
            <a:chOff x="5214937" y="4468177"/>
            <a:chExt cx="1524635" cy="723265"/>
          </a:xfrm>
        </p:grpSpPr>
        <p:sp>
          <p:nvSpPr>
            <p:cNvPr id="60" name="object 60"/>
            <p:cNvSpPr/>
            <p:nvPr/>
          </p:nvSpPr>
          <p:spPr>
            <a:xfrm>
              <a:off x="5234940" y="4488180"/>
              <a:ext cx="1484630" cy="683260"/>
            </a:xfrm>
            <a:custGeom>
              <a:avLst/>
              <a:gdLst/>
              <a:ahLst/>
              <a:cxnLst/>
              <a:rect l="l" t="t" r="r" b="b"/>
              <a:pathLst>
                <a:path w="1484629" h="683260">
                  <a:moveTo>
                    <a:pt x="1484375" y="0"/>
                  </a:moveTo>
                  <a:lnTo>
                    <a:pt x="0" y="0"/>
                  </a:lnTo>
                  <a:lnTo>
                    <a:pt x="0" y="682752"/>
                  </a:lnTo>
                  <a:lnTo>
                    <a:pt x="1484375" y="682752"/>
                  </a:lnTo>
                  <a:lnTo>
                    <a:pt x="1484375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234940" y="4488180"/>
              <a:ext cx="1484630" cy="683260"/>
            </a:xfrm>
            <a:custGeom>
              <a:avLst/>
              <a:gdLst/>
              <a:ahLst/>
              <a:cxnLst/>
              <a:rect l="l" t="t" r="r" b="b"/>
              <a:pathLst>
                <a:path w="1484629" h="683260">
                  <a:moveTo>
                    <a:pt x="0" y="682752"/>
                  </a:moveTo>
                  <a:lnTo>
                    <a:pt x="1484375" y="682752"/>
                  </a:lnTo>
                  <a:lnTo>
                    <a:pt x="1484375" y="0"/>
                  </a:lnTo>
                  <a:lnTo>
                    <a:pt x="0" y="0"/>
                  </a:lnTo>
                  <a:lnTo>
                    <a:pt x="0" y="68275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899150" y="4661103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3383089" y="4468177"/>
            <a:ext cx="1875155" cy="723265"/>
            <a:chOff x="3383089" y="4468177"/>
            <a:chExt cx="1875155" cy="723265"/>
          </a:xfrm>
        </p:grpSpPr>
        <p:sp>
          <p:nvSpPr>
            <p:cNvPr id="64" name="object 64"/>
            <p:cNvSpPr/>
            <p:nvPr/>
          </p:nvSpPr>
          <p:spPr>
            <a:xfrm>
              <a:off x="3403092" y="4488180"/>
              <a:ext cx="1835150" cy="683260"/>
            </a:xfrm>
            <a:custGeom>
              <a:avLst/>
              <a:gdLst/>
              <a:ahLst/>
              <a:cxnLst/>
              <a:rect l="l" t="t" r="r" b="b"/>
              <a:pathLst>
                <a:path w="1835150" h="683260">
                  <a:moveTo>
                    <a:pt x="1834895" y="0"/>
                  </a:moveTo>
                  <a:lnTo>
                    <a:pt x="0" y="0"/>
                  </a:lnTo>
                  <a:lnTo>
                    <a:pt x="0" y="682752"/>
                  </a:lnTo>
                  <a:lnTo>
                    <a:pt x="1834895" y="682752"/>
                  </a:lnTo>
                  <a:lnTo>
                    <a:pt x="1834895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403092" y="4488180"/>
              <a:ext cx="1835150" cy="683260"/>
            </a:xfrm>
            <a:custGeom>
              <a:avLst/>
              <a:gdLst/>
              <a:ahLst/>
              <a:cxnLst/>
              <a:rect l="l" t="t" r="r" b="b"/>
              <a:pathLst>
                <a:path w="1835150" h="683260">
                  <a:moveTo>
                    <a:pt x="0" y="682752"/>
                  </a:moveTo>
                  <a:lnTo>
                    <a:pt x="1834895" y="682752"/>
                  </a:lnTo>
                  <a:lnTo>
                    <a:pt x="1834895" y="0"/>
                  </a:lnTo>
                  <a:lnTo>
                    <a:pt x="0" y="0"/>
                  </a:lnTo>
                  <a:lnTo>
                    <a:pt x="0" y="68275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4277614" y="4661103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2112073" y="4468177"/>
            <a:ext cx="1308100" cy="723265"/>
            <a:chOff x="2112073" y="4468177"/>
            <a:chExt cx="1308100" cy="723265"/>
          </a:xfrm>
        </p:grpSpPr>
        <p:sp>
          <p:nvSpPr>
            <p:cNvPr id="68" name="object 68"/>
            <p:cNvSpPr/>
            <p:nvPr/>
          </p:nvSpPr>
          <p:spPr>
            <a:xfrm>
              <a:off x="2132075" y="4488180"/>
              <a:ext cx="1268095" cy="683260"/>
            </a:xfrm>
            <a:custGeom>
              <a:avLst/>
              <a:gdLst/>
              <a:ahLst/>
              <a:cxnLst/>
              <a:rect l="l" t="t" r="r" b="b"/>
              <a:pathLst>
                <a:path w="1268095" h="683260">
                  <a:moveTo>
                    <a:pt x="1267968" y="0"/>
                  </a:moveTo>
                  <a:lnTo>
                    <a:pt x="0" y="0"/>
                  </a:lnTo>
                  <a:lnTo>
                    <a:pt x="0" y="682752"/>
                  </a:lnTo>
                  <a:lnTo>
                    <a:pt x="1267968" y="682752"/>
                  </a:lnTo>
                  <a:lnTo>
                    <a:pt x="1267968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132075" y="4488180"/>
              <a:ext cx="1268095" cy="683260"/>
            </a:xfrm>
            <a:custGeom>
              <a:avLst/>
              <a:gdLst/>
              <a:ahLst/>
              <a:cxnLst/>
              <a:rect l="l" t="t" r="r" b="b"/>
              <a:pathLst>
                <a:path w="1268095" h="683260">
                  <a:moveTo>
                    <a:pt x="0" y="682752"/>
                  </a:moveTo>
                  <a:lnTo>
                    <a:pt x="1267968" y="682752"/>
                  </a:lnTo>
                  <a:lnTo>
                    <a:pt x="1267968" y="0"/>
                  </a:lnTo>
                  <a:lnTo>
                    <a:pt x="0" y="0"/>
                  </a:lnTo>
                  <a:lnTo>
                    <a:pt x="0" y="682752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2673730" y="4661103"/>
            <a:ext cx="1657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2138172" y="5167884"/>
            <a:ext cx="1076325" cy="683260"/>
          </a:xfrm>
          <a:custGeom>
            <a:avLst/>
            <a:gdLst/>
            <a:ahLst/>
            <a:cxnLst/>
            <a:rect l="l" t="t" r="r" b="b"/>
            <a:pathLst>
              <a:path w="1076325" h="683260">
                <a:moveTo>
                  <a:pt x="0" y="682751"/>
                </a:moveTo>
                <a:lnTo>
                  <a:pt x="1075944" y="682751"/>
                </a:lnTo>
                <a:lnTo>
                  <a:pt x="1075944" y="0"/>
                </a:lnTo>
                <a:lnTo>
                  <a:pt x="0" y="0"/>
                </a:lnTo>
                <a:lnTo>
                  <a:pt x="0" y="682751"/>
                </a:lnTo>
                <a:close/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2154935" y="5190744"/>
            <a:ext cx="1039494" cy="640080"/>
          </a:xfrm>
          <a:prstGeom prst="rect">
            <a:avLst/>
          </a:prstGeom>
          <a:solidFill>
            <a:srgbClr val="99CCFF"/>
          </a:solidFill>
        </p:spPr>
        <p:txBody>
          <a:bodyPr vert="horz" wrap="square" lIns="0" tIns="169545" rIns="0" bIns="0" rtlCol="0">
            <a:spAutoFit/>
          </a:bodyPr>
          <a:lstStyle/>
          <a:p>
            <a:pPr marR="19050" algn="ctr">
              <a:lnSpc>
                <a:spcPct val="100000"/>
              </a:lnSpc>
              <a:spcBef>
                <a:spcPts val="1335"/>
              </a:spcBef>
            </a:pPr>
            <a:r>
              <a:rPr sz="1800" b="1" i="1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652004" y="5167884"/>
            <a:ext cx="360045" cy="683260"/>
          </a:xfrm>
          <a:custGeom>
            <a:avLst/>
            <a:gdLst/>
            <a:ahLst/>
            <a:cxnLst/>
            <a:rect l="l" t="t" r="r" b="b"/>
            <a:pathLst>
              <a:path w="360045" h="683260">
                <a:moveTo>
                  <a:pt x="0" y="682751"/>
                </a:moveTo>
                <a:lnTo>
                  <a:pt x="359664" y="682751"/>
                </a:lnTo>
                <a:lnTo>
                  <a:pt x="359664" y="0"/>
                </a:lnTo>
                <a:lnTo>
                  <a:pt x="0" y="0"/>
                </a:lnTo>
                <a:lnTo>
                  <a:pt x="0" y="682751"/>
                </a:lnTo>
                <a:close/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7674864" y="5190744"/>
            <a:ext cx="317500" cy="640080"/>
          </a:xfrm>
          <a:prstGeom prst="rect">
            <a:avLst/>
          </a:prstGeom>
          <a:solidFill>
            <a:srgbClr val="99CCFF"/>
          </a:solidFill>
        </p:spPr>
        <p:txBody>
          <a:bodyPr vert="horz" wrap="square" lIns="0" tIns="169545" rIns="0" bIns="0" rtlCol="0">
            <a:spAutoFit/>
          </a:bodyPr>
          <a:lstStyle/>
          <a:p>
            <a:pPr marL="61594">
              <a:lnSpc>
                <a:spcPct val="100000"/>
              </a:lnSpc>
              <a:spcBef>
                <a:spcPts val="1335"/>
              </a:spcBef>
            </a:pPr>
            <a:r>
              <a:rPr sz="1800" b="1" i="1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6899147" y="5167884"/>
            <a:ext cx="756285" cy="683260"/>
          </a:xfrm>
          <a:custGeom>
            <a:avLst/>
            <a:gdLst/>
            <a:ahLst/>
            <a:cxnLst/>
            <a:rect l="l" t="t" r="r" b="b"/>
            <a:pathLst>
              <a:path w="756284" h="683260">
                <a:moveTo>
                  <a:pt x="0" y="682751"/>
                </a:moveTo>
                <a:lnTo>
                  <a:pt x="755903" y="682751"/>
                </a:lnTo>
                <a:lnTo>
                  <a:pt x="755903" y="0"/>
                </a:lnTo>
                <a:lnTo>
                  <a:pt x="0" y="0"/>
                </a:lnTo>
                <a:lnTo>
                  <a:pt x="0" y="682751"/>
                </a:lnTo>
                <a:close/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6918959" y="5190744"/>
            <a:ext cx="713740" cy="640080"/>
          </a:xfrm>
          <a:prstGeom prst="rect">
            <a:avLst/>
          </a:prstGeom>
          <a:solidFill>
            <a:srgbClr val="99CCFF"/>
          </a:solidFill>
        </p:spPr>
        <p:txBody>
          <a:bodyPr vert="horz" wrap="square" lIns="0" tIns="16954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335"/>
              </a:spcBef>
            </a:pPr>
            <a:r>
              <a:rPr sz="1800" b="1" i="1" dirty="0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5594603" y="5167884"/>
            <a:ext cx="1304925" cy="683260"/>
          </a:xfrm>
          <a:custGeom>
            <a:avLst/>
            <a:gdLst/>
            <a:ahLst/>
            <a:cxnLst/>
            <a:rect l="l" t="t" r="r" b="b"/>
            <a:pathLst>
              <a:path w="1304925" h="683260">
                <a:moveTo>
                  <a:pt x="0" y="682751"/>
                </a:moveTo>
                <a:lnTo>
                  <a:pt x="1304544" y="682751"/>
                </a:lnTo>
                <a:lnTo>
                  <a:pt x="1304544" y="0"/>
                </a:lnTo>
                <a:lnTo>
                  <a:pt x="0" y="0"/>
                </a:lnTo>
                <a:lnTo>
                  <a:pt x="0" y="682751"/>
                </a:lnTo>
                <a:close/>
              </a:path>
            </a:pathLst>
          </a:custGeom>
          <a:ln w="396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5617464" y="5192267"/>
            <a:ext cx="1262380" cy="638810"/>
          </a:xfrm>
          <a:prstGeom prst="rect">
            <a:avLst/>
          </a:prstGeom>
          <a:solidFill>
            <a:srgbClr val="99CCFF"/>
          </a:solidFill>
        </p:spPr>
        <p:txBody>
          <a:bodyPr vert="horz" wrap="square" lIns="0" tIns="167640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1320"/>
              </a:spcBef>
            </a:pPr>
            <a:r>
              <a:rPr sz="1800" b="1" i="1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3383089" y="5147881"/>
            <a:ext cx="2234565" cy="723265"/>
            <a:chOff x="3383089" y="5147881"/>
            <a:chExt cx="2234565" cy="723265"/>
          </a:xfrm>
        </p:grpSpPr>
        <p:sp>
          <p:nvSpPr>
            <p:cNvPr id="80" name="object 80"/>
            <p:cNvSpPr/>
            <p:nvPr/>
          </p:nvSpPr>
          <p:spPr>
            <a:xfrm>
              <a:off x="3403092" y="5167884"/>
              <a:ext cx="2194560" cy="683260"/>
            </a:xfrm>
            <a:custGeom>
              <a:avLst/>
              <a:gdLst/>
              <a:ahLst/>
              <a:cxnLst/>
              <a:rect l="l" t="t" r="r" b="b"/>
              <a:pathLst>
                <a:path w="2194560" h="683260">
                  <a:moveTo>
                    <a:pt x="2194560" y="0"/>
                  </a:moveTo>
                  <a:lnTo>
                    <a:pt x="0" y="0"/>
                  </a:lnTo>
                  <a:lnTo>
                    <a:pt x="0" y="682751"/>
                  </a:lnTo>
                  <a:lnTo>
                    <a:pt x="2194560" y="682751"/>
                  </a:lnTo>
                  <a:lnTo>
                    <a:pt x="2194560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403092" y="5167884"/>
              <a:ext cx="2194560" cy="683260"/>
            </a:xfrm>
            <a:custGeom>
              <a:avLst/>
              <a:gdLst/>
              <a:ahLst/>
              <a:cxnLst/>
              <a:rect l="l" t="t" r="r" b="b"/>
              <a:pathLst>
                <a:path w="2194560" h="683260">
                  <a:moveTo>
                    <a:pt x="0" y="682751"/>
                  </a:moveTo>
                  <a:lnTo>
                    <a:pt x="2194560" y="682751"/>
                  </a:lnTo>
                  <a:lnTo>
                    <a:pt x="2194560" y="0"/>
                  </a:lnTo>
                  <a:lnTo>
                    <a:pt x="0" y="0"/>
                  </a:lnTo>
                  <a:lnTo>
                    <a:pt x="0" y="682751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4471415" y="5347208"/>
            <a:ext cx="1657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926401" y="4468177"/>
            <a:ext cx="686435" cy="1402715"/>
            <a:chOff x="926401" y="4468177"/>
            <a:chExt cx="686435" cy="1402715"/>
          </a:xfrm>
        </p:grpSpPr>
        <p:sp>
          <p:nvSpPr>
            <p:cNvPr id="84" name="object 84"/>
            <p:cNvSpPr/>
            <p:nvPr/>
          </p:nvSpPr>
          <p:spPr>
            <a:xfrm>
              <a:off x="946403" y="4488180"/>
              <a:ext cx="646430" cy="683260"/>
            </a:xfrm>
            <a:custGeom>
              <a:avLst/>
              <a:gdLst/>
              <a:ahLst/>
              <a:cxnLst/>
              <a:rect l="l" t="t" r="r" b="b"/>
              <a:pathLst>
                <a:path w="646430" h="683260">
                  <a:moveTo>
                    <a:pt x="646176" y="0"/>
                  </a:moveTo>
                  <a:lnTo>
                    <a:pt x="0" y="0"/>
                  </a:lnTo>
                  <a:lnTo>
                    <a:pt x="0" y="682752"/>
                  </a:lnTo>
                  <a:lnTo>
                    <a:pt x="646176" y="682752"/>
                  </a:lnTo>
                  <a:lnTo>
                    <a:pt x="646176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946403" y="4488180"/>
              <a:ext cx="646430" cy="1362710"/>
            </a:xfrm>
            <a:custGeom>
              <a:avLst/>
              <a:gdLst/>
              <a:ahLst/>
              <a:cxnLst/>
              <a:rect l="l" t="t" r="r" b="b"/>
              <a:pathLst>
                <a:path w="646430" h="1362710">
                  <a:moveTo>
                    <a:pt x="0" y="682752"/>
                  </a:moveTo>
                  <a:lnTo>
                    <a:pt x="646176" y="682752"/>
                  </a:lnTo>
                  <a:lnTo>
                    <a:pt x="646176" y="0"/>
                  </a:lnTo>
                  <a:lnTo>
                    <a:pt x="0" y="0"/>
                  </a:lnTo>
                  <a:lnTo>
                    <a:pt x="0" y="682752"/>
                  </a:lnTo>
                  <a:close/>
                </a:path>
                <a:path w="646430" h="1362710">
                  <a:moveTo>
                    <a:pt x="0" y="1362456"/>
                  </a:moveTo>
                  <a:lnTo>
                    <a:pt x="646176" y="1362456"/>
                  </a:lnTo>
                  <a:lnTo>
                    <a:pt x="646176" y="679704"/>
                  </a:lnTo>
                  <a:lnTo>
                    <a:pt x="0" y="679704"/>
                  </a:lnTo>
                  <a:lnTo>
                    <a:pt x="0" y="1362456"/>
                  </a:lnTo>
                  <a:close/>
                </a:path>
              </a:pathLst>
            </a:custGeom>
            <a:ln w="39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966216" y="4565726"/>
            <a:ext cx="607060" cy="4787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26670" algn="ctr">
              <a:lnSpc>
                <a:spcPts val="1775"/>
              </a:lnSpc>
              <a:spcBef>
                <a:spcPts val="110"/>
              </a:spcBef>
            </a:pPr>
            <a:r>
              <a:rPr sz="1600" b="1" i="1" dirty="0">
                <a:latin typeface="Arial"/>
                <a:cs typeface="Arial"/>
              </a:rPr>
              <a:t>WC</a:t>
            </a:r>
            <a:endParaRPr sz="1600">
              <a:latin typeface="Arial"/>
              <a:cs typeface="Arial"/>
            </a:endParaRPr>
          </a:p>
          <a:p>
            <a:pPr marR="27305" algn="ctr">
              <a:lnSpc>
                <a:spcPts val="1775"/>
              </a:lnSpc>
            </a:pPr>
            <a:r>
              <a:rPr sz="1600" b="1" i="1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66216" y="5190744"/>
            <a:ext cx="607060" cy="640080"/>
          </a:xfrm>
          <a:prstGeom prst="rect">
            <a:avLst/>
          </a:prstGeom>
          <a:solidFill>
            <a:srgbClr val="99CCFF"/>
          </a:solidFill>
        </p:spPr>
        <p:txBody>
          <a:bodyPr vert="horz" wrap="square" lIns="0" tIns="74930" rIns="0" bIns="0" rtlCol="0">
            <a:spAutoFit/>
          </a:bodyPr>
          <a:lstStyle/>
          <a:p>
            <a:pPr marR="26034" algn="ctr">
              <a:lnSpc>
                <a:spcPts val="1775"/>
              </a:lnSpc>
              <a:spcBef>
                <a:spcPts val="590"/>
              </a:spcBef>
            </a:pPr>
            <a:r>
              <a:rPr sz="1600" b="1" i="1" dirty="0">
                <a:latin typeface="Arial"/>
                <a:cs typeface="Arial"/>
              </a:rPr>
              <a:t>WC</a:t>
            </a:r>
            <a:endParaRPr sz="1600">
              <a:latin typeface="Arial"/>
              <a:cs typeface="Arial"/>
            </a:endParaRPr>
          </a:p>
          <a:p>
            <a:pPr marR="26670" algn="ctr">
              <a:lnSpc>
                <a:spcPts val="1775"/>
              </a:lnSpc>
            </a:pPr>
            <a:r>
              <a:rPr sz="1600" b="1" i="1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2953511" y="6260590"/>
            <a:ext cx="475488" cy="51815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1806955" y="5885484"/>
            <a:ext cx="6355715" cy="735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625" algn="l"/>
                <a:tab pos="683260" algn="l"/>
                <a:tab pos="1064260" algn="l"/>
                <a:tab pos="1344930" algn="l"/>
                <a:tab pos="2820670" algn="l"/>
                <a:tab pos="3436620" algn="l"/>
                <a:tab pos="4570730" algn="l"/>
                <a:tab pos="5019040" algn="l"/>
                <a:tab pos="5400040" algn="l"/>
                <a:tab pos="5781040" algn="l"/>
                <a:tab pos="6146800" algn="l"/>
              </a:tabLst>
            </a:pPr>
            <a:r>
              <a:rPr sz="1400" b="1" i="1" spc="-5" dirty="0">
                <a:latin typeface="Arial"/>
                <a:cs typeface="Arial"/>
              </a:rPr>
              <a:t>1	3	5	7	9</a:t>
            </a:r>
            <a:r>
              <a:rPr sz="1400" b="1" i="1" spc="-40" dirty="0">
                <a:latin typeface="Arial"/>
                <a:cs typeface="Arial"/>
              </a:rPr>
              <a:t> </a:t>
            </a:r>
            <a:r>
              <a:rPr sz="1400" b="1" i="1" spc="-15" dirty="0">
                <a:latin typeface="Arial"/>
                <a:cs typeface="Arial"/>
              </a:rPr>
              <a:t>1</a:t>
            </a:r>
            <a:r>
              <a:rPr sz="1400" b="1" i="1" spc="-5" dirty="0">
                <a:latin typeface="Arial"/>
                <a:cs typeface="Arial"/>
              </a:rPr>
              <a:t>0</a:t>
            </a:r>
            <a:r>
              <a:rPr sz="1400" b="1" i="1" dirty="0">
                <a:latin typeface="Arial"/>
                <a:cs typeface="Arial"/>
              </a:rPr>
              <a:t> </a:t>
            </a:r>
            <a:r>
              <a:rPr sz="1400" b="1" i="1" spc="5" dirty="0">
                <a:latin typeface="Arial"/>
                <a:cs typeface="Arial"/>
              </a:rPr>
              <a:t> </a:t>
            </a:r>
            <a:r>
              <a:rPr sz="1400" b="1" i="1" spc="-110" dirty="0">
                <a:latin typeface="Arial"/>
                <a:cs typeface="Arial"/>
              </a:rPr>
              <a:t>1</a:t>
            </a:r>
            <a:r>
              <a:rPr sz="1400" b="1" i="1" spc="-5" dirty="0">
                <a:latin typeface="Arial"/>
                <a:cs typeface="Arial"/>
              </a:rPr>
              <a:t>1</a:t>
            </a:r>
            <a:r>
              <a:rPr sz="1400" b="1" i="1" dirty="0">
                <a:latin typeface="Arial"/>
                <a:cs typeface="Arial"/>
              </a:rPr>
              <a:t> </a:t>
            </a:r>
            <a:r>
              <a:rPr sz="1400" b="1" i="1" spc="-70" dirty="0">
                <a:latin typeface="Arial"/>
                <a:cs typeface="Arial"/>
              </a:rPr>
              <a:t> </a:t>
            </a:r>
            <a:r>
              <a:rPr sz="1400" b="1" i="1" spc="-15" dirty="0">
                <a:latin typeface="Arial"/>
                <a:cs typeface="Arial"/>
              </a:rPr>
              <a:t>1</a:t>
            </a:r>
            <a:r>
              <a:rPr sz="1400" b="1" i="1" spc="-5" dirty="0">
                <a:latin typeface="Arial"/>
                <a:cs typeface="Arial"/>
              </a:rPr>
              <a:t>2</a:t>
            </a:r>
            <a:r>
              <a:rPr sz="1400" b="1" i="1" dirty="0">
                <a:latin typeface="Arial"/>
                <a:cs typeface="Arial"/>
              </a:rPr>
              <a:t> </a:t>
            </a:r>
            <a:r>
              <a:rPr sz="1400" b="1" i="1" spc="-20" dirty="0">
                <a:latin typeface="Arial"/>
                <a:cs typeface="Arial"/>
              </a:rPr>
              <a:t> </a:t>
            </a:r>
            <a:r>
              <a:rPr sz="1400" b="1" i="1" spc="-15" dirty="0">
                <a:latin typeface="Arial"/>
                <a:cs typeface="Arial"/>
              </a:rPr>
              <a:t>1</a:t>
            </a:r>
            <a:r>
              <a:rPr sz="1400" b="1" i="1" spc="-5" dirty="0">
                <a:latin typeface="Arial"/>
                <a:cs typeface="Arial"/>
              </a:rPr>
              <a:t>3</a:t>
            </a:r>
            <a:r>
              <a:rPr sz="1400" b="1" i="1" dirty="0">
                <a:latin typeface="Arial"/>
                <a:cs typeface="Arial"/>
              </a:rPr>
              <a:t>	</a:t>
            </a:r>
            <a:r>
              <a:rPr sz="1400" b="1" i="1" spc="-15" dirty="0">
                <a:latin typeface="Arial"/>
                <a:cs typeface="Arial"/>
              </a:rPr>
              <a:t>1</a:t>
            </a:r>
            <a:r>
              <a:rPr sz="1400" b="1" i="1" spc="-5" dirty="0">
                <a:latin typeface="Arial"/>
                <a:cs typeface="Arial"/>
              </a:rPr>
              <a:t>7</a:t>
            </a:r>
            <a:r>
              <a:rPr sz="1400" b="1" i="1" dirty="0">
                <a:latin typeface="Arial"/>
                <a:cs typeface="Arial"/>
              </a:rPr>
              <a:t> </a:t>
            </a:r>
            <a:r>
              <a:rPr sz="1400" b="1" i="1" spc="-15" dirty="0">
                <a:latin typeface="Arial"/>
                <a:cs typeface="Arial"/>
              </a:rPr>
              <a:t> 1</a:t>
            </a:r>
            <a:r>
              <a:rPr sz="1400" b="1" i="1" spc="-5" dirty="0">
                <a:latin typeface="Arial"/>
                <a:cs typeface="Arial"/>
              </a:rPr>
              <a:t>9</a:t>
            </a:r>
            <a:r>
              <a:rPr sz="1400" b="1" i="1" dirty="0">
                <a:latin typeface="Arial"/>
                <a:cs typeface="Arial"/>
              </a:rPr>
              <a:t>	</a:t>
            </a:r>
            <a:r>
              <a:rPr sz="1400" b="1" i="1" spc="-15" dirty="0">
                <a:latin typeface="Arial"/>
                <a:cs typeface="Arial"/>
              </a:rPr>
              <a:t>2</a:t>
            </a:r>
            <a:r>
              <a:rPr sz="1400" b="1" i="1" spc="-5" dirty="0">
                <a:latin typeface="Arial"/>
                <a:cs typeface="Arial"/>
              </a:rPr>
              <a:t>1</a:t>
            </a:r>
            <a:r>
              <a:rPr sz="1400" b="1" i="1" spc="-10" dirty="0">
                <a:latin typeface="Arial"/>
                <a:cs typeface="Arial"/>
              </a:rPr>
              <a:t> </a:t>
            </a:r>
            <a:r>
              <a:rPr sz="1400" b="1" i="1" spc="-20" dirty="0">
                <a:latin typeface="Arial"/>
                <a:cs typeface="Arial"/>
              </a:rPr>
              <a:t>2</a:t>
            </a:r>
            <a:r>
              <a:rPr sz="1400" b="1" i="1" spc="-5" dirty="0">
                <a:latin typeface="Arial"/>
                <a:cs typeface="Arial"/>
              </a:rPr>
              <a:t>2</a:t>
            </a:r>
            <a:r>
              <a:rPr sz="1400" b="1" i="1" spc="10" dirty="0">
                <a:latin typeface="Arial"/>
                <a:cs typeface="Arial"/>
              </a:rPr>
              <a:t> </a:t>
            </a:r>
            <a:r>
              <a:rPr sz="1400" b="1" i="1" spc="-15" dirty="0">
                <a:latin typeface="Arial"/>
                <a:cs typeface="Arial"/>
              </a:rPr>
              <a:t>2</a:t>
            </a:r>
            <a:r>
              <a:rPr sz="1400" b="1" i="1" spc="10" dirty="0">
                <a:latin typeface="Arial"/>
                <a:cs typeface="Arial"/>
              </a:rPr>
              <a:t>3</a:t>
            </a:r>
            <a:r>
              <a:rPr sz="1400" b="1" i="1" spc="-15" dirty="0">
                <a:latin typeface="Arial"/>
                <a:cs typeface="Arial"/>
              </a:rPr>
              <a:t>2</a:t>
            </a:r>
            <a:r>
              <a:rPr sz="1400" b="1" i="1" spc="-5" dirty="0">
                <a:latin typeface="Arial"/>
                <a:cs typeface="Arial"/>
              </a:rPr>
              <a:t>5</a:t>
            </a:r>
            <a:r>
              <a:rPr sz="1400" b="1" i="1" dirty="0">
                <a:latin typeface="Arial"/>
                <a:cs typeface="Arial"/>
              </a:rPr>
              <a:t>	</a:t>
            </a:r>
            <a:r>
              <a:rPr sz="1400" b="1" i="1" spc="-15" dirty="0">
                <a:latin typeface="Arial"/>
                <a:cs typeface="Arial"/>
              </a:rPr>
              <a:t>2</a:t>
            </a:r>
            <a:r>
              <a:rPr sz="1400" b="1" i="1" spc="-5" dirty="0">
                <a:latin typeface="Arial"/>
                <a:cs typeface="Arial"/>
              </a:rPr>
              <a:t>7</a:t>
            </a:r>
            <a:r>
              <a:rPr sz="1400" b="1" i="1" dirty="0">
                <a:latin typeface="Arial"/>
                <a:cs typeface="Arial"/>
              </a:rPr>
              <a:t>	</a:t>
            </a:r>
            <a:r>
              <a:rPr sz="1400" b="1" i="1" spc="-15" dirty="0">
                <a:latin typeface="Arial"/>
                <a:cs typeface="Arial"/>
              </a:rPr>
              <a:t>2</a:t>
            </a:r>
            <a:r>
              <a:rPr sz="1400" b="1" i="1" spc="-5" dirty="0">
                <a:latin typeface="Arial"/>
                <a:cs typeface="Arial"/>
              </a:rPr>
              <a:t>9</a:t>
            </a:r>
            <a:r>
              <a:rPr sz="1400" b="1" i="1" dirty="0">
                <a:latin typeface="Arial"/>
                <a:cs typeface="Arial"/>
              </a:rPr>
              <a:t>	</a:t>
            </a:r>
            <a:r>
              <a:rPr sz="1400" b="1" i="1" spc="-15" dirty="0">
                <a:latin typeface="Arial"/>
                <a:cs typeface="Arial"/>
              </a:rPr>
              <a:t>3</a:t>
            </a:r>
            <a:r>
              <a:rPr sz="1400" b="1" i="1" spc="-5" dirty="0">
                <a:latin typeface="Arial"/>
                <a:cs typeface="Arial"/>
              </a:rPr>
              <a:t>1</a:t>
            </a:r>
            <a:r>
              <a:rPr sz="1400" b="1" i="1" dirty="0">
                <a:latin typeface="Arial"/>
                <a:cs typeface="Arial"/>
              </a:rPr>
              <a:t>	</a:t>
            </a:r>
            <a:r>
              <a:rPr sz="1400" b="1" i="1" spc="-15" dirty="0">
                <a:latin typeface="Arial"/>
                <a:cs typeface="Arial"/>
              </a:rPr>
              <a:t>3</a:t>
            </a:r>
            <a:r>
              <a:rPr sz="1400" b="1" i="1" spc="-5" dirty="0">
                <a:latin typeface="Arial"/>
                <a:cs typeface="Arial"/>
              </a:rPr>
              <a:t>3</a:t>
            </a:r>
            <a:r>
              <a:rPr sz="1400" b="1" i="1" dirty="0">
                <a:latin typeface="Arial"/>
                <a:cs typeface="Arial"/>
              </a:rPr>
              <a:t>	</a:t>
            </a:r>
            <a:r>
              <a:rPr sz="1400" b="1" i="1" spc="-15" dirty="0">
                <a:latin typeface="Arial"/>
                <a:cs typeface="Arial"/>
              </a:rPr>
              <a:t>35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00">
              <a:latin typeface="Arial"/>
              <a:cs typeface="Arial"/>
            </a:endParaRPr>
          </a:p>
          <a:p>
            <a:pPr marL="1292225">
              <a:lnSpc>
                <a:spcPct val="100000"/>
              </a:lnSpc>
            </a:pPr>
            <a:r>
              <a:rPr sz="1800" b="1" i="1" spc="-5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3144011" y="6106667"/>
            <a:ext cx="2641600" cy="672465"/>
            <a:chOff x="3144011" y="6106667"/>
            <a:chExt cx="2641600" cy="672465"/>
          </a:xfrm>
        </p:grpSpPr>
        <p:sp>
          <p:nvSpPr>
            <p:cNvPr id="91" name="object 91"/>
            <p:cNvSpPr/>
            <p:nvPr/>
          </p:nvSpPr>
          <p:spPr>
            <a:xfrm>
              <a:off x="3144011" y="6106667"/>
              <a:ext cx="115824" cy="246887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321807" y="6260590"/>
              <a:ext cx="463296" cy="518159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5456046" y="6321348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5515355" y="6106667"/>
            <a:ext cx="1620520" cy="672465"/>
            <a:chOff x="5515355" y="6106667"/>
            <a:chExt cx="1620520" cy="672465"/>
          </a:xfrm>
        </p:grpSpPr>
        <p:sp>
          <p:nvSpPr>
            <p:cNvPr id="95" name="object 95"/>
            <p:cNvSpPr/>
            <p:nvPr/>
          </p:nvSpPr>
          <p:spPr>
            <a:xfrm>
              <a:off x="5515355" y="6106667"/>
              <a:ext cx="115824" cy="246887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659880" y="6260590"/>
              <a:ext cx="475487" cy="518159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6793230" y="6321348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6841235" y="6106667"/>
            <a:ext cx="1038225" cy="672465"/>
            <a:chOff x="6841235" y="6106667"/>
            <a:chExt cx="1038225" cy="672465"/>
          </a:xfrm>
        </p:grpSpPr>
        <p:sp>
          <p:nvSpPr>
            <p:cNvPr id="99" name="object 99"/>
            <p:cNvSpPr/>
            <p:nvPr/>
          </p:nvSpPr>
          <p:spPr>
            <a:xfrm>
              <a:off x="6841235" y="6106667"/>
              <a:ext cx="115824" cy="246887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403591" y="6260590"/>
              <a:ext cx="475488" cy="518159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7538466" y="6321348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latin typeface="Arial"/>
                <a:cs typeface="Arial"/>
              </a:rPr>
              <a:t>C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7594092" y="6106667"/>
            <a:ext cx="647700" cy="657225"/>
            <a:chOff x="7594092" y="6106667"/>
            <a:chExt cx="647700" cy="657225"/>
          </a:xfrm>
        </p:grpSpPr>
        <p:sp>
          <p:nvSpPr>
            <p:cNvPr id="103" name="object 103"/>
            <p:cNvSpPr/>
            <p:nvPr/>
          </p:nvSpPr>
          <p:spPr>
            <a:xfrm>
              <a:off x="7594092" y="6106667"/>
              <a:ext cx="115824" cy="246887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766304" y="6248398"/>
              <a:ext cx="475488" cy="515112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7901431" y="6308547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5955791" y="2587751"/>
            <a:ext cx="2481580" cy="777240"/>
            <a:chOff x="5955791" y="2587751"/>
            <a:chExt cx="2481580" cy="777240"/>
          </a:xfrm>
        </p:grpSpPr>
        <p:sp>
          <p:nvSpPr>
            <p:cNvPr id="107" name="object 107"/>
            <p:cNvSpPr/>
            <p:nvPr/>
          </p:nvSpPr>
          <p:spPr>
            <a:xfrm>
              <a:off x="6038087" y="2587751"/>
              <a:ext cx="2399030" cy="759460"/>
            </a:xfrm>
            <a:custGeom>
              <a:avLst/>
              <a:gdLst/>
              <a:ahLst/>
              <a:cxnLst/>
              <a:rect l="l" t="t" r="r" b="b"/>
              <a:pathLst>
                <a:path w="2399029" h="759460">
                  <a:moveTo>
                    <a:pt x="2398775" y="0"/>
                  </a:moveTo>
                  <a:lnTo>
                    <a:pt x="0" y="0"/>
                  </a:lnTo>
                  <a:lnTo>
                    <a:pt x="0" y="758951"/>
                  </a:lnTo>
                  <a:lnTo>
                    <a:pt x="2398775" y="758951"/>
                  </a:lnTo>
                  <a:lnTo>
                    <a:pt x="2398775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955791" y="2682239"/>
              <a:ext cx="612647" cy="682751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9" name="object 109"/>
          <p:cNvGrpSpPr/>
          <p:nvPr/>
        </p:nvGrpSpPr>
        <p:grpSpPr>
          <a:xfrm>
            <a:off x="12191" y="6106667"/>
            <a:ext cx="9110980" cy="742315"/>
            <a:chOff x="12191" y="6106667"/>
            <a:chExt cx="9110980" cy="742315"/>
          </a:xfrm>
        </p:grpSpPr>
        <p:sp>
          <p:nvSpPr>
            <p:cNvPr id="110" name="object 110"/>
            <p:cNvSpPr/>
            <p:nvPr/>
          </p:nvSpPr>
          <p:spPr>
            <a:xfrm>
              <a:off x="7944611" y="6106667"/>
              <a:ext cx="115824" cy="246887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6763" y="6441947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1618488" y="0"/>
                  </a:moveTo>
                  <a:lnTo>
                    <a:pt x="0" y="0"/>
                  </a:lnTo>
                  <a:lnTo>
                    <a:pt x="0" y="402335"/>
                  </a:lnTo>
                  <a:lnTo>
                    <a:pt x="1618488" y="402335"/>
                  </a:lnTo>
                  <a:lnTo>
                    <a:pt x="1618488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6763" y="6441947"/>
              <a:ext cx="1618615" cy="402590"/>
            </a:xfrm>
            <a:custGeom>
              <a:avLst/>
              <a:gdLst/>
              <a:ahLst/>
              <a:cxnLst/>
              <a:rect l="l" t="t" r="r" b="b"/>
              <a:pathLst>
                <a:path w="1618614" h="402590">
                  <a:moveTo>
                    <a:pt x="0" y="402335"/>
                  </a:moveTo>
                  <a:lnTo>
                    <a:pt x="1618488" y="402335"/>
                  </a:lnTo>
                  <a:lnTo>
                    <a:pt x="1618488" y="0"/>
                  </a:lnTo>
                  <a:lnTo>
                    <a:pt x="0" y="0"/>
                  </a:lnTo>
                  <a:lnTo>
                    <a:pt x="0" y="402335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7496556" y="6658355"/>
              <a:ext cx="1621790" cy="186055"/>
            </a:xfrm>
            <a:custGeom>
              <a:avLst/>
              <a:gdLst/>
              <a:ahLst/>
              <a:cxnLst/>
              <a:rect l="l" t="t" r="r" b="b"/>
              <a:pathLst>
                <a:path w="1621790" h="186054">
                  <a:moveTo>
                    <a:pt x="1621536" y="0"/>
                  </a:moveTo>
                  <a:lnTo>
                    <a:pt x="0" y="0"/>
                  </a:lnTo>
                  <a:lnTo>
                    <a:pt x="0" y="185928"/>
                  </a:lnTo>
                  <a:lnTo>
                    <a:pt x="1621536" y="185928"/>
                  </a:lnTo>
                  <a:lnTo>
                    <a:pt x="1621536" y="0"/>
                  </a:lnTo>
                  <a:close/>
                </a:path>
              </a:pathLst>
            </a:custGeom>
            <a:solidFill>
              <a:srgbClr val="F7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496556" y="6658355"/>
              <a:ext cx="1621790" cy="186055"/>
            </a:xfrm>
            <a:custGeom>
              <a:avLst/>
              <a:gdLst/>
              <a:ahLst/>
              <a:cxnLst/>
              <a:rect l="l" t="t" r="r" b="b"/>
              <a:pathLst>
                <a:path w="1621790" h="186054">
                  <a:moveTo>
                    <a:pt x="0" y="185928"/>
                  </a:moveTo>
                  <a:lnTo>
                    <a:pt x="1621536" y="185928"/>
                  </a:lnTo>
                  <a:lnTo>
                    <a:pt x="1621536" y="0"/>
                  </a:lnTo>
                  <a:lnTo>
                    <a:pt x="0" y="0"/>
                  </a:lnTo>
                  <a:lnTo>
                    <a:pt x="0" y="185928"/>
                  </a:lnTo>
                  <a:close/>
                </a:path>
              </a:pathLst>
            </a:custGeom>
            <a:ln w="9144">
              <a:solidFill>
                <a:srgbClr val="F7FA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6033515" y="2595372"/>
            <a:ext cx="469900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14935">
              <a:lnSpc>
                <a:spcPct val="100000"/>
              </a:lnSpc>
              <a:spcBef>
                <a:spcPts val="1425"/>
              </a:spcBef>
            </a:pPr>
            <a:r>
              <a:rPr sz="2400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7897368" y="2682239"/>
            <a:ext cx="612648" cy="682751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7978140" y="2595372"/>
            <a:ext cx="451484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425"/>
              </a:spcBef>
            </a:pPr>
            <a:r>
              <a:rPr sz="240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7406640" y="2682239"/>
            <a:ext cx="627888" cy="682751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7490459" y="2595372"/>
            <a:ext cx="487680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425"/>
              </a:spcBef>
            </a:pPr>
            <a:r>
              <a:rPr sz="2400" spc="-5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6915911" y="2682239"/>
            <a:ext cx="627888" cy="682751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6999731" y="2595372"/>
            <a:ext cx="490855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425"/>
              </a:spcBef>
            </a:pPr>
            <a:r>
              <a:rPr sz="2400" spc="-5" dirty="0"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6443471" y="2682239"/>
            <a:ext cx="612648" cy="682751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 txBox="1"/>
          <p:nvPr/>
        </p:nvSpPr>
        <p:spPr>
          <a:xfrm>
            <a:off x="6502907" y="2595372"/>
            <a:ext cx="497205" cy="749935"/>
          </a:xfrm>
          <a:prstGeom prst="rect">
            <a:avLst/>
          </a:prstGeom>
          <a:ln w="39623">
            <a:solidFill>
              <a:srgbClr val="000000"/>
            </a:solidFill>
          </a:ln>
        </p:spPr>
        <p:txBody>
          <a:bodyPr vert="horz" wrap="square" lIns="0" tIns="180975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425"/>
              </a:spcBef>
            </a:pPr>
            <a:r>
              <a:rPr sz="2400" dirty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2209800"/>
            <a:ext cx="5715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accent4">
                    <a:lumMod val="50000"/>
                  </a:schemeClr>
                </a:solidFill>
                <a:latin typeface="Cooper Black" panose="0208090404030B020404" pitchFamily="18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877546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925</TotalTime>
  <Words>1872</Words>
  <Application>Microsoft Office PowerPoint</Application>
  <PresentationFormat>On-screen Show (4:3)</PresentationFormat>
  <Paragraphs>556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Cooper Black</vt:lpstr>
      <vt:lpstr>Times New Roman</vt:lpstr>
      <vt:lpstr>TimesNewRomanPS-Bold</vt:lpstr>
      <vt:lpstr>Trebuchet MS</vt:lpstr>
      <vt:lpstr>Wingdings</vt:lpstr>
      <vt:lpstr>Office Theme</vt:lpstr>
      <vt:lpstr>PowerPoint Presentation</vt:lpstr>
      <vt:lpstr>Learning Outcome</vt:lpstr>
      <vt:lpstr>Scheduling</vt:lpstr>
      <vt:lpstr>PowerPoint Presentation</vt:lpstr>
      <vt:lpstr>Sequencing Jobs</vt:lpstr>
      <vt:lpstr>Priority Rules for Dispatching Jobs</vt:lpstr>
      <vt:lpstr>Sequencing Example</vt:lpstr>
      <vt:lpstr>Sequencing Example</vt:lpstr>
      <vt:lpstr>PowerPoint Presentation</vt:lpstr>
      <vt:lpstr>Sequencing Example</vt:lpstr>
      <vt:lpstr>Sequencing Example</vt:lpstr>
      <vt:lpstr>Sequencing Example</vt:lpstr>
      <vt:lpstr>Sequencing Example</vt:lpstr>
      <vt:lpstr>Sequencing Example</vt:lpstr>
      <vt:lpstr>Sequencing Example</vt:lpstr>
      <vt:lpstr>Sequencing Example</vt:lpstr>
      <vt:lpstr>Sequencing Example</vt:lpstr>
      <vt:lpstr>Comparison of  Sequencing Rules</vt:lpstr>
      <vt:lpstr>Sequencing N Jobs on Two  Machines: Johnson’s Rule</vt:lpstr>
      <vt:lpstr>Johnson’s Rule</vt:lpstr>
      <vt:lpstr>Johnson’s Rule Example</vt:lpstr>
      <vt:lpstr>Johnson’s Rule Example</vt:lpstr>
      <vt:lpstr>Johnson’s Rule Example</vt:lpstr>
      <vt:lpstr>Johnson’s Rule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Short-Term Scheduling</dc:title>
  <dc:subject>Heizer/Render 9E</dc:subject>
  <dc:creator>Jeff Heyl</dc:creator>
  <cp:lastModifiedBy>Ahmadul Karim Chowdhury</cp:lastModifiedBy>
  <cp:revision>18</cp:revision>
  <dcterms:created xsi:type="dcterms:W3CDTF">2022-11-14T13:09:31Z</dcterms:created>
  <dcterms:modified xsi:type="dcterms:W3CDTF">2022-12-12T00:43:47Z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2021-02-22T00:00:00Z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2022-11-14T00:00:00Z</vt:filetime>
  </property>
</Properties>
</file>