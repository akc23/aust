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14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70" r:id="rId5"/>
    <p:sldId id="259" r:id="rId6"/>
    <p:sldId id="260" r:id="rId7"/>
    <p:sldId id="261" r:id="rId8"/>
    <p:sldId id="262" r:id="rId9"/>
    <p:sldId id="271" r:id="rId10"/>
    <p:sldId id="263" r:id="rId11"/>
    <p:sldId id="264" r:id="rId12"/>
    <p:sldId id="269" r:id="rId13"/>
  </p:sldIdLst>
  <p:sldSz cx="4876800" cy="2743200"/>
  <p:notesSz cx="4876800" cy="2743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68" d="100"/>
          <a:sy n="168" d="100"/>
        </p:scale>
        <p:origin x="816" y="1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65760" y="850392"/>
            <a:ext cx="4145280" cy="5760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731520" y="1536192"/>
            <a:ext cx="3413760" cy="685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43840" y="630936"/>
            <a:ext cx="2121408" cy="18105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511552" y="630936"/>
            <a:ext cx="2121408" cy="18105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3840" y="109728"/>
            <a:ext cx="4389120" cy="4389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3840" y="630936"/>
            <a:ext cx="4389120" cy="18105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658112" y="2551176"/>
            <a:ext cx="1560576" cy="137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43840" y="2551176"/>
            <a:ext cx="1121664" cy="137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511296" y="2551176"/>
            <a:ext cx="1121664" cy="137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jp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6.png"/><Relationship Id="rId4" Type="http://schemas.openxmlformats.org/officeDocument/2006/relationships/image" Target="../media/image15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2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2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3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29.png"/><Relationship Id="rId4" Type="http://schemas.openxmlformats.org/officeDocument/2006/relationships/image" Target="../media/image24.png"/><Relationship Id="rId9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8.png"/><Relationship Id="rId7" Type="http://schemas.openxmlformats.org/officeDocument/2006/relationships/image" Target="../media/image3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3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8808" y="539495"/>
            <a:ext cx="4088891" cy="320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368808" y="594359"/>
            <a:ext cx="4089400" cy="1466215"/>
            <a:chOff x="368808" y="594359"/>
            <a:chExt cx="4089400" cy="1466215"/>
          </a:xfrm>
        </p:grpSpPr>
        <p:sp>
          <p:nvSpPr>
            <p:cNvPr id="4" name="object 4"/>
            <p:cNvSpPr/>
            <p:nvPr/>
          </p:nvSpPr>
          <p:spPr>
            <a:xfrm>
              <a:off x="368808" y="1720595"/>
              <a:ext cx="4088891" cy="3200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8808" y="594359"/>
              <a:ext cx="4088891" cy="1466087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902963" y="1670303"/>
              <a:ext cx="346075" cy="346075"/>
            </a:xfrm>
            <a:custGeom>
              <a:avLst/>
              <a:gdLst/>
              <a:ahLst/>
              <a:cxnLst/>
              <a:rect l="l" t="t" r="r" b="b"/>
              <a:pathLst>
                <a:path w="346075" h="346075">
                  <a:moveTo>
                    <a:pt x="0" y="172974"/>
                  </a:moveTo>
                  <a:lnTo>
                    <a:pt x="6180" y="127000"/>
                  </a:lnTo>
                  <a:lnTo>
                    <a:pt x="23622" y="85682"/>
                  </a:lnTo>
                  <a:lnTo>
                    <a:pt x="50673" y="50673"/>
                  </a:lnTo>
                  <a:lnTo>
                    <a:pt x="85682" y="23622"/>
                  </a:lnTo>
                  <a:lnTo>
                    <a:pt x="127000" y="6180"/>
                  </a:lnTo>
                  <a:lnTo>
                    <a:pt x="172974" y="0"/>
                  </a:lnTo>
                  <a:lnTo>
                    <a:pt x="218948" y="6180"/>
                  </a:lnTo>
                  <a:lnTo>
                    <a:pt x="260265" y="23622"/>
                  </a:lnTo>
                  <a:lnTo>
                    <a:pt x="295275" y="50673"/>
                  </a:lnTo>
                  <a:lnTo>
                    <a:pt x="322325" y="85682"/>
                  </a:lnTo>
                  <a:lnTo>
                    <a:pt x="339767" y="127000"/>
                  </a:lnTo>
                  <a:lnTo>
                    <a:pt x="345948" y="172974"/>
                  </a:lnTo>
                  <a:lnTo>
                    <a:pt x="339767" y="218948"/>
                  </a:lnTo>
                  <a:lnTo>
                    <a:pt x="322325" y="260265"/>
                  </a:lnTo>
                  <a:lnTo>
                    <a:pt x="295275" y="295275"/>
                  </a:lnTo>
                  <a:lnTo>
                    <a:pt x="260265" y="322325"/>
                  </a:lnTo>
                  <a:lnTo>
                    <a:pt x="218948" y="339767"/>
                  </a:lnTo>
                  <a:lnTo>
                    <a:pt x="172974" y="345948"/>
                  </a:lnTo>
                  <a:lnTo>
                    <a:pt x="127000" y="339767"/>
                  </a:lnTo>
                  <a:lnTo>
                    <a:pt x="85682" y="322325"/>
                  </a:lnTo>
                  <a:lnTo>
                    <a:pt x="50673" y="295275"/>
                  </a:lnTo>
                  <a:lnTo>
                    <a:pt x="23622" y="260265"/>
                  </a:lnTo>
                  <a:lnTo>
                    <a:pt x="6180" y="218948"/>
                  </a:lnTo>
                  <a:lnTo>
                    <a:pt x="0" y="17297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89584" y="870330"/>
              <a:ext cx="2863596" cy="27127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75282" y="1155318"/>
              <a:ext cx="1082675" cy="21602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495805" y="20192"/>
            <a:ext cx="1685289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Ahsanullah 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University of </a:t>
            </a: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Science &amp;</a:t>
            </a:r>
            <a:r>
              <a:rPr sz="600" b="1" spc="-10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600" b="1" spc="-10" dirty="0">
                <a:solidFill>
                  <a:srgbClr val="355D7D"/>
                </a:solidFill>
                <a:latin typeface="Trebuchet MS"/>
                <a:cs typeface="Trebuchet MS"/>
              </a:rPr>
              <a:t>Technology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214116" y="10667"/>
            <a:ext cx="129539" cy="15235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377565" y="20192"/>
            <a:ext cx="146558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600" b="1" spc="-5" dirty="0" smtClean="0">
                <a:solidFill>
                  <a:srgbClr val="355D7D"/>
                </a:solidFill>
                <a:latin typeface="Trebuchet MS"/>
                <a:cs typeface="Trebuchet MS"/>
              </a:rPr>
              <a:t>IPE 4111</a:t>
            </a:r>
            <a:r>
              <a:rPr sz="600" b="1" spc="-5" dirty="0" smtClean="0">
                <a:solidFill>
                  <a:srgbClr val="355D7D"/>
                </a:solidFill>
                <a:latin typeface="Trebuchet MS"/>
                <a:cs typeface="Trebuchet MS"/>
              </a:rPr>
              <a:t>: </a:t>
            </a:r>
            <a:r>
              <a:rPr lang="en-US" sz="600" b="1" spc="-5" dirty="0" smtClean="0">
                <a:solidFill>
                  <a:srgbClr val="355D7D"/>
                </a:solidFill>
                <a:latin typeface="Trebuchet MS"/>
                <a:cs typeface="Trebuchet MS"/>
              </a:rPr>
              <a:t>Industrial Management</a:t>
            </a:r>
            <a:endParaRPr sz="6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61332" y="2491739"/>
            <a:ext cx="182880" cy="182880"/>
            <a:chOff x="4561332" y="2491739"/>
            <a:chExt cx="182880" cy="182880"/>
          </a:xfrm>
        </p:grpSpPr>
        <p:sp>
          <p:nvSpPr>
            <p:cNvPr id="3" name="object 3"/>
            <p:cNvSpPr/>
            <p:nvPr/>
          </p:nvSpPr>
          <p:spPr>
            <a:xfrm>
              <a:off x="4561332" y="2491739"/>
              <a:ext cx="182879" cy="18287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568825" y="2500756"/>
              <a:ext cx="166370" cy="16484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495805" y="20827"/>
            <a:ext cx="1685289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Ahsanullah 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University of </a:t>
            </a: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Science &amp;</a:t>
            </a:r>
            <a:r>
              <a:rPr sz="600" b="1" spc="-10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600" b="1" spc="-10" dirty="0">
                <a:solidFill>
                  <a:srgbClr val="355D7D"/>
                </a:solidFill>
                <a:latin typeface="Trebuchet MS"/>
                <a:cs typeface="Trebuchet MS"/>
              </a:rPr>
              <a:t>Technology</a:t>
            </a:r>
            <a:endParaRPr sz="6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214116" y="10667"/>
            <a:ext cx="129539" cy="1523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619625" y="2525013"/>
            <a:ext cx="67945" cy="1117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50" b="1" spc="5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0166" y="388365"/>
            <a:ext cx="823976" cy="22237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99974" y="770381"/>
            <a:ext cx="3919220" cy="93853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633095" marR="5080" indent="-445134">
              <a:lnSpc>
                <a:spcPts val="1080"/>
              </a:lnSpc>
              <a:spcBef>
                <a:spcPts val="229"/>
              </a:spcBef>
            </a:pPr>
            <a:r>
              <a:rPr sz="1000" b="1" spc="-5" dirty="0">
                <a:solidFill>
                  <a:srgbClr val="4B4545"/>
                </a:solidFill>
                <a:latin typeface="Trebuchet MS"/>
                <a:cs typeface="Trebuchet MS"/>
              </a:rPr>
              <a:t>A </a:t>
            </a:r>
            <a:r>
              <a:rPr sz="1000" b="1" spc="-10" dirty="0">
                <a:solidFill>
                  <a:srgbClr val="4B4545"/>
                </a:solidFill>
                <a:latin typeface="Trebuchet MS"/>
                <a:cs typeface="Trebuchet MS"/>
              </a:rPr>
              <a:t>plan </a:t>
            </a:r>
            <a:r>
              <a:rPr sz="1000" b="1" spc="-5" dirty="0">
                <a:solidFill>
                  <a:srgbClr val="4B4545"/>
                </a:solidFill>
                <a:latin typeface="Trebuchet MS"/>
                <a:cs typeface="Trebuchet MS"/>
              </a:rPr>
              <a:t>for allocating resources, </a:t>
            </a:r>
            <a:r>
              <a:rPr sz="1000" b="1" spc="-15" dirty="0">
                <a:solidFill>
                  <a:srgbClr val="4B4545"/>
                </a:solidFill>
                <a:latin typeface="Trebuchet MS"/>
                <a:cs typeface="Trebuchet MS"/>
              </a:rPr>
              <a:t>especially, </a:t>
            </a:r>
            <a:r>
              <a:rPr sz="1000" b="1" spc="-10" dirty="0">
                <a:solidFill>
                  <a:srgbClr val="4B4545"/>
                </a:solidFill>
                <a:latin typeface="Trebuchet MS"/>
                <a:cs typeface="Trebuchet MS"/>
              </a:rPr>
              <a:t>allocates the scarce  </a:t>
            </a:r>
            <a:r>
              <a:rPr sz="1000" b="1" spc="-5" dirty="0">
                <a:solidFill>
                  <a:srgbClr val="4B4545"/>
                </a:solidFill>
                <a:latin typeface="Trebuchet MS"/>
                <a:cs typeface="Trebuchet MS"/>
              </a:rPr>
              <a:t>resources to various </a:t>
            </a:r>
            <a:r>
              <a:rPr sz="1000" b="1" spc="-10" dirty="0">
                <a:solidFill>
                  <a:srgbClr val="4B4545"/>
                </a:solidFill>
                <a:latin typeface="Trebuchet MS"/>
                <a:cs typeface="Trebuchet MS"/>
              </a:rPr>
              <a:t>endeavors </a:t>
            </a:r>
            <a:r>
              <a:rPr sz="1000" b="1" spc="-5" dirty="0">
                <a:solidFill>
                  <a:srgbClr val="4B4545"/>
                </a:solidFill>
                <a:latin typeface="Trebuchet MS"/>
                <a:cs typeface="Trebuchet MS"/>
              </a:rPr>
              <a:t>of</a:t>
            </a:r>
            <a:r>
              <a:rPr sz="1000" b="1" spc="70" dirty="0">
                <a:solidFill>
                  <a:srgbClr val="4B4545"/>
                </a:solidFill>
                <a:latin typeface="Trebuchet MS"/>
                <a:cs typeface="Trebuchet MS"/>
              </a:rPr>
              <a:t> </a:t>
            </a:r>
            <a:r>
              <a:rPr sz="1000" b="1" spc="-5" dirty="0">
                <a:solidFill>
                  <a:srgbClr val="4B4545"/>
                </a:solidFill>
                <a:latin typeface="Trebuchet MS"/>
                <a:cs typeface="Trebuchet MS"/>
              </a:rPr>
              <a:t>organization.</a:t>
            </a:r>
            <a:endParaRPr sz="1000">
              <a:latin typeface="Trebuchet MS"/>
              <a:cs typeface="Trebuchet MS"/>
            </a:endParaRPr>
          </a:p>
          <a:p>
            <a:pPr marL="374015">
              <a:lnSpc>
                <a:spcPct val="100000"/>
              </a:lnSpc>
              <a:spcBef>
                <a:spcPts val="925"/>
              </a:spcBef>
            </a:pPr>
            <a:r>
              <a:rPr sz="1000" b="1" spc="-5" dirty="0">
                <a:solidFill>
                  <a:srgbClr val="584640"/>
                </a:solidFill>
                <a:latin typeface="Trebuchet MS"/>
                <a:cs typeface="Trebuchet MS"/>
              </a:rPr>
              <a:t>After plan, </a:t>
            </a:r>
            <a:r>
              <a:rPr sz="1000" b="1" spc="-10" dirty="0">
                <a:solidFill>
                  <a:srgbClr val="B85B21"/>
                </a:solidFill>
                <a:latin typeface="Trebuchet MS"/>
                <a:cs typeface="Trebuchet MS"/>
              </a:rPr>
              <a:t>First </a:t>
            </a:r>
            <a:r>
              <a:rPr sz="1000" b="1" spc="-5" dirty="0">
                <a:solidFill>
                  <a:srgbClr val="B85B21"/>
                </a:solidFill>
                <a:latin typeface="Trebuchet MS"/>
                <a:cs typeface="Trebuchet MS"/>
              </a:rPr>
              <a:t>priority is to obtain resources to do</a:t>
            </a:r>
            <a:r>
              <a:rPr sz="1000" b="1" spc="90" dirty="0">
                <a:solidFill>
                  <a:srgbClr val="B85B21"/>
                </a:solidFill>
                <a:latin typeface="Trebuchet MS"/>
                <a:cs typeface="Trebuchet MS"/>
              </a:rPr>
              <a:t> </a:t>
            </a:r>
            <a:r>
              <a:rPr sz="1000" b="1" spc="-10" dirty="0">
                <a:solidFill>
                  <a:srgbClr val="B85B21"/>
                </a:solidFill>
                <a:latin typeface="Trebuchet MS"/>
                <a:cs typeface="Trebuchet MS"/>
              </a:rPr>
              <a:t>work.</a:t>
            </a: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000" spc="-10" dirty="0">
                <a:latin typeface="Trebuchet MS"/>
                <a:cs typeface="Trebuchet MS"/>
              </a:rPr>
              <a:t>The </a:t>
            </a:r>
            <a:r>
              <a:rPr sz="1000" spc="-5" dirty="0">
                <a:latin typeface="Trebuchet MS"/>
                <a:cs typeface="Trebuchet MS"/>
              </a:rPr>
              <a:t>act </a:t>
            </a:r>
            <a:r>
              <a:rPr sz="1000" dirty="0">
                <a:latin typeface="Trebuchet MS"/>
                <a:cs typeface="Trebuchet MS"/>
              </a:rPr>
              <a:t>of </a:t>
            </a:r>
            <a:r>
              <a:rPr sz="1000" spc="-10" dirty="0">
                <a:latin typeface="Trebuchet MS"/>
                <a:cs typeface="Trebuchet MS"/>
              </a:rPr>
              <a:t>preparing </a:t>
            </a:r>
            <a:r>
              <a:rPr sz="1000" spc="-5" dirty="0">
                <a:latin typeface="Trebuchet MS"/>
                <a:cs typeface="Trebuchet MS"/>
              </a:rPr>
              <a:t>a </a:t>
            </a:r>
            <a:r>
              <a:rPr sz="1000" spc="-10" dirty="0">
                <a:latin typeface="Trebuchet MS"/>
                <a:cs typeface="Trebuchet MS"/>
              </a:rPr>
              <a:t>budget </a:t>
            </a:r>
            <a:r>
              <a:rPr sz="1000" spc="-5" dirty="0">
                <a:latin typeface="Trebuchet MS"/>
                <a:cs typeface="Trebuchet MS"/>
              </a:rPr>
              <a:t>is </a:t>
            </a:r>
            <a:r>
              <a:rPr sz="1000" spc="-10" dirty="0">
                <a:latin typeface="Trebuchet MS"/>
                <a:cs typeface="Trebuchet MS"/>
              </a:rPr>
              <a:t>called</a:t>
            </a:r>
            <a:r>
              <a:rPr sz="1000" spc="65" dirty="0">
                <a:latin typeface="Trebuchet MS"/>
                <a:cs typeface="Trebuchet MS"/>
              </a:rPr>
              <a:t> </a:t>
            </a:r>
            <a:r>
              <a:rPr sz="1000" b="1" spc="-5" dirty="0">
                <a:solidFill>
                  <a:srgbClr val="395650"/>
                </a:solidFill>
                <a:latin typeface="Trebuchet MS"/>
                <a:cs typeface="Trebuchet MS"/>
              </a:rPr>
              <a:t>Budgeting</a:t>
            </a:r>
            <a:r>
              <a:rPr sz="1000" spc="-5" dirty="0">
                <a:latin typeface="Trebuchet MS"/>
                <a:cs typeface="Trebuchet MS"/>
              </a:rPr>
              <a:t>.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843528" y="1830323"/>
            <a:ext cx="667419" cy="62026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377565" y="20192"/>
            <a:ext cx="146558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600" b="1" spc="-5" dirty="0" smtClean="0">
                <a:solidFill>
                  <a:srgbClr val="355D7D"/>
                </a:solidFill>
                <a:latin typeface="Trebuchet MS"/>
                <a:cs typeface="Trebuchet MS"/>
              </a:rPr>
              <a:t>IPE 4111</a:t>
            </a:r>
            <a:r>
              <a:rPr sz="600" b="1" spc="-5" dirty="0" smtClean="0">
                <a:solidFill>
                  <a:srgbClr val="355D7D"/>
                </a:solidFill>
                <a:latin typeface="Trebuchet MS"/>
                <a:cs typeface="Trebuchet MS"/>
              </a:rPr>
              <a:t>: </a:t>
            </a:r>
            <a:r>
              <a:rPr lang="en-US" sz="600" b="1" spc="-5" dirty="0" smtClean="0">
                <a:solidFill>
                  <a:srgbClr val="355D7D"/>
                </a:solidFill>
                <a:latin typeface="Trebuchet MS"/>
                <a:cs typeface="Trebuchet MS"/>
              </a:rPr>
              <a:t>Industrial Management</a:t>
            </a:r>
            <a:endParaRPr sz="6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61332" y="2491739"/>
            <a:ext cx="182880" cy="182880"/>
            <a:chOff x="4561332" y="2491739"/>
            <a:chExt cx="182880" cy="182880"/>
          </a:xfrm>
        </p:grpSpPr>
        <p:sp>
          <p:nvSpPr>
            <p:cNvPr id="3" name="object 3"/>
            <p:cNvSpPr/>
            <p:nvPr/>
          </p:nvSpPr>
          <p:spPr>
            <a:xfrm>
              <a:off x="4561332" y="2491739"/>
              <a:ext cx="182879" cy="18287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568825" y="2500756"/>
              <a:ext cx="166370" cy="16484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495805" y="20192"/>
            <a:ext cx="1685289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Ahsanullah 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University of </a:t>
            </a: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Science &amp;</a:t>
            </a:r>
            <a:r>
              <a:rPr sz="600" b="1" spc="-10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600" b="1" spc="-10" dirty="0">
                <a:solidFill>
                  <a:srgbClr val="355D7D"/>
                </a:solidFill>
                <a:latin typeface="Trebuchet MS"/>
                <a:cs typeface="Trebuchet MS"/>
              </a:rPr>
              <a:t>Technology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214116" y="10667"/>
            <a:ext cx="129539" cy="1523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619625" y="2524505"/>
            <a:ext cx="67945" cy="1117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50" b="1" spc="5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0166" y="388365"/>
            <a:ext cx="823976" cy="22237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99974" y="787348"/>
            <a:ext cx="3566160" cy="14160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u="sng" spc="-5" dirty="0">
                <a:solidFill>
                  <a:srgbClr val="355D7D"/>
                </a:solidFill>
                <a:uFill>
                  <a:solidFill>
                    <a:srgbClr val="355D7D"/>
                  </a:solidFill>
                </a:uFill>
                <a:latin typeface="Trebuchet MS"/>
                <a:cs typeface="Trebuchet MS"/>
              </a:rPr>
              <a:t>Over-funding</a:t>
            </a:r>
            <a:r>
              <a:rPr sz="1000" b="1" spc="-5" dirty="0">
                <a:solidFill>
                  <a:srgbClr val="355D7D"/>
                </a:solidFill>
                <a:latin typeface="Trebuchet MS"/>
                <a:cs typeface="Trebuchet MS"/>
              </a:rPr>
              <a:t> – </a:t>
            </a:r>
            <a:r>
              <a:rPr sz="1000" spc="-10" dirty="0">
                <a:latin typeface="Trebuchet MS"/>
                <a:cs typeface="Trebuchet MS"/>
              </a:rPr>
              <a:t>produce </a:t>
            </a:r>
            <a:r>
              <a:rPr sz="1000" spc="-5" dirty="0">
                <a:latin typeface="Trebuchet MS"/>
                <a:cs typeface="Trebuchet MS"/>
              </a:rPr>
              <a:t>waste/encourage slack</a:t>
            </a:r>
            <a:r>
              <a:rPr sz="1000" spc="30" dirty="0">
                <a:latin typeface="Trebuchet MS"/>
                <a:cs typeface="Trebuchet MS"/>
              </a:rPr>
              <a:t> </a:t>
            </a:r>
            <a:r>
              <a:rPr sz="1000" spc="-5" dirty="0">
                <a:latin typeface="Trebuchet MS"/>
                <a:cs typeface="Trebuchet MS"/>
              </a:rPr>
              <a:t>management</a:t>
            </a:r>
            <a:endParaRPr sz="1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000" b="1" u="sng" spc="-5" dirty="0">
                <a:solidFill>
                  <a:srgbClr val="355D7D"/>
                </a:solidFill>
                <a:uFill>
                  <a:solidFill>
                    <a:srgbClr val="355D7D"/>
                  </a:solidFill>
                </a:uFill>
                <a:latin typeface="Trebuchet MS"/>
                <a:cs typeface="Trebuchet MS"/>
              </a:rPr>
              <a:t>Under-funding</a:t>
            </a:r>
            <a:r>
              <a:rPr sz="1000" b="1" spc="-5" dirty="0">
                <a:solidFill>
                  <a:srgbClr val="355D7D"/>
                </a:solidFill>
                <a:latin typeface="Trebuchet MS"/>
                <a:cs typeface="Trebuchet MS"/>
              </a:rPr>
              <a:t> – </a:t>
            </a:r>
            <a:r>
              <a:rPr sz="1000" spc="-5" dirty="0">
                <a:latin typeface="Trebuchet MS"/>
                <a:cs typeface="Trebuchet MS"/>
              </a:rPr>
              <a:t>inhibits </a:t>
            </a:r>
            <a:r>
              <a:rPr sz="1000" spc="-10" dirty="0">
                <a:latin typeface="Trebuchet MS"/>
                <a:cs typeface="Trebuchet MS"/>
              </a:rPr>
              <a:t>accomplishments/creates</a:t>
            </a:r>
            <a:r>
              <a:rPr sz="1000" spc="80" dirty="0">
                <a:latin typeface="Trebuchet MS"/>
                <a:cs typeface="Trebuchet MS"/>
              </a:rPr>
              <a:t> </a:t>
            </a:r>
            <a:r>
              <a:rPr sz="1000" spc="-5" dirty="0">
                <a:latin typeface="Trebuchet MS"/>
                <a:cs typeface="Trebuchet MS"/>
              </a:rPr>
              <a:t>frustration</a:t>
            </a: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000" b="1" spc="-5" dirty="0">
                <a:solidFill>
                  <a:srgbClr val="B85B21"/>
                </a:solidFill>
                <a:latin typeface="Trebuchet MS"/>
                <a:cs typeface="Trebuchet MS"/>
              </a:rPr>
              <a:t>Need to</a:t>
            </a:r>
            <a:r>
              <a:rPr sz="1000" b="1" dirty="0">
                <a:solidFill>
                  <a:srgbClr val="B85B21"/>
                </a:solidFill>
                <a:latin typeface="Trebuchet MS"/>
                <a:cs typeface="Trebuchet MS"/>
              </a:rPr>
              <a:t> </a:t>
            </a:r>
            <a:r>
              <a:rPr sz="1000" b="1" spc="-5" dirty="0">
                <a:solidFill>
                  <a:srgbClr val="B85B21"/>
                </a:solidFill>
                <a:latin typeface="Trebuchet MS"/>
                <a:cs typeface="Trebuchet MS"/>
              </a:rPr>
              <a:t>forecast</a:t>
            </a:r>
            <a:endParaRPr sz="1000">
              <a:latin typeface="Trebuchet MS"/>
              <a:cs typeface="Trebuchet MS"/>
            </a:endParaRPr>
          </a:p>
          <a:p>
            <a:pPr marL="320040" indent="-120650">
              <a:lnSpc>
                <a:spcPct val="100000"/>
              </a:lnSpc>
              <a:spcBef>
                <a:spcPts val="450"/>
              </a:spcBef>
              <a:buFont typeface="Arial"/>
              <a:buChar char="•"/>
              <a:tabLst>
                <a:tab pos="320675" algn="l"/>
              </a:tabLst>
            </a:pPr>
            <a:r>
              <a:rPr sz="1000" b="1" spc="-5" dirty="0">
                <a:solidFill>
                  <a:srgbClr val="555A3B"/>
                </a:solidFill>
                <a:latin typeface="Trebuchet MS"/>
                <a:cs typeface="Trebuchet MS"/>
              </a:rPr>
              <a:t>resources</a:t>
            </a:r>
            <a:r>
              <a:rPr sz="1000" b="1" spc="20" dirty="0">
                <a:solidFill>
                  <a:srgbClr val="555A3B"/>
                </a:solidFill>
                <a:latin typeface="Trebuchet MS"/>
                <a:cs typeface="Trebuchet MS"/>
              </a:rPr>
              <a:t> </a:t>
            </a:r>
            <a:r>
              <a:rPr sz="1000" b="1" spc="-5" dirty="0">
                <a:solidFill>
                  <a:srgbClr val="555A3B"/>
                </a:solidFill>
                <a:latin typeface="Trebuchet MS"/>
                <a:cs typeface="Trebuchet MS"/>
              </a:rPr>
              <a:t>required</a:t>
            </a:r>
            <a:endParaRPr sz="1000">
              <a:latin typeface="Trebuchet MS"/>
              <a:cs typeface="Trebuchet MS"/>
            </a:endParaRPr>
          </a:p>
          <a:p>
            <a:pPr marL="320040" indent="-120650">
              <a:lnSpc>
                <a:spcPct val="100000"/>
              </a:lnSpc>
              <a:spcBef>
                <a:spcPts val="350"/>
              </a:spcBef>
              <a:buFont typeface="Arial"/>
              <a:buChar char="•"/>
              <a:tabLst>
                <a:tab pos="320675" algn="l"/>
              </a:tabLst>
            </a:pPr>
            <a:r>
              <a:rPr sz="1000" b="1" spc="-10" dirty="0">
                <a:solidFill>
                  <a:srgbClr val="555A3B"/>
                </a:solidFill>
                <a:latin typeface="Trebuchet MS"/>
                <a:cs typeface="Trebuchet MS"/>
              </a:rPr>
              <a:t>quantity </a:t>
            </a:r>
            <a:r>
              <a:rPr sz="1000" b="1" spc="-5" dirty="0">
                <a:solidFill>
                  <a:srgbClr val="555A3B"/>
                </a:solidFill>
                <a:latin typeface="Trebuchet MS"/>
                <a:cs typeface="Trebuchet MS"/>
              </a:rPr>
              <a:t>and time</a:t>
            </a:r>
            <a:r>
              <a:rPr sz="1000" b="1" spc="15" dirty="0">
                <a:solidFill>
                  <a:srgbClr val="555A3B"/>
                </a:solidFill>
                <a:latin typeface="Trebuchet MS"/>
                <a:cs typeface="Trebuchet MS"/>
              </a:rPr>
              <a:t> </a:t>
            </a:r>
            <a:r>
              <a:rPr sz="1000" b="1" spc="-5" dirty="0">
                <a:solidFill>
                  <a:srgbClr val="555A3B"/>
                </a:solidFill>
                <a:latin typeface="Trebuchet MS"/>
                <a:cs typeface="Trebuchet MS"/>
              </a:rPr>
              <a:t>required</a:t>
            </a:r>
            <a:endParaRPr sz="1000">
              <a:latin typeface="Trebuchet MS"/>
              <a:cs typeface="Trebuchet MS"/>
            </a:endParaRPr>
          </a:p>
          <a:p>
            <a:pPr marL="320040" indent="-120650">
              <a:lnSpc>
                <a:spcPct val="100000"/>
              </a:lnSpc>
              <a:spcBef>
                <a:spcPts val="350"/>
              </a:spcBef>
              <a:buFont typeface="Arial"/>
              <a:buChar char="•"/>
              <a:tabLst>
                <a:tab pos="320675" algn="l"/>
              </a:tabLst>
            </a:pPr>
            <a:r>
              <a:rPr sz="1000" b="1" spc="-5" dirty="0">
                <a:solidFill>
                  <a:srgbClr val="555A3B"/>
                </a:solidFill>
                <a:latin typeface="Trebuchet MS"/>
                <a:cs typeface="Trebuchet MS"/>
              </a:rPr>
              <a:t>cost </a:t>
            </a:r>
            <a:r>
              <a:rPr sz="1000" b="1" spc="-10" dirty="0">
                <a:solidFill>
                  <a:srgbClr val="555A3B"/>
                </a:solidFill>
                <a:latin typeface="Trebuchet MS"/>
                <a:cs typeface="Trebuchet MS"/>
              </a:rPr>
              <a:t>including price</a:t>
            </a:r>
            <a:r>
              <a:rPr sz="1000" b="1" spc="50" dirty="0">
                <a:solidFill>
                  <a:srgbClr val="555A3B"/>
                </a:solidFill>
                <a:latin typeface="Trebuchet MS"/>
                <a:cs typeface="Trebuchet MS"/>
              </a:rPr>
              <a:t> </a:t>
            </a:r>
            <a:r>
              <a:rPr sz="1000" b="1" spc="-5" dirty="0">
                <a:solidFill>
                  <a:srgbClr val="555A3B"/>
                </a:solidFill>
                <a:latin typeface="Trebuchet MS"/>
                <a:cs typeface="Trebuchet MS"/>
              </a:rPr>
              <a:t>inflation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931920" y="1757171"/>
            <a:ext cx="713994" cy="64541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377565" y="20192"/>
            <a:ext cx="146558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600" b="1" spc="-5" dirty="0" smtClean="0">
                <a:solidFill>
                  <a:srgbClr val="355D7D"/>
                </a:solidFill>
                <a:latin typeface="Trebuchet MS"/>
                <a:cs typeface="Trebuchet MS"/>
              </a:rPr>
              <a:t>IPE 4111</a:t>
            </a:r>
            <a:r>
              <a:rPr sz="600" b="1" spc="-5" dirty="0" smtClean="0">
                <a:solidFill>
                  <a:srgbClr val="355D7D"/>
                </a:solidFill>
                <a:latin typeface="Trebuchet MS"/>
                <a:cs typeface="Trebuchet MS"/>
              </a:rPr>
              <a:t>: </a:t>
            </a:r>
            <a:r>
              <a:rPr lang="en-US" sz="600" b="1" spc="-5" dirty="0" smtClean="0">
                <a:solidFill>
                  <a:srgbClr val="355D7D"/>
                </a:solidFill>
                <a:latin typeface="Trebuchet MS"/>
                <a:cs typeface="Trebuchet MS"/>
              </a:rPr>
              <a:t>Industrial Management</a:t>
            </a:r>
            <a:endParaRPr sz="6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9"/>
          <p:cNvSpPr/>
          <p:nvPr/>
        </p:nvSpPr>
        <p:spPr>
          <a:xfrm>
            <a:off x="381000" y="304800"/>
            <a:ext cx="823976" cy="2223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11"/>
          <p:cNvSpPr txBox="1"/>
          <p:nvPr/>
        </p:nvSpPr>
        <p:spPr>
          <a:xfrm>
            <a:off x="381000" y="609600"/>
            <a:ext cx="3604260" cy="2234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6900"/>
              </a:lnSpc>
              <a:spcBef>
                <a:spcPts val="100"/>
              </a:spcBef>
            </a:pPr>
            <a:r>
              <a:rPr lang="en-US" sz="1000" b="1" spc="-5" dirty="0" smtClean="0">
                <a:latin typeface="Trebuchet MS"/>
                <a:cs typeface="Trebuchet MS"/>
              </a:rPr>
              <a:t>Budget Planning:</a:t>
            </a:r>
            <a:endParaRPr sz="1000" dirty="0">
              <a:latin typeface="Trebuchet MS"/>
              <a:cs typeface="Trebuchet M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3" t="1288" r="2083" b="3895"/>
          <a:stretch/>
        </p:blipFill>
        <p:spPr>
          <a:xfrm>
            <a:off x="809080" y="990600"/>
            <a:ext cx="3505200" cy="1524000"/>
          </a:xfrm>
          <a:prstGeom prst="rect">
            <a:avLst/>
          </a:prstGeom>
        </p:spPr>
      </p:pic>
      <p:sp>
        <p:nvSpPr>
          <p:cNvPr id="7" name="object 5"/>
          <p:cNvSpPr txBox="1"/>
          <p:nvPr/>
        </p:nvSpPr>
        <p:spPr>
          <a:xfrm>
            <a:off x="1495805" y="20827"/>
            <a:ext cx="1685289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Ahsanullah 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University of </a:t>
            </a: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Science &amp;</a:t>
            </a:r>
            <a:r>
              <a:rPr sz="600" b="1" spc="-10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600" b="1" spc="-10" dirty="0">
                <a:solidFill>
                  <a:srgbClr val="355D7D"/>
                </a:solidFill>
                <a:latin typeface="Trebuchet MS"/>
                <a:cs typeface="Trebuchet MS"/>
              </a:rPr>
              <a:t>Technology</a:t>
            </a:r>
            <a:endParaRPr sz="600" dirty="0">
              <a:latin typeface="Trebuchet MS"/>
              <a:cs typeface="Trebuchet MS"/>
            </a:endParaRPr>
          </a:p>
        </p:txBody>
      </p:sp>
      <p:sp>
        <p:nvSpPr>
          <p:cNvPr id="8" name="object 6"/>
          <p:cNvSpPr/>
          <p:nvPr/>
        </p:nvSpPr>
        <p:spPr>
          <a:xfrm>
            <a:off x="3214116" y="10667"/>
            <a:ext cx="129539" cy="1523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2"/>
          <p:cNvSpPr txBox="1"/>
          <p:nvPr/>
        </p:nvSpPr>
        <p:spPr>
          <a:xfrm>
            <a:off x="3377565" y="20192"/>
            <a:ext cx="146558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600" b="1" spc="-5" dirty="0" smtClean="0">
                <a:solidFill>
                  <a:srgbClr val="355D7D"/>
                </a:solidFill>
                <a:latin typeface="Trebuchet MS"/>
                <a:cs typeface="Trebuchet MS"/>
              </a:rPr>
              <a:t>IPE 4111</a:t>
            </a:r>
            <a:r>
              <a:rPr sz="600" b="1" spc="-5" dirty="0" smtClean="0">
                <a:solidFill>
                  <a:srgbClr val="355D7D"/>
                </a:solidFill>
                <a:latin typeface="Trebuchet MS"/>
                <a:cs typeface="Trebuchet MS"/>
              </a:rPr>
              <a:t>: </a:t>
            </a:r>
            <a:r>
              <a:rPr lang="en-US" sz="600" b="1" spc="-5" dirty="0" smtClean="0">
                <a:solidFill>
                  <a:srgbClr val="355D7D"/>
                </a:solidFill>
                <a:latin typeface="Trebuchet MS"/>
                <a:cs typeface="Trebuchet MS"/>
              </a:rPr>
              <a:t>Industrial Management</a:t>
            </a:r>
            <a:endParaRPr sz="6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180960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61332" y="2491739"/>
            <a:ext cx="182880" cy="182880"/>
            <a:chOff x="4561332" y="2491739"/>
            <a:chExt cx="182880" cy="182880"/>
          </a:xfrm>
        </p:grpSpPr>
        <p:sp>
          <p:nvSpPr>
            <p:cNvPr id="3" name="object 3"/>
            <p:cNvSpPr/>
            <p:nvPr/>
          </p:nvSpPr>
          <p:spPr>
            <a:xfrm>
              <a:off x="4561332" y="2491739"/>
              <a:ext cx="182879" cy="18287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568825" y="2500756"/>
              <a:ext cx="166370" cy="16484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3445764" y="1881377"/>
            <a:ext cx="1013460" cy="495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495805" y="20827"/>
            <a:ext cx="1685289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Ahsanullah 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University of </a:t>
            </a: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Science &amp;</a:t>
            </a:r>
            <a:r>
              <a:rPr sz="600" b="1" spc="-10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600" b="1" spc="-10" dirty="0">
                <a:solidFill>
                  <a:srgbClr val="355D7D"/>
                </a:solidFill>
                <a:latin typeface="Trebuchet MS"/>
                <a:cs typeface="Trebuchet MS"/>
              </a:rPr>
              <a:t>Technology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14116" y="10667"/>
            <a:ext cx="129539" cy="1523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619625" y="2525013"/>
            <a:ext cx="67945" cy="1117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50" b="1" spc="5" dirty="0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0166" y="388365"/>
            <a:ext cx="2160905" cy="22237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99974" y="792225"/>
            <a:ext cx="3907154" cy="10782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7030" algn="ctr">
              <a:lnSpc>
                <a:spcPts val="1080"/>
              </a:lnSpc>
              <a:spcBef>
                <a:spcPts val="95"/>
              </a:spcBef>
            </a:pPr>
            <a:r>
              <a:rPr sz="1000" b="1" spc="-5" dirty="0">
                <a:latin typeface="Trebuchet MS"/>
                <a:cs typeface="Trebuchet MS"/>
              </a:rPr>
              <a:t>The use of budgets to control an </a:t>
            </a:r>
            <a:r>
              <a:rPr sz="1000" b="1" spc="-10" dirty="0">
                <a:latin typeface="Trebuchet MS"/>
                <a:cs typeface="Trebuchet MS"/>
              </a:rPr>
              <a:t>organization’s </a:t>
            </a:r>
            <a:r>
              <a:rPr sz="1000" b="1" spc="-5" dirty="0">
                <a:latin typeface="Trebuchet MS"/>
                <a:cs typeface="Trebuchet MS"/>
              </a:rPr>
              <a:t>activities</a:t>
            </a:r>
            <a:r>
              <a:rPr sz="1000" b="1" spc="110" dirty="0">
                <a:latin typeface="Trebuchet MS"/>
                <a:cs typeface="Trebuchet MS"/>
              </a:rPr>
              <a:t> </a:t>
            </a:r>
            <a:r>
              <a:rPr sz="1000" b="1" spc="-5" dirty="0">
                <a:latin typeface="Trebuchet MS"/>
                <a:cs typeface="Trebuchet MS"/>
              </a:rPr>
              <a:t>is</a:t>
            </a:r>
            <a:endParaRPr sz="1000">
              <a:latin typeface="Trebuchet MS"/>
              <a:cs typeface="Trebuchet MS"/>
            </a:endParaRPr>
          </a:p>
          <a:p>
            <a:pPr marL="370840" algn="ctr">
              <a:lnSpc>
                <a:spcPts val="1080"/>
              </a:lnSpc>
            </a:pPr>
            <a:r>
              <a:rPr sz="1000" b="1" spc="-10" dirty="0">
                <a:latin typeface="Trebuchet MS"/>
                <a:cs typeface="Trebuchet MS"/>
              </a:rPr>
              <a:t>known </a:t>
            </a:r>
            <a:r>
              <a:rPr sz="1000" b="1" spc="-5" dirty="0">
                <a:latin typeface="Trebuchet MS"/>
                <a:cs typeface="Trebuchet MS"/>
              </a:rPr>
              <a:t>as </a:t>
            </a:r>
            <a:r>
              <a:rPr sz="1000" b="1" spc="-10" dirty="0">
                <a:solidFill>
                  <a:srgbClr val="395650"/>
                </a:solidFill>
                <a:latin typeface="Trebuchet MS"/>
                <a:cs typeface="Trebuchet MS"/>
              </a:rPr>
              <a:t>Budgetary</a:t>
            </a:r>
            <a:r>
              <a:rPr sz="1000" b="1" spc="30" dirty="0">
                <a:solidFill>
                  <a:srgbClr val="395650"/>
                </a:solidFill>
                <a:latin typeface="Trebuchet MS"/>
                <a:cs typeface="Trebuchet MS"/>
              </a:rPr>
              <a:t> </a:t>
            </a:r>
            <a:r>
              <a:rPr sz="1000" b="1" spc="-5" dirty="0">
                <a:solidFill>
                  <a:srgbClr val="395650"/>
                </a:solidFill>
                <a:latin typeface="Trebuchet MS"/>
                <a:cs typeface="Trebuchet MS"/>
              </a:rPr>
              <a:t>Control</a:t>
            </a:r>
            <a:r>
              <a:rPr sz="1000" b="1" spc="-5" dirty="0">
                <a:latin typeface="Trebuchet MS"/>
                <a:cs typeface="Trebuchet MS"/>
              </a:rPr>
              <a:t>.</a:t>
            </a: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350">
              <a:latin typeface="Trebuchet MS"/>
              <a:cs typeface="Trebuchet MS"/>
            </a:endParaRPr>
          </a:p>
          <a:p>
            <a:pPr marL="184785" indent="-172720">
              <a:lnSpc>
                <a:spcPct val="100000"/>
              </a:lnSpc>
              <a:buFont typeface="Arial"/>
              <a:buChar char="•"/>
              <a:tabLst>
                <a:tab pos="184785" algn="l"/>
                <a:tab pos="185420" algn="l"/>
              </a:tabLst>
            </a:pPr>
            <a:r>
              <a:rPr sz="950" b="1" spc="-5" dirty="0">
                <a:solidFill>
                  <a:srgbClr val="4B4545"/>
                </a:solidFill>
                <a:latin typeface="Trebuchet MS"/>
                <a:cs typeface="Trebuchet MS"/>
              </a:rPr>
              <a:t>Must be aligned with the organizational goals</a:t>
            </a:r>
            <a:endParaRPr sz="950">
              <a:latin typeface="Trebuchet MS"/>
              <a:cs typeface="Trebuchet MS"/>
            </a:endParaRPr>
          </a:p>
          <a:p>
            <a:pPr marL="184785" indent="-172720">
              <a:lnSpc>
                <a:spcPct val="100000"/>
              </a:lnSpc>
              <a:buFont typeface="Arial"/>
              <a:buChar char="•"/>
              <a:tabLst>
                <a:tab pos="184785" algn="l"/>
                <a:tab pos="185420" algn="l"/>
              </a:tabLst>
            </a:pPr>
            <a:r>
              <a:rPr sz="950" b="1" spc="-5" dirty="0">
                <a:solidFill>
                  <a:srgbClr val="4B4545"/>
                </a:solidFill>
                <a:latin typeface="Trebuchet MS"/>
                <a:cs typeface="Trebuchet MS"/>
              </a:rPr>
              <a:t>May cause misinterpretation to</a:t>
            </a:r>
            <a:r>
              <a:rPr sz="950" b="1" spc="35" dirty="0">
                <a:solidFill>
                  <a:srgbClr val="4B4545"/>
                </a:solidFill>
                <a:latin typeface="Trebuchet MS"/>
                <a:cs typeface="Trebuchet MS"/>
              </a:rPr>
              <a:t> </a:t>
            </a:r>
            <a:r>
              <a:rPr sz="950" b="1" spc="-5" dirty="0">
                <a:solidFill>
                  <a:srgbClr val="4B4545"/>
                </a:solidFill>
                <a:latin typeface="Trebuchet MS"/>
                <a:cs typeface="Trebuchet MS"/>
              </a:rPr>
              <a:t>management</a:t>
            </a:r>
            <a:endParaRPr sz="950">
              <a:latin typeface="Trebuchet MS"/>
              <a:cs typeface="Trebuchet MS"/>
            </a:endParaRPr>
          </a:p>
          <a:p>
            <a:pPr marL="184785" indent="-172720">
              <a:lnSpc>
                <a:spcPct val="100000"/>
              </a:lnSpc>
              <a:buFont typeface="Arial"/>
              <a:buChar char="•"/>
              <a:tabLst>
                <a:tab pos="184785" algn="l"/>
                <a:tab pos="185420" algn="l"/>
              </a:tabLst>
            </a:pPr>
            <a:r>
              <a:rPr sz="950" b="1" spc="-5" dirty="0">
                <a:solidFill>
                  <a:srgbClr val="4B4545"/>
                </a:solidFill>
                <a:latin typeface="Trebuchet MS"/>
                <a:cs typeface="Trebuchet MS"/>
              </a:rPr>
              <a:t>Data collection and</a:t>
            </a:r>
            <a:r>
              <a:rPr sz="950" b="1" spc="30" dirty="0">
                <a:solidFill>
                  <a:srgbClr val="4B4545"/>
                </a:solidFill>
                <a:latin typeface="Trebuchet MS"/>
                <a:cs typeface="Trebuchet MS"/>
              </a:rPr>
              <a:t> </a:t>
            </a:r>
            <a:r>
              <a:rPr sz="950" b="1" spc="-5" dirty="0">
                <a:solidFill>
                  <a:srgbClr val="4B4545"/>
                </a:solidFill>
                <a:latin typeface="Trebuchet MS"/>
                <a:cs typeface="Trebuchet MS"/>
              </a:rPr>
              <a:t>reporting</a:t>
            </a:r>
            <a:endParaRPr sz="950">
              <a:latin typeface="Trebuchet MS"/>
              <a:cs typeface="Trebuchet MS"/>
            </a:endParaRPr>
          </a:p>
          <a:p>
            <a:pPr marL="184785" indent="-172720">
              <a:lnSpc>
                <a:spcPct val="100000"/>
              </a:lnSpc>
              <a:buFont typeface="Arial"/>
              <a:buChar char="•"/>
              <a:tabLst>
                <a:tab pos="184785" algn="l"/>
                <a:tab pos="185420" algn="l"/>
              </a:tabLst>
            </a:pPr>
            <a:r>
              <a:rPr sz="950" b="1" spc="-5" dirty="0">
                <a:solidFill>
                  <a:srgbClr val="4B4545"/>
                </a:solidFill>
                <a:latin typeface="Trebuchet MS"/>
                <a:cs typeface="Trebuchet MS"/>
              </a:rPr>
              <a:t>Must be carefully designed and</a:t>
            </a:r>
            <a:r>
              <a:rPr sz="950" b="1" spc="20" dirty="0">
                <a:solidFill>
                  <a:srgbClr val="4B4545"/>
                </a:solidFill>
                <a:latin typeface="Trebuchet MS"/>
                <a:cs typeface="Trebuchet MS"/>
              </a:rPr>
              <a:t> </a:t>
            </a:r>
            <a:r>
              <a:rPr sz="950" b="1" spc="-5" dirty="0">
                <a:solidFill>
                  <a:srgbClr val="4B4545"/>
                </a:solidFill>
                <a:latin typeface="Trebuchet MS"/>
                <a:cs typeface="Trebuchet MS"/>
              </a:rPr>
              <a:t>controlled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77565" y="20192"/>
            <a:ext cx="146558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600" b="1" spc="-5" dirty="0" smtClean="0">
                <a:solidFill>
                  <a:srgbClr val="355D7D"/>
                </a:solidFill>
                <a:latin typeface="Trebuchet MS"/>
                <a:cs typeface="Trebuchet MS"/>
              </a:rPr>
              <a:t>IPE 4111</a:t>
            </a:r>
            <a:r>
              <a:rPr sz="600" b="1" spc="-5" dirty="0" smtClean="0">
                <a:solidFill>
                  <a:srgbClr val="355D7D"/>
                </a:solidFill>
                <a:latin typeface="Trebuchet MS"/>
                <a:cs typeface="Trebuchet MS"/>
              </a:rPr>
              <a:t>: </a:t>
            </a:r>
            <a:r>
              <a:rPr lang="en-US" sz="600" b="1" spc="-5" dirty="0" smtClean="0">
                <a:solidFill>
                  <a:srgbClr val="355D7D"/>
                </a:solidFill>
                <a:latin typeface="Trebuchet MS"/>
                <a:cs typeface="Trebuchet MS"/>
              </a:rPr>
              <a:t>Industrial Management</a:t>
            </a:r>
            <a:endParaRPr sz="6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61332" y="2491739"/>
            <a:ext cx="182880" cy="182880"/>
            <a:chOff x="4561332" y="2491739"/>
            <a:chExt cx="182880" cy="182880"/>
          </a:xfrm>
        </p:grpSpPr>
        <p:sp>
          <p:nvSpPr>
            <p:cNvPr id="3" name="object 3"/>
            <p:cNvSpPr/>
            <p:nvPr/>
          </p:nvSpPr>
          <p:spPr>
            <a:xfrm>
              <a:off x="4561332" y="2491739"/>
              <a:ext cx="182879" cy="18287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568825" y="2500756"/>
              <a:ext cx="166370" cy="16484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1938337" y="1293240"/>
            <a:ext cx="1129665" cy="513080"/>
            <a:chOff x="1938337" y="1293240"/>
            <a:chExt cx="1129665" cy="513080"/>
          </a:xfrm>
        </p:grpSpPr>
        <p:sp>
          <p:nvSpPr>
            <p:cNvPr id="6" name="object 6"/>
            <p:cNvSpPr/>
            <p:nvPr/>
          </p:nvSpPr>
          <p:spPr>
            <a:xfrm>
              <a:off x="2752725" y="1293240"/>
              <a:ext cx="314960" cy="207010"/>
            </a:xfrm>
            <a:custGeom>
              <a:avLst/>
              <a:gdLst/>
              <a:ahLst/>
              <a:cxnLst/>
              <a:rect l="l" t="t" r="r" b="b"/>
              <a:pathLst>
                <a:path w="314960" h="207009">
                  <a:moveTo>
                    <a:pt x="263016" y="0"/>
                  </a:moveTo>
                  <a:lnTo>
                    <a:pt x="272541" y="16509"/>
                  </a:lnTo>
                  <a:lnTo>
                    <a:pt x="0" y="173862"/>
                  </a:lnTo>
                  <a:lnTo>
                    <a:pt x="19050" y="206755"/>
                  </a:lnTo>
                  <a:lnTo>
                    <a:pt x="291591" y="49529"/>
                  </a:lnTo>
                  <a:lnTo>
                    <a:pt x="301116" y="65912"/>
                  </a:lnTo>
                  <a:lnTo>
                    <a:pt x="314960" y="13970"/>
                  </a:lnTo>
                  <a:lnTo>
                    <a:pt x="263016" y="0"/>
                  </a:lnTo>
                  <a:close/>
                </a:path>
              </a:pathLst>
            </a:custGeom>
            <a:solidFill>
              <a:srgbClr val="7AA7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43100" y="1440179"/>
              <a:ext cx="990600" cy="361315"/>
            </a:xfrm>
            <a:custGeom>
              <a:avLst/>
              <a:gdLst/>
              <a:ahLst/>
              <a:cxnLst/>
              <a:rect l="l" t="t" r="r" b="b"/>
              <a:pathLst>
                <a:path w="990600" h="361314">
                  <a:moveTo>
                    <a:pt x="495300" y="0"/>
                  </a:moveTo>
                  <a:lnTo>
                    <a:pt x="428088" y="1649"/>
                  </a:lnTo>
                  <a:lnTo>
                    <a:pt x="363625" y="6454"/>
                  </a:lnTo>
                  <a:lnTo>
                    <a:pt x="302502" y="14198"/>
                  </a:lnTo>
                  <a:lnTo>
                    <a:pt x="245307" y="24666"/>
                  </a:lnTo>
                  <a:lnTo>
                    <a:pt x="192632" y="37642"/>
                  </a:lnTo>
                  <a:lnTo>
                    <a:pt x="145065" y="52911"/>
                  </a:lnTo>
                  <a:lnTo>
                    <a:pt x="103198" y="70257"/>
                  </a:lnTo>
                  <a:lnTo>
                    <a:pt x="67620" y="89464"/>
                  </a:lnTo>
                  <a:lnTo>
                    <a:pt x="17691" y="132600"/>
                  </a:lnTo>
                  <a:lnTo>
                    <a:pt x="0" y="180593"/>
                  </a:lnTo>
                  <a:lnTo>
                    <a:pt x="4521" y="205090"/>
                  </a:lnTo>
                  <a:lnTo>
                    <a:pt x="38921" y="250870"/>
                  </a:lnTo>
                  <a:lnTo>
                    <a:pt x="103198" y="290930"/>
                  </a:lnTo>
                  <a:lnTo>
                    <a:pt x="145065" y="308276"/>
                  </a:lnTo>
                  <a:lnTo>
                    <a:pt x="192632" y="323545"/>
                  </a:lnTo>
                  <a:lnTo>
                    <a:pt x="245307" y="336521"/>
                  </a:lnTo>
                  <a:lnTo>
                    <a:pt x="302502" y="346989"/>
                  </a:lnTo>
                  <a:lnTo>
                    <a:pt x="363625" y="354733"/>
                  </a:lnTo>
                  <a:lnTo>
                    <a:pt x="428088" y="359538"/>
                  </a:lnTo>
                  <a:lnTo>
                    <a:pt x="495300" y="361188"/>
                  </a:lnTo>
                  <a:lnTo>
                    <a:pt x="562511" y="359538"/>
                  </a:lnTo>
                  <a:lnTo>
                    <a:pt x="626974" y="354733"/>
                  </a:lnTo>
                  <a:lnTo>
                    <a:pt x="688097" y="346989"/>
                  </a:lnTo>
                  <a:lnTo>
                    <a:pt x="745292" y="336521"/>
                  </a:lnTo>
                  <a:lnTo>
                    <a:pt x="797967" y="323545"/>
                  </a:lnTo>
                  <a:lnTo>
                    <a:pt x="845534" y="308276"/>
                  </a:lnTo>
                  <a:lnTo>
                    <a:pt x="887401" y="290930"/>
                  </a:lnTo>
                  <a:lnTo>
                    <a:pt x="922979" y="271723"/>
                  </a:lnTo>
                  <a:lnTo>
                    <a:pt x="972908" y="228587"/>
                  </a:lnTo>
                  <a:lnTo>
                    <a:pt x="990600" y="180593"/>
                  </a:lnTo>
                  <a:lnTo>
                    <a:pt x="986078" y="156097"/>
                  </a:lnTo>
                  <a:lnTo>
                    <a:pt x="951678" y="110317"/>
                  </a:lnTo>
                  <a:lnTo>
                    <a:pt x="887401" y="70257"/>
                  </a:lnTo>
                  <a:lnTo>
                    <a:pt x="845534" y="52911"/>
                  </a:lnTo>
                  <a:lnTo>
                    <a:pt x="797967" y="37642"/>
                  </a:lnTo>
                  <a:lnTo>
                    <a:pt x="745292" y="24666"/>
                  </a:lnTo>
                  <a:lnTo>
                    <a:pt x="688097" y="14198"/>
                  </a:lnTo>
                  <a:lnTo>
                    <a:pt x="626974" y="6454"/>
                  </a:lnTo>
                  <a:lnTo>
                    <a:pt x="562511" y="1649"/>
                  </a:lnTo>
                  <a:lnTo>
                    <a:pt x="495300" y="0"/>
                  </a:lnTo>
                  <a:close/>
                </a:path>
              </a:pathLst>
            </a:custGeom>
            <a:solidFill>
              <a:srgbClr val="A4AB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43100" y="1440179"/>
              <a:ext cx="990600" cy="361315"/>
            </a:xfrm>
            <a:custGeom>
              <a:avLst/>
              <a:gdLst/>
              <a:ahLst/>
              <a:cxnLst/>
              <a:rect l="l" t="t" r="r" b="b"/>
              <a:pathLst>
                <a:path w="990600" h="361314">
                  <a:moveTo>
                    <a:pt x="0" y="180593"/>
                  </a:moveTo>
                  <a:lnTo>
                    <a:pt x="17691" y="132600"/>
                  </a:lnTo>
                  <a:lnTo>
                    <a:pt x="67620" y="89464"/>
                  </a:lnTo>
                  <a:lnTo>
                    <a:pt x="103198" y="70257"/>
                  </a:lnTo>
                  <a:lnTo>
                    <a:pt x="145065" y="52911"/>
                  </a:lnTo>
                  <a:lnTo>
                    <a:pt x="192632" y="37642"/>
                  </a:lnTo>
                  <a:lnTo>
                    <a:pt x="245307" y="24666"/>
                  </a:lnTo>
                  <a:lnTo>
                    <a:pt x="302502" y="14198"/>
                  </a:lnTo>
                  <a:lnTo>
                    <a:pt x="363625" y="6454"/>
                  </a:lnTo>
                  <a:lnTo>
                    <a:pt x="428088" y="1649"/>
                  </a:lnTo>
                  <a:lnTo>
                    <a:pt x="495300" y="0"/>
                  </a:lnTo>
                  <a:lnTo>
                    <a:pt x="562511" y="1649"/>
                  </a:lnTo>
                  <a:lnTo>
                    <a:pt x="626974" y="6454"/>
                  </a:lnTo>
                  <a:lnTo>
                    <a:pt x="688097" y="14198"/>
                  </a:lnTo>
                  <a:lnTo>
                    <a:pt x="745292" y="24666"/>
                  </a:lnTo>
                  <a:lnTo>
                    <a:pt x="797967" y="37642"/>
                  </a:lnTo>
                  <a:lnTo>
                    <a:pt x="845534" y="52911"/>
                  </a:lnTo>
                  <a:lnTo>
                    <a:pt x="887401" y="70257"/>
                  </a:lnTo>
                  <a:lnTo>
                    <a:pt x="922979" y="89464"/>
                  </a:lnTo>
                  <a:lnTo>
                    <a:pt x="972908" y="132600"/>
                  </a:lnTo>
                  <a:lnTo>
                    <a:pt x="990600" y="180593"/>
                  </a:lnTo>
                  <a:lnTo>
                    <a:pt x="986078" y="205090"/>
                  </a:lnTo>
                  <a:lnTo>
                    <a:pt x="951678" y="250870"/>
                  </a:lnTo>
                  <a:lnTo>
                    <a:pt x="887401" y="290930"/>
                  </a:lnTo>
                  <a:lnTo>
                    <a:pt x="845534" y="308276"/>
                  </a:lnTo>
                  <a:lnTo>
                    <a:pt x="797967" y="323545"/>
                  </a:lnTo>
                  <a:lnTo>
                    <a:pt x="745292" y="336521"/>
                  </a:lnTo>
                  <a:lnTo>
                    <a:pt x="688097" y="346989"/>
                  </a:lnTo>
                  <a:lnTo>
                    <a:pt x="626974" y="354733"/>
                  </a:lnTo>
                  <a:lnTo>
                    <a:pt x="562511" y="359538"/>
                  </a:lnTo>
                  <a:lnTo>
                    <a:pt x="495300" y="361188"/>
                  </a:lnTo>
                  <a:lnTo>
                    <a:pt x="428088" y="359538"/>
                  </a:lnTo>
                  <a:lnTo>
                    <a:pt x="363625" y="354733"/>
                  </a:lnTo>
                  <a:lnTo>
                    <a:pt x="302502" y="346989"/>
                  </a:lnTo>
                  <a:lnTo>
                    <a:pt x="245307" y="336521"/>
                  </a:lnTo>
                  <a:lnTo>
                    <a:pt x="192632" y="323545"/>
                  </a:lnTo>
                  <a:lnTo>
                    <a:pt x="145065" y="308276"/>
                  </a:lnTo>
                  <a:lnTo>
                    <a:pt x="103198" y="290930"/>
                  </a:lnTo>
                  <a:lnTo>
                    <a:pt x="67620" y="271723"/>
                  </a:lnTo>
                  <a:lnTo>
                    <a:pt x="17691" y="228587"/>
                  </a:lnTo>
                  <a:lnTo>
                    <a:pt x="0" y="180593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495805" y="20192"/>
            <a:ext cx="1685289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Ahsanullah 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University of </a:t>
            </a: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Science &amp;</a:t>
            </a:r>
            <a:r>
              <a:rPr sz="600" b="1" spc="-10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600" b="1" spc="-10" dirty="0">
                <a:solidFill>
                  <a:srgbClr val="355D7D"/>
                </a:solidFill>
                <a:latin typeface="Trebuchet MS"/>
                <a:cs typeface="Trebuchet MS"/>
              </a:rPr>
              <a:t>Technology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14116" y="10667"/>
            <a:ext cx="129539" cy="1523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619625" y="2524505"/>
            <a:ext cx="67945" cy="1117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50" b="1" spc="5" dirty="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85241" y="375030"/>
            <a:ext cx="731012" cy="19710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77725" y="383920"/>
            <a:ext cx="156079" cy="14782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291082" y="375030"/>
            <a:ext cx="1075435" cy="19710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425192" y="375030"/>
            <a:ext cx="789178" cy="15709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135504" y="1536318"/>
            <a:ext cx="6064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Trebuchet MS"/>
                <a:cs typeface="Trebuchet MS"/>
              </a:rPr>
              <a:t>Advantages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929193" y="752665"/>
            <a:ext cx="923925" cy="687705"/>
            <a:chOff x="1929193" y="752665"/>
            <a:chExt cx="923925" cy="687705"/>
          </a:xfrm>
        </p:grpSpPr>
        <p:sp>
          <p:nvSpPr>
            <p:cNvPr id="19" name="object 19"/>
            <p:cNvSpPr/>
            <p:nvPr/>
          </p:nvSpPr>
          <p:spPr>
            <a:xfrm>
              <a:off x="2400300" y="1082039"/>
              <a:ext cx="76200" cy="353695"/>
            </a:xfrm>
            <a:custGeom>
              <a:avLst/>
              <a:gdLst/>
              <a:ahLst/>
              <a:cxnLst/>
              <a:rect l="l" t="t" r="r" b="b"/>
              <a:pathLst>
                <a:path w="76200" h="353694">
                  <a:moveTo>
                    <a:pt x="38100" y="0"/>
                  </a:moveTo>
                  <a:lnTo>
                    <a:pt x="0" y="38100"/>
                  </a:lnTo>
                  <a:lnTo>
                    <a:pt x="19050" y="38100"/>
                  </a:lnTo>
                  <a:lnTo>
                    <a:pt x="19050" y="353567"/>
                  </a:lnTo>
                  <a:lnTo>
                    <a:pt x="57150" y="353567"/>
                  </a:lnTo>
                  <a:lnTo>
                    <a:pt x="57150" y="38100"/>
                  </a:lnTo>
                  <a:lnTo>
                    <a:pt x="76200" y="381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7AA7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400300" y="1082039"/>
              <a:ext cx="76200" cy="353695"/>
            </a:xfrm>
            <a:custGeom>
              <a:avLst/>
              <a:gdLst/>
              <a:ahLst/>
              <a:cxnLst/>
              <a:rect l="l" t="t" r="r" b="b"/>
              <a:pathLst>
                <a:path w="76200" h="353694">
                  <a:moveTo>
                    <a:pt x="0" y="38100"/>
                  </a:moveTo>
                  <a:lnTo>
                    <a:pt x="19050" y="38100"/>
                  </a:lnTo>
                  <a:lnTo>
                    <a:pt x="19050" y="353567"/>
                  </a:lnTo>
                  <a:lnTo>
                    <a:pt x="57150" y="353567"/>
                  </a:lnTo>
                  <a:lnTo>
                    <a:pt x="57150" y="38100"/>
                  </a:lnTo>
                  <a:lnTo>
                    <a:pt x="76200" y="38100"/>
                  </a:lnTo>
                  <a:lnTo>
                    <a:pt x="38100" y="0"/>
                  </a:lnTo>
                  <a:lnTo>
                    <a:pt x="0" y="3810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933955" y="757427"/>
              <a:ext cx="914400" cy="323215"/>
            </a:xfrm>
            <a:custGeom>
              <a:avLst/>
              <a:gdLst/>
              <a:ahLst/>
              <a:cxnLst/>
              <a:rect l="l" t="t" r="r" b="b"/>
              <a:pathLst>
                <a:path w="914400" h="323215">
                  <a:moveTo>
                    <a:pt x="914399" y="0"/>
                  </a:moveTo>
                  <a:lnTo>
                    <a:pt x="0" y="0"/>
                  </a:lnTo>
                  <a:lnTo>
                    <a:pt x="0" y="323088"/>
                  </a:lnTo>
                  <a:lnTo>
                    <a:pt x="914399" y="323088"/>
                  </a:lnTo>
                  <a:lnTo>
                    <a:pt x="914399" y="0"/>
                  </a:lnTo>
                  <a:close/>
                </a:path>
              </a:pathLst>
            </a:custGeom>
            <a:solidFill>
              <a:srgbClr val="958B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933955" y="757427"/>
              <a:ext cx="914400" cy="323215"/>
            </a:xfrm>
            <a:custGeom>
              <a:avLst/>
              <a:gdLst/>
              <a:ahLst/>
              <a:cxnLst/>
              <a:rect l="l" t="t" r="r" b="b"/>
              <a:pathLst>
                <a:path w="914400" h="323215">
                  <a:moveTo>
                    <a:pt x="0" y="323088"/>
                  </a:moveTo>
                  <a:lnTo>
                    <a:pt x="914399" y="323088"/>
                  </a:lnTo>
                  <a:lnTo>
                    <a:pt x="914399" y="0"/>
                  </a:lnTo>
                  <a:lnTo>
                    <a:pt x="0" y="0"/>
                  </a:lnTo>
                  <a:lnTo>
                    <a:pt x="0" y="323088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933955" y="757427"/>
            <a:ext cx="914400" cy="162560"/>
          </a:xfrm>
          <a:prstGeom prst="rect">
            <a:avLst/>
          </a:prstGeom>
          <a:solidFill>
            <a:srgbClr val="958B8B"/>
          </a:solidFill>
        </p:spPr>
        <p:txBody>
          <a:bodyPr vert="horz" wrap="square" lIns="0" tIns="19685" rIns="0" bIns="0" rtlCol="0">
            <a:spAutoFit/>
          </a:bodyPr>
          <a:lstStyle/>
          <a:p>
            <a:pPr marL="78740">
              <a:lnSpc>
                <a:spcPct val="100000"/>
              </a:lnSpc>
              <a:spcBef>
                <a:spcPts val="155"/>
              </a:spcBef>
            </a:pPr>
            <a:r>
              <a:rPr sz="900" spc="-5" dirty="0">
                <a:solidFill>
                  <a:srgbClr val="FFFFFF"/>
                </a:solidFill>
                <a:latin typeface="Trebuchet MS"/>
                <a:cs typeface="Trebuchet MS"/>
              </a:rPr>
              <a:t>Think and</a:t>
            </a:r>
            <a:r>
              <a:rPr sz="9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Trebuchet MS"/>
                <a:cs typeface="Trebuchet MS"/>
              </a:rPr>
              <a:t>Plan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933955" y="919408"/>
            <a:ext cx="914400" cy="161290"/>
          </a:xfrm>
          <a:prstGeom prst="rect">
            <a:avLst/>
          </a:prstGeom>
          <a:solidFill>
            <a:srgbClr val="958B8B"/>
          </a:solidFill>
        </p:spPr>
        <p:txBody>
          <a:bodyPr vert="horz" wrap="square" lIns="0" tIns="0" rIns="0" bIns="0" rtlCol="0">
            <a:spAutoFit/>
          </a:bodyPr>
          <a:lstStyle/>
          <a:p>
            <a:pPr marL="125730">
              <a:lnSpc>
                <a:spcPts val="1045"/>
              </a:lnSpc>
            </a:pPr>
            <a:r>
              <a:rPr sz="900" spc="-5" dirty="0">
                <a:solidFill>
                  <a:srgbClr val="FFFFFF"/>
                </a:solidFill>
                <a:latin typeface="Trebuchet MS"/>
                <a:cs typeface="Trebuchet MS"/>
              </a:rPr>
              <a:t>about</a:t>
            </a:r>
            <a:r>
              <a:rPr sz="9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Trebuchet MS"/>
                <a:cs typeface="Trebuchet MS"/>
              </a:rPr>
              <a:t>Future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94588" y="1112519"/>
            <a:ext cx="887094" cy="323215"/>
          </a:xfrm>
          <a:prstGeom prst="rect">
            <a:avLst/>
          </a:prstGeom>
          <a:solidFill>
            <a:srgbClr val="958B8B"/>
          </a:solidFill>
        </p:spPr>
        <p:txBody>
          <a:bodyPr vert="horz" wrap="square" lIns="0" tIns="196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55"/>
              </a:spcBef>
            </a:pPr>
            <a:r>
              <a:rPr sz="900" spc="-10" dirty="0">
                <a:solidFill>
                  <a:srgbClr val="FFFFFF"/>
                </a:solidFill>
                <a:latin typeface="Trebuchet MS"/>
                <a:cs typeface="Trebuchet MS"/>
              </a:rPr>
              <a:t>Increased</a:t>
            </a:r>
            <a:endParaRPr sz="900">
              <a:latin typeface="Trebuchet MS"/>
              <a:cs typeface="Trebuchet MS"/>
            </a:endParaRPr>
          </a:p>
          <a:p>
            <a:pPr marL="1270" algn="ctr">
              <a:lnSpc>
                <a:spcPct val="100000"/>
              </a:lnSpc>
              <a:spcBef>
                <a:spcPts val="5"/>
              </a:spcBef>
            </a:pPr>
            <a:r>
              <a:rPr sz="900" spc="-5" dirty="0">
                <a:solidFill>
                  <a:srgbClr val="FFFFFF"/>
                </a:solidFill>
                <a:latin typeface="Trebuchet MS"/>
                <a:cs typeface="Trebuchet MS"/>
              </a:rPr>
              <a:t>communication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76300" y="1734311"/>
            <a:ext cx="887094" cy="321945"/>
          </a:xfrm>
          <a:prstGeom prst="rect">
            <a:avLst/>
          </a:prstGeom>
          <a:solidFill>
            <a:srgbClr val="958B8B"/>
          </a:solidFill>
        </p:spPr>
        <p:txBody>
          <a:bodyPr vert="horz" wrap="square" lIns="0" tIns="196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55"/>
              </a:spcBef>
            </a:pPr>
            <a:r>
              <a:rPr sz="900" spc="-5" dirty="0">
                <a:solidFill>
                  <a:srgbClr val="FFFFFF"/>
                </a:solidFill>
                <a:latin typeface="Trebuchet MS"/>
                <a:cs typeface="Trebuchet MS"/>
              </a:rPr>
              <a:t>Defined</a:t>
            </a:r>
            <a:endParaRPr sz="9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900" spc="-5" dirty="0">
                <a:solidFill>
                  <a:srgbClr val="FFFFFF"/>
                </a:solidFill>
                <a:latin typeface="Trebuchet MS"/>
                <a:cs typeface="Trebuchet MS"/>
              </a:rPr>
              <a:t>responsibility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113532" y="1734311"/>
            <a:ext cx="887094" cy="321945"/>
          </a:xfrm>
          <a:prstGeom prst="rect">
            <a:avLst/>
          </a:prstGeom>
          <a:solidFill>
            <a:srgbClr val="958B8B"/>
          </a:solidFill>
        </p:spPr>
        <p:txBody>
          <a:bodyPr vert="horz" wrap="square" lIns="0" tIns="19685" rIns="0" bIns="0" rtlCol="0">
            <a:spAutoFit/>
          </a:bodyPr>
          <a:lstStyle/>
          <a:p>
            <a:pPr marL="215900">
              <a:lnSpc>
                <a:spcPct val="100000"/>
              </a:lnSpc>
              <a:spcBef>
                <a:spcPts val="155"/>
              </a:spcBef>
            </a:pPr>
            <a:r>
              <a:rPr sz="900" spc="-10" dirty="0">
                <a:solidFill>
                  <a:srgbClr val="FFFFFF"/>
                </a:solidFill>
                <a:latin typeface="Trebuchet MS"/>
                <a:cs typeface="Trebuchet MS"/>
              </a:rPr>
              <a:t>Resource</a:t>
            </a:r>
            <a:endParaRPr sz="900">
              <a:latin typeface="Trebuchet MS"/>
              <a:cs typeface="Trebuchet MS"/>
            </a:endParaRPr>
          </a:p>
          <a:p>
            <a:pPr marL="188595">
              <a:lnSpc>
                <a:spcPct val="100000"/>
              </a:lnSpc>
            </a:pPr>
            <a:r>
              <a:rPr sz="900" spc="-5" dirty="0">
                <a:solidFill>
                  <a:srgbClr val="FFFFFF"/>
                </a:solidFill>
                <a:latin typeface="Trebuchet MS"/>
                <a:cs typeface="Trebuchet MS"/>
              </a:rPr>
              <a:t>Allocation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956816" y="2154935"/>
            <a:ext cx="887094" cy="321945"/>
          </a:xfrm>
          <a:prstGeom prst="rect">
            <a:avLst/>
          </a:prstGeom>
          <a:solidFill>
            <a:srgbClr val="958B8B"/>
          </a:solidFill>
        </p:spPr>
        <p:txBody>
          <a:bodyPr vert="horz" wrap="square" lIns="0" tIns="19685" rIns="0" bIns="0" rtlCol="0">
            <a:spAutoFit/>
          </a:bodyPr>
          <a:lstStyle/>
          <a:p>
            <a:pPr marL="172720" marR="164465" indent="4445">
              <a:lnSpc>
                <a:spcPct val="100000"/>
              </a:lnSpc>
              <a:spcBef>
                <a:spcPts val="155"/>
              </a:spcBef>
            </a:pPr>
            <a:r>
              <a:rPr sz="900" spc="-5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900" spc="-1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900" spc="-5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v</a:t>
            </a:r>
            <a:r>
              <a:rPr sz="900" spc="-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900" spc="-5" dirty="0">
                <a:solidFill>
                  <a:srgbClr val="FFFFFF"/>
                </a:solidFill>
                <a:latin typeface="Trebuchet MS"/>
                <a:cs typeface="Trebuchet MS"/>
              </a:rPr>
              <a:t>ing  </a:t>
            </a: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900" spc="-1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pl</a:t>
            </a:r>
            <a:r>
              <a:rPr sz="900" spc="-5" dirty="0">
                <a:solidFill>
                  <a:srgbClr val="FFFFFF"/>
                </a:solidFill>
                <a:latin typeface="Trebuchet MS"/>
                <a:cs typeface="Trebuchet MS"/>
              </a:rPr>
              <a:t>oye</a:t>
            </a:r>
            <a:r>
              <a:rPr sz="900" dirty="0">
                <a:solidFill>
                  <a:srgbClr val="FFFFFF"/>
                </a:solidFill>
                <a:latin typeface="Trebuchet MS"/>
                <a:cs typeface="Trebuchet MS"/>
              </a:rPr>
              <a:t>es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095244" y="1112519"/>
            <a:ext cx="1057910" cy="323215"/>
          </a:xfrm>
          <a:prstGeom prst="rect">
            <a:avLst/>
          </a:prstGeom>
          <a:solidFill>
            <a:srgbClr val="958B8B"/>
          </a:solidFill>
        </p:spPr>
        <p:txBody>
          <a:bodyPr vert="horz" wrap="square" lIns="0" tIns="1968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55"/>
              </a:spcBef>
            </a:pPr>
            <a:r>
              <a:rPr sz="900" spc="-5" dirty="0">
                <a:solidFill>
                  <a:srgbClr val="FFFFFF"/>
                </a:solidFill>
                <a:latin typeface="Trebuchet MS"/>
                <a:cs typeface="Trebuchet MS"/>
              </a:rPr>
              <a:t>Uncover</a:t>
            </a:r>
            <a:r>
              <a:rPr sz="9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Trebuchet MS"/>
                <a:cs typeface="Trebuchet MS"/>
              </a:rPr>
              <a:t>potential</a:t>
            </a:r>
            <a:endParaRPr sz="900">
              <a:latin typeface="Trebuchet MS"/>
              <a:cs typeface="Trebuchet MS"/>
            </a:endParaRPr>
          </a:p>
          <a:p>
            <a:pPr marL="1270" algn="ctr">
              <a:lnSpc>
                <a:spcPct val="100000"/>
              </a:lnSpc>
              <a:spcBef>
                <a:spcPts val="5"/>
              </a:spcBef>
            </a:pPr>
            <a:r>
              <a:rPr sz="900" spc="-5" dirty="0">
                <a:solidFill>
                  <a:srgbClr val="FFFFFF"/>
                </a:solidFill>
                <a:latin typeface="Trebuchet MS"/>
                <a:cs typeface="Trebuchet MS"/>
              </a:rPr>
              <a:t>bottlenecks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777174" y="1293050"/>
            <a:ext cx="1329690" cy="865505"/>
            <a:chOff x="1777174" y="1293050"/>
            <a:chExt cx="1329690" cy="865505"/>
          </a:xfrm>
        </p:grpSpPr>
        <p:sp>
          <p:nvSpPr>
            <p:cNvPr id="31" name="object 31"/>
            <p:cNvSpPr/>
            <p:nvPr/>
          </p:nvSpPr>
          <p:spPr>
            <a:xfrm>
              <a:off x="2400299" y="1801367"/>
              <a:ext cx="76200" cy="352425"/>
            </a:xfrm>
            <a:custGeom>
              <a:avLst/>
              <a:gdLst/>
              <a:ahLst/>
              <a:cxnLst/>
              <a:rect l="l" t="t" r="r" b="b"/>
              <a:pathLst>
                <a:path w="76200" h="352425">
                  <a:moveTo>
                    <a:pt x="57150" y="0"/>
                  </a:moveTo>
                  <a:lnTo>
                    <a:pt x="19050" y="0"/>
                  </a:lnTo>
                  <a:lnTo>
                    <a:pt x="19050" y="313943"/>
                  </a:lnTo>
                  <a:lnTo>
                    <a:pt x="0" y="313943"/>
                  </a:lnTo>
                  <a:lnTo>
                    <a:pt x="38100" y="352043"/>
                  </a:lnTo>
                  <a:lnTo>
                    <a:pt x="76200" y="313943"/>
                  </a:lnTo>
                  <a:lnTo>
                    <a:pt x="57150" y="313943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7AA7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400299" y="1801367"/>
              <a:ext cx="76200" cy="352425"/>
            </a:xfrm>
            <a:custGeom>
              <a:avLst/>
              <a:gdLst/>
              <a:ahLst/>
              <a:cxnLst/>
              <a:rect l="l" t="t" r="r" b="b"/>
              <a:pathLst>
                <a:path w="76200" h="352425">
                  <a:moveTo>
                    <a:pt x="76200" y="313943"/>
                  </a:moveTo>
                  <a:lnTo>
                    <a:pt x="57150" y="313943"/>
                  </a:lnTo>
                  <a:lnTo>
                    <a:pt x="57150" y="0"/>
                  </a:lnTo>
                  <a:lnTo>
                    <a:pt x="19050" y="0"/>
                  </a:lnTo>
                  <a:lnTo>
                    <a:pt x="19050" y="313943"/>
                  </a:lnTo>
                  <a:lnTo>
                    <a:pt x="0" y="313943"/>
                  </a:lnTo>
                  <a:lnTo>
                    <a:pt x="38100" y="352043"/>
                  </a:lnTo>
                  <a:lnTo>
                    <a:pt x="76200" y="313943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781936" y="1297812"/>
              <a:ext cx="314960" cy="207010"/>
            </a:xfrm>
            <a:custGeom>
              <a:avLst/>
              <a:gdLst/>
              <a:ahLst/>
              <a:cxnLst/>
              <a:rect l="l" t="t" r="r" b="b"/>
              <a:pathLst>
                <a:path w="314960" h="207009">
                  <a:moveTo>
                    <a:pt x="51943" y="0"/>
                  </a:moveTo>
                  <a:lnTo>
                    <a:pt x="0" y="13970"/>
                  </a:lnTo>
                  <a:lnTo>
                    <a:pt x="13843" y="66039"/>
                  </a:lnTo>
                  <a:lnTo>
                    <a:pt x="23368" y="49529"/>
                  </a:lnTo>
                  <a:lnTo>
                    <a:pt x="295910" y="206882"/>
                  </a:lnTo>
                  <a:lnTo>
                    <a:pt x="314960" y="173862"/>
                  </a:lnTo>
                  <a:lnTo>
                    <a:pt x="42418" y="16509"/>
                  </a:lnTo>
                  <a:lnTo>
                    <a:pt x="51943" y="0"/>
                  </a:lnTo>
                  <a:close/>
                </a:path>
              </a:pathLst>
            </a:custGeom>
            <a:solidFill>
              <a:srgbClr val="7AA7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781936" y="1297812"/>
              <a:ext cx="314960" cy="207010"/>
            </a:xfrm>
            <a:custGeom>
              <a:avLst/>
              <a:gdLst/>
              <a:ahLst/>
              <a:cxnLst/>
              <a:rect l="l" t="t" r="r" b="b"/>
              <a:pathLst>
                <a:path w="314960" h="207009">
                  <a:moveTo>
                    <a:pt x="51943" y="0"/>
                  </a:moveTo>
                  <a:lnTo>
                    <a:pt x="42418" y="16509"/>
                  </a:lnTo>
                  <a:lnTo>
                    <a:pt x="314960" y="173862"/>
                  </a:lnTo>
                  <a:lnTo>
                    <a:pt x="295910" y="206882"/>
                  </a:lnTo>
                  <a:lnTo>
                    <a:pt x="23368" y="49529"/>
                  </a:lnTo>
                  <a:lnTo>
                    <a:pt x="13843" y="66039"/>
                  </a:lnTo>
                  <a:lnTo>
                    <a:pt x="0" y="13970"/>
                  </a:lnTo>
                  <a:lnTo>
                    <a:pt x="51943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786633" y="1746757"/>
              <a:ext cx="315595" cy="207010"/>
            </a:xfrm>
            <a:custGeom>
              <a:avLst/>
              <a:gdLst/>
              <a:ahLst/>
              <a:cxnLst/>
              <a:rect l="l" t="t" r="r" b="b"/>
              <a:pathLst>
                <a:path w="315594" h="207010">
                  <a:moveTo>
                    <a:pt x="19050" y="0"/>
                  </a:moveTo>
                  <a:lnTo>
                    <a:pt x="0" y="33020"/>
                  </a:lnTo>
                  <a:lnTo>
                    <a:pt x="272541" y="190373"/>
                  </a:lnTo>
                  <a:lnTo>
                    <a:pt x="263016" y="206883"/>
                  </a:lnTo>
                  <a:lnTo>
                    <a:pt x="315087" y="192912"/>
                  </a:lnTo>
                  <a:lnTo>
                    <a:pt x="301116" y="140842"/>
                  </a:lnTo>
                  <a:lnTo>
                    <a:pt x="291591" y="157352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7AA7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786633" y="1746757"/>
              <a:ext cx="315595" cy="207010"/>
            </a:xfrm>
            <a:custGeom>
              <a:avLst/>
              <a:gdLst/>
              <a:ahLst/>
              <a:cxnLst/>
              <a:rect l="l" t="t" r="r" b="b"/>
              <a:pathLst>
                <a:path w="315594" h="207010">
                  <a:moveTo>
                    <a:pt x="263016" y="206883"/>
                  </a:moveTo>
                  <a:lnTo>
                    <a:pt x="272541" y="190373"/>
                  </a:lnTo>
                  <a:lnTo>
                    <a:pt x="0" y="33020"/>
                  </a:lnTo>
                  <a:lnTo>
                    <a:pt x="19050" y="0"/>
                  </a:lnTo>
                  <a:lnTo>
                    <a:pt x="291591" y="157352"/>
                  </a:lnTo>
                  <a:lnTo>
                    <a:pt x="301116" y="140842"/>
                  </a:lnTo>
                  <a:lnTo>
                    <a:pt x="315087" y="192912"/>
                  </a:lnTo>
                  <a:lnTo>
                    <a:pt x="263016" y="206883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786889" y="1749932"/>
              <a:ext cx="314960" cy="207010"/>
            </a:xfrm>
            <a:custGeom>
              <a:avLst/>
              <a:gdLst/>
              <a:ahLst/>
              <a:cxnLst/>
              <a:rect l="l" t="t" r="r" b="b"/>
              <a:pathLst>
                <a:path w="314960" h="207010">
                  <a:moveTo>
                    <a:pt x="295910" y="0"/>
                  </a:moveTo>
                  <a:lnTo>
                    <a:pt x="23495" y="157352"/>
                  </a:lnTo>
                  <a:lnTo>
                    <a:pt x="13970" y="140842"/>
                  </a:lnTo>
                  <a:lnTo>
                    <a:pt x="0" y="192912"/>
                  </a:lnTo>
                  <a:lnTo>
                    <a:pt x="52070" y="206883"/>
                  </a:lnTo>
                  <a:lnTo>
                    <a:pt x="42545" y="190373"/>
                  </a:lnTo>
                  <a:lnTo>
                    <a:pt x="314960" y="33020"/>
                  </a:lnTo>
                  <a:lnTo>
                    <a:pt x="295910" y="0"/>
                  </a:lnTo>
                  <a:close/>
                </a:path>
              </a:pathLst>
            </a:custGeom>
            <a:solidFill>
              <a:srgbClr val="7AA7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786889" y="1749932"/>
              <a:ext cx="314960" cy="207010"/>
            </a:xfrm>
            <a:custGeom>
              <a:avLst/>
              <a:gdLst/>
              <a:ahLst/>
              <a:cxnLst/>
              <a:rect l="l" t="t" r="r" b="b"/>
              <a:pathLst>
                <a:path w="314960" h="207010">
                  <a:moveTo>
                    <a:pt x="13970" y="140842"/>
                  </a:moveTo>
                  <a:lnTo>
                    <a:pt x="23495" y="157352"/>
                  </a:lnTo>
                  <a:lnTo>
                    <a:pt x="295910" y="0"/>
                  </a:lnTo>
                  <a:lnTo>
                    <a:pt x="314960" y="33020"/>
                  </a:lnTo>
                  <a:lnTo>
                    <a:pt x="42545" y="190373"/>
                  </a:lnTo>
                  <a:lnTo>
                    <a:pt x="52070" y="206883"/>
                  </a:lnTo>
                  <a:lnTo>
                    <a:pt x="0" y="192912"/>
                  </a:lnTo>
                  <a:lnTo>
                    <a:pt x="13970" y="140842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12"/>
          <p:cNvSpPr txBox="1"/>
          <p:nvPr/>
        </p:nvSpPr>
        <p:spPr>
          <a:xfrm>
            <a:off x="3377565" y="20192"/>
            <a:ext cx="146558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600" b="1" spc="-5" dirty="0" smtClean="0">
                <a:solidFill>
                  <a:srgbClr val="355D7D"/>
                </a:solidFill>
                <a:latin typeface="Trebuchet MS"/>
                <a:cs typeface="Trebuchet MS"/>
              </a:rPr>
              <a:t>IPE 4111</a:t>
            </a:r>
            <a:r>
              <a:rPr sz="600" b="1" spc="-5" dirty="0" smtClean="0">
                <a:solidFill>
                  <a:srgbClr val="355D7D"/>
                </a:solidFill>
                <a:latin typeface="Trebuchet MS"/>
                <a:cs typeface="Trebuchet MS"/>
              </a:rPr>
              <a:t>: </a:t>
            </a:r>
            <a:r>
              <a:rPr lang="en-US" sz="600" b="1" spc="-5" dirty="0" smtClean="0">
                <a:solidFill>
                  <a:srgbClr val="355D7D"/>
                </a:solidFill>
                <a:latin typeface="Trebuchet MS"/>
                <a:cs typeface="Trebuchet MS"/>
              </a:rPr>
              <a:t>Industrial Management</a:t>
            </a:r>
            <a:endParaRPr sz="6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61332" y="2491739"/>
            <a:ext cx="182880" cy="182880"/>
            <a:chOff x="4561332" y="2491739"/>
            <a:chExt cx="182880" cy="182880"/>
          </a:xfrm>
        </p:grpSpPr>
        <p:sp>
          <p:nvSpPr>
            <p:cNvPr id="3" name="object 3"/>
            <p:cNvSpPr/>
            <p:nvPr/>
          </p:nvSpPr>
          <p:spPr>
            <a:xfrm>
              <a:off x="4561332" y="2491739"/>
              <a:ext cx="182879" cy="18287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568825" y="2500756"/>
              <a:ext cx="166370" cy="16484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495805" y="20827"/>
            <a:ext cx="1685289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Ahsanullah 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University of </a:t>
            </a: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Science &amp;</a:t>
            </a:r>
            <a:r>
              <a:rPr sz="600" b="1" spc="-10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600" b="1" spc="-10" dirty="0">
                <a:solidFill>
                  <a:srgbClr val="355D7D"/>
                </a:solidFill>
                <a:latin typeface="Trebuchet MS"/>
                <a:cs typeface="Trebuchet MS"/>
              </a:rPr>
              <a:t>Technology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214116" y="10667"/>
            <a:ext cx="129539" cy="1523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619625" y="2525013"/>
            <a:ext cx="67945" cy="1117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50" b="1" spc="5" dirty="0">
                <a:solidFill>
                  <a:srgbClr val="FFFFFF"/>
                </a:solidFill>
                <a:latin typeface="Trebuchet MS"/>
                <a:cs typeface="Trebuchet MS"/>
              </a:rPr>
              <a:t>6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72922" y="394715"/>
            <a:ext cx="1200277" cy="1971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74700" y="829436"/>
            <a:ext cx="4150995" cy="1153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5575" marR="5080" indent="-143510" algn="just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156210" algn="l"/>
              </a:tabLst>
            </a:pPr>
            <a:r>
              <a:rPr sz="1000" spc="-10" dirty="0">
                <a:latin typeface="Trebuchet MS"/>
                <a:cs typeface="Trebuchet MS"/>
              </a:rPr>
              <a:t>Compels </a:t>
            </a:r>
            <a:r>
              <a:rPr sz="1000" spc="-5" dirty="0">
                <a:latin typeface="Trebuchet MS"/>
                <a:cs typeface="Trebuchet MS"/>
              </a:rPr>
              <a:t>management to </a:t>
            </a:r>
            <a:r>
              <a:rPr sz="1000" spc="-10" dirty="0">
                <a:latin typeface="Trebuchet MS"/>
                <a:cs typeface="Trebuchet MS"/>
              </a:rPr>
              <a:t>think </a:t>
            </a:r>
            <a:r>
              <a:rPr sz="1000" spc="-5" dirty="0">
                <a:latin typeface="Trebuchet MS"/>
                <a:cs typeface="Trebuchet MS"/>
              </a:rPr>
              <a:t>about </a:t>
            </a:r>
            <a:r>
              <a:rPr sz="1000" spc="-10" dirty="0">
                <a:latin typeface="Trebuchet MS"/>
                <a:cs typeface="Trebuchet MS"/>
              </a:rPr>
              <a:t>the </a:t>
            </a:r>
            <a:r>
              <a:rPr sz="1000" spc="-5" dirty="0">
                <a:latin typeface="Trebuchet MS"/>
                <a:cs typeface="Trebuchet MS"/>
              </a:rPr>
              <a:t>future, which is </a:t>
            </a:r>
            <a:r>
              <a:rPr sz="1000" spc="-10" dirty="0">
                <a:latin typeface="Trebuchet MS"/>
                <a:cs typeface="Trebuchet MS"/>
              </a:rPr>
              <a:t>probably  the </a:t>
            </a:r>
            <a:r>
              <a:rPr sz="1000" spc="-5" dirty="0">
                <a:latin typeface="Trebuchet MS"/>
                <a:cs typeface="Trebuchet MS"/>
              </a:rPr>
              <a:t>most important feature </a:t>
            </a:r>
            <a:r>
              <a:rPr sz="1000" dirty="0">
                <a:latin typeface="Trebuchet MS"/>
                <a:cs typeface="Trebuchet MS"/>
              </a:rPr>
              <a:t>of </a:t>
            </a:r>
            <a:r>
              <a:rPr sz="1000" spc="-5" dirty="0">
                <a:latin typeface="Trebuchet MS"/>
                <a:cs typeface="Trebuchet MS"/>
              </a:rPr>
              <a:t>a </a:t>
            </a:r>
            <a:r>
              <a:rPr sz="1000" spc="-10" dirty="0">
                <a:latin typeface="Trebuchet MS"/>
                <a:cs typeface="Trebuchet MS"/>
              </a:rPr>
              <a:t>budgetary </a:t>
            </a:r>
            <a:r>
              <a:rPr sz="1000" spc="-5" dirty="0">
                <a:latin typeface="Trebuchet MS"/>
                <a:cs typeface="Trebuchet MS"/>
              </a:rPr>
              <a:t>planning and control  system. Forces management to look </a:t>
            </a:r>
            <a:r>
              <a:rPr sz="1000" spc="-10" dirty="0">
                <a:latin typeface="Trebuchet MS"/>
                <a:cs typeface="Trebuchet MS"/>
              </a:rPr>
              <a:t>ahead, </a:t>
            </a:r>
            <a:r>
              <a:rPr sz="1000" spc="-5" dirty="0">
                <a:latin typeface="Trebuchet MS"/>
                <a:cs typeface="Trebuchet MS"/>
              </a:rPr>
              <a:t>to set out </a:t>
            </a:r>
            <a:r>
              <a:rPr sz="1000" spc="-10" dirty="0">
                <a:latin typeface="Trebuchet MS"/>
                <a:cs typeface="Trebuchet MS"/>
              </a:rPr>
              <a:t>detailed plans  </a:t>
            </a:r>
            <a:r>
              <a:rPr sz="1000" spc="-5" dirty="0">
                <a:latin typeface="Trebuchet MS"/>
                <a:cs typeface="Trebuchet MS"/>
              </a:rPr>
              <a:t>for </a:t>
            </a:r>
            <a:r>
              <a:rPr sz="1000" spc="-10" dirty="0">
                <a:latin typeface="Trebuchet MS"/>
                <a:cs typeface="Trebuchet MS"/>
              </a:rPr>
              <a:t>achieving the </a:t>
            </a:r>
            <a:r>
              <a:rPr sz="1000" spc="-5" dirty="0">
                <a:latin typeface="Trebuchet MS"/>
                <a:cs typeface="Trebuchet MS"/>
              </a:rPr>
              <a:t>targets for </a:t>
            </a:r>
            <a:r>
              <a:rPr sz="1000" spc="-10" dirty="0">
                <a:latin typeface="Trebuchet MS"/>
                <a:cs typeface="Trebuchet MS"/>
              </a:rPr>
              <a:t>each department, </a:t>
            </a:r>
            <a:r>
              <a:rPr sz="1000" spc="-5" dirty="0">
                <a:latin typeface="Trebuchet MS"/>
                <a:cs typeface="Trebuchet MS"/>
              </a:rPr>
              <a:t>operation and  (ideally) </a:t>
            </a:r>
            <a:r>
              <a:rPr sz="1000" spc="-10" dirty="0">
                <a:latin typeface="Trebuchet MS"/>
                <a:cs typeface="Trebuchet MS"/>
              </a:rPr>
              <a:t>each </a:t>
            </a:r>
            <a:r>
              <a:rPr sz="1000" spc="-25" dirty="0">
                <a:latin typeface="Trebuchet MS"/>
                <a:cs typeface="Trebuchet MS"/>
              </a:rPr>
              <a:t>manager, </a:t>
            </a:r>
            <a:r>
              <a:rPr sz="1000" spc="-5" dirty="0">
                <a:latin typeface="Trebuchet MS"/>
                <a:cs typeface="Trebuchet MS"/>
              </a:rPr>
              <a:t>to anticipate and give </a:t>
            </a:r>
            <a:r>
              <a:rPr sz="1000" spc="-10" dirty="0">
                <a:latin typeface="Trebuchet MS"/>
                <a:cs typeface="Trebuchet MS"/>
              </a:rPr>
              <a:t>the </a:t>
            </a:r>
            <a:r>
              <a:rPr sz="1000" spc="-5" dirty="0">
                <a:latin typeface="Trebuchet MS"/>
                <a:cs typeface="Trebuchet MS"/>
              </a:rPr>
              <a:t>organization  </a:t>
            </a:r>
            <a:r>
              <a:rPr sz="1000" spc="-10" dirty="0">
                <a:latin typeface="Trebuchet MS"/>
                <a:cs typeface="Trebuchet MS"/>
              </a:rPr>
              <a:t>purpose </a:t>
            </a:r>
            <a:r>
              <a:rPr sz="1000" spc="-5" dirty="0">
                <a:latin typeface="Trebuchet MS"/>
                <a:cs typeface="Trebuchet MS"/>
              </a:rPr>
              <a:t>and</a:t>
            </a:r>
            <a:r>
              <a:rPr sz="1000" spc="20" dirty="0">
                <a:latin typeface="Trebuchet MS"/>
                <a:cs typeface="Trebuchet MS"/>
              </a:rPr>
              <a:t> </a:t>
            </a:r>
            <a:r>
              <a:rPr sz="1000" spc="-10" dirty="0">
                <a:latin typeface="Trebuchet MS"/>
                <a:cs typeface="Trebuchet MS"/>
              </a:rPr>
              <a:t>direction.</a:t>
            </a:r>
            <a:endParaRPr sz="1000">
              <a:latin typeface="Trebuchet MS"/>
              <a:cs typeface="Trebuchet MS"/>
            </a:endParaRPr>
          </a:p>
          <a:p>
            <a:pPr marL="155575" indent="-143510" algn="just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156210" algn="l"/>
              </a:tabLst>
            </a:pPr>
            <a:r>
              <a:rPr sz="1000" spc="-15" dirty="0">
                <a:latin typeface="Trebuchet MS"/>
                <a:cs typeface="Trebuchet MS"/>
              </a:rPr>
              <a:t>Promotes </a:t>
            </a:r>
            <a:r>
              <a:rPr sz="1000" spc="-5" dirty="0">
                <a:latin typeface="Trebuchet MS"/>
                <a:cs typeface="Trebuchet MS"/>
              </a:rPr>
              <a:t>coordination and</a:t>
            </a:r>
            <a:r>
              <a:rPr sz="1000" spc="25" dirty="0">
                <a:latin typeface="Trebuchet MS"/>
                <a:cs typeface="Trebuchet MS"/>
              </a:rPr>
              <a:t> </a:t>
            </a:r>
            <a:r>
              <a:rPr sz="1000" spc="-5" dirty="0">
                <a:latin typeface="Trebuchet MS"/>
                <a:cs typeface="Trebuchet MS"/>
              </a:rPr>
              <a:t>communication.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1" name="object 12"/>
          <p:cNvSpPr txBox="1"/>
          <p:nvPr/>
        </p:nvSpPr>
        <p:spPr>
          <a:xfrm>
            <a:off x="3377565" y="20192"/>
            <a:ext cx="146558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600" b="1" spc="-5" dirty="0" smtClean="0">
                <a:solidFill>
                  <a:srgbClr val="355D7D"/>
                </a:solidFill>
                <a:latin typeface="Trebuchet MS"/>
                <a:cs typeface="Trebuchet MS"/>
              </a:rPr>
              <a:t>IPE 4111</a:t>
            </a:r>
            <a:r>
              <a:rPr sz="600" b="1" spc="-5" dirty="0" smtClean="0">
                <a:solidFill>
                  <a:srgbClr val="355D7D"/>
                </a:solidFill>
                <a:latin typeface="Trebuchet MS"/>
                <a:cs typeface="Trebuchet MS"/>
              </a:rPr>
              <a:t>: </a:t>
            </a:r>
            <a:r>
              <a:rPr lang="en-US" sz="600" b="1" spc="-5" dirty="0" smtClean="0">
                <a:solidFill>
                  <a:srgbClr val="355D7D"/>
                </a:solidFill>
                <a:latin typeface="Trebuchet MS"/>
                <a:cs typeface="Trebuchet MS"/>
              </a:rPr>
              <a:t>Industrial Management</a:t>
            </a:r>
            <a:endParaRPr sz="6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61332" y="2491739"/>
            <a:ext cx="182880" cy="182880"/>
            <a:chOff x="4561332" y="2491739"/>
            <a:chExt cx="182880" cy="182880"/>
          </a:xfrm>
        </p:grpSpPr>
        <p:sp>
          <p:nvSpPr>
            <p:cNvPr id="3" name="object 3"/>
            <p:cNvSpPr/>
            <p:nvPr/>
          </p:nvSpPr>
          <p:spPr>
            <a:xfrm>
              <a:off x="4561332" y="2491739"/>
              <a:ext cx="182879" cy="18287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568825" y="2500756"/>
              <a:ext cx="166370" cy="16484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495805" y="20192"/>
            <a:ext cx="1685289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Ahsanullah 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University of </a:t>
            </a: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Science &amp;</a:t>
            </a:r>
            <a:r>
              <a:rPr sz="600" b="1" spc="-10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600" b="1" spc="-10" dirty="0">
                <a:solidFill>
                  <a:srgbClr val="355D7D"/>
                </a:solidFill>
                <a:latin typeface="Trebuchet MS"/>
                <a:cs typeface="Trebuchet MS"/>
              </a:rPr>
              <a:t>Technology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214116" y="10667"/>
            <a:ext cx="129539" cy="1523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619625" y="2524505"/>
            <a:ext cx="67945" cy="1117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50" b="1" spc="5" dirty="0">
                <a:solidFill>
                  <a:srgbClr val="FFFFFF"/>
                </a:solidFill>
                <a:latin typeface="Trebuchet MS"/>
                <a:cs typeface="Trebuchet MS"/>
              </a:rPr>
              <a:t>7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72922" y="394715"/>
            <a:ext cx="1200277" cy="1971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65887" y="810513"/>
            <a:ext cx="4311650" cy="1251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6210" marR="5080" indent="-144145" algn="just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156845" algn="l"/>
              </a:tabLst>
            </a:pPr>
            <a:r>
              <a:rPr sz="1000" spc="-10" dirty="0">
                <a:latin typeface="Trebuchet MS"/>
                <a:cs typeface="Trebuchet MS"/>
              </a:rPr>
              <a:t>Clearly </a:t>
            </a:r>
            <a:r>
              <a:rPr sz="1000" spc="-5" dirty="0">
                <a:latin typeface="Trebuchet MS"/>
                <a:cs typeface="Trebuchet MS"/>
              </a:rPr>
              <a:t>defines areas </a:t>
            </a:r>
            <a:r>
              <a:rPr sz="1000" dirty="0">
                <a:latin typeface="Trebuchet MS"/>
                <a:cs typeface="Trebuchet MS"/>
              </a:rPr>
              <a:t>of </a:t>
            </a:r>
            <a:r>
              <a:rPr sz="1000" spc="-15" dirty="0">
                <a:latin typeface="Trebuchet MS"/>
                <a:cs typeface="Trebuchet MS"/>
              </a:rPr>
              <a:t>responsibility. </a:t>
            </a:r>
            <a:r>
              <a:rPr sz="1000" spc="-10" dirty="0">
                <a:latin typeface="Trebuchet MS"/>
                <a:cs typeface="Trebuchet MS"/>
              </a:rPr>
              <a:t>Requires </a:t>
            </a:r>
            <a:r>
              <a:rPr sz="1000" spc="-5" dirty="0">
                <a:latin typeface="Trebuchet MS"/>
                <a:cs typeface="Trebuchet MS"/>
              </a:rPr>
              <a:t>managers </a:t>
            </a:r>
            <a:r>
              <a:rPr sz="1000" dirty="0">
                <a:latin typeface="Trebuchet MS"/>
                <a:cs typeface="Trebuchet MS"/>
              </a:rPr>
              <a:t>of </a:t>
            </a:r>
            <a:r>
              <a:rPr sz="1000" spc="-10" dirty="0">
                <a:latin typeface="Trebuchet MS"/>
                <a:cs typeface="Trebuchet MS"/>
              </a:rPr>
              <a:t>budget  centers </a:t>
            </a:r>
            <a:r>
              <a:rPr sz="1000" spc="-5" dirty="0">
                <a:latin typeface="Trebuchet MS"/>
                <a:cs typeface="Trebuchet MS"/>
              </a:rPr>
              <a:t>to </a:t>
            </a:r>
            <a:r>
              <a:rPr sz="1000" dirty="0">
                <a:latin typeface="Trebuchet MS"/>
                <a:cs typeface="Trebuchet MS"/>
              </a:rPr>
              <a:t>be </a:t>
            </a:r>
            <a:r>
              <a:rPr sz="1000" spc="-5" dirty="0">
                <a:latin typeface="Trebuchet MS"/>
                <a:cs typeface="Trebuchet MS"/>
              </a:rPr>
              <a:t>made responsible for the achievement </a:t>
            </a:r>
            <a:r>
              <a:rPr sz="1000" dirty="0">
                <a:latin typeface="Trebuchet MS"/>
                <a:cs typeface="Trebuchet MS"/>
              </a:rPr>
              <a:t>of </a:t>
            </a:r>
            <a:r>
              <a:rPr sz="1000" spc="-10" dirty="0">
                <a:latin typeface="Trebuchet MS"/>
                <a:cs typeface="Trebuchet MS"/>
              </a:rPr>
              <a:t>budget </a:t>
            </a:r>
            <a:r>
              <a:rPr sz="1000" spc="-5" dirty="0">
                <a:latin typeface="Trebuchet MS"/>
                <a:cs typeface="Trebuchet MS"/>
              </a:rPr>
              <a:t>targets  for </a:t>
            </a:r>
            <a:r>
              <a:rPr sz="1000" spc="-10" dirty="0">
                <a:latin typeface="Trebuchet MS"/>
                <a:cs typeface="Trebuchet MS"/>
              </a:rPr>
              <a:t>the </a:t>
            </a:r>
            <a:r>
              <a:rPr sz="1000" spc="-5" dirty="0">
                <a:latin typeface="Trebuchet MS"/>
                <a:cs typeface="Trebuchet MS"/>
              </a:rPr>
              <a:t>operations </a:t>
            </a:r>
            <a:r>
              <a:rPr sz="1000" spc="-10" dirty="0">
                <a:latin typeface="Trebuchet MS"/>
                <a:cs typeface="Trebuchet MS"/>
              </a:rPr>
              <a:t>under their </a:t>
            </a:r>
            <a:r>
              <a:rPr sz="1000" spc="-5" dirty="0">
                <a:latin typeface="Trebuchet MS"/>
                <a:cs typeface="Trebuchet MS"/>
              </a:rPr>
              <a:t>personal</a:t>
            </a:r>
            <a:r>
              <a:rPr sz="1000" spc="50" dirty="0">
                <a:latin typeface="Trebuchet MS"/>
                <a:cs typeface="Trebuchet MS"/>
              </a:rPr>
              <a:t> </a:t>
            </a:r>
            <a:r>
              <a:rPr sz="1000" spc="-5" dirty="0">
                <a:latin typeface="Trebuchet MS"/>
                <a:cs typeface="Trebuchet MS"/>
              </a:rPr>
              <a:t>control.</a:t>
            </a:r>
            <a:endParaRPr sz="1000">
              <a:latin typeface="Trebuchet MS"/>
              <a:cs typeface="Trebuchet MS"/>
            </a:endParaRPr>
          </a:p>
          <a:p>
            <a:pPr marL="156210" indent="-144145" algn="just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156845" algn="l"/>
              </a:tabLst>
            </a:pPr>
            <a:r>
              <a:rPr sz="1000" spc="-5" dirty="0">
                <a:latin typeface="Trebuchet MS"/>
                <a:cs typeface="Trebuchet MS"/>
              </a:rPr>
              <a:t>Motivates </a:t>
            </a:r>
            <a:r>
              <a:rPr sz="1000" spc="-10" dirty="0">
                <a:latin typeface="Trebuchet MS"/>
                <a:cs typeface="Trebuchet MS"/>
              </a:rPr>
              <a:t>employees </a:t>
            </a:r>
            <a:r>
              <a:rPr sz="1000" spc="-5" dirty="0">
                <a:latin typeface="Trebuchet MS"/>
                <a:cs typeface="Trebuchet MS"/>
              </a:rPr>
              <a:t>by participating in </a:t>
            </a:r>
            <a:r>
              <a:rPr sz="1000" spc="-10" dirty="0">
                <a:latin typeface="Trebuchet MS"/>
                <a:cs typeface="Trebuchet MS"/>
              </a:rPr>
              <a:t>the </a:t>
            </a:r>
            <a:r>
              <a:rPr sz="1000" spc="-5" dirty="0">
                <a:latin typeface="Trebuchet MS"/>
                <a:cs typeface="Trebuchet MS"/>
              </a:rPr>
              <a:t>setting </a:t>
            </a:r>
            <a:r>
              <a:rPr sz="1000" dirty="0">
                <a:latin typeface="Trebuchet MS"/>
                <a:cs typeface="Trebuchet MS"/>
              </a:rPr>
              <a:t>of</a:t>
            </a:r>
            <a:r>
              <a:rPr sz="1000" spc="60" dirty="0">
                <a:latin typeface="Trebuchet MS"/>
                <a:cs typeface="Trebuchet MS"/>
              </a:rPr>
              <a:t> </a:t>
            </a:r>
            <a:r>
              <a:rPr sz="1000" spc="-10" dirty="0">
                <a:latin typeface="Trebuchet MS"/>
                <a:cs typeface="Trebuchet MS"/>
              </a:rPr>
              <a:t>budgets.</a:t>
            </a:r>
            <a:endParaRPr sz="1000">
              <a:latin typeface="Trebuchet MS"/>
              <a:cs typeface="Trebuchet MS"/>
            </a:endParaRPr>
          </a:p>
          <a:p>
            <a:pPr marL="156210" indent="-144145" algn="just">
              <a:lnSpc>
                <a:spcPct val="100000"/>
              </a:lnSpc>
              <a:spcBef>
                <a:spcPts val="405"/>
              </a:spcBef>
              <a:buFont typeface="Arial"/>
              <a:buChar char="•"/>
              <a:tabLst>
                <a:tab pos="156845" algn="l"/>
              </a:tabLst>
            </a:pPr>
            <a:r>
              <a:rPr sz="1000" spc="-10" dirty="0">
                <a:latin typeface="Trebuchet MS"/>
                <a:cs typeface="Trebuchet MS"/>
              </a:rPr>
              <a:t>Improves the </a:t>
            </a:r>
            <a:r>
              <a:rPr sz="1000" spc="-5" dirty="0">
                <a:latin typeface="Trebuchet MS"/>
                <a:cs typeface="Trebuchet MS"/>
              </a:rPr>
              <a:t>allocation </a:t>
            </a:r>
            <a:r>
              <a:rPr sz="1000" dirty="0">
                <a:latin typeface="Trebuchet MS"/>
                <a:cs typeface="Trebuchet MS"/>
              </a:rPr>
              <a:t>of </a:t>
            </a:r>
            <a:r>
              <a:rPr sz="1000" spc="-5" dirty="0">
                <a:latin typeface="Trebuchet MS"/>
                <a:cs typeface="Trebuchet MS"/>
              </a:rPr>
              <a:t>scarce</a:t>
            </a:r>
            <a:r>
              <a:rPr sz="1000" spc="30" dirty="0">
                <a:latin typeface="Trebuchet MS"/>
                <a:cs typeface="Trebuchet MS"/>
              </a:rPr>
              <a:t> </a:t>
            </a:r>
            <a:r>
              <a:rPr sz="1000" spc="-5" dirty="0">
                <a:latin typeface="Trebuchet MS"/>
                <a:cs typeface="Trebuchet MS"/>
              </a:rPr>
              <a:t>resources.</a:t>
            </a:r>
            <a:endParaRPr sz="1000">
              <a:latin typeface="Trebuchet MS"/>
              <a:cs typeface="Trebuchet MS"/>
            </a:endParaRPr>
          </a:p>
          <a:p>
            <a:pPr marL="156210" marR="307975" indent="-144145" algn="just">
              <a:lnSpc>
                <a:spcPct val="100000"/>
              </a:lnSpc>
              <a:spcBef>
                <a:spcPts val="484"/>
              </a:spcBef>
              <a:buFont typeface="Arial"/>
              <a:buChar char="•"/>
              <a:tabLst>
                <a:tab pos="156845" algn="l"/>
              </a:tabLst>
            </a:pPr>
            <a:r>
              <a:rPr sz="1000" spc="-5" dirty="0">
                <a:latin typeface="Trebuchet MS"/>
                <a:cs typeface="Trebuchet MS"/>
              </a:rPr>
              <a:t>Economizes management time by using </a:t>
            </a:r>
            <a:r>
              <a:rPr sz="1000" spc="-10" dirty="0">
                <a:latin typeface="Trebuchet MS"/>
                <a:cs typeface="Trebuchet MS"/>
              </a:rPr>
              <a:t>the </a:t>
            </a:r>
            <a:r>
              <a:rPr sz="1000" spc="-5" dirty="0">
                <a:latin typeface="Trebuchet MS"/>
                <a:cs typeface="Trebuchet MS"/>
              </a:rPr>
              <a:t>management </a:t>
            </a:r>
            <a:r>
              <a:rPr sz="1000" spc="-10" dirty="0">
                <a:latin typeface="Trebuchet MS"/>
                <a:cs typeface="Trebuchet MS"/>
              </a:rPr>
              <a:t>by  exception</a:t>
            </a:r>
            <a:r>
              <a:rPr sz="1000" dirty="0">
                <a:latin typeface="Trebuchet MS"/>
                <a:cs typeface="Trebuchet MS"/>
              </a:rPr>
              <a:t> </a:t>
            </a:r>
            <a:r>
              <a:rPr sz="1000" spc="-10" dirty="0">
                <a:latin typeface="Trebuchet MS"/>
                <a:cs typeface="Trebuchet MS"/>
              </a:rPr>
              <a:t>principle.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1" name="object 12"/>
          <p:cNvSpPr txBox="1"/>
          <p:nvPr/>
        </p:nvSpPr>
        <p:spPr>
          <a:xfrm>
            <a:off x="3377565" y="20192"/>
            <a:ext cx="146558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600" b="1" spc="-5" dirty="0" smtClean="0">
                <a:solidFill>
                  <a:srgbClr val="355D7D"/>
                </a:solidFill>
                <a:latin typeface="Trebuchet MS"/>
                <a:cs typeface="Trebuchet MS"/>
              </a:rPr>
              <a:t>IPE 4111</a:t>
            </a:r>
            <a:r>
              <a:rPr sz="600" b="1" spc="-5" dirty="0" smtClean="0">
                <a:solidFill>
                  <a:srgbClr val="355D7D"/>
                </a:solidFill>
                <a:latin typeface="Trebuchet MS"/>
                <a:cs typeface="Trebuchet MS"/>
              </a:rPr>
              <a:t>: </a:t>
            </a:r>
            <a:r>
              <a:rPr lang="en-US" sz="600" b="1" spc="-5" dirty="0" smtClean="0">
                <a:solidFill>
                  <a:srgbClr val="355D7D"/>
                </a:solidFill>
                <a:latin typeface="Trebuchet MS"/>
                <a:cs typeface="Trebuchet MS"/>
              </a:rPr>
              <a:t>Industrial Management</a:t>
            </a:r>
            <a:endParaRPr sz="6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61332" y="2491739"/>
            <a:ext cx="182880" cy="182880"/>
            <a:chOff x="4561332" y="2491739"/>
            <a:chExt cx="182880" cy="182880"/>
          </a:xfrm>
        </p:grpSpPr>
        <p:sp>
          <p:nvSpPr>
            <p:cNvPr id="3" name="object 3"/>
            <p:cNvSpPr/>
            <p:nvPr/>
          </p:nvSpPr>
          <p:spPr>
            <a:xfrm>
              <a:off x="4561332" y="2491739"/>
              <a:ext cx="182879" cy="18287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568825" y="2500756"/>
              <a:ext cx="166370" cy="16484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899921" y="300247"/>
            <a:ext cx="3844290" cy="586740"/>
            <a:chOff x="932180" y="254531"/>
            <a:chExt cx="3844290" cy="586740"/>
          </a:xfrm>
        </p:grpSpPr>
        <p:sp>
          <p:nvSpPr>
            <p:cNvPr id="6" name="object 6"/>
            <p:cNvSpPr/>
            <p:nvPr/>
          </p:nvSpPr>
          <p:spPr>
            <a:xfrm>
              <a:off x="4119393" y="254531"/>
              <a:ext cx="656801" cy="58670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32180" y="340105"/>
              <a:ext cx="221869" cy="15633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92530" y="340105"/>
              <a:ext cx="730884" cy="19710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495805" y="20827"/>
            <a:ext cx="1685289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Ahsanullah 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University of </a:t>
            </a: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Science &amp;</a:t>
            </a:r>
            <a:r>
              <a:rPr sz="600" b="1" spc="-10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600" b="1" spc="-10" dirty="0">
                <a:solidFill>
                  <a:srgbClr val="355D7D"/>
                </a:solidFill>
                <a:latin typeface="Trebuchet MS"/>
                <a:cs typeface="Trebuchet MS"/>
              </a:rPr>
              <a:t>Technology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14116" y="10667"/>
            <a:ext cx="129539" cy="15235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63842" y="385821"/>
            <a:ext cx="597598" cy="18415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619625" y="2525013"/>
            <a:ext cx="67945" cy="1117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50" b="1" spc="5" dirty="0">
                <a:solidFill>
                  <a:srgbClr val="FFFFFF"/>
                </a:solidFill>
                <a:latin typeface="Trebuchet MS"/>
                <a:cs typeface="Trebuchet MS"/>
              </a:rPr>
              <a:t>8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20" name="object 12"/>
          <p:cNvSpPr txBox="1"/>
          <p:nvPr/>
        </p:nvSpPr>
        <p:spPr>
          <a:xfrm>
            <a:off x="3377565" y="20192"/>
            <a:ext cx="146558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600" b="1" spc="-5" dirty="0" smtClean="0">
                <a:solidFill>
                  <a:srgbClr val="355D7D"/>
                </a:solidFill>
                <a:latin typeface="Trebuchet MS"/>
                <a:cs typeface="Trebuchet MS"/>
              </a:rPr>
              <a:t>IPE 4111</a:t>
            </a:r>
            <a:r>
              <a:rPr sz="600" b="1" spc="-5" dirty="0" smtClean="0">
                <a:solidFill>
                  <a:srgbClr val="355D7D"/>
                </a:solidFill>
                <a:latin typeface="Trebuchet MS"/>
                <a:cs typeface="Trebuchet MS"/>
              </a:rPr>
              <a:t>: </a:t>
            </a:r>
            <a:r>
              <a:rPr lang="en-US" sz="600" b="1" spc="-5" dirty="0" smtClean="0">
                <a:solidFill>
                  <a:srgbClr val="355D7D"/>
                </a:solidFill>
                <a:latin typeface="Trebuchet MS"/>
                <a:cs typeface="Trebuchet MS"/>
              </a:rPr>
              <a:t>Industrial Management</a:t>
            </a:r>
            <a:endParaRPr sz="600" dirty="0">
              <a:latin typeface="Trebuchet MS"/>
              <a:cs typeface="Trebuchet MS"/>
            </a:endParaRPr>
          </a:p>
        </p:txBody>
      </p:sp>
      <p:sp>
        <p:nvSpPr>
          <p:cNvPr id="21" name="object 14"/>
          <p:cNvSpPr txBox="1"/>
          <p:nvPr/>
        </p:nvSpPr>
        <p:spPr>
          <a:xfrm>
            <a:off x="263842" y="671637"/>
            <a:ext cx="130899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sz="1000" b="1" spc="-25" dirty="0">
                <a:solidFill>
                  <a:srgbClr val="004B21"/>
                </a:solidFill>
                <a:latin typeface="Trebuchet MS"/>
                <a:cs typeface="Trebuchet MS"/>
              </a:rPr>
              <a:t>Top-Down </a:t>
            </a:r>
            <a:r>
              <a:rPr sz="1000" b="1" spc="-5" dirty="0">
                <a:solidFill>
                  <a:srgbClr val="004B21"/>
                </a:solidFill>
                <a:latin typeface="Trebuchet MS"/>
                <a:cs typeface="Trebuchet MS"/>
              </a:rPr>
              <a:t>budget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22" name="object 14"/>
          <p:cNvSpPr txBox="1"/>
          <p:nvPr/>
        </p:nvSpPr>
        <p:spPr>
          <a:xfrm>
            <a:off x="263842" y="847203"/>
            <a:ext cx="130899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1000" b="1" spc="-25" dirty="0" smtClean="0">
                <a:solidFill>
                  <a:srgbClr val="004B21"/>
                </a:solidFill>
                <a:latin typeface="Trebuchet MS"/>
                <a:cs typeface="Trebuchet MS"/>
              </a:rPr>
              <a:t>Bottom-Up</a:t>
            </a:r>
            <a:r>
              <a:rPr sz="1000" b="1" spc="-25" dirty="0" smtClean="0">
                <a:solidFill>
                  <a:srgbClr val="004B21"/>
                </a:solidFill>
                <a:latin typeface="Trebuchet MS"/>
                <a:cs typeface="Trebuchet MS"/>
              </a:rPr>
              <a:t> </a:t>
            </a:r>
            <a:r>
              <a:rPr sz="1000" b="1" spc="-5" dirty="0">
                <a:solidFill>
                  <a:srgbClr val="004B21"/>
                </a:solidFill>
                <a:latin typeface="Trebuchet MS"/>
                <a:cs typeface="Trebuchet MS"/>
              </a:rPr>
              <a:t>budget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133600" y="1013274"/>
            <a:ext cx="914400" cy="2953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smtClean="0"/>
              <a:t>Top Management</a:t>
            </a:r>
            <a:endParaRPr lang="en-US" sz="1050" dirty="0"/>
          </a:p>
        </p:txBody>
      </p:sp>
      <p:cxnSp>
        <p:nvCxnSpPr>
          <p:cNvPr id="24" name="Straight Arrow Connector 23"/>
          <p:cNvCxnSpPr>
            <a:stCxn id="11" idx="2"/>
          </p:cNvCxnSpPr>
          <p:nvPr/>
        </p:nvCxnSpPr>
        <p:spPr>
          <a:xfrm>
            <a:off x="2590800" y="1308652"/>
            <a:ext cx="0" cy="1391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2590800" y="1447800"/>
            <a:ext cx="1066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1572832" y="1447800"/>
            <a:ext cx="10179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1572832" y="1447800"/>
            <a:ext cx="0" cy="1391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3657600" y="1447800"/>
            <a:ext cx="0" cy="1391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252988" y="1592508"/>
            <a:ext cx="639688" cy="2201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 smtClean="0"/>
              <a:t>Middle Management</a:t>
            </a:r>
            <a:endParaRPr lang="en-US" sz="600" dirty="0"/>
          </a:p>
        </p:txBody>
      </p:sp>
      <p:sp>
        <p:nvSpPr>
          <p:cNvPr id="34" name="Rectangle 33"/>
          <p:cNvSpPr/>
          <p:nvPr/>
        </p:nvSpPr>
        <p:spPr>
          <a:xfrm>
            <a:off x="3343655" y="1592508"/>
            <a:ext cx="639688" cy="2201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 smtClean="0"/>
              <a:t>Middle Management</a:t>
            </a:r>
            <a:endParaRPr lang="en-US" sz="600" dirty="0"/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1572832" y="1825921"/>
            <a:ext cx="0" cy="1391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962798" y="1965069"/>
            <a:ext cx="6233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1572832" y="1965069"/>
            <a:ext cx="6233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3667622" y="1825921"/>
            <a:ext cx="0" cy="1391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3065907" y="1964083"/>
            <a:ext cx="6233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3689223" y="1964083"/>
            <a:ext cx="6233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962798" y="1964083"/>
            <a:ext cx="0" cy="1391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2196148" y="1964083"/>
            <a:ext cx="0" cy="1391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3065907" y="1964083"/>
            <a:ext cx="0" cy="1391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4312539" y="1964083"/>
            <a:ext cx="0" cy="1391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642954" y="2111893"/>
            <a:ext cx="639688" cy="2201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smtClean="0"/>
              <a:t>Supervisor</a:t>
            </a:r>
            <a:endParaRPr lang="en-US" sz="800" dirty="0"/>
          </a:p>
        </p:txBody>
      </p:sp>
      <p:sp>
        <p:nvSpPr>
          <p:cNvPr id="48" name="Rectangle 47"/>
          <p:cNvSpPr/>
          <p:nvPr/>
        </p:nvSpPr>
        <p:spPr>
          <a:xfrm>
            <a:off x="1876304" y="2116548"/>
            <a:ext cx="639688" cy="2201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smtClean="0"/>
              <a:t>Supervisor</a:t>
            </a:r>
            <a:endParaRPr lang="en-US" sz="800" dirty="0"/>
          </a:p>
        </p:txBody>
      </p:sp>
      <p:sp>
        <p:nvSpPr>
          <p:cNvPr id="49" name="Rectangle 48"/>
          <p:cNvSpPr/>
          <p:nvPr/>
        </p:nvSpPr>
        <p:spPr>
          <a:xfrm>
            <a:off x="2746063" y="2116548"/>
            <a:ext cx="639688" cy="2201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smtClean="0"/>
              <a:t>Supervisor</a:t>
            </a:r>
            <a:endParaRPr lang="en-US" sz="800" dirty="0"/>
          </a:p>
        </p:txBody>
      </p:sp>
      <p:sp>
        <p:nvSpPr>
          <p:cNvPr id="50" name="Rectangle 49"/>
          <p:cNvSpPr/>
          <p:nvPr/>
        </p:nvSpPr>
        <p:spPr>
          <a:xfrm>
            <a:off x="3979937" y="2126515"/>
            <a:ext cx="639688" cy="2201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smtClean="0"/>
              <a:t>Supervisor</a:t>
            </a:r>
            <a:endParaRPr lang="en-US" sz="800" dirty="0"/>
          </a:p>
        </p:txBody>
      </p:sp>
      <p:cxnSp>
        <p:nvCxnSpPr>
          <p:cNvPr id="55" name="Straight Arrow Connector 54"/>
          <p:cNvCxnSpPr/>
          <p:nvPr/>
        </p:nvCxnSpPr>
        <p:spPr>
          <a:xfrm>
            <a:off x="3278071" y="1013274"/>
            <a:ext cx="1522529" cy="11132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V="1">
            <a:off x="339658" y="1021936"/>
            <a:ext cx="1543311" cy="12000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1373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61332" y="2491739"/>
            <a:ext cx="182880" cy="182880"/>
            <a:chOff x="4561332" y="2491739"/>
            <a:chExt cx="182880" cy="182880"/>
          </a:xfrm>
        </p:grpSpPr>
        <p:sp>
          <p:nvSpPr>
            <p:cNvPr id="3" name="object 3"/>
            <p:cNvSpPr/>
            <p:nvPr/>
          </p:nvSpPr>
          <p:spPr>
            <a:xfrm>
              <a:off x="4561332" y="2491739"/>
              <a:ext cx="182879" cy="18287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568825" y="2500756"/>
              <a:ext cx="166370" cy="16484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935003" y="143573"/>
            <a:ext cx="3844290" cy="586740"/>
            <a:chOff x="932180" y="254531"/>
            <a:chExt cx="3844290" cy="586740"/>
          </a:xfrm>
        </p:grpSpPr>
        <p:sp>
          <p:nvSpPr>
            <p:cNvPr id="6" name="object 6"/>
            <p:cNvSpPr/>
            <p:nvPr/>
          </p:nvSpPr>
          <p:spPr>
            <a:xfrm>
              <a:off x="4119393" y="254531"/>
              <a:ext cx="656801" cy="58670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32180" y="340105"/>
              <a:ext cx="221869" cy="15633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92530" y="340105"/>
              <a:ext cx="730884" cy="19710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495805" y="20827"/>
            <a:ext cx="1685289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Ahsanullah 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University of </a:t>
            </a: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Science &amp;</a:t>
            </a:r>
            <a:r>
              <a:rPr sz="600" b="1" spc="-10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600" b="1" spc="-10" dirty="0">
                <a:solidFill>
                  <a:srgbClr val="355D7D"/>
                </a:solidFill>
                <a:latin typeface="Trebuchet MS"/>
                <a:cs typeface="Trebuchet MS"/>
              </a:rPr>
              <a:t>Technology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14116" y="10667"/>
            <a:ext cx="129539" cy="15235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46924" y="235623"/>
            <a:ext cx="597598" cy="18415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619625" y="2525013"/>
            <a:ext cx="67945" cy="1117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50" b="1" spc="5" dirty="0">
                <a:solidFill>
                  <a:srgbClr val="FFFFFF"/>
                </a:solidFill>
                <a:latin typeface="Trebuchet MS"/>
                <a:cs typeface="Trebuchet MS"/>
              </a:rPr>
              <a:t>8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1759" y="607904"/>
            <a:ext cx="10521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5" dirty="0">
                <a:solidFill>
                  <a:srgbClr val="004B21"/>
                </a:solidFill>
                <a:latin typeface="Trebuchet MS"/>
                <a:cs typeface="Trebuchet MS"/>
              </a:rPr>
              <a:t>Top-Down </a:t>
            </a:r>
            <a:r>
              <a:rPr sz="1000" b="1" spc="-5" dirty="0">
                <a:solidFill>
                  <a:srgbClr val="004B21"/>
                </a:solidFill>
                <a:latin typeface="Trebuchet MS"/>
                <a:cs typeface="Trebuchet MS"/>
              </a:rPr>
              <a:t>budget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6200" y="764236"/>
            <a:ext cx="4150995" cy="1693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5104" indent="-73660">
              <a:lnSpc>
                <a:spcPct val="100000"/>
              </a:lnSpc>
              <a:spcBef>
                <a:spcPts val="95"/>
              </a:spcBef>
              <a:buClr>
                <a:srgbClr val="548AB8"/>
              </a:buClr>
              <a:buSzPct val="85000"/>
              <a:buFont typeface="Wingdings"/>
              <a:buChar char=""/>
              <a:tabLst>
                <a:tab pos="205104" algn="l"/>
              </a:tabLst>
            </a:pPr>
            <a:r>
              <a:rPr sz="1000" spc="-5" dirty="0">
                <a:solidFill>
                  <a:srgbClr val="4B4545"/>
                </a:solidFill>
                <a:latin typeface="Trebuchet MS"/>
                <a:cs typeface="Trebuchet MS"/>
              </a:rPr>
              <a:t>Managers estimate </a:t>
            </a:r>
            <a:r>
              <a:rPr sz="1000" spc="-10" dirty="0">
                <a:solidFill>
                  <a:srgbClr val="4B4545"/>
                </a:solidFill>
                <a:latin typeface="Trebuchet MS"/>
                <a:cs typeface="Trebuchet MS"/>
              </a:rPr>
              <a:t>overall project </a:t>
            </a:r>
            <a:r>
              <a:rPr sz="1000" spc="-5" dirty="0">
                <a:solidFill>
                  <a:srgbClr val="4B4545"/>
                </a:solidFill>
                <a:latin typeface="Trebuchet MS"/>
                <a:cs typeface="Trebuchet MS"/>
              </a:rPr>
              <a:t>cost as </a:t>
            </a:r>
            <a:r>
              <a:rPr sz="1000" spc="-10" dirty="0">
                <a:solidFill>
                  <a:srgbClr val="4B4545"/>
                </a:solidFill>
                <a:latin typeface="Trebuchet MS"/>
                <a:cs typeface="Trebuchet MS"/>
              </a:rPr>
              <a:t>well </a:t>
            </a:r>
            <a:r>
              <a:rPr sz="1000" spc="-5" dirty="0">
                <a:solidFill>
                  <a:srgbClr val="4B4545"/>
                </a:solidFill>
                <a:latin typeface="Trebuchet MS"/>
                <a:cs typeface="Trebuchet MS"/>
              </a:rPr>
              <a:t>as cost </a:t>
            </a:r>
            <a:r>
              <a:rPr sz="1000" dirty="0">
                <a:solidFill>
                  <a:srgbClr val="4B4545"/>
                </a:solidFill>
                <a:latin typeface="Trebuchet MS"/>
                <a:cs typeface="Trebuchet MS"/>
              </a:rPr>
              <a:t>of</a:t>
            </a:r>
            <a:r>
              <a:rPr sz="1000" spc="40" dirty="0">
                <a:solidFill>
                  <a:srgbClr val="4B4545"/>
                </a:solidFill>
                <a:latin typeface="Trebuchet MS"/>
                <a:cs typeface="Trebuchet MS"/>
              </a:rPr>
              <a:t> </a:t>
            </a:r>
            <a:r>
              <a:rPr sz="1000" spc="-10" dirty="0">
                <a:solidFill>
                  <a:srgbClr val="4B4545"/>
                </a:solidFill>
                <a:latin typeface="Trebuchet MS"/>
                <a:cs typeface="Trebuchet MS"/>
              </a:rPr>
              <a:t>major</a:t>
            </a:r>
            <a:endParaRPr sz="1000" dirty="0">
              <a:latin typeface="Trebuchet MS"/>
              <a:cs typeface="Trebuchet MS"/>
            </a:endParaRPr>
          </a:p>
          <a:p>
            <a:pPr marL="205104">
              <a:lnSpc>
                <a:spcPct val="100000"/>
              </a:lnSpc>
            </a:pPr>
            <a:r>
              <a:rPr sz="1000" spc="-10" dirty="0">
                <a:solidFill>
                  <a:srgbClr val="4B4545"/>
                </a:solidFill>
                <a:latin typeface="Trebuchet MS"/>
                <a:cs typeface="Trebuchet MS"/>
              </a:rPr>
              <a:t>subprojects</a:t>
            </a:r>
            <a:endParaRPr sz="1000" dirty="0">
              <a:latin typeface="Trebuchet MS"/>
              <a:cs typeface="Trebuchet MS"/>
            </a:endParaRPr>
          </a:p>
          <a:p>
            <a:pPr marL="205104" indent="-73660">
              <a:lnSpc>
                <a:spcPct val="100000"/>
              </a:lnSpc>
              <a:buClr>
                <a:srgbClr val="548AB8"/>
              </a:buClr>
              <a:buSzPct val="85000"/>
              <a:buFont typeface="Wingdings"/>
              <a:buChar char=""/>
              <a:tabLst>
                <a:tab pos="205104" algn="l"/>
              </a:tabLst>
            </a:pPr>
            <a:r>
              <a:rPr sz="1000" spc="-10" dirty="0">
                <a:solidFill>
                  <a:srgbClr val="4B4545"/>
                </a:solidFill>
                <a:latin typeface="Trebuchet MS"/>
                <a:cs typeface="Trebuchet MS"/>
              </a:rPr>
              <a:t>Lower levels breakdown the </a:t>
            </a:r>
            <a:r>
              <a:rPr sz="1000" spc="-5" dirty="0">
                <a:solidFill>
                  <a:srgbClr val="4B4545"/>
                </a:solidFill>
                <a:latin typeface="Trebuchet MS"/>
                <a:cs typeface="Trebuchet MS"/>
              </a:rPr>
              <a:t>estimates for </a:t>
            </a:r>
            <a:r>
              <a:rPr sz="1000" spc="-10" dirty="0">
                <a:solidFill>
                  <a:srgbClr val="4B4545"/>
                </a:solidFill>
                <a:latin typeface="Trebuchet MS"/>
                <a:cs typeface="Trebuchet MS"/>
              </a:rPr>
              <a:t>the </a:t>
            </a:r>
            <a:r>
              <a:rPr sz="1000" spc="-5" dirty="0">
                <a:solidFill>
                  <a:srgbClr val="4B4545"/>
                </a:solidFill>
                <a:latin typeface="Trebuchet MS"/>
                <a:cs typeface="Trebuchet MS"/>
              </a:rPr>
              <a:t>specific</a:t>
            </a:r>
            <a:r>
              <a:rPr sz="1000" spc="114" dirty="0">
                <a:solidFill>
                  <a:srgbClr val="4B4545"/>
                </a:solidFill>
                <a:latin typeface="Trebuchet MS"/>
                <a:cs typeface="Trebuchet MS"/>
              </a:rPr>
              <a:t> </a:t>
            </a:r>
            <a:r>
              <a:rPr sz="1000" spc="-5" dirty="0">
                <a:solidFill>
                  <a:srgbClr val="4B4545"/>
                </a:solidFill>
                <a:latin typeface="Trebuchet MS"/>
                <a:cs typeface="Trebuchet MS"/>
              </a:rPr>
              <a:t>tasks</a:t>
            </a:r>
            <a:endParaRPr sz="1000" dirty="0">
              <a:latin typeface="Trebuchet MS"/>
              <a:cs typeface="Trebuchet MS"/>
            </a:endParaRPr>
          </a:p>
          <a:p>
            <a:pPr marL="205104" indent="-73660">
              <a:lnSpc>
                <a:spcPct val="100000"/>
              </a:lnSpc>
              <a:buClr>
                <a:srgbClr val="548AB8"/>
              </a:buClr>
              <a:buSzPct val="85000"/>
              <a:buFont typeface="Wingdings"/>
              <a:buChar char=""/>
              <a:tabLst>
                <a:tab pos="205104" algn="l"/>
              </a:tabLst>
            </a:pPr>
            <a:r>
              <a:rPr sz="1000" spc="-5" dirty="0">
                <a:solidFill>
                  <a:srgbClr val="4B4545"/>
                </a:solidFill>
                <a:latin typeface="Trebuchet MS"/>
                <a:cs typeface="Trebuchet MS"/>
              </a:rPr>
              <a:t>Mainly </a:t>
            </a:r>
            <a:r>
              <a:rPr sz="1000" spc="-10" dirty="0">
                <a:solidFill>
                  <a:srgbClr val="4B4545"/>
                </a:solidFill>
                <a:latin typeface="Trebuchet MS"/>
                <a:cs typeface="Trebuchet MS"/>
              </a:rPr>
              <a:t>prepared </a:t>
            </a:r>
            <a:r>
              <a:rPr sz="1000" spc="-5" dirty="0">
                <a:solidFill>
                  <a:srgbClr val="4B4545"/>
                </a:solidFill>
                <a:latin typeface="Trebuchet MS"/>
                <a:cs typeface="Trebuchet MS"/>
              </a:rPr>
              <a:t>based </a:t>
            </a:r>
            <a:r>
              <a:rPr sz="1000" dirty="0">
                <a:solidFill>
                  <a:srgbClr val="4B4545"/>
                </a:solidFill>
                <a:latin typeface="Trebuchet MS"/>
                <a:cs typeface="Trebuchet MS"/>
              </a:rPr>
              <a:t>on </a:t>
            </a:r>
            <a:r>
              <a:rPr sz="1000" spc="-5" dirty="0">
                <a:solidFill>
                  <a:srgbClr val="4B4545"/>
                </a:solidFill>
                <a:latin typeface="Trebuchet MS"/>
                <a:cs typeface="Trebuchet MS"/>
              </a:rPr>
              <a:t>“</a:t>
            </a:r>
            <a:r>
              <a:rPr sz="1000" b="1" i="1" spc="-5" dirty="0">
                <a:solidFill>
                  <a:srgbClr val="4B4545"/>
                </a:solidFill>
                <a:latin typeface="Trebuchet MS"/>
                <a:cs typeface="Trebuchet MS"/>
              </a:rPr>
              <a:t>considerable past</a:t>
            </a:r>
            <a:r>
              <a:rPr sz="1000" b="1" i="1" spc="80" dirty="0">
                <a:solidFill>
                  <a:srgbClr val="4B4545"/>
                </a:solidFill>
                <a:latin typeface="Trebuchet MS"/>
                <a:cs typeface="Trebuchet MS"/>
              </a:rPr>
              <a:t> </a:t>
            </a:r>
            <a:r>
              <a:rPr sz="1000" b="1" i="1" spc="-5" dirty="0">
                <a:solidFill>
                  <a:srgbClr val="4B4545"/>
                </a:solidFill>
                <a:latin typeface="Trebuchet MS"/>
                <a:cs typeface="Trebuchet MS"/>
              </a:rPr>
              <a:t>experience</a:t>
            </a:r>
            <a:r>
              <a:rPr sz="1000" spc="-5" dirty="0">
                <a:solidFill>
                  <a:srgbClr val="4B4545"/>
                </a:solidFill>
                <a:latin typeface="Trebuchet MS"/>
                <a:cs typeface="Trebuchet MS"/>
              </a:rPr>
              <a:t>”</a:t>
            </a:r>
            <a:endParaRPr sz="10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000" b="1" spc="-10" dirty="0">
                <a:solidFill>
                  <a:srgbClr val="004B21"/>
                </a:solidFill>
                <a:latin typeface="Trebuchet MS"/>
                <a:cs typeface="Trebuchet MS"/>
              </a:rPr>
              <a:t>Bottom-Up</a:t>
            </a:r>
            <a:r>
              <a:rPr sz="1000" b="1" spc="20" dirty="0">
                <a:solidFill>
                  <a:srgbClr val="004B21"/>
                </a:solidFill>
                <a:latin typeface="Trebuchet MS"/>
                <a:cs typeface="Trebuchet MS"/>
              </a:rPr>
              <a:t> </a:t>
            </a:r>
            <a:r>
              <a:rPr sz="1000" b="1" spc="-5" dirty="0">
                <a:solidFill>
                  <a:srgbClr val="004B21"/>
                </a:solidFill>
                <a:latin typeface="Trebuchet MS"/>
                <a:cs typeface="Trebuchet MS"/>
              </a:rPr>
              <a:t>budget</a:t>
            </a:r>
            <a:endParaRPr sz="1000" dirty="0">
              <a:latin typeface="Trebuchet MS"/>
              <a:cs typeface="Trebuchet MS"/>
            </a:endParaRPr>
          </a:p>
          <a:p>
            <a:pPr marL="205104" marR="6350" indent="-73660">
              <a:lnSpc>
                <a:spcPct val="100000"/>
              </a:lnSpc>
              <a:spcBef>
                <a:spcPts val="495"/>
              </a:spcBef>
              <a:buClr>
                <a:srgbClr val="548AB8"/>
              </a:buClr>
              <a:buSzPct val="85000"/>
              <a:buFont typeface="Wingdings"/>
              <a:buChar char=""/>
              <a:tabLst>
                <a:tab pos="243204" algn="l"/>
              </a:tabLst>
            </a:pPr>
            <a:r>
              <a:rPr dirty="0"/>
              <a:t>	</a:t>
            </a:r>
            <a:r>
              <a:rPr sz="1000" spc="-5" dirty="0">
                <a:solidFill>
                  <a:srgbClr val="4B4545"/>
                </a:solidFill>
                <a:latin typeface="Trebuchet MS"/>
                <a:cs typeface="Trebuchet MS"/>
              </a:rPr>
              <a:t>Elemental tasks, schedules and individual </a:t>
            </a:r>
            <a:r>
              <a:rPr sz="1000" spc="-10" dirty="0">
                <a:solidFill>
                  <a:srgbClr val="4B4545"/>
                </a:solidFill>
                <a:latin typeface="Trebuchet MS"/>
                <a:cs typeface="Trebuchet MS"/>
              </a:rPr>
              <a:t>budgets </a:t>
            </a:r>
            <a:r>
              <a:rPr sz="1000" dirty="0">
                <a:solidFill>
                  <a:srgbClr val="4B4545"/>
                </a:solidFill>
                <a:latin typeface="Trebuchet MS"/>
                <a:cs typeface="Trebuchet MS"/>
              </a:rPr>
              <a:t>are </a:t>
            </a:r>
            <a:r>
              <a:rPr sz="1000" spc="-5" dirty="0">
                <a:solidFill>
                  <a:srgbClr val="4B4545"/>
                </a:solidFill>
                <a:latin typeface="Trebuchet MS"/>
                <a:cs typeface="Trebuchet MS"/>
              </a:rPr>
              <a:t>constructed  following </a:t>
            </a:r>
            <a:r>
              <a:rPr sz="1000" spc="-15" dirty="0">
                <a:solidFill>
                  <a:srgbClr val="4B4545"/>
                </a:solidFill>
                <a:latin typeface="Trebuchet MS"/>
                <a:cs typeface="Trebuchet MS"/>
              </a:rPr>
              <a:t>Work </a:t>
            </a:r>
            <a:r>
              <a:rPr sz="1000" spc="-5" dirty="0">
                <a:solidFill>
                  <a:srgbClr val="4B4545"/>
                </a:solidFill>
                <a:latin typeface="Trebuchet MS"/>
                <a:cs typeface="Trebuchet MS"/>
              </a:rPr>
              <a:t>Breakdown Structure</a:t>
            </a:r>
            <a:r>
              <a:rPr sz="1000" spc="45" dirty="0">
                <a:solidFill>
                  <a:srgbClr val="4B4545"/>
                </a:solidFill>
                <a:latin typeface="Trebuchet MS"/>
                <a:cs typeface="Trebuchet MS"/>
              </a:rPr>
              <a:t> </a:t>
            </a:r>
            <a:r>
              <a:rPr sz="1000" spc="-5" dirty="0">
                <a:solidFill>
                  <a:srgbClr val="4B4545"/>
                </a:solidFill>
                <a:latin typeface="Trebuchet MS"/>
                <a:cs typeface="Trebuchet MS"/>
              </a:rPr>
              <a:t>(WBS)</a:t>
            </a:r>
            <a:endParaRPr sz="1000" dirty="0">
              <a:latin typeface="Trebuchet MS"/>
              <a:cs typeface="Trebuchet MS"/>
            </a:endParaRPr>
          </a:p>
          <a:p>
            <a:pPr marL="205104" marR="6985" indent="-73660">
              <a:lnSpc>
                <a:spcPct val="100000"/>
              </a:lnSpc>
              <a:buClr>
                <a:srgbClr val="548AB8"/>
              </a:buClr>
              <a:buSzPct val="85000"/>
              <a:buFont typeface="Wingdings"/>
              <a:buChar char=""/>
              <a:tabLst>
                <a:tab pos="243204" algn="l"/>
              </a:tabLst>
            </a:pPr>
            <a:r>
              <a:rPr dirty="0"/>
              <a:t>	</a:t>
            </a:r>
            <a:r>
              <a:rPr sz="1000" spc="-15" dirty="0">
                <a:solidFill>
                  <a:srgbClr val="4B4545"/>
                </a:solidFill>
                <a:latin typeface="Trebuchet MS"/>
                <a:cs typeface="Trebuchet MS"/>
              </a:rPr>
              <a:t>People </a:t>
            </a:r>
            <a:r>
              <a:rPr sz="1000" spc="-5" dirty="0">
                <a:solidFill>
                  <a:srgbClr val="4B4545"/>
                </a:solidFill>
                <a:latin typeface="Trebuchet MS"/>
                <a:cs typeface="Trebuchet MS"/>
              </a:rPr>
              <a:t>related to work </a:t>
            </a:r>
            <a:r>
              <a:rPr sz="1000" spc="-10" dirty="0">
                <a:solidFill>
                  <a:srgbClr val="4B4545"/>
                </a:solidFill>
                <a:latin typeface="Trebuchet MS"/>
                <a:cs typeface="Trebuchet MS"/>
              </a:rPr>
              <a:t>are consulted </a:t>
            </a:r>
            <a:r>
              <a:rPr sz="1000" spc="-5" dirty="0">
                <a:solidFill>
                  <a:srgbClr val="4B4545"/>
                </a:solidFill>
                <a:latin typeface="Trebuchet MS"/>
                <a:cs typeface="Trebuchet MS"/>
              </a:rPr>
              <a:t>regarding times and </a:t>
            </a:r>
            <a:r>
              <a:rPr sz="1000" spc="-10" dirty="0">
                <a:solidFill>
                  <a:srgbClr val="4B4545"/>
                </a:solidFill>
                <a:latin typeface="Trebuchet MS"/>
                <a:cs typeface="Trebuchet MS"/>
              </a:rPr>
              <a:t>budgets  </a:t>
            </a:r>
            <a:r>
              <a:rPr sz="1000" spc="-5" dirty="0">
                <a:solidFill>
                  <a:srgbClr val="4B4545"/>
                </a:solidFill>
                <a:latin typeface="Trebuchet MS"/>
                <a:cs typeface="Trebuchet MS"/>
              </a:rPr>
              <a:t>for</a:t>
            </a:r>
            <a:r>
              <a:rPr sz="1000" spc="-10" dirty="0">
                <a:solidFill>
                  <a:srgbClr val="4B4545"/>
                </a:solidFill>
                <a:latin typeface="Trebuchet MS"/>
                <a:cs typeface="Trebuchet MS"/>
              </a:rPr>
              <a:t> accuracy</a:t>
            </a:r>
            <a:endParaRPr sz="1000" dirty="0">
              <a:latin typeface="Trebuchet MS"/>
              <a:cs typeface="Trebuchet MS"/>
            </a:endParaRPr>
          </a:p>
          <a:p>
            <a:pPr marL="243204" indent="-111760">
              <a:lnSpc>
                <a:spcPct val="100000"/>
              </a:lnSpc>
              <a:buClr>
                <a:srgbClr val="548AB8"/>
              </a:buClr>
              <a:buSzPct val="85000"/>
              <a:buFont typeface="Wingdings"/>
              <a:buChar char=""/>
              <a:tabLst>
                <a:tab pos="243204" algn="l"/>
              </a:tabLst>
            </a:pPr>
            <a:r>
              <a:rPr sz="1000" spc="-5" dirty="0">
                <a:solidFill>
                  <a:srgbClr val="4B4545"/>
                </a:solidFill>
                <a:latin typeface="Trebuchet MS"/>
                <a:cs typeface="Trebuchet MS"/>
              </a:rPr>
              <a:t>Start with estimating in </a:t>
            </a:r>
            <a:r>
              <a:rPr sz="1000" spc="-10" dirty="0">
                <a:solidFill>
                  <a:srgbClr val="4B4545"/>
                </a:solidFill>
                <a:latin typeface="Trebuchet MS"/>
                <a:cs typeface="Trebuchet MS"/>
              </a:rPr>
              <a:t>terms </a:t>
            </a:r>
            <a:r>
              <a:rPr sz="1000" dirty="0">
                <a:solidFill>
                  <a:srgbClr val="4B4545"/>
                </a:solidFill>
                <a:latin typeface="Trebuchet MS"/>
                <a:cs typeface="Trebuchet MS"/>
              </a:rPr>
              <a:t>of </a:t>
            </a:r>
            <a:r>
              <a:rPr sz="1000" spc="-5" dirty="0">
                <a:solidFill>
                  <a:srgbClr val="4B4545"/>
                </a:solidFill>
                <a:latin typeface="Trebuchet MS"/>
                <a:cs typeface="Trebuchet MS"/>
              </a:rPr>
              <a:t>resources, </a:t>
            </a:r>
            <a:r>
              <a:rPr sz="1000" spc="-10" dirty="0">
                <a:solidFill>
                  <a:srgbClr val="4B4545"/>
                </a:solidFill>
                <a:latin typeface="Trebuchet MS"/>
                <a:cs typeface="Trebuchet MS"/>
              </a:rPr>
              <a:t>e.g., labor </a:t>
            </a:r>
            <a:r>
              <a:rPr sz="1000" spc="-55" dirty="0">
                <a:solidFill>
                  <a:srgbClr val="4B4545"/>
                </a:solidFill>
                <a:latin typeface="Trebuchet MS"/>
                <a:cs typeface="Trebuchet MS"/>
              </a:rPr>
              <a:t>hr,</a:t>
            </a:r>
            <a:r>
              <a:rPr sz="1000" spc="90" dirty="0">
                <a:solidFill>
                  <a:srgbClr val="4B4545"/>
                </a:solidFill>
                <a:latin typeface="Trebuchet MS"/>
                <a:cs typeface="Trebuchet MS"/>
              </a:rPr>
              <a:t> </a:t>
            </a:r>
            <a:r>
              <a:rPr sz="1000" spc="-5" dirty="0">
                <a:solidFill>
                  <a:srgbClr val="4B4545"/>
                </a:solidFill>
                <a:latin typeface="Trebuchet MS"/>
                <a:cs typeface="Trebuchet MS"/>
              </a:rPr>
              <a:t>material</a:t>
            </a:r>
            <a:endParaRPr sz="1000" dirty="0">
              <a:latin typeface="Trebuchet MS"/>
              <a:cs typeface="Trebuchet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648167" y="419773"/>
            <a:ext cx="2506345" cy="416559"/>
            <a:chOff x="1583436" y="579119"/>
            <a:chExt cx="2506345" cy="416559"/>
          </a:xfrm>
        </p:grpSpPr>
        <p:sp>
          <p:nvSpPr>
            <p:cNvPr id="17" name="object 17"/>
            <p:cNvSpPr/>
            <p:nvPr/>
          </p:nvSpPr>
          <p:spPr>
            <a:xfrm>
              <a:off x="1583436" y="579119"/>
              <a:ext cx="2505837" cy="41643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757172" y="582180"/>
              <a:ext cx="2329433" cy="255257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885846" y="445129"/>
            <a:ext cx="22015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i="1" spc="-40" dirty="0">
                <a:solidFill>
                  <a:srgbClr val="FFFFFF"/>
                </a:solidFill>
                <a:latin typeface="Trebuchet MS"/>
                <a:cs typeface="Trebuchet MS"/>
              </a:rPr>
              <a:t>Two </a:t>
            </a:r>
            <a:r>
              <a:rPr sz="900" b="1" i="1" spc="-5" dirty="0">
                <a:solidFill>
                  <a:srgbClr val="FFFFFF"/>
                </a:solidFill>
                <a:latin typeface="Trebuchet MS"/>
                <a:cs typeface="Trebuchet MS"/>
              </a:rPr>
              <a:t>budgets are never going </a:t>
            </a:r>
            <a:r>
              <a:rPr sz="900" b="1" i="1" dirty="0">
                <a:solidFill>
                  <a:srgbClr val="FFFFFF"/>
                </a:solidFill>
                <a:latin typeface="Trebuchet MS"/>
                <a:cs typeface="Trebuchet MS"/>
              </a:rPr>
              <a:t>to </a:t>
            </a:r>
            <a:r>
              <a:rPr sz="900" b="1" i="1" spc="-5" dirty="0">
                <a:solidFill>
                  <a:srgbClr val="FFFFFF"/>
                </a:solidFill>
                <a:latin typeface="Trebuchet MS"/>
                <a:cs typeface="Trebuchet MS"/>
              </a:rPr>
              <a:t>be</a:t>
            </a:r>
            <a:r>
              <a:rPr sz="900" b="1" i="1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i="1" spc="-10" dirty="0">
                <a:solidFill>
                  <a:srgbClr val="FFFFFF"/>
                </a:solidFill>
                <a:latin typeface="Trebuchet MS"/>
                <a:cs typeface="Trebuchet MS"/>
              </a:rPr>
              <a:t>same</a:t>
            </a:r>
            <a:endParaRPr sz="900" dirty="0">
              <a:latin typeface="Trebuchet MS"/>
              <a:cs typeface="Trebuchet MS"/>
            </a:endParaRPr>
          </a:p>
        </p:txBody>
      </p:sp>
      <p:sp>
        <p:nvSpPr>
          <p:cNvPr id="20" name="object 12"/>
          <p:cNvSpPr txBox="1"/>
          <p:nvPr/>
        </p:nvSpPr>
        <p:spPr>
          <a:xfrm>
            <a:off x="3377565" y="20192"/>
            <a:ext cx="146558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600" b="1" spc="-5" dirty="0" smtClean="0">
                <a:solidFill>
                  <a:srgbClr val="355D7D"/>
                </a:solidFill>
                <a:latin typeface="Trebuchet MS"/>
                <a:cs typeface="Trebuchet MS"/>
              </a:rPr>
              <a:t>IPE 4111</a:t>
            </a:r>
            <a:r>
              <a:rPr sz="600" b="1" spc="-5" dirty="0" smtClean="0">
                <a:solidFill>
                  <a:srgbClr val="355D7D"/>
                </a:solidFill>
                <a:latin typeface="Trebuchet MS"/>
                <a:cs typeface="Trebuchet MS"/>
              </a:rPr>
              <a:t>: </a:t>
            </a:r>
            <a:r>
              <a:rPr lang="en-US" sz="600" b="1" spc="-5" dirty="0" smtClean="0">
                <a:solidFill>
                  <a:srgbClr val="355D7D"/>
                </a:solidFill>
                <a:latin typeface="Trebuchet MS"/>
                <a:cs typeface="Trebuchet MS"/>
              </a:rPr>
              <a:t>Industrial Management</a:t>
            </a:r>
            <a:endParaRPr sz="6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61332" y="2491739"/>
            <a:ext cx="182880" cy="182880"/>
            <a:chOff x="4561332" y="2491739"/>
            <a:chExt cx="182880" cy="182880"/>
          </a:xfrm>
        </p:grpSpPr>
        <p:sp>
          <p:nvSpPr>
            <p:cNvPr id="3" name="object 3"/>
            <p:cNvSpPr/>
            <p:nvPr/>
          </p:nvSpPr>
          <p:spPr>
            <a:xfrm>
              <a:off x="4561332" y="2491739"/>
              <a:ext cx="182879" cy="18287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568825" y="2500756"/>
              <a:ext cx="166370" cy="16484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495805" y="20192"/>
            <a:ext cx="1685289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Ahsanullah 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University of </a:t>
            </a: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Science &amp;</a:t>
            </a:r>
            <a:r>
              <a:rPr sz="600" b="1" spc="-10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600" b="1" spc="-10" dirty="0">
                <a:solidFill>
                  <a:srgbClr val="355D7D"/>
                </a:solidFill>
                <a:latin typeface="Trebuchet MS"/>
                <a:cs typeface="Trebuchet MS"/>
              </a:rPr>
              <a:t>Technology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214116" y="10667"/>
            <a:ext cx="129539" cy="1523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619625" y="2524505"/>
            <a:ext cx="67945" cy="1117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50" b="1" spc="5" dirty="0">
                <a:solidFill>
                  <a:srgbClr val="FFFFFF"/>
                </a:solidFill>
                <a:latin typeface="Trebuchet MS"/>
                <a:cs typeface="Trebuchet MS"/>
              </a:rPr>
              <a:t>9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44424" y="383412"/>
            <a:ext cx="884682" cy="1564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294511" y="383412"/>
            <a:ext cx="730884" cy="19723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94461" y="611885"/>
            <a:ext cx="3604260" cy="455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6900"/>
              </a:lnSpc>
              <a:spcBef>
                <a:spcPts val="100"/>
              </a:spcBef>
            </a:pPr>
            <a:r>
              <a:rPr sz="900" b="1" spc="-5" dirty="0">
                <a:latin typeface="Trebuchet MS"/>
                <a:cs typeface="Trebuchet MS"/>
              </a:rPr>
              <a:t>First, senior management needs </a:t>
            </a:r>
            <a:r>
              <a:rPr sz="900" b="1" dirty="0">
                <a:latin typeface="Trebuchet MS"/>
                <a:cs typeface="Trebuchet MS"/>
              </a:rPr>
              <a:t>to </a:t>
            </a:r>
            <a:r>
              <a:rPr sz="900" b="1" spc="-5" dirty="0">
                <a:latin typeface="Trebuchet MS"/>
                <a:cs typeface="Trebuchet MS"/>
              </a:rPr>
              <a:t>increase </a:t>
            </a:r>
            <a:r>
              <a:rPr sz="900" b="1" dirty="0">
                <a:latin typeface="Trebuchet MS"/>
                <a:cs typeface="Trebuchet MS"/>
              </a:rPr>
              <a:t>top-down </a:t>
            </a:r>
            <a:r>
              <a:rPr sz="900" b="1" spc="-5" dirty="0">
                <a:latin typeface="Trebuchet MS"/>
                <a:cs typeface="Trebuchet MS"/>
              </a:rPr>
              <a:t>budget  Next, junior </a:t>
            </a:r>
            <a:r>
              <a:rPr sz="900" b="1" dirty="0">
                <a:latin typeface="Trebuchet MS"/>
                <a:cs typeface="Trebuchet MS"/>
              </a:rPr>
              <a:t>team </a:t>
            </a:r>
            <a:r>
              <a:rPr sz="900" b="1" spc="-5" dirty="0">
                <a:latin typeface="Trebuchet MS"/>
                <a:cs typeface="Trebuchet MS"/>
              </a:rPr>
              <a:t>involved in real work reduces bottom-up</a:t>
            </a:r>
            <a:r>
              <a:rPr sz="900" b="1" spc="60" dirty="0">
                <a:latin typeface="Trebuchet MS"/>
                <a:cs typeface="Trebuchet MS"/>
              </a:rPr>
              <a:t> </a:t>
            </a:r>
            <a:r>
              <a:rPr sz="900" b="1" spc="-5" dirty="0">
                <a:latin typeface="Trebuchet MS"/>
                <a:cs typeface="Trebuchet MS"/>
              </a:rPr>
              <a:t>budget</a:t>
            </a:r>
            <a:endParaRPr sz="900" dirty="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9408" y="1187195"/>
            <a:ext cx="1978660" cy="18478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60325">
              <a:lnSpc>
                <a:spcPct val="100000"/>
              </a:lnSpc>
              <a:spcBef>
                <a:spcPts val="155"/>
              </a:spcBef>
            </a:pPr>
            <a:r>
              <a:rPr sz="900" b="1" spc="-5" dirty="0">
                <a:solidFill>
                  <a:srgbClr val="001F5F"/>
                </a:solidFill>
                <a:latin typeface="Trebuchet MS"/>
                <a:cs typeface="Trebuchet MS"/>
              </a:rPr>
              <a:t>If negotiation point is not</a:t>
            </a:r>
            <a:r>
              <a:rPr sz="900" b="1" spc="-30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900" b="1" spc="-5" dirty="0">
                <a:solidFill>
                  <a:srgbClr val="001F5F"/>
                </a:solidFill>
                <a:latin typeface="Trebuchet MS"/>
                <a:cs typeface="Trebuchet MS"/>
              </a:rPr>
              <a:t>reached</a:t>
            </a:r>
            <a:endParaRPr sz="900" dirty="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325117" y="1370837"/>
            <a:ext cx="511175" cy="495300"/>
          </a:xfrm>
          <a:custGeom>
            <a:avLst/>
            <a:gdLst/>
            <a:ahLst/>
            <a:cxnLst/>
            <a:rect l="l" t="t" r="r" b="b"/>
            <a:pathLst>
              <a:path w="511175" h="495300">
                <a:moveTo>
                  <a:pt x="10540" y="408431"/>
                </a:moveTo>
                <a:lnTo>
                  <a:pt x="6095" y="411098"/>
                </a:lnTo>
                <a:lnTo>
                  <a:pt x="1524" y="413765"/>
                </a:lnTo>
                <a:lnTo>
                  <a:pt x="0" y="419607"/>
                </a:lnTo>
                <a:lnTo>
                  <a:pt x="2667" y="424052"/>
                </a:lnTo>
                <a:lnTo>
                  <a:pt x="44195" y="495299"/>
                </a:lnTo>
                <a:lnTo>
                  <a:pt x="55225" y="476376"/>
                </a:lnTo>
                <a:lnTo>
                  <a:pt x="34670" y="476376"/>
                </a:lnTo>
                <a:lnTo>
                  <a:pt x="34670" y="441251"/>
                </a:lnTo>
                <a:lnTo>
                  <a:pt x="16382" y="409955"/>
                </a:lnTo>
                <a:lnTo>
                  <a:pt x="10540" y="408431"/>
                </a:lnTo>
                <a:close/>
              </a:path>
              <a:path w="511175" h="495300">
                <a:moveTo>
                  <a:pt x="34670" y="441251"/>
                </a:moveTo>
                <a:lnTo>
                  <a:pt x="34670" y="476376"/>
                </a:lnTo>
                <a:lnTo>
                  <a:pt x="53720" y="476376"/>
                </a:lnTo>
                <a:lnTo>
                  <a:pt x="53720" y="471677"/>
                </a:lnTo>
                <a:lnTo>
                  <a:pt x="35940" y="471677"/>
                </a:lnTo>
                <a:lnTo>
                  <a:pt x="44195" y="457551"/>
                </a:lnTo>
                <a:lnTo>
                  <a:pt x="34670" y="441251"/>
                </a:lnTo>
                <a:close/>
              </a:path>
              <a:path w="511175" h="495300">
                <a:moveTo>
                  <a:pt x="77850" y="408431"/>
                </a:moveTo>
                <a:lnTo>
                  <a:pt x="72008" y="409955"/>
                </a:lnTo>
                <a:lnTo>
                  <a:pt x="53720" y="441251"/>
                </a:lnTo>
                <a:lnTo>
                  <a:pt x="53720" y="476376"/>
                </a:lnTo>
                <a:lnTo>
                  <a:pt x="55225" y="476376"/>
                </a:lnTo>
                <a:lnTo>
                  <a:pt x="85725" y="424052"/>
                </a:lnTo>
                <a:lnTo>
                  <a:pt x="88392" y="419607"/>
                </a:lnTo>
                <a:lnTo>
                  <a:pt x="86868" y="413765"/>
                </a:lnTo>
                <a:lnTo>
                  <a:pt x="82295" y="411098"/>
                </a:lnTo>
                <a:lnTo>
                  <a:pt x="77850" y="408431"/>
                </a:lnTo>
                <a:close/>
              </a:path>
              <a:path w="511175" h="495300">
                <a:moveTo>
                  <a:pt x="44195" y="457551"/>
                </a:moveTo>
                <a:lnTo>
                  <a:pt x="35940" y="471677"/>
                </a:lnTo>
                <a:lnTo>
                  <a:pt x="52450" y="471677"/>
                </a:lnTo>
                <a:lnTo>
                  <a:pt x="44195" y="457551"/>
                </a:lnTo>
                <a:close/>
              </a:path>
              <a:path w="511175" h="495300">
                <a:moveTo>
                  <a:pt x="53720" y="441251"/>
                </a:moveTo>
                <a:lnTo>
                  <a:pt x="44195" y="457551"/>
                </a:lnTo>
                <a:lnTo>
                  <a:pt x="52450" y="471677"/>
                </a:lnTo>
                <a:lnTo>
                  <a:pt x="53720" y="471677"/>
                </a:lnTo>
                <a:lnTo>
                  <a:pt x="53720" y="441251"/>
                </a:lnTo>
                <a:close/>
              </a:path>
              <a:path w="511175" h="495300">
                <a:moveTo>
                  <a:pt x="491870" y="238124"/>
                </a:moveTo>
                <a:lnTo>
                  <a:pt x="38988" y="238124"/>
                </a:lnTo>
                <a:lnTo>
                  <a:pt x="34670" y="242442"/>
                </a:lnTo>
                <a:lnTo>
                  <a:pt x="34670" y="441251"/>
                </a:lnTo>
                <a:lnTo>
                  <a:pt x="44195" y="457551"/>
                </a:lnTo>
                <a:lnTo>
                  <a:pt x="53720" y="441251"/>
                </a:lnTo>
                <a:lnTo>
                  <a:pt x="53720" y="257174"/>
                </a:lnTo>
                <a:lnTo>
                  <a:pt x="44195" y="257174"/>
                </a:lnTo>
                <a:lnTo>
                  <a:pt x="53720" y="247649"/>
                </a:lnTo>
                <a:lnTo>
                  <a:pt x="491870" y="247649"/>
                </a:lnTo>
                <a:lnTo>
                  <a:pt x="491870" y="238124"/>
                </a:lnTo>
                <a:close/>
              </a:path>
              <a:path w="511175" h="495300">
                <a:moveTo>
                  <a:pt x="53720" y="247649"/>
                </a:moveTo>
                <a:lnTo>
                  <a:pt x="44195" y="257174"/>
                </a:lnTo>
                <a:lnTo>
                  <a:pt x="53720" y="257174"/>
                </a:lnTo>
                <a:lnTo>
                  <a:pt x="53720" y="247649"/>
                </a:lnTo>
                <a:close/>
              </a:path>
              <a:path w="511175" h="495300">
                <a:moveTo>
                  <a:pt x="510920" y="238124"/>
                </a:moveTo>
                <a:lnTo>
                  <a:pt x="501395" y="238124"/>
                </a:lnTo>
                <a:lnTo>
                  <a:pt x="491870" y="247649"/>
                </a:lnTo>
                <a:lnTo>
                  <a:pt x="53720" y="247649"/>
                </a:lnTo>
                <a:lnTo>
                  <a:pt x="53720" y="257174"/>
                </a:lnTo>
                <a:lnTo>
                  <a:pt x="506602" y="257174"/>
                </a:lnTo>
                <a:lnTo>
                  <a:pt x="510920" y="252856"/>
                </a:lnTo>
                <a:lnTo>
                  <a:pt x="510920" y="238124"/>
                </a:lnTo>
                <a:close/>
              </a:path>
              <a:path w="511175" h="495300">
                <a:moveTo>
                  <a:pt x="510920" y="0"/>
                </a:moveTo>
                <a:lnTo>
                  <a:pt x="491870" y="0"/>
                </a:lnTo>
                <a:lnTo>
                  <a:pt x="491870" y="247649"/>
                </a:lnTo>
                <a:lnTo>
                  <a:pt x="501395" y="238124"/>
                </a:lnTo>
                <a:lnTo>
                  <a:pt x="510920" y="238124"/>
                </a:lnTo>
                <a:lnTo>
                  <a:pt x="510920" y="0"/>
                </a:lnTo>
                <a:close/>
              </a:path>
            </a:pathLst>
          </a:custGeom>
          <a:solidFill>
            <a:srgbClr val="56827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1084961" y="1825624"/>
            <a:ext cx="872490" cy="584835"/>
            <a:chOff x="1084961" y="1825624"/>
            <a:chExt cx="872490" cy="584835"/>
          </a:xfrm>
        </p:grpSpPr>
        <p:sp>
          <p:nvSpPr>
            <p:cNvPr id="15" name="object 15"/>
            <p:cNvSpPr/>
            <p:nvPr/>
          </p:nvSpPr>
          <p:spPr>
            <a:xfrm>
              <a:off x="1184148" y="1929383"/>
              <a:ext cx="619125" cy="437515"/>
            </a:xfrm>
            <a:custGeom>
              <a:avLst/>
              <a:gdLst/>
              <a:ahLst/>
              <a:cxnLst/>
              <a:rect l="l" t="t" r="r" b="b"/>
              <a:pathLst>
                <a:path w="619125" h="437514">
                  <a:moveTo>
                    <a:pt x="0" y="437388"/>
                  </a:moveTo>
                  <a:lnTo>
                    <a:pt x="12660" y="385838"/>
                  </a:lnTo>
                  <a:lnTo>
                    <a:pt x="26698" y="335367"/>
                  </a:lnTo>
                  <a:lnTo>
                    <a:pt x="43461" y="287024"/>
                  </a:lnTo>
                  <a:lnTo>
                    <a:pt x="64296" y="241856"/>
                  </a:lnTo>
                  <a:lnTo>
                    <a:pt x="90550" y="200913"/>
                  </a:lnTo>
                  <a:lnTo>
                    <a:pt x="122112" y="164192"/>
                  </a:lnTo>
                  <a:lnTo>
                    <a:pt x="158086" y="130927"/>
                  </a:lnTo>
                  <a:lnTo>
                    <a:pt x="198651" y="101253"/>
                  </a:lnTo>
                  <a:lnTo>
                    <a:pt x="243983" y="75303"/>
                  </a:lnTo>
                  <a:lnTo>
                    <a:pt x="294258" y="53212"/>
                  </a:lnTo>
                  <a:lnTo>
                    <a:pt x="382089" y="30753"/>
                  </a:lnTo>
                  <a:lnTo>
                    <a:pt x="489505" y="14033"/>
                  </a:lnTo>
                  <a:lnTo>
                    <a:pt x="580419" y="3599"/>
                  </a:lnTo>
                  <a:lnTo>
                    <a:pt x="618744" y="0"/>
                  </a:lnTo>
                </a:path>
              </a:pathLst>
            </a:custGeom>
            <a:ln w="9525">
              <a:solidFill>
                <a:srgbClr val="B85B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88136" y="1828799"/>
              <a:ext cx="866140" cy="578485"/>
            </a:xfrm>
            <a:custGeom>
              <a:avLst/>
              <a:gdLst/>
              <a:ahLst/>
              <a:cxnLst/>
              <a:rect l="l" t="t" r="r" b="b"/>
              <a:pathLst>
                <a:path w="866139" h="578485">
                  <a:moveTo>
                    <a:pt x="634" y="0"/>
                  </a:moveTo>
                  <a:lnTo>
                    <a:pt x="0" y="577723"/>
                  </a:lnTo>
                </a:path>
                <a:path w="866139" h="578485">
                  <a:moveTo>
                    <a:pt x="0" y="577596"/>
                  </a:moveTo>
                  <a:lnTo>
                    <a:pt x="865632" y="578104"/>
                  </a:lnTo>
                </a:path>
              </a:pathLst>
            </a:custGeom>
            <a:ln w="6350">
              <a:solidFill>
                <a:srgbClr val="B85B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2880741" y="1370837"/>
            <a:ext cx="899794" cy="1013460"/>
            <a:chOff x="2880741" y="1370837"/>
            <a:chExt cx="899794" cy="1013460"/>
          </a:xfrm>
        </p:grpSpPr>
        <p:sp>
          <p:nvSpPr>
            <p:cNvPr id="18" name="object 18"/>
            <p:cNvSpPr/>
            <p:nvPr/>
          </p:nvSpPr>
          <p:spPr>
            <a:xfrm>
              <a:off x="2880741" y="1370837"/>
              <a:ext cx="511175" cy="495300"/>
            </a:xfrm>
            <a:custGeom>
              <a:avLst/>
              <a:gdLst/>
              <a:ahLst/>
              <a:cxnLst/>
              <a:rect l="l" t="t" r="r" b="b"/>
              <a:pathLst>
                <a:path w="511175" h="495300">
                  <a:moveTo>
                    <a:pt x="433070" y="408431"/>
                  </a:moveTo>
                  <a:lnTo>
                    <a:pt x="428625" y="411098"/>
                  </a:lnTo>
                  <a:lnTo>
                    <a:pt x="424053" y="413765"/>
                  </a:lnTo>
                  <a:lnTo>
                    <a:pt x="422529" y="419607"/>
                  </a:lnTo>
                  <a:lnTo>
                    <a:pt x="425196" y="424052"/>
                  </a:lnTo>
                  <a:lnTo>
                    <a:pt x="466725" y="495299"/>
                  </a:lnTo>
                  <a:lnTo>
                    <a:pt x="477754" y="476376"/>
                  </a:lnTo>
                  <a:lnTo>
                    <a:pt x="457200" y="476376"/>
                  </a:lnTo>
                  <a:lnTo>
                    <a:pt x="457200" y="441251"/>
                  </a:lnTo>
                  <a:lnTo>
                    <a:pt x="438912" y="409955"/>
                  </a:lnTo>
                  <a:lnTo>
                    <a:pt x="433070" y="408431"/>
                  </a:lnTo>
                  <a:close/>
                </a:path>
                <a:path w="511175" h="495300">
                  <a:moveTo>
                    <a:pt x="457200" y="441251"/>
                  </a:moveTo>
                  <a:lnTo>
                    <a:pt x="457200" y="476376"/>
                  </a:lnTo>
                  <a:lnTo>
                    <a:pt x="476250" y="476376"/>
                  </a:lnTo>
                  <a:lnTo>
                    <a:pt x="476250" y="471677"/>
                  </a:lnTo>
                  <a:lnTo>
                    <a:pt x="458470" y="471677"/>
                  </a:lnTo>
                  <a:lnTo>
                    <a:pt x="466725" y="457551"/>
                  </a:lnTo>
                  <a:lnTo>
                    <a:pt x="457200" y="441251"/>
                  </a:lnTo>
                  <a:close/>
                </a:path>
                <a:path w="511175" h="495300">
                  <a:moveTo>
                    <a:pt x="500380" y="408431"/>
                  </a:moveTo>
                  <a:lnTo>
                    <a:pt x="494538" y="409955"/>
                  </a:lnTo>
                  <a:lnTo>
                    <a:pt x="476250" y="441251"/>
                  </a:lnTo>
                  <a:lnTo>
                    <a:pt x="476250" y="476376"/>
                  </a:lnTo>
                  <a:lnTo>
                    <a:pt x="477754" y="476376"/>
                  </a:lnTo>
                  <a:lnTo>
                    <a:pt x="508254" y="424052"/>
                  </a:lnTo>
                  <a:lnTo>
                    <a:pt x="510921" y="419607"/>
                  </a:lnTo>
                  <a:lnTo>
                    <a:pt x="509397" y="413765"/>
                  </a:lnTo>
                  <a:lnTo>
                    <a:pt x="504825" y="411098"/>
                  </a:lnTo>
                  <a:lnTo>
                    <a:pt x="500380" y="408431"/>
                  </a:lnTo>
                  <a:close/>
                </a:path>
                <a:path w="511175" h="495300">
                  <a:moveTo>
                    <a:pt x="466725" y="457551"/>
                  </a:moveTo>
                  <a:lnTo>
                    <a:pt x="458470" y="471677"/>
                  </a:lnTo>
                  <a:lnTo>
                    <a:pt x="474980" y="471677"/>
                  </a:lnTo>
                  <a:lnTo>
                    <a:pt x="466725" y="457551"/>
                  </a:lnTo>
                  <a:close/>
                </a:path>
                <a:path w="511175" h="495300">
                  <a:moveTo>
                    <a:pt x="476250" y="441251"/>
                  </a:moveTo>
                  <a:lnTo>
                    <a:pt x="466725" y="457551"/>
                  </a:lnTo>
                  <a:lnTo>
                    <a:pt x="474980" y="471677"/>
                  </a:lnTo>
                  <a:lnTo>
                    <a:pt x="476250" y="471677"/>
                  </a:lnTo>
                  <a:lnTo>
                    <a:pt x="476250" y="441251"/>
                  </a:lnTo>
                  <a:close/>
                </a:path>
                <a:path w="511175" h="495300">
                  <a:moveTo>
                    <a:pt x="457200" y="247649"/>
                  </a:moveTo>
                  <a:lnTo>
                    <a:pt x="457200" y="441251"/>
                  </a:lnTo>
                  <a:lnTo>
                    <a:pt x="466725" y="457551"/>
                  </a:lnTo>
                  <a:lnTo>
                    <a:pt x="476250" y="441251"/>
                  </a:lnTo>
                  <a:lnTo>
                    <a:pt x="476250" y="257174"/>
                  </a:lnTo>
                  <a:lnTo>
                    <a:pt x="466725" y="257174"/>
                  </a:lnTo>
                  <a:lnTo>
                    <a:pt x="457200" y="247649"/>
                  </a:lnTo>
                  <a:close/>
                </a:path>
                <a:path w="511175" h="495300">
                  <a:moveTo>
                    <a:pt x="19050" y="0"/>
                  </a:moveTo>
                  <a:lnTo>
                    <a:pt x="0" y="0"/>
                  </a:lnTo>
                  <a:lnTo>
                    <a:pt x="0" y="252856"/>
                  </a:lnTo>
                  <a:lnTo>
                    <a:pt x="4318" y="257174"/>
                  </a:lnTo>
                  <a:lnTo>
                    <a:pt x="457200" y="257174"/>
                  </a:lnTo>
                  <a:lnTo>
                    <a:pt x="457200" y="247649"/>
                  </a:lnTo>
                  <a:lnTo>
                    <a:pt x="19050" y="247649"/>
                  </a:lnTo>
                  <a:lnTo>
                    <a:pt x="9525" y="238124"/>
                  </a:lnTo>
                  <a:lnTo>
                    <a:pt x="19050" y="238124"/>
                  </a:lnTo>
                  <a:lnTo>
                    <a:pt x="19050" y="0"/>
                  </a:lnTo>
                  <a:close/>
                </a:path>
                <a:path w="511175" h="495300">
                  <a:moveTo>
                    <a:pt x="471932" y="238124"/>
                  </a:moveTo>
                  <a:lnTo>
                    <a:pt x="19050" y="238124"/>
                  </a:lnTo>
                  <a:lnTo>
                    <a:pt x="19050" y="247649"/>
                  </a:lnTo>
                  <a:lnTo>
                    <a:pt x="457200" y="247649"/>
                  </a:lnTo>
                  <a:lnTo>
                    <a:pt x="466725" y="257174"/>
                  </a:lnTo>
                  <a:lnTo>
                    <a:pt x="476250" y="257174"/>
                  </a:lnTo>
                  <a:lnTo>
                    <a:pt x="476250" y="242442"/>
                  </a:lnTo>
                  <a:lnTo>
                    <a:pt x="471932" y="238124"/>
                  </a:lnTo>
                  <a:close/>
                </a:path>
                <a:path w="511175" h="495300">
                  <a:moveTo>
                    <a:pt x="19050" y="238124"/>
                  </a:moveTo>
                  <a:lnTo>
                    <a:pt x="9525" y="238124"/>
                  </a:lnTo>
                  <a:lnTo>
                    <a:pt x="19050" y="247649"/>
                  </a:lnTo>
                  <a:lnTo>
                    <a:pt x="19050" y="238124"/>
                  </a:lnTo>
                  <a:close/>
                </a:path>
              </a:pathLst>
            </a:custGeom>
            <a:solidFill>
              <a:srgbClr val="5682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054096" y="1810511"/>
              <a:ext cx="723265" cy="570865"/>
            </a:xfrm>
            <a:custGeom>
              <a:avLst/>
              <a:gdLst/>
              <a:ahLst/>
              <a:cxnLst/>
              <a:rect l="l" t="t" r="r" b="b"/>
              <a:pathLst>
                <a:path w="723264" h="570864">
                  <a:moveTo>
                    <a:pt x="507" y="0"/>
                  </a:moveTo>
                  <a:lnTo>
                    <a:pt x="0" y="570103"/>
                  </a:lnTo>
                </a:path>
                <a:path w="723264" h="570864">
                  <a:moveTo>
                    <a:pt x="0" y="569976"/>
                  </a:moveTo>
                  <a:lnTo>
                    <a:pt x="723264" y="570484"/>
                  </a:lnTo>
                </a:path>
              </a:pathLst>
            </a:custGeom>
            <a:ln w="6350">
              <a:solidFill>
                <a:srgbClr val="B85B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116580" y="1903475"/>
              <a:ext cx="619125" cy="431165"/>
            </a:xfrm>
            <a:custGeom>
              <a:avLst/>
              <a:gdLst/>
              <a:ahLst/>
              <a:cxnLst/>
              <a:rect l="l" t="t" r="r" b="b"/>
              <a:pathLst>
                <a:path w="619125" h="431164">
                  <a:moveTo>
                    <a:pt x="0" y="430784"/>
                  </a:moveTo>
                  <a:lnTo>
                    <a:pt x="46912" y="430871"/>
                  </a:lnTo>
                  <a:lnTo>
                    <a:pt x="93646" y="430339"/>
                  </a:lnTo>
                  <a:lnTo>
                    <a:pt x="140071" y="428569"/>
                  </a:lnTo>
                  <a:lnTo>
                    <a:pt x="186055" y="424942"/>
                  </a:lnTo>
                  <a:lnTo>
                    <a:pt x="232477" y="419709"/>
                  </a:lnTo>
                  <a:lnTo>
                    <a:pt x="279114" y="412988"/>
                  </a:lnTo>
                  <a:lnTo>
                    <a:pt x="324179" y="404242"/>
                  </a:lnTo>
                  <a:lnTo>
                    <a:pt x="365887" y="392938"/>
                  </a:lnTo>
                  <a:lnTo>
                    <a:pt x="404082" y="379470"/>
                  </a:lnTo>
                  <a:lnTo>
                    <a:pt x="439610" y="363870"/>
                  </a:lnTo>
                  <a:lnTo>
                    <a:pt x="501523" y="323088"/>
                  </a:lnTo>
                  <a:lnTo>
                    <a:pt x="550735" y="264350"/>
                  </a:lnTo>
                  <a:lnTo>
                    <a:pt x="570495" y="230969"/>
                  </a:lnTo>
                  <a:lnTo>
                    <a:pt x="598291" y="164101"/>
                  </a:lnTo>
                  <a:lnTo>
                    <a:pt x="611026" y="95319"/>
                  </a:lnTo>
                  <a:lnTo>
                    <a:pt x="617733" y="42541"/>
                  </a:lnTo>
                  <a:lnTo>
                    <a:pt x="618537" y="21082"/>
                  </a:lnTo>
                  <a:lnTo>
                    <a:pt x="618364" y="5814"/>
                  </a:lnTo>
                  <a:lnTo>
                    <a:pt x="618109" y="0"/>
                  </a:lnTo>
                </a:path>
              </a:pathLst>
            </a:custGeom>
            <a:ln w="9525">
              <a:solidFill>
                <a:srgbClr val="B85B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10894" y="2439161"/>
            <a:ext cx="1299845" cy="269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solidFill>
                  <a:srgbClr val="355D7D"/>
                </a:solidFill>
                <a:latin typeface="Trebuchet MS"/>
                <a:cs typeface="Trebuchet MS"/>
              </a:rPr>
              <a:t>If low </a:t>
            </a:r>
            <a:r>
              <a:rPr sz="800" spc="-5" dirty="0">
                <a:solidFill>
                  <a:srgbClr val="355D7D"/>
                </a:solidFill>
                <a:latin typeface="Trebuchet MS"/>
                <a:cs typeface="Trebuchet MS"/>
              </a:rPr>
              <a:t>impact at </a:t>
            </a:r>
            <a:r>
              <a:rPr sz="800" dirty="0">
                <a:solidFill>
                  <a:srgbClr val="355D7D"/>
                </a:solidFill>
                <a:latin typeface="Trebuchet MS"/>
                <a:cs typeface="Trebuchet MS"/>
              </a:rPr>
              <a:t>final</a:t>
            </a:r>
            <a:r>
              <a:rPr sz="800" spc="-8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355D7D"/>
                </a:solidFill>
                <a:latin typeface="Trebuchet MS"/>
                <a:cs typeface="Trebuchet MS"/>
              </a:rPr>
              <a:t>stage,</a:t>
            </a:r>
            <a:endParaRPr sz="8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800" spc="-5" dirty="0">
                <a:solidFill>
                  <a:srgbClr val="355D7D"/>
                </a:solidFill>
                <a:latin typeface="Trebuchet MS"/>
                <a:cs typeface="Trebuchet MS"/>
              </a:rPr>
              <a:t>accept </a:t>
            </a:r>
            <a:r>
              <a:rPr sz="800" dirty="0">
                <a:solidFill>
                  <a:srgbClr val="355D7D"/>
                </a:solidFill>
                <a:latin typeface="Trebuchet MS"/>
                <a:cs typeface="Trebuchet MS"/>
              </a:rPr>
              <a:t>the </a:t>
            </a:r>
            <a:r>
              <a:rPr sz="800" spc="-5" dirty="0">
                <a:solidFill>
                  <a:srgbClr val="355D7D"/>
                </a:solidFill>
                <a:latin typeface="Trebuchet MS"/>
                <a:cs typeface="Trebuchet MS"/>
              </a:rPr>
              <a:t>seniors’</a:t>
            </a:r>
            <a:r>
              <a:rPr sz="800" spc="-75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355D7D"/>
                </a:solidFill>
                <a:latin typeface="Trebuchet MS"/>
                <a:cs typeface="Trebuchet MS"/>
              </a:rPr>
              <a:t>one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762250" y="2443733"/>
            <a:ext cx="1329690" cy="269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solidFill>
                  <a:srgbClr val="355D7D"/>
                </a:solidFill>
                <a:latin typeface="Trebuchet MS"/>
                <a:cs typeface="Trebuchet MS"/>
              </a:rPr>
              <a:t>If high </a:t>
            </a:r>
            <a:r>
              <a:rPr sz="800" spc="-5" dirty="0">
                <a:solidFill>
                  <a:srgbClr val="355D7D"/>
                </a:solidFill>
                <a:latin typeface="Trebuchet MS"/>
                <a:cs typeface="Trebuchet MS"/>
              </a:rPr>
              <a:t>impact at </a:t>
            </a:r>
            <a:r>
              <a:rPr sz="800" dirty="0">
                <a:solidFill>
                  <a:srgbClr val="355D7D"/>
                </a:solidFill>
                <a:latin typeface="Trebuchet MS"/>
                <a:cs typeface="Trebuchet MS"/>
              </a:rPr>
              <a:t>final</a:t>
            </a:r>
            <a:r>
              <a:rPr sz="800" spc="-9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355D7D"/>
                </a:solidFill>
                <a:latin typeface="Trebuchet MS"/>
                <a:cs typeface="Trebuchet MS"/>
              </a:rPr>
              <a:t>stage,</a:t>
            </a:r>
            <a:endParaRPr sz="8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800" spc="-5" dirty="0">
                <a:solidFill>
                  <a:srgbClr val="355D7D"/>
                </a:solidFill>
                <a:latin typeface="Trebuchet MS"/>
                <a:cs typeface="Trebuchet MS"/>
              </a:rPr>
              <a:t>accept </a:t>
            </a:r>
            <a:r>
              <a:rPr sz="800" dirty="0">
                <a:solidFill>
                  <a:srgbClr val="355D7D"/>
                </a:solidFill>
                <a:latin typeface="Trebuchet MS"/>
                <a:cs typeface="Trebuchet MS"/>
              </a:rPr>
              <a:t>the </a:t>
            </a:r>
            <a:r>
              <a:rPr sz="800" spc="-5" dirty="0">
                <a:solidFill>
                  <a:srgbClr val="355D7D"/>
                </a:solidFill>
                <a:latin typeface="Trebuchet MS"/>
                <a:cs typeface="Trebuchet MS"/>
              </a:rPr>
              <a:t>juniors’</a:t>
            </a:r>
            <a:r>
              <a:rPr sz="800" spc="-75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355D7D"/>
                </a:solidFill>
                <a:latin typeface="Trebuchet MS"/>
                <a:cs typeface="Trebuchet MS"/>
              </a:rPr>
              <a:t>one</a:t>
            </a:r>
            <a:endParaRPr sz="800">
              <a:latin typeface="Trebuchet MS"/>
              <a:cs typeface="Trebuchet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026293" y="208533"/>
            <a:ext cx="784225" cy="700405"/>
            <a:chOff x="4026293" y="208533"/>
            <a:chExt cx="784225" cy="700405"/>
          </a:xfrm>
        </p:grpSpPr>
        <p:sp>
          <p:nvSpPr>
            <p:cNvPr id="24" name="object 24"/>
            <p:cNvSpPr/>
            <p:nvPr/>
          </p:nvSpPr>
          <p:spPr>
            <a:xfrm>
              <a:off x="4026293" y="208533"/>
              <a:ext cx="531609" cy="535647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225798" y="373252"/>
              <a:ext cx="584530" cy="53555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12"/>
          <p:cNvSpPr txBox="1"/>
          <p:nvPr/>
        </p:nvSpPr>
        <p:spPr>
          <a:xfrm>
            <a:off x="3377565" y="20192"/>
            <a:ext cx="146558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600" b="1" spc="-5" dirty="0" smtClean="0">
                <a:solidFill>
                  <a:srgbClr val="355D7D"/>
                </a:solidFill>
                <a:latin typeface="Trebuchet MS"/>
                <a:cs typeface="Trebuchet MS"/>
              </a:rPr>
              <a:t>IPE 4111</a:t>
            </a:r>
            <a:r>
              <a:rPr sz="600" b="1" spc="-5" dirty="0" smtClean="0">
                <a:solidFill>
                  <a:srgbClr val="355D7D"/>
                </a:solidFill>
                <a:latin typeface="Trebuchet MS"/>
                <a:cs typeface="Trebuchet MS"/>
              </a:rPr>
              <a:t>: </a:t>
            </a:r>
            <a:r>
              <a:rPr lang="en-US" sz="600" b="1" spc="-5" dirty="0" smtClean="0">
                <a:solidFill>
                  <a:srgbClr val="355D7D"/>
                </a:solidFill>
                <a:latin typeface="Trebuchet MS"/>
                <a:cs typeface="Trebuchet MS"/>
              </a:rPr>
              <a:t>Industrial Management</a:t>
            </a:r>
            <a:endParaRPr sz="6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21" grpId="0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61332" y="2491739"/>
            <a:ext cx="182880" cy="182880"/>
            <a:chOff x="4561332" y="2491739"/>
            <a:chExt cx="182880" cy="182880"/>
          </a:xfrm>
        </p:grpSpPr>
        <p:sp>
          <p:nvSpPr>
            <p:cNvPr id="3" name="object 3"/>
            <p:cNvSpPr/>
            <p:nvPr/>
          </p:nvSpPr>
          <p:spPr>
            <a:xfrm>
              <a:off x="4561332" y="2491739"/>
              <a:ext cx="182879" cy="18287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568825" y="2500756"/>
              <a:ext cx="166370" cy="16484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598289" y="2525013"/>
            <a:ext cx="111125" cy="1117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50" b="1" spc="10" dirty="0">
                <a:solidFill>
                  <a:srgbClr val="FFFFFF"/>
                </a:solidFill>
                <a:latin typeface="Trebuchet MS"/>
                <a:cs typeface="Trebuchet MS"/>
              </a:rPr>
              <a:t>14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04263" y="941467"/>
            <a:ext cx="1026099" cy="96247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495805" y="20827"/>
            <a:ext cx="1685289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Ahsanullah </a:t>
            </a:r>
            <a:r>
              <a:rPr sz="600" b="1" spc="-5" dirty="0">
                <a:solidFill>
                  <a:srgbClr val="355D7D"/>
                </a:solidFill>
                <a:latin typeface="Trebuchet MS"/>
                <a:cs typeface="Trebuchet MS"/>
              </a:rPr>
              <a:t>University of </a:t>
            </a:r>
            <a:r>
              <a:rPr sz="600" b="1" dirty="0">
                <a:solidFill>
                  <a:srgbClr val="355D7D"/>
                </a:solidFill>
                <a:latin typeface="Trebuchet MS"/>
                <a:cs typeface="Trebuchet MS"/>
              </a:rPr>
              <a:t>Science &amp;</a:t>
            </a:r>
            <a:r>
              <a:rPr sz="600" b="1" spc="-100" dirty="0">
                <a:solidFill>
                  <a:srgbClr val="355D7D"/>
                </a:solidFill>
                <a:latin typeface="Trebuchet MS"/>
                <a:cs typeface="Trebuchet MS"/>
              </a:rPr>
              <a:t> </a:t>
            </a:r>
            <a:r>
              <a:rPr sz="600" b="1" spc="-10" dirty="0">
                <a:solidFill>
                  <a:srgbClr val="355D7D"/>
                </a:solidFill>
                <a:latin typeface="Trebuchet MS"/>
                <a:cs typeface="Trebuchet MS"/>
              </a:rPr>
              <a:t>Technology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14116" y="10667"/>
            <a:ext cx="129539" cy="1523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2"/>
          <p:cNvSpPr txBox="1"/>
          <p:nvPr/>
        </p:nvSpPr>
        <p:spPr>
          <a:xfrm>
            <a:off x="3377565" y="20192"/>
            <a:ext cx="146558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600" b="1" spc="-5" dirty="0" smtClean="0">
                <a:solidFill>
                  <a:srgbClr val="355D7D"/>
                </a:solidFill>
                <a:latin typeface="Trebuchet MS"/>
                <a:cs typeface="Trebuchet MS"/>
              </a:rPr>
              <a:t>IPE 4111</a:t>
            </a:r>
            <a:r>
              <a:rPr sz="600" b="1" spc="-5" dirty="0" smtClean="0">
                <a:solidFill>
                  <a:srgbClr val="355D7D"/>
                </a:solidFill>
                <a:latin typeface="Trebuchet MS"/>
                <a:cs typeface="Trebuchet MS"/>
              </a:rPr>
              <a:t>: </a:t>
            </a:r>
            <a:r>
              <a:rPr lang="en-US" sz="600" b="1" spc="-5" dirty="0" smtClean="0">
                <a:solidFill>
                  <a:srgbClr val="355D7D"/>
                </a:solidFill>
                <a:latin typeface="Trebuchet MS"/>
                <a:cs typeface="Trebuchet MS"/>
              </a:rPr>
              <a:t>Industrial Management</a:t>
            </a:r>
            <a:endParaRPr sz="6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Words>492</Words>
  <Application>Microsoft Office PowerPoint</Application>
  <PresentationFormat>Custom</PresentationFormat>
  <Paragraphs>96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TSP;mahjabin.buet@gmail.com</dc:creator>
  <cp:lastModifiedBy>SadMad</cp:lastModifiedBy>
  <cp:revision>6</cp:revision>
  <dcterms:created xsi:type="dcterms:W3CDTF">2022-11-16T09:17:19Z</dcterms:created>
  <dcterms:modified xsi:type="dcterms:W3CDTF">2022-11-28T14:50:15Z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2021-02-16T00:00:00Z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2022-11-16T00:00:00Z</vt:filetime>
  </property>
</Properties>
</file>