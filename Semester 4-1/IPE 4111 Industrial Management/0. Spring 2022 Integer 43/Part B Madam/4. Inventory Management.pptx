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323" r:id="rId18"/>
    <p:sldId id="275" r:id="rId19"/>
    <p:sldId id="276" r:id="rId20"/>
    <p:sldId id="324" r:id="rId21"/>
    <p:sldId id="280" r:id="rId22"/>
    <p:sldId id="325" r:id="rId23"/>
    <p:sldId id="281" r:id="rId24"/>
    <p:sldId id="326" r:id="rId25"/>
    <p:sldId id="282" r:id="rId26"/>
    <p:sldId id="327" r:id="rId27"/>
    <p:sldId id="328" r:id="rId28"/>
    <p:sldId id="283" r:id="rId29"/>
    <p:sldId id="284" r:id="rId30"/>
    <p:sldId id="329" r:id="rId31"/>
    <p:sldId id="285" r:id="rId32"/>
    <p:sldId id="330" r:id="rId33"/>
    <p:sldId id="286" r:id="rId34"/>
    <p:sldId id="287" r:id="rId35"/>
    <p:sldId id="288" r:id="rId36"/>
    <p:sldId id="289" r:id="rId37"/>
    <p:sldId id="306" r:id="rId38"/>
    <p:sldId id="307" r:id="rId39"/>
    <p:sldId id="309" r:id="rId40"/>
    <p:sldId id="331" r:id="rId41"/>
    <p:sldId id="322" r:id="rId42"/>
  </p:sldIdLst>
  <p:sldSz cx="4876800" cy="3240088"/>
  <p:notesSz cx="4876800" cy="2743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704" autoAdjust="0"/>
    <p:restoredTop sz="94434" autoAdjust="0"/>
  </p:normalViewPr>
  <p:slideViewPr>
    <p:cSldViewPr>
      <p:cViewPr varScale="1">
        <p:scale>
          <a:sx n="135" d="100"/>
          <a:sy n="135" d="100"/>
        </p:scale>
        <p:origin x="1770" y="96"/>
      </p:cViewPr>
      <p:guideLst>
        <p:guide orient="horz" pos="340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112963" cy="1381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762250" y="0"/>
            <a:ext cx="2112963" cy="1381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EBB53-A542-4E92-BDB1-32CE7623C6DC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41488" y="342900"/>
            <a:ext cx="1393825" cy="925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87363" y="1320800"/>
            <a:ext cx="3902075" cy="10795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2605088"/>
            <a:ext cx="2112963" cy="1381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762250" y="2605088"/>
            <a:ext cx="2112963" cy="1381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D959B-32CD-42CA-8991-9CE182BDD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6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5760" y="1004428"/>
            <a:ext cx="414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31520" y="1814449"/>
            <a:ext cx="34137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F8781-42E0-4E0C-8171-B9859485A59B}" type="datetime1">
              <a:rPr lang="en-US" smtClean="0"/>
              <a:t>2/12/2023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61333" y="2943079"/>
            <a:ext cx="182879" cy="2160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4568825" y="2953729"/>
            <a:ext cx="166370" cy="1947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145E4-F68A-483B-B6FA-C25D1F414EC0}" type="datetime1">
              <a:rPr lang="en-US" smtClean="0"/>
              <a:t>2/12/2023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43840" y="745220"/>
            <a:ext cx="212140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511552" y="745220"/>
            <a:ext cx="212140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85DFA-0FDF-4DBF-A0B6-47A419EF1F2F}" type="datetime1">
              <a:rPr lang="en-US" smtClean="0"/>
              <a:t>2/12/2023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183CF-2E22-4A97-BCCD-D1E4662DB815}" type="datetime1">
              <a:rPr lang="en-US" smtClean="0"/>
              <a:t>2/12/2023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904B0-339F-4ADE-8DA8-01F6636450F7}" type="datetime1">
              <a:rPr lang="en-US" smtClean="0"/>
              <a:t>2/12/2023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9500" y="294907"/>
            <a:ext cx="4257801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3840" y="745220"/>
            <a:ext cx="4389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58112" y="3013282"/>
            <a:ext cx="1560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43840" y="3013282"/>
            <a:ext cx="112166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97400-5826-4076-8627-7C60D7B31DF8}" type="datetime1">
              <a:rPr lang="en-US" smtClean="0"/>
              <a:t>2/12/2023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11296" y="3013282"/>
            <a:ext cx="112166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8809" y="787940"/>
            <a:ext cx="4088891" cy="320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68808" y="842804"/>
            <a:ext cx="4089400" cy="1466215"/>
            <a:chOff x="368808" y="594359"/>
            <a:chExt cx="4089400" cy="1466215"/>
          </a:xfrm>
        </p:grpSpPr>
        <p:sp>
          <p:nvSpPr>
            <p:cNvPr id="4" name="object 4"/>
            <p:cNvSpPr/>
            <p:nvPr/>
          </p:nvSpPr>
          <p:spPr>
            <a:xfrm>
              <a:off x="368808" y="1720595"/>
              <a:ext cx="4088891" cy="3200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8808" y="594359"/>
              <a:ext cx="4088891" cy="146608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02963" y="1670303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0" y="172974"/>
                  </a:moveTo>
                  <a:lnTo>
                    <a:pt x="6180" y="127000"/>
                  </a:lnTo>
                  <a:lnTo>
                    <a:pt x="23622" y="85682"/>
                  </a:lnTo>
                  <a:lnTo>
                    <a:pt x="50673" y="50673"/>
                  </a:lnTo>
                  <a:lnTo>
                    <a:pt x="85682" y="23622"/>
                  </a:lnTo>
                  <a:lnTo>
                    <a:pt x="127000" y="6180"/>
                  </a:lnTo>
                  <a:lnTo>
                    <a:pt x="172974" y="0"/>
                  </a:lnTo>
                  <a:lnTo>
                    <a:pt x="218948" y="6180"/>
                  </a:lnTo>
                  <a:lnTo>
                    <a:pt x="260265" y="23622"/>
                  </a:lnTo>
                  <a:lnTo>
                    <a:pt x="295275" y="50673"/>
                  </a:lnTo>
                  <a:lnTo>
                    <a:pt x="322325" y="85682"/>
                  </a:lnTo>
                  <a:lnTo>
                    <a:pt x="339767" y="127000"/>
                  </a:lnTo>
                  <a:lnTo>
                    <a:pt x="345948" y="172974"/>
                  </a:lnTo>
                  <a:lnTo>
                    <a:pt x="339767" y="218948"/>
                  </a:lnTo>
                  <a:lnTo>
                    <a:pt x="322325" y="260265"/>
                  </a:lnTo>
                  <a:lnTo>
                    <a:pt x="295275" y="295275"/>
                  </a:lnTo>
                  <a:lnTo>
                    <a:pt x="260265" y="322325"/>
                  </a:lnTo>
                  <a:lnTo>
                    <a:pt x="218948" y="339767"/>
                  </a:lnTo>
                  <a:lnTo>
                    <a:pt x="172974" y="345948"/>
                  </a:lnTo>
                  <a:lnTo>
                    <a:pt x="127000" y="339767"/>
                  </a:lnTo>
                  <a:lnTo>
                    <a:pt x="85682" y="322325"/>
                  </a:lnTo>
                  <a:lnTo>
                    <a:pt x="50673" y="295275"/>
                  </a:lnTo>
                  <a:lnTo>
                    <a:pt x="23622" y="260265"/>
                  </a:lnTo>
                  <a:lnTo>
                    <a:pt x="6180" y="218948"/>
                  </a:lnTo>
                  <a:lnTo>
                    <a:pt x="0" y="1729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05840" y="1031760"/>
              <a:ext cx="2835402" cy="27354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11681" y="1037462"/>
              <a:ext cx="2807970" cy="24485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A9DF7F4-FA3A-D85A-130A-8939A290A8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20929" y="575469"/>
            <a:ext cx="1506220" cy="176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21149" y="2773457"/>
            <a:ext cx="6794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61968" y="975514"/>
            <a:ext cx="981120" cy="9420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4651" y="871862"/>
            <a:ext cx="3383915" cy="179387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03960">
              <a:spcBef>
                <a:spcPts val="820"/>
              </a:spcBef>
            </a:pPr>
            <a:r>
              <a:rPr sz="1100" b="1" dirty="0">
                <a:solidFill>
                  <a:srgbClr val="775F54"/>
                </a:solidFill>
                <a:latin typeface="Trebuchet MS"/>
                <a:cs typeface="Trebuchet MS"/>
              </a:rPr>
              <a:t>What </a:t>
            </a:r>
            <a:r>
              <a:rPr sz="1100" b="1" spc="-5" dirty="0">
                <a:solidFill>
                  <a:srgbClr val="775F54"/>
                </a:solidFill>
                <a:latin typeface="Trebuchet MS"/>
                <a:cs typeface="Trebuchet MS"/>
              </a:rPr>
              <a:t>is</a:t>
            </a:r>
            <a:r>
              <a:rPr sz="1100" b="1" spc="-15" dirty="0">
                <a:solidFill>
                  <a:srgbClr val="775F54"/>
                </a:solidFill>
                <a:latin typeface="Trebuchet MS"/>
                <a:cs typeface="Trebuchet MS"/>
              </a:rPr>
              <a:t> </a:t>
            </a:r>
            <a:r>
              <a:rPr sz="1100" b="1" spc="-5" dirty="0">
                <a:solidFill>
                  <a:srgbClr val="775F54"/>
                </a:solidFill>
                <a:latin typeface="Trebuchet MS"/>
                <a:cs typeface="Trebuchet MS"/>
              </a:rPr>
              <a:t>Inventory??</a:t>
            </a:r>
            <a:endParaRPr sz="1100">
              <a:latin typeface="Trebuchet MS"/>
              <a:cs typeface="Trebuchet MS"/>
            </a:endParaRPr>
          </a:p>
          <a:p>
            <a:pPr marL="826135">
              <a:spcBef>
                <a:spcPts val="720"/>
              </a:spcBef>
            </a:pPr>
            <a:r>
              <a:rPr sz="1100" b="1" dirty="0">
                <a:solidFill>
                  <a:srgbClr val="568279"/>
                </a:solidFill>
                <a:latin typeface="Trebuchet MS"/>
                <a:cs typeface="Trebuchet MS"/>
              </a:rPr>
              <a:t>Inventory </a:t>
            </a:r>
            <a:r>
              <a:rPr sz="1100" b="1" spc="-5" dirty="0">
                <a:solidFill>
                  <a:srgbClr val="568279"/>
                </a:solidFill>
                <a:latin typeface="Trebuchet MS"/>
                <a:cs typeface="Trebuchet MS"/>
              </a:rPr>
              <a:t>is </a:t>
            </a:r>
            <a:r>
              <a:rPr sz="1100" b="1" dirty="0">
                <a:solidFill>
                  <a:srgbClr val="568279"/>
                </a:solidFill>
                <a:latin typeface="Trebuchet MS"/>
                <a:cs typeface="Trebuchet MS"/>
              </a:rPr>
              <a:t>stock or </a:t>
            </a:r>
            <a:r>
              <a:rPr sz="1100" b="1" spc="-5" dirty="0">
                <a:solidFill>
                  <a:srgbClr val="568279"/>
                </a:solidFill>
                <a:latin typeface="Trebuchet MS"/>
                <a:cs typeface="Trebuchet MS"/>
              </a:rPr>
              <a:t>store </a:t>
            </a:r>
            <a:r>
              <a:rPr sz="1100" b="1" dirty="0">
                <a:solidFill>
                  <a:srgbClr val="568279"/>
                </a:solidFill>
                <a:latin typeface="Trebuchet MS"/>
                <a:cs typeface="Trebuchet MS"/>
              </a:rPr>
              <a:t>of</a:t>
            </a:r>
            <a:r>
              <a:rPr sz="1100" b="1" spc="-60" dirty="0">
                <a:solidFill>
                  <a:srgbClr val="568279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568279"/>
                </a:solidFill>
                <a:latin typeface="Trebuchet MS"/>
                <a:cs typeface="Trebuchet MS"/>
              </a:rPr>
              <a:t>goods</a:t>
            </a:r>
            <a:endParaRPr sz="1100">
              <a:latin typeface="Trebuchet MS"/>
              <a:cs typeface="Trebuchet MS"/>
            </a:endParaRPr>
          </a:p>
          <a:p>
            <a:pPr>
              <a:spcBef>
                <a:spcPts val="45"/>
              </a:spcBef>
            </a:pPr>
            <a:endParaRPr sz="1850">
              <a:latin typeface="Trebuchet MS"/>
              <a:cs typeface="Trebuchet MS"/>
            </a:endParaRPr>
          </a:p>
          <a:p>
            <a:pPr marL="12700">
              <a:spcBef>
                <a:spcPts val="5"/>
              </a:spcBef>
            </a:pPr>
            <a:r>
              <a:rPr sz="1100" b="1" dirty="0">
                <a:solidFill>
                  <a:srgbClr val="355D7D"/>
                </a:solidFill>
                <a:latin typeface="Trebuchet MS"/>
                <a:cs typeface="Trebuchet MS"/>
              </a:rPr>
              <a:t>3 types of</a:t>
            </a:r>
            <a:r>
              <a:rPr sz="1100" b="1" spc="-2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355D7D"/>
                </a:solidFill>
                <a:latin typeface="Trebuchet MS"/>
                <a:cs typeface="Trebuchet MS"/>
              </a:rPr>
              <a:t>Inventory</a:t>
            </a:r>
            <a:endParaRPr sz="1100">
              <a:latin typeface="Trebuchet MS"/>
              <a:cs typeface="Trebuchet MS"/>
            </a:endParaRPr>
          </a:p>
          <a:p>
            <a:pPr marL="287020" indent="-143510">
              <a:spcBef>
                <a:spcPts val="760"/>
              </a:spcBef>
              <a:buFont typeface="Arial"/>
              <a:buChar char="•"/>
              <a:tabLst>
                <a:tab pos="287020" algn="l"/>
              </a:tabLst>
            </a:pPr>
            <a:r>
              <a:rPr sz="1100" dirty="0">
                <a:latin typeface="Trebuchet MS"/>
                <a:cs typeface="Trebuchet MS"/>
              </a:rPr>
              <a:t>Raw</a:t>
            </a:r>
            <a:r>
              <a:rPr sz="1100" spc="-20" dirty="0">
                <a:latin typeface="Trebuchet MS"/>
                <a:cs typeface="Trebuchet MS"/>
              </a:rPr>
              <a:t> </a:t>
            </a:r>
            <a:r>
              <a:rPr sz="1100" spc="-5" dirty="0">
                <a:latin typeface="Trebuchet MS"/>
                <a:cs typeface="Trebuchet MS"/>
              </a:rPr>
              <a:t>material</a:t>
            </a:r>
            <a:endParaRPr sz="1100">
              <a:latin typeface="Trebuchet MS"/>
              <a:cs typeface="Trebuchet MS"/>
            </a:endParaRPr>
          </a:p>
          <a:p>
            <a:pPr marL="287020" indent="-143510">
              <a:buFont typeface="Arial"/>
              <a:buChar char="•"/>
              <a:tabLst>
                <a:tab pos="287020" algn="l"/>
              </a:tabLst>
            </a:pPr>
            <a:r>
              <a:rPr sz="1100" spc="-5" dirty="0">
                <a:latin typeface="Trebuchet MS"/>
                <a:cs typeface="Trebuchet MS"/>
              </a:rPr>
              <a:t>Work-in-process</a:t>
            </a:r>
            <a:endParaRPr sz="1100">
              <a:latin typeface="Trebuchet MS"/>
              <a:cs typeface="Trebuchet MS"/>
            </a:endParaRPr>
          </a:p>
          <a:p>
            <a:pPr marL="287020" indent="-143510">
              <a:buFont typeface="Arial"/>
              <a:buChar char="•"/>
              <a:tabLst>
                <a:tab pos="287020" algn="l"/>
              </a:tabLst>
            </a:pPr>
            <a:r>
              <a:rPr sz="1100" spc="-5" dirty="0">
                <a:latin typeface="Trebuchet MS"/>
                <a:cs typeface="Trebuchet MS"/>
              </a:rPr>
              <a:t>Finished goods</a:t>
            </a:r>
            <a:endParaRPr sz="1100">
              <a:latin typeface="Trebuchet MS"/>
              <a:cs typeface="Trebuchet MS"/>
            </a:endParaRPr>
          </a:p>
          <a:p>
            <a:pPr marL="225425">
              <a:spcBef>
                <a:spcPts val="405"/>
              </a:spcBef>
            </a:pPr>
            <a:r>
              <a:rPr sz="1000" b="1" spc="-5" dirty="0">
                <a:solidFill>
                  <a:srgbClr val="2C6C58"/>
                </a:solidFill>
                <a:latin typeface="Trebuchet MS"/>
                <a:cs typeface="Trebuchet MS"/>
              </a:rPr>
              <a:t>MROs </a:t>
            </a:r>
            <a:r>
              <a:rPr sz="1000" b="1" spc="-10" dirty="0">
                <a:solidFill>
                  <a:srgbClr val="2C6C58"/>
                </a:solidFill>
                <a:latin typeface="Trebuchet MS"/>
                <a:cs typeface="Trebuchet MS"/>
              </a:rPr>
              <a:t>(Maintenance, </a:t>
            </a:r>
            <a:r>
              <a:rPr sz="1000" b="1" spc="-20" dirty="0">
                <a:solidFill>
                  <a:srgbClr val="2C6C58"/>
                </a:solidFill>
                <a:latin typeface="Trebuchet MS"/>
                <a:cs typeface="Trebuchet MS"/>
              </a:rPr>
              <a:t>Repair, </a:t>
            </a:r>
            <a:r>
              <a:rPr sz="1000" b="1" spc="-5" dirty="0">
                <a:solidFill>
                  <a:srgbClr val="2C6C58"/>
                </a:solidFill>
                <a:latin typeface="Trebuchet MS"/>
                <a:cs typeface="Trebuchet MS"/>
              </a:rPr>
              <a:t>and </a:t>
            </a:r>
            <a:r>
              <a:rPr sz="1000" b="1" spc="-10" dirty="0">
                <a:solidFill>
                  <a:srgbClr val="2C6C58"/>
                </a:solidFill>
                <a:latin typeface="Trebuchet MS"/>
                <a:cs typeface="Trebuchet MS"/>
              </a:rPr>
              <a:t>Operating</a:t>
            </a:r>
            <a:r>
              <a:rPr sz="1000" b="1" spc="110" dirty="0">
                <a:solidFill>
                  <a:srgbClr val="2C6C58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2C6C58"/>
                </a:solidFill>
                <a:latin typeface="Trebuchet MS"/>
                <a:cs typeface="Trebuchet MS"/>
              </a:rPr>
              <a:t>Materials)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212B69-ABD8-4D0B-B1D9-74897136B7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01064" y="2742469"/>
            <a:ext cx="958850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800" b="1" dirty="0">
                <a:latin typeface="Trebuchet MS"/>
                <a:cs typeface="Trebuchet MS"/>
              </a:rPr>
              <a:t>Dependent</a:t>
            </a:r>
            <a:r>
              <a:rPr sz="800" b="1" spc="-70" dirty="0">
                <a:latin typeface="Trebuchet MS"/>
                <a:cs typeface="Trebuchet MS"/>
              </a:rPr>
              <a:t> </a:t>
            </a:r>
            <a:r>
              <a:rPr sz="800" b="1" dirty="0">
                <a:latin typeface="Trebuchet MS"/>
                <a:cs typeface="Trebuchet MS"/>
              </a:rPr>
              <a:t>demand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9593" y="686847"/>
            <a:ext cx="4257040" cy="212090"/>
            <a:chOff x="299593" y="438403"/>
            <a:chExt cx="4257040" cy="212090"/>
          </a:xfrm>
        </p:grpSpPr>
        <p:sp>
          <p:nvSpPr>
            <p:cNvPr id="7" name="object 7"/>
            <p:cNvSpPr/>
            <p:nvPr/>
          </p:nvSpPr>
          <p:spPr>
            <a:xfrm>
              <a:off x="303267" y="441866"/>
              <a:ext cx="4252738" cy="20816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593" y="438403"/>
              <a:ext cx="4246753" cy="1971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47395" y="1911127"/>
            <a:ext cx="690879" cy="7753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87751" y="2040550"/>
            <a:ext cx="1542288" cy="6149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913634" y="2742469"/>
            <a:ext cx="1040765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800" b="1" dirty="0">
                <a:latin typeface="Trebuchet MS"/>
                <a:cs typeface="Trebuchet MS"/>
              </a:rPr>
              <a:t>Independent</a:t>
            </a:r>
            <a:r>
              <a:rPr sz="800" b="1" spc="-70" dirty="0">
                <a:latin typeface="Trebuchet MS"/>
                <a:cs typeface="Trebuchet MS"/>
              </a:rPr>
              <a:t> </a:t>
            </a:r>
            <a:r>
              <a:rPr sz="800" b="1" dirty="0">
                <a:latin typeface="Trebuchet MS"/>
                <a:cs typeface="Trebuchet MS"/>
              </a:rPr>
              <a:t>demand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9626" y="2772950"/>
            <a:ext cx="6794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8609" y="1106836"/>
            <a:ext cx="42329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marR="5080" indent="-172720">
              <a:spcBef>
                <a:spcPts val="95"/>
              </a:spcBef>
              <a:buClr>
                <a:srgbClr val="548AB8"/>
              </a:buClr>
              <a:buSzPct val="85000"/>
              <a:buFont typeface="Wingdings"/>
              <a:buChar char=""/>
              <a:tabLst>
                <a:tab pos="185420" algn="l"/>
              </a:tabLst>
            </a:pPr>
            <a:r>
              <a:rPr sz="1000" b="1" spc="-5" dirty="0">
                <a:latin typeface="Trebuchet MS"/>
                <a:cs typeface="Trebuchet MS"/>
              </a:rPr>
              <a:t>Independent demand - </a:t>
            </a:r>
            <a:r>
              <a:rPr sz="1000" spc="-5" dirty="0">
                <a:latin typeface="Trebuchet MS"/>
                <a:cs typeface="Trebuchet MS"/>
              </a:rPr>
              <a:t>the demand for item is independent </a:t>
            </a:r>
            <a:r>
              <a:rPr sz="1000" dirty="0">
                <a:latin typeface="Trebuchet MS"/>
                <a:cs typeface="Trebuchet MS"/>
              </a:rPr>
              <a:t>of </a:t>
            </a:r>
            <a:r>
              <a:rPr sz="1000" spc="-10" dirty="0">
                <a:latin typeface="Trebuchet MS"/>
                <a:cs typeface="Trebuchet MS"/>
              </a:rPr>
              <a:t>the  demand </a:t>
            </a:r>
            <a:r>
              <a:rPr sz="1000" spc="-5" dirty="0">
                <a:latin typeface="Trebuchet MS"/>
                <a:cs typeface="Trebuchet MS"/>
              </a:rPr>
              <a:t>for any </a:t>
            </a:r>
            <a:r>
              <a:rPr sz="1000" spc="-10" dirty="0">
                <a:latin typeface="Trebuchet MS"/>
                <a:cs typeface="Trebuchet MS"/>
              </a:rPr>
              <a:t>other </a:t>
            </a:r>
            <a:r>
              <a:rPr sz="1000" spc="-5" dirty="0">
                <a:latin typeface="Trebuchet MS"/>
                <a:cs typeface="Trebuchet MS"/>
              </a:rPr>
              <a:t>item in</a:t>
            </a:r>
            <a:r>
              <a:rPr sz="1000" spc="40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inventory</a:t>
            </a:r>
            <a:endParaRPr sz="1000" dirty="0">
              <a:latin typeface="Trebuchet MS"/>
              <a:cs typeface="Trebuchet MS"/>
            </a:endParaRPr>
          </a:p>
          <a:p>
            <a:pPr marL="184785" marR="6350" indent="-172720">
              <a:spcBef>
                <a:spcPts val="480"/>
              </a:spcBef>
              <a:buClr>
                <a:srgbClr val="548AB8"/>
              </a:buClr>
              <a:buSzPct val="85000"/>
              <a:buFont typeface="Wingdings"/>
              <a:buChar char=""/>
              <a:tabLst>
                <a:tab pos="185420" algn="l"/>
              </a:tabLst>
            </a:pPr>
            <a:r>
              <a:rPr sz="1000" b="1" spc="-10" dirty="0">
                <a:latin typeface="Trebuchet MS"/>
                <a:cs typeface="Trebuchet MS"/>
              </a:rPr>
              <a:t>Dependent </a:t>
            </a:r>
            <a:r>
              <a:rPr sz="1000" b="1" spc="-5" dirty="0">
                <a:latin typeface="Trebuchet MS"/>
                <a:cs typeface="Trebuchet MS"/>
              </a:rPr>
              <a:t>demand - </a:t>
            </a:r>
            <a:r>
              <a:rPr sz="1000" spc="-10" dirty="0">
                <a:latin typeface="Trebuchet MS"/>
                <a:cs typeface="Trebuchet MS"/>
              </a:rPr>
              <a:t>the demand </a:t>
            </a:r>
            <a:r>
              <a:rPr sz="1000" spc="-5" dirty="0">
                <a:latin typeface="Trebuchet MS"/>
                <a:cs typeface="Trebuchet MS"/>
              </a:rPr>
              <a:t>for item is dependent </a:t>
            </a:r>
            <a:r>
              <a:rPr sz="1000" spc="-10" dirty="0">
                <a:latin typeface="Trebuchet MS"/>
                <a:cs typeface="Trebuchet MS"/>
              </a:rPr>
              <a:t>upon </a:t>
            </a:r>
            <a:r>
              <a:rPr sz="1000" spc="-5" dirty="0">
                <a:latin typeface="Trebuchet MS"/>
                <a:cs typeface="Trebuchet MS"/>
              </a:rPr>
              <a:t>the  </a:t>
            </a:r>
            <a:r>
              <a:rPr sz="1000" spc="-10" dirty="0">
                <a:latin typeface="Trebuchet MS"/>
                <a:cs typeface="Trebuchet MS"/>
              </a:rPr>
              <a:t>demand </a:t>
            </a:r>
            <a:r>
              <a:rPr sz="1000" spc="-5" dirty="0">
                <a:latin typeface="Trebuchet MS"/>
                <a:cs typeface="Trebuchet MS"/>
              </a:rPr>
              <a:t>for some </a:t>
            </a:r>
            <a:r>
              <a:rPr sz="1000" spc="-10" dirty="0">
                <a:latin typeface="Trebuchet MS"/>
                <a:cs typeface="Trebuchet MS"/>
              </a:rPr>
              <a:t>other </a:t>
            </a:r>
            <a:r>
              <a:rPr sz="1000" spc="-5" dirty="0">
                <a:latin typeface="Trebuchet MS"/>
                <a:cs typeface="Trebuchet MS"/>
              </a:rPr>
              <a:t>item in </a:t>
            </a:r>
            <a:r>
              <a:rPr sz="1000" spc="-10" dirty="0">
                <a:latin typeface="Trebuchet MS"/>
                <a:cs typeface="Trebuchet MS"/>
              </a:rPr>
              <a:t>the</a:t>
            </a:r>
            <a:r>
              <a:rPr sz="1000" spc="35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inventory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7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B215F-70B1-F0F5-E408-63E50A28C1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500796" y="1330721"/>
            <a:ext cx="1025301" cy="1183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1998" y="1025837"/>
            <a:ext cx="2940050" cy="98742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55575" indent="-143510">
              <a:spcBef>
                <a:spcPts val="735"/>
              </a:spcBef>
              <a:buClr>
                <a:srgbClr val="548AB8"/>
              </a:buClr>
              <a:buSzPct val="90476"/>
              <a:buFont typeface="Arial"/>
              <a:buChar char="•"/>
              <a:tabLst>
                <a:tab pos="156210" algn="l"/>
              </a:tabLst>
            </a:pPr>
            <a:r>
              <a:rPr sz="1050" spc="-65" dirty="0">
                <a:latin typeface="Trebuchet MS"/>
                <a:cs typeface="Trebuchet MS"/>
              </a:rPr>
              <a:t>To </a:t>
            </a:r>
            <a:r>
              <a:rPr sz="1050" dirty="0">
                <a:latin typeface="Trebuchet MS"/>
                <a:cs typeface="Trebuchet MS"/>
              </a:rPr>
              <a:t>meet </a:t>
            </a:r>
            <a:r>
              <a:rPr sz="1050" spc="-5" dirty="0">
                <a:latin typeface="Trebuchet MS"/>
                <a:cs typeface="Trebuchet MS"/>
              </a:rPr>
              <a:t>anticipated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-5" dirty="0">
                <a:latin typeface="Trebuchet MS"/>
                <a:cs typeface="Trebuchet MS"/>
              </a:rPr>
              <a:t>demand</a:t>
            </a:r>
            <a:endParaRPr sz="1050">
              <a:latin typeface="Trebuchet MS"/>
              <a:cs typeface="Trebuchet MS"/>
            </a:endParaRPr>
          </a:p>
          <a:p>
            <a:pPr marL="155575" indent="-143510">
              <a:spcBef>
                <a:spcPts val="635"/>
              </a:spcBef>
              <a:buClr>
                <a:srgbClr val="548AB8"/>
              </a:buClr>
              <a:buSzPct val="90476"/>
              <a:buFont typeface="Arial"/>
              <a:buChar char="•"/>
              <a:tabLst>
                <a:tab pos="156210" algn="l"/>
              </a:tabLst>
            </a:pPr>
            <a:r>
              <a:rPr sz="1050" spc="-65" dirty="0">
                <a:latin typeface="Trebuchet MS"/>
                <a:cs typeface="Trebuchet MS"/>
              </a:rPr>
              <a:t>To </a:t>
            </a:r>
            <a:r>
              <a:rPr sz="1050" dirty="0">
                <a:latin typeface="Trebuchet MS"/>
                <a:cs typeface="Trebuchet MS"/>
              </a:rPr>
              <a:t>smooth </a:t>
            </a:r>
            <a:r>
              <a:rPr sz="1050" spc="-5" dirty="0">
                <a:latin typeface="Trebuchet MS"/>
                <a:cs typeface="Trebuchet MS"/>
              </a:rPr>
              <a:t>production </a:t>
            </a:r>
            <a:r>
              <a:rPr sz="1050" dirty="0">
                <a:latin typeface="Trebuchet MS"/>
                <a:cs typeface="Trebuchet MS"/>
              </a:rPr>
              <a:t>requirements –</a:t>
            </a:r>
            <a:r>
              <a:rPr sz="1050" spc="10" dirty="0">
                <a:latin typeface="Trebuchet MS"/>
                <a:cs typeface="Trebuchet MS"/>
              </a:rPr>
              <a:t> </a:t>
            </a:r>
            <a:r>
              <a:rPr sz="1050" spc="-5" dirty="0">
                <a:latin typeface="Trebuchet MS"/>
                <a:cs typeface="Trebuchet MS"/>
              </a:rPr>
              <a:t>seasonal</a:t>
            </a:r>
            <a:endParaRPr sz="1050">
              <a:latin typeface="Trebuchet MS"/>
              <a:cs typeface="Trebuchet MS"/>
            </a:endParaRPr>
          </a:p>
          <a:p>
            <a:pPr marL="155575" indent="-143510">
              <a:spcBef>
                <a:spcPts val="625"/>
              </a:spcBef>
              <a:buClr>
                <a:srgbClr val="548AB8"/>
              </a:buClr>
              <a:buSzPct val="90476"/>
              <a:buFont typeface="Arial"/>
              <a:buChar char="•"/>
              <a:tabLst>
                <a:tab pos="156210" algn="l"/>
              </a:tabLst>
            </a:pPr>
            <a:r>
              <a:rPr sz="1050" spc="-65" dirty="0">
                <a:latin typeface="Trebuchet MS"/>
                <a:cs typeface="Trebuchet MS"/>
              </a:rPr>
              <a:t>To </a:t>
            </a:r>
            <a:r>
              <a:rPr sz="1050" spc="-5" dirty="0">
                <a:latin typeface="Trebuchet MS"/>
                <a:cs typeface="Trebuchet MS"/>
              </a:rPr>
              <a:t>protect against </a:t>
            </a:r>
            <a:r>
              <a:rPr sz="1050" dirty="0">
                <a:latin typeface="Trebuchet MS"/>
                <a:cs typeface="Trebuchet MS"/>
              </a:rPr>
              <a:t>stock</a:t>
            </a:r>
            <a:r>
              <a:rPr sz="1050" spc="5" dirty="0">
                <a:latin typeface="Trebuchet MS"/>
                <a:cs typeface="Trebuchet MS"/>
              </a:rPr>
              <a:t> </a:t>
            </a:r>
            <a:r>
              <a:rPr sz="1050" spc="-5" dirty="0">
                <a:latin typeface="Trebuchet MS"/>
                <a:cs typeface="Trebuchet MS"/>
              </a:rPr>
              <a:t>outs</a:t>
            </a:r>
            <a:endParaRPr sz="1050">
              <a:latin typeface="Trebuchet MS"/>
              <a:cs typeface="Trebuchet MS"/>
            </a:endParaRPr>
          </a:p>
          <a:p>
            <a:pPr marL="155575" indent="-143510">
              <a:spcBef>
                <a:spcPts val="635"/>
              </a:spcBef>
              <a:buClr>
                <a:srgbClr val="548AB8"/>
              </a:buClr>
              <a:buSzPct val="90476"/>
              <a:buFont typeface="Arial"/>
              <a:buChar char="•"/>
              <a:tabLst>
                <a:tab pos="156210" algn="l"/>
              </a:tabLst>
            </a:pPr>
            <a:r>
              <a:rPr sz="1050" spc="-65" dirty="0">
                <a:latin typeface="Trebuchet MS"/>
                <a:cs typeface="Trebuchet MS"/>
              </a:rPr>
              <a:t>To </a:t>
            </a:r>
            <a:r>
              <a:rPr sz="1050" spc="-5" dirty="0">
                <a:latin typeface="Trebuchet MS"/>
                <a:cs typeface="Trebuchet MS"/>
              </a:rPr>
              <a:t>take advantages </a:t>
            </a:r>
            <a:r>
              <a:rPr sz="1050" dirty="0">
                <a:latin typeface="Trebuchet MS"/>
                <a:cs typeface="Trebuchet MS"/>
              </a:rPr>
              <a:t>of </a:t>
            </a:r>
            <a:r>
              <a:rPr sz="1050" spc="-5" dirty="0">
                <a:latin typeface="Trebuchet MS"/>
                <a:cs typeface="Trebuchet MS"/>
              </a:rPr>
              <a:t>quantity</a:t>
            </a:r>
            <a:r>
              <a:rPr sz="1050" spc="50" dirty="0">
                <a:latin typeface="Trebuchet MS"/>
                <a:cs typeface="Trebuchet MS"/>
              </a:rPr>
              <a:t> </a:t>
            </a:r>
            <a:r>
              <a:rPr sz="1050" spc="-5" dirty="0">
                <a:latin typeface="Trebuchet MS"/>
                <a:cs typeface="Trebuchet MS"/>
              </a:rPr>
              <a:t>discounts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1149" y="2773457"/>
            <a:ext cx="6794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6330" y="678211"/>
            <a:ext cx="2686685" cy="222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762FBD-11A4-E559-7C4B-2FBB6D2E51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736091" y="1859311"/>
            <a:ext cx="1092708" cy="10911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1658" y="622712"/>
            <a:ext cx="3672458" cy="2223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19626" y="2772950"/>
            <a:ext cx="6794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21946" y="919131"/>
            <a:ext cx="4055745" cy="894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67435" marR="483870" indent="-581025">
              <a:spcBef>
                <a:spcPts val="95"/>
              </a:spcBef>
            </a:pPr>
            <a:r>
              <a:rPr sz="1000" b="1" spc="-10" dirty="0">
                <a:solidFill>
                  <a:srgbClr val="716868"/>
                </a:solidFill>
                <a:latin typeface="Trebuchet MS"/>
                <a:cs typeface="Trebuchet MS"/>
              </a:rPr>
              <a:t>Inadequate </a:t>
            </a:r>
            <a:r>
              <a:rPr sz="1000" b="1" spc="-5" dirty="0">
                <a:solidFill>
                  <a:srgbClr val="716868"/>
                </a:solidFill>
                <a:latin typeface="Trebuchet MS"/>
                <a:cs typeface="Trebuchet MS"/>
              </a:rPr>
              <a:t>control of inventories can result in both  under and overstocking of</a:t>
            </a:r>
            <a:r>
              <a:rPr sz="1000" b="1" spc="20" dirty="0">
                <a:solidFill>
                  <a:srgbClr val="716868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716868"/>
                </a:solidFill>
                <a:latin typeface="Trebuchet MS"/>
                <a:cs typeface="Trebuchet MS"/>
              </a:rPr>
              <a:t>items</a:t>
            </a:r>
            <a:endParaRPr sz="1000">
              <a:latin typeface="Trebuchet MS"/>
              <a:cs typeface="Trebuchet MS"/>
            </a:endParaRPr>
          </a:p>
          <a:p>
            <a:pPr marL="12700" marR="5080" algn="just">
              <a:spcBef>
                <a:spcPts val="844"/>
              </a:spcBef>
            </a:pPr>
            <a:r>
              <a:rPr sz="1000" spc="-10" dirty="0">
                <a:latin typeface="Trebuchet MS"/>
                <a:cs typeface="Trebuchet MS"/>
              </a:rPr>
              <a:t>The </a:t>
            </a:r>
            <a:r>
              <a:rPr sz="1000" spc="-5" dirty="0">
                <a:latin typeface="Trebuchet MS"/>
                <a:cs typeface="Trebuchet MS"/>
              </a:rPr>
              <a:t>overall objective </a:t>
            </a:r>
            <a:r>
              <a:rPr sz="1000" spc="5" dirty="0">
                <a:latin typeface="Trebuchet MS"/>
                <a:cs typeface="Trebuchet MS"/>
              </a:rPr>
              <a:t>of </a:t>
            </a:r>
            <a:r>
              <a:rPr sz="1000" spc="-5" dirty="0">
                <a:latin typeface="Trebuchet MS"/>
                <a:cs typeface="Trebuchet MS"/>
              </a:rPr>
              <a:t>inventory </a:t>
            </a:r>
            <a:r>
              <a:rPr sz="1000" spc="-10" dirty="0">
                <a:latin typeface="Trebuchet MS"/>
                <a:cs typeface="Trebuchet MS"/>
              </a:rPr>
              <a:t>management </a:t>
            </a:r>
            <a:r>
              <a:rPr sz="1000" spc="-5" dirty="0">
                <a:latin typeface="Trebuchet MS"/>
                <a:cs typeface="Trebuchet MS"/>
              </a:rPr>
              <a:t>is to </a:t>
            </a:r>
            <a:r>
              <a:rPr sz="1000" spc="-10" dirty="0">
                <a:latin typeface="Trebuchet MS"/>
                <a:cs typeface="Trebuchet MS"/>
              </a:rPr>
              <a:t>achieve  </a:t>
            </a:r>
            <a:r>
              <a:rPr sz="1000" b="1" spc="-5" dirty="0">
                <a:solidFill>
                  <a:srgbClr val="568279"/>
                </a:solidFill>
                <a:latin typeface="Trebuchet MS"/>
                <a:cs typeface="Trebuchet MS"/>
              </a:rPr>
              <a:t>satisfactory </a:t>
            </a:r>
            <a:r>
              <a:rPr sz="1000" b="1" spc="-10" dirty="0">
                <a:solidFill>
                  <a:srgbClr val="568279"/>
                </a:solidFill>
                <a:latin typeface="Trebuchet MS"/>
                <a:cs typeface="Trebuchet MS"/>
              </a:rPr>
              <a:t>levels </a:t>
            </a:r>
            <a:r>
              <a:rPr sz="1000" b="1" spc="-5" dirty="0">
                <a:solidFill>
                  <a:srgbClr val="568279"/>
                </a:solidFill>
                <a:latin typeface="Trebuchet MS"/>
                <a:cs typeface="Trebuchet MS"/>
              </a:rPr>
              <a:t>of customer </a:t>
            </a:r>
            <a:r>
              <a:rPr sz="1000" b="1" dirty="0">
                <a:solidFill>
                  <a:srgbClr val="568279"/>
                </a:solidFill>
                <a:latin typeface="Trebuchet MS"/>
                <a:cs typeface="Trebuchet MS"/>
              </a:rPr>
              <a:t>service </a:t>
            </a:r>
            <a:r>
              <a:rPr sz="1000" spc="-5" dirty="0">
                <a:latin typeface="Trebuchet MS"/>
                <a:cs typeface="Trebuchet MS"/>
              </a:rPr>
              <a:t>while keeping </a:t>
            </a:r>
            <a:r>
              <a:rPr sz="1000" b="1" spc="-5" dirty="0">
                <a:solidFill>
                  <a:srgbClr val="568279"/>
                </a:solidFill>
                <a:latin typeface="Trebuchet MS"/>
                <a:cs typeface="Trebuchet MS"/>
              </a:rPr>
              <a:t>inventory  costs within reasonable</a:t>
            </a:r>
            <a:r>
              <a:rPr sz="1000" b="1" spc="40" dirty="0">
                <a:solidFill>
                  <a:srgbClr val="568279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568279"/>
                </a:solidFill>
                <a:latin typeface="Trebuchet MS"/>
                <a:cs typeface="Trebuchet MS"/>
              </a:rPr>
              <a:t>bounds</a:t>
            </a:r>
            <a:r>
              <a:rPr sz="1000" spc="-5" dirty="0">
                <a:latin typeface="Trebuchet MS"/>
                <a:cs typeface="Trebuchet MS"/>
              </a:rPr>
              <a:t>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4679" y="2136426"/>
            <a:ext cx="59436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5" dirty="0">
                <a:latin typeface="Trebuchet MS"/>
                <a:cs typeface="Trebuchet MS"/>
              </a:rPr>
              <a:t>The</a:t>
            </a:r>
            <a:r>
              <a:rPr sz="900" spc="-65" dirty="0">
                <a:latin typeface="Trebuchet MS"/>
                <a:cs typeface="Trebuchet MS"/>
              </a:rPr>
              <a:t> </a:t>
            </a:r>
            <a:r>
              <a:rPr sz="900" b="1" i="1" spc="-5" dirty="0">
                <a:latin typeface="Trebuchet MS"/>
                <a:cs typeface="Trebuchet MS"/>
              </a:rPr>
              <a:t>timing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07793" y="1764823"/>
            <a:ext cx="870203" cy="11262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848861" y="2136426"/>
            <a:ext cx="73787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i="1" spc="-5" dirty="0">
                <a:latin typeface="Trebuchet MS"/>
                <a:cs typeface="Trebuchet MS"/>
              </a:rPr>
              <a:t>Size </a:t>
            </a:r>
            <a:r>
              <a:rPr sz="900" spc="-5" dirty="0">
                <a:latin typeface="Trebuchet MS"/>
                <a:cs typeface="Trebuchet MS"/>
              </a:rPr>
              <a:t>of</a:t>
            </a:r>
            <a:r>
              <a:rPr sz="900" spc="-55" dirty="0">
                <a:latin typeface="Trebuchet MS"/>
                <a:cs typeface="Trebuchet MS"/>
              </a:rPr>
              <a:t> </a:t>
            </a:r>
            <a:r>
              <a:rPr sz="900" spc="-5" dirty="0">
                <a:latin typeface="Trebuchet MS"/>
                <a:cs typeface="Trebuchet MS"/>
              </a:rPr>
              <a:t>orders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E38036-A818-5655-D7C3-F8D160575E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55473" y="542830"/>
            <a:ext cx="1633474" cy="1882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48673" y="547300"/>
            <a:ext cx="500704" cy="5833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9599" y="775190"/>
            <a:ext cx="4352925" cy="211010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85725" indent="-73660">
              <a:spcBef>
                <a:spcPts val="495"/>
              </a:spcBef>
              <a:buClr>
                <a:srgbClr val="548AB8"/>
              </a:buClr>
              <a:buSzPct val="84210"/>
              <a:buFont typeface="Wingdings"/>
              <a:buChar char=""/>
              <a:tabLst>
                <a:tab pos="86360" algn="l"/>
              </a:tabLst>
            </a:pPr>
            <a:r>
              <a:rPr sz="950" b="1" spc="-5" dirty="0">
                <a:latin typeface="Trebuchet MS"/>
                <a:cs typeface="Trebuchet MS"/>
              </a:rPr>
              <a:t>Holding (carrying)</a:t>
            </a:r>
            <a:r>
              <a:rPr sz="950" b="1" dirty="0">
                <a:latin typeface="Trebuchet MS"/>
                <a:cs typeface="Trebuchet MS"/>
              </a:rPr>
              <a:t> </a:t>
            </a:r>
            <a:r>
              <a:rPr sz="950" b="1" spc="-5" dirty="0">
                <a:latin typeface="Trebuchet MS"/>
                <a:cs typeface="Trebuchet MS"/>
              </a:rPr>
              <a:t>cost</a:t>
            </a:r>
            <a:endParaRPr sz="950" dirty="0">
              <a:latin typeface="Trebuchet MS"/>
              <a:cs typeface="Trebuchet MS"/>
            </a:endParaRPr>
          </a:p>
          <a:p>
            <a:pPr marL="12700">
              <a:spcBef>
                <a:spcPts val="395"/>
              </a:spcBef>
            </a:pPr>
            <a:r>
              <a:rPr sz="950" spc="-5" dirty="0">
                <a:latin typeface="Trebuchet MS"/>
                <a:cs typeface="Trebuchet MS"/>
              </a:rPr>
              <a:t>Cost to carry </a:t>
            </a:r>
            <a:r>
              <a:rPr sz="950" dirty="0">
                <a:latin typeface="Trebuchet MS"/>
                <a:cs typeface="Trebuchet MS"/>
              </a:rPr>
              <a:t>an </a:t>
            </a:r>
            <a:r>
              <a:rPr sz="950" spc="-5" dirty="0">
                <a:latin typeface="Trebuchet MS"/>
                <a:cs typeface="Trebuchet MS"/>
              </a:rPr>
              <a:t>item </a:t>
            </a:r>
            <a:r>
              <a:rPr sz="950" dirty="0">
                <a:latin typeface="Trebuchet MS"/>
                <a:cs typeface="Trebuchet MS"/>
              </a:rPr>
              <a:t>in </a:t>
            </a:r>
            <a:r>
              <a:rPr sz="950" spc="-5" dirty="0">
                <a:latin typeface="Trebuchet MS"/>
                <a:cs typeface="Trebuchet MS"/>
              </a:rPr>
              <a:t>inventory for a </a:t>
            </a:r>
            <a:r>
              <a:rPr sz="950" spc="-10" dirty="0">
                <a:latin typeface="Trebuchet MS"/>
                <a:cs typeface="Trebuchet MS"/>
              </a:rPr>
              <a:t>length </a:t>
            </a:r>
            <a:r>
              <a:rPr sz="950" spc="-5" dirty="0">
                <a:latin typeface="Trebuchet MS"/>
                <a:cs typeface="Trebuchet MS"/>
              </a:rPr>
              <a:t>of time</a:t>
            </a:r>
            <a:r>
              <a:rPr sz="950" spc="-30" dirty="0">
                <a:latin typeface="Trebuchet MS"/>
                <a:cs typeface="Trebuchet MS"/>
              </a:rPr>
              <a:t>.</a:t>
            </a:r>
            <a:endParaRPr sz="950" dirty="0">
              <a:latin typeface="Trebuchet MS"/>
              <a:cs typeface="Trebuchet MS"/>
            </a:endParaRPr>
          </a:p>
          <a:p>
            <a:pPr marL="85725" indent="-73660">
              <a:spcBef>
                <a:spcPts val="385"/>
              </a:spcBef>
              <a:buClr>
                <a:srgbClr val="548AB8"/>
              </a:buClr>
              <a:buSzPct val="84210"/>
              <a:buFont typeface="Wingdings"/>
              <a:buChar char=""/>
              <a:tabLst>
                <a:tab pos="86360" algn="l"/>
              </a:tabLst>
            </a:pPr>
            <a:r>
              <a:rPr sz="950" b="1" spc="-5" dirty="0">
                <a:latin typeface="Trebuchet MS"/>
                <a:cs typeface="Trebuchet MS"/>
              </a:rPr>
              <a:t>Ordering</a:t>
            </a:r>
            <a:r>
              <a:rPr sz="950" b="1" spc="-20" dirty="0">
                <a:latin typeface="Trebuchet MS"/>
                <a:cs typeface="Trebuchet MS"/>
              </a:rPr>
              <a:t> </a:t>
            </a:r>
            <a:r>
              <a:rPr sz="950" b="1" spc="-5" dirty="0">
                <a:latin typeface="Trebuchet MS"/>
                <a:cs typeface="Trebuchet MS"/>
              </a:rPr>
              <a:t>costs</a:t>
            </a:r>
            <a:endParaRPr sz="950" dirty="0">
              <a:latin typeface="Trebuchet MS"/>
              <a:cs typeface="Trebuchet MS"/>
            </a:endParaRPr>
          </a:p>
          <a:p>
            <a:pPr marL="12700">
              <a:spcBef>
                <a:spcPts val="385"/>
              </a:spcBef>
            </a:pPr>
            <a:r>
              <a:rPr sz="950" spc="-5" dirty="0">
                <a:latin typeface="Trebuchet MS"/>
                <a:cs typeface="Trebuchet MS"/>
              </a:rPr>
              <a:t>Costs of ordering and receiving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inventory.</a:t>
            </a:r>
            <a:endParaRPr sz="950" dirty="0">
              <a:latin typeface="Trebuchet MS"/>
              <a:cs typeface="Trebuchet MS"/>
            </a:endParaRPr>
          </a:p>
          <a:p>
            <a:pPr marL="85725" indent="-73660">
              <a:spcBef>
                <a:spcPts val="385"/>
              </a:spcBef>
              <a:buClr>
                <a:srgbClr val="548AB8"/>
              </a:buClr>
              <a:buSzPct val="84210"/>
              <a:buFont typeface="Wingdings"/>
              <a:buChar char=""/>
              <a:tabLst>
                <a:tab pos="86360" algn="l"/>
              </a:tabLst>
            </a:pPr>
            <a:r>
              <a:rPr sz="950" b="1" spc="-5" dirty="0">
                <a:latin typeface="Trebuchet MS"/>
                <a:cs typeface="Trebuchet MS"/>
              </a:rPr>
              <a:t>Setup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spc="-5" dirty="0">
                <a:latin typeface="Trebuchet MS"/>
                <a:cs typeface="Trebuchet MS"/>
              </a:rPr>
              <a:t>costs</a:t>
            </a:r>
            <a:endParaRPr sz="950" dirty="0">
              <a:latin typeface="Trebuchet MS"/>
              <a:cs typeface="Trebuchet MS"/>
            </a:endParaRPr>
          </a:p>
          <a:p>
            <a:pPr marL="12700">
              <a:spcBef>
                <a:spcPts val="385"/>
              </a:spcBef>
            </a:pPr>
            <a:r>
              <a:rPr sz="950" spc="-5" dirty="0">
                <a:latin typeface="Trebuchet MS"/>
                <a:cs typeface="Trebuchet MS"/>
              </a:rPr>
              <a:t>The costs involved </a:t>
            </a:r>
            <a:r>
              <a:rPr sz="950" dirty="0">
                <a:latin typeface="Trebuchet MS"/>
                <a:cs typeface="Trebuchet MS"/>
              </a:rPr>
              <a:t>in </a:t>
            </a:r>
            <a:r>
              <a:rPr sz="950" spc="-5" dirty="0">
                <a:latin typeface="Trebuchet MS"/>
                <a:cs typeface="Trebuchet MS"/>
              </a:rPr>
              <a:t>preparing equipment for a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job.</a:t>
            </a:r>
            <a:endParaRPr sz="950" dirty="0">
              <a:latin typeface="Trebuchet MS"/>
              <a:cs typeface="Trebuchet MS"/>
            </a:endParaRPr>
          </a:p>
          <a:p>
            <a:pPr marL="85725" indent="-73660">
              <a:spcBef>
                <a:spcPts val="385"/>
              </a:spcBef>
              <a:buClr>
                <a:srgbClr val="548AB8"/>
              </a:buClr>
              <a:buSzPct val="84210"/>
              <a:buFont typeface="Wingdings"/>
              <a:buChar char=""/>
              <a:tabLst>
                <a:tab pos="86360" algn="l"/>
              </a:tabLst>
            </a:pPr>
            <a:r>
              <a:rPr sz="950" b="1" spc="-5" dirty="0">
                <a:latin typeface="Trebuchet MS"/>
                <a:cs typeface="Trebuchet MS"/>
              </a:rPr>
              <a:t>Shortage costs</a:t>
            </a:r>
            <a:endParaRPr sz="950" dirty="0">
              <a:latin typeface="Trebuchet MS"/>
              <a:cs typeface="Trebuchet MS"/>
            </a:endParaRPr>
          </a:p>
          <a:p>
            <a:pPr marL="12700" marR="5080">
              <a:lnSpc>
                <a:spcPts val="1019"/>
              </a:lnSpc>
              <a:spcBef>
                <a:spcPts val="530"/>
              </a:spcBef>
            </a:pPr>
            <a:r>
              <a:rPr sz="950" spc="-5" dirty="0">
                <a:latin typeface="Trebuchet MS"/>
                <a:cs typeface="Trebuchet MS"/>
              </a:rPr>
              <a:t>Costs resulting when demand exceeds the supply of inventory; often unrealized  profit per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unit.</a:t>
            </a:r>
            <a:endParaRPr sz="950" dirty="0">
              <a:latin typeface="Trebuchet MS"/>
              <a:cs typeface="Trebuchet MS"/>
            </a:endParaRPr>
          </a:p>
          <a:p>
            <a:pPr marL="12700">
              <a:spcBef>
                <a:spcPts val="835"/>
              </a:spcBef>
            </a:pPr>
            <a:r>
              <a:rPr sz="950" b="1" spc="-5" dirty="0">
                <a:latin typeface="Trebuchet MS"/>
                <a:cs typeface="Trebuchet MS"/>
              </a:rPr>
              <a:t>**Lead time: </a:t>
            </a:r>
            <a:r>
              <a:rPr sz="950" spc="-10" dirty="0">
                <a:latin typeface="Trebuchet MS"/>
                <a:cs typeface="Trebuchet MS"/>
              </a:rPr>
              <a:t>Time </a:t>
            </a:r>
            <a:r>
              <a:rPr sz="950" spc="-5" dirty="0">
                <a:latin typeface="Trebuchet MS"/>
                <a:cs typeface="Trebuchet MS"/>
              </a:rPr>
              <a:t>interval </a:t>
            </a:r>
            <a:r>
              <a:rPr sz="950" spc="-10" dirty="0">
                <a:latin typeface="Trebuchet MS"/>
                <a:cs typeface="Trebuchet MS"/>
              </a:rPr>
              <a:t>between </a:t>
            </a:r>
            <a:r>
              <a:rPr sz="950" spc="-5" dirty="0">
                <a:latin typeface="Trebuchet MS"/>
                <a:cs typeface="Trebuchet MS"/>
              </a:rPr>
              <a:t>ordering and receiving 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order.</a:t>
            </a:r>
            <a:endParaRPr sz="950" dirty="0">
              <a:latin typeface="Trebuchet MS"/>
              <a:cs typeface="Trebuchet MS"/>
            </a:endParaRPr>
          </a:p>
          <a:p>
            <a:pPr marR="8255" algn="r">
              <a:spcBef>
                <a:spcPts val="505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endParaRPr sz="55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8656A2-2633-D3D7-EA88-50934ECE22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53440" y="641001"/>
            <a:ext cx="2490978" cy="222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6133" y="1026954"/>
            <a:ext cx="4367530" cy="169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365">
              <a:spcBef>
                <a:spcPts val="100"/>
              </a:spcBef>
            </a:pPr>
            <a:r>
              <a:rPr sz="1200" b="1" spc="-5" dirty="0">
                <a:solidFill>
                  <a:srgbClr val="568279"/>
                </a:solidFill>
                <a:latin typeface="Trebuchet MS"/>
                <a:cs typeface="Trebuchet MS"/>
              </a:rPr>
              <a:t>ABC</a:t>
            </a:r>
            <a:r>
              <a:rPr sz="1200" b="1" spc="-70" dirty="0">
                <a:solidFill>
                  <a:srgbClr val="568279"/>
                </a:solidFill>
                <a:latin typeface="Trebuchet MS"/>
                <a:cs typeface="Trebuchet MS"/>
              </a:rPr>
              <a:t> </a:t>
            </a:r>
            <a:r>
              <a:rPr sz="1200" b="1" spc="-5" dirty="0">
                <a:solidFill>
                  <a:srgbClr val="568279"/>
                </a:solidFill>
                <a:latin typeface="Trebuchet MS"/>
                <a:cs typeface="Trebuchet MS"/>
              </a:rPr>
              <a:t>Analysis</a:t>
            </a:r>
            <a:endParaRPr sz="1200">
              <a:latin typeface="Trebuchet MS"/>
              <a:cs typeface="Trebuchet MS"/>
            </a:endParaRPr>
          </a:p>
          <a:p>
            <a:pPr marL="85725" marR="5080" indent="-73660" algn="just">
              <a:lnSpc>
                <a:spcPct val="149700"/>
              </a:lnSpc>
              <a:spcBef>
                <a:spcPts val="955"/>
              </a:spcBef>
              <a:buClr>
                <a:srgbClr val="548AB8"/>
              </a:buClr>
              <a:buSzPct val="84210"/>
              <a:buFont typeface="Wingdings"/>
              <a:buChar char=""/>
              <a:tabLst>
                <a:tab pos="86360" algn="l"/>
              </a:tabLst>
            </a:pPr>
            <a:r>
              <a:rPr sz="950" spc="-5" dirty="0">
                <a:latin typeface="Trebuchet MS"/>
                <a:cs typeface="Trebuchet MS"/>
              </a:rPr>
              <a:t>Classifies inventory items according to some measure </a:t>
            </a:r>
            <a:r>
              <a:rPr sz="950" dirty="0">
                <a:latin typeface="Trebuchet MS"/>
                <a:cs typeface="Trebuchet MS"/>
              </a:rPr>
              <a:t>of </a:t>
            </a:r>
            <a:r>
              <a:rPr sz="950" spc="-5" dirty="0">
                <a:latin typeface="Trebuchet MS"/>
                <a:cs typeface="Trebuchet MS"/>
              </a:rPr>
              <a:t>importance and </a:t>
            </a:r>
            <a:r>
              <a:rPr sz="950" spc="-10" dirty="0">
                <a:latin typeface="Trebuchet MS"/>
                <a:cs typeface="Trebuchet MS"/>
              </a:rPr>
              <a:t>then  </a:t>
            </a:r>
            <a:r>
              <a:rPr sz="950" spc="-5" dirty="0">
                <a:latin typeface="Trebuchet MS"/>
                <a:cs typeface="Trebuchet MS"/>
              </a:rPr>
              <a:t>allocates </a:t>
            </a:r>
            <a:r>
              <a:rPr sz="950" spc="-10" dirty="0">
                <a:latin typeface="Trebuchet MS"/>
                <a:cs typeface="Trebuchet MS"/>
              </a:rPr>
              <a:t>control </a:t>
            </a:r>
            <a:r>
              <a:rPr sz="950" spc="-5" dirty="0">
                <a:latin typeface="Trebuchet MS"/>
                <a:cs typeface="Trebuchet MS"/>
              </a:rPr>
              <a:t>efforts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15" dirty="0">
                <a:latin typeface="Trebuchet MS"/>
                <a:cs typeface="Trebuchet MS"/>
              </a:rPr>
              <a:t>accordingly.</a:t>
            </a:r>
            <a:endParaRPr sz="950">
              <a:latin typeface="Trebuchet MS"/>
              <a:cs typeface="Trebuchet MS"/>
            </a:endParaRPr>
          </a:p>
          <a:p>
            <a:pPr marL="85725" marR="6985" indent="-73660" algn="just">
              <a:lnSpc>
                <a:spcPct val="149800"/>
              </a:lnSpc>
              <a:spcBef>
                <a:spcPts val="509"/>
              </a:spcBef>
              <a:buClr>
                <a:srgbClr val="548AB8"/>
              </a:buClr>
              <a:buSzPct val="84210"/>
              <a:buFont typeface="Wingdings"/>
              <a:buChar char=""/>
              <a:tabLst>
                <a:tab pos="86360" algn="l"/>
              </a:tabLst>
            </a:pPr>
            <a:r>
              <a:rPr sz="950" spc="-5" dirty="0">
                <a:latin typeface="Trebuchet MS"/>
                <a:cs typeface="Trebuchet MS"/>
              </a:rPr>
              <a:t>The origin of ABC analysis </a:t>
            </a:r>
            <a:r>
              <a:rPr sz="950" dirty="0">
                <a:latin typeface="Trebuchet MS"/>
                <a:cs typeface="Trebuchet MS"/>
              </a:rPr>
              <a:t>is </a:t>
            </a:r>
            <a:r>
              <a:rPr sz="950" spc="-5" dirty="0">
                <a:latin typeface="Trebuchet MS"/>
                <a:cs typeface="Trebuchet MS"/>
              </a:rPr>
              <a:t>“</a:t>
            </a:r>
            <a:r>
              <a:rPr sz="950" i="1" spc="-5" dirty="0">
                <a:latin typeface="Trebuchet MS"/>
                <a:cs typeface="Trebuchet MS"/>
              </a:rPr>
              <a:t>The Pareto Principle” </a:t>
            </a:r>
            <a:r>
              <a:rPr sz="950" spc="-5" dirty="0">
                <a:latin typeface="Trebuchet MS"/>
                <a:cs typeface="Trebuchet MS"/>
              </a:rPr>
              <a:t>which </a:t>
            </a:r>
            <a:r>
              <a:rPr sz="950" dirty="0">
                <a:latin typeface="Trebuchet MS"/>
                <a:cs typeface="Trebuchet MS"/>
              </a:rPr>
              <a:t>is </a:t>
            </a:r>
            <a:r>
              <a:rPr sz="950" spc="-5" dirty="0">
                <a:latin typeface="Trebuchet MS"/>
                <a:cs typeface="Trebuchet MS"/>
              </a:rPr>
              <a:t>named after </a:t>
            </a:r>
            <a:r>
              <a:rPr sz="950" dirty="0">
                <a:latin typeface="Trebuchet MS"/>
                <a:cs typeface="Trebuchet MS"/>
              </a:rPr>
              <a:t>an  </a:t>
            </a:r>
            <a:r>
              <a:rPr sz="950" spc="-5" dirty="0">
                <a:latin typeface="Trebuchet MS"/>
                <a:cs typeface="Trebuchet MS"/>
              </a:rPr>
              <a:t>Italian economist Vilfredo </a:t>
            </a:r>
            <a:r>
              <a:rPr sz="950" spc="-10" dirty="0">
                <a:latin typeface="Trebuchet MS"/>
                <a:cs typeface="Trebuchet MS"/>
              </a:rPr>
              <a:t>Pareto, </a:t>
            </a:r>
            <a:r>
              <a:rPr sz="950" dirty="0">
                <a:latin typeface="Trebuchet MS"/>
                <a:cs typeface="Trebuchet MS"/>
              </a:rPr>
              <a:t>also </a:t>
            </a:r>
            <a:r>
              <a:rPr sz="950" spc="-5" dirty="0">
                <a:latin typeface="Trebuchet MS"/>
                <a:cs typeface="Trebuchet MS"/>
              </a:rPr>
              <a:t>called </a:t>
            </a:r>
            <a:r>
              <a:rPr sz="950" dirty="0">
                <a:latin typeface="Trebuchet MS"/>
                <a:cs typeface="Trebuchet MS"/>
              </a:rPr>
              <a:t>as </a:t>
            </a:r>
            <a:r>
              <a:rPr sz="950" spc="-5" dirty="0">
                <a:latin typeface="Trebuchet MS"/>
                <a:cs typeface="Trebuchet MS"/>
              </a:rPr>
              <a:t>80/20 rule. </a:t>
            </a:r>
            <a:r>
              <a:rPr sz="950" dirty="0">
                <a:latin typeface="Trebuchet MS"/>
                <a:cs typeface="Trebuchet MS"/>
              </a:rPr>
              <a:t>This </a:t>
            </a:r>
            <a:r>
              <a:rPr sz="950" spc="-5" dirty="0">
                <a:latin typeface="Trebuchet MS"/>
                <a:cs typeface="Trebuchet MS"/>
              </a:rPr>
              <a:t>principle  suggests that 80% of the </a:t>
            </a:r>
            <a:r>
              <a:rPr sz="950" dirty="0">
                <a:latin typeface="Trebuchet MS"/>
                <a:cs typeface="Trebuchet MS"/>
              </a:rPr>
              <a:t>total </a:t>
            </a:r>
            <a:r>
              <a:rPr sz="950" spc="-5" dirty="0">
                <a:latin typeface="Trebuchet MS"/>
                <a:cs typeface="Trebuchet MS"/>
              </a:rPr>
              <a:t>output </a:t>
            </a:r>
            <a:r>
              <a:rPr sz="950" dirty="0">
                <a:latin typeface="Trebuchet MS"/>
                <a:cs typeface="Trebuchet MS"/>
              </a:rPr>
              <a:t>is </a:t>
            </a:r>
            <a:r>
              <a:rPr sz="950" spc="-5" dirty="0">
                <a:latin typeface="Trebuchet MS"/>
                <a:cs typeface="Trebuchet MS"/>
              </a:rPr>
              <a:t>generated only by 20% of the valuable  efforts.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19626" y="2772950"/>
            <a:ext cx="6794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9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16B0F9-AF26-10E0-B93C-59456EEFAC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78080" y="713644"/>
            <a:ext cx="1554861" cy="2223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9942" y="1017302"/>
            <a:ext cx="1950085" cy="766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725" indent="-73660">
              <a:spcBef>
                <a:spcPts val="95"/>
              </a:spcBef>
              <a:buClr>
                <a:srgbClr val="548AB8"/>
              </a:buClr>
              <a:buSzPct val="85000"/>
              <a:buFont typeface="Wingdings"/>
              <a:buChar char=""/>
              <a:tabLst>
                <a:tab pos="86360" algn="l"/>
              </a:tabLst>
            </a:pPr>
            <a:r>
              <a:rPr sz="1000" spc="-35" dirty="0">
                <a:latin typeface="Trebuchet MS"/>
                <a:cs typeface="Trebuchet MS"/>
              </a:rPr>
              <a:t>Typically, </a:t>
            </a:r>
            <a:r>
              <a:rPr sz="1000" spc="-10" dirty="0">
                <a:latin typeface="Trebuchet MS"/>
                <a:cs typeface="Trebuchet MS"/>
              </a:rPr>
              <a:t>three </a:t>
            </a:r>
            <a:r>
              <a:rPr sz="1000" spc="-5" dirty="0">
                <a:latin typeface="Trebuchet MS"/>
                <a:cs typeface="Trebuchet MS"/>
              </a:rPr>
              <a:t>classes </a:t>
            </a:r>
            <a:r>
              <a:rPr sz="1000" dirty="0">
                <a:latin typeface="Trebuchet MS"/>
                <a:cs typeface="Trebuchet MS"/>
              </a:rPr>
              <a:t>of</a:t>
            </a:r>
            <a:r>
              <a:rPr sz="1000" spc="60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items:</a:t>
            </a:r>
            <a:endParaRPr sz="1000">
              <a:latin typeface="Trebuchet MS"/>
              <a:cs typeface="Trebuchet MS"/>
            </a:endParaRPr>
          </a:p>
          <a:p>
            <a:pPr>
              <a:spcBef>
                <a:spcPts val="45"/>
              </a:spcBef>
              <a:buClr>
                <a:srgbClr val="548AB8"/>
              </a:buClr>
              <a:buFont typeface="Wingdings"/>
              <a:buChar char=""/>
            </a:pPr>
            <a:endParaRPr sz="850">
              <a:latin typeface="Trebuchet MS"/>
              <a:cs typeface="Trebuchet MS"/>
            </a:endParaRPr>
          </a:p>
          <a:p>
            <a:pPr marL="358775" lvl="1" indent="-172720">
              <a:buClr>
                <a:srgbClr val="395650"/>
              </a:buClr>
              <a:buSzPct val="80000"/>
              <a:buFont typeface="Wingdings"/>
              <a:buChar char=""/>
              <a:tabLst>
                <a:tab pos="359410" algn="l"/>
              </a:tabLst>
            </a:pPr>
            <a:r>
              <a:rPr sz="1000" b="1" spc="-5" dirty="0">
                <a:latin typeface="Trebuchet MS"/>
                <a:cs typeface="Trebuchet MS"/>
              </a:rPr>
              <a:t>A </a:t>
            </a:r>
            <a:r>
              <a:rPr sz="1000" b="1" spc="-10" dirty="0">
                <a:latin typeface="Trebuchet MS"/>
                <a:cs typeface="Trebuchet MS"/>
              </a:rPr>
              <a:t>(very</a:t>
            </a:r>
            <a:r>
              <a:rPr sz="1000" b="1" spc="-55" dirty="0">
                <a:latin typeface="Trebuchet MS"/>
                <a:cs typeface="Trebuchet MS"/>
              </a:rPr>
              <a:t> </a:t>
            </a:r>
            <a:r>
              <a:rPr sz="1000" b="1" spc="-10" dirty="0">
                <a:latin typeface="Trebuchet MS"/>
                <a:cs typeface="Trebuchet MS"/>
              </a:rPr>
              <a:t>important)</a:t>
            </a:r>
            <a:endParaRPr sz="1000">
              <a:latin typeface="Trebuchet MS"/>
              <a:cs typeface="Trebuchet MS"/>
            </a:endParaRPr>
          </a:p>
          <a:p>
            <a:pPr marL="358775" lvl="1" indent="-172720">
              <a:spcBef>
                <a:spcPts val="5"/>
              </a:spcBef>
              <a:buClr>
                <a:srgbClr val="395650"/>
              </a:buClr>
              <a:buSzPct val="80000"/>
              <a:buFont typeface="Wingdings"/>
              <a:buChar char=""/>
              <a:tabLst>
                <a:tab pos="359410" algn="l"/>
              </a:tabLst>
            </a:pPr>
            <a:r>
              <a:rPr sz="1000" b="1" spc="-5" dirty="0">
                <a:latin typeface="Trebuchet MS"/>
                <a:cs typeface="Trebuchet MS"/>
              </a:rPr>
              <a:t>B </a:t>
            </a:r>
            <a:r>
              <a:rPr sz="1000" b="1" spc="-10" dirty="0">
                <a:latin typeface="Trebuchet MS"/>
                <a:cs typeface="Trebuchet MS"/>
              </a:rPr>
              <a:t>(moderately</a:t>
            </a:r>
            <a:r>
              <a:rPr sz="1000" b="1" spc="15" dirty="0">
                <a:latin typeface="Trebuchet MS"/>
                <a:cs typeface="Trebuchet MS"/>
              </a:rPr>
              <a:t> </a:t>
            </a:r>
            <a:r>
              <a:rPr sz="1000" b="1" spc="-10" dirty="0">
                <a:latin typeface="Trebuchet MS"/>
                <a:cs typeface="Trebuchet MS"/>
              </a:rPr>
              <a:t>important)</a:t>
            </a:r>
            <a:endParaRPr sz="1000">
              <a:latin typeface="Trebuchet MS"/>
              <a:cs typeface="Trebuchet MS"/>
            </a:endParaRPr>
          </a:p>
          <a:p>
            <a:pPr marL="358775" lvl="1" indent="-172720">
              <a:buClr>
                <a:srgbClr val="395650"/>
              </a:buClr>
              <a:buSzPct val="80000"/>
              <a:buFont typeface="Wingdings"/>
              <a:buChar char=""/>
              <a:tabLst>
                <a:tab pos="359410" algn="l"/>
              </a:tabLst>
            </a:pPr>
            <a:r>
              <a:rPr sz="1000" b="1" spc="-5" dirty="0">
                <a:latin typeface="Trebuchet MS"/>
                <a:cs typeface="Trebuchet MS"/>
              </a:rPr>
              <a:t>C </a:t>
            </a:r>
            <a:r>
              <a:rPr sz="1000" b="1" spc="-10" dirty="0">
                <a:latin typeface="Trebuchet MS"/>
                <a:cs typeface="Trebuchet MS"/>
              </a:rPr>
              <a:t>(least</a:t>
            </a:r>
            <a:r>
              <a:rPr sz="1000" b="1" spc="10" dirty="0">
                <a:latin typeface="Trebuchet MS"/>
                <a:cs typeface="Trebuchet MS"/>
              </a:rPr>
              <a:t> </a:t>
            </a:r>
            <a:r>
              <a:rPr sz="1000" b="1" spc="-10" dirty="0">
                <a:latin typeface="Trebuchet MS"/>
                <a:cs typeface="Trebuchet MS"/>
              </a:rPr>
              <a:t>important)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31365" y="1141507"/>
            <a:ext cx="1981189" cy="13974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40F2F-5D6B-B2F6-3176-3EFE75D606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11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6091" y="666908"/>
            <a:ext cx="1554861" cy="222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13279" y="1489107"/>
            <a:ext cx="2459990" cy="1144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0070">
              <a:spcBef>
                <a:spcPts val="95"/>
              </a:spcBef>
            </a:pPr>
            <a:r>
              <a:rPr sz="1000" b="1" spc="-5" dirty="0">
                <a:solidFill>
                  <a:srgbClr val="993300"/>
                </a:solidFill>
                <a:latin typeface="Trebuchet MS"/>
                <a:cs typeface="Trebuchet MS"/>
              </a:rPr>
              <a:t>s 60-70%</a:t>
            </a:r>
            <a:r>
              <a:rPr sz="1000" b="1" spc="15" dirty="0">
                <a:solidFill>
                  <a:srgbClr val="993300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993300"/>
                </a:solidFill>
                <a:latin typeface="Trebuchet MS"/>
                <a:cs typeface="Trebuchet MS"/>
              </a:rPr>
              <a:t>value</a:t>
            </a:r>
            <a:endParaRPr sz="1000">
              <a:latin typeface="Trebuchet MS"/>
              <a:cs typeface="Trebuchet MS"/>
            </a:endParaRPr>
          </a:p>
          <a:p>
            <a:pPr>
              <a:spcBef>
                <a:spcPts val="45"/>
              </a:spcBef>
            </a:pPr>
            <a:endParaRPr sz="1250">
              <a:latin typeface="Trebuchet MS"/>
              <a:cs typeface="Trebuchet MS"/>
            </a:endParaRPr>
          </a:p>
          <a:p>
            <a:pPr marL="630555">
              <a:spcBef>
                <a:spcPts val="5"/>
              </a:spcBef>
            </a:pPr>
            <a:r>
              <a:rPr sz="1000" b="1" spc="-5" dirty="0">
                <a:solidFill>
                  <a:srgbClr val="336600"/>
                </a:solidFill>
                <a:latin typeface="Trebuchet MS"/>
                <a:cs typeface="Trebuchet MS"/>
              </a:rPr>
              <a:t>ributes 20-30%</a:t>
            </a:r>
            <a:r>
              <a:rPr sz="1000" b="1" spc="15" dirty="0">
                <a:solidFill>
                  <a:srgbClr val="336600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336600"/>
                </a:solidFill>
                <a:latin typeface="Trebuchet MS"/>
                <a:cs typeface="Trebuchet MS"/>
              </a:rPr>
              <a:t>value</a:t>
            </a:r>
            <a:endParaRPr sz="1000">
              <a:latin typeface="Trebuchet MS"/>
              <a:cs typeface="Trebuchet MS"/>
            </a:endParaRPr>
          </a:p>
          <a:p>
            <a:pPr>
              <a:spcBef>
                <a:spcPts val="55"/>
              </a:spcBef>
            </a:pPr>
            <a:endParaRPr sz="1000">
              <a:latin typeface="Trebuchet MS"/>
              <a:cs typeface="Trebuchet MS"/>
            </a:endParaRPr>
          </a:p>
          <a:p>
            <a:pPr marL="579755"/>
            <a:r>
              <a:rPr sz="1000" b="1" spc="-5" dirty="0">
                <a:solidFill>
                  <a:srgbClr val="000099"/>
                </a:solidFill>
                <a:latin typeface="Trebuchet MS"/>
                <a:cs typeface="Trebuchet MS"/>
              </a:rPr>
              <a:t>0-70% contributes 5-10%</a:t>
            </a:r>
            <a:r>
              <a:rPr sz="1000" b="1" spc="-1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000099"/>
                </a:solidFill>
                <a:latin typeface="Trebuchet MS"/>
                <a:cs typeface="Trebuchet MS"/>
              </a:rPr>
              <a:t>value</a:t>
            </a:r>
            <a:endParaRPr sz="1000">
              <a:latin typeface="Trebuchet MS"/>
              <a:cs typeface="Trebuchet MS"/>
            </a:endParaRPr>
          </a:p>
          <a:p>
            <a:pPr>
              <a:spcBef>
                <a:spcPts val="25"/>
              </a:spcBef>
            </a:pPr>
            <a:endParaRPr sz="1200">
              <a:latin typeface="Trebuchet MS"/>
              <a:cs typeface="Trebuchet MS"/>
            </a:endParaRPr>
          </a:p>
          <a:p>
            <a:pPr marL="12700"/>
            <a:r>
              <a:rPr sz="900" b="1" spc="-5" dirty="0">
                <a:latin typeface="Trebuchet MS"/>
                <a:cs typeface="Trebuchet MS"/>
              </a:rPr>
              <a:t>Quantity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2366" y="1740067"/>
            <a:ext cx="138499" cy="254000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spcBef>
                <a:spcPts val="45"/>
              </a:spcBef>
            </a:pPr>
            <a:r>
              <a:rPr sz="900" b="1" dirty="0">
                <a:latin typeface="Trebuchet MS"/>
                <a:cs typeface="Trebuchet MS"/>
              </a:rPr>
              <a:t>C</a:t>
            </a:r>
            <a:r>
              <a:rPr sz="900" b="1" spc="-5" dirty="0">
                <a:latin typeface="Trebuchet MS"/>
                <a:cs typeface="Trebuchet MS"/>
              </a:rPr>
              <a:t>os</a:t>
            </a:r>
            <a:r>
              <a:rPr sz="900" b="1" dirty="0">
                <a:latin typeface="Trebuchet MS"/>
                <a:cs typeface="Trebuchet MS"/>
              </a:rPr>
              <a:t>t</a:t>
            </a:r>
            <a:endParaRPr sz="90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16293"/>
              </p:ext>
            </p:extLst>
          </p:nvPr>
        </p:nvGraphicFramePr>
        <p:xfrm>
          <a:off x="607823" y="1141508"/>
          <a:ext cx="2211577" cy="1298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980">
                <a:tc gridSpan="4"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99330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0000"/>
                      </a:solidFill>
                      <a:prstDash val="solid"/>
                    </a:lnR>
                    <a:lnB w="6350">
                      <a:solidFill>
                        <a:srgbClr val="3366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 marL="45720" marR="67310">
                        <a:lnSpc>
                          <a:spcPct val="100000"/>
                        </a:lnSpc>
                      </a:pPr>
                      <a:r>
                        <a:rPr sz="1000" b="1" spc="-5" dirty="0">
                          <a:solidFill>
                            <a:srgbClr val="993300"/>
                          </a:solidFill>
                          <a:latin typeface="Trebuchet MS"/>
                          <a:cs typeface="Trebuchet MS"/>
                        </a:rPr>
                        <a:t>Class A: 10-15%</a:t>
                      </a:r>
                      <a:r>
                        <a:rPr sz="1000" b="1" spc="-105" dirty="0">
                          <a:solidFill>
                            <a:srgbClr val="9933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1" spc="-5" dirty="0">
                          <a:solidFill>
                            <a:srgbClr val="993300"/>
                          </a:solidFill>
                          <a:latin typeface="Trebuchet MS"/>
                          <a:cs typeface="Trebuchet MS"/>
                        </a:rPr>
                        <a:t>contribute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6350">
                      <a:solidFill>
                        <a:srgbClr val="8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2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0000"/>
                      </a:solidFill>
                      <a:prstDash val="solid"/>
                    </a:lnR>
                    <a:lnT w="6350">
                      <a:solidFill>
                        <a:srgbClr val="336600"/>
                      </a:solidFill>
                      <a:prstDash val="solid"/>
                    </a:lnT>
                    <a:lnB w="6350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000" b="1" dirty="0">
                          <a:solidFill>
                            <a:srgbClr val="336600"/>
                          </a:solidFill>
                          <a:latin typeface="Trebuchet MS"/>
                          <a:cs typeface="Trebuchet MS"/>
                        </a:rPr>
                        <a:t>B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</a:txBody>
                  <a:tcPr marL="0" marR="0" marT="111125" marB="0">
                    <a:lnL w="6350">
                      <a:solidFill>
                        <a:srgbClr val="800000"/>
                      </a:solidFill>
                      <a:prstDash val="solid"/>
                    </a:lnL>
                    <a:lnR w="6350">
                      <a:solidFill>
                        <a:srgbClr val="336600"/>
                      </a:solidFill>
                      <a:prstDash val="solid"/>
                    </a:lnR>
                    <a:lnB w="6350">
                      <a:solidFill>
                        <a:srgbClr val="0000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000" b="1" spc="-5" dirty="0">
                          <a:solidFill>
                            <a:srgbClr val="336600"/>
                          </a:solidFill>
                          <a:latin typeface="Trebuchet MS"/>
                          <a:cs typeface="Trebuchet MS"/>
                        </a:rPr>
                        <a:t>Class </a:t>
                      </a:r>
                      <a:r>
                        <a:rPr sz="1000" b="1" spc="-10" dirty="0">
                          <a:solidFill>
                            <a:srgbClr val="336600"/>
                          </a:solidFill>
                          <a:latin typeface="Trebuchet MS"/>
                          <a:cs typeface="Trebuchet MS"/>
                        </a:rPr>
                        <a:t>B: </a:t>
                      </a:r>
                      <a:r>
                        <a:rPr sz="1000" b="1" spc="-5" dirty="0">
                          <a:solidFill>
                            <a:srgbClr val="336600"/>
                          </a:solidFill>
                          <a:latin typeface="Trebuchet MS"/>
                          <a:cs typeface="Trebuchet MS"/>
                        </a:rPr>
                        <a:t>20-30%</a:t>
                      </a:r>
                      <a:r>
                        <a:rPr sz="1000" b="1" spc="-35" dirty="0">
                          <a:solidFill>
                            <a:srgbClr val="3366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1" spc="-5" dirty="0">
                          <a:solidFill>
                            <a:srgbClr val="336600"/>
                          </a:solidFill>
                          <a:latin typeface="Trebuchet MS"/>
                          <a:cs typeface="Trebuchet MS"/>
                        </a:rPr>
                        <a:t>cont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</a:txBody>
                  <a:tcPr marL="0" marR="0" marT="80010" marB="0">
                    <a:lnL w="6350">
                      <a:solidFill>
                        <a:srgbClr val="3366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0000"/>
                      </a:solidFill>
                      <a:prstDash val="solid"/>
                    </a:lnR>
                    <a:lnT w="6350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0000"/>
                      </a:solidFill>
                      <a:prstDash val="solid"/>
                    </a:lnL>
                    <a:lnR w="6350">
                      <a:solidFill>
                        <a:srgbClr val="336600"/>
                      </a:solidFill>
                      <a:prstDash val="solid"/>
                    </a:lnR>
                    <a:lnT w="6350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000" b="1" dirty="0">
                          <a:solidFill>
                            <a:srgbClr val="000099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L w="6350">
                      <a:solidFill>
                        <a:srgbClr val="336600"/>
                      </a:solidFill>
                      <a:prstDash val="solid"/>
                    </a:lnL>
                    <a:lnR w="6350">
                      <a:solidFill>
                        <a:srgbClr val="000099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marR="4889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b="1" spc="-5" dirty="0">
                          <a:solidFill>
                            <a:srgbClr val="000099"/>
                          </a:solidFill>
                          <a:latin typeface="Trebuchet MS"/>
                          <a:cs typeface="Trebuchet MS"/>
                        </a:rPr>
                        <a:t>Class C:</a:t>
                      </a:r>
                      <a:r>
                        <a:rPr sz="1000" b="1" spc="-70" dirty="0">
                          <a:solidFill>
                            <a:srgbClr val="00009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b="1" spc="-5" dirty="0">
                          <a:solidFill>
                            <a:srgbClr val="000099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r>
                        <a:rPr lang="en-US" sz="1000" b="1" spc="-5" dirty="0">
                          <a:solidFill>
                            <a:srgbClr val="00009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99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67532C-CDB4-ABF9-F08A-B49EC18E8D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12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74015" y="429429"/>
            <a:ext cx="2841625" cy="222250"/>
            <a:chOff x="423926" y="418464"/>
            <a:chExt cx="2841625" cy="222250"/>
          </a:xfrm>
        </p:grpSpPr>
        <p:sp>
          <p:nvSpPr>
            <p:cNvPr id="10" name="object 10"/>
            <p:cNvSpPr/>
            <p:nvPr/>
          </p:nvSpPr>
          <p:spPr>
            <a:xfrm>
              <a:off x="423926" y="418464"/>
              <a:ext cx="2644267" cy="2222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82290" y="518002"/>
              <a:ext cx="67642" cy="246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72714" y="467613"/>
              <a:ext cx="92583" cy="12357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74014" y="638411"/>
            <a:ext cx="4080510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spcBef>
                <a:spcPts val="95"/>
              </a:spcBef>
            </a:pPr>
            <a:r>
              <a:rPr sz="950" spc="-5" dirty="0">
                <a:latin typeface="Trebuchet MS"/>
                <a:cs typeface="Trebuchet MS"/>
              </a:rPr>
              <a:t>A manager has obtained a list of unit costs and estimated annual demands  for </a:t>
            </a:r>
            <a:r>
              <a:rPr sz="950" dirty="0">
                <a:latin typeface="Trebuchet MS"/>
                <a:cs typeface="Trebuchet MS"/>
              </a:rPr>
              <a:t>10 </a:t>
            </a:r>
            <a:r>
              <a:rPr sz="950" spc="-5" dirty="0">
                <a:latin typeface="Trebuchet MS"/>
                <a:cs typeface="Trebuchet MS"/>
              </a:rPr>
              <a:t>inventory items and now wants </a:t>
            </a:r>
            <a:r>
              <a:rPr sz="950" dirty="0">
                <a:latin typeface="Trebuchet MS"/>
                <a:cs typeface="Trebuchet MS"/>
              </a:rPr>
              <a:t>to </a:t>
            </a:r>
            <a:r>
              <a:rPr sz="950" spc="-5" dirty="0">
                <a:latin typeface="Trebuchet MS"/>
                <a:cs typeface="Trebuchet MS"/>
              </a:rPr>
              <a:t>categorize the items on </a:t>
            </a:r>
            <a:r>
              <a:rPr sz="950" dirty="0">
                <a:latin typeface="Trebuchet MS"/>
                <a:cs typeface="Trebuchet MS"/>
              </a:rPr>
              <a:t>an </a:t>
            </a:r>
            <a:r>
              <a:rPr sz="950" spc="-5" dirty="0">
                <a:latin typeface="Trebuchet MS"/>
                <a:cs typeface="Trebuchet MS"/>
              </a:rPr>
              <a:t>A-B-C  basis.</a:t>
            </a:r>
            <a:endParaRPr sz="950" dirty="0">
              <a:latin typeface="Trebuchet MS"/>
              <a:cs typeface="Trebuchet MS"/>
            </a:endParaRPr>
          </a:p>
        </p:txBody>
      </p:sp>
      <p:sp>
        <p:nvSpPr>
          <p:cNvPr id="15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4400" y="992336"/>
            <a:ext cx="2743200" cy="1819834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914400" y="1239044"/>
            <a:ext cx="2743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14400" y="1391444"/>
            <a:ext cx="2743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914400" y="1543844"/>
            <a:ext cx="2743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914400" y="1696244"/>
            <a:ext cx="2743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914400" y="1848644"/>
            <a:ext cx="2743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914400" y="2001044"/>
            <a:ext cx="2743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914400" y="2153444"/>
            <a:ext cx="2743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914400" y="2305844"/>
            <a:ext cx="2743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914400" y="2458244"/>
            <a:ext cx="2743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914400" y="2610644"/>
            <a:ext cx="2743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57545" y="992337"/>
            <a:ext cx="838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6337" y="1002906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Annual Demand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7272" y="992974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Cost per unit(£)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543" y="1196375"/>
            <a:ext cx="10358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Boxes of Paperclip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098" y="1345408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Boxes of staples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928" y="1495000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Correcting fluid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928" y="1658585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Diaries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928" y="1806496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Erasers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1993" y="1963317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Notepads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1993" y="2099461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Pencils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1993" y="2264439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4928" y="2416838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Rulers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1993" y="2591270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Staplers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1876337" y="992336"/>
            <a:ext cx="0" cy="18198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2787272" y="992336"/>
            <a:ext cx="0" cy="18198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936900" y="1205710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21,000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5613" y="1349049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21133" y="1517606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16,000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6782" y="1661501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50,000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17932" y="1808674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15,000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5613" y="1951911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40,000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0372" y="2105054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80,000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17932" y="2267383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1,20,000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09171" y="2424204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15,000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16236" y="2591062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92752" y="1204425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0.50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96649" y="1346500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0.50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92191" y="1515006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1.50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92191" y="1666363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3.50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92191" y="1818322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0.10</a:t>
            </a:r>
            <a:endParaRPr lang="en-US" sz="900" dirty="0"/>
          </a:p>
        </p:txBody>
      </p:sp>
      <p:sp>
        <p:nvSpPr>
          <p:cNvPr id="69" name="TextBox 68"/>
          <p:cNvSpPr txBox="1"/>
          <p:nvPr/>
        </p:nvSpPr>
        <p:spPr>
          <a:xfrm>
            <a:off x="2796967" y="1966360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92191" y="2119258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0.03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96649" y="2271657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0.05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87272" y="2425054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0.25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93692" y="2601323"/>
            <a:ext cx="986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1.50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BD6FF1-080B-0802-8835-DEBAF7D6598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13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49160" y="477045"/>
            <a:ext cx="2841625" cy="222885"/>
            <a:chOff x="376427" y="411606"/>
            <a:chExt cx="2841625" cy="222885"/>
          </a:xfrm>
        </p:grpSpPr>
        <p:sp>
          <p:nvSpPr>
            <p:cNvPr id="10" name="object 10"/>
            <p:cNvSpPr/>
            <p:nvPr/>
          </p:nvSpPr>
          <p:spPr>
            <a:xfrm>
              <a:off x="376427" y="411606"/>
              <a:ext cx="2644267" cy="22237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34792" y="511144"/>
              <a:ext cx="67642" cy="246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25216" y="460882"/>
              <a:ext cx="92583" cy="1234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/>
          <a:srcRect l="742" t="4475" r="1639" b="3427"/>
          <a:stretch/>
        </p:blipFill>
        <p:spPr>
          <a:xfrm>
            <a:off x="762000" y="858044"/>
            <a:ext cx="3124200" cy="1905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D238C0-0AB2-6530-16D7-3072C963886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74015" y="491840"/>
            <a:ext cx="2841625" cy="222885"/>
            <a:chOff x="377952" y="411606"/>
            <a:chExt cx="2841625" cy="222885"/>
          </a:xfrm>
        </p:grpSpPr>
        <p:sp>
          <p:nvSpPr>
            <p:cNvPr id="10" name="object 10"/>
            <p:cNvSpPr/>
            <p:nvPr/>
          </p:nvSpPr>
          <p:spPr>
            <a:xfrm>
              <a:off x="377952" y="411606"/>
              <a:ext cx="2644267" cy="22237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36316" y="511144"/>
              <a:ext cx="67642" cy="246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26740" y="460882"/>
              <a:ext cx="92583" cy="1234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6"/>
          <a:srcRect l="1091" t="1710" r="2073" b="2148"/>
          <a:stretch/>
        </p:blipFill>
        <p:spPr>
          <a:xfrm>
            <a:off x="685800" y="781845"/>
            <a:ext cx="3352801" cy="2057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13FEED-B64F-D737-AA30-BF57A999B7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15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61934" y="553245"/>
            <a:ext cx="2841625" cy="222885"/>
            <a:chOff x="376427" y="411606"/>
            <a:chExt cx="2841625" cy="222885"/>
          </a:xfrm>
        </p:grpSpPr>
        <p:sp>
          <p:nvSpPr>
            <p:cNvPr id="10" name="object 10"/>
            <p:cNvSpPr/>
            <p:nvPr/>
          </p:nvSpPr>
          <p:spPr>
            <a:xfrm>
              <a:off x="376427" y="411606"/>
              <a:ext cx="2644267" cy="22237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34792" y="511144"/>
              <a:ext cx="67642" cy="246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25216" y="460882"/>
              <a:ext cx="92583" cy="1234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6"/>
          <a:srcRect l="2027" t="2605" r="706" b="3786"/>
          <a:stretch/>
        </p:blipFill>
        <p:spPr>
          <a:xfrm>
            <a:off x="609600" y="893378"/>
            <a:ext cx="3657600" cy="19812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7261BC-E742-F6FA-9A86-70012F1B85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53313" y="477045"/>
            <a:ext cx="2841625" cy="222885"/>
            <a:chOff x="377952" y="411606"/>
            <a:chExt cx="2841625" cy="222885"/>
          </a:xfrm>
        </p:grpSpPr>
        <p:sp>
          <p:nvSpPr>
            <p:cNvPr id="10" name="object 10"/>
            <p:cNvSpPr/>
            <p:nvPr/>
          </p:nvSpPr>
          <p:spPr>
            <a:xfrm>
              <a:off x="377952" y="411606"/>
              <a:ext cx="2644267" cy="22237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36316" y="511144"/>
              <a:ext cx="67642" cy="246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26740" y="460882"/>
              <a:ext cx="92583" cy="1234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6"/>
          <a:srcRect l="3788" t="1361" r="1768" b="2156"/>
          <a:stretch/>
        </p:blipFill>
        <p:spPr>
          <a:xfrm>
            <a:off x="236928" y="793960"/>
            <a:ext cx="3886200" cy="2057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9CDB78-B42E-5ACE-BDE2-F6AFD8B271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17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76697" y="527394"/>
            <a:ext cx="2841625" cy="222885"/>
            <a:chOff x="376427" y="411606"/>
            <a:chExt cx="2841625" cy="222885"/>
          </a:xfrm>
        </p:grpSpPr>
        <p:sp>
          <p:nvSpPr>
            <p:cNvPr id="10" name="object 10"/>
            <p:cNvSpPr/>
            <p:nvPr/>
          </p:nvSpPr>
          <p:spPr>
            <a:xfrm>
              <a:off x="376427" y="411606"/>
              <a:ext cx="2644267" cy="22237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34792" y="511144"/>
              <a:ext cx="67642" cy="246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25216" y="460882"/>
              <a:ext cx="92583" cy="1234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133375" y="1071654"/>
            <a:ext cx="1965266" cy="1257300"/>
            <a:chOff x="1158934" y="838199"/>
            <a:chExt cx="1965266" cy="1257300"/>
          </a:xfrm>
        </p:grpSpPr>
        <p:sp>
          <p:nvSpPr>
            <p:cNvPr id="14" name="object 14"/>
            <p:cNvSpPr/>
            <p:nvPr/>
          </p:nvSpPr>
          <p:spPr>
            <a:xfrm>
              <a:off x="1253960" y="838199"/>
              <a:ext cx="38100" cy="1257300"/>
            </a:xfrm>
            <a:custGeom>
              <a:avLst/>
              <a:gdLst/>
              <a:ahLst/>
              <a:cxnLst/>
              <a:rect l="l" t="t" r="r" b="b"/>
              <a:pathLst>
                <a:path w="38100" h="1257300">
                  <a:moveTo>
                    <a:pt x="23749" y="31750"/>
                  </a:moveTo>
                  <a:lnTo>
                    <a:pt x="14224" y="31750"/>
                  </a:lnTo>
                  <a:lnTo>
                    <a:pt x="14224" y="1257300"/>
                  </a:lnTo>
                  <a:lnTo>
                    <a:pt x="23749" y="1257300"/>
                  </a:lnTo>
                  <a:lnTo>
                    <a:pt x="23749" y="31750"/>
                  </a:lnTo>
                  <a:close/>
                </a:path>
                <a:path w="38100" h="1257300">
                  <a:moveTo>
                    <a:pt x="19050" y="0"/>
                  </a:moveTo>
                  <a:lnTo>
                    <a:pt x="0" y="38100"/>
                  </a:lnTo>
                  <a:lnTo>
                    <a:pt x="14224" y="38100"/>
                  </a:lnTo>
                  <a:lnTo>
                    <a:pt x="14224" y="31750"/>
                  </a:lnTo>
                  <a:lnTo>
                    <a:pt x="34925" y="31750"/>
                  </a:lnTo>
                  <a:lnTo>
                    <a:pt x="19050" y="0"/>
                  </a:lnTo>
                  <a:close/>
                </a:path>
                <a:path w="38100" h="1257300">
                  <a:moveTo>
                    <a:pt x="34925" y="31750"/>
                  </a:moveTo>
                  <a:lnTo>
                    <a:pt x="23749" y="31750"/>
                  </a:lnTo>
                  <a:lnTo>
                    <a:pt x="23749" y="38100"/>
                  </a:lnTo>
                  <a:lnTo>
                    <a:pt x="38100" y="38100"/>
                  </a:lnTo>
                  <a:lnTo>
                    <a:pt x="34925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8635" y="1206092"/>
              <a:ext cx="286004" cy="813207"/>
            </a:xfrm>
            <a:custGeom>
              <a:avLst/>
              <a:gdLst/>
              <a:ahLst/>
              <a:cxnLst/>
              <a:rect l="l" t="t" r="r" b="b"/>
              <a:pathLst>
                <a:path w="182880" h="647700">
                  <a:moveTo>
                    <a:pt x="18288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82880" y="647700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D7B1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64640" y="1599538"/>
              <a:ext cx="216916" cy="413202"/>
            </a:xfrm>
            <a:custGeom>
              <a:avLst/>
              <a:gdLst/>
              <a:ahLst/>
              <a:cxnLst/>
              <a:rect l="l" t="t" r="r" b="b"/>
              <a:pathLst>
                <a:path w="502919" h="495300">
                  <a:moveTo>
                    <a:pt x="502919" y="0"/>
                  </a:moveTo>
                  <a:lnTo>
                    <a:pt x="0" y="0"/>
                  </a:lnTo>
                  <a:lnTo>
                    <a:pt x="0" y="495300"/>
                  </a:lnTo>
                  <a:lnTo>
                    <a:pt x="502919" y="495300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7AA7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 flipV="1">
              <a:off x="1158934" y="1120181"/>
              <a:ext cx="104775" cy="65520"/>
            </a:xfrm>
            <a:custGeom>
              <a:avLst/>
              <a:gdLst/>
              <a:ahLst/>
              <a:cxnLst/>
              <a:rect l="l" t="t" r="r" b="b"/>
              <a:pathLst>
                <a:path w="114300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68792" y="1887663"/>
              <a:ext cx="862965" cy="131635"/>
            </a:xfrm>
            <a:custGeom>
              <a:avLst/>
              <a:gdLst/>
              <a:ahLst/>
              <a:cxnLst/>
              <a:rect l="l" t="t" r="r" b="b"/>
              <a:pathLst>
                <a:path w="862964" h="119380">
                  <a:moveTo>
                    <a:pt x="862584" y="0"/>
                  </a:moveTo>
                  <a:lnTo>
                    <a:pt x="0" y="0"/>
                  </a:lnTo>
                  <a:lnTo>
                    <a:pt x="0" y="118872"/>
                  </a:lnTo>
                  <a:lnTo>
                    <a:pt x="862584" y="118872"/>
                  </a:lnTo>
                  <a:lnTo>
                    <a:pt x="862584" y="0"/>
                  </a:lnTo>
                  <a:close/>
                </a:path>
              </a:pathLst>
            </a:custGeom>
            <a:solidFill>
              <a:srgbClr val="95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81100" y="2000249"/>
              <a:ext cx="1943100" cy="38100"/>
            </a:xfrm>
            <a:custGeom>
              <a:avLst/>
              <a:gdLst/>
              <a:ahLst/>
              <a:cxnLst/>
              <a:rect l="l" t="t" r="r" b="b"/>
              <a:pathLst>
                <a:path w="1943100" h="38100">
                  <a:moveTo>
                    <a:pt x="1905000" y="0"/>
                  </a:moveTo>
                  <a:lnTo>
                    <a:pt x="1905000" y="38100"/>
                  </a:lnTo>
                  <a:lnTo>
                    <a:pt x="1933702" y="23749"/>
                  </a:lnTo>
                  <a:lnTo>
                    <a:pt x="1911350" y="23749"/>
                  </a:lnTo>
                  <a:lnTo>
                    <a:pt x="1911350" y="14224"/>
                  </a:lnTo>
                  <a:lnTo>
                    <a:pt x="1933448" y="14224"/>
                  </a:lnTo>
                  <a:lnTo>
                    <a:pt x="1905000" y="0"/>
                  </a:lnTo>
                  <a:close/>
                </a:path>
                <a:path w="1943100" h="38100">
                  <a:moveTo>
                    <a:pt x="1905000" y="14224"/>
                  </a:moveTo>
                  <a:lnTo>
                    <a:pt x="0" y="14224"/>
                  </a:lnTo>
                  <a:lnTo>
                    <a:pt x="0" y="23749"/>
                  </a:lnTo>
                  <a:lnTo>
                    <a:pt x="1905000" y="23749"/>
                  </a:lnTo>
                  <a:lnTo>
                    <a:pt x="1905000" y="14224"/>
                  </a:lnTo>
                  <a:close/>
                </a:path>
                <a:path w="1943100" h="38100">
                  <a:moveTo>
                    <a:pt x="1933448" y="14224"/>
                  </a:moveTo>
                  <a:lnTo>
                    <a:pt x="1911350" y="14224"/>
                  </a:lnTo>
                  <a:lnTo>
                    <a:pt x="1911350" y="23749"/>
                  </a:lnTo>
                  <a:lnTo>
                    <a:pt x="1933702" y="23749"/>
                  </a:lnTo>
                  <a:lnTo>
                    <a:pt x="1943100" y="19050"/>
                  </a:lnTo>
                  <a:lnTo>
                    <a:pt x="1933448" y="14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26002" y="1042486"/>
            <a:ext cx="138499" cy="254000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spcBef>
                <a:spcPts val="45"/>
              </a:spcBef>
            </a:pPr>
            <a:r>
              <a:rPr sz="900" b="1" dirty="0">
                <a:latin typeface="Trebuchet MS"/>
                <a:cs typeface="Trebuchet MS"/>
              </a:rPr>
              <a:t>C</a:t>
            </a:r>
            <a:r>
              <a:rPr sz="900" b="1" spc="-5" dirty="0">
                <a:latin typeface="Trebuchet MS"/>
                <a:cs typeface="Trebuchet MS"/>
              </a:rPr>
              <a:t>os</a:t>
            </a:r>
            <a:r>
              <a:rPr sz="900" b="1" dirty="0">
                <a:latin typeface="Trebuchet MS"/>
                <a:cs typeface="Trebuchet MS"/>
              </a:rPr>
              <a:t>t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96417" y="1170311"/>
            <a:ext cx="38925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spc="-5" dirty="0">
                <a:solidFill>
                  <a:srgbClr val="355D7D"/>
                </a:solidFill>
                <a:latin typeface="Trebuchet MS"/>
                <a:cs typeface="Trebuchet MS"/>
              </a:rPr>
              <a:t>Class</a:t>
            </a:r>
            <a:r>
              <a:rPr sz="900" b="1" spc="-105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355D7D"/>
                </a:solidFill>
                <a:latin typeface="Trebuchet MS"/>
                <a:cs typeface="Trebuchet MS"/>
              </a:rPr>
              <a:t>A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85925" y="1571022"/>
            <a:ext cx="39116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spc="-5" dirty="0">
                <a:solidFill>
                  <a:srgbClr val="355D7D"/>
                </a:solidFill>
                <a:latin typeface="Trebuchet MS"/>
                <a:cs typeface="Trebuchet MS"/>
              </a:rPr>
              <a:t>Class</a:t>
            </a:r>
            <a:r>
              <a:rPr sz="900" b="1" spc="-6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355D7D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81606" y="1904524"/>
            <a:ext cx="39306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spc="-5" dirty="0">
                <a:solidFill>
                  <a:srgbClr val="355D7D"/>
                </a:solidFill>
                <a:latin typeface="Trebuchet MS"/>
                <a:cs typeface="Trebuchet MS"/>
              </a:rPr>
              <a:t>Class</a:t>
            </a:r>
            <a:r>
              <a:rPr sz="900" b="1" spc="-6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900" b="1" dirty="0">
                <a:solidFill>
                  <a:srgbClr val="355D7D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54585" y="2260666"/>
            <a:ext cx="542925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341630" algn="l"/>
              </a:tabLst>
            </a:pPr>
            <a:r>
              <a:rPr lang="en-US" sz="800" b="1" spc="-5" dirty="0">
                <a:latin typeface="Trebuchet MS"/>
                <a:cs typeface="Trebuchet MS"/>
              </a:rPr>
              <a:t>23</a:t>
            </a:r>
            <a:r>
              <a:rPr sz="800" b="1" dirty="0">
                <a:latin typeface="Trebuchet MS"/>
                <a:cs typeface="Trebuchet MS"/>
              </a:rPr>
              <a:t>%	</a:t>
            </a:r>
            <a:r>
              <a:rPr lang="en-US" sz="800" b="1" spc="-5" dirty="0">
                <a:latin typeface="Trebuchet MS"/>
                <a:cs typeface="Trebuchet MS"/>
              </a:rPr>
              <a:t>13</a:t>
            </a:r>
            <a:r>
              <a:rPr sz="800" b="1" spc="-5" dirty="0">
                <a:latin typeface="Trebuchet MS"/>
                <a:cs typeface="Trebuchet MS"/>
              </a:rPr>
              <a:t>%</a:t>
            </a:r>
            <a:endParaRPr sz="800" dirty="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75208" y="2267669"/>
            <a:ext cx="98361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508000" algn="l"/>
              </a:tabLst>
            </a:pPr>
            <a:r>
              <a:rPr sz="800" b="1" spc="-5" dirty="0">
                <a:latin typeface="Trebuchet MS"/>
                <a:cs typeface="Trebuchet MS"/>
              </a:rPr>
              <a:t>6</a:t>
            </a:r>
            <a:r>
              <a:rPr lang="en-US" sz="800" b="1" spc="-5" dirty="0">
                <a:latin typeface="Trebuchet MS"/>
                <a:cs typeface="Trebuchet MS"/>
              </a:rPr>
              <a:t>4</a:t>
            </a:r>
            <a:r>
              <a:rPr sz="800" b="1" spc="-5" dirty="0">
                <a:latin typeface="Trebuchet MS"/>
                <a:cs typeface="Trebuchet MS"/>
              </a:rPr>
              <a:t>%	</a:t>
            </a:r>
            <a:r>
              <a:rPr sz="900" b="1" spc="-5" dirty="0">
                <a:latin typeface="Trebuchet MS"/>
                <a:cs typeface="Trebuchet MS"/>
              </a:rPr>
              <a:t>Quantity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83407" y="1325508"/>
            <a:ext cx="14478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800" b="1" spc="-5" dirty="0">
                <a:latin typeface="Trebuchet MS"/>
                <a:cs typeface="Trebuchet MS"/>
              </a:rPr>
              <a:t>8</a:t>
            </a:r>
            <a:r>
              <a:rPr sz="800" b="1" spc="-5" dirty="0">
                <a:latin typeface="Trebuchet MS"/>
                <a:cs typeface="Trebuchet MS"/>
              </a:rPr>
              <a:t>0</a:t>
            </a:r>
            <a:endParaRPr sz="800" dirty="0">
              <a:latin typeface="Trebuchet MS"/>
              <a:cs typeface="Trebuchet MS"/>
            </a:endParaRPr>
          </a:p>
        </p:txBody>
      </p:sp>
      <p:sp>
        <p:nvSpPr>
          <p:cNvPr id="27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861EDB-4614-12BD-1A62-E84C636DA5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3111" y="656876"/>
            <a:ext cx="4255858" cy="185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4363" y="1063530"/>
            <a:ext cx="3677920" cy="97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5140">
              <a:spcBef>
                <a:spcPts val="100"/>
              </a:spcBef>
            </a:pPr>
            <a:r>
              <a:rPr sz="1100" b="1" i="1" dirty="0">
                <a:solidFill>
                  <a:srgbClr val="716868"/>
                </a:solidFill>
                <a:latin typeface="Trebuchet MS"/>
                <a:cs typeface="Trebuchet MS"/>
              </a:rPr>
              <a:t>Need </a:t>
            </a:r>
            <a:r>
              <a:rPr sz="1100" b="1" i="1" spc="-5" dirty="0">
                <a:solidFill>
                  <a:srgbClr val="716868"/>
                </a:solidFill>
                <a:latin typeface="Trebuchet MS"/>
                <a:cs typeface="Trebuchet MS"/>
              </a:rPr>
              <a:t>to </a:t>
            </a:r>
            <a:r>
              <a:rPr sz="1100" b="1" i="1" dirty="0">
                <a:solidFill>
                  <a:srgbClr val="716868"/>
                </a:solidFill>
                <a:latin typeface="Trebuchet MS"/>
                <a:cs typeface="Trebuchet MS"/>
              </a:rPr>
              <a:t>determine when and </a:t>
            </a:r>
            <a:r>
              <a:rPr sz="1100" b="1" i="1" spc="-5" dirty="0">
                <a:solidFill>
                  <a:srgbClr val="716868"/>
                </a:solidFill>
                <a:latin typeface="Trebuchet MS"/>
                <a:cs typeface="Trebuchet MS"/>
              </a:rPr>
              <a:t>how much to</a:t>
            </a:r>
            <a:r>
              <a:rPr sz="1100" b="1" i="1" spc="-145" dirty="0">
                <a:solidFill>
                  <a:srgbClr val="716868"/>
                </a:solidFill>
                <a:latin typeface="Trebuchet MS"/>
                <a:cs typeface="Trebuchet MS"/>
              </a:rPr>
              <a:t> </a:t>
            </a:r>
            <a:r>
              <a:rPr sz="1100" b="1" i="1" dirty="0">
                <a:solidFill>
                  <a:srgbClr val="716868"/>
                </a:solidFill>
                <a:latin typeface="Trebuchet MS"/>
                <a:cs typeface="Trebuchet MS"/>
              </a:rPr>
              <a:t>order</a:t>
            </a:r>
            <a:endParaRPr sz="11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00" dirty="0">
              <a:latin typeface="Trebuchet MS"/>
              <a:cs typeface="Trebuchet MS"/>
            </a:endParaRPr>
          </a:p>
          <a:p>
            <a:pPr marL="184785" indent="-172720">
              <a:spcBef>
                <a:spcPts val="1015"/>
              </a:spcBef>
              <a:buClr>
                <a:srgbClr val="548AB8"/>
              </a:buClr>
              <a:buFont typeface="Arial"/>
              <a:buChar char="•"/>
              <a:tabLst>
                <a:tab pos="184785" algn="l"/>
                <a:tab pos="185420" algn="l"/>
              </a:tabLst>
            </a:pPr>
            <a:r>
              <a:rPr sz="1000" b="1" spc="-5" dirty="0">
                <a:solidFill>
                  <a:srgbClr val="2C6C58"/>
                </a:solidFill>
                <a:latin typeface="Trebuchet MS"/>
                <a:cs typeface="Trebuchet MS"/>
              </a:rPr>
              <a:t>The basic economic order </a:t>
            </a:r>
            <a:r>
              <a:rPr sz="1000" b="1" spc="-10" dirty="0">
                <a:solidFill>
                  <a:srgbClr val="2C6C58"/>
                </a:solidFill>
                <a:latin typeface="Trebuchet MS"/>
                <a:cs typeface="Trebuchet MS"/>
              </a:rPr>
              <a:t>quantity</a:t>
            </a:r>
            <a:r>
              <a:rPr sz="1000" b="1" spc="60" dirty="0">
                <a:solidFill>
                  <a:srgbClr val="2C6C58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2C6C58"/>
                </a:solidFill>
                <a:latin typeface="Trebuchet MS"/>
                <a:cs typeface="Trebuchet MS"/>
              </a:rPr>
              <a:t>model</a:t>
            </a:r>
            <a:endParaRPr sz="1000" dirty="0">
              <a:latin typeface="Trebuchet MS"/>
              <a:cs typeface="Trebuchet MS"/>
            </a:endParaRPr>
          </a:p>
          <a:p>
            <a:pPr marL="184785" indent="-172720">
              <a:buClr>
                <a:srgbClr val="548AB8"/>
              </a:buClr>
              <a:buFont typeface="Arial"/>
              <a:buChar char="•"/>
              <a:tabLst>
                <a:tab pos="184785" algn="l"/>
                <a:tab pos="185420" algn="l"/>
              </a:tabLst>
            </a:pPr>
            <a:r>
              <a:rPr sz="1000" b="1" spc="-5" dirty="0">
                <a:solidFill>
                  <a:srgbClr val="2C6C58"/>
                </a:solidFill>
                <a:latin typeface="Trebuchet MS"/>
                <a:cs typeface="Trebuchet MS"/>
              </a:rPr>
              <a:t>The economic </a:t>
            </a:r>
            <a:r>
              <a:rPr sz="1000" b="1" spc="-10" dirty="0">
                <a:solidFill>
                  <a:srgbClr val="2C6C58"/>
                </a:solidFill>
                <a:latin typeface="Trebuchet MS"/>
                <a:cs typeface="Trebuchet MS"/>
              </a:rPr>
              <a:t>production quantity</a:t>
            </a:r>
            <a:r>
              <a:rPr sz="1000" b="1" spc="85" dirty="0">
                <a:solidFill>
                  <a:srgbClr val="2C6C58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2C6C58"/>
                </a:solidFill>
                <a:latin typeface="Trebuchet MS"/>
                <a:cs typeface="Trebuchet MS"/>
              </a:rPr>
              <a:t>model</a:t>
            </a:r>
            <a:endParaRPr sz="1000" dirty="0">
              <a:latin typeface="Trebuchet MS"/>
              <a:cs typeface="Trebuchet MS"/>
            </a:endParaRPr>
          </a:p>
          <a:p>
            <a:pPr marL="184785" indent="-172720">
              <a:buClr>
                <a:srgbClr val="548AB8"/>
              </a:buClr>
              <a:buFont typeface="Arial"/>
              <a:buChar char="•"/>
              <a:tabLst>
                <a:tab pos="184785" algn="l"/>
                <a:tab pos="185420" algn="l"/>
              </a:tabLst>
            </a:pPr>
            <a:r>
              <a:rPr sz="1000" b="1" spc="-5" dirty="0">
                <a:solidFill>
                  <a:srgbClr val="2C6C58"/>
                </a:solidFill>
                <a:latin typeface="Trebuchet MS"/>
                <a:cs typeface="Trebuchet MS"/>
              </a:rPr>
              <a:t>The </a:t>
            </a:r>
            <a:r>
              <a:rPr sz="1000" b="1" spc="-10" dirty="0">
                <a:solidFill>
                  <a:srgbClr val="2C6C58"/>
                </a:solidFill>
                <a:latin typeface="Trebuchet MS"/>
                <a:cs typeface="Trebuchet MS"/>
              </a:rPr>
              <a:t>quantity </a:t>
            </a:r>
            <a:r>
              <a:rPr sz="1000" b="1" spc="-5" dirty="0">
                <a:solidFill>
                  <a:srgbClr val="2C6C58"/>
                </a:solidFill>
                <a:latin typeface="Trebuchet MS"/>
                <a:cs typeface="Trebuchet MS"/>
              </a:rPr>
              <a:t>discount</a:t>
            </a:r>
            <a:r>
              <a:rPr sz="1000" b="1" spc="35" dirty="0">
                <a:solidFill>
                  <a:srgbClr val="2C6C58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2C6C58"/>
                </a:solidFill>
                <a:latin typeface="Trebuchet MS"/>
                <a:cs typeface="Trebuchet MS"/>
              </a:rPr>
              <a:t>model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1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426DDD-C3B3-BC3D-6B34-9B2C4AF1B5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70179" y="613720"/>
            <a:ext cx="3531870" cy="1971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91564" y="1989619"/>
            <a:ext cx="24384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dirty="0">
                <a:latin typeface="Trebuchet MS"/>
                <a:cs typeface="Trebuchet MS"/>
              </a:rPr>
              <a:t>ROP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05469" y="2305044"/>
            <a:ext cx="13906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spc="-80" dirty="0">
                <a:latin typeface="Trebuchet MS"/>
                <a:cs typeface="Trebuchet MS"/>
              </a:rPr>
              <a:t>LT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99842" y="2286565"/>
            <a:ext cx="28765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spc="-35" dirty="0">
                <a:latin typeface="Trebuchet MS"/>
                <a:cs typeface="Trebuchet MS"/>
              </a:rPr>
              <a:t>T</a:t>
            </a:r>
            <a:r>
              <a:rPr sz="900" b="1" spc="-5" dirty="0">
                <a:latin typeface="Trebuchet MS"/>
                <a:cs typeface="Trebuchet MS"/>
              </a:rPr>
              <a:t>i</a:t>
            </a:r>
            <a:r>
              <a:rPr sz="900" b="1" spc="-10" dirty="0">
                <a:latin typeface="Trebuchet MS"/>
                <a:cs typeface="Trebuchet MS"/>
              </a:rPr>
              <a:t>m</a:t>
            </a:r>
            <a:r>
              <a:rPr sz="900" b="1" dirty="0">
                <a:latin typeface="Trebuchet MS"/>
                <a:cs typeface="Trebuchet MS"/>
              </a:rPr>
              <a:t>e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3116" y="1220630"/>
            <a:ext cx="138499" cy="487680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spcBef>
                <a:spcPts val="45"/>
              </a:spcBef>
            </a:pPr>
            <a:r>
              <a:rPr sz="900" b="1" dirty="0">
                <a:latin typeface="Trebuchet MS"/>
                <a:cs typeface="Trebuchet MS"/>
              </a:rPr>
              <a:t>Q</a:t>
            </a:r>
            <a:r>
              <a:rPr sz="900" b="1" spc="-10" dirty="0">
                <a:latin typeface="Trebuchet MS"/>
                <a:cs typeface="Trebuchet MS"/>
              </a:rPr>
              <a:t>u</a:t>
            </a:r>
            <a:r>
              <a:rPr sz="900" b="1" dirty="0">
                <a:latin typeface="Trebuchet MS"/>
                <a:cs typeface="Trebuchet MS"/>
              </a:rPr>
              <a:t>ant</a:t>
            </a:r>
            <a:r>
              <a:rPr sz="900" b="1" spc="-5" dirty="0">
                <a:latin typeface="Trebuchet MS"/>
                <a:cs typeface="Trebuchet MS"/>
              </a:rPr>
              <a:t>i</a:t>
            </a:r>
            <a:r>
              <a:rPr sz="900" b="1" dirty="0">
                <a:latin typeface="Trebuchet MS"/>
                <a:cs typeface="Trebuchet MS"/>
              </a:rPr>
              <a:t>ty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578" y="1288192"/>
            <a:ext cx="164465" cy="327025"/>
          </a:xfrm>
          <a:custGeom>
            <a:avLst/>
            <a:gdLst/>
            <a:ahLst/>
            <a:cxnLst/>
            <a:rect l="l" t="t" r="r" b="b"/>
            <a:pathLst>
              <a:path w="164464" h="327025">
                <a:moveTo>
                  <a:pt x="0" y="298323"/>
                </a:moveTo>
                <a:lnTo>
                  <a:pt x="127" y="326771"/>
                </a:lnTo>
                <a:lnTo>
                  <a:pt x="19886" y="311784"/>
                </a:lnTo>
                <a:lnTo>
                  <a:pt x="12827" y="311784"/>
                </a:lnTo>
                <a:lnTo>
                  <a:pt x="4318" y="307594"/>
                </a:lnTo>
                <a:lnTo>
                  <a:pt x="7136" y="301871"/>
                </a:lnTo>
                <a:lnTo>
                  <a:pt x="0" y="298323"/>
                </a:lnTo>
                <a:close/>
              </a:path>
              <a:path w="164464" h="327025">
                <a:moveTo>
                  <a:pt x="7136" y="301871"/>
                </a:moveTo>
                <a:lnTo>
                  <a:pt x="4318" y="307594"/>
                </a:lnTo>
                <a:lnTo>
                  <a:pt x="12827" y="311784"/>
                </a:lnTo>
                <a:lnTo>
                  <a:pt x="15632" y="306095"/>
                </a:lnTo>
                <a:lnTo>
                  <a:pt x="7136" y="301871"/>
                </a:lnTo>
                <a:close/>
              </a:path>
              <a:path w="164464" h="327025">
                <a:moveTo>
                  <a:pt x="15632" y="306095"/>
                </a:moveTo>
                <a:lnTo>
                  <a:pt x="12827" y="311784"/>
                </a:lnTo>
                <a:lnTo>
                  <a:pt x="19886" y="311784"/>
                </a:lnTo>
                <a:lnTo>
                  <a:pt x="22733" y="309625"/>
                </a:lnTo>
                <a:lnTo>
                  <a:pt x="15632" y="306095"/>
                </a:lnTo>
                <a:close/>
              </a:path>
              <a:path w="164464" h="327025">
                <a:moveTo>
                  <a:pt x="155829" y="0"/>
                </a:moveTo>
                <a:lnTo>
                  <a:pt x="7136" y="301871"/>
                </a:lnTo>
                <a:lnTo>
                  <a:pt x="15632" y="306095"/>
                </a:lnTo>
                <a:lnTo>
                  <a:pt x="164465" y="4318"/>
                </a:lnTo>
                <a:lnTo>
                  <a:pt x="1558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927033" y="1121484"/>
            <a:ext cx="58991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dirty="0">
                <a:latin typeface="Trebuchet MS"/>
                <a:cs typeface="Trebuchet MS"/>
              </a:rPr>
              <a:t>Usage</a:t>
            </a:r>
            <a:r>
              <a:rPr sz="900" b="1" spc="-60" dirty="0">
                <a:latin typeface="Trebuchet MS"/>
                <a:cs typeface="Trebuchet MS"/>
              </a:rPr>
              <a:t> </a:t>
            </a:r>
            <a:r>
              <a:rPr sz="900" b="1" spc="-10" dirty="0">
                <a:latin typeface="Trebuchet MS"/>
                <a:cs typeface="Trebuchet MS"/>
              </a:rPr>
              <a:t>rate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69542" y="956842"/>
            <a:ext cx="539115" cy="30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spcBef>
                <a:spcPts val="100"/>
              </a:spcBef>
            </a:pPr>
            <a:r>
              <a:rPr sz="900" b="1" spc="-5" dirty="0">
                <a:latin typeface="Trebuchet MS"/>
                <a:cs typeface="Trebuchet MS"/>
              </a:rPr>
              <a:t>Maximum</a:t>
            </a:r>
            <a:endParaRPr sz="900" dirty="0">
              <a:latin typeface="Trebuchet MS"/>
              <a:cs typeface="Trebuchet MS"/>
            </a:endParaRPr>
          </a:p>
          <a:p>
            <a:pPr marL="12700">
              <a:spcBef>
                <a:spcPts val="5"/>
              </a:spcBef>
            </a:pPr>
            <a:r>
              <a:rPr sz="900" b="1" spc="-5" dirty="0">
                <a:latin typeface="Trebuchet MS"/>
                <a:cs typeface="Trebuchet MS"/>
              </a:rPr>
              <a:t>in</a:t>
            </a:r>
            <a:r>
              <a:rPr sz="900" b="1" dirty="0">
                <a:latin typeface="Trebuchet MS"/>
                <a:cs typeface="Trebuchet MS"/>
              </a:rPr>
              <a:t>ve</a:t>
            </a:r>
            <a:r>
              <a:rPr sz="900" b="1" spc="-5" dirty="0">
                <a:latin typeface="Trebuchet MS"/>
                <a:cs typeface="Trebuchet MS"/>
              </a:rPr>
              <a:t>n</a:t>
            </a:r>
            <a:r>
              <a:rPr sz="900" b="1" dirty="0">
                <a:latin typeface="Trebuchet MS"/>
                <a:cs typeface="Trebuchet MS"/>
              </a:rPr>
              <a:t>t</a:t>
            </a:r>
            <a:r>
              <a:rPr sz="900" b="1" spc="-10" dirty="0">
                <a:latin typeface="Trebuchet MS"/>
                <a:cs typeface="Trebuchet MS"/>
              </a:rPr>
              <a:t>o</a:t>
            </a:r>
            <a:r>
              <a:rPr sz="900" b="1" spc="-5" dirty="0">
                <a:latin typeface="Trebuchet MS"/>
                <a:cs typeface="Trebuchet MS"/>
              </a:rPr>
              <a:t>ry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74185" y="1221988"/>
            <a:ext cx="28511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dirty="0">
                <a:latin typeface="Trebuchet MS"/>
                <a:cs typeface="Trebuchet MS"/>
              </a:rPr>
              <a:t>l</a:t>
            </a:r>
            <a:r>
              <a:rPr sz="900" b="1" spc="-5" dirty="0">
                <a:latin typeface="Trebuchet MS"/>
                <a:cs typeface="Trebuchet MS"/>
              </a:rPr>
              <a:t>e</a:t>
            </a:r>
            <a:r>
              <a:rPr sz="900" b="1" dirty="0">
                <a:latin typeface="Trebuchet MS"/>
                <a:cs typeface="Trebuchet MS"/>
              </a:rPr>
              <a:t>vel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93405" y="1370358"/>
            <a:ext cx="154177" cy="1466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29791" y="2263436"/>
            <a:ext cx="5397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spcBef>
                <a:spcPts val="100"/>
              </a:spcBef>
            </a:pPr>
            <a:r>
              <a:rPr sz="900" b="1" spc="-5" dirty="0">
                <a:latin typeface="Trebuchet MS"/>
                <a:cs typeface="Trebuchet MS"/>
              </a:rPr>
              <a:t>Mini</a:t>
            </a:r>
            <a:r>
              <a:rPr sz="900" b="1" spc="-10" dirty="0">
                <a:latin typeface="Trebuchet MS"/>
                <a:cs typeface="Trebuchet MS"/>
              </a:rPr>
              <a:t>m</a:t>
            </a:r>
            <a:r>
              <a:rPr sz="900" b="1" spc="-5" dirty="0">
                <a:latin typeface="Trebuchet MS"/>
                <a:cs typeface="Trebuchet MS"/>
              </a:rPr>
              <a:t>u</a:t>
            </a:r>
            <a:r>
              <a:rPr sz="900" b="1" dirty="0">
                <a:latin typeface="Trebuchet MS"/>
                <a:cs typeface="Trebuchet MS"/>
              </a:rPr>
              <a:t>m  </a:t>
            </a:r>
            <a:r>
              <a:rPr sz="900" b="1" spc="-5" dirty="0">
                <a:latin typeface="Trebuchet MS"/>
                <a:cs typeface="Trebuchet MS"/>
              </a:rPr>
              <a:t>in</a:t>
            </a:r>
            <a:r>
              <a:rPr sz="900" b="1" dirty="0">
                <a:latin typeface="Trebuchet MS"/>
                <a:cs typeface="Trebuchet MS"/>
              </a:rPr>
              <a:t>v</a:t>
            </a:r>
            <a:r>
              <a:rPr sz="900" b="1" spc="-5" dirty="0">
                <a:latin typeface="Trebuchet MS"/>
                <a:cs typeface="Trebuchet MS"/>
              </a:rPr>
              <a:t>entory  level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253598" y="2242242"/>
            <a:ext cx="153923" cy="1256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882354" y="2191565"/>
            <a:ext cx="797560" cy="4337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>
              <a:spcBef>
                <a:spcPts val="265"/>
              </a:spcBef>
            </a:pPr>
            <a:r>
              <a:rPr sz="800" b="1" dirty="0">
                <a:latin typeface="Arial"/>
                <a:cs typeface="Arial"/>
              </a:rPr>
              <a:t>Place</a:t>
            </a:r>
            <a:endParaRPr sz="800" dirty="0">
              <a:latin typeface="Arial"/>
              <a:cs typeface="Arial"/>
            </a:endParaRPr>
          </a:p>
          <a:p>
            <a:pPr marL="40640">
              <a:spcBef>
                <a:spcPts val="165"/>
              </a:spcBef>
            </a:pPr>
            <a:r>
              <a:rPr sz="1200" b="1" baseline="10416" dirty="0">
                <a:latin typeface="Arial"/>
                <a:cs typeface="Arial"/>
              </a:rPr>
              <a:t>order</a:t>
            </a:r>
            <a:r>
              <a:rPr sz="1200" b="1" spc="127" baseline="10416" dirty="0">
                <a:latin typeface="Arial"/>
                <a:cs typeface="Arial"/>
              </a:rPr>
              <a:t> </a:t>
            </a:r>
            <a:r>
              <a:rPr sz="800" b="1" spc="-5" dirty="0">
                <a:latin typeface="Arial"/>
                <a:cs typeface="Arial"/>
              </a:rPr>
              <a:t>Receive</a:t>
            </a:r>
            <a:endParaRPr sz="800" dirty="0">
              <a:latin typeface="Arial"/>
              <a:cs typeface="Arial"/>
            </a:endParaRPr>
          </a:p>
          <a:p>
            <a:pPr marL="437515"/>
            <a:r>
              <a:rPr sz="800" b="1" dirty="0">
                <a:latin typeface="Arial"/>
                <a:cs typeface="Arial"/>
              </a:rPr>
              <a:t>order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19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39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1066800" y="1349161"/>
            <a:ext cx="0" cy="8606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066800" y="2209831"/>
            <a:ext cx="1905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1066800" y="1543845"/>
            <a:ext cx="381000" cy="6659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1447800" y="1543844"/>
            <a:ext cx="0" cy="66598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1447799" y="1543845"/>
            <a:ext cx="381000" cy="6659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1830352" y="1543843"/>
            <a:ext cx="0" cy="66598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835784" y="1543845"/>
            <a:ext cx="381000" cy="6659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2219029" y="1543843"/>
            <a:ext cx="0" cy="66598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2221608" y="1543845"/>
            <a:ext cx="381000" cy="6659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1066801" y="2077244"/>
            <a:ext cx="1633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1746169" y="2070899"/>
            <a:ext cx="0" cy="1925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1822380" y="2208775"/>
            <a:ext cx="1" cy="962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object 35"/>
          <p:cNvSpPr/>
          <p:nvPr/>
        </p:nvSpPr>
        <p:spPr>
          <a:xfrm>
            <a:off x="2025488" y="2101251"/>
            <a:ext cx="110626" cy="1318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35"/>
          <p:cNvSpPr/>
          <p:nvPr/>
        </p:nvSpPr>
        <p:spPr>
          <a:xfrm flipH="1">
            <a:off x="2218957" y="2227138"/>
            <a:ext cx="161502" cy="1407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31429-D74C-833D-78C7-D0E13475B16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1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3" grpId="0" animBg="1"/>
      <p:bldP spid="24" grpId="0"/>
      <p:bldP spid="30" grpId="0"/>
      <p:bldP spid="31" grpId="0"/>
      <p:bldP spid="32" grpId="0" animBg="1"/>
      <p:bldP spid="33" grpId="0"/>
      <p:bldP spid="35" grpId="0" animBg="1"/>
      <p:bldP spid="37" grpId="0"/>
      <p:bldP spid="64" grpId="0" animBg="1"/>
      <p:bldP spid="6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20802" y="678974"/>
            <a:ext cx="3379470" cy="1971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7698" y="1051338"/>
            <a:ext cx="3500754" cy="1630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4025">
              <a:spcBef>
                <a:spcPts val="95"/>
              </a:spcBef>
            </a:pPr>
            <a:r>
              <a:rPr sz="1000" b="1" spc="-10" dirty="0">
                <a:solidFill>
                  <a:srgbClr val="6F2F9F"/>
                </a:solidFill>
                <a:latin typeface="Trebuchet MS"/>
                <a:cs typeface="Trebuchet MS"/>
              </a:rPr>
              <a:t>EOQ </a:t>
            </a:r>
            <a:r>
              <a:rPr sz="1000" b="1" spc="-5" dirty="0">
                <a:solidFill>
                  <a:srgbClr val="6F2F9F"/>
                </a:solidFill>
                <a:latin typeface="Trebuchet MS"/>
                <a:cs typeface="Trebuchet MS"/>
              </a:rPr>
              <a:t>is the order </a:t>
            </a:r>
            <a:r>
              <a:rPr sz="1000" b="1" spc="-10" dirty="0">
                <a:solidFill>
                  <a:srgbClr val="6F2F9F"/>
                </a:solidFill>
                <a:latin typeface="Trebuchet MS"/>
                <a:cs typeface="Trebuchet MS"/>
              </a:rPr>
              <a:t>quantity that </a:t>
            </a:r>
            <a:r>
              <a:rPr sz="1000" b="1" spc="-5" dirty="0">
                <a:solidFill>
                  <a:srgbClr val="6F2F9F"/>
                </a:solidFill>
                <a:latin typeface="Trebuchet MS"/>
                <a:cs typeface="Trebuchet MS"/>
              </a:rPr>
              <a:t>minimizes total</a:t>
            </a:r>
            <a:r>
              <a:rPr sz="1000" b="1" spc="8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6F2F9F"/>
                </a:solidFill>
                <a:latin typeface="Trebuchet MS"/>
                <a:cs typeface="Trebuchet MS"/>
              </a:rPr>
              <a:t>cost</a:t>
            </a:r>
            <a:endParaRPr sz="1000">
              <a:latin typeface="Trebuchet MS"/>
              <a:cs typeface="Trebuchet MS"/>
            </a:endParaRPr>
          </a:p>
          <a:p>
            <a:pPr>
              <a:spcBef>
                <a:spcPts val="2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spcBef>
                <a:spcPts val="5"/>
              </a:spcBef>
            </a:pPr>
            <a:r>
              <a:rPr sz="1100" b="1" spc="-5" dirty="0">
                <a:solidFill>
                  <a:srgbClr val="775F54"/>
                </a:solidFill>
                <a:latin typeface="Trebuchet MS"/>
                <a:cs typeface="Trebuchet MS"/>
              </a:rPr>
              <a:t>Assumptions</a:t>
            </a:r>
            <a:endParaRPr sz="1100">
              <a:latin typeface="Trebuchet MS"/>
              <a:cs typeface="Trebuchet MS"/>
            </a:endParaRPr>
          </a:p>
          <a:p>
            <a:pPr marL="238125" indent="-73660">
              <a:spcBef>
                <a:spcPts val="700"/>
              </a:spcBef>
              <a:buClr>
                <a:srgbClr val="548AB8"/>
              </a:buClr>
              <a:buSzPct val="85000"/>
              <a:buChar char="•"/>
              <a:tabLst>
                <a:tab pos="238760" algn="l"/>
              </a:tabLst>
            </a:pPr>
            <a:r>
              <a:rPr sz="1000" spc="-10" dirty="0">
                <a:latin typeface="Trebuchet MS"/>
                <a:cs typeface="Trebuchet MS"/>
              </a:rPr>
              <a:t>Only </a:t>
            </a:r>
            <a:r>
              <a:rPr sz="1000" spc="-5" dirty="0">
                <a:latin typeface="Trebuchet MS"/>
                <a:cs typeface="Trebuchet MS"/>
              </a:rPr>
              <a:t>one </a:t>
            </a:r>
            <a:r>
              <a:rPr sz="1000" spc="-10" dirty="0">
                <a:latin typeface="Trebuchet MS"/>
                <a:cs typeface="Trebuchet MS"/>
              </a:rPr>
              <a:t>product </a:t>
            </a:r>
            <a:r>
              <a:rPr sz="1000" spc="-5" dirty="0">
                <a:latin typeface="Trebuchet MS"/>
                <a:cs typeface="Trebuchet MS"/>
              </a:rPr>
              <a:t>is</a:t>
            </a:r>
            <a:r>
              <a:rPr sz="1000" spc="35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involved</a:t>
            </a:r>
            <a:endParaRPr sz="1000">
              <a:latin typeface="Trebuchet MS"/>
              <a:cs typeface="Trebuchet MS"/>
            </a:endParaRPr>
          </a:p>
          <a:p>
            <a:pPr marL="238125" indent="-73660">
              <a:spcBef>
                <a:spcPts val="385"/>
              </a:spcBef>
              <a:buClr>
                <a:srgbClr val="548AB8"/>
              </a:buClr>
              <a:buSzPct val="85000"/>
              <a:buChar char="•"/>
              <a:tabLst>
                <a:tab pos="238760" algn="l"/>
              </a:tabLst>
            </a:pPr>
            <a:r>
              <a:rPr sz="1000" spc="-5" dirty="0">
                <a:latin typeface="Trebuchet MS"/>
                <a:cs typeface="Trebuchet MS"/>
              </a:rPr>
              <a:t>Annual </a:t>
            </a:r>
            <a:r>
              <a:rPr sz="1000" spc="-10" dirty="0">
                <a:latin typeface="Trebuchet MS"/>
                <a:cs typeface="Trebuchet MS"/>
              </a:rPr>
              <a:t>demand requirements </a:t>
            </a:r>
            <a:r>
              <a:rPr sz="1000" spc="-5" dirty="0">
                <a:latin typeface="Trebuchet MS"/>
                <a:cs typeface="Trebuchet MS"/>
              </a:rPr>
              <a:t>are</a:t>
            </a:r>
            <a:r>
              <a:rPr sz="1000" spc="5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known</a:t>
            </a:r>
            <a:endParaRPr sz="1000">
              <a:latin typeface="Trebuchet MS"/>
              <a:cs typeface="Trebuchet MS"/>
            </a:endParaRPr>
          </a:p>
          <a:p>
            <a:pPr marL="238125" indent="-73660">
              <a:spcBef>
                <a:spcPts val="370"/>
              </a:spcBef>
              <a:buClr>
                <a:srgbClr val="548AB8"/>
              </a:buClr>
              <a:buSzPct val="85000"/>
              <a:buChar char="•"/>
              <a:tabLst>
                <a:tab pos="238760" algn="l"/>
              </a:tabLst>
            </a:pPr>
            <a:r>
              <a:rPr sz="1000" spc="-10" dirty="0">
                <a:latin typeface="Trebuchet MS"/>
                <a:cs typeface="Trebuchet MS"/>
              </a:rPr>
              <a:t>Demand </a:t>
            </a:r>
            <a:r>
              <a:rPr sz="1000" spc="-5" dirty="0">
                <a:latin typeface="Trebuchet MS"/>
                <a:cs typeface="Trebuchet MS"/>
              </a:rPr>
              <a:t>is </a:t>
            </a:r>
            <a:r>
              <a:rPr sz="1000" spc="-10" dirty="0">
                <a:latin typeface="Trebuchet MS"/>
                <a:cs typeface="Trebuchet MS"/>
              </a:rPr>
              <a:t>spread</a:t>
            </a:r>
            <a:r>
              <a:rPr sz="1000" spc="2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evenly</a:t>
            </a:r>
            <a:endParaRPr sz="1000">
              <a:latin typeface="Trebuchet MS"/>
              <a:cs typeface="Trebuchet MS"/>
            </a:endParaRPr>
          </a:p>
          <a:p>
            <a:pPr marL="238125" indent="-73660">
              <a:spcBef>
                <a:spcPts val="385"/>
              </a:spcBef>
              <a:buClr>
                <a:srgbClr val="548AB8"/>
              </a:buClr>
              <a:buSzPct val="85000"/>
              <a:buChar char="•"/>
              <a:tabLst>
                <a:tab pos="238760" algn="l"/>
              </a:tabLst>
            </a:pPr>
            <a:r>
              <a:rPr sz="1000" spc="-10" dirty="0">
                <a:latin typeface="Trebuchet MS"/>
                <a:cs typeface="Trebuchet MS"/>
              </a:rPr>
              <a:t>Lead </a:t>
            </a:r>
            <a:r>
              <a:rPr sz="1000" spc="-5" dirty="0">
                <a:latin typeface="Trebuchet MS"/>
                <a:cs typeface="Trebuchet MS"/>
              </a:rPr>
              <a:t>time does not</a:t>
            </a:r>
            <a:r>
              <a:rPr sz="1000" spc="5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vary</a:t>
            </a:r>
            <a:endParaRPr sz="1000">
              <a:latin typeface="Trebuchet MS"/>
              <a:cs typeface="Trebuchet MS"/>
            </a:endParaRPr>
          </a:p>
          <a:p>
            <a:pPr marL="238125" indent="-73660">
              <a:spcBef>
                <a:spcPts val="385"/>
              </a:spcBef>
              <a:buClr>
                <a:srgbClr val="548AB8"/>
              </a:buClr>
              <a:buSzPct val="85000"/>
              <a:buChar char="•"/>
              <a:tabLst>
                <a:tab pos="238760" algn="l"/>
              </a:tabLst>
            </a:pPr>
            <a:r>
              <a:rPr sz="1000" spc="-5" dirty="0">
                <a:latin typeface="Trebuchet MS"/>
                <a:cs typeface="Trebuchet MS"/>
              </a:rPr>
              <a:t>No </a:t>
            </a:r>
            <a:r>
              <a:rPr sz="1000" spc="-10" dirty="0">
                <a:latin typeface="Trebuchet MS"/>
                <a:cs typeface="Trebuchet MS"/>
              </a:rPr>
              <a:t>quantity</a:t>
            </a:r>
            <a:r>
              <a:rPr sz="1000" spc="-5" dirty="0">
                <a:latin typeface="Trebuchet MS"/>
                <a:cs typeface="Trebuchet MS"/>
              </a:rPr>
              <a:t> discount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16746" y="1654924"/>
            <a:ext cx="817170" cy="6857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6B5DCF-D94E-322C-6E72-1D4FF376B1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28803" y="547910"/>
            <a:ext cx="1794383" cy="157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98035" y="583723"/>
            <a:ext cx="647700" cy="647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38579" y="1047781"/>
            <a:ext cx="90170" cy="7620"/>
          </a:xfrm>
          <a:custGeom>
            <a:avLst/>
            <a:gdLst/>
            <a:ahLst/>
            <a:cxnLst/>
            <a:rect l="l" t="t" r="r" b="b"/>
            <a:pathLst>
              <a:path w="90169" h="7620">
                <a:moveTo>
                  <a:pt x="89916" y="0"/>
                </a:moveTo>
                <a:lnTo>
                  <a:pt x="0" y="0"/>
                </a:lnTo>
                <a:lnTo>
                  <a:pt x="0" y="7619"/>
                </a:lnTo>
                <a:lnTo>
                  <a:pt x="89916" y="7619"/>
                </a:lnTo>
                <a:lnTo>
                  <a:pt x="899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26515" y="852710"/>
            <a:ext cx="11112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20" dirty="0">
                <a:latin typeface="FreeSerif"/>
                <a:cs typeface="FreeSerif"/>
              </a:rPr>
              <a:t>𝑄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35658" y="1034066"/>
            <a:ext cx="9588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2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0233" y="948722"/>
            <a:ext cx="1782952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608455" algn="l"/>
              </a:tabLst>
            </a:pPr>
            <a:r>
              <a:rPr sz="1000" i="1" spc="-5" dirty="0">
                <a:latin typeface="Times New Roman"/>
                <a:cs typeface="Times New Roman"/>
              </a:rPr>
              <a:t>A</a:t>
            </a:r>
            <a:r>
              <a:rPr sz="1000" i="1" dirty="0">
                <a:latin typeface="Times New Roman"/>
                <a:cs typeface="Times New Roman"/>
              </a:rPr>
              <a:t>nnua</a:t>
            </a:r>
            <a:r>
              <a:rPr sz="1000" i="1" spc="-5" dirty="0">
                <a:latin typeface="Times New Roman"/>
                <a:cs typeface="Times New Roman"/>
              </a:rPr>
              <a:t>l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H</a:t>
            </a:r>
            <a:r>
              <a:rPr sz="1000" i="1" dirty="0">
                <a:latin typeface="Times New Roman"/>
                <a:cs typeface="Times New Roman"/>
              </a:rPr>
              <a:t>o</a:t>
            </a:r>
            <a:r>
              <a:rPr sz="1000" i="1" spc="-5" dirty="0">
                <a:latin typeface="Times New Roman"/>
                <a:cs typeface="Times New Roman"/>
              </a:rPr>
              <a:t>l</a:t>
            </a:r>
            <a:r>
              <a:rPr sz="1000" i="1" spc="-15" dirty="0">
                <a:latin typeface="Times New Roman"/>
                <a:cs typeface="Times New Roman"/>
              </a:rPr>
              <a:t>d</a:t>
            </a:r>
            <a:r>
              <a:rPr sz="1000" i="1" spc="-5" dirty="0">
                <a:latin typeface="Times New Roman"/>
                <a:cs typeface="Times New Roman"/>
              </a:rPr>
              <a:t>ing</a:t>
            </a:r>
            <a:r>
              <a:rPr sz="1000" i="1" spc="1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C</a:t>
            </a:r>
            <a:r>
              <a:rPr sz="1000" i="1" dirty="0">
                <a:latin typeface="Times New Roman"/>
                <a:cs typeface="Times New Roman"/>
              </a:rPr>
              <a:t>o</a:t>
            </a:r>
            <a:r>
              <a:rPr sz="1000" i="1" spc="-10" dirty="0">
                <a:latin typeface="Times New Roman"/>
                <a:cs typeface="Times New Roman"/>
              </a:rPr>
              <a:t>st</a:t>
            </a:r>
            <a:r>
              <a:rPr sz="1000" i="1" spc="-5" dirty="0">
                <a:latin typeface="Times New Roman"/>
                <a:cs typeface="Times New Roman"/>
              </a:rPr>
              <a:t>,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HC</a:t>
            </a:r>
            <a:r>
              <a:rPr sz="1000" i="1" spc="20" dirty="0">
                <a:latin typeface="Times New Roman"/>
                <a:cs typeface="Times New Roman"/>
              </a:rPr>
              <a:t> </a:t>
            </a: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dirty="0">
                <a:latin typeface="FreeSerif"/>
                <a:cs typeface="FreeSerif"/>
              </a:rPr>
              <a:t>	</a:t>
            </a:r>
            <a:r>
              <a:rPr sz="1000" spc="204" dirty="0">
                <a:latin typeface="FreeSerif"/>
                <a:cs typeface="FreeSerif"/>
              </a:rPr>
              <a:t>𝐻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10460" y="1391570"/>
            <a:ext cx="91440" cy="7620"/>
          </a:xfrm>
          <a:custGeom>
            <a:avLst/>
            <a:gdLst/>
            <a:ahLst/>
            <a:cxnLst/>
            <a:rect l="l" t="t" r="r" b="b"/>
            <a:pathLst>
              <a:path w="91439" h="7619">
                <a:moveTo>
                  <a:pt x="91439" y="0"/>
                </a:moveTo>
                <a:lnTo>
                  <a:pt x="0" y="0"/>
                </a:lnTo>
                <a:lnTo>
                  <a:pt x="0" y="7619"/>
                </a:lnTo>
                <a:lnTo>
                  <a:pt x="91439" y="7619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898396" y="1377855"/>
            <a:ext cx="11112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20" dirty="0">
                <a:latin typeface="FreeSerif"/>
                <a:cs typeface="FreeSerif"/>
              </a:rPr>
              <a:t>𝑄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7377" y="1196499"/>
            <a:ext cx="1746250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7155" algn="r">
              <a:lnSpc>
                <a:spcPts val="980"/>
              </a:lnSpc>
              <a:spcBef>
                <a:spcPts val="95"/>
              </a:spcBef>
            </a:pPr>
            <a:r>
              <a:rPr sz="1000" spc="145" dirty="0">
                <a:latin typeface="FreeSerif"/>
                <a:cs typeface="FreeSerif"/>
              </a:rPr>
              <a:t>𝐷</a:t>
            </a:r>
            <a:endParaRPr sz="1000" dirty="0">
              <a:latin typeface="FreeSerif"/>
              <a:cs typeface="FreeSerif"/>
            </a:endParaRPr>
          </a:p>
          <a:p>
            <a:pPr marL="12700">
              <a:lnSpc>
                <a:spcPts val="980"/>
              </a:lnSpc>
              <a:tabLst>
                <a:tab pos="1666239" algn="l"/>
              </a:tabLst>
            </a:pPr>
            <a:r>
              <a:rPr sz="1000" i="1" spc="-5" dirty="0">
                <a:latin typeface="Times New Roman"/>
                <a:cs typeface="Times New Roman"/>
              </a:rPr>
              <a:t>A</a:t>
            </a:r>
            <a:r>
              <a:rPr sz="1000" i="1" dirty="0">
                <a:latin typeface="Times New Roman"/>
                <a:cs typeface="Times New Roman"/>
              </a:rPr>
              <a:t>nnu</a:t>
            </a:r>
            <a:r>
              <a:rPr sz="1000" i="1" spc="-15" dirty="0">
                <a:latin typeface="Times New Roman"/>
                <a:cs typeface="Times New Roman"/>
              </a:rPr>
              <a:t>a</a:t>
            </a:r>
            <a:r>
              <a:rPr sz="1000" i="1" spc="-5" dirty="0">
                <a:latin typeface="Times New Roman"/>
                <a:cs typeface="Times New Roman"/>
              </a:rPr>
              <a:t>l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Or</a:t>
            </a:r>
            <a:r>
              <a:rPr sz="1000" i="1" spc="-5" dirty="0">
                <a:latin typeface="Times New Roman"/>
                <a:cs typeface="Times New Roman"/>
              </a:rPr>
              <a:t>dering</a:t>
            </a:r>
            <a:r>
              <a:rPr sz="1000" i="1" spc="1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C</a:t>
            </a:r>
            <a:r>
              <a:rPr sz="1000" i="1" dirty="0">
                <a:latin typeface="Times New Roman"/>
                <a:cs typeface="Times New Roman"/>
              </a:rPr>
              <a:t>o</a:t>
            </a:r>
            <a:r>
              <a:rPr sz="1000" i="1" spc="-10" dirty="0">
                <a:latin typeface="Times New Roman"/>
                <a:cs typeface="Times New Roman"/>
              </a:rPr>
              <a:t>st</a:t>
            </a:r>
            <a:r>
              <a:rPr sz="1000" i="1" spc="-5" dirty="0">
                <a:latin typeface="Times New Roman"/>
                <a:cs typeface="Times New Roman"/>
              </a:rPr>
              <a:t>,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OC</a:t>
            </a:r>
            <a:r>
              <a:rPr sz="1000" i="1" spc="20" dirty="0">
                <a:latin typeface="Times New Roman"/>
                <a:cs typeface="Times New Roman"/>
              </a:rPr>
              <a:t> </a:t>
            </a: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dirty="0">
                <a:latin typeface="FreeSerif"/>
                <a:cs typeface="FreeSerif"/>
              </a:rPr>
              <a:t>	</a:t>
            </a:r>
            <a:r>
              <a:rPr sz="1000" spc="-125" dirty="0">
                <a:latin typeface="FreeSerif"/>
                <a:cs typeface="FreeSerif"/>
              </a:rPr>
              <a:t>𝑆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27403" y="1769395"/>
            <a:ext cx="90170" cy="7620"/>
          </a:xfrm>
          <a:custGeom>
            <a:avLst/>
            <a:gdLst/>
            <a:ahLst/>
            <a:cxnLst/>
            <a:rect l="l" t="t" r="r" b="b"/>
            <a:pathLst>
              <a:path w="90169" h="7619">
                <a:moveTo>
                  <a:pt x="89916" y="0"/>
                </a:moveTo>
                <a:lnTo>
                  <a:pt x="0" y="0"/>
                </a:lnTo>
                <a:lnTo>
                  <a:pt x="0" y="7619"/>
                </a:lnTo>
                <a:lnTo>
                  <a:pt x="89916" y="7619"/>
                </a:lnTo>
                <a:lnTo>
                  <a:pt x="899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85544" y="1769395"/>
            <a:ext cx="91440" cy="7620"/>
          </a:xfrm>
          <a:custGeom>
            <a:avLst/>
            <a:gdLst/>
            <a:ahLst/>
            <a:cxnLst/>
            <a:rect l="l" t="t" r="r" b="b"/>
            <a:pathLst>
              <a:path w="91439" h="7619">
                <a:moveTo>
                  <a:pt x="91439" y="0"/>
                </a:moveTo>
                <a:lnTo>
                  <a:pt x="0" y="0"/>
                </a:lnTo>
                <a:lnTo>
                  <a:pt x="0" y="7619"/>
                </a:lnTo>
                <a:lnTo>
                  <a:pt x="91439" y="7619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315338" y="1574451"/>
            <a:ext cx="63195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70205" algn="l"/>
              </a:tabLst>
            </a:pPr>
            <a:r>
              <a:rPr sz="1000" spc="120" dirty="0">
                <a:latin typeface="FreeSerif"/>
                <a:cs typeface="FreeSerif"/>
              </a:rPr>
              <a:t>𝑄	</a:t>
            </a:r>
            <a:r>
              <a:rPr sz="1000" spc="145" dirty="0">
                <a:latin typeface="FreeSerif"/>
                <a:cs typeface="FreeSerif"/>
              </a:rPr>
              <a:t>𝐷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24484" y="1755807"/>
            <a:ext cx="677417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61315" algn="l"/>
              </a:tabLst>
            </a:pPr>
            <a:r>
              <a:rPr sz="1000" spc="50" dirty="0">
                <a:latin typeface="FreeSerif"/>
                <a:cs typeface="FreeSerif"/>
              </a:rPr>
              <a:t>2	</a:t>
            </a:r>
            <a:r>
              <a:rPr sz="1000" spc="120" dirty="0">
                <a:latin typeface="FreeSerif"/>
                <a:cs typeface="FreeSerif"/>
              </a:rPr>
              <a:t>𝑄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9035" y="1670463"/>
            <a:ext cx="148018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040130" algn="l"/>
                <a:tab pos="1399540" algn="l"/>
              </a:tabLst>
            </a:pPr>
            <a:r>
              <a:rPr sz="1000" i="1" spc="-10" dirty="0">
                <a:latin typeface="Times New Roman"/>
                <a:cs typeface="Times New Roman"/>
              </a:rPr>
              <a:t>T</a:t>
            </a:r>
            <a:r>
              <a:rPr sz="1000" i="1" dirty="0">
                <a:latin typeface="Times New Roman"/>
                <a:cs typeface="Times New Roman"/>
              </a:rPr>
              <a:t>o</a:t>
            </a:r>
            <a:r>
              <a:rPr sz="1000" i="1" spc="-5" dirty="0">
                <a:latin typeface="Times New Roman"/>
                <a:cs typeface="Times New Roman"/>
              </a:rPr>
              <a:t>tal</a:t>
            </a:r>
            <a:r>
              <a:rPr sz="1000" i="1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C</a:t>
            </a:r>
            <a:r>
              <a:rPr sz="1000" i="1" dirty="0">
                <a:latin typeface="Times New Roman"/>
                <a:cs typeface="Times New Roman"/>
              </a:rPr>
              <a:t>o</a:t>
            </a:r>
            <a:r>
              <a:rPr sz="1000" i="1" spc="-10" dirty="0">
                <a:latin typeface="Times New Roman"/>
                <a:cs typeface="Times New Roman"/>
              </a:rPr>
              <a:t>s</a:t>
            </a:r>
            <a:r>
              <a:rPr sz="1000" i="1" spc="-5" dirty="0">
                <a:latin typeface="Times New Roman"/>
                <a:cs typeface="Times New Roman"/>
              </a:rPr>
              <a:t>t,</a:t>
            </a:r>
            <a:r>
              <a:rPr sz="1000" i="1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T</a:t>
            </a:r>
            <a:r>
              <a:rPr sz="1000" i="1" spc="-5" dirty="0">
                <a:latin typeface="Times New Roman"/>
                <a:cs typeface="Times New Roman"/>
              </a:rPr>
              <a:t>C</a:t>
            </a:r>
            <a:r>
              <a:rPr sz="1000" i="1" spc="30" dirty="0">
                <a:latin typeface="Times New Roman"/>
                <a:cs typeface="Times New Roman"/>
              </a:rPr>
              <a:t> </a:t>
            </a: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dirty="0">
                <a:latin typeface="FreeSerif"/>
                <a:cs typeface="FreeSerif"/>
              </a:rPr>
              <a:t>	</a:t>
            </a:r>
            <a:r>
              <a:rPr sz="1000" spc="204" dirty="0">
                <a:latin typeface="FreeSerif"/>
                <a:cs typeface="FreeSerif"/>
              </a:rPr>
              <a:t>𝐻</a:t>
            </a:r>
            <a:r>
              <a:rPr sz="1000" spc="-5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</a:t>
            </a:r>
            <a:r>
              <a:rPr sz="1000" dirty="0">
                <a:latin typeface="FreeSerif"/>
                <a:cs typeface="FreeSerif"/>
              </a:rPr>
              <a:t>	</a:t>
            </a:r>
            <a:r>
              <a:rPr sz="1000" spc="-125" dirty="0">
                <a:latin typeface="FreeSerif"/>
                <a:cs typeface="FreeSerif"/>
              </a:rPr>
              <a:t>𝑆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468879" y="2200306"/>
            <a:ext cx="90170" cy="7620"/>
          </a:xfrm>
          <a:custGeom>
            <a:avLst/>
            <a:gdLst/>
            <a:ahLst/>
            <a:cxnLst/>
            <a:rect l="l" t="t" r="r" b="b"/>
            <a:pathLst>
              <a:path w="90169" h="7619">
                <a:moveTo>
                  <a:pt x="89915" y="0"/>
                </a:moveTo>
                <a:lnTo>
                  <a:pt x="0" y="0"/>
                </a:lnTo>
                <a:lnTo>
                  <a:pt x="0" y="7619"/>
                </a:lnTo>
                <a:lnTo>
                  <a:pt x="89915" y="7619"/>
                </a:lnTo>
                <a:lnTo>
                  <a:pt x="899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456815" y="2005362"/>
            <a:ext cx="11112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20" dirty="0">
                <a:latin typeface="FreeSerif"/>
                <a:cs typeface="FreeSerif"/>
              </a:rPr>
              <a:t>𝑄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827020" y="2200306"/>
            <a:ext cx="91440" cy="7620"/>
          </a:xfrm>
          <a:custGeom>
            <a:avLst/>
            <a:gdLst/>
            <a:ahLst/>
            <a:cxnLst/>
            <a:rect l="l" t="t" r="r" b="b"/>
            <a:pathLst>
              <a:path w="91439" h="7619">
                <a:moveTo>
                  <a:pt x="91439" y="0"/>
                </a:moveTo>
                <a:lnTo>
                  <a:pt x="0" y="0"/>
                </a:lnTo>
                <a:lnTo>
                  <a:pt x="0" y="7619"/>
                </a:lnTo>
                <a:lnTo>
                  <a:pt x="91439" y="7619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815208" y="2005362"/>
            <a:ext cx="11303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45" dirty="0">
                <a:latin typeface="FreeSerif"/>
                <a:cs typeface="FreeSerif"/>
              </a:rPr>
              <a:t>𝐷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65958" y="2186718"/>
            <a:ext cx="505842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61315" algn="l"/>
              </a:tabLst>
            </a:pPr>
            <a:r>
              <a:rPr sz="1000" spc="50" dirty="0">
                <a:latin typeface="FreeSerif"/>
                <a:cs typeface="FreeSerif"/>
              </a:rPr>
              <a:t>2	</a:t>
            </a:r>
            <a:r>
              <a:rPr sz="1000" spc="120" dirty="0">
                <a:latin typeface="FreeSerif"/>
                <a:cs typeface="FreeSerif"/>
              </a:rPr>
              <a:t>𝑄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0663" y="2101374"/>
            <a:ext cx="26765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2109470" algn="l"/>
                <a:tab pos="2471420" algn="l"/>
              </a:tabLst>
            </a:pPr>
            <a:r>
              <a:rPr sz="1000" i="1" spc="-5" dirty="0">
                <a:latin typeface="Times New Roman"/>
                <a:cs typeface="Times New Roman"/>
              </a:rPr>
              <a:t>Total Cost (including Material),</a:t>
            </a:r>
            <a:r>
              <a:rPr sz="1000" i="1" spc="6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TC</a:t>
            </a:r>
            <a:r>
              <a:rPr sz="1000" i="1" spc="40" dirty="0">
                <a:latin typeface="Times New Roman"/>
                <a:cs typeface="Times New Roman"/>
              </a:rPr>
              <a:t> </a:t>
            </a:r>
            <a:r>
              <a:rPr sz="1000" spc="180" dirty="0">
                <a:latin typeface="FreeSerif"/>
                <a:cs typeface="FreeSerif"/>
              </a:rPr>
              <a:t>=	</a:t>
            </a:r>
            <a:r>
              <a:rPr sz="1000" spc="125" dirty="0">
                <a:latin typeface="FreeSerif"/>
                <a:cs typeface="FreeSerif"/>
              </a:rPr>
              <a:t>𝐻</a:t>
            </a:r>
            <a:r>
              <a:rPr sz="1000" spc="-5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	</a:t>
            </a:r>
            <a:r>
              <a:rPr sz="1000" spc="-75" dirty="0">
                <a:latin typeface="FreeSerif"/>
                <a:cs typeface="FreeSerif"/>
              </a:rPr>
              <a:t>𝑆</a:t>
            </a:r>
            <a:r>
              <a:rPr sz="1000" spc="-80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63061" y="2116105"/>
            <a:ext cx="347980" cy="153888"/>
          </a:xfrm>
          <a:prstGeom prst="rect">
            <a:avLst/>
          </a:prstGeom>
          <a:ln w="14287">
            <a:solidFill>
              <a:srgbClr val="548AB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80"/>
              </a:lnSpc>
            </a:pPr>
            <a:r>
              <a:rPr sz="1000" spc="85" dirty="0">
                <a:latin typeface="FreeSerif"/>
                <a:cs typeface="FreeSerif"/>
              </a:rPr>
              <a:t>𝐷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170" dirty="0">
                <a:latin typeface="FreeSerif"/>
                <a:cs typeface="FreeSerif"/>
              </a:rPr>
              <a:t> </a:t>
            </a:r>
            <a:r>
              <a:rPr sz="1000" spc="15" dirty="0">
                <a:latin typeface="FreeSerif"/>
                <a:cs typeface="FreeSerif"/>
              </a:rPr>
              <a:t>𝑃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27506" y="2576354"/>
            <a:ext cx="135318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-85" dirty="0">
                <a:latin typeface="FreeSerif"/>
                <a:cs typeface="FreeSerif"/>
              </a:rPr>
              <a:t>𝑓𝑜𝑟 </a:t>
            </a:r>
            <a:r>
              <a:rPr sz="1000" spc="10" dirty="0">
                <a:latin typeface="FreeSerif"/>
                <a:cs typeface="FreeSerif"/>
              </a:rPr>
              <a:t>𝑀𝑖𝑛𝑖𝑚𝑢𝑚 </a:t>
            </a:r>
            <a:r>
              <a:rPr sz="1000" spc="-95" dirty="0">
                <a:latin typeface="FreeSerif"/>
                <a:cs typeface="FreeSerif"/>
              </a:rPr>
              <a:t>𝐶𝑜𝑠𝑡, </a:t>
            </a:r>
            <a:r>
              <a:rPr sz="1000" spc="70" dirty="0">
                <a:latin typeface="FreeSerif"/>
                <a:cs typeface="FreeSerif"/>
              </a:rPr>
              <a:t>𝑄</a:t>
            </a:r>
            <a:r>
              <a:rPr sz="1000" spc="-80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=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504314" y="2448972"/>
            <a:ext cx="324485" cy="421640"/>
          </a:xfrm>
          <a:custGeom>
            <a:avLst/>
            <a:gdLst/>
            <a:ahLst/>
            <a:cxnLst/>
            <a:rect l="l" t="t" r="r" b="b"/>
            <a:pathLst>
              <a:path w="324485" h="421639">
                <a:moveTo>
                  <a:pt x="322453" y="635"/>
                </a:moveTo>
                <a:lnTo>
                  <a:pt x="99187" y="635"/>
                </a:lnTo>
                <a:lnTo>
                  <a:pt x="99187" y="0"/>
                </a:lnTo>
                <a:lnTo>
                  <a:pt x="79883" y="0"/>
                </a:lnTo>
                <a:lnTo>
                  <a:pt x="53721" y="397510"/>
                </a:lnTo>
                <a:lnTo>
                  <a:pt x="22225" y="339217"/>
                </a:lnTo>
                <a:lnTo>
                  <a:pt x="0" y="351028"/>
                </a:lnTo>
                <a:lnTo>
                  <a:pt x="2413" y="355346"/>
                </a:lnTo>
                <a:lnTo>
                  <a:pt x="14097" y="349123"/>
                </a:lnTo>
                <a:lnTo>
                  <a:pt x="53467" y="421640"/>
                </a:lnTo>
                <a:lnTo>
                  <a:pt x="59182" y="421640"/>
                </a:lnTo>
                <a:lnTo>
                  <a:pt x="86868" y="8128"/>
                </a:lnTo>
                <a:lnTo>
                  <a:pt x="322453" y="8255"/>
                </a:lnTo>
                <a:lnTo>
                  <a:pt x="322453" y="635"/>
                </a:lnTo>
                <a:close/>
              </a:path>
              <a:path w="324485" h="421639">
                <a:moveTo>
                  <a:pt x="323977" y="226187"/>
                </a:moveTo>
                <a:lnTo>
                  <a:pt x="95377" y="226187"/>
                </a:lnTo>
                <a:lnTo>
                  <a:pt x="95377" y="233807"/>
                </a:lnTo>
                <a:lnTo>
                  <a:pt x="323977" y="233807"/>
                </a:lnTo>
                <a:lnTo>
                  <a:pt x="323977" y="2261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587879" y="2480342"/>
            <a:ext cx="249554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60" dirty="0">
                <a:latin typeface="FreeSerif"/>
                <a:cs typeface="FreeSerif"/>
              </a:rPr>
              <a:t>2</a:t>
            </a:r>
            <a:r>
              <a:rPr sz="1000" spc="120" dirty="0">
                <a:latin typeface="FreeSerif"/>
                <a:cs typeface="FreeSerif"/>
              </a:rPr>
              <a:t>𝐷</a:t>
            </a:r>
            <a:r>
              <a:rPr sz="1000" spc="-125" dirty="0">
                <a:latin typeface="FreeSerif"/>
                <a:cs typeface="FreeSerif"/>
              </a:rPr>
              <a:t>𝑆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53410" y="2661698"/>
            <a:ext cx="11811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204" dirty="0">
                <a:latin typeface="FreeSerif"/>
                <a:cs typeface="FreeSerif"/>
              </a:rPr>
              <a:t>𝐻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171701" y="1138460"/>
            <a:ext cx="1754505" cy="520065"/>
          </a:xfrm>
          <a:custGeom>
            <a:avLst/>
            <a:gdLst/>
            <a:ahLst/>
            <a:cxnLst/>
            <a:rect l="l" t="t" r="r" b="b"/>
            <a:pathLst>
              <a:path w="1754504" h="520065">
                <a:moveTo>
                  <a:pt x="156972" y="0"/>
                </a:moveTo>
                <a:lnTo>
                  <a:pt x="0" y="259842"/>
                </a:lnTo>
                <a:lnTo>
                  <a:pt x="156972" y="519683"/>
                </a:lnTo>
                <a:lnTo>
                  <a:pt x="156972" y="389762"/>
                </a:lnTo>
                <a:lnTo>
                  <a:pt x="1754124" y="389762"/>
                </a:lnTo>
                <a:lnTo>
                  <a:pt x="1754124" y="129921"/>
                </a:lnTo>
                <a:lnTo>
                  <a:pt x="156972" y="129921"/>
                </a:lnTo>
                <a:lnTo>
                  <a:pt x="156972" y="0"/>
                </a:lnTo>
                <a:close/>
              </a:path>
            </a:pathLst>
          </a:custGeom>
          <a:solidFill>
            <a:srgbClr val="A4AB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283967" y="1277524"/>
            <a:ext cx="1527810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700" b="1" spc="-5" dirty="0">
                <a:latin typeface="Trebuchet MS"/>
                <a:cs typeface="Trebuchet MS"/>
              </a:rPr>
              <a:t>Number of orders placed annually</a:t>
            </a:r>
            <a:r>
              <a:rPr sz="700" b="1" spc="25" dirty="0">
                <a:latin typeface="Trebuchet MS"/>
                <a:cs typeface="Trebuchet MS"/>
              </a:rPr>
              <a:t> </a:t>
            </a:r>
            <a:r>
              <a:rPr sz="700" spc="100" dirty="0">
                <a:latin typeface="FreeSerif"/>
                <a:cs typeface="FreeSerif"/>
              </a:rPr>
              <a:t>×</a:t>
            </a:r>
            <a:endParaRPr sz="700">
              <a:latin typeface="FreeSerif"/>
              <a:cs typeface="FreeSerif"/>
            </a:endParaRPr>
          </a:p>
          <a:p>
            <a:pPr marL="12700"/>
            <a:r>
              <a:rPr sz="700" b="1" spc="-5" dirty="0">
                <a:latin typeface="Trebuchet MS"/>
                <a:cs typeface="Trebuchet MS"/>
              </a:rPr>
              <a:t>Order cost per</a:t>
            </a:r>
            <a:r>
              <a:rPr sz="700" b="1" dirty="0">
                <a:latin typeface="Trebuchet MS"/>
                <a:cs typeface="Trebuchet MS"/>
              </a:rPr>
              <a:t> </a:t>
            </a:r>
            <a:r>
              <a:rPr sz="700" b="1" spc="-5" dirty="0">
                <a:latin typeface="Trebuchet MS"/>
                <a:cs typeface="Trebuchet MS"/>
              </a:rPr>
              <a:t>order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243137" y="738981"/>
            <a:ext cx="1764030" cy="529590"/>
            <a:chOff x="2243137" y="490537"/>
            <a:chExt cx="1764030" cy="529590"/>
          </a:xfrm>
        </p:grpSpPr>
        <p:sp>
          <p:nvSpPr>
            <p:cNvPr id="36" name="object 36"/>
            <p:cNvSpPr/>
            <p:nvPr/>
          </p:nvSpPr>
          <p:spPr>
            <a:xfrm>
              <a:off x="2247900" y="495299"/>
              <a:ext cx="1754505" cy="520065"/>
            </a:xfrm>
            <a:custGeom>
              <a:avLst/>
              <a:gdLst/>
              <a:ahLst/>
              <a:cxnLst/>
              <a:rect l="l" t="t" r="r" b="b"/>
              <a:pathLst>
                <a:path w="1754504" h="520065">
                  <a:moveTo>
                    <a:pt x="156972" y="0"/>
                  </a:moveTo>
                  <a:lnTo>
                    <a:pt x="0" y="259842"/>
                  </a:lnTo>
                  <a:lnTo>
                    <a:pt x="156972" y="519684"/>
                  </a:lnTo>
                  <a:lnTo>
                    <a:pt x="156972" y="389763"/>
                  </a:lnTo>
                  <a:lnTo>
                    <a:pt x="1754124" y="389763"/>
                  </a:lnTo>
                  <a:lnTo>
                    <a:pt x="1754124" y="129921"/>
                  </a:lnTo>
                  <a:lnTo>
                    <a:pt x="156972" y="129921"/>
                  </a:lnTo>
                  <a:lnTo>
                    <a:pt x="156972" y="0"/>
                  </a:lnTo>
                  <a:close/>
                </a:path>
              </a:pathLst>
            </a:custGeom>
            <a:solidFill>
              <a:srgbClr val="D7B1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47900" y="495299"/>
              <a:ext cx="1754505" cy="520065"/>
            </a:xfrm>
            <a:custGeom>
              <a:avLst/>
              <a:gdLst/>
              <a:ahLst/>
              <a:cxnLst/>
              <a:rect l="l" t="t" r="r" b="b"/>
              <a:pathLst>
                <a:path w="1754504" h="520065">
                  <a:moveTo>
                    <a:pt x="0" y="259842"/>
                  </a:moveTo>
                  <a:lnTo>
                    <a:pt x="156972" y="0"/>
                  </a:lnTo>
                  <a:lnTo>
                    <a:pt x="156972" y="129921"/>
                  </a:lnTo>
                  <a:lnTo>
                    <a:pt x="1754124" y="129921"/>
                  </a:lnTo>
                  <a:lnTo>
                    <a:pt x="1754124" y="389763"/>
                  </a:lnTo>
                  <a:lnTo>
                    <a:pt x="156972" y="389763"/>
                  </a:lnTo>
                  <a:lnTo>
                    <a:pt x="156972" y="519684"/>
                  </a:lnTo>
                  <a:lnTo>
                    <a:pt x="0" y="25984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360168" y="882554"/>
            <a:ext cx="143827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sz="700" b="1" spc="-10" dirty="0">
                <a:latin typeface="Trebuchet MS"/>
                <a:cs typeface="Trebuchet MS"/>
              </a:rPr>
              <a:t>Average </a:t>
            </a:r>
            <a:r>
              <a:rPr sz="700" b="1" spc="-5" dirty="0">
                <a:latin typeface="Trebuchet MS"/>
                <a:cs typeface="Trebuchet MS"/>
              </a:rPr>
              <a:t>inventory level </a:t>
            </a:r>
            <a:r>
              <a:rPr sz="700" spc="100" dirty="0">
                <a:latin typeface="FreeSerif"/>
                <a:cs typeface="FreeSerif"/>
              </a:rPr>
              <a:t>×</a:t>
            </a:r>
            <a:r>
              <a:rPr sz="700" spc="25" dirty="0">
                <a:latin typeface="FreeSerif"/>
                <a:cs typeface="FreeSerif"/>
              </a:rPr>
              <a:t> </a:t>
            </a:r>
            <a:r>
              <a:rPr sz="700" b="1" spc="-5" dirty="0">
                <a:latin typeface="Trebuchet MS"/>
                <a:cs typeface="Trebuchet MS"/>
              </a:rPr>
              <a:t>Holding  cost per </a:t>
            </a:r>
            <a:r>
              <a:rPr sz="700" b="1" spc="-10" dirty="0">
                <a:latin typeface="Trebuchet MS"/>
                <a:cs typeface="Trebuchet MS"/>
              </a:rPr>
              <a:t>unit </a:t>
            </a:r>
            <a:r>
              <a:rPr sz="700" b="1" spc="-5" dirty="0">
                <a:latin typeface="Trebuchet MS"/>
                <a:cs typeface="Trebuchet MS"/>
              </a:rPr>
              <a:t>per</a:t>
            </a:r>
            <a:r>
              <a:rPr sz="700" b="1" spc="15" dirty="0">
                <a:latin typeface="Trebuchet MS"/>
                <a:cs typeface="Trebuchet MS"/>
              </a:rPr>
              <a:t> </a:t>
            </a:r>
            <a:r>
              <a:rPr sz="700" b="1" spc="-5" dirty="0">
                <a:latin typeface="Trebuchet MS"/>
                <a:cs typeface="Trebuchet MS"/>
              </a:rPr>
              <a:t>year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518409" y="1703648"/>
            <a:ext cx="840105" cy="459105"/>
            <a:chOff x="3518408" y="1455203"/>
            <a:chExt cx="840105" cy="459105"/>
          </a:xfrm>
        </p:grpSpPr>
        <p:sp>
          <p:nvSpPr>
            <p:cNvPr id="40" name="object 40"/>
            <p:cNvSpPr/>
            <p:nvPr/>
          </p:nvSpPr>
          <p:spPr>
            <a:xfrm>
              <a:off x="3570742" y="1459965"/>
              <a:ext cx="782955" cy="429895"/>
            </a:xfrm>
            <a:custGeom>
              <a:avLst/>
              <a:gdLst/>
              <a:ahLst/>
              <a:cxnLst/>
              <a:rect l="l" t="t" r="r" b="b"/>
              <a:pathLst>
                <a:path w="782954" h="429894">
                  <a:moveTo>
                    <a:pt x="482982" y="0"/>
                  </a:moveTo>
                  <a:lnTo>
                    <a:pt x="452903" y="2962"/>
                  </a:lnTo>
                  <a:lnTo>
                    <a:pt x="426491" y="14140"/>
                  </a:lnTo>
                  <a:lnTo>
                    <a:pt x="407152" y="32664"/>
                  </a:lnTo>
                  <a:lnTo>
                    <a:pt x="402014" y="29114"/>
                  </a:lnTo>
                  <a:lnTo>
                    <a:pt x="396531" y="25886"/>
                  </a:lnTo>
                  <a:lnTo>
                    <a:pt x="390739" y="22967"/>
                  </a:lnTo>
                  <a:lnTo>
                    <a:pt x="384673" y="20345"/>
                  </a:lnTo>
                  <a:lnTo>
                    <a:pt x="347894" y="12132"/>
                  </a:lnTo>
                  <a:lnTo>
                    <a:pt x="311044" y="15027"/>
                  </a:lnTo>
                  <a:lnTo>
                    <a:pt x="278338" y="28043"/>
                  </a:lnTo>
                  <a:lnTo>
                    <a:pt x="253990" y="50190"/>
                  </a:lnTo>
                  <a:lnTo>
                    <a:pt x="235529" y="43650"/>
                  </a:lnTo>
                  <a:lnTo>
                    <a:pt x="216032" y="39491"/>
                  </a:lnTo>
                  <a:lnTo>
                    <a:pt x="195893" y="37760"/>
                  </a:lnTo>
                  <a:lnTo>
                    <a:pt x="175504" y="38506"/>
                  </a:lnTo>
                  <a:lnTo>
                    <a:pt x="129611" y="50456"/>
                  </a:lnTo>
                  <a:lnTo>
                    <a:pt x="94589" y="73812"/>
                  </a:lnTo>
                  <a:lnTo>
                    <a:pt x="73830" y="105265"/>
                  </a:lnTo>
                  <a:lnTo>
                    <a:pt x="70729" y="141503"/>
                  </a:lnTo>
                  <a:lnTo>
                    <a:pt x="70094" y="142773"/>
                  </a:lnTo>
                  <a:lnTo>
                    <a:pt x="21355" y="160615"/>
                  </a:lnTo>
                  <a:lnTo>
                    <a:pt x="0" y="193942"/>
                  </a:lnTo>
                  <a:lnTo>
                    <a:pt x="1910" y="216560"/>
                  </a:lnTo>
                  <a:lnTo>
                    <a:pt x="14989" y="236987"/>
                  </a:lnTo>
                  <a:lnTo>
                    <a:pt x="38344" y="252628"/>
                  </a:lnTo>
                  <a:lnTo>
                    <a:pt x="28017" y="262937"/>
                  </a:lnTo>
                  <a:lnTo>
                    <a:pt x="20976" y="274520"/>
                  </a:lnTo>
                  <a:lnTo>
                    <a:pt x="17412" y="286936"/>
                  </a:lnTo>
                  <a:lnTo>
                    <a:pt x="17516" y="299745"/>
                  </a:lnTo>
                  <a:lnTo>
                    <a:pt x="27263" y="321946"/>
                  </a:lnTo>
                  <a:lnTo>
                    <a:pt x="47011" y="339052"/>
                  </a:lnTo>
                  <a:lnTo>
                    <a:pt x="73951" y="349394"/>
                  </a:lnTo>
                  <a:lnTo>
                    <a:pt x="105273" y="351307"/>
                  </a:lnTo>
                  <a:lnTo>
                    <a:pt x="106670" y="353212"/>
                  </a:lnTo>
                  <a:lnTo>
                    <a:pt x="144194" y="383974"/>
                  </a:lnTo>
                  <a:lnTo>
                    <a:pt x="192839" y="400996"/>
                  </a:lnTo>
                  <a:lnTo>
                    <a:pt x="246437" y="403111"/>
                  </a:lnTo>
                  <a:lnTo>
                    <a:pt x="298821" y="389153"/>
                  </a:lnTo>
                  <a:lnTo>
                    <a:pt x="312019" y="401478"/>
                  </a:lnTo>
                  <a:lnTo>
                    <a:pt x="327729" y="411839"/>
                  </a:lnTo>
                  <a:lnTo>
                    <a:pt x="345559" y="420032"/>
                  </a:lnTo>
                  <a:lnTo>
                    <a:pt x="365115" y="425856"/>
                  </a:lnTo>
                  <a:lnTo>
                    <a:pt x="413541" y="429331"/>
                  </a:lnTo>
                  <a:lnTo>
                    <a:pt x="458396" y="418982"/>
                  </a:lnTo>
                  <a:lnTo>
                    <a:pt x="494774" y="396799"/>
                  </a:lnTo>
                  <a:lnTo>
                    <a:pt x="517769" y="364769"/>
                  </a:lnTo>
                  <a:lnTo>
                    <a:pt x="530518" y="369812"/>
                  </a:lnTo>
                  <a:lnTo>
                    <a:pt x="544042" y="373485"/>
                  </a:lnTo>
                  <a:lnTo>
                    <a:pt x="558113" y="375753"/>
                  </a:lnTo>
                  <a:lnTo>
                    <a:pt x="572506" y="376580"/>
                  </a:lnTo>
                  <a:lnTo>
                    <a:pt x="613396" y="370689"/>
                  </a:lnTo>
                  <a:lnTo>
                    <a:pt x="646928" y="354117"/>
                  </a:lnTo>
                  <a:lnTo>
                    <a:pt x="669696" y="329378"/>
                  </a:lnTo>
                  <a:lnTo>
                    <a:pt x="678297" y="298983"/>
                  </a:lnTo>
                  <a:lnTo>
                    <a:pt x="693695" y="296541"/>
                  </a:lnTo>
                  <a:lnTo>
                    <a:pt x="735701" y="280949"/>
                  </a:lnTo>
                  <a:lnTo>
                    <a:pt x="767701" y="253472"/>
                  </a:lnTo>
                  <a:lnTo>
                    <a:pt x="782627" y="220100"/>
                  </a:lnTo>
                  <a:lnTo>
                    <a:pt x="779742" y="184991"/>
                  </a:lnTo>
                  <a:lnTo>
                    <a:pt x="758307" y="152298"/>
                  </a:lnTo>
                  <a:lnTo>
                    <a:pt x="760085" y="149250"/>
                  </a:lnTo>
                  <a:lnTo>
                    <a:pt x="762752" y="142773"/>
                  </a:lnTo>
                  <a:lnTo>
                    <a:pt x="765280" y="114133"/>
                  </a:lnTo>
                  <a:lnTo>
                    <a:pt x="753354" y="87862"/>
                  </a:lnTo>
                  <a:lnTo>
                    <a:pt x="729140" y="66853"/>
                  </a:lnTo>
                  <a:lnTo>
                    <a:pt x="694807" y="54000"/>
                  </a:lnTo>
                  <a:lnTo>
                    <a:pt x="690806" y="43058"/>
                  </a:lnTo>
                  <a:lnTo>
                    <a:pt x="634466" y="2976"/>
                  </a:lnTo>
                  <a:lnTo>
                    <a:pt x="600890" y="232"/>
                  </a:lnTo>
                  <a:lnTo>
                    <a:pt x="568362" y="7036"/>
                  </a:lnTo>
                  <a:lnTo>
                    <a:pt x="540883" y="23139"/>
                  </a:lnTo>
                  <a:lnTo>
                    <a:pt x="535041" y="18051"/>
                  </a:lnTo>
                  <a:lnTo>
                    <a:pt x="528437" y="13487"/>
                  </a:lnTo>
                  <a:lnTo>
                    <a:pt x="521166" y="9495"/>
                  </a:lnTo>
                  <a:lnTo>
                    <a:pt x="513324" y="6121"/>
                  </a:lnTo>
                  <a:lnTo>
                    <a:pt x="482982" y="0"/>
                  </a:lnTo>
                  <a:close/>
                </a:path>
              </a:pathLst>
            </a:custGeom>
            <a:solidFill>
              <a:srgbClr val="95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518408" y="1809495"/>
              <a:ext cx="154939" cy="10439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549523" y="1459965"/>
              <a:ext cx="803910" cy="443230"/>
            </a:xfrm>
            <a:custGeom>
              <a:avLst/>
              <a:gdLst/>
              <a:ahLst/>
              <a:cxnLst/>
              <a:rect l="l" t="t" r="r" b="b"/>
              <a:pathLst>
                <a:path w="803910" h="443230">
                  <a:moveTo>
                    <a:pt x="91948" y="141503"/>
                  </a:moveTo>
                  <a:lnTo>
                    <a:pt x="115808" y="73812"/>
                  </a:lnTo>
                  <a:lnTo>
                    <a:pt x="150830" y="50456"/>
                  </a:lnTo>
                  <a:lnTo>
                    <a:pt x="196723" y="38506"/>
                  </a:lnTo>
                  <a:lnTo>
                    <a:pt x="217112" y="37760"/>
                  </a:lnTo>
                  <a:lnTo>
                    <a:pt x="237251" y="39491"/>
                  </a:lnTo>
                  <a:lnTo>
                    <a:pt x="256748" y="43650"/>
                  </a:lnTo>
                  <a:lnTo>
                    <a:pt x="275209" y="50190"/>
                  </a:lnTo>
                  <a:lnTo>
                    <a:pt x="299557" y="28043"/>
                  </a:lnTo>
                  <a:lnTo>
                    <a:pt x="332263" y="15027"/>
                  </a:lnTo>
                  <a:lnTo>
                    <a:pt x="369113" y="12132"/>
                  </a:lnTo>
                  <a:lnTo>
                    <a:pt x="405891" y="20345"/>
                  </a:lnTo>
                  <a:lnTo>
                    <a:pt x="411958" y="22967"/>
                  </a:lnTo>
                  <a:lnTo>
                    <a:pt x="417750" y="25886"/>
                  </a:lnTo>
                  <a:lnTo>
                    <a:pt x="423233" y="29114"/>
                  </a:lnTo>
                  <a:lnTo>
                    <a:pt x="428371" y="32664"/>
                  </a:lnTo>
                  <a:lnTo>
                    <a:pt x="447710" y="14140"/>
                  </a:lnTo>
                  <a:lnTo>
                    <a:pt x="474122" y="2962"/>
                  </a:lnTo>
                  <a:lnTo>
                    <a:pt x="504201" y="0"/>
                  </a:lnTo>
                  <a:lnTo>
                    <a:pt x="534542" y="6121"/>
                  </a:lnTo>
                  <a:lnTo>
                    <a:pt x="542385" y="9495"/>
                  </a:lnTo>
                  <a:lnTo>
                    <a:pt x="549655" y="13487"/>
                  </a:lnTo>
                  <a:lnTo>
                    <a:pt x="556259" y="18051"/>
                  </a:lnTo>
                  <a:lnTo>
                    <a:pt x="562101" y="23139"/>
                  </a:lnTo>
                  <a:lnTo>
                    <a:pt x="589581" y="7036"/>
                  </a:lnTo>
                  <a:lnTo>
                    <a:pt x="622109" y="232"/>
                  </a:lnTo>
                  <a:lnTo>
                    <a:pt x="655685" y="2976"/>
                  </a:lnTo>
                  <a:lnTo>
                    <a:pt x="686307" y="15519"/>
                  </a:lnTo>
                  <a:lnTo>
                    <a:pt x="697023" y="23604"/>
                  </a:lnTo>
                  <a:lnTo>
                    <a:pt x="705643" y="32855"/>
                  </a:lnTo>
                  <a:lnTo>
                    <a:pt x="712025" y="43058"/>
                  </a:lnTo>
                  <a:lnTo>
                    <a:pt x="716026" y="54000"/>
                  </a:lnTo>
                  <a:lnTo>
                    <a:pt x="750359" y="66853"/>
                  </a:lnTo>
                  <a:lnTo>
                    <a:pt x="774573" y="87862"/>
                  </a:lnTo>
                  <a:lnTo>
                    <a:pt x="786499" y="114133"/>
                  </a:lnTo>
                  <a:lnTo>
                    <a:pt x="783971" y="142773"/>
                  </a:lnTo>
                  <a:lnTo>
                    <a:pt x="782701" y="146075"/>
                  </a:lnTo>
                  <a:lnTo>
                    <a:pt x="781303" y="149250"/>
                  </a:lnTo>
                  <a:lnTo>
                    <a:pt x="779526" y="152298"/>
                  </a:lnTo>
                  <a:lnTo>
                    <a:pt x="800961" y="184991"/>
                  </a:lnTo>
                  <a:lnTo>
                    <a:pt x="788920" y="253472"/>
                  </a:lnTo>
                  <a:lnTo>
                    <a:pt x="756919" y="280949"/>
                  </a:lnTo>
                  <a:lnTo>
                    <a:pt x="714914" y="296541"/>
                  </a:lnTo>
                  <a:lnTo>
                    <a:pt x="699515" y="298983"/>
                  </a:lnTo>
                  <a:lnTo>
                    <a:pt x="690915" y="329378"/>
                  </a:lnTo>
                  <a:lnTo>
                    <a:pt x="668147" y="354117"/>
                  </a:lnTo>
                  <a:lnTo>
                    <a:pt x="634615" y="370689"/>
                  </a:lnTo>
                  <a:lnTo>
                    <a:pt x="593725" y="376580"/>
                  </a:lnTo>
                  <a:lnTo>
                    <a:pt x="579332" y="375753"/>
                  </a:lnTo>
                  <a:lnTo>
                    <a:pt x="565261" y="373485"/>
                  </a:lnTo>
                  <a:lnTo>
                    <a:pt x="551737" y="369812"/>
                  </a:lnTo>
                  <a:lnTo>
                    <a:pt x="538988" y="364769"/>
                  </a:lnTo>
                  <a:lnTo>
                    <a:pt x="515993" y="396799"/>
                  </a:lnTo>
                  <a:lnTo>
                    <a:pt x="479615" y="418982"/>
                  </a:lnTo>
                  <a:lnTo>
                    <a:pt x="434760" y="429331"/>
                  </a:lnTo>
                  <a:lnTo>
                    <a:pt x="386334" y="425856"/>
                  </a:lnTo>
                  <a:lnTo>
                    <a:pt x="366777" y="420032"/>
                  </a:lnTo>
                  <a:lnTo>
                    <a:pt x="348948" y="411839"/>
                  </a:lnTo>
                  <a:lnTo>
                    <a:pt x="333238" y="401478"/>
                  </a:lnTo>
                  <a:lnTo>
                    <a:pt x="320039" y="389153"/>
                  </a:lnTo>
                  <a:lnTo>
                    <a:pt x="267656" y="403111"/>
                  </a:lnTo>
                  <a:lnTo>
                    <a:pt x="214058" y="400996"/>
                  </a:lnTo>
                  <a:lnTo>
                    <a:pt x="165413" y="383974"/>
                  </a:lnTo>
                  <a:lnTo>
                    <a:pt x="127888" y="353212"/>
                  </a:lnTo>
                  <a:lnTo>
                    <a:pt x="127507" y="352577"/>
                  </a:lnTo>
                  <a:lnTo>
                    <a:pt x="127000" y="351942"/>
                  </a:lnTo>
                  <a:lnTo>
                    <a:pt x="126491" y="351307"/>
                  </a:lnTo>
                  <a:lnTo>
                    <a:pt x="95170" y="349394"/>
                  </a:lnTo>
                  <a:lnTo>
                    <a:pt x="68230" y="339052"/>
                  </a:lnTo>
                  <a:lnTo>
                    <a:pt x="48482" y="321946"/>
                  </a:lnTo>
                  <a:lnTo>
                    <a:pt x="38735" y="299745"/>
                  </a:lnTo>
                  <a:lnTo>
                    <a:pt x="38631" y="286936"/>
                  </a:lnTo>
                  <a:lnTo>
                    <a:pt x="42195" y="274520"/>
                  </a:lnTo>
                  <a:lnTo>
                    <a:pt x="49236" y="262937"/>
                  </a:lnTo>
                  <a:lnTo>
                    <a:pt x="59562" y="252628"/>
                  </a:lnTo>
                  <a:lnTo>
                    <a:pt x="36208" y="236987"/>
                  </a:lnTo>
                  <a:lnTo>
                    <a:pt x="23129" y="216560"/>
                  </a:lnTo>
                  <a:lnTo>
                    <a:pt x="21218" y="193942"/>
                  </a:lnTo>
                  <a:lnTo>
                    <a:pt x="31368" y="171729"/>
                  </a:lnTo>
                  <a:lnTo>
                    <a:pt x="42574" y="160615"/>
                  </a:lnTo>
                  <a:lnTo>
                    <a:pt x="56721" y="151870"/>
                  </a:lnTo>
                  <a:lnTo>
                    <a:pt x="73177" y="145815"/>
                  </a:lnTo>
                  <a:lnTo>
                    <a:pt x="91312" y="142773"/>
                  </a:lnTo>
                  <a:lnTo>
                    <a:pt x="91948" y="141503"/>
                  </a:lnTo>
                  <a:close/>
                </a:path>
                <a:path w="803910" h="443230">
                  <a:moveTo>
                    <a:pt x="47751" y="419252"/>
                  </a:moveTo>
                  <a:lnTo>
                    <a:pt x="45878" y="428555"/>
                  </a:lnTo>
                  <a:lnTo>
                    <a:pt x="40767" y="436143"/>
                  </a:lnTo>
                  <a:lnTo>
                    <a:pt x="33178" y="441255"/>
                  </a:lnTo>
                  <a:lnTo>
                    <a:pt x="23875" y="443128"/>
                  </a:lnTo>
                  <a:lnTo>
                    <a:pt x="14573" y="441255"/>
                  </a:lnTo>
                  <a:lnTo>
                    <a:pt x="6984" y="436143"/>
                  </a:lnTo>
                  <a:lnTo>
                    <a:pt x="1873" y="428555"/>
                  </a:lnTo>
                  <a:lnTo>
                    <a:pt x="0" y="419252"/>
                  </a:lnTo>
                  <a:lnTo>
                    <a:pt x="1873" y="409950"/>
                  </a:lnTo>
                  <a:lnTo>
                    <a:pt x="6984" y="402361"/>
                  </a:lnTo>
                  <a:lnTo>
                    <a:pt x="14573" y="397250"/>
                  </a:lnTo>
                  <a:lnTo>
                    <a:pt x="23875" y="395376"/>
                  </a:lnTo>
                  <a:lnTo>
                    <a:pt x="33178" y="397250"/>
                  </a:lnTo>
                  <a:lnTo>
                    <a:pt x="40767" y="402361"/>
                  </a:lnTo>
                  <a:lnTo>
                    <a:pt x="45878" y="409950"/>
                  </a:lnTo>
                  <a:lnTo>
                    <a:pt x="47751" y="419252"/>
                  </a:lnTo>
                  <a:close/>
                </a:path>
                <a:path w="803910" h="443230">
                  <a:moveTo>
                    <a:pt x="123825" y="385343"/>
                  </a:moveTo>
                  <a:lnTo>
                    <a:pt x="120997" y="399297"/>
                  </a:lnTo>
                  <a:lnTo>
                    <a:pt x="113299" y="410680"/>
                  </a:lnTo>
                  <a:lnTo>
                    <a:pt x="101911" y="418347"/>
                  </a:lnTo>
                  <a:lnTo>
                    <a:pt x="88011" y="421157"/>
                  </a:lnTo>
                  <a:lnTo>
                    <a:pt x="74056" y="418347"/>
                  </a:lnTo>
                  <a:lnTo>
                    <a:pt x="62674" y="410680"/>
                  </a:lnTo>
                  <a:lnTo>
                    <a:pt x="55006" y="399297"/>
                  </a:lnTo>
                  <a:lnTo>
                    <a:pt x="52197" y="385343"/>
                  </a:lnTo>
                  <a:lnTo>
                    <a:pt x="55006" y="371389"/>
                  </a:lnTo>
                  <a:lnTo>
                    <a:pt x="62674" y="360007"/>
                  </a:lnTo>
                  <a:lnTo>
                    <a:pt x="74056" y="352339"/>
                  </a:lnTo>
                  <a:lnTo>
                    <a:pt x="88011" y="349529"/>
                  </a:lnTo>
                  <a:lnTo>
                    <a:pt x="101911" y="352339"/>
                  </a:lnTo>
                  <a:lnTo>
                    <a:pt x="113299" y="360007"/>
                  </a:lnTo>
                  <a:lnTo>
                    <a:pt x="120997" y="371389"/>
                  </a:lnTo>
                  <a:lnTo>
                    <a:pt x="123825" y="385343"/>
                  </a:lnTo>
                  <a:close/>
                </a:path>
                <a:path w="803910" h="443230">
                  <a:moveTo>
                    <a:pt x="106299" y="258978"/>
                  </a:moveTo>
                  <a:lnTo>
                    <a:pt x="94329" y="258960"/>
                  </a:lnTo>
                  <a:lnTo>
                    <a:pt x="82550" y="257597"/>
                  </a:lnTo>
                  <a:lnTo>
                    <a:pt x="71151" y="254924"/>
                  </a:lnTo>
                  <a:lnTo>
                    <a:pt x="60325" y="250977"/>
                  </a:lnTo>
                </a:path>
                <a:path w="803910" h="443230">
                  <a:moveTo>
                    <a:pt x="146812" y="345719"/>
                  </a:moveTo>
                  <a:lnTo>
                    <a:pt x="140335" y="347624"/>
                  </a:lnTo>
                  <a:lnTo>
                    <a:pt x="133603" y="348894"/>
                  </a:lnTo>
                  <a:lnTo>
                    <a:pt x="126746" y="349529"/>
                  </a:lnTo>
                </a:path>
                <a:path w="803910" h="443230">
                  <a:moveTo>
                    <a:pt x="320039" y="387375"/>
                  </a:moveTo>
                  <a:lnTo>
                    <a:pt x="315213" y="381914"/>
                  </a:lnTo>
                  <a:lnTo>
                    <a:pt x="311150" y="376199"/>
                  </a:lnTo>
                  <a:lnTo>
                    <a:pt x="307848" y="370103"/>
                  </a:lnTo>
                </a:path>
                <a:path w="803910" h="443230">
                  <a:moveTo>
                    <a:pt x="543940" y="344195"/>
                  </a:moveTo>
                  <a:lnTo>
                    <a:pt x="543178" y="350672"/>
                  </a:lnTo>
                  <a:lnTo>
                    <a:pt x="541527" y="357022"/>
                  </a:lnTo>
                  <a:lnTo>
                    <a:pt x="539114" y="363245"/>
                  </a:lnTo>
                </a:path>
                <a:path w="803910" h="443230">
                  <a:moveTo>
                    <a:pt x="640079" y="226847"/>
                  </a:moveTo>
                  <a:lnTo>
                    <a:pt x="664664" y="239279"/>
                  </a:lnTo>
                  <a:lnTo>
                    <a:pt x="683307" y="256010"/>
                  </a:lnTo>
                  <a:lnTo>
                    <a:pt x="695069" y="275907"/>
                  </a:lnTo>
                  <a:lnTo>
                    <a:pt x="699007" y="297840"/>
                  </a:lnTo>
                </a:path>
                <a:path w="803910" h="443230">
                  <a:moveTo>
                    <a:pt x="779144" y="151282"/>
                  </a:moveTo>
                  <a:lnTo>
                    <a:pt x="774126" y="158751"/>
                  </a:lnTo>
                  <a:lnTo>
                    <a:pt x="768048" y="165697"/>
                  </a:lnTo>
                  <a:lnTo>
                    <a:pt x="760946" y="172071"/>
                  </a:lnTo>
                  <a:lnTo>
                    <a:pt x="752855" y="177825"/>
                  </a:lnTo>
                </a:path>
                <a:path w="803910" h="443230">
                  <a:moveTo>
                    <a:pt x="716152" y="52476"/>
                  </a:moveTo>
                  <a:lnTo>
                    <a:pt x="717168" y="56667"/>
                  </a:lnTo>
                  <a:lnTo>
                    <a:pt x="717550" y="60858"/>
                  </a:lnTo>
                  <a:lnTo>
                    <a:pt x="717550" y="65049"/>
                  </a:lnTo>
                </a:path>
                <a:path w="803910" h="443230">
                  <a:moveTo>
                    <a:pt x="548513" y="37871"/>
                  </a:moveTo>
                  <a:lnTo>
                    <a:pt x="551941" y="32029"/>
                  </a:lnTo>
                  <a:lnTo>
                    <a:pt x="556387" y="26568"/>
                  </a:lnTo>
                  <a:lnTo>
                    <a:pt x="561975" y="21742"/>
                  </a:lnTo>
                </a:path>
                <a:path w="803910" h="443230">
                  <a:moveTo>
                    <a:pt x="422655" y="45491"/>
                  </a:moveTo>
                  <a:lnTo>
                    <a:pt x="424052" y="40665"/>
                  </a:lnTo>
                  <a:lnTo>
                    <a:pt x="426212" y="35966"/>
                  </a:lnTo>
                  <a:lnTo>
                    <a:pt x="429260" y="31648"/>
                  </a:lnTo>
                </a:path>
                <a:path w="803910" h="443230">
                  <a:moveTo>
                    <a:pt x="275081" y="50190"/>
                  </a:moveTo>
                  <a:lnTo>
                    <a:pt x="281360" y="53113"/>
                  </a:lnTo>
                  <a:lnTo>
                    <a:pt x="287400" y="56334"/>
                  </a:lnTo>
                  <a:lnTo>
                    <a:pt x="293155" y="59817"/>
                  </a:lnTo>
                  <a:lnTo>
                    <a:pt x="298576" y="63525"/>
                  </a:lnTo>
                </a:path>
                <a:path w="803910" h="443230">
                  <a:moveTo>
                    <a:pt x="96012" y="155600"/>
                  </a:moveTo>
                  <a:lnTo>
                    <a:pt x="94234" y="150901"/>
                  </a:lnTo>
                  <a:lnTo>
                    <a:pt x="92837" y="146202"/>
                  </a:lnTo>
                  <a:lnTo>
                    <a:pt x="91948" y="14150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734561" y="1774349"/>
            <a:ext cx="40132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965" marR="5080" indent="-88900">
              <a:spcBef>
                <a:spcPts val="105"/>
              </a:spcBef>
            </a:pPr>
            <a:r>
              <a:rPr sz="80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800" spc="-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800" dirty="0">
                <a:solidFill>
                  <a:srgbClr val="FFFFFF"/>
                </a:solidFill>
                <a:latin typeface="Trebuchet MS"/>
                <a:cs typeface="Trebuchet MS"/>
              </a:rPr>
              <a:t>teri</a:t>
            </a:r>
            <a:r>
              <a:rPr sz="800" spc="-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800" dirty="0">
                <a:solidFill>
                  <a:srgbClr val="FFFFFF"/>
                </a:solidFill>
                <a:latin typeface="Trebuchet MS"/>
                <a:cs typeface="Trebuchet MS"/>
              </a:rPr>
              <a:t>l  </a:t>
            </a:r>
            <a:r>
              <a:rPr sz="800" spc="-5" dirty="0">
                <a:solidFill>
                  <a:srgbClr val="FFFFFF"/>
                </a:solidFill>
                <a:latin typeface="Trebuchet MS"/>
                <a:cs typeface="Trebuchet MS"/>
              </a:rPr>
              <a:t>Cost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21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45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CABF9A-005C-9D47-1D06-B04E702E871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057656" y="1071403"/>
            <a:ext cx="2886710" cy="1463040"/>
          </a:xfrm>
          <a:custGeom>
            <a:avLst/>
            <a:gdLst/>
            <a:ahLst/>
            <a:cxnLst/>
            <a:rect l="l" t="t" r="r" b="b"/>
            <a:pathLst>
              <a:path w="2886710" h="1463039">
                <a:moveTo>
                  <a:pt x="0" y="0"/>
                </a:moveTo>
                <a:lnTo>
                  <a:pt x="0" y="1463039"/>
                </a:lnTo>
              </a:path>
              <a:path w="2886710" h="1463039">
                <a:moveTo>
                  <a:pt x="0" y="1463039"/>
                </a:moveTo>
                <a:lnTo>
                  <a:pt x="2886456" y="1463039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93873" y="2550700"/>
            <a:ext cx="9194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Order</a:t>
            </a:r>
            <a:r>
              <a:rPr sz="1000" b="1" spc="-55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Quantity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1228" y="1535508"/>
            <a:ext cx="307777" cy="4508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/>
            <a:r>
              <a:rPr sz="1000" b="1" spc="-40" dirty="0">
                <a:latin typeface="Arial"/>
                <a:cs typeface="Arial"/>
              </a:rPr>
              <a:t>A</a:t>
            </a:r>
            <a:r>
              <a:rPr sz="1000" b="1" dirty="0">
                <a:latin typeface="Arial"/>
                <a:cs typeface="Arial"/>
              </a:rPr>
              <a:t>nnual</a:t>
            </a:r>
            <a:endParaRPr sz="1000">
              <a:latin typeface="Arial"/>
              <a:cs typeface="Arial"/>
            </a:endParaRPr>
          </a:p>
          <a:p>
            <a:pPr marL="12700">
              <a:spcBef>
                <a:spcPts val="5"/>
              </a:spcBef>
            </a:pPr>
            <a:r>
              <a:rPr sz="1000" b="1" spc="-5" dirty="0">
                <a:latin typeface="Arial"/>
                <a:cs typeface="Arial"/>
              </a:rPr>
              <a:t>Cost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1818" y="676941"/>
            <a:ext cx="1374648" cy="1670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24</a:t>
            </a:r>
            <a:endParaRPr sz="550">
              <a:latin typeface="Trebuchet MS"/>
              <a:cs typeface="Trebuchet MS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1055952" y="1964682"/>
            <a:ext cx="1687249" cy="56313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30563" y="1862506"/>
            <a:ext cx="9701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2">
                    <a:lumMod val="50000"/>
                  </a:schemeClr>
                </a:solidFill>
              </a:rPr>
              <a:t>Holding Cost</a:t>
            </a:r>
          </a:p>
        </p:txBody>
      </p:sp>
      <p:sp>
        <p:nvSpPr>
          <p:cNvPr id="24" name="object 12"/>
          <p:cNvSpPr/>
          <p:nvPr/>
        </p:nvSpPr>
        <p:spPr>
          <a:xfrm>
            <a:off x="1062749" y="1833877"/>
            <a:ext cx="1908175" cy="564515"/>
          </a:xfrm>
          <a:custGeom>
            <a:avLst/>
            <a:gdLst/>
            <a:ahLst/>
            <a:cxnLst/>
            <a:rect l="l" t="t" r="r" b="b"/>
            <a:pathLst>
              <a:path w="1908175" h="564514">
                <a:moveTo>
                  <a:pt x="1907921" y="550672"/>
                </a:moveTo>
                <a:lnTo>
                  <a:pt x="1848888" y="555282"/>
                </a:lnTo>
                <a:lnTo>
                  <a:pt x="1790154" y="558923"/>
                </a:lnTo>
                <a:lnTo>
                  <a:pt x="1731746" y="561602"/>
                </a:lnTo>
                <a:lnTo>
                  <a:pt x="1673691" y="563328"/>
                </a:lnTo>
                <a:lnTo>
                  <a:pt x="1616017" y="564107"/>
                </a:lnTo>
                <a:lnTo>
                  <a:pt x="1558752" y="563948"/>
                </a:lnTo>
                <a:lnTo>
                  <a:pt x="1501921" y="562859"/>
                </a:lnTo>
                <a:lnTo>
                  <a:pt x="1445554" y="560848"/>
                </a:lnTo>
                <a:lnTo>
                  <a:pt x="1389677" y="557922"/>
                </a:lnTo>
                <a:lnTo>
                  <a:pt x="1334318" y="554090"/>
                </a:lnTo>
                <a:lnTo>
                  <a:pt x="1279504" y="549359"/>
                </a:lnTo>
                <a:lnTo>
                  <a:pt x="1225263" y="543737"/>
                </a:lnTo>
                <a:lnTo>
                  <a:pt x="1171621" y="537233"/>
                </a:lnTo>
                <a:lnTo>
                  <a:pt x="1118606" y="529853"/>
                </a:lnTo>
                <a:lnTo>
                  <a:pt x="1066246" y="521606"/>
                </a:lnTo>
                <a:lnTo>
                  <a:pt x="1014568" y="512500"/>
                </a:lnTo>
                <a:lnTo>
                  <a:pt x="963599" y="502543"/>
                </a:lnTo>
                <a:lnTo>
                  <a:pt x="913367" y="491742"/>
                </a:lnTo>
                <a:lnTo>
                  <a:pt x="863899" y="480106"/>
                </a:lnTo>
                <a:lnTo>
                  <a:pt x="815223" y="467642"/>
                </a:lnTo>
                <a:lnTo>
                  <a:pt x="767365" y="454358"/>
                </a:lnTo>
                <a:lnTo>
                  <a:pt x="720354" y="440262"/>
                </a:lnTo>
                <a:lnTo>
                  <a:pt x="674216" y="425363"/>
                </a:lnTo>
                <a:lnTo>
                  <a:pt x="628979" y="409667"/>
                </a:lnTo>
                <a:lnTo>
                  <a:pt x="584671" y="393183"/>
                </a:lnTo>
                <a:lnTo>
                  <a:pt x="541318" y="375918"/>
                </a:lnTo>
                <a:lnTo>
                  <a:pt x="498949" y="357881"/>
                </a:lnTo>
                <a:lnTo>
                  <a:pt x="457590" y="339080"/>
                </a:lnTo>
                <a:lnTo>
                  <a:pt x="417269" y="319522"/>
                </a:lnTo>
                <a:lnTo>
                  <a:pt x="378013" y="299215"/>
                </a:lnTo>
                <a:lnTo>
                  <a:pt x="339850" y="278167"/>
                </a:lnTo>
                <a:lnTo>
                  <a:pt x="302807" y="256387"/>
                </a:lnTo>
                <a:lnTo>
                  <a:pt x="266911" y="233881"/>
                </a:lnTo>
                <a:lnTo>
                  <a:pt x="232190" y="210658"/>
                </a:lnTo>
                <a:lnTo>
                  <a:pt x="198671" y="186725"/>
                </a:lnTo>
                <a:lnTo>
                  <a:pt x="166382" y="162091"/>
                </a:lnTo>
                <a:lnTo>
                  <a:pt x="135349" y="136764"/>
                </a:lnTo>
                <a:lnTo>
                  <a:pt x="105601" y="110751"/>
                </a:lnTo>
                <a:lnTo>
                  <a:pt x="77165" y="84060"/>
                </a:lnTo>
                <a:lnTo>
                  <a:pt x="50068" y="56699"/>
                </a:lnTo>
                <a:lnTo>
                  <a:pt x="24337" y="28676"/>
                </a:lnTo>
                <a:lnTo>
                  <a:pt x="0" y="0"/>
                </a:lnTo>
              </a:path>
            </a:pathLst>
          </a:cu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70020" y="2263049"/>
            <a:ext cx="9701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Ordering Cost</a:t>
            </a:r>
          </a:p>
        </p:txBody>
      </p:sp>
      <p:sp>
        <p:nvSpPr>
          <p:cNvPr id="26" name="object 16"/>
          <p:cNvSpPr/>
          <p:nvPr/>
        </p:nvSpPr>
        <p:spPr>
          <a:xfrm>
            <a:off x="1091757" y="1680715"/>
            <a:ext cx="1877060" cy="274320"/>
          </a:xfrm>
          <a:custGeom>
            <a:avLst/>
            <a:gdLst/>
            <a:ahLst/>
            <a:cxnLst/>
            <a:rect l="l" t="t" r="r" b="b"/>
            <a:pathLst>
              <a:path w="1877060" h="274319">
                <a:moveTo>
                  <a:pt x="0" y="0"/>
                </a:moveTo>
                <a:lnTo>
                  <a:pt x="31654" y="35067"/>
                </a:lnTo>
                <a:lnTo>
                  <a:pt x="77978" y="74803"/>
                </a:lnTo>
                <a:lnTo>
                  <a:pt x="108666" y="98561"/>
                </a:lnTo>
                <a:lnTo>
                  <a:pt x="143652" y="124666"/>
                </a:lnTo>
                <a:lnTo>
                  <a:pt x="184759" y="150794"/>
                </a:lnTo>
                <a:lnTo>
                  <a:pt x="233806" y="174625"/>
                </a:lnTo>
                <a:lnTo>
                  <a:pt x="272481" y="189108"/>
                </a:lnTo>
                <a:lnTo>
                  <a:pt x="316041" y="203247"/>
                </a:lnTo>
                <a:lnTo>
                  <a:pt x="362854" y="216693"/>
                </a:lnTo>
                <a:lnTo>
                  <a:pt x="411287" y="229103"/>
                </a:lnTo>
                <a:lnTo>
                  <a:pt x="459705" y="240129"/>
                </a:lnTo>
                <a:lnTo>
                  <a:pt x="506475" y="249428"/>
                </a:lnTo>
                <a:lnTo>
                  <a:pt x="559791" y="258405"/>
                </a:lnTo>
                <a:lnTo>
                  <a:pt x="611863" y="265377"/>
                </a:lnTo>
                <a:lnTo>
                  <a:pt x="664557" y="270349"/>
                </a:lnTo>
                <a:lnTo>
                  <a:pt x="719738" y="273328"/>
                </a:lnTo>
                <a:lnTo>
                  <a:pt x="779272" y="274320"/>
                </a:lnTo>
                <a:lnTo>
                  <a:pt x="824934" y="274027"/>
                </a:lnTo>
                <a:lnTo>
                  <a:pt x="872647" y="273006"/>
                </a:lnTo>
                <a:lnTo>
                  <a:pt x="922067" y="271040"/>
                </a:lnTo>
                <a:lnTo>
                  <a:pt x="972848" y="267915"/>
                </a:lnTo>
                <a:lnTo>
                  <a:pt x="1024646" y="263415"/>
                </a:lnTo>
                <a:lnTo>
                  <a:pt x="1077118" y="257324"/>
                </a:lnTo>
                <a:lnTo>
                  <a:pt x="1129919" y="249428"/>
                </a:lnTo>
                <a:lnTo>
                  <a:pt x="1177310" y="240695"/>
                </a:lnTo>
                <a:lnTo>
                  <a:pt x="1226446" y="230312"/>
                </a:lnTo>
                <a:lnTo>
                  <a:pt x="1276642" y="218569"/>
                </a:lnTo>
                <a:lnTo>
                  <a:pt x="1327213" y="205755"/>
                </a:lnTo>
                <a:lnTo>
                  <a:pt x="1377474" y="192162"/>
                </a:lnTo>
                <a:lnTo>
                  <a:pt x="1426741" y="178079"/>
                </a:lnTo>
                <a:lnTo>
                  <a:pt x="1474330" y="163797"/>
                </a:lnTo>
                <a:lnTo>
                  <a:pt x="1519555" y="149606"/>
                </a:lnTo>
                <a:lnTo>
                  <a:pt x="1570589" y="132254"/>
                </a:lnTo>
                <a:lnTo>
                  <a:pt x="1622299" y="112929"/>
                </a:lnTo>
                <a:lnTo>
                  <a:pt x="1672980" y="92722"/>
                </a:lnTo>
                <a:lnTo>
                  <a:pt x="1720928" y="72724"/>
                </a:lnTo>
                <a:lnTo>
                  <a:pt x="1764440" y="54026"/>
                </a:lnTo>
                <a:lnTo>
                  <a:pt x="1801812" y="37718"/>
                </a:lnTo>
                <a:lnTo>
                  <a:pt x="1831340" y="24892"/>
                </a:lnTo>
                <a:lnTo>
                  <a:pt x="1863435" y="10501"/>
                </a:lnTo>
                <a:lnTo>
                  <a:pt x="1876361" y="3111"/>
                </a:lnTo>
                <a:lnTo>
                  <a:pt x="1876524" y="388"/>
                </a:lnTo>
                <a:lnTo>
                  <a:pt x="1870329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7"/>
          <p:cNvSpPr/>
          <p:nvPr/>
        </p:nvSpPr>
        <p:spPr>
          <a:xfrm>
            <a:off x="1828078" y="1955035"/>
            <a:ext cx="45719" cy="569762"/>
          </a:xfrm>
          <a:custGeom>
            <a:avLst/>
            <a:gdLst/>
            <a:ahLst/>
            <a:cxnLst/>
            <a:rect l="l" t="t" r="r" b="b"/>
            <a:pathLst>
              <a:path h="501650">
                <a:moveTo>
                  <a:pt x="0" y="0"/>
                </a:moveTo>
                <a:lnTo>
                  <a:pt x="0" y="501395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68818" y="1540126"/>
            <a:ext cx="9701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Total Cost</a:t>
            </a:r>
          </a:p>
        </p:txBody>
      </p:sp>
      <p:cxnSp>
        <p:nvCxnSpPr>
          <p:cNvPr id="41" name="Straight Connector 40"/>
          <p:cNvCxnSpPr/>
          <p:nvPr/>
        </p:nvCxnSpPr>
        <p:spPr>
          <a:xfrm>
            <a:off x="1055952" y="2305844"/>
            <a:ext cx="1839649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95149" y="2129367"/>
            <a:ext cx="9701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3">
                    <a:lumMod val="50000"/>
                  </a:schemeClr>
                </a:solidFill>
              </a:rPr>
              <a:t>Material Cost</a:t>
            </a:r>
          </a:p>
        </p:txBody>
      </p:sp>
      <p:sp>
        <p:nvSpPr>
          <p:cNvPr id="43" name="object 18"/>
          <p:cNvSpPr/>
          <p:nvPr/>
        </p:nvSpPr>
        <p:spPr>
          <a:xfrm>
            <a:off x="1083565" y="1426495"/>
            <a:ext cx="1867535" cy="280670"/>
          </a:xfrm>
          <a:custGeom>
            <a:avLst/>
            <a:gdLst/>
            <a:ahLst/>
            <a:cxnLst/>
            <a:rect l="l" t="t" r="r" b="b"/>
            <a:pathLst>
              <a:path w="1867535" h="280669">
                <a:moveTo>
                  <a:pt x="0" y="0"/>
                </a:moveTo>
                <a:lnTo>
                  <a:pt x="31511" y="35845"/>
                </a:lnTo>
                <a:lnTo>
                  <a:pt x="77597" y="76453"/>
                </a:lnTo>
                <a:lnTo>
                  <a:pt x="108166" y="100746"/>
                </a:lnTo>
                <a:lnTo>
                  <a:pt x="142986" y="127444"/>
                </a:lnTo>
                <a:lnTo>
                  <a:pt x="183878" y="154142"/>
                </a:lnTo>
                <a:lnTo>
                  <a:pt x="232664" y="178434"/>
                </a:lnTo>
                <a:lnTo>
                  <a:pt x="271182" y="193235"/>
                </a:lnTo>
                <a:lnTo>
                  <a:pt x="314541" y="207682"/>
                </a:lnTo>
                <a:lnTo>
                  <a:pt x="361124" y="221424"/>
                </a:lnTo>
                <a:lnTo>
                  <a:pt x="409316" y="234108"/>
                </a:lnTo>
                <a:lnTo>
                  <a:pt x="457501" y="245380"/>
                </a:lnTo>
                <a:lnTo>
                  <a:pt x="504063" y="254888"/>
                </a:lnTo>
                <a:lnTo>
                  <a:pt x="557135" y="264078"/>
                </a:lnTo>
                <a:lnTo>
                  <a:pt x="608940" y="271226"/>
                </a:lnTo>
                <a:lnTo>
                  <a:pt x="661348" y="276331"/>
                </a:lnTo>
                <a:lnTo>
                  <a:pt x="716232" y="279394"/>
                </a:lnTo>
                <a:lnTo>
                  <a:pt x="775462" y="280415"/>
                </a:lnTo>
                <a:lnTo>
                  <a:pt x="820939" y="280121"/>
                </a:lnTo>
                <a:lnTo>
                  <a:pt x="868432" y="279087"/>
                </a:lnTo>
                <a:lnTo>
                  <a:pt x="917607" y="277086"/>
                </a:lnTo>
                <a:lnTo>
                  <a:pt x="968130" y="273893"/>
                </a:lnTo>
                <a:lnTo>
                  <a:pt x="1019668" y="269280"/>
                </a:lnTo>
                <a:lnTo>
                  <a:pt x="1071888" y="263021"/>
                </a:lnTo>
                <a:lnTo>
                  <a:pt x="1124458" y="254888"/>
                </a:lnTo>
                <a:lnTo>
                  <a:pt x="1171611" y="245985"/>
                </a:lnTo>
                <a:lnTo>
                  <a:pt x="1220509" y="235382"/>
                </a:lnTo>
                <a:lnTo>
                  <a:pt x="1270467" y="223380"/>
                </a:lnTo>
                <a:lnTo>
                  <a:pt x="1320800" y="210280"/>
                </a:lnTo>
                <a:lnTo>
                  <a:pt x="1370823" y="196382"/>
                </a:lnTo>
                <a:lnTo>
                  <a:pt x="1419852" y="181987"/>
                </a:lnTo>
                <a:lnTo>
                  <a:pt x="1467202" y="167395"/>
                </a:lnTo>
                <a:lnTo>
                  <a:pt x="1512189" y="152907"/>
                </a:lnTo>
                <a:lnTo>
                  <a:pt x="1562952" y="135148"/>
                </a:lnTo>
                <a:lnTo>
                  <a:pt x="1614397" y="115380"/>
                </a:lnTo>
                <a:lnTo>
                  <a:pt x="1664827" y="94721"/>
                </a:lnTo>
                <a:lnTo>
                  <a:pt x="1712545" y="74289"/>
                </a:lnTo>
                <a:lnTo>
                  <a:pt x="1755853" y="55201"/>
                </a:lnTo>
                <a:lnTo>
                  <a:pt x="1793053" y="38574"/>
                </a:lnTo>
                <a:lnTo>
                  <a:pt x="1822450" y="25526"/>
                </a:lnTo>
                <a:lnTo>
                  <a:pt x="1854416" y="10769"/>
                </a:lnTo>
                <a:lnTo>
                  <a:pt x="1867296" y="3190"/>
                </a:lnTo>
                <a:lnTo>
                  <a:pt x="1867437" y="398"/>
                </a:lnTo>
                <a:lnTo>
                  <a:pt x="186118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0"/>
          <p:cNvSpPr txBox="1"/>
          <p:nvPr/>
        </p:nvSpPr>
        <p:spPr>
          <a:xfrm>
            <a:off x="1691628" y="2561755"/>
            <a:ext cx="30670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E</a:t>
            </a:r>
            <a:r>
              <a:rPr sz="1000" b="1" spc="-5" dirty="0">
                <a:latin typeface="Arial"/>
                <a:cs typeface="Arial"/>
              </a:rPr>
              <a:t>OQ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0DFCE1-BF11-31BA-611F-63E12B5CD5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1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4" grpId="0" animBg="1"/>
      <p:bldP spid="25" grpId="0"/>
      <p:bldP spid="26" grpId="0" animBg="1"/>
      <p:bldP spid="36" grpId="0" animBg="1"/>
      <p:bldP spid="37" grpId="0"/>
      <p:bldP spid="42" grpId="0"/>
      <p:bldP spid="43" grpId="0" animBg="1"/>
      <p:bldP spid="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28676" y="547909"/>
            <a:ext cx="1431163" cy="197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8673" y="636199"/>
            <a:ext cx="121832" cy="162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5014" y="591597"/>
            <a:ext cx="82042" cy="1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25</a:t>
            </a:r>
            <a:endParaRPr sz="55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49434" y="510382"/>
            <a:ext cx="578485" cy="258445"/>
            <a:chOff x="3849433" y="261937"/>
            <a:chExt cx="578485" cy="258445"/>
          </a:xfrm>
        </p:grpSpPr>
        <p:sp>
          <p:nvSpPr>
            <p:cNvPr id="21" name="object 21"/>
            <p:cNvSpPr/>
            <p:nvPr/>
          </p:nvSpPr>
          <p:spPr>
            <a:xfrm>
              <a:off x="3854196" y="266699"/>
              <a:ext cx="568960" cy="248920"/>
            </a:xfrm>
            <a:custGeom>
              <a:avLst/>
              <a:gdLst/>
              <a:ahLst/>
              <a:cxnLst/>
              <a:rect l="l" t="t" r="r" b="b"/>
              <a:pathLst>
                <a:path w="568960" h="248920">
                  <a:moveTo>
                    <a:pt x="568451" y="0"/>
                  </a:moveTo>
                  <a:lnTo>
                    <a:pt x="0" y="0"/>
                  </a:lnTo>
                  <a:lnTo>
                    <a:pt x="0" y="198754"/>
                  </a:lnTo>
                  <a:lnTo>
                    <a:pt x="284225" y="248412"/>
                  </a:lnTo>
                  <a:lnTo>
                    <a:pt x="568451" y="198754"/>
                  </a:lnTo>
                  <a:lnTo>
                    <a:pt x="568451" y="0"/>
                  </a:lnTo>
                  <a:close/>
                </a:path>
              </a:pathLst>
            </a:custGeom>
            <a:solidFill>
              <a:srgbClr val="A4AB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54196" y="266699"/>
              <a:ext cx="568960" cy="248920"/>
            </a:xfrm>
            <a:custGeom>
              <a:avLst/>
              <a:gdLst/>
              <a:ahLst/>
              <a:cxnLst/>
              <a:rect l="l" t="t" r="r" b="b"/>
              <a:pathLst>
                <a:path w="568960" h="248920">
                  <a:moveTo>
                    <a:pt x="0" y="0"/>
                  </a:moveTo>
                  <a:lnTo>
                    <a:pt x="568451" y="0"/>
                  </a:lnTo>
                  <a:lnTo>
                    <a:pt x="568451" y="198754"/>
                  </a:lnTo>
                  <a:lnTo>
                    <a:pt x="284225" y="248412"/>
                  </a:lnTo>
                  <a:lnTo>
                    <a:pt x="0" y="1987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55A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09500" y="522002"/>
            <a:ext cx="4267835" cy="121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02565" algn="r">
              <a:spcBef>
                <a:spcPts val="95"/>
              </a:spcBef>
            </a:pPr>
            <a:r>
              <a:rPr sz="1000" b="1" spc="-35" dirty="0">
                <a:solidFill>
                  <a:srgbClr val="FFFFFF"/>
                </a:solidFill>
                <a:latin typeface="Trebuchet MS"/>
                <a:cs typeface="Trebuchet MS"/>
              </a:rPr>
              <a:t>(LT </a:t>
            </a:r>
            <a:r>
              <a:rPr sz="1000" b="1" spc="-5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sz="10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Trebuchet MS"/>
                <a:cs typeface="Trebuchet MS"/>
              </a:rPr>
              <a:t>0)</a:t>
            </a:r>
            <a:endParaRPr sz="1000" dirty="0">
              <a:latin typeface="Trebuchet MS"/>
              <a:cs typeface="Trebuchet MS"/>
            </a:endParaRPr>
          </a:p>
          <a:p>
            <a:pPr>
              <a:spcBef>
                <a:spcPts val="15"/>
              </a:spcBef>
            </a:pPr>
            <a:endParaRPr sz="1250" dirty="0">
              <a:latin typeface="Trebuchet MS"/>
              <a:cs typeface="Trebuchet MS"/>
            </a:endParaRPr>
          </a:p>
          <a:p>
            <a:pPr marL="12700" marR="5080" algn="just"/>
            <a:r>
              <a:rPr sz="1000" i="1" spc="-5" dirty="0">
                <a:latin typeface="Trebuchet MS"/>
                <a:cs typeface="Trebuchet MS"/>
              </a:rPr>
              <a:t>A local distributor for a national tire company expects to sell  approximately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9,600 steel-belted </a:t>
            </a:r>
            <a:r>
              <a:rPr sz="1000" i="1" spc="-5" dirty="0">
                <a:latin typeface="Trebuchet MS"/>
                <a:cs typeface="Trebuchet MS"/>
              </a:rPr>
              <a:t>radial tires </a:t>
            </a:r>
            <a:r>
              <a:rPr sz="1000" i="1" dirty="0">
                <a:latin typeface="Trebuchet MS"/>
                <a:cs typeface="Trebuchet MS"/>
              </a:rPr>
              <a:t>of </a:t>
            </a:r>
            <a:r>
              <a:rPr sz="1000" i="1" spc="-5" dirty="0">
                <a:latin typeface="Trebuchet MS"/>
                <a:cs typeface="Trebuchet MS"/>
              </a:rPr>
              <a:t>a certain </a:t>
            </a:r>
            <a:r>
              <a:rPr sz="1000" i="1" spc="-10" dirty="0">
                <a:latin typeface="Trebuchet MS"/>
                <a:cs typeface="Trebuchet MS"/>
              </a:rPr>
              <a:t>size </a:t>
            </a:r>
            <a:r>
              <a:rPr sz="1000" i="1" spc="-5" dirty="0">
                <a:latin typeface="Trebuchet MS"/>
                <a:cs typeface="Trebuchet MS"/>
              </a:rPr>
              <a:t>and tread  design next </a:t>
            </a:r>
            <a:r>
              <a:rPr sz="1000" i="1" spc="-30" dirty="0">
                <a:latin typeface="Trebuchet MS"/>
                <a:cs typeface="Trebuchet MS"/>
              </a:rPr>
              <a:t>year. </a:t>
            </a:r>
            <a:r>
              <a:rPr sz="1000" i="1" spc="-5" dirty="0">
                <a:latin typeface="Trebuchet MS"/>
                <a:cs typeface="Trebuchet MS"/>
              </a:rPr>
              <a:t>Annual carrying cost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$16 per tire</a:t>
            </a:r>
            <a:r>
              <a:rPr sz="1000" i="1" spc="-5" dirty="0">
                <a:latin typeface="Trebuchet MS"/>
                <a:cs typeface="Trebuchet MS"/>
              </a:rPr>
              <a:t>, and ordering cost 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$75</a:t>
            </a:r>
            <a:r>
              <a:rPr sz="1000" i="1" spc="-5" dirty="0">
                <a:latin typeface="Trebuchet MS"/>
                <a:cs typeface="Trebuchet MS"/>
              </a:rPr>
              <a:t>. </a:t>
            </a:r>
            <a:r>
              <a:rPr sz="1000" i="1" spc="-10" dirty="0">
                <a:latin typeface="Trebuchet MS"/>
                <a:cs typeface="Trebuchet MS"/>
              </a:rPr>
              <a:t>The </a:t>
            </a:r>
            <a:r>
              <a:rPr sz="1000" i="1" spc="-5" dirty="0">
                <a:latin typeface="Trebuchet MS"/>
                <a:cs typeface="Trebuchet MS"/>
              </a:rPr>
              <a:t>distributor operates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288 </a:t>
            </a:r>
            <a:r>
              <a:rPr sz="1000" b="1" i="1" spc="-10" dirty="0">
                <a:solidFill>
                  <a:srgbClr val="B85B21"/>
                </a:solidFill>
                <a:latin typeface="Trebuchet MS"/>
                <a:cs typeface="Trebuchet MS"/>
              </a:rPr>
              <a:t>days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a</a:t>
            </a:r>
            <a:r>
              <a:rPr sz="1000" b="1" i="1" spc="90" dirty="0">
                <a:solidFill>
                  <a:srgbClr val="B85B21"/>
                </a:solidFill>
                <a:latin typeface="Trebuchet MS"/>
                <a:cs typeface="Trebuchet MS"/>
              </a:rPr>
              <a:t>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year</a:t>
            </a:r>
            <a:r>
              <a:rPr sz="1000" i="1" spc="-5" dirty="0">
                <a:latin typeface="Trebuchet MS"/>
                <a:cs typeface="Trebuchet MS"/>
              </a:rPr>
              <a:t>.</a:t>
            </a:r>
            <a:endParaRPr sz="1000" dirty="0">
              <a:latin typeface="Trebuchet MS"/>
              <a:cs typeface="Trebuchet MS"/>
            </a:endParaRPr>
          </a:p>
          <a:p>
            <a:pPr marL="268605">
              <a:spcBef>
                <a:spcPts val="695"/>
              </a:spcBef>
            </a:pPr>
            <a:r>
              <a:rPr sz="1000" b="1" spc="-5" dirty="0">
                <a:latin typeface="Trebuchet MS"/>
                <a:cs typeface="Trebuchet MS"/>
              </a:rPr>
              <a:t>a. </a:t>
            </a:r>
            <a:r>
              <a:rPr sz="1000" b="1" spc="-10" dirty="0">
                <a:latin typeface="Trebuchet MS"/>
                <a:cs typeface="Trebuchet MS"/>
              </a:rPr>
              <a:t>Determine the </a:t>
            </a:r>
            <a:r>
              <a:rPr sz="1000" b="1" spc="-5" dirty="0">
                <a:latin typeface="Trebuchet MS"/>
                <a:cs typeface="Trebuchet MS"/>
              </a:rPr>
              <a:t>optimal </a:t>
            </a:r>
            <a:r>
              <a:rPr sz="1000" b="1" spc="-10" dirty="0">
                <a:latin typeface="Trebuchet MS"/>
                <a:cs typeface="Trebuchet MS"/>
              </a:rPr>
              <a:t>number </a:t>
            </a:r>
            <a:r>
              <a:rPr sz="1000" b="1" spc="-5" dirty="0">
                <a:latin typeface="Trebuchet MS"/>
                <a:cs typeface="Trebuchet MS"/>
              </a:rPr>
              <a:t>of tires to</a:t>
            </a:r>
            <a:r>
              <a:rPr sz="1000" b="1" spc="85" dirty="0">
                <a:latin typeface="Trebuchet MS"/>
                <a:cs typeface="Trebuchet MS"/>
              </a:rPr>
              <a:t> </a:t>
            </a:r>
            <a:r>
              <a:rPr sz="1000" b="1" spc="-25" dirty="0">
                <a:latin typeface="Trebuchet MS"/>
                <a:cs typeface="Trebuchet MS"/>
              </a:rPr>
              <a:t>order.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054267-8617-7CC7-F1EC-764976BC27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28676" y="547909"/>
            <a:ext cx="1431163" cy="197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8673" y="636199"/>
            <a:ext cx="121832" cy="162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5014" y="591597"/>
            <a:ext cx="82042" cy="1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6278" y="2083086"/>
            <a:ext cx="914021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20" dirty="0">
                <a:latin typeface="FreeSerif"/>
                <a:cs typeface="FreeSerif"/>
              </a:rPr>
              <a:t>𝑊𝑒</a:t>
            </a:r>
            <a:r>
              <a:rPr sz="1000" spc="-170" dirty="0">
                <a:latin typeface="FreeSerif"/>
                <a:cs typeface="FreeSerif"/>
              </a:rPr>
              <a:t> </a:t>
            </a:r>
            <a:r>
              <a:rPr sz="1000" spc="-10" dirty="0">
                <a:latin typeface="FreeSerif"/>
                <a:cs typeface="FreeSerif"/>
              </a:rPr>
              <a:t>𝑘𝑛𝑜𝑤, </a:t>
            </a:r>
            <a:r>
              <a:rPr sz="1000" spc="70" dirty="0">
                <a:latin typeface="FreeSerif"/>
                <a:cs typeface="FreeSerif"/>
              </a:rPr>
              <a:t>𝑄 </a:t>
            </a:r>
            <a:r>
              <a:rPr sz="1000" spc="180" dirty="0">
                <a:latin typeface="FreeSerif"/>
                <a:cs typeface="FreeSerif"/>
              </a:rPr>
              <a:t>=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85368" y="1955959"/>
            <a:ext cx="324485" cy="422275"/>
          </a:xfrm>
          <a:custGeom>
            <a:avLst/>
            <a:gdLst/>
            <a:ahLst/>
            <a:cxnLst/>
            <a:rect l="l" t="t" r="r" b="b"/>
            <a:pathLst>
              <a:path w="324484" h="422275">
                <a:moveTo>
                  <a:pt x="322453" y="762"/>
                </a:moveTo>
                <a:lnTo>
                  <a:pt x="99187" y="762"/>
                </a:lnTo>
                <a:lnTo>
                  <a:pt x="99187" y="0"/>
                </a:lnTo>
                <a:lnTo>
                  <a:pt x="79883" y="0"/>
                </a:lnTo>
                <a:lnTo>
                  <a:pt x="53721" y="397510"/>
                </a:lnTo>
                <a:lnTo>
                  <a:pt x="22225" y="339217"/>
                </a:lnTo>
                <a:lnTo>
                  <a:pt x="0" y="351028"/>
                </a:lnTo>
                <a:lnTo>
                  <a:pt x="2413" y="355346"/>
                </a:lnTo>
                <a:lnTo>
                  <a:pt x="14097" y="349123"/>
                </a:lnTo>
                <a:lnTo>
                  <a:pt x="53467" y="421767"/>
                </a:lnTo>
                <a:lnTo>
                  <a:pt x="59182" y="421767"/>
                </a:lnTo>
                <a:lnTo>
                  <a:pt x="86868" y="8255"/>
                </a:lnTo>
                <a:lnTo>
                  <a:pt x="322453" y="8382"/>
                </a:lnTo>
                <a:lnTo>
                  <a:pt x="322453" y="762"/>
                </a:lnTo>
                <a:close/>
              </a:path>
              <a:path w="324484" h="422275">
                <a:moveTo>
                  <a:pt x="323977" y="226326"/>
                </a:moveTo>
                <a:lnTo>
                  <a:pt x="95377" y="226326"/>
                </a:lnTo>
                <a:lnTo>
                  <a:pt x="95377" y="233934"/>
                </a:lnTo>
                <a:lnTo>
                  <a:pt x="323977" y="233934"/>
                </a:lnTo>
                <a:lnTo>
                  <a:pt x="323977" y="2263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68678" y="1957884"/>
            <a:ext cx="249554" cy="528991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algn="ctr">
              <a:spcBef>
                <a:spcPts val="325"/>
              </a:spcBef>
            </a:pPr>
            <a:r>
              <a:rPr sz="1000" spc="60" dirty="0">
                <a:latin typeface="FreeSerif"/>
                <a:cs typeface="FreeSerif"/>
              </a:rPr>
              <a:t>2</a:t>
            </a:r>
            <a:r>
              <a:rPr sz="1000" spc="120" dirty="0">
                <a:latin typeface="FreeSerif"/>
                <a:cs typeface="FreeSerif"/>
              </a:rPr>
              <a:t>𝐷</a:t>
            </a:r>
            <a:r>
              <a:rPr sz="1000" spc="-125" dirty="0">
                <a:latin typeface="FreeSerif"/>
                <a:cs typeface="FreeSerif"/>
              </a:rPr>
              <a:t>𝑆</a:t>
            </a:r>
            <a:endParaRPr sz="1000" dirty="0">
              <a:latin typeface="FreeSerif"/>
              <a:cs typeface="FreeSerif"/>
            </a:endParaRPr>
          </a:p>
          <a:p>
            <a:pPr algn="ctr">
              <a:spcBef>
                <a:spcPts val="225"/>
              </a:spcBef>
            </a:pPr>
            <a:r>
              <a:rPr sz="1000" spc="125" dirty="0">
                <a:latin typeface="FreeSerif"/>
                <a:cs typeface="FreeSerif"/>
              </a:rPr>
              <a:t>𝐻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3019" y="2083086"/>
            <a:ext cx="12001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80" dirty="0">
                <a:latin typeface="FreeSerif"/>
                <a:cs typeface="FreeSerif"/>
              </a:rPr>
              <a:t>=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48308" y="1954435"/>
            <a:ext cx="882015" cy="422275"/>
          </a:xfrm>
          <a:custGeom>
            <a:avLst/>
            <a:gdLst/>
            <a:ahLst/>
            <a:cxnLst/>
            <a:rect l="l" t="t" r="r" b="b"/>
            <a:pathLst>
              <a:path w="882014" h="422275">
                <a:moveTo>
                  <a:pt x="881761" y="227838"/>
                </a:moveTo>
                <a:lnTo>
                  <a:pt x="93853" y="227838"/>
                </a:lnTo>
                <a:lnTo>
                  <a:pt x="93853" y="235458"/>
                </a:lnTo>
                <a:lnTo>
                  <a:pt x="881761" y="235458"/>
                </a:lnTo>
                <a:lnTo>
                  <a:pt x="881761" y="227838"/>
                </a:lnTo>
                <a:close/>
              </a:path>
              <a:path w="882014" h="422275">
                <a:moveTo>
                  <a:pt x="881761" y="762"/>
                </a:moveTo>
                <a:lnTo>
                  <a:pt x="99187" y="762"/>
                </a:lnTo>
                <a:lnTo>
                  <a:pt x="99187" y="0"/>
                </a:lnTo>
                <a:lnTo>
                  <a:pt x="79883" y="0"/>
                </a:lnTo>
                <a:lnTo>
                  <a:pt x="53721" y="397510"/>
                </a:lnTo>
                <a:lnTo>
                  <a:pt x="22225" y="339217"/>
                </a:lnTo>
                <a:lnTo>
                  <a:pt x="0" y="351028"/>
                </a:lnTo>
                <a:lnTo>
                  <a:pt x="2413" y="355346"/>
                </a:lnTo>
                <a:lnTo>
                  <a:pt x="14097" y="349123"/>
                </a:lnTo>
                <a:lnTo>
                  <a:pt x="53467" y="421767"/>
                </a:lnTo>
                <a:lnTo>
                  <a:pt x="59182" y="421767"/>
                </a:lnTo>
                <a:lnTo>
                  <a:pt x="86868" y="8255"/>
                </a:lnTo>
                <a:lnTo>
                  <a:pt x="881761" y="8382"/>
                </a:lnTo>
                <a:lnTo>
                  <a:pt x="881761" y="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30096" y="1987074"/>
            <a:ext cx="95465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2</a:t>
            </a:r>
            <a:r>
              <a:rPr sz="1000" spc="-45" dirty="0">
                <a:latin typeface="FreeSerif"/>
                <a:cs typeface="FreeSerif"/>
              </a:rPr>
              <a:t>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50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9600</a:t>
            </a:r>
            <a:r>
              <a:rPr sz="1000" spc="-30" dirty="0">
                <a:latin typeface="FreeSerif"/>
                <a:cs typeface="FreeSerif"/>
              </a:rPr>
              <a:t>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lang="en-US" sz="1000" spc="145" dirty="0">
                <a:latin typeface="FreeSerif"/>
                <a:cs typeface="FreeSerif"/>
              </a:rPr>
              <a:t>75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53183" y="2168126"/>
            <a:ext cx="16573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45" dirty="0">
                <a:latin typeface="FreeSerif"/>
                <a:cs typeface="FreeSerif"/>
              </a:rPr>
              <a:t>16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84755" y="2061496"/>
            <a:ext cx="131000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80" dirty="0">
                <a:latin typeface="FreeSerif"/>
                <a:cs typeface="FreeSerif"/>
              </a:rPr>
              <a:t>= </a:t>
            </a:r>
            <a:r>
              <a:rPr sz="1000" b="1" i="1" spc="-5" dirty="0">
                <a:latin typeface="Trebuchet MS"/>
                <a:cs typeface="Trebuchet MS"/>
              </a:rPr>
              <a:t>300 tires per</a:t>
            </a:r>
            <a:r>
              <a:rPr sz="1000" b="1" i="1" spc="-185" dirty="0">
                <a:latin typeface="Trebuchet MS"/>
                <a:cs typeface="Trebuchet MS"/>
              </a:rPr>
              <a:t> </a:t>
            </a:r>
            <a:r>
              <a:rPr sz="1000" b="1" i="1" spc="-5" dirty="0">
                <a:latin typeface="Trebuchet MS"/>
                <a:cs typeface="Trebuchet MS"/>
              </a:rPr>
              <a:t>order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25</a:t>
            </a:r>
            <a:endParaRPr sz="55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49434" y="510382"/>
            <a:ext cx="578485" cy="258445"/>
            <a:chOff x="3849433" y="261937"/>
            <a:chExt cx="578485" cy="258445"/>
          </a:xfrm>
        </p:grpSpPr>
        <p:sp>
          <p:nvSpPr>
            <p:cNvPr id="21" name="object 21"/>
            <p:cNvSpPr/>
            <p:nvPr/>
          </p:nvSpPr>
          <p:spPr>
            <a:xfrm>
              <a:off x="3854196" y="266699"/>
              <a:ext cx="568960" cy="248920"/>
            </a:xfrm>
            <a:custGeom>
              <a:avLst/>
              <a:gdLst/>
              <a:ahLst/>
              <a:cxnLst/>
              <a:rect l="l" t="t" r="r" b="b"/>
              <a:pathLst>
                <a:path w="568960" h="248920">
                  <a:moveTo>
                    <a:pt x="568451" y="0"/>
                  </a:moveTo>
                  <a:lnTo>
                    <a:pt x="0" y="0"/>
                  </a:lnTo>
                  <a:lnTo>
                    <a:pt x="0" y="198754"/>
                  </a:lnTo>
                  <a:lnTo>
                    <a:pt x="284225" y="248412"/>
                  </a:lnTo>
                  <a:lnTo>
                    <a:pt x="568451" y="198754"/>
                  </a:lnTo>
                  <a:lnTo>
                    <a:pt x="568451" y="0"/>
                  </a:lnTo>
                  <a:close/>
                </a:path>
              </a:pathLst>
            </a:custGeom>
            <a:solidFill>
              <a:srgbClr val="A4AB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54196" y="266699"/>
              <a:ext cx="568960" cy="248920"/>
            </a:xfrm>
            <a:custGeom>
              <a:avLst/>
              <a:gdLst/>
              <a:ahLst/>
              <a:cxnLst/>
              <a:rect l="l" t="t" r="r" b="b"/>
              <a:pathLst>
                <a:path w="568960" h="248920">
                  <a:moveTo>
                    <a:pt x="0" y="0"/>
                  </a:moveTo>
                  <a:lnTo>
                    <a:pt x="568451" y="0"/>
                  </a:lnTo>
                  <a:lnTo>
                    <a:pt x="568451" y="198754"/>
                  </a:lnTo>
                  <a:lnTo>
                    <a:pt x="284225" y="248412"/>
                  </a:lnTo>
                  <a:lnTo>
                    <a:pt x="0" y="1987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55A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09500" y="522002"/>
            <a:ext cx="4267835" cy="121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02565" algn="r">
              <a:spcBef>
                <a:spcPts val="95"/>
              </a:spcBef>
            </a:pPr>
            <a:r>
              <a:rPr sz="1000" b="1" spc="-35" dirty="0">
                <a:solidFill>
                  <a:srgbClr val="FFFFFF"/>
                </a:solidFill>
                <a:latin typeface="Trebuchet MS"/>
                <a:cs typeface="Trebuchet MS"/>
              </a:rPr>
              <a:t>(LT </a:t>
            </a:r>
            <a:r>
              <a:rPr sz="1000" b="1" spc="-5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sz="10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Trebuchet MS"/>
                <a:cs typeface="Trebuchet MS"/>
              </a:rPr>
              <a:t>0)</a:t>
            </a:r>
            <a:endParaRPr sz="1000" dirty="0">
              <a:latin typeface="Trebuchet MS"/>
              <a:cs typeface="Trebuchet MS"/>
            </a:endParaRPr>
          </a:p>
          <a:p>
            <a:pPr>
              <a:spcBef>
                <a:spcPts val="15"/>
              </a:spcBef>
            </a:pPr>
            <a:endParaRPr sz="1250" dirty="0">
              <a:latin typeface="Trebuchet MS"/>
              <a:cs typeface="Trebuchet MS"/>
            </a:endParaRPr>
          </a:p>
          <a:p>
            <a:pPr marL="12700" marR="5080" algn="just"/>
            <a:r>
              <a:rPr sz="1000" i="1" spc="-5" dirty="0">
                <a:latin typeface="Trebuchet MS"/>
                <a:cs typeface="Trebuchet MS"/>
              </a:rPr>
              <a:t>A local distributor for a national tire company expects to sell  approximately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9,600 steel-belted </a:t>
            </a:r>
            <a:r>
              <a:rPr sz="1000" i="1" spc="-5" dirty="0">
                <a:latin typeface="Trebuchet MS"/>
                <a:cs typeface="Trebuchet MS"/>
              </a:rPr>
              <a:t>radial tires </a:t>
            </a:r>
            <a:r>
              <a:rPr sz="1000" i="1" dirty="0">
                <a:latin typeface="Trebuchet MS"/>
                <a:cs typeface="Trebuchet MS"/>
              </a:rPr>
              <a:t>of </a:t>
            </a:r>
            <a:r>
              <a:rPr sz="1000" i="1" spc="-5" dirty="0">
                <a:latin typeface="Trebuchet MS"/>
                <a:cs typeface="Trebuchet MS"/>
              </a:rPr>
              <a:t>a certain </a:t>
            </a:r>
            <a:r>
              <a:rPr sz="1000" i="1" spc="-10" dirty="0">
                <a:latin typeface="Trebuchet MS"/>
                <a:cs typeface="Trebuchet MS"/>
              </a:rPr>
              <a:t>size </a:t>
            </a:r>
            <a:r>
              <a:rPr sz="1000" i="1" spc="-5" dirty="0">
                <a:latin typeface="Trebuchet MS"/>
                <a:cs typeface="Trebuchet MS"/>
              </a:rPr>
              <a:t>and tread  design next </a:t>
            </a:r>
            <a:r>
              <a:rPr sz="1000" i="1" spc="-30" dirty="0">
                <a:latin typeface="Trebuchet MS"/>
                <a:cs typeface="Trebuchet MS"/>
              </a:rPr>
              <a:t>year. </a:t>
            </a:r>
            <a:r>
              <a:rPr sz="1000" i="1" spc="-5" dirty="0">
                <a:latin typeface="Trebuchet MS"/>
                <a:cs typeface="Trebuchet MS"/>
              </a:rPr>
              <a:t>Annual carrying cost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$16 per tire</a:t>
            </a:r>
            <a:r>
              <a:rPr sz="1000" i="1" spc="-5" dirty="0">
                <a:latin typeface="Trebuchet MS"/>
                <a:cs typeface="Trebuchet MS"/>
              </a:rPr>
              <a:t>, and ordering cost 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$75</a:t>
            </a:r>
            <a:r>
              <a:rPr sz="1000" i="1" spc="-5" dirty="0">
                <a:latin typeface="Trebuchet MS"/>
                <a:cs typeface="Trebuchet MS"/>
              </a:rPr>
              <a:t>. </a:t>
            </a:r>
            <a:r>
              <a:rPr sz="1000" i="1" spc="-10" dirty="0">
                <a:latin typeface="Trebuchet MS"/>
                <a:cs typeface="Trebuchet MS"/>
              </a:rPr>
              <a:t>The </a:t>
            </a:r>
            <a:r>
              <a:rPr sz="1000" i="1" spc="-5" dirty="0">
                <a:latin typeface="Trebuchet MS"/>
                <a:cs typeface="Trebuchet MS"/>
              </a:rPr>
              <a:t>distributor operates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288 </a:t>
            </a:r>
            <a:r>
              <a:rPr sz="1000" b="1" i="1" spc="-10" dirty="0">
                <a:solidFill>
                  <a:srgbClr val="B85B21"/>
                </a:solidFill>
                <a:latin typeface="Trebuchet MS"/>
                <a:cs typeface="Trebuchet MS"/>
              </a:rPr>
              <a:t>days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a</a:t>
            </a:r>
            <a:r>
              <a:rPr sz="1000" b="1" i="1" spc="90" dirty="0">
                <a:solidFill>
                  <a:srgbClr val="B85B21"/>
                </a:solidFill>
                <a:latin typeface="Trebuchet MS"/>
                <a:cs typeface="Trebuchet MS"/>
              </a:rPr>
              <a:t>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year</a:t>
            </a:r>
            <a:r>
              <a:rPr sz="1000" i="1" spc="-5" dirty="0">
                <a:latin typeface="Trebuchet MS"/>
                <a:cs typeface="Trebuchet MS"/>
              </a:rPr>
              <a:t>.</a:t>
            </a:r>
            <a:endParaRPr sz="1000" dirty="0">
              <a:latin typeface="Trebuchet MS"/>
              <a:cs typeface="Trebuchet MS"/>
            </a:endParaRPr>
          </a:p>
          <a:p>
            <a:pPr marL="268605">
              <a:spcBef>
                <a:spcPts val="695"/>
              </a:spcBef>
            </a:pPr>
            <a:r>
              <a:rPr sz="1000" b="1" spc="-5" dirty="0">
                <a:latin typeface="Trebuchet MS"/>
                <a:cs typeface="Trebuchet MS"/>
              </a:rPr>
              <a:t>a. </a:t>
            </a:r>
            <a:r>
              <a:rPr sz="1000" b="1" spc="-10" dirty="0">
                <a:latin typeface="Trebuchet MS"/>
                <a:cs typeface="Trebuchet MS"/>
              </a:rPr>
              <a:t>Determine the </a:t>
            </a:r>
            <a:r>
              <a:rPr sz="1000" b="1" spc="-5" dirty="0">
                <a:latin typeface="Trebuchet MS"/>
                <a:cs typeface="Trebuchet MS"/>
              </a:rPr>
              <a:t>optimal </a:t>
            </a:r>
            <a:r>
              <a:rPr sz="1000" b="1" spc="-10" dirty="0">
                <a:latin typeface="Trebuchet MS"/>
                <a:cs typeface="Trebuchet MS"/>
              </a:rPr>
              <a:t>number </a:t>
            </a:r>
            <a:r>
              <a:rPr sz="1000" b="1" spc="-5" dirty="0">
                <a:latin typeface="Trebuchet MS"/>
                <a:cs typeface="Trebuchet MS"/>
              </a:rPr>
              <a:t>of tires to</a:t>
            </a:r>
            <a:r>
              <a:rPr sz="1000" b="1" spc="85" dirty="0">
                <a:latin typeface="Trebuchet MS"/>
                <a:cs typeface="Trebuchet MS"/>
              </a:rPr>
              <a:t> </a:t>
            </a:r>
            <a:r>
              <a:rPr sz="1000" b="1" spc="-25" dirty="0">
                <a:latin typeface="Trebuchet MS"/>
                <a:cs typeface="Trebuchet MS"/>
              </a:rPr>
              <a:t>order.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B047A1-1D22-4C2A-A29F-E1907A8E60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23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30201" y="547909"/>
            <a:ext cx="1431163" cy="197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30197" y="636200"/>
            <a:ext cx="121832" cy="162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6539" y="591597"/>
            <a:ext cx="82042" cy="1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1024" y="861853"/>
            <a:ext cx="4267835" cy="874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spcBef>
                <a:spcPts val="95"/>
              </a:spcBef>
            </a:pPr>
            <a:r>
              <a:rPr sz="1000" i="1" spc="-5" dirty="0">
                <a:latin typeface="Trebuchet MS"/>
                <a:cs typeface="Trebuchet MS"/>
              </a:rPr>
              <a:t>A local distributor for a national tire company expects to sell  approximately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9,600 steel-belted </a:t>
            </a:r>
            <a:r>
              <a:rPr sz="1000" i="1" spc="-5" dirty="0">
                <a:latin typeface="Trebuchet MS"/>
                <a:cs typeface="Trebuchet MS"/>
              </a:rPr>
              <a:t>radial tires </a:t>
            </a:r>
            <a:r>
              <a:rPr sz="1000" i="1" dirty="0">
                <a:latin typeface="Trebuchet MS"/>
                <a:cs typeface="Trebuchet MS"/>
              </a:rPr>
              <a:t>of </a:t>
            </a:r>
            <a:r>
              <a:rPr sz="1000" i="1" spc="-5" dirty="0">
                <a:latin typeface="Trebuchet MS"/>
                <a:cs typeface="Trebuchet MS"/>
              </a:rPr>
              <a:t>a certain </a:t>
            </a:r>
            <a:r>
              <a:rPr sz="1000" i="1" spc="-10" dirty="0">
                <a:latin typeface="Trebuchet MS"/>
                <a:cs typeface="Trebuchet MS"/>
              </a:rPr>
              <a:t>size </a:t>
            </a:r>
            <a:r>
              <a:rPr sz="1000" i="1" spc="-5" dirty="0">
                <a:latin typeface="Trebuchet MS"/>
                <a:cs typeface="Trebuchet MS"/>
              </a:rPr>
              <a:t>and tread  design next </a:t>
            </a:r>
            <a:r>
              <a:rPr sz="1000" i="1" spc="-30" dirty="0">
                <a:latin typeface="Trebuchet MS"/>
                <a:cs typeface="Trebuchet MS"/>
              </a:rPr>
              <a:t>year. </a:t>
            </a:r>
            <a:r>
              <a:rPr sz="1000" i="1" spc="-5" dirty="0">
                <a:latin typeface="Trebuchet MS"/>
                <a:cs typeface="Trebuchet MS"/>
              </a:rPr>
              <a:t>Annual carrying cost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$16 per tire</a:t>
            </a:r>
            <a:r>
              <a:rPr sz="1000" i="1" spc="-5" dirty="0">
                <a:latin typeface="Trebuchet MS"/>
                <a:cs typeface="Trebuchet MS"/>
              </a:rPr>
              <a:t>, and ordering cost 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$75</a:t>
            </a:r>
            <a:r>
              <a:rPr sz="1000" i="1" spc="-5" dirty="0">
                <a:latin typeface="Trebuchet MS"/>
                <a:cs typeface="Trebuchet MS"/>
              </a:rPr>
              <a:t>. </a:t>
            </a:r>
            <a:r>
              <a:rPr sz="1000" i="1" spc="-10" dirty="0">
                <a:latin typeface="Trebuchet MS"/>
                <a:cs typeface="Trebuchet MS"/>
              </a:rPr>
              <a:t>The </a:t>
            </a:r>
            <a:r>
              <a:rPr sz="1000" i="1" spc="-5" dirty="0">
                <a:latin typeface="Trebuchet MS"/>
                <a:cs typeface="Trebuchet MS"/>
              </a:rPr>
              <a:t>distributor operates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288 </a:t>
            </a:r>
            <a:r>
              <a:rPr sz="1000" b="1" i="1" spc="-10" dirty="0">
                <a:solidFill>
                  <a:srgbClr val="B85B21"/>
                </a:solidFill>
                <a:latin typeface="Trebuchet MS"/>
                <a:cs typeface="Trebuchet MS"/>
              </a:rPr>
              <a:t>days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a</a:t>
            </a:r>
            <a:r>
              <a:rPr sz="1000" b="1" i="1" spc="90" dirty="0">
                <a:solidFill>
                  <a:srgbClr val="B85B21"/>
                </a:solidFill>
                <a:latin typeface="Trebuchet MS"/>
                <a:cs typeface="Trebuchet MS"/>
              </a:rPr>
              <a:t>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year</a:t>
            </a:r>
            <a:r>
              <a:rPr sz="1000" i="1" spc="-5" dirty="0">
                <a:latin typeface="Trebuchet MS"/>
                <a:cs typeface="Trebuchet MS"/>
              </a:rPr>
              <a:t>.</a:t>
            </a:r>
            <a:endParaRPr sz="1000">
              <a:latin typeface="Trebuchet MS"/>
              <a:cs typeface="Trebuchet MS"/>
            </a:endParaRPr>
          </a:p>
          <a:p>
            <a:pPr marL="268605">
              <a:spcBef>
                <a:spcPts val="685"/>
              </a:spcBef>
            </a:pPr>
            <a:r>
              <a:rPr sz="1000" b="1" spc="-5" dirty="0">
                <a:latin typeface="Trebuchet MS"/>
                <a:cs typeface="Trebuchet MS"/>
              </a:rPr>
              <a:t>b. How many times per year does </a:t>
            </a:r>
            <a:r>
              <a:rPr sz="1000" b="1" spc="-10" dirty="0">
                <a:latin typeface="Trebuchet MS"/>
                <a:cs typeface="Trebuchet MS"/>
              </a:rPr>
              <a:t>the </a:t>
            </a:r>
            <a:r>
              <a:rPr sz="1000" b="1" spc="-5" dirty="0">
                <a:latin typeface="Trebuchet MS"/>
                <a:cs typeface="Trebuchet MS"/>
              </a:rPr>
              <a:t>store</a:t>
            </a:r>
            <a:r>
              <a:rPr sz="1000" b="1" spc="45" dirty="0">
                <a:latin typeface="Trebuchet MS"/>
                <a:cs typeface="Trebuchet MS"/>
              </a:rPr>
              <a:t> </a:t>
            </a:r>
            <a:r>
              <a:rPr sz="1000" b="1" spc="-5" dirty="0">
                <a:latin typeface="Trebuchet MS"/>
                <a:cs typeface="Trebuchet MS"/>
              </a:rPr>
              <a:t>reorder?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26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E8B1D3-1E8E-825F-A9D9-78D7E332FD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30201" y="547909"/>
            <a:ext cx="1431163" cy="197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30197" y="636200"/>
            <a:ext cx="121832" cy="162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6539" y="591597"/>
            <a:ext cx="82042" cy="1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1024" y="861853"/>
            <a:ext cx="4267835" cy="874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spcBef>
                <a:spcPts val="95"/>
              </a:spcBef>
            </a:pPr>
            <a:r>
              <a:rPr sz="1000" i="1" spc="-5" dirty="0">
                <a:latin typeface="Trebuchet MS"/>
                <a:cs typeface="Trebuchet MS"/>
              </a:rPr>
              <a:t>A local distributor for a national tire company expects to sell  approximately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9,600 steel-belted </a:t>
            </a:r>
            <a:r>
              <a:rPr sz="1000" i="1" spc="-5" dirty="0">
                <a:latin typeface="Trebuchet MS"/>
                <a:cs typeface="Trebuchet MS"/>
              </a:rPr>
              <a:t>radial tires </a:t>
            </a:r>
            <a:r>
              <a:rPr sz="1000" i="1" dirty="0">
                <a:latin typeface="Trebuchet MS"/>
                <a:cs typeface="Trebuchet MS"/>
              </a:rPr>
              <a:t>of </a:t>
            </a:r>
            <a:r>
              <a:rPr sz="1000" i="1" spc="-5" dirty="0">
                <a:latin typeface="Trebuchet MS"/>
                <a:cs typeface="Trebuchet MS"/>
              </a:rPr>
              <a:t>a certain </a:t>
            </a:r>
            <a:r>
              <a:rPr sz="1000" i="1" spc="-10" dirty="0">
                <a:latin typeface="Trebuchet MS"/>
                <a:cs typeface="Trebuchet MS"/>
              </a:rPr>
              <a:t>size </a:t>
            </a:r>
            <a:r>
              <a:rPr sz="1000" i="1" spc="-5" dirty="0">
                <a:latin typeface="Trebuchet MS"/>
                <a:cs typeface="Trebuchet MS"/>
              </a:rPr>
              <a:t>and tread  design next </a:t>
            </a:r>
            <a:r>
              <a:rPr sz="1000" i="1" spc="-30" dirty="0">
                <a:latin typeface="Trebuchet MS"/>
                <a:cs typeface="Trebuchet MS"/>
              </a:rPr>
              <a:t>year. </a:t>
            </a:r>
            <a:r>
              <a:rPr sz="1000" i="1" spc="-5" dirty="0">
                <a:latin typeface="Trebuchet MS"/>
                <a:cs typeface="Trebuchet MS"/>
              </a:rPr>
              <a:t>Annual carrying cost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$16 per tire</a:t>
            </a:r>
            <a:r>
              <a:rPr sz="1000" i="1" spc="-5" dirty="0">
                <a:latin typeface="Trebuchet MS"/>
                <a:cs typeface="Trebuchet MS"/>
              </a:rPr>
              <a:t>, and ordering cost 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$75</a:t>
            </a:r>
            <a:r>
              <a:rPr sz="1000" i="1" spc="-5" dirty="0">
                <a:latin typeface="Trebuchet MS"/>
                <a:cs typeface="Trebuchet MS"/>
              </a:rPr>
              <a:t>. </a:t>
            </a:r>
            <a:r>
              <a:rPr sz="1000" i="1" spc="-10" dirty="0">
                <a:latin typeface="Trebuchet MS"/>
                <a:cs typeface="Trebuchet MS"/>
              </a:rPr>
              <a:t>The </a:t>
            </a:r>
            <a:r>
              <a:rPr sz="1000" i="1" spc="-5" dirty="0">
                <a:latin typeface="Trebuchet MS"/>
                <a:cs typeface="Trebuchet MS"/>
              </a:rPr>
              <a:t>distributor operates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288 </a:t>
            </a:r>
            <a:r>
              <a:rPr sz="1000" b="1" i="1" spc="-10" dirty="0">
                <a:solidFill>
                  <a:srgbClr val="B85B21"/>
                </a:solidFill>
                <a:latin typeface="Trebuchet MS"/>
                <a:cs typeface="Trebuchet MS"/>
              </a:rPr>
              <a:t>days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a</a:t>
            </a:r>
            <a:r>
              <a:rPr sz="1000" b="1" i="1" spc="90" dirty="0">
                <a:solidFill>
                  <a:srgbClr val="B85B21"/>
                </a:solidFill>
                <a:latin typeface="Trebuchet MS"/>
                <a:cs typeface="Trebuchet MS"/>
              </a:rPr>
              <a:t>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year</a:t>
            </a:r>
            <a:r>
              <a:rPr sz="1000" i="1" spc="-5" dirty="0">
                <a:latin typeface="Trebuchet MS"/>
                <a:cs typeface="Trebuchet MS"/>
              </a:rPr>
              <a:t>.</a:t>
            </a:r>
            <a:endParaRPr sz="1000">
              <a:latin typeface="Trebuchet MS"/>
              <a:cs typeface="Trebuchet MS"/>
            </a:endParaRPr>
          </a:p>
          <a:p>
            <a:pPr marL="268605">
              <a:spcBef>
                <a:spcPts val="685"/>
              </a:spcBef>
            </a:pPr>
            <a:r>
              <a:rPr sz="1000" b="1" spc="-5" dirty="0">
                <a:latin typeface="Trebuchet MS"/>
                <a:cs typeface="Trebuchet MS"/>
              </a:rPr>
              <a:t>b. How many times per year does </a:t>
            </a:r>
            <a:r>
              <a:rPr sz="1000" b="1" spc="-10" dirty="0">
                <a:latin typeface="Trebuchet MS"/>
                <a:cs typeface="Trebuchet MS"/>
              </a:rPr>
              <a:t>the </a:t>
            </a:r>
            <a:r>
              <a:rPr sz="1000" b="1" spc="-5" dirty="0">
                <a:latin typeface="Trebuchet MS"/>
                <a:cs typeface="Trebuchet MS"/>
              </a:rPr>
              <a:t>store</a:t>
            </a:r>
            <a:r>
              <a:rPr sz="1000" b="1" spc="45" dirty="0">
                <a:latin typeface="Trebuchet MS"/>
                <a:cs typeface="Trebuchet MS"/>
              </a:rPr>
              <a:t> </a:t>
            </a:r>
            <a:r>
              <a:rPr sz="1000" b="1" spc="-5" dirty="0">
                <a:latin typeface="Trebuchet MS"/>
                <a:cs typeface="Trebuchet MS"/>
              </a:rPr>
              <a:t>reorder?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09698" y="2185701"/>
            <a:ext cx="91440" cy="7620"/>
          </a:xfrm>
          <a:custGeom>
            <a:avLst/>
            <a:gdLst/>
            <a:ahLst/>
            <a:cxnLst/>
            <a:rect l="l" t="t" r="r" b="b"/>
            <a:pathLst>
              <a:path w="91439" h="7619">
                <a:moveTo>
                  <a:pt x="91439" y="0"/>
                </a:moveTo>
                <a:lnTo>
                  <a:pt x="0" y="0"/>
                </a:lnTo>
                <a:lnTo>
                  <a:pt x="0" y="7619"/>
                </a:lnTo>
                <a:lnTo>
                  <a:pt x="91439" y="7619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31979" y="1845976"/>
            <a:ext cx="239839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-5" dirty="0">
                <a:latin typeface="Trebuchet MS"/>
                <a:cs typeface="Trebuchet MS"/>
              </a:rPr>
              <a:t>We</a:t>
            </a:r>
            <a:r>
              <a:rPr sz="1000" spc="-10" dirty="0">
                <a:latin typeface="Trebuchet MS"/>
                <a:cs typeface="Trebuchet MS"/>
              </a:rPr>
              <a:t> know,</a:t>
            </a:r>
            <a:endParaRPr sz="1000">
              <a:latin typeface="Trebuchet MS"/>
              <a:cs typeface="Trebuchet MS"/>
            </a:endParaRPr>
          </a:p>
          <a:p>
            <a:pPr marL="154940">
              <a:spcBef>
                <a:spcPts val="720"/>
              </a:spcBef>
              <a:tabLst>
                <a:tab pos="2290445" algn="l"/>
              </a:tabLst>
            </a:pPr>
            <a:r>
              <a:rPr sz="1000" spc="-10" dirty="0">
                <a:latin typeface="Trebuchet MS"/>
                <a:cs typeface="Trebuchet MS"/>
              </a:rPr>
              <a:t>Numbe</a:t>
            </a:r>
            <a:r>
              <a:rPr sz="1000" spc="-5" dirty="0">
                <a:latin typeface="Trebuchet MS"/>
                <a:cs typeface="Trebuchet MS"/>
              </a:rPr>
              <a:t>r</a:t>
            </a:r>
            <a:r>
              <a:rPr sz="1000" spc="15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o</a:t>
            </a:r>
            <a:r>
              <a:rPr sz="1000" spc="-5" dirty="0">
                <a:latin typeface="Trebuchet MS"/>
                <a:cs typeface="Trebuchet MS"/>
              </a:rPr>
              <a:t>f</a:t>
            </a:r>
            <a:r>
              <a:rPr sz="1000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o</a:t>
            </a:r>
            <a:r>
              <a:rPr sz="1000" spc="-10" dirty="0">
                <a:latin typeface="Trebuchet MS"/>
                <a:cs typeface="Trebuchet MS"/>
              </a:rPr>
              <a:t>rd</a:t>
            </a:r>
            <a:r>
              <a:rPr sz="1000" spc="-15" dirty="0">
                <a:latin typeface="Trebuchet MS"/>
                <a:cs typeface="Trebuchet MS"/>
              </a:rPr>
              <a:t>e</a:t>
            </a:r>
            <a:r>
              <a:rPr sz="1000" spc="-10" dirty="0">
                <a:latin typeface="Trebuchet MS"/>
                <a:cs typeface="Trebuchet MS"/>
              </a:rPr>
              <a:t>r</a:t>
            </a:r>
            <a:r>
              <a:rPr sz="1000" spc="-5" dirty="0">
                <a:latin typeface="Trebuchet MS"/>
                <a:cs typeface="Trebuchet MS"/>
              </a:rPr>
              <a:t>s</a:t>
            </a:r>
            <a:r>
              <a:rPr sz="100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pe</a:t>
            </a:r>
            <a:r>
              <a:rPr sz="1000" spc="-5" dirty="0">
                <a:latin typeface="Trebuchet MS"/>
                <a:cs typeface="Trebuchet MS"/>
              </a:rPr>
              <a:t>r</a:t>
            </a:r>
            <a:r>
              <a:rPr sz="1000" spc="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ye</a:t>
            </a:r>
            <a:r>
              <a:rPr sz="1000" spc="-5" dirty="0">
                <a:latin typeface="Trebuchet MS"/>
                <a:cs typeface="Trebuchet MS"/>
              </a:rPr>
              <a:t>ar,</a:t>
            </a:r>
            <a:r>
              <a:rPr sz="1000" spc="5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N</a:t>
            </a:r>
            <a:r>
              <a:rPr sz="1000" dirty="0">
                <a:latin typeface="Trebuchet MS"/>
                <a:cs typeface="Trebuchet MS"/>
              </a:rPr>
              <a:t>  </a:t>
            </a:r>
            <a:r>
              <a:rPr sz="1000" spc="40" dirty="0">
                <a:latin typeface="Trebuchet MS"/>
                <a:cs typeface="Trebuchet MS"/>
              </a:rPr>
              <a:t> </a:t>
            </a: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dirty="0">
                <a:latin typeface="FreeSerif"/>
                <a:cs typeface="FreeSerif"/>
              </a:rPr>
              <a:t>	</a:t>
            </a:r>
            <a:r>
              <a:rPr sz="1500" spc="270" baseline="2777" dirty="0">
                <a:latin typeface="FreeSerif"/>
                <a:cs typeface="FreeSerif"/>
              </a:rPr>
              <a:t>=</a:t>
            </a:r>
            <a:endParaRPr sz="1500" baseline="2777">
              <a:latin typeface="FreeSerif"/>
              <a:cs typeface="Free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53105" y="2183161"/>
            <a:ext cx="904240" cy="7620"/>
          </a:xfrm>
          <a:custGeom>
            <a:avLst/>
            <a:gdLst/>
            <a:ahLst/>
            <a:cxnLst/>
            <a:rect l="l" t="t" r="r" b="b"/>
            <a:pathLst>
              <a:path w="904239" h="7619">
                <a:moveTo>
                  <a:pt x="903731" y="0"/>
                </a:moveTo>
                <a:lnTo>
                  <a:pt x="0" y="0"/>
                </a:lnTo>
                <a:lnTo>
                  <a:pt x="0" y="7619"/>
                </a:lnTo>
                <a:lnTo>
                  <a:pt x="903731" y="7619"/>
                </a:lnTo>
                <a:lnTo>
                  <a:pt x="9037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97633" y="1991392"/>
            <a:ext cx="120777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16559" algn="l"/>
              </a:tabLst>
            </a:pPr>
            <a:r>
              <a:rPr sz="1000" spc="85" dirty="0">
                <a:latin typeface="FreeSerif"/>
                <a:cs typeface="FreeSerif"/>
              </a:rPr>
              <a:t>𝐷	</a:t>
            </a:r>
            <a:r>
              <a:rPr sz="1000" spc="50" dirty="0">
                <a:latin typeface="FreeSerif"/>
                <a:cs typeface="FreeSerif"/>
              </a:rPr>
              <a:t>9600</a:t>
            </a:r>
            <a:r>
              <a:rPr sz="1000" spc="-80" dirty="0">
                <a:latin typeface="FreeSerif"/>
                <a:cs typeface="FreeSerif"/>
              </a:rPr>
              <a:t> </a:t>
            </a:r>
            <a:r>
              <a:rPr sz="1000" spc="-105" dirty="0">
                <a:latin typeface="FreeSerif"/>
                <a:cs typeface="FreeSerif"/>
              </a:rPr>
              <a:t>𝑡𝑖𝑟𝑒𝑠/𝑦𝑟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7634" y="2172748"/>
            <a:ext cx="1529715" cy="441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55600" algn="l"/>
              </a:tabLst>
            </a:pPr>
            <a:r>
              <a:rPr sz="1000" spc="70" dirty="0">
                <a:latin typeface="FreeSerif"/>
                <a:cs typeface="FreeSerif"/>
              </a:rPr>
              <a:t>𝑄	</a:t>
            </a:r>
            <a:r>
              <a:rPr sz="1000" spc="50" dirty="0">
                <a:latin typeface="FreeSerif"/>
                <a:cs typeface="FreeSerif"/>
              </a:rPr>
              <a:t>300</a:t>
            </a:r>
            <a:r>
              <a:rPr sz="1000" spc="-35" dirty="0">
                <a:latin typeface="FreeSerif"/>
                <a:cs typeface="FreeSerif"/>
              </a:rPr>
              <a:t> </a:t>
            </a:r>
            <a:r>
              <a:rPr sz="1000" spc="-105" dirty="0">
                <a:latin typeface="FreeSerif"/>
                <a:cs typeface="FreeSerif"/>
              </a:rPr>
              <a:t>𝑡𝑖𝑟𝑒𝑠/𝑜𝑟𝑑𝑒𝑟</a:t>
            </a:r>
            <a:endParaRPr sz="1000">
              <a:latin typeface="FreeSerif"/>
              <a:cs typeface="FreeSerif"/>
            </a:endParaRPr>
          </a:p>
          <a:p>
            <a:pPr marL="255904">
              <a:spcBef>
                <a:spcPts val="875"/>
              </a:spcBef>
            </a:pPr>
            <a:r>
              <a:rPr sz="1000" spc="180" dirty="0">
                <a:latin typeface="FreeSerif"/>
                <a:cs typeface="FreeSerif"/>
              </a:rPr>
              <a:t>= </a:t>
            </a:r>
            <a:r>
              <a:rPr sz="1000" b="1" i="1" spc="-5" dirty="0">
                <a:latin typeface="Trebuchet MS"/>
                <a:cs typeface="Trebuchet MS"/>
              </a:rPr>
              <a:t>32 orders per</a:t>
            </a:r>
            <a:r>
              <a:rPr sz="1000" b="1" i="1" spc="-180" dirty="0">
                <a:latin typeface="Trebuchet MS"/>
                <a:cs typeface="Trebuchet MS"/>
              </a:rPr>
              <a:t> </a:t>
            </a:r>
            <a:r>
              <a:rPr sz="1000" b="1" i="1" spc="-5" dirty="0">
                <a:latin typeface="Trebuchet MS"/>
                <a:cs typeface="Trebuchet MS"/>
              </a:rPr>
              <a:t>year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26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8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DBB56-E8C1-2F66-B1CF-1D7BD763E5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08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28676" y="547909"/>
            <a:ext cx="1431163" cy="197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8673" y="636199"/>
            <a:ext cx="121832" cy="162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5014" y="591597"/>
            <a:ext cx="82042" cy="1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9500" y="860837"/>
            <a:ext cx="4267835" cy="1027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spcBef>
                <a:spcPts val="95"/>
              </a:spcBef>
            </a:pPr>
            <a:r>
              <a:rPr sz="1000" i="1" spc="-5" dirty="0">
                <a:latin typeface="Trebuchet MS"/>
                <a:cs typeface="Trebuchet MS"/>
              </a:rPr>
              <a:t>A local distributor for a national tire company expects to sell  approximately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9,600 steel-belted </a:t>
            </a:r>
            <a:r>
              <a:rPr sz="1000" i="1" spc="-5" dirty="0">
                <a:latin typeface="Trebuchet MS"/>
                <a:cs typeface="Trebuchet MS"/>
              </a:rPr>
              <a:t>radial tires </a:t>
            </a:r>
            <a:r>
              <a:rPr sz="1000" i="1" dirty="0">
                <a:latin typeface="Trebuchet MS"/>
                <a:cs typeface="Trebuchet MS"/>
              </a:rPr>
              <a:t>of </a:t>
            </a:r>
            <a:r>
              <a:rPr sz="1000" i="1" spc="-5" dirty="0">
                <a:latin typeface="Trebuchet MS"/>
                <a:cs typeface="Trebuchet MS"/>
              </a:rPr>
              <a:t>a certain </a:t>
            </a:r>
            <a:r>
              <a:rPr sz="1000" i="1" spc="-10" dirty="0">
                <a:latin typeface="Trebuchet MS"/>
                <a:cs typeface="Trebuchet MS"/>
              </a:rPr>
              <a:t>size </a:t>
            </a:r>
            <a:r>
              <a:rPr sz="1000" i="1" spc="-5" dirty="0">
                <a:latin typeface="Trebuchet MS"/>
                <a:cs typeface="Trebuchet MS"/>
              </a:rPr>
              <a:t>and tread  design next </a:t>
            </a:r>
            <a:r>
              <a:rPr sz="1000" i="1" spc="-30" dirty="0">
                <a:latin typeface="Trebuchet MS"/>
                <a:cs typeface="Trebuchet MS"/>
              </a:rPr>
              <a:t>year. </a:t>
            </a:r>
            <a:r>
              <a:rPr sz="1000" i="1" spc="-5" dirty="0">
                <a:latin typeface="Trebuchet MS"/>
                <a:cs typeface="Trebuchet MS"/>
              </a:rPr>
              <a:t>Annual carrying cost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$16 per tire</a:t>
            </a:r>
            <a:r>
              <a:rPr sz="1000" i="1" spc="-5" dirty="0">
                <a:latin typeface="Trebuchet MS"/>
                <a:cs typeface="Trebuchet MS"/>
              </a:rPr>
              <a:t>, and ordering cost 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$75</a:t>
            </a:r>
            <a:r>
              <a:rPr sz="1000" i="1" spc="-5" dirty="0">
                <a:latin typeface="Trebuchet MS"/>
                <a:cs typeface="Trebuchet MS"/>
              </a:rPr>
              <a:t>. </a:t>
            </a:r>
            <a:r>
              <a:rPr sz="1000" i="1" spc="-10" dirty="0">
                <a:latin typeface="Trebuchet MS"/>
                <a:cs typeface="Trebuchet MS"/>
              </a:rPr>
              <a:t>The </a:t>
            </a:r>
            <a:r>
              <a:rPr sz="1000" i="1" spc="-5" dirty="0">
                <a:latin typeface="Trebuchet MS"/>
                <a:cs typeface="Trebuchet MS"/>
              </a:rPr>
              <a:t>distributor operates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288 </a:t>
            </a:r>
            <a:r>
              <a:rPr sz="1000" b="1" i="1" spc="-10" dirty="0">
                <a:solidFill>
                  <a:srgbClr val="B85B21"/>
                </a:solidFill>
                <a:latin typeface="Trebuchet MS"/>
                <a:cs typeface="Trebuchet MS"/>
              </a:rPr>
              <a:t>days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a</a:t>
            </a:r>
            <a:r>
              <a:rPr sz="1000" b="1" i="1" spc="90" dirty="0">
                <a:solidFill>
                  <a:srgbClr val="B85B21"/>
                </a:solidFill>
                <a:latin typeface="Trebuchet MS"/>
                <a:cs typeface="Trebuchet MS"/>
              </a:rPr>
              <a:t>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year</a:t>
            </a:r>
            <a:r>
              <a:rPr sz="1000" i="1" spc="-5" dirty="0">
                <a:latin typeface="Trebuchet MS"/>
                <a:cs typeface="Trebuchet MS"/>
              </a:rPr>
              <a:t>.</a:t>
            </a:r>
            <a:endParaRPr sz="1000">
              <a:latin typeface="Trebuchet MS"/>
              <a:cs typeface="Trebuchet MS"/>
            </a:endParaRPr>
          </a:p>
          <a:p>
            <a:pPr marL="268605" marR="194310">
              <a:spcBef>
                <a:spcPts val="690"/>
              </a:spcBef>
            </a:pPr>
            <a:r>
              <a:rPr sz="1000" b="1" spc="-10" dirty="0">
                <a:latin typeface="Trebuchet MS"/>
                <a:cs typeface="Trebuchet MS"/>
              </a:rPr>
              <a:t>c. </a:t>
            </a:r>
            <a:r>
              <a:rPr sz="1000" b="1" spc="-5" dirty="0">
                <a:latin typeface="Trebuchet MS"/>
                <a:cs typeface="Trebuchet MS"/>
              </a:rPr>
              <a:t>Determine </a:t>
            </a:r>
            <a:r>
              <a:rPr sz="1000" b="1" spc="-10" dirty="0">
                <a:latin typeface="Trebuchet MS"/>
                <a:cs typeface="Trebuchet MS"/>
              </a:rPr>
              <a:t>the length </a:t>
            </a:r>
            <a:r>
              <a:rPr sz="1000" b="1" spc="-5" dirty="0">
                <a:latin typeface="Trebuchet MS"/>
                <a:cs typeface="Trebuchet MS"/>
              </a:rPr>
              <a:t>of an order </a:t>
            </a:r>
            <a:r>
              <a:rPr sz="1000" b="1" spc="-10" dirty="0">
                <a:latin typeface="Trebuchet MS"/>
                <a:cs typeface="Trebuchet MS"/>
              </a:rPr>
              <a:t>cycle </a:t>
            </a:r>
            <a:r>
              <a:rPr sz="1000" b="1" spc="-5" dirty="0">
                <a:latin typeface="Trebuchet MS"/>
                <a:cs typeface="Trebuchet MS"/>
              </a:rPr>
              <a:t>or expected time  between orders.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27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1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463D8A-B15F-A394-5D4B-D4C64A3E7D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28676" y="547909"/>
            <a:ext cx="1431163" cy="197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8673" y="636199"/>
            <a:ext cx="121832" cy="162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5014" y="591597"/>
            <a:ext cx="82042" cy="1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9500" y="860837"/>
            <a:ext cx="4267835" cy="1027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spcBef>
                <a:spcPts val="95"/>
              </a:spcBef>
            </a:pPr>
            <a:r>
              <a:rPr sz="1000" i="1" spc="-5" dirty="0">
                <a:latin typeface="Trebuchet MS"/>
                <a:cs typeface="Trebuchet MS"/>
              </a:rPr>
              <a:t>A local distributor for a national tire company expects to sell  approximately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9,600 steel-belted </a:t>
            </a:r>
            <a:r>
              <a:rPr sz="1000" i="1" spc="-5" dirty="0">
                <a:latin typeface="Trebuchet MS"/>
                <a:cs typeface="Trebuchet MS"/>
              </a:rPr>
              <a:t>radial tires </a:t>
            </a:r>
            <a:r>
              <a:rPr sz="1000" i="1" dirty="0">
                <a:latin typeface="Trebuchet MS"/>
                <a:cs typeface="Trebuchet MS"/>
              </a:rPr>
              <a:t>of </a:t>
            </a:r>
            <a:r>
              <a:rPr sz="1000" i="1" spc="-5" dirty="0">
                <a:latin typeface="Trebuchet MS"/>
                <a:cs typeface="Trebuchet MS"/>
              </a:rPr>
              <a:t>a certain </a:t>
            </a:r>
            <a:r>
              <a:rPr sz="1000" i="1" spc="-10" dirty="0">
                <a:latin typeface="Trebuchet MS"/>
                <a:cs typeface="Trebuchet MS"/>
              </a:rPr>
              <a:t>size </a:t>
            </a:r>
            <a:r>
              <a:rPr sz="1000" i="1" spc="-5" dirty="0">
                <a:latin typeface="Trebuchet MS"/>
                <a:cs typeface="Trebuchet MS"/>
              </a:rPr>
              <a:t>and tread  design next </a:t>
            </a:r>
            <a:r>
              <a:rPr sz="1000" i="1" spc="-30" dirty="0">
                <a:latin typeface="Trebuchet MS"/>
                <a:cs typeface="Trebuchet MS"/>
              </a:rPr>
              <a:t>year. </a:t>
            </a:r>
            <a:r>
              <a:rPr sz="1000" i="1" spc="-5" dirty="0">
                <a:latin typeface="Trebuchet MS"/>
                <a:cs typeface="Trebuchet MS"/>
              </a:rPr>
              <a:t>Annual carrying cost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$16 per tire</a:t>
            </a:r>
            <a:r>
              <a:rPr sz="1000" i="1" spc="-5" dirty="0">
                <a:latin typeface="Trebuchet MS"/>
                <a:cs typeface="Trebuchet MS"/>
              </a:rPr>
              <a:t>, and ordering cost 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$75</a:t>
            </a:r>
            <a:r>
              <a:rPr sz="1000" i="1" spc="-5" dirty="0">
                <a:latin typeface="Trebuchet MS"/>
                <a:cs typeface="Trebuchet MS"/>
              </a:rPr>
              <a:t>. </a:t>
            </a:r>
            <a:r>
              <a:rPr sz="1000" i="1" spc="-10" dirty="0">
                <a:latin typeface="Trebuchet MS"/>
                <a:cs typeface="Trebuchet MS"/>
              </a:rPr>
              <a:t>The </a:t>
            </a:r>
            <a:r>
              <a:rPr sz="1000" i="1" spc="-5" dirty="0">
                <a:latin typeface="Trebuchet MS"/>
                <a:cs typeface="Trebuchet MS"/>
              </a:rPr>
              <a:t>distributor operates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288 </a:t>
            </a:r>
            <a:r>
              <a:rPr sz="1000" b="1" i="1" spc="-10" dirty="0">
                <a:solidFill>
                  <a:srgbClr val="B85B21"/>
                </a:solidFill>
                <a:latin typeface="Trebuchet MS"/>
                <a:cs typeface="Trebuchet MS"/>
              </a:rPr>
              <a:t>days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a</a:t>
            </a:r>
            <a:r>
              <a:rPr sz="1000" b="1" i="1" spc="90" dirty="0">
                <a:solidFill>
                  <a:srgbClr val="B85B21"/>
                </a:solidFill>
                <a:latin typeface="Trebuchet MS"/>
                <a:cs typeface="Trebuchet MS"/>
              </a:rPr>
              <a:t>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year</a:t>
            </a:r>
            <a:r>
              <a:rPr sz="1000" i="1" spc="-5" dirty="0">
                <a:latin typeface="Trebuchet MS"/>
                <a:cs typeface="Trebuchet MS"/>
              </a:rPr>
              <a:t>.</a:t>
            </a:r>
            <a:endParaRPr sz="1000">
              <a:latin typeface="Trebuchet MS"/>
              <a:cs typeface="Trebuchet MS"/>
            </a:endParaRPr>
          </a:p>
          <a:p>
            <a:pPr marL="268605" marR="194310">
              <a:spcBef>
                <a:spcPts val="690"/>
              </a:spcBef>
            </a:pPr>
            <a:r>
              <a:rPr sz="1000" b="1" spc="-10" dirty="0">
                <a:latin typeface="Trebuchet MS"/>
                <a:cs typeface="Trebuchet MS"/>
              </a:rPr>
              <a:t>c. </a:t>
            </a:r>
            <a:r>
              <a:rPr sz="1000" b="1" spc="-5" dirty="0">
                <a:latin typeface="Trebuchet MS"/>
                <a:cs typeface="Trebuchet MS"/>
              </a:rPr>
              <a:t>Determine </a:t>
            </a:r>
            <a:r>
              <a:rPr sz="1000" b="1" spc="-10" dirty="0">
                <a:latin typeface="Trebuchet MS"/>
                <a:cs typeface="Trebuchet MS"/>
              </a:rPr>
              <a:t>the length </a:t>
            </a:r>
            <a:r>
              <a:rPr sz="1000" b="1" spc="-5" dirty="0">
                <a:latin typeface="Trebuchet MS"/>
                <a:cs typeface="Trebuchet MS"/>
              </a:rPr>
              <a:t>of an order </a:t>
            </a:r>
            <a:r>
              <a:rPr sz="1000" b="1" spc="-10" dirty="0">
                <a:latin typeface="Trebuchet MS"/>
                <a:cs typeface="Trebuchet MS"/>
              </a:rPr>
              <a:t>cycle </a:t>
            </a:r>
            <a:r>
              <a:rPr sz="1000" b="1" spc="-5" dirty="0">
                <a:latin typeface="Trebuchet MS"/>
                <a:cs typeface="Trebuchet MS"/>
              </a:rPr>
              <a:t>or expected time  between orders.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5423" y="2080673"/>
            <a:ext cx="15982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-10" dirty="0">
                <a:latin typeface="Trebuchet MS"/>
                <a:cs typeface="Trebuchet MS"/>
              </a:rPr>
              <a:t>Length </a:t>
            </a:r>
            <a:r>
              <a:rPr sz="1000" dirty="0">
                <a:latin typeface="Trebuchet MS"/>
                <a:cs typeface="Trebuchet MS"/>
              </a:rPr>
              <a:t>of </a:t>
            </a:r>
            <a:r>
              <a:rPr sz="1000" spc="-5" dirty="0">
                <a:latin typeface="Trebuchet MS"/>
                <a:cs typeface="Trebuchet MS"/>
              </a:rPr>
              <a:t>an </a:t>
            </a:r>
            <a:r>
              <a:rPr sz="1000" spc="-10" dirty="0">
                <a:latin typeface="Trebuchet MS"/>
                <a:cs typeface="Trebuchet MS"/>
              </a:rPr>
              <a:t>order cycle</a:t>
            </a:r>
            <a:r>
              <a:rPr sz="1000" spc="100" dirty="0">
                <a:latin typeface="Trebuchet MS"/>
                <a:cs typeface="Trebuchet MS"/>
              </a:rPr>
              <a:t> </a:t>
            </a:r>
            <a:r>
              <a:rPr sz="1000" spc="180" dirty="0">
                <a:latin typeface="FreeSerif"/>
                <a:cs typeface="FreeSerif"/>
              </a:rPr>
              <a:t>=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76705" y="2178081"/>
            <a:ext cx="2028825" cy="7620"/>
          </a:xfrm>
          <a:custGeom>
            <a:avLst/>
            <a:gdLst/>
            <a:ahLst/>
            <a:cxnLst/>
            <a:rect l="l" t="t" r="r" b="b"/>
            <a:pathLst>
              <a:path w="2028825" h="7619">
                <a:moveTo>
                  <a:pt x="2028444" y="0"/>
                </a:moveTo>
                <a:lnTo>
                  <a:pt x="0" y="0"/>
                </a:lnTo>
                <a:lnTo>
                  <a:pt x="0" y="7620"/>
                </a:lnTo>
                <a:lnTo>
                  <a:pt x="2028444" y="7620"/>
                </a:lnTo>
                <a:lnTo>
                  <a:pt x="20284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64512" y="1983137"/>
            <a:ext cx="202183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5" dirty="0">
                <a:latin typeface="FreeSerif"/>
                <a:cs typeface="FreeSerif"/>
              </a:rPr>
              <a:t>𝑁𝑢𝑚𝑏𝑒𝑟 </a:t>
            </a:r>
            <a:r>
              <a:rPr sz="1000" spc="-65" dirty="0">
                <a:latin typeface="FreeSerif"/>
                <a:cs typeface="FreeSerif"/>
              </a:rPr>
              <a:t>𝑜𝑓 </a:t>
            </a:r>
            <a:r>
              <a:rPr sz="1000" spc="-60" dirty="0">
                <a:latin typeface="FreeSerif"/>
                <a:cs typeface="FreeSerif"/>
              </a:rPr>
              <a:t>𝑤𝑜𝑟𝑘𝑖𝑛𝑔 </a:t>
            </a:r>
            <a:r>
              <a:rPr sz="1000" spc="-70" dirty="0">
                <a:latin typeface="FreeSerif"/>
                <a:cs typeface="FreeSerif"/>
              </a:rPr>
              <a:t>𝑑𝑎𝑦𝑠 </a:t>
            </a:r>
            <a:r>
              <a:rPr sz="1000" spc="-100" dirty="0">
                <a:latin typeface="FreeSerif"/>
                <a:cs typeface="FreeSerif"/>
              </a:rPr>
              <a:t>𝑝𝑒𝑟</a:t>
            </a:r>
            <a:r>
              <a:rPr sz="1000" spc="15" dirty="0">
                <a:latin typeface="FreeSerif"/>
                <a:cs typeface="FreeSerif"/>
              </a:rPr>
              <a:t> </a:t>
            </a:r>
            <a:r>
              <a:rPr sz="1000" spc="-90" dirty="0">
                <a:latin typeface="FreeSerif"/>
                <a:cs typeface="FreeSerif"/>
              </a:rPr>
              <a:t>𝑦𝑒𝑎𝑟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21484" y="2164493"/>
            <a:ext cx="173608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5" dirty="0">
                <a:latin typeface="FreeSerif"/>
                <a:cs typeface="FreeSerif"/>
              </a:rPr>
              <a:t>𝑁𝑢𝑚𝑏𝑒𝑟 </a:t>
            </a:r>
            <a:r>
              <a:rPr sz="1000" spc="-65" dirty="0">
                <a:latin typeface="FreeSerif"/>
                <a:cs typeface="FreeSerif"/>
              </a:rPr>
              <a:t>𝑜𝑓 </a:t>
            </a:r>
            <a:r>
              <a:rPr sz="1000" spc="-105" dirty="0">
                <a:latin typeface="FreeSerif"/>
                <a:cs typeface="FreeSerif"/>
              </a:rPr>
              <a:t>𝑜𝑟𝑑𝑒𝑟𝑠 </a:t>
            </a:r>
            <a:r>
              <a:rPr sz="1000" spc="-100" dirty="0">
                <a:latin typeface="FreeSerif"/>
                <a:cs typeface="FreeSerif"/>
              </a:rPr>
              <a:t>𝑝𝑒𝑟 </a:t>
            </a:r>
            <a:r>
              <a:rPr sz="1000" spc="-70" dirty="0">
                <a:latin typeface="FreeSerif"/>
                <a:cs typeface="FreeSerif"/>
              </a:rPr>
              <a:t>𝑦𝑒𝑎𝑟,</a:t>
            </a:r>
            <a:r>
              <a:rPr sz="1000" spc="-165" dirty="0">
                <a:latin typeface="FreeSerif"/>
                <a:cs typeface="FreeSerif"/>
              </a:rPr>
              <a:t> </a:t>
            </a:r>
            <a:r>
              <a:rPr sz="1000" spc="125" dirty="0">
                <a:latin typeface="FreeSerif"/>
                <a:cs typeface="FreeSerif"/>
              </a:rPr>
              <a:t>𝑁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82342" y="2493677"/>
            <a:ext cx="5511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80" dirty="0">
                <a:latin typeface="FreeSerif"/>
                <a:cs typeface="FreeSerif"/>
              </a:rPr>
              <a:t>= </a:t>
            </a:r>
            <a:r>
              <a:rPr sz="1000" b="1" i="1" spc="-5" dirty="0">
                <a:latin typeface="Trebuchet MS"/>
                <a:cs typeface="Trebuchet MS"/>
              </a:rPr>
              <a:t>9</a:t>
            </a:r>
            <a:r>
              <a:rPr sz="1000" b="1" i="1" spc="-190" dirty="0">
                <a:latin typeface="Trebuchet MS"/>
                <a:cs typeface="Trebuchet MS"/>
              </a:rPr>
              <a:t> </a:t>
            </a:r>
            <a:r>
              <a:rPr sz="1000" b="1" i="1" spc="-10" dirty="0">
                <a:latin typeface="Trebuchet MS"/>
                <a:cs typeface="Trebuchet MS"/>
              </a:rPr>
              <a:t>days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34717" y="2502567"/>
            <a:ext cx="12001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80" dirty="0">
                <a:latin typeface="FreeSerif"/>
                <a:cs typeface="FreeSerif"/>
              </a:rPr>
              <a:t>=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76323" y="2601372"/>
            <a:ext cx="212090" cy="7620"/>
          </a:xfrm>
          <a:custGeom>
            <a:avLst/>
            <a:gdLst/>
            <a:ahLst/>
            <a:cxnLst/>
            <a:rect l="l" t="t" r="r" b="b"/>
            <a:pathLst>
              <a:path w="212089" h="7619">
                <a:moveTo>
                  <a:pt x="211836" y="0"/>
                </a:moveTo>
                <a:lnTo>
                  <a:pt x="0" y="0"/>
                </a:lnTo>
                <a:lnTo>
                  <a:pt x="0" y="7619"/>
                </a:lnTo>
                <a:lnTo>
                  <a:pt x="211836" y="7619"/>
                </a:lnTo>
                <a:lnTo>
                  <a:pt x="2118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64256" y="2376990"/>
            <a:ext cx="418086" cy="375103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spcBef>
                <a:spcPts val="325"/>
              </a:spcBef>
            </a:pPr>
            <a:r>
              <a:rPr sz="1000" spc="50" dirty="0">
                <a:latin typeface="FreeSerif"/>
                <a:cs typeface="FreeSerif"/>
              </a:rPr>
              <a:t>288</a:t>
            </a:r>
            <a:endParaRPr sz="1000" dirty="0">
              <a:latin typeface="FreeSerif"/>
              <a:cs typeface="FreeSerif"/>
            </a:endParaRPr>
          </a:p>
          <a:p>
            <a:pPr marL="47625">
              <a:spcBef>
                <a:spcPts val="229"/>
              </a:spcBef>
            </a:pPr>
            <a:r>
              <a:rPr sz="1000" spc="50" dirty="0">
                <a:latin typeface="FreeSerif"/>
                <a:cs typeface="FreeSerif"/>
              </a:rPr>
              <a:t>32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27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1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497E91-A8F4-8706-DE3C-18B0F884DC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629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30201" y="547909"/>
            <a:ext cx="1431163" cy="197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30197" y="636200"/>
            <a:ext cx="121832" cy="162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6539" y="591597"/>
            <a:ext cx="82042" cy="1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1024" y="861853"/>
            <a:ext cx="4267835" cy="10098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spcBef>
                <a:spcPts val="95"/>
              </a:spcBef>
            </a:pPr>
            <a:r>
              <a:rPr sz="1000" i="1" spc="-5" dirty="0">
                <a:latin typeface="Trebuchet MS"/>
                <a:cs typeface="Trebuchet MS"/>
              </a:rPr>
              <a:t>A local distributor for a national tire company expects to sell  approximately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9,600 steel-belted </a:t>
            </a:r>
            <a:r>
              <a:rPr sz="1000" i="1" spc="-5" dirty="0">
                <a:latin typeface="Trebuchet MS"/>
                <a:cs typeface="Trebuchet MS"/>
              </a:rPr>
              <a:t>radial tires </a:t>
            </a:r>
            <a:r>
              <a:rPr sz="1000" i="1" dirty="0">
                <a:latin typeface="Trebuchet MS"/>
                <a:cs typeface="Trebuchet MS"/>
              </a:rPr>
              <a:t>of </a:t>
            </a:r>
            <a:r>
              <a:rPr sz="1000" i="1" spc="-5" dirty="0">
                <a:latin typeface="Trebuchet MS"/>
                <a:cs typeface="Trebuchet MS"/>
              </a:rPr>
              <a:t>a certain </a:t>
            </a:r>
            <a:r>
              <a:rPr sz="1000" i="1" spc="-10" dirty="0">
                <a:latin typeface="Trebuchet MS"/>
                <a:cs typeface="Trebuchet MS"/>
              </a:rPr>
              <a:t>size </a:t>
            </a:r>
            <a:r>
              <a:rPr sz="1000" i="1" spc="-5" dirty="0">
                <a:latin typeface="Trebuchet MS"/>
                <a:cs typeface="Trebuchet MS"/>
              </a:rPr>
              <a:t>and tread  design next </a:t>
            </a:r>
            <a:r>
              <a:rPr sz="1000" i="1" spc="-30" dirty="0">
                <a:latin typeface="Trebuchet MS"/>
                <a:cs typeface="Trebuchet MS"/>
              </a:rPr>
              <a:t>year. </a:t>
            </a:r>
            <a:r>
              <a:rPr sz="1000" i="1" spc="-5" dirty="0">
                <a:latin typeface="Trebuchet MS"/>
                <a:cs typeface="Trebuchet MS"/>
              </a:rPr>
              <a:t>Annual carrying cost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$16 per tire</a:t>
            </a:r>
            <a:r>
              <a:rPr sz="1000" i="1" spc="-5" dirty="0">
                <a:latin typeface="Trebuchet MS"/>
                <a:cs typeface="Trebuchet MS"/>
              </a:rPr>
              <a:t>, and ordering cost 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$75</a:t>
            </a:r>
            <a:r>
              <a:rPr sz="1000" i="1" spc="-5" dirty="0">
                <a:latin typeface="Trebuchet MS"/>
                <a:cs typeface="Trebuchet MS"/>
              </a:rPr>
              <a:t>. </a:t>
            </a:r>
            <a:r>
              <a:rPr sz="1000" i="1" spc="-10" dirty="0">
                <a:latin typeface="Trebuchet MS"/>
                <a:cs typeface="Trebuchet MS"/>
              </a:rPr>
              <a:t>The </a:t>
            </a:r>
            <a:r>
              <a:rPr sz="1000" i="1" spc="-5" dirty="0">
                <a:latin typeface="Trebuchet MS"/>
                <a:cs typeface="Trebuchet MS"/>
              </a:rPr>
              <a:t>distributor operates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288 </a:t>
            </a:r>
            <a:r>
              <a:rPr sz="1000" b="1" i="1" spc="-10" dirty="0">
                <a:solidFill>
                  <a:srgbClr val="B85B21"/>
                </a:solidFill>
                <a:latin typeface="Trebuchet MS"/>
                <a:cs typeface="Trebuchet MS"/>
              </a:rPr>
              <a:t>days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a</a:t>
            </a:r>
            <a:r>
              <a:rPr sz="1000" b="1" i="1" spc="90" dirty="0">
                <a:solidFill>
                  <a:srgbClr val="B85B21"/>
                </a:solidFill>
                <a:latin typeface="Trebuchet MS"/>
                <a:cs typeface="Trebuchet MS"/>
              </a:rPr>
              <a:t>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year</a:t>
            </a:r>
            <a:r>
              <a:rPr sz="1000" i="1" spc="-5" dirty="0">
                <a:latin typeface="Trebuchet MS"/>
                <a:cs typeface="Trebuchet MS"/>
              </a:rPr>
              <a:t>.</a:t>
            </a:r>
            <a:endParaRPr sz="1000" dirty="0">
              <a:latin typeface="Trebuchet MS"/>
              <a:cs typeface="Trebuchet MS"/>
            </a:endParaRPr>
          </a:p>
          <a:p>
            <a:pPr marL="268605">
              <a:spcBef>
                <a:spcPts val="685"/>
              </a:spcBef>
            </a:pPr>
            <a:r>
              <a:rPr sz="1000" b="1" spc="-5" dirty="0">
                <a:latin typeface="Trebuchet MS"/>
                <a:cs typeface="Trebuchet MS"/>
              </a:rPr>
              <a:t>d. </a:t>
            </a:r>
            <a:r>
              <a:rPr sz="1000" b="1" spc="-10" dirty="0">
                <a:latin typeface="Trebuchet MS"/>
                <a:cs typeface="Trebuchet MS"/>
              </a:rPr>
              <a:t>Determine the </a:t>
            </a:r>
            <a:r>
              <a:rPr sz="1000" b="1" spc="-5" dirty="0">
                <a:latin typeface="Trebuchet MS"/>
                <a:cs typeface="Trebuchet MS"/>
              </a:rPr>
              <a:t>annual </a:t>
            </a:r>
            <a:r>
              <a:rPr sz="1000" b="1" spc="-30" dirty="0">
                <a:latin typeface="Trebuchet MS"/>
                <a:cs typeface="Trebuchet MS"/>
              </a:rPr>
              <a:t>Total</a:t>
            </a:r>
            <a:r>
              <a:rPr sz="1000" b="1" spc="55" dirty="0">
                <a:latin typeface="Trebuchet MS"/>
                <a:cs typeface="Trebuchet MS"/>
              </a:rPr>
              <a:t> </a:t>
            </a:r>
            <a:r>
              <a:rPr sz="1000" b="1" spc="-5" dirty="0">
                <a:latin typeface="Trebuchet MS"/>
                <a:cs typeface="Trebuchet MS"/>
              </a:rPr>
              <a:t>cost.</a:t>
            </a:r>
            <a:endParaRPr sz="1000" dirty="0">
              <a:latin typeface="Trebuchet MS"/>
              <a:cs typeface="Trebuchet MS"/>
            </a:endParaRPr>
          </a:p>
          <a:p>
            <a:pPr>
              <a:spcBef>
                <a:spcPts val="20"/>
              </a:spcBef>
            </a:pPr>
            <a:endParaRPr sz="9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endParaRPr sz="550" dirty="0">
              <a:latin typeface="Trebuchet MS"/>
              <a:cs typeface="Trebuchet MS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EC85FC-BD4A-F3A0-3EF7-055F2FD60B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93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30201" y="547909"/>
            <a:ext cx="1431163" cy="197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30197" y="636200"/>
            <a:ext cx="121832" cy="162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6539" y="591597"/>
            <a:ext cx="82042" cy="1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1024" y="861854"/>
            <a:ext cx="4267835" cy="1161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spcBef>
                <a:spcPts val="95"/>
              </a:spcBef>
            </a:pPr>
            <a:r>
              <a:rPr sz="1000" i="1" spc="-5" dirty="0">
                <a:latin typeface="Trebuchet MS"/>
                <a:cs typeface="Trebuchet MS"/>
              </a:rPr>
              <a:t>A local distributor for a national tire company expects to sell  approximately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9,600 steel-belted </a:t>
            </a:r>
            <a:r>
              <a:rPr sz="1000" i="1" spc="-5" dirty="0">
                <a:latin typeface="Trebuchet MS"/>
                <a:cs typeface="Trebuchet MS"/>
              </a:rPr>
              <a:t>radial tires </a:t>
            </a:r>
            <a:r>
              <a:rPr sz="1000" i="1" dirty="0">
                <a:latin typeface="Trebuchet MS"/>
                <a:cs typeface="Trebuchet MS"/>
              </a:rPr>
              <a:t>of </a:t>
            </a:r>
            <a:r>
              <a:rPr sz="1000" i="1" spc="-5" dirty="0">
                <a:latin typeface="Trebuchet MS"/>
                <a:cs typeface="Trebuchet MS"/>
              </a:rPr>
              <a:t>a certain </a:t>
            </a:r>
            <a:r>
              <a:rPr sz="1000" i="1" spc="-10" dirty="0">
                <a:latin typeface="Trebuchet MS"/>
                <a:cs typeface="Trebuchet MS"/>
              </a:rPr>
              <a:t>size </a:t>
            </a:r>
            <a:r>
              <a:rPr sz="1000" i="1" spc="-5" dirty="0">
                <a:latin typeface="Trebuchet MS"/>
                <a:cs typeface="Trebuchet MS"/>
              </a:rPr>
              <a:t>and tread  design next </a:t>
            </a:r>
            <a:r>
              <a:rPr sz="1000" i="1" spc="-30" dirty="0">
                <a:latin typeface="Trebuchet MS"/>
                <a:cs typeface="Trebuchet MS"/>
              </a:rPr>
              <a:t>year. </a:t>
            </a:r>
            <a:r>
              <a:rPr sz="1000" i="1" spc="-5" dirty="0">
                <a:latin typeface="Trebuchet MS"/>
                <a:cs typeface="Trebuchet MS"/>
              </a:rPr>
              <a:t>Annual carrying cost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$16 per tire</a:t>
            </a:r>
            <a:r>
              <a:rPr sz="1000" i="1" spc="-5" dirty="0">
                <a:latin typeface="Trebuchet MS"/>
                <a:cs typeface="Trebuchet MS"/>
              </a:rPr>
              <a:t>, and ordering cost  </a:t>
            </a:r>
            <a:r>
              <a:rPr sz="1000" i="1" spc="-10" dirty="0">
                <a:latin typeface="Trebuchet MS"/>
                <a:cs typeface="Trebuchet MS"/>
              </a:rPr>
              <a:t>is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$75</a:t>
            </a:r>
            <a:r>
              <a:rPr sz="1000" i="1" spc="-5" dirty="0">
                <a:latin typeface="Trebuchet MS"/>
                <a:cs typeface="Trebuchet MS"/>
              </a:rPr>
              <a:t>. </a:t>
            </a:r>
            <a:r>
              <a:rPr sz="1000" i="1" spc="-10" dirty="0">
                <a:latin typeface="Trebuchet MS"/>
                <a:cs typeface="Trebuchet MS"/>
              </a:rPr>
              <a:t>The </a:t>
            </a:r>
            <a:r>
              <a:rPr sz="1000" i="1" spc="-5" dirty="0">
                <a:latin typeface="Trebuchet MS"/>
                <a:cs typeface="Trebuchet MS"/>
              </a:rPr>
              <a:t>distributor operates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288 </a:t>
            </a:r>
            <a:r>
              <a:rPr sz="1000" b="1" i="1" spc="-10" dirty="0">
                <a:solidFill>
                  <a:srgbClr val="B85B21"/>
                </a:solidFill>
                <a:latin typeface="Trebuchet MS"/>
                <a:cs typeface="Trebuchet MS"/>
              </a:rPr>
              <a:t>days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a</a:t>
            </a:r>
            <a:r>
              <a:rPr sz="1000" b="1" i="1" spc="90" dirty="0">
                <a:solidFill>
                  <a:srgbClr val="B85B21"/>
                </a:solidFill>
                <a:latin typeface="Trebuchet MS"/>
                <a:cs typeface="Trebuchet MS"/>
              </a:rPr>
              <a:t>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year</a:t>
            </a:r>
            <a:r>
              <a:rPr sz="1000" i="1" spc="-5" dirty="0">
                <a:latin typeface="Trebuchet MS"/>
                <a:cs typeface="Trebuchet MS"/>
              </a:rPr>
              <a:t>.</a:t>
            </a:r>
            <a:endParaRPr sz="1000" dirty="0">
              <a:latin typeface="Trebuchet MS"/>
              <a:cs typeface="Trebuchet MS"/>
            </a:endParaRPr>
          </a:p>
          <a:p>
            <a:pPr marL="268605">
              <a:spcBef>
                <a:spcPts val="685"/>
              </a:spcBef>
            </a:pPr>
            <a:r>
              <a:rPr sz="1000" b="1" spc="-5" dirty="0">
                <a:latin typeface="Trebuchet MS"/>
                <a:cs typeface="Trebuchet MS"/>
              </a:rPr>
              <a:t>d. </a:t>
            </a:r>
            <a:r>
              <a:rPr sz="1000" b="1" spc="-10" dirty="0">
                <a:latin typeface="Trebuchet MS"/>
                <a:cs typeface="Trebuchet MS"/>
              </a:rPr>
              <a:t>Determine the </a:t>
            </a:r>
            <a:r>
              <a:rPr sz="1000" b="1" spc="-5" dirty="0">
                <a:latin typeface="Trebuchet MS"/>
                <a:cs typeface="Trebuchet MS"/>
              </a:rPr>
              <a:t>annual </a:t>
            </a:r>
            <a:r>
              <a:rPr sz="1000" b="1" spc="-30" dirty="0">
                <a:latin typeface="Trebuchet MS"/>
                <a:cs typeface="Trebuchet MS"/>
              </a:rPr>
              <a:t>Total</a:t>
            </a:r>
            <a:r>
              <a:rPr sz="1000" b="1" spc="55" dirty="0">
                <a:latin typeface="Trebuchet MS"/>
                <a:cs typeface="Trebuchet MS"/>
              </a:rPr>
              <a:t> </a:t>
            </a:r>
            <a:r>
              <a:rPr sz="1000" b="1" spc="-5" dirty="0">
                <a:latin typeface="Trebuchet MS"/>
                <a:cs typeface="Trebuchet MS"/>
              </a:rPr>
              <a:t>cost.</a:t>
            </a:r>
            <a:endParaRPr sz="1000" dirty="0">
              <a:latin typeface="Trebuchet MS"/>
              <a:cs typeface="Trebuchet MS"/>
            </a:endParaRPr>
          </a:p>
          <a:p>
            <a:pPr>
              <a:spcBef>
                <a:spcPts val="20"/>
              </a:spcBef>
            </a:pPr>
            <a:endParaRPr sz="900" dirty="0">
              <a:latin typeface="Trebuchet MS"/>
              <a:cs typeface="Trebuchet MS"/>
            </a:endParaRPr>
          </a:p>
          <a:p>
            <a:pPr marL="33020" algn="just"/>
            <a:r>
              <a:rPr sz="1000" spc="-5" dirty="0">
                <a:latin typeface="Trebuchet MS"/>
                <a:cs typeface="Trebuchet MS"/>
              </a:rPr>
              <a:t>We</a:t>
            </a:r>
            <a:r>
              <a:rPr sz="1000" spc="-10" dirty="0">
                <a:latin typeface="Trebuchet MS"/>
                <a:cs typeface="Trebuchet MS"/>
              </a:rPr>
              <a:t> know,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74495" y="2500662"/>
            <a:ext cx="151066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989965" algn="l"/>
              </a:tabLst>
            </a:pP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spc="50" dirty="0">
                <a:latin typeface="FreeSerif"/>
                <a:cs typeface="FreeSerif"/>
              </a:rPr>
              <a:t>2400</a:t>
            </a:r>
            <a:r>
              <a:rPr sz="1000" spc="-155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</a:t>
            </a:r>
            <a:r>
              <a:rPr sz="1000" spc="-20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2400	</a:t>
            </a: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dirty="0">
                <a:latin typeface="FreeSerif"/>
                <a:cs typeface="FreeSerif"/>
              </a:rPr>
              <a:t> </a:t>
            </a:r>
            <a:r>
              <a:rPr sz="1000" b="1" i="1" spc="-5" dirty="0">
                <a:latin typeface="Trebuchet MS"/>
                <a:cs typeface="Trebuchet MS"/>
              </a:rPr>
              <a:t>$4800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80312" y="2203735"/>
            <a:ext cx="90170" cy="7620"/>
          </a:xfrm>
          <a:custGeom>
            <a:avLst/>
            <a:gdLst/>
            <a:ahLst/>
            <a:cxnLst/>
            <a:rect l="l" t="t" r="r" b="b"/>
            <a:pathLst>
              <a:path w="90169" h="7619">
                <a:moveTo>
                  <a:pt x="89916" y="0"/>
                </a:moveTo>
                <a:lnTo>
                  <a:pt x="0" y="0"/>
                </a:lnTo>
                <a:lnTo>
                  <a:pt x="0" y="7620"/>
                </a:lnTo>
                <a:lnTo>
                  <a:pt x="89916" y="7620"/>
                </a:lnTo>
                <a:lnTo>
                  <a:pt x="899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38452" y="2203735"/>
            <a:ext cx="91440" cy="7620"/>
          </a:xfrm>
          <a:custGeom>
            <a:avLst/>
            <a:gdLst/>
            <a:ahLst/>
            <a:cxnLst/>
            <a:rect l="l" t="t" r="r" b="b"/>
            <a:pathLst>
              <a:path w="91439" h="7619">
                <a:moveTo>
                  <a:pt x="91439" y="0"/>
                </a:moveTo>
                <a:lnTo>
                  <a:pt x="0" y="0"/>
                </a:lnTo>
                <a:lnTo>
                  <a:pt x="0" y="7620"/>
                </a:lnTo>
                <a:lnTo>
                  <a:pt x="91439" y="7620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77519" y="2191036"/>
            <a:ext cx="568833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61315" algn="l"/>
              </a:tabLst>
            </a:pPr>
            <a:r>
              <a:rPr sz="1000" spc="50" dirty="0">
                <a:latin typeface="FreeSerif"/>
                <a:cs typeface="FreeSerif"/>
              </a:rPr>
              <a:t>2	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2070" y="2009426"/>
            <a:ext cx="1480185" cy="3986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9005">
              <a:lnSpc>
                <a:spcPts val="980"/>
              </a:lnSpc>
              <a:spcBef>
                <a:spcPts val="95"/>
              </a:spcBef>
              <a:tabLst>
                <a:tab pos="1286510" algn="l"/>
              </a:tabLst>
            </a:pPr>
            <a:r>
              <a:rPr sz="1000" spc="70" dirty="0">
                <a:latin typeface="FreeSerif"/>
                <a:cs typeface="FreeSerif"/>
              </a:rPr>
              <a:t>𝑄	</a:t>
            </a:r>
            <a:r>
              <a:rPr sz="1000" spc="85" dirty="0">
                <a:latin typeface="FreeSerif"/>
                <a:cs typeface="FreeSerif"/>
              </a:rPr>
              <a:t>𝐷</a:t>
            </a:r>
            <a:endParaRPr sz="1000" dirty="0">
              <a:latin typeface="FreeSerif"/>
              <a:cs typeface="FreeSerif"/>
            </a:endParaRPr>
          </a:p>
          <a:p>
            <a:pPr marL="12700">
              <a:lnSpc>
                <a:spcPts val="980"/>
              </a:lnSpc>
              <a:tabLst>
                <a:tab pos="1040130" algn="l"/>
                <a:tab pos="1399540" algn="l"/>
              </a:tabLst>
            </a:pPr>
            <a:r>
              <a:rPr sz="1000" i="1" spc="-10" dirty="0">
                <a:latin typeface="Times New Roman"/>
                <a:cs typeface="Times New Roman"/>
              </a:rPr>
              <a:t>T</a:t>
            </a:r>
            <a:r>
              <a:rPr sz="1000" i="1" spc="-5" dirty="0">
                <a:latin typeface="Times New Roman"/>
                <a:cs typeface="Times New Roman"/>
              </a:rPr>
              <a:t>otal</a:t>
            </a:r>
            <a:r>
              <a:rPr sz="1000" i="1" dirty="0">
                <a:latin typeface="Times New Roman"/>
                <a:cs typeface="Times New Roman"/>
              </a:rPr>
              <a:t> </a:t>
            </a:r>
            <a:r>
              <a:rPr sz="1000" i="1" spc="-15" dirty="0">
                <a:latin typeface="Times New Roman"/>
                <a:cs typeface="Times New Roman"/>
              </a:rPr>
              <a:t>C</a:t>
            </a:r>
            <a:r>
              <a:rPr sz="1000" i="1" spc="-5" dirty="0">
                <a:latin typeface="Times New Roman"/>
                <a:cs typeface="Times New Roman"/>
              </a:rPr>
              <a:t>o</a:t>
            </a:r>
            <a:r>
              <a:rPr sz="1000" i="1" spc="-10" dirty="0">
                <a:latin typeface="Times New Roman"/>
                <a:cs typeface="Times New Roman"/>
              </a:rPr>
              <a:t>s</a:t>
            </a:r>
            <a:r>
              <a:rPr sz="1000" i="1" spc="-5" dirty="0">
                <a:latin typeface="Times New Roman"/>
                <a:cs typeface="Times New Roman"/>
              </a:rPr>
              <a:t>t,</a:t>
            </a:r>
            <a:r>
              <a:rPr sz="1000" i="1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T</a:t>
            </a:r>
            <a:r>
              <a:rPr sz="1000" i="1" spc="-5" dirty="0">
                <a:latin typeface="Times New Roman"/>
                <a:cs typeface="Times New Roman"/>
              </a:rPr>
              <a:t>C</a:t>
            </a:r>
            <a:r>
              <a:rPr sz="1000" i="1" spc="30" dirty="0">
                <a:latin typeface="Times New Roman"/>
                <a:cs typeface="Times New Roman"/>
              </a:rPr>
              <a:t> </a:t>
            </a: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dirty="0">
                <a:latin typeface="FreeSerif"/>
                <a:cs typeface="FreeSerif"/>
              </a:rPr>
              <a:t>	</a:t>
            </a:r>
            <a:r>
              <a:rPr sz="1000" spc="210" dirty="0">
                <a:latin typeface="FreeSerif"/>
                <a:cs typeface="FreeSerif"/>
              </a:rPr>
              <a:t>𝐻</a:t>
            </a:r>
            <a:r>
              <a:rPr sz="1000" spc="-5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</a:t>
            </a:r>
            <a:endParaRPr lang="en-US" sz="1000" spc="180" dirty="0">
              <a:latin typeface="FreeSerif"/>
              <a:cs typeface="FreeSerif"/>
            </a:endParaRPr>
          </a:p>
          <a:p>
            <a:pPr marL="12700">
              <a:lnSpc>
                <a:spcPts val="980"/>
              </a:lnSpc>
              <a:tabLst>
                <a:tab pos="1040130" algn="l"/>
                <a:tab pos="1399540" algn="l"/>
              </a:tabLst>
            </a:pPr>
            <a:r>
              <a:rPr lang="en-US" sz="1000" spc="180" dirty="0">
                <a:latin typeface="FreeSerif"/>
                <a:cs typeface="FreeSerif"/>
              </a:rPr>
              <a:t>                      Q</a:t>
            </a:r>
            <a:r>
              <a:rPr sz="1000" dirty="0">
                <a:latin typeface="FreeSerif"/>
                <a:cs typeface="FreeSerif"/>
              </a:rPr>
              <a:t>	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145030" y="2121898"/>
            <a:ext cx="12065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80" dirty="0">
                <a:latin typeface="FreeSerif"/>
                <a:cs typeface="FreeSerif"/>
              </a:rPr>
              <a:t>=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96795" y="2062638"/>
            <a:ext cx="624840" cy="322580"/>
          </a:xfrm>
          <a:custGeom>
            <a:avLst/>
            <a:gdLst/>
            <a:ahLst/>
            <a:cxnLst/>
            <a:rect l="l" t="t" r="r" b="b"/>
            <a:pathLst>
              <a:path w="624839" h="322580">
                <a:moveTo>
                  <a:pt x="58166" y="4699"/>
                </a:moveTo>
                <a:lnTo>
                  <a:pt x="23075" y="44704"/>
                </a:lnTo>
                <a:lnTo>
                  <a:pt x="8458" y="87071"/>
                </a:lnTo>
                <a:lnTo>
                  <a:pt x="939" y="135216"/>
                </a:lnTo>
                <a:lnTo>
                  <a:pt x="0" y="161163"/>
                </a:lnTo>
                <a:lnTo>
                  <a:pt x="939" y="186766"/>
                </a:lnTo>
                <a:lnTo>
                  <a:pt x="8458" y="234797"/>
                </a:lnTo>
                <a:lnTo>
                  <a:pt x="23075" y="277710"/>
                </a:lnTo>
                <a:lnTo>
                  <a:pt x="43218" y="310426"/>
                </a:lnTo>
                <a:lnTo>
                  <a:pt x="55245" y="322580"/>
                </a:lnTo>
                <a:lnTo>
                  <a:pt x="58166" y="318008"/>
                </a:lnTo>
                <a:lnTo>
                  <a:pt x="47828" y="305625"/>
                </a:lnTo>
                <a:lnTo>
                  <a:pt x="38747" y="290753"/>
                </a:lnTo>
                <a:lnTo>
                  <a:pt x="24371" y="253492"/>
                </a:lnTo>
                <a:lnTo>
                  <a:pt x="15519" y="209283"/>
                </a:lnTo>
                <a:lnTo>
                  <a:pt x="12573" y="161163"/>
                </a:lnTo>
                <a:lnTo>
                  <a:pt x="13309" y="136220"/>
                </a:lnTo>
                <a:lnTo>
                  <a:pt x="19215" y="89839"/>
                </a:lnTo>
                <a:lnTo>
                  <a:pt x="30975" y="48907"/>
                </a:lnTo>
                <a:lnTo>
                  <a:pt x="47840" y="17043"/>
                </a:lnTo>
                <a:lnTo>
                  <a:pt x="58166" y="4699"/>
                </a:lnTo>
                <a:close/>
              </a:path>
              <a:path w="624839" h="322580">
                <a:moveTo>
                  <a:pt x="274701" y="157861"/>
                </a:moveTo>
                <a:lnTo>
                  <a:pt x="62865" y="157861"/>
                </a:lnTo>
                <a:lnTo>
                  <a:pt x="62865" y="165481"/>
                </a:lnTo>
                <a:lnTo>
                  <a:pt x="274701" y="165481"/>
                </a:lnTo>
                <a:lnTo>
                  <a:pt x="274701" y="157861"/>
                </a:lnTo>
                <a:close/>
              </a:path>
              <a:path w="624839" h="322580">
                <a:moveTo>
                  <a:pt x="624840" y="161163"/>
                </a:moveTo>
                <a:lnTo>
                  <a:pt x="621118" y="110515"/>
                </a:lnTo>
                <a:lnTo>
                  <a:pt x="609981" y="64897"/>
                </a:lnTo>
                <a:lnTo>
                  <a:pt x="592467" y="27165"/>
                </a:lnTo>
                <a:lnTo>
                  <a:pt x="569722" y="0"/>
                </a:lnTo>
                <a:lnTo>
                  <a:pt x="566801" y="4699"/>
                </a:lnTo>
                <a:lnTo>
                  <a:pt x="577049" y="17043"/>
                </a:lnTo>
                <a:lnTo>
                  <a:pt x="586105" y="31775"/>
                </a:lnTo>
                <a:lnTo>
                  <a:pt x="600456" y="68453"/>
                </a:lnTo>
                <a:lnTo>
                  <a:pt x="609422" y="112433"/>
                </a:lnTo>
                <a:lnTo>
                  <a:pt x="612394" y="161163"/>
                </a:lnTo>
                <a:lnTo>
                  <a:pt x="611644" y="185724"/>
                </a:lnTo>
                <a:lnTo>
                  <a:pt x="605739" y="231876"/>
                </a:lnTo>
                <a:lnTo>
                  <a:pt x="594029" y="273380"/>
                </a:lnTo>
                <a:lnTo>
                  <a:pt x="566801" y="318008"/>
                </a:lnTo>
                <a:lnTo>
                  <a:pt x="569722" y="322580"/>
                </a:lnTo>
                <a:lnTo>
                  <a:pt x="601878" y="277710"/>
                </a:lnTo>
                <a:lnTo>
                  <a:pt x="616470" y="234797"/>
                </a:lnTo>
                <a:lnTo>
                  <a:pt x="623900" y="186766"/>
                </a:lnTo>
                <a:lnTo>
                  <a:pt x="624840" y="161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347722" y="2026190"/>
            <a:ext cx="722630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80"/>
              </a:lnSpc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300</a:t>
            </a:r>
            <a:endParaRPr sz="1000">
              <a:latin typeface="FreeSerif"/>
              <a:cs typeface="FreeSerif"/>
            </a:endParaRPr>
          </a:p>
          <a:p>
            <a:pPr marL="253365">
              <a:lnSpc>
                <a:spcPts val="980"/>
              </a:lnSpc>
            </a:pPr>
            <a:r>
              <a:rPr sz="1000" spc="145" dirty="0">
                <a:latin typeface="FreeSerif"/>
                <a:cs typeface="FreeSerif"/>
              </a:rPr>
              <a:t>× </a:t>
            </a:r>
            <a:r>
              <a:rPr sz="1000" spc="50" dirty="0">
                <a:latin typeface="FreeSerif"/>
                <a:cs typeface="FreeSerif"/>
              </a:rPr>
              <a:t>16</a:t>
            </a:r>
            <a:r>
              <a:rPr sz="1000" spc="290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95371" y="2062638"/>
            <a:ext cx="693420" cy="322580"/>
          </a:xfrm>
          <a:custGeom>
            <a:avLst/>
            <a:gdLst/>
            <a:ahLst/>
            <a:cxnLst/>
            <a:rect l="l" t="t" r="r" b="b"/>
            <a:pathLst>
              <a:path w="693420" h="322580">
                <a:moveTo>
                  <a:pt x="58166" y="4699"/>
                </a:moveTo>
                <a:lnTo>
                  <a:pt x="23075" y="44704"/>
                </a:lnTo>
                <a:lnTo>
                  <a:pt x="8458" y="87071"/>
                </a:lnTo>
                <a:lnTo>
                  <a:pt x="939" y="135216"/>
                </a:lnTo>
                <a:lnTo>
                  <a:pt x="0" y="161163"/>
                </a:lnTo>
                <a:lnTo>
                  <a:pt x="939" y="186766"/>
                </a:lnTo>
                <a:lnTo>
                  <a:pt x="8458" y="234797"/>
                </a:lnTo>
                <a:lnTo>
                  <a:pt x="23075" y="277710"/>
                </a:lnTo>
                <a:lnTo>
                  <a:pt x="43218" y="310426"/>
                </a:lnTo>
                <a:lnTo>
                  <a:pt x="55245" y="322580"/>
                </a:lnTo>
                <a:lnTo>
                  <a:pt x="58166" y="318008"/>
                </a:lnTo>
                <a:lnTo>
                  <a:pt x="47828" y="305625"/>
                </a:lnTo>
                <a:lnTo>
                  <a:pt x="38747" y="290753"/>
                </a:lnTo>
                <a:lnTo>
                  <a:pt x="24384" y="253492"/>
                </a:lnTo>
                <a:lnTo>
                  <a:pt x="15519" y="209283"/>
                </a:lnTo>
                <a:lnTo>
                  <a:pt x="12573" y="161163"/>
                </a:lnTo>
                <a:lnTo>
                  <a:pt x="13309" y="136220"/>
                </a:lnTo>
                <a:lnTo>
                  <a:pt x="19215" y="89839"/>
                </a:lnTo>
                <a:lnTo>
                  <a:pt x="30975" y="48907"/>
                </a:lnTo>
                <a:lnTo>
                  <a:pt x="47840" y="17043"/>
                </a:lnTo>
                <a:lnTo>
                  <a:pt x="58166" y="4699"/>
                </a:lnTo>
                <a:close/>
              </a:path>
              <a:path w="693420" h="322580">
                <a:moveTo>
                  <a:pt x="344805" y="157861"/>
                </a:moveTo>
                <a:lnTo>
                  <a:pt x="62865" y="157861"/>
                </a:lnTo>
                <a:lnTo>
                  <a:pt x="62865" y="165481"/>
                </a:lnTo>
                <a:lnTo>
                  <a:pt x="344805" y="165481"/>
                </a:lnTo>
                <a:lnTo>
                  <a:pt x="344805" y="157861"/>
                </a:lnTo>
                <a:close/>
              </a:path>
              <a:path w="693420" h="322580">
                <a:moveTo>
                  <a:pt x="693420" y="161163"/>
                </a:moveTo>
                <a:lnTo>
                  <a:pt x="689698" y="110515"/>
                </a:lnTo>
                <a:lnTo>
                  <a:pt x="678561" y="64897"/>
                </a:lnTo>
                <a:lnTo>
                  <a:pt x="661047" y="27165"/>
                </a:lnTo>
                <a:lnTo>
                  <a:pt x="638302" y="0"/>
                </a:lnTo>
                <a:lnTo>
                  <a:pt x="635381" y="4699"/>
                </a:lnTo>
                <a:lnTo>
                  <a:pt x="645629" y="17043"/>
                </a:lnTo>
                <a:lnTo>
                  <a:pt x="654685" y="31775"/>
                </a:lnTo>
                <a:lnTo>
                  <a:pt x="669036" y="68453"/>
                </a:lnTo>
                <a:lnTo>
                  <a:pt x="678002" y="112433"/>
                </a:lnTo>
                <a:lnTo>
                  <a:pt x="680974" y="161163"/>
                </a:lnTo>
                <a:lnTo>
                  <a:pt x="680224" y="185724"/>
                </a:lnTo>
                <a:lnTo>
                  <a:pt x="674319" y="231876"/>
                </a:lnTo>
                <a:lnTo>
                  <a:pt x="662609" y="273380"/>
                </a:lnTo>
                <a:lnTo>
                  <a:pt x="635381" y="318008"/>
                </a:lnTo>
                <a:lnTo>
                  <a:pt x="638302" y="322580"/>
                </a:lnTo>
                <a:lnTo>
                  <a:pt x="670458" y="277710"/>
                </a:lnTo>
                <a:lnTo>
                  <a:pt x="685050" y="234797"/>
                </a:lnTo>
                <a:lnTo>
                  <a:pt x="692480" y="186766"/>
                </a:lnTo>
                <a:lnTo>
                  <a:pt x="693420" y="161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417826" y="2207800"/>
            <a:ext cx="108737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775970" algn="l"/>
              </a:tabLst>
            </a:pPr>
            <a:r>
              <a:rPr sz="1000" spc="50" dirty="0">
                <a:latin typeface="FreeSerif"/>
                <a:cs typeface="FreeSerif"/>
              </a:rPr>
              <a:t>2	30</a:t>
            </a:r>
            <a:r>
              <a:rPr lang="en-US" sz="1000" spc="50" dirty="0">
                <a:latin typeface="FreeSerif"/>
                <a:cs typeface="FreeSerif"/>
              </a:rPr>
              <a:t>0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46298" y="2026190"/>
            <a:ext cx="594360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80"/>
              </a:lnSpc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9600</a:t>
            </a:r>
            <a:endParaRPr sz="1000" dirty="0">
              <a:latin typeface="FreeSerif"/>
              <a:cs typeface="FreeSerif"/>
            </a:endParaRPr>
          </a:p>
          <a:p>
            <a:pPr marL="321945">
              <a:lnSpc>
                <a:spcPts val="980"/>
              </a:lnSpc>
            </a:pP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90" dirty="0">
                <a:latin typeface="FreeSerif"/>
                <a:cs typeface="FreeSerif"/>
              </a:rPr>
              <a:t> </a:t>
            </a:r>
            <a:r>
              <a:rPr sz="1000" spc="45" dirty="0">
                <a:latin typeface="FreeSerif"/>
                <a:cs typeface="FreeSerif"/>
              </a:rPr>
              <a:t>75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endParaRPr sz="550" dirty="0">
              <a:latin typeface="Trebuchet MS"/>
              <a:cs typeface="Trebuchet MS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90181" y="2072298"/>
            <a:ext cx="193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-125" dirty="0">
                <a:latin typeface="FreeSerif"/>
                <a:cs typeface="FreeSerif"/>
              </a:rPr>
              <a:t>𝑆</a:t>
            </a:r>
            <a:endParaRPr lang="en-US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CAE67C-6386-6C9F-16B3-40CE45CFEA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28676" y="547909"/>
            <a:ext cx="1431163" cy="197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8673" y="636199"/>
            <a:ext cx="121832" cy="162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4380" y="591343"/>
            <a:ext cx="107187" cy="1098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83842" y="2126139"/>
            <a:ext cx="12827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174750" algn="l"/>
              </a:tabLst>
            </a:pPr>
            <a:r>
              <a:rPr sz="1000" spc="180" dirty="0">
                <a:latin typeface="FreeSerif"/>
                <a:cs typeface="FreeSerif"/>
              </a:rPr>
              <a:t>	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29</a:t>
            </a:r>
            <a:endParaRPr sz="55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47910" y="510382"/>
            <a:ext cx="578485" cy="258445"/>
            <a:chOff x="3847909" y="261937"/>
            <a:chExt cx="578485" cy="258445"/>
          </a:xfrm>
        </p:grpSpPr>
        <p:sp>
          <p:nvSpPr>
            <p:cNvPr id="21" name="object 21"/>
            <p:cNvSpPr/>
            <p:nvPr/>
          </p:nvSpPr>
          <p:spPr>
            <a:xfrm>
              <a:off x="3852671" y="266699"/>
              <a:ext cx="568960" cy="248920"/>
            </a:xfrm>
            <a:custGeom>
              <a:avLst/>
              <a:gdLst/>
              <a:ahLst/>
              <a:cxnLst/>
              <a:rect l="l" t="t" r="r" b="b"/>
              <a:pathLst>
                <a:path w="568960" h="248920">
                  <a:moveTo>
                    <a:pt x="568451" y="0"/>
                  </a:moveTo>
                  <a:lnTo>
                    <a:pt x="0" y="0"/>
                  </a:lnTo>
                  <a:lnTo>
                    <a:pt x="0" y="198754"/>
                  </a:lnTo>
                  <a:lnTo>
                    <a:pt x="284225" y="248412"/>
                  </a:lnTo>
                  <a:lnTo>
                    <a:pt x="568451" y="198754"/>
                  </a:lnTo>
                  <a:lnTo>
                    <a:pt x="568451" y="0"/>
                  </a:lnTo>
                  <a:close/>
                </a:path>
              </a:pathLst>
            </a:custGeom>
            <a:solidFill>
              <a:srgbClr val="A4AB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52671" y="266699"/>
              <a:ext cx="568960" cy="248920"/>
            </a:xfrm>
            <a:custGeom>
              <a:avLst/>
              <a:gdLst/>
              <a:ahLst/>
              <a:cxnLst/>
              <a:rect l="l" t="t" r="r" b="b"/>
              <a:pathLst>
                <a:path w="568960" h="248920">
                  <a:moveTo>
                    <a:pt x="0" y="0"/>
                  </a:moveTo>
                  <a:lnTo>
                    <a:pt x="568451" y="0"/>
                  </a:lnTo>
                  <a:lnTo>
                    <a:pt x="568451" y="198754"/>
                  </a:lnTo>
                  <a:lnTo>
                    <a:pt x="284225" y="248412"/>
                  </a:lnTo>
                  <a:lnTo>
                    <a:pt x="0" y="1987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55A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09500" y="522002"/>
            <a:ext cx="4267835" cy="135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03835" algn="r">
              <a:spcBef>
                <a:spcPts val="95"/>
              </a:spcBef>
            </a:pPr>
            <a:r>
              <a:rPr sz="1000" b="1" spc="-35" dirty="0">
                <a:solidFill>
                  <a:srgbClr val="FFFFFF"/>
                </a:solidFill>
                <a:latin typeface="Trebuchet MS"/>
                <a:cs typeface="Trebuchet MS"/>
              </a:rPr>
              <a:t>(LT </a:t>
            </a:r>
            <a:r>
              <a:rPr sz="1000" b="1" spc="-5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sz="10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Trebuchet MS"/>
                <a:cs typeface="Trebuchet MS"/>
              </a:rPr>
              <a:t>0)</a:t>
            </a:r>
            <a:endParaRPr sz="1000">
              <a:latin typeface="Trebuchet MS"/>
              <a:cs typeface="Trebuchet MS"/>
            </a:endParaRPr>
          </a:p>
          <a:p>
            <a:pPr>
              <a:spcBef>
                <a:spcPts val="15"/>
              </a:spcBef>
            </a:pPr>
            <a:endParaRPr sz="1250">
              <a:latin typeface="Trebuchet MS"/>
              <a:cs typeface="Trebuchet MS"/>
            </a:endParaRPr>
          </a:p>
          <a:p>
            <a:pPr marL="12700" marR="5080" algn="just"/>
            <a:r>
              <a:rPr sz="1000" i="1" spc="-10" dirty="0">
                <a:latin typeface="Trebuchet MS"/>
                <a:cs typeface="Trebuchet MS"/>
              </a:rPr>
              <a:t>Piddling </a:t>
            </a:r>
            <a:r>
              <a:rPr sz="1000" i="1" spc="-5" dirty="0">
                <a:latin typeface="Trebuchet MS"/>
                <a:cs typeface="Trebuchet MS"/>
              </a:rPr>
              <a:t>Manufacturing assembles security monitors. It purchases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3,600  black-and-white cathode ray tubes </a:t>
            </a:r>
            <a:r>
              <a:rPr sz="1000" i="1" spc="-5" dirty="0">
                <a:latin typeface="Trebuchet MS"/>
                <a:cs typeface="Trebuchet MS"/>
              </a:rPr>
              <a:t>a year at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$65 each</a:t>
            </a:r>
            <a:r>
              <a:rPr sz="1000" i="1" spc="-5" dirty="0">
                <a:latin typeface="Trebuchet MS"/>
                <a:cs typeface="Trebuchet MS"/>
              </a:rPr>
              <a:t>. Ordering costs  are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$31</a:t>
            </a:r>
            <a:r>
              <a:rPr sz="1000" i="1" spc="-5" dirty="0">
                <a:latin typeface="Trebuchet MS"/>
                <a:cs typeface="Trebuchet MS"/>
              </a:rPr>
              <a:t>, and annual carrying costs are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20 percent of the purchase  price</a:t>
            </a:r>
            <a:r>
              <a:rPr sz="1000" i="1" spc="-5" dirty="0">
                <a:latin typeface="Trebuchet MS"/>
                <a:cs typeface="Trebuchet MS"/>
              </a:rPr>
              <a:t>.</a:t>
            </a:r>
            <a:endParaRPr sz="1000">
              <a:latin typeface="Trebuchet MS"/>
              <a:cs typeface="Trebuchet MS"/>
            </a:endParaRPr>
          </a:p>
          <a:p>
            <a:pPr marL="170180" marR="194310">
              <a:spcBef>
                <a:spcPts val="635"/>
              </a:spcBef>
            </a:pPr>
            <a:r>
              <a:rPr sz="1000" b="1" spc="-5" dirty="0">
                <a:latin typeface="Trebuchet MS"/>
                <a:cs typeface="Trebuchet MS"/>
              </a:rPr>
              <a:t>a. Compute </a:t>
            </a:r>
            <a:r>
              <a:rPr sz="1000" b="1" spc="-10" dirty="0">
                <a:latin typeface="Trebuchet MS"/>
                <a:cs typeface="Trebuchet MS"/>
              </a:rPr>
              <a:t>the </a:t>
            </a:r>
            <a:r>
              <a:rPr sz="1000" b="1" spc="-5" dirty="0">
                <a:latin typeface="Trebuchet MS"/>
                <a:cs typeface="Trebuchet MS"/>
              </a:rPr>
              <a:t>optimal </a:t>
            </a:r>
            <a:r>
              <a:rPr sz="1000" b="1" spc="-10" dirty="0">
                <a:latin typeface="Trebuchet MS"/>
                <a:cs typeface="Trebuchet MS"/>
              </a:rPr>
              <a:t>quantity </a:t>
            </a:r>
            <a:r>
              <a:rPr sz="1000" b="1" spc="-5" dirty="0">
                <a:latin typeface="Trebuchet MS"/>
                <a:cs typeface="Trebuchet MS"/>
              </a:rPr>
              <a:t>and </a:t>
            </a:r>
            <a:r>
              <a:rPr sz="1000" b="1" spc="-10" dirty="0">
                <a:latin typeface="Trebuchet MS"/>
                <a:cs typeface="Trebuchet MS"/>
              </a:rPr>
              <a:t>the </a:t>
            </a:r>
            <a:r>
              <a:rPr sz="1000" b="1" spc="-5" dirty="0">
                <a:latin typeface="Trebuchet MS"/>
                <a:cs typeface="Trebuchet MS"/>
              </a:rPr>
              <a:t>total annual cost of  ordering and </a:t>
            </a:r>
            <a:r>
              <a:rPr sz="1000" b="1" spc="-10" dirty="0">
                <a:latin typeface="Trebuchet MS"/>
                <a:cs typeface="Trebuchet MS"/>
              </a:rPr>
              <a:t>carrying the</a:t>
            </a:r>
            <a:r>
              <a:rPr sz="1000" b="1" spc="65" dirty="0">
                <a:latin typeface="Trebuchet MS"/>
                <a:cs typeface="Trebuchet MS"/>
              </a:rPr>
              <a:t> </a:t>
            </a:r>
            <a:r>
              <a:rPr sz="1000" b="1" spc="-20" dirty="0">
                <a:latin typeface="Trebuchet MS"/>
                <a:cs typeface="Trebuchet MS"/>
              </a:rPr>
              <a:t>inventory.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A471FB-E5AD-6B51-5B81-FE0A3E0C01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28676" y="547909"/>
            <a:ext cx="1431163" cy="197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8673" y="636199"/>
            <a:ext cx="121832" cy="162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4380" y="591343"/>
            <a:ext cx="107187" cy="1098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27101" y="2127663"/>
            <a:ext cx="1045972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20" dirty="0">
                <a:latin typeface="FreeSerif"/>
                <a:cs typeface="FreeSerif"/>
              </a:rPr>
              <a:t>𝑊𝑒</a:t>
            </a:r>
            <a:r>
              <a:rPr sz="1000" spc="-170" dirty="0">
                <a:latin typeface="FreeSerif"/>
                <a:cs typeface="FreeSerif"/>
              </a:rPr>
              <a:t> </a:t>
            </a:r>
            <a:r>
              <a:rPr sz="1000" spc="-10" dirty="0">
                <a:latin typeface="FreeSerif"/>
                <a:cs typeface="FreeSerif"/>
              </a:rPr>
              <a:t>𝑘𝑛𝑜𝑤, </a:t>
            </a:r>
            <a:r>
              <a:rPr sz="1000" spc="70" dirty="0">
                <a:latin typeface="FreeSerif"/>
                <a:cs typeface="FreeSerif"/>
              </a:rPr>
              <a:t>𝑄</a:t>
            </a:r>
            <a:r>
              <a:rPr lang="en-US" sz="1000" spc="70" dirty="0">
                <a:latin typeface="FreeSerif"/>
                <a:cs typeface="FreeSerif"/>
              </a:rPr>
              <a:t> </a:t>
            </a:r>
            <a:r>
              <a:rPr sz="1000" spc="70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=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66318" y="2000281"/>
            <a:ext cx="324485" cy="421640"/>
          </a:xfrm>
          <a:custGeom>
            <a:avLst/>
            <a:gdLst/>
            <a:ahLst/>
            <a:cxnLst/>
            <a:rect l="l" t="t" r="r" b="b"/>
            <a:pathLst>
              <a:path w="324484" h="421639">
                <a:moveTo>
                  <a:pt x="322453" y="635"/>
                </a:moveTo>
                <a:lnTo>
                  <a:pt x="99187" y="635"/>
                </a:lnTo>
                <a:lnTo>
                  <a:pt x="99187" y="0"/>
                </a:lnTo>
                <a:lnTo>
                  <a:pt x="79883" y="0"/>
                </a:lnTo>
                <a:lnTo>
                  <a:pt x="53721" y="397510"/>
                </a:lnTo>
                <a:lnTo>
                  <a:pt x="22225" y="339217"/>
                </a:lnTo>
                <a:lnTo>
                  <a:pt x="0" y="351028"/>
                </a:lnTo>
                <a:lnTo>
                  <a:pt x="2413" y="355346"/>
                </a:lnTo>
                <a:lnTo>
                  <a:pt x="14097" y="349123"/>
                </a:lnTo>
                <a:lnTo>
                  <a:pt x="53467" y="421640"/>
                </a:lnTo>
                <a:lnTo>
                  <a:pt x="59182" y="421640"/>
                </a:lnTo>
                <a:lnTo>
                  <a:pt x="86868" y="8128"/>
                </a:lnTo>
                <a:lnTo>
                  <a:pt x="322453" y="8255"/>
                </a:lnTo>
                <a:lnTo>
                  <a:pt x="322453" y="635"/>
                </a:lnTo>
                <a:close/>
              </a:path>
              <a:path w="324484" h="421639">
                <a:moveTo>
                  <a:pt x="323977" y="226199"/>
                </a:moveTo>
                <a:lnTo>
                  <a:pt x="95377" y="226199"/>
                </a:lnTo>
                <a:lnTo>
                  <a:pt x="95377" y="233807"/>
                </a:lnTo>
                <a:lnTo>
                  <a:pt x="323977" y="233807"/>
                </a:lnTo>
                <a:lnTo>
                  <a:pt x="323977" y="22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29258" y="1998757"/>
            <a:ext cx="882015" cy="421640"/>
          </a:xfrm>
          <a:custGeom>
            <a:avLst/>
            <a:gdLst/>
            <a:ahLst/>
            <a:cxnLst/>
            <a:rect l="l" t="t" r="r" b="b"/>
            <a:pathLst>
              <a:path w="882014" h="421639">
                <a:moveTo>
                  <a:pt x="881761" y="226187"/>
                </a:moveTo>
                <a:lnTo>
                  <a:pt x="93853" y="226187"/>
                </a:lnTo>
                <a:lnTo>
                  <a:pt x="93853" y="233807"/>
                </a:lnTo>
                <a:lnTo>
                  <a:pt x="881761" y="233807"/>
                </a:lnTo>
                <a:lnTo>
                  <a:pt x="881761" y="226187"/>
                </a:lnTo>
                <a:close/>
              </a:path>
              <a:path w="882014" h="421639">
                <a:moveTo>
                  <a:pt x="881761" y="635"/>
                </a:moveTo>
                <a:lnTo>
                  <a:pt x="99187" y="635"/>
                </a:lnTo>
                <a:lnTo>
                  <a:pt x="99187" y="0"/>
                </a:lnTo>
                <a:lnTo>
                  <a:pt x="79883" y="0"/>
                </a:lnTo>
                <a:lnTo>
                  <a:pt x="53721" y="397510"/>
                </a:lnTo>
                <a:lnTo>
                  <a:pt x="22225" y="339217"/>
                </a:lnTo>
                <a:lnTo>
                  <a:pt x="0" y="351028"/>
                </a:lnTo>
                <a:lnTo>
                  <a:pt x="2413" y="355346"/>
                </a:lnTo>
                <a:lnTo>
                  <a:pt x="14097" y="349123"/>
                </a:lnTo>
                <a:lnTo>
                  <a:pt x="53467" y="421640"/>
                </a:lnTo>
                <a:lnTo>
                  <a:pt x="59182" y="421640"/>
                </a:lnTo>
                <a:lnTo>
                  <a:pt x="86868" y="8128"/>
                </a:lnTo>
                <a:lnTo>
                  <a:pt x="881761" y="8255"/>
                </a:lnTo>
                <a:lnTo>
                  <a:pt x="881761" y="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83842" y="2126139"/>
            <a:ext cx="12827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174750" algn="l"/>
              </a:tabLst>
            </a:pPr>
            <a:r>
              <a:rPr sz="1000" spc="180" dirty="0">
                <a:latin typeface="FreeSerif"/>
                <a:cs typeface="FreeSerif"/>
              </a:rPr>
              <a:t>=	=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2523" y="2477294"/>
            <a:ext cx="150749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95" dirty="0">
                <a:latin typeface="FreeSerif"/>
                <a:cs typeface="FreeSerif"/>
              </a:rPr>
              <a:t>≈ </a:t>
            </a:r>
            <a:r>
              <a:rPr sz="1000" b="1" i="1" spc="-5" dirty="0">
                <a:latin typeface="Trebuchet MS"/>
                <a:cs typeface="Trebuchet MS"/>
              </a:rPr>
              <a:t>131 cathode ray</a:t>
            </a:r>
            <a:r>
              <a:rPr sz="1000" b="1" i="1" spc="-85" dirty="0">
                <a:latin typeface="Trebuchet MS"/>
                <a:cs typeface="Trebuchet MS"/>
              </a:rPr>
              <a:t> </a:t>
            </a:r>
            <a:r>
              <a:rPr sz="1000" b="1" i="1" spc="-10" dirty="0">
                <a:latin typeface="Trebuchet MS"/>
                <a:cs typeface="Trebuchet MS"/>
              </a:rPr>
              <a:t>tubes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91308" y="1998757"/>
            <a:ext cx="882015" cy="421640"/>
          </a:xfrm>
          <a:custGeom>
            <a:avLst/>
            <a:gdLst/>
            <a:ahLst/>
            <a:cxnLst/>
            <a:rect l="l" t="t" r="r" b="b"/>
            <a:pathLst>
              <a:path w="882014" h="421639">
                <a:moveTo>
                  <a:pt x="881761" y="226187"/>
                </a:moveTo>
                <a:lnTo>
                  <a:pt x="93853" y="226187"/>
                </a:lnTo>
                <a:lnTo>
                  <a:pt x="93853" y="233807"/>
                </a:lnTo>
                <a:lnTo>
                  <a:pt x="881761" y="233807"/>
                </a:lnTo>
                <a:lnTo>
                  <a:pt x="881761" y="226187"/>
                </a:lnTo>
                <a:close/>
              </a:path>
              <a:path w="882014" h="421639">
                <a:moveTo>
                  <a:pt x="881761" y="635"/>
                </a:moveTo>
                <a:lnTo>
                  <a:pt x="99187" y="635"/>
                </a:lnTo>
                <a:lnTo>
                  <a:pt x="99187" y="0"/>
                </a:lnTo>
                <a:lnTo>
                  <a:pt x="79883" y="0"/>
                </a:lnTo>
                <a:lnTo>
                  <a:pt x="53721" y="397510"/>
                </a:lnTo>
                <a:lnTo>
                  <a:pt x="22225" y="339217"/>
                </a:lnTo>
                <a:lnTo>
                  <a:pt x="0" y="351028"/>
                </a:lnTo>
                <a:lnTo>
                  <a:pt x="2413" y="355346"/>
                </a:lnTo>
                <a:lnTo>
                  <a:pt x="14097" y="349123"/>
                </a:lnTo>
                <a:lnTo>
                  <a:pt x="53467" y="421640"/>
                </a:lnTo>
                <a:lnTo>
                  <a:pt x="59182" y="421640"/>
                </a:lnTo>
                <a:lnTo>
                  <a:pt x="86868" y="8128"/>
                </a:lnTo>
                <a:lnTo>
                  <a:pt x="881761" y="8255"/>
                </a:lnTo>
                <a:lnTo>
                  <a:pt x="881761" y="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49502" y="2002085"/>
            <a:ext cx="2765298" cy="3886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spcBef>
                <a:spcPts val="325"/>
              </a:spcBef>
              <a:tabLst>
                <a:tab pos="673735" algn="l"/>
                <a:tab pos="1836420" algn="l"/>
              </a:tabLst>
            </a:pPr>
            <a:r>
              <a:rPr sz="1000" spc="20" dirty="0">
                <a:latin typeface="FreeSerif"/>
                <a:cs typeface="FreeSerif"/>
              </a:rPr>
              <a:t>2𝐷𝑆	</a:t>
            </a:r>
            <a:r>
              <a:rPr sz="1000" spc="50" dirty="0">
                <a:latin typeface="FreeSerif"/>
                <a:cs typeface="FreeSerif"/>
              </a:rPr>
              <a:t>2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160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3600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30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31	2</a:t>
            </a:r>
            <a:r>
              <a:rPr sz="1000" spc="-40" dirty="0">
                <a:latin typeface="FreeSerif"/>
                <a:cs typeface="FreeSerif"/>
              </a:rPr>
              <a:t>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50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3600</a:t>
            </a:r>
            <a:r>
              <a:rPr sz="1000" spc="-30" dirty="0">
                <a:latin typeface="FreeSerif"/>
                <a:cs typeface="FreeSerif"/>
              </a:rPr>
              <a:t>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50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31</a:t>
            </a:r>
            <a:endParaRPr sz="1000" dirty="0">
              <a:latin typeface="FreeSerif"/>
              <a:cs typeface="FreeSerif"/>
            </a:endParaRPr>
          </a:p>
          <a:p>
            <a:pPr marL="78105">
              <a:spcBef>
                <a:spcPts val="229"/>
              </a:spcBef>
            </a:pPr>
            <a:r>
              <a:rPr sz="1000" spc="125" dirty="0">
                <a:latin typeface="FreeSerif"/>
                <a:cs typeface="FreeSerif"/>
              </a:rPr>
              <a:t>𝐻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77289" y="2211483"/>
            <a:ext cx="148526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331595" algn="l"/>
              </a:tabLst>
            </a:pPr>
            <a:r>
              <a:rPr sz="1000" spc="50" dirty="0">
                <a:latin typeface="FreeSerif"/>
                <a:cs typeface="FreeSerif"/>
              </a:rPr>
              <a:t>65</a:t>
            </a:r>
            <a:r>
              <a:rPr sz="1000" spc="-10" dirty="0">
                <a:latin typeface="FreeSerif"/>
                <a:cs typeface="FreeSerif"/>
              </a:rPr>
              <a:t>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30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0</a:t>
            </a:r>
            <a:r>
              <a:rPr sz="1000" spc="-55" dirty="0">
                <a:latin typeface="FreeSerif"/>
                <a:cs typeface="FreeSerif"/>
              </a:rPr>
              <a:t>.</a:t>
            </a:r>
            <a:r>
              <a:rPr sz="1000" spc="50" dirty="0">
                <a:latin typeface="FreeSerif"/>
                <a:cs typeface="FreeSerif"/>
              </a:rPr>
              <a:t>2</a:t>
            </a:r>
            <a:r>
              <a:rPr sz="1000" dirty="0">
                <a:latin typeface="FreeSerif"/>
                <a:cs typeface="FreeSerif"/>
              </a:rPr>
              <a:t>	</a:t>
            </a:r>
            <a:r>
              <a:rPr sz="1000" spc="50" dirty="0">
                <a:latin typeface="FreeSerif"/>
                <a:cs typeface="FreeSerif"/>
              </a:rPr>
              <a:t>13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29</a:t>
            </a:r>
            <a:endParaRPr sz="55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47910" y="510382"/>
            <a:ext cx="578485" cy="258445"/>
            <a:chOff x="3847909" y="261937"/>
            <a:chExt cx="578485" cy="258445"/>
          </a:xfrm>
        </p:grpSpPr>
        <p:sp>
          <p:nvSpPr>
            <p:cNvPr id="21" name="object 21"/>
            <p:cNvSpPr/>
            <p:nvPr/>
          </p:nvSpPr>
          <p:spPr>
            <a:xfrm>
              <a:off x="3852671" y="266699"/>
              <a:ext cx="568960" cy="248920"/>
            </a:xfrm>
            <a:custGeom>
              <a:avLst/>
              <a:gdLst/>
              <a:ahLst/>
              <a:cxnLst/>
              <a:rect l="l" t="t" r="r" b="b"/>
              <a:pathLst>
                <a:path w="568960" h="248920">
                  <a:moveTo>
                    <a:pt x="568451" y="0"/>
                  </a:moveTo>
                  <a:lnTo>
                    <a:pt x="0" y="0"/>
                  </a:lnTo>
                  <a:lnTo>
                    <a:pt x="0" y="198754"/>
                  </a:lnTo>
                  <a:lnTo>
                    <a:pt x="284225" y="248412"/>
                  </a:lnTo>
                  <a:lnTo>
                    <a:pt x="568451" y="198754"/>
                  </a:lnTo>
                  <a:lnTo>
                    <a:pt x="568451" y="0"/>
                  </a:lnTo>
                  <a:close/>
                </a:path>
              </a:pathLst>
            </a:custGeom>
            <a:solidFill>
              <a:srgbClr val="A4AB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52671" y="266699"/>
              <a:ext cx="568960" cy="248920"/>
            </a:xfrm>
            <a:custGeom>
              <a:avLst/>
              <a:gdLst/>
              <a:ahLst/>
              <a:cxnLst/>
              <a:rect l="l" t="t" r="r" b="b"/>
              <a:pathLst>
                <a:path w="568960" h="248920">
                  <a:moveTo>
                    <a:pt x="0" y="0"/>
                  </a:moveTo>
                  <a:lnTo>
                    <a:pt x="568451" y="0"/>
                  </a:lnTo>
                  <a:lnTo>
                    <a:pt x="568451" y="198754"/>
                  </a:lnTo>
                  <a:lnTo>
                    <a:pt x="284225" y="248412"/>
                  </a:lnTo>
                  <a:lnTo>
                    <a:pt x="0" y="1987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55A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09500" y="522002"/>
            <a:ext cx="4267835" cy="135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03835" algn="r">
              <a:spcBef>
                <a:spcPts val="95"/>
              </a:spcBef>
            </a:pPr>
            <a:r>
              <a:rPr sz="1000" b="1" spc="-35" dirty="0">
                <a:solidFill>
                  <a:srgbClr val="FFFFFF"/>
                </a:solidFill>
                <a:latin typeface="Trebuchet MS"/>
                <a:cs typeface="Trebuchet MS"/>
              </a:rPr>
              <a:t>(LT </a:t>
            </a:r>
            <a:r>
              <a:rPr sz="1000" b="1" spc="-5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sz="10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Trebuchet MS"/>
                <a:cs typeface="Trebuchet MS"/>
              </a:rPr>
              <a:t>0)</a:t>
            </a:r>
            <a:endParaRPr sz="1000">
              <a:latin typeface="Trebuchet MS"/>
              <a:cs typeface="Trebuchet MS"/>
            </a:endParaRPr>
          </a:p>
          <a:p>
            <a:pPr>
              <a:spcBef>
                <a:spcPts val="15"/>
              </a:spcBef>
            </a:pPr>
            <a:endParaRPr sz="1250">
              <a:latin typeface="Trebuchet MS"/>
              <a:cs typeface="Trebuchet MS"/>
            </a:endParaRPr>
          </a:p>
          <a:p>
            <a:pPr marL="12700" marR="5080" algn="just"/>
            <a:r>
              <a:rPr sz="1000" i="1" spc="-10" dirty="0">
                <a:latin typeface="Trebuchet MS"/>
                <a:cs typeface="Trebuchet MS"/>
              </a:rPr>
              <a:t>Piddling </a:t>
            </a:r>
            <a:r>
              <a:rPr sz="1000" i="1" spc="-5" dirty="0">
                <a:latin typeface="Trebuchet MS"/>
                <a:cs typeface="Trebuchet MS"/>
              </a:rPr>
              <a:t>Manufacturing assembles security monitors. It purchases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3,600  black-and-white cathode ray tubes </a:t>
            </a:r>
            <a:r>
              <a:rPr sz="1000" i="1" spc="-5" dirty="0">
                <a:latin typeface="Trebuchet MS"/>
                <a:cs typeface="Trebuchet MS"/>
              </a:rPr>
              <a:t>a year at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$65 each</a:t>
            </a:r>
            <a:r>
              <a:rPr sz="1000" i="1" spc="-5" dirty="0">
                <a:latin typeface="Trebuchet MS"/>
                <a:cs typeface="Trebuchet MS"/>
              </a:rPr>
              <a:t>. Ordering costs  are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$31</a:t>
            </a:r>
            <a:r>
              <a:rPr sz="1000" i="1" spc="-5" dirty="0">
                <a:latin typeface="Trebuchet MS"/>
                <a:cs typeface="Trebuchet MS"/>
              </a:rPr>
              <a:t>, and annual carrying costs are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20 percent of the purchase  price</a:t>
            </a:r>
            <a:r>
              <a:rPr sz="1000" i="1" spc="-5" dirty="0">
                <a:latin typeface="Trebuchet MS"/>
                <a:cs typeface="Trebuchet MS"/>
              </a:rPr>
              <a:t>.</a:t>
            </a:r>
            <a:endParaRPr sz="1000">
              <a:latin typeface="Trebuchet MS"/>
              <a:cs typeface="Trebuchet MS"/>
            </a:endParaRPr>
          </a:p>
          <a:p>
            <a:pPr marL="170180" marR="194310">
              <a:spcBef>
                <a:spcPts val="635"/>
              </a:spcBef>
            </a:pPr>
            <a:r>
              <a:rPr sz="1000" b="1" spc="-5" dirty="0">
                <a:latin typeface="Trebuchet MS"/>
                <a:cs typeface="Trebuchet MS"/>
              </a:rPr>
              <a:t>a. Compute </a:t>
            </a:r>
            <a:r>
              <a:rPr sz="1000" b="1" spc="-10" dirty="0">
                <a:latin typeface="Trebuchet MS"/>
                <a:cs typeface="Trebuchet MS"/>
              </a:rPr>
              <a:t>the </a:t>
            </a:r>
            <a:r>
              <a:rPr sz="1000" b="1" spc="-5" dirty="0">
                <a:latin typeface="Trebuchet MS"/>
                <a:cs typeface="Trebuchet MS"/>
              </a:rPr>
              <a:t>optimal </a:t>
            </a:r>
            <a:r>
              <a:rPr sz="1000" b="1" spc="-10" dirty="0">
                <a:latin typeface="Trebuchet MS"/>
                <a:cs typeface="Trebuchet MS"/>
              </a:rPr>
              <a:t>quantity </a:t>
            </a:r>
            <a:r>
              <a:rPr sz="1000" b="1" spc="-5" dirty="0">
                <a:latin typeface="Trebuchet MS"/>
                <a:cs typeface="Trebuchet MS"/>
              </a:rPr>
              <a:t>and </a:t>
            </a:r>
            <a:r>
              <a:rPr sz="1000" b="1" spc="-10" dirty="0">
                <a:latin typeface="Trebuchet MS"/>
                <a:cs typeface="Trebuchet MS"/>
              </a:rPr>
              <a:t>the </a:t>
            </a:r>
            <a:r>
              <a:rPr sz="1000" b="1" spc="-5" dirty="0">
                <a:latin typeface="Trebuchet MS"/>
                <a:cs typeface="Trebuchet MS"/>
              </a:rPr>
              <a:t>total annual cost of  ordering and </a:t>
            </a:r>
            <a:r>
              <a:rPr sz="1000" b="1" spc="-10" dirty="0">
                <a:latin typeface="Trebuchet MS"/>
                <a:cs typeface="Trebuchet MS"/>
              </a:rPr>
              <a:t>carrying the</a:t>
            </a:r>
            <a:r>
              <a:rPr sz="1000" b="1" spc="65" dirty="0">
                <a:latin typeface="Trebuchet MS"/>
                <a:cs typeface="Trebuchet MS"/>
              </a:rPr>
              <a:t> </a:t>
            </a:r>
            <a:r>
              <a:rPr sz="1000" b="1" spc="-20" dirty="0">
                <a:latin typeface="Trebuchet MS"/>
                <a:cs typeface="Trebuchet MS"/>
              </a:rPr>
              <a:t>inventory.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5C4BA3-5C66-FA76-5A2F-8CD1F03B07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900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30201" y="547909"/>
            <a:ext cx="1431163" cy="197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30197" y="636200"/>
            <a:ext cx="121832" cy="162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5905" y="591343"/>
            <a:ext cx="107187" cy="1098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1024" y="861854"/>
            <a:ext cx="4267835" cy="9996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spcBef>
                <a:spcPts val="95"/>
              </a:spcBef>
            </a:pPr>
            <a:r>
              <a:rPr sz="1000" i="1" spc="-10" dirty="0">
                <a:latin typeface="Trebuchet MS"/>
                <a:cs typeface="Trebuchet MS"/>
              </a:rPr>
              <a:t>Piddling </a:t>
            </a:r>
            <a:r>
              <a:rPr sz="1000" i="1" spc="-5" dirty="0">
                <a:latin typeface="Trebuchet MS"/>
                <a:cs typeface="Trebuchet MS"/>
              </a:rPr>
              <a:t>Manufacturing assembles security monitors. It purchases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3,600  black-and-white cathode ray tubes </a:t>
            </a:r>
            <a:r>
              <a:rPr sz="1000" i="1" spc="-5" dirty="0">
                <a:latin typeface="Trebuchet MS"/>
                <a:cs typeface="Trebuchet MS"/>
              </a:rPr>
              <a:t>a year at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$65 each</a:t>
            </a:r>
            <a:r>
              <a:rPr sz="1000" i="1" spc="-5" dirty="0">
                <a:latin typeface="Trebuchet MS"/>
                <a:cs typeface="Trebuchet MS"/>
              </a:rPr>
              <a:t>. Ordering costs  are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$31</a:t>
            </a:r>
            <a:r>
              <a:rPr sz="1000" i="1" spc="-5" dirty="0">
                <a:latin typeface="Trebuchet MS"/>
                <a:cs typeface="Trebuchet MS"/>
              </a:rPr>
              <a:t>, and annual carrying costs are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20 percent of the purchase  price</a:t>
            </a:r>
            <a:r>
              <a:rPr sz="1000" i="1" spc="-5" dirty="0">
                <a:latin typeface="Trebuchet MS"/>
                <a:cs typeface="Trebuchet MS"/>
              </a:rPr>
              <a:t>.</a:t>
            </a:r>
            <a:endParaRPr sz="1000" dirty="0">
              <a:latin typeface="Trebuchet MS"/>
              <a:cs typeface="Trebuchet MS"/>
            </a:endParaRPr>
          </a:p>
          <a:p>
            <a:pPr marL="170180" marR="194310" algn="just">
              <a:spcBef>
                <a:spcPts val="535"/>
              </a:spcBef>
            </a:pPr>
            <a:r>
              <a:rPr sz="1000" b="1" spc="-5" dirty="0">
                <a:latin typeface="Trebuchet MS"/>
                <a:cs typeface="Trebuchet MS"/>
              </a:rPr>
              <a:t>a. Compute </a:t>
            </a:r>
            <a:r>
              <a:rPr sz="1000" b="1" spc="-10" dirty="0">
                <a:latin typeface="Trebuchet MS"/>
                <a:cs typeface="Trebuchet MS"/>
              </a:rPr>
              <a:t>the </a:t>
            </a:r>
            <a:r>
              <a:rPr sz="1000" b="1" spc="-5" dirty="0">
                <a:latin typeface="Trebuchet MS"/>
                <a:cs typeface="Trebuchet MS"/>
              </a:rPr>
              <a:t>optimal </a:t>
            </a:r>
            <a:r>
              <a:rPr sz="1000" b="1" spc="-10" dirty="0">
                <a:latin typeface="Trebuchet MS"/>
                <a:cs typeface="Trebuchet MS"/>
              </a:rPr>
              <a:t>quantity </a:t>
            </a:r>
            <a:r>
              <a:rPr sz="1000" b="1" spc="-5" dirty="0">
                <a:latin typeface="Trebuchet MS"/>
                <a:cs typeface="Trebuchet MS"/>
              </a:rPr>
              <a:t>and </a:t>
            </a:r>
            <a:r>
              <a:rPr sz="1000" b="1" spc="-10" dirty="0">
                <a:latin typeface="Trebuchet MS"/>
                <a:cs typeface="Trebuchet MS"/>
              </a:rPr>
              <a:t>the </a:t>
            </a:r>
            <a:r>
              <a:rPr sz="1000" b="1" spc="-5" dirty="0">
                <a:latin typeface="Trebuchet MS"/>
                <a:cs typeface="Trebuchet MS"/>
              </a:rPr>
              <a:t>total annual cost of  ordering and </a:t>
            </a:r>
            <a:r>
              <a:rPr sz="1000" b="1" spc="-10" dirty="0">
                <a:latin typeface="Trebuchet MS"/>
                <a:cs typeface="Trebuchet MS"/>
              </a:rPr>
              <a:t>carrying the</a:t>
            </a:r>
            <a:r>
              <a:rPr sz="1000" b="1" spc="65" dirty="0">
                <a:latin typeface="Trebuchet MS"/>
                <a:cs typeface="Trebuchet MS"/>
              </a:rPr>
              <a:t> </a:t>
            </a:r>
            <a:r>
              <a:rPr sz="1000" b="1" spc="-20" dirty="0">
                <a:latin typeface="Trebuchet MS"/>
                <a:cs typeface="Trebuchet MS"/>
              </a:rPr>
              <a:t>inventory.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30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6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182AB7-223B-C57C-047E-35EB061FB2C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30201" y="547909"/>
            <a:ext cx="1431163" cy="197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30197" y="636200"/>
            <a:ext cx="121832" cy="162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5905" y="591343"/>
            <a:ext cx="107187" cy="1098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52902" y="2572290"/>
            <a:ext cx="5334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spc="-5" dirty="0">
                <a:latin typeface="FreeSerif"/>
                <a:cs typeface="FreeSerif"/>
              </a:rPr>
              <a:t> </a:t>
            </a:r>
            <a:r>
              <a:rPr sz="1000" b="1" i="1" spc="-5" dirty="0">
                <a:latin typeface="Trebuchet MS"/>
                <a:cs typeface="Trebuchet MS"/>
              </a:rPr>
              <a:t>$1704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81327" y="2275363"/>
            <a:ext cx="90170" cy="7620"/>
          </a:xfrm>
          <a:custGeom>
            <a:avLst/>
            <a:gdLst/>
            <a:ahLst/>
            <a:cxnLst/>
            <a:rect l="l" t="t" r="r" b="b"/>
            <a:pathLst>
              <a:path w="90169" h="7619">
                <a:moveTo>
                  <a:pt x="89916" y="0"/>
                </a:moveTo>
                <a:lnTo>
                  <a:pt x="0" y="0"/>
                </a:lnTo>
                <a:lnTo>
                  <a:pt x="0" y="7620"/>
                </a:lnTo>
                <a:lnTo>
                  <a:pt x="89916" y="7620"/>
                </a:lnTo>
                <a:lnTo>
                  <a:pt x="899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39467" y="2275363"/>
            <a:ext cx="91440" cy="7620"/>
          </a:xfrm>
          <a:custGeom>
            <a:avLst/>
            <a:gdLst/>
            <a:ahLst/>
            <a:cxnLst/>
            <a:rect l="l" t="t" r="r" b="b"/>
            <a:pathLst>
              <a:path w="91439" h="7619">
                <a:moveTo>
                  <a:pt x="91439" y="0"/>
                </a:moveTo>
                <a:lnTo>
                  <a:pt x="0" y="0"/>
                </a:lnTo>
                <a:lnTo>
                  <a:pt x="0" y="7620"/>
                </a:lnTo>
                <a:lnTo>
                  <a:pt x="91439" y="7620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8408" y="2262410"/>
            <a:ext cx="519557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61315" algn="l"/>
              </a:tabLst>
            </a:pPr>
            <a:r>
              <a:rPr sz="1000" spc="50" dirty="0">
                <a:latin typeface="FreeSerif"/>
                <a:cs typeface="FreeSerif"/>
              </a:rPr>
              <a:t>2	</a:t>
            </a:r>
            <a:r>
              <a:rPr sz="1000" spc="120" dirty="0">
                <a:latin typeface="FreeSerif"/>
                <a:cs typeface="FreeSerif"/>
              </a:rPr>
              <a:t>𝑄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2959" y="2081054"/>
            <a:ext cx="1480185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8369">
              <a:lnSpc>
                <a:spcPts val="980"/>
              </a:lnSpc>
              <a:spcBef>
                <a:spcPts val="95"/>
              </a:spcBef>
              <a:tabLst>
                <a:tab pos="1286510" algn="l"/>
              </a:tabLst>
            </a:pPr>
            <a:r>
              <a:rPr sz="1000" spc="70" dirty="0">
                <a:latin typeface="FreeSerif"/>
                <a:cs typeface="FreeSerif"/>
              </a:rPr>
              <a:t>𝑄	</a:t>
            </a:r>
            <a:r>
              <a:rPr sz="1000" spc="85" dirty="0">
                <a:latin typeface="FreeSerif"/>
                <a:cs typeface="FreeSerif"/>
              </a:rPr>
              <a:t>𝐷</a:t>
            </a:r>
            <a:endParaRPr sz="1000" dirty="0">
              <a:latin typeface="FreeSerif"/>
              <a:cs typeface="FreeSerif"/>
            </a:endParaRPr>
          </a:p>
          <a:p>
            <a:pPr marL="12700">
              <a:lnSpc>
                <a:spcPts val="980"/>
              </a:lnSpc>
              <a:tabLst>
                <a:tab pos="1040130" algn="l"/>
                <a:tab pos="1399540" algn="l"/>
              </a:tabLst>
            </a:pPr>
            <a:r>
              <a:rPr sz="1000" i="1" spc="-10" dirty="0">
                <a:latin typeface="Times New Roman"/>
                <a:cs typeface="Times New Roman"/>
              </a:rPr>
              <a:t>T</a:t>
            </a:r>
            <a:r>
              <a:rPr sz="1000" i="1" dirty="0">
                <a:latin typeface="Times New Roman"/>
                <a:cs typeface="Times New Roman"/>
              </a:rPr>
              <a:t>o</a:t>
            </a:r>
            <a:r>
              <a:rPr sz="1000" i="1" spc="-5" dirty="0">
                <a:latin typeface="Times New Roman"/>
                <a:cs typeface="Times New Roman"/>
              </a:rPr>
              <a:t>tal</a:t>
            </a:r>
            <a:r>
              <a:rPr sz="1000" i="1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C</a:t>
            </a:r>
            <a:r>
              <a:rPr sz="1000" i="1" dirty="0">
                <a:latin typeface="Times New Roman"/>
                <a:cs typeface="Times New Roman"/>
              </a:rPr>
              <a:t>o</a:t>
            </a:r>
            <a:r>
              <a:rPr sz="1000" i="1" spc="-10" dirty="0">
                <a:latin typeface="Times New Roman"/>
                <a:cs typeface="Times New Roman"/>
              </a:rPr>
              <a:t>s</a:t>
            </a:r>
            <a:r>
              <a:rPr sz="1000" i="1" spc="-5" dirty="0">
                <a:latin typeface="Times New Roman"/>
                <a:cs typeface="Times New Roman"/>
              </a:rPr>
              <a:t>t,</a:t>
            </a:r>
            <a:r>
              <a:rPr sz="1000" i="1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T</a:t>
            </a:r>
            <a:r>
              <a:rPr sz="1000" i="1" spc="-5" dirty="0">
                <a:latin typeface="Times New Roman"/>
                <a:cs typeface="Times New Roman"/>
              </a:rPr>
              <a:t>C</a:t>
            </a:r>
            <a:r>
              <a:rPr sz="1000" i="1" spc="35" dirty="0">
                <a:latin typeface="Times New Roman"/>
                <a:cs typeface="Times New Roman"/>
              </a:rPr>
              <a:t> </a:t>
            </a: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dirty="0">
                <a:latin typeface="FreeSerif"/>
                <a:cs typeface="FreeSerif"/>
              </a:rPr>
              <a:t>	</a:t>
            </a:r>
            <a:r>
              <a:rPr sz="1000" spc="204" dirty="0">
                <a:latin typeface="FreeSerif"/>
                <a:cs typeface="FreeSerif"/>
              </a:rPr>
              <a:t>𝐻</a:t>
            </a:r>
            <a:r>
              <a:rPr sz="1000" spc="-5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</a:t>
            </a:r>
            <a:r>
              <a:rPr sz="1000" dirty="0">
                <a:latin typeface="FreeSerif"/>
                <a:cs typeface="FreeSerif"/>
              </a:rPr>
              <a:t>	</a:t>
            </a:r>
            <a:r>
              <a:rPr sz="1000" spc="-125" dirty="0">
                <a:latin typeface="FreeSerif"/>
                <a:cs typeface="FreeSerif"/>
              </a:rPr>
              <a:t>𝑆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1024" y="861853"/>
            <a:ext cx="4267835" cy="1233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spcBef>
                <a:spcPts val="95"/>
              </a:spcBef>
            </a:pPr>
            <a:r>
              <a:rPr sz="1000" i="1" spc="-10" dirty="0">
                <a:latin typeface="Trebuchet MS"/>
                <a:cs typeface="Trebuchet MS"/>
              </a:rPr>
              <a:t>Piddling </a:t>
            </a:r>
            <a:r>
              <a:rPr sz="1000" i="1" spc="-5" dirty="0">
                <a:latin typeface="Trebuchet MS"/>
                <a:cs typeface="Trebuchet MS"/>
              </a:rPr>
              <a:t>Manufacturing assembles security monitors. It purchases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3,600  black-and-white cathode ray tubes </a:t>
            </a:r>
            <a:r>
              <a:rPr sz="1000" i="1" spc="-5" dirty="0">
                <a:latin typeface="Trebuchet MS"/>
                <a:cs typeface="Trebuchet MS"/>
              </a:rPr>
              <a:t>a year at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$65 each</a:t>
            </a:r>
            <a:r>
              <a:rPr sz="1000" i="1" spc="-5" dirty="0">
                <a:latin typeface="Trebuchet MS"/>
                <a:cs typeface="Trebuchet MS"/>
              </a:rPr>
              <a:t>. Ordering costs  are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$31</a:t>
            </a:r>
            <a:r>
              <a:rPr sz="1000" i="1" spc="-5" dirty="0">
                <a:latin typeface="Trebuchet MS"/>
                <a:cs typeface="Trebuchet MS"/>
              </a:rPr>
              <a:t>, and annual carrying costs are </a:t>
            </a:r>
            <a:r>
              <a:rPr sz="1000" b="1" i="1" spc="-5" dirty="0">
                <a:solidFill>
                  <a:srgbClr val="B85B21"/>
                </a:solidFill>
                <a:latin typeface="Trebuchet MS"/>
                <a:cs typeface="Trebuchet MS"/>
              </a:rPr>
              <a:t>20 percent of the purchase  price</a:t>
            </a:r>
            <a:r>
              <a:rPr sz="1000" i="1" spc="-5" dirty="0">
                <a:latin typeface="Trebuchet MS"/>
                <a:cs typeface="Trebuchet MS"/>
              </a:rPr>
              <a:t>.</a:t>
            </a:r>
            <a:endParaRPr sz="1000">
              <a:latin typeface="Trebuchet MS"/>
              <a:cs typeface="Trebuchet MS"/>
            </a:endParaRPr>
          </a:p>
          <a:p>
            <a:pPr marL="170180" marR="194310" algn="just">
              <a:spcBef>
                <a:spcPts val="535"/>
              </a:spcBef>
            </a:pPr>
            <a:r>
              <a:rPr sz="1000" b="1" spc="-5" dirty="0">
                <a:latin typeface="Trebuchet MS"/>
                <a:cs typeface="Trebuchet MS"/>
              </a:rPr>
              <a:t>a. Compute </a:t>
            </a:r>
            <a:r>
              <a:rPr sz="1000" b="1" spc="-10" dirty="0">
                <a:latin typeface="Trebuchet MS"/>
                <a:cs typeface="Trebuchet MS"/>
              </a:rPr>
              <a:t>the </a:t>
            </a:r>
            <a:r>
              <a:rPr sz="1000" b="1" spc="-5" dirty="0">
                <a:latin typeface="Trebuchet MS"/>
                <a:cs typeface="Trebuchet MS"/>
              </a:rPr>
              <a:t>optimal </a:t>
            </a:r>
            <a:r>
              <a:rPr sz="1000" b="1" spc="-10" dirty="0">
                <a:latin typeface="Trebuchet MS"/>
                <a:cs typeface="Trebuchet MS"/>
              </a:rPr>
              <a:t>quantity </a:t>
            </a:r>
            <a:r>
              <a:rPr sz="1000" b="1" spc="-5" dirty="0">
                <a:latin typeface="Trebuchet MS"/>
                <a:cs typeface="Trebuchet MS"/>
              </a:rPr>
              <a:t>and </a:t>
            </a:r>
            <a:r>
              <a:rPr sz="1000" b="1" spc="-10" dirty="0">
                <a:latin typeface="Trebuchet MS"/>
                <a:cs typeface="Trebuchet MS"/>
              </a:rPr>
              <a:t>the </a:t>
            </a:r>
            <a:r>
              <a:rPr sz="1000" b="1" spc="-5" dirty="0">
                <a:latin typeface="Trebuchet MS"/>
                <a:cs typeface="Trebuchet MS"/>
              </a:rPr>
              <a:t>total annual cost of  ordering and </a:t>
            </a:r>
            <a:r>
              <a:rPr sz="1000" b="1" spc="-10" dirty="0">
                <a:latin typeface="Trebuchet MS"/>
                <a:cs typeface="Trebuchet MS"/>
              </a:rPr>
              <a:t>carrying the</a:t>
            </a:r>
            <a:r>
              <a:rPr sz="1000" b="1" spc="65" dirty="0">
                <a:latin typeface="Trebuchet MS"/>
                <a:cs typeface="Trebuchet MS"/>
              </a:rPr>
              <a:t> </a:t>
            </a:r>
            <a:r>
              <a:rPr sz="1000" b="1" spc="-20" dirty="0">
                <a:latin typeface="Trebuchet MS"/>
                <a:cs typeface="Trebuchet MS"/>
              </a:rPr>
              <a:t>inventory.</a:t>
            </a:r>
            <a:endParaRPr sz="1000">
              <a:latin typeface="Trebuchet MS"/>
              <a:cs typeface="Trebuchet MS"/>
            </a:endParaRPr>
          </a:p>
          <a:p>
            <a:pPr marL="34290" algn="just">
              <a:spcBef>
                <a:spcPts val="575"/>
              </a:spcBef>
            </a:pPr>
            <a:r>
              <a:rPr sz="1000" spc="-5" dirty="0">
                <a:latin typeface="Trebuchet MS"/>
                <a:cs typeface="Trebuchet MS"/>
              </a:rPr>
              <a:t>We</a:t>
            </a:r>
            <a:r>
              <a:rPr sz="1000" spc="-10" dirty="0">
                <a:latin typeface="Trebuchet MS"/>
                <a:cs typeface="Trebuchet MS"/>
              </a:rPr>
              <a:t> know,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45919" y="2193830"/>
            <a:ext cx="12001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80" dirty="0">
                <a:latin typeface="FreeSerif"/>
                <a:cs typeface="FreeSerif"/>
              </a:rPr>
              <a:t>=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97811" y="2134266"/>
            <a:ext cx="624840" cy="322580"/>
          </a:xfrm>
          <a:custGeom>
            <a:avLst/>
            <a:gdLst/>
            <a:ahLst/>
            <a:cxnLst/>
            <a:rect l="l" t="t" r="r" b="b"/>
            <a:pathLst>
              <a:path w="624839" h="322580">
                <a:moveTo>
                  <a:pt x="58166" y="4699"/>
                </a:moveTo>
                <a:lnTo>
                  <a:pt x="22999" y="44691"/>
                </a:lnTo>
                <a:lnTo>
                  <a:pt x="8356" y="87071"/>
                </a:lnTo>
                <a:lnTo>
                  <a:pt x="927" y="135216"/>
                </a:lnTo>
                <a:lnTo>
                  <a:pt x="0" y="161163"/>
                </a:lnTo>
                <a:lnTo>
                  <a:pt x="927" y="186740"/>
                </a:lnTo>
                <a:lnTo>
                  <a:pt x="8356" y="234746"/>
                </a:lnTo>
                <a:lnTo>
                  <a:pt x="22999" y="277685"/>
                </a:lnTo>
                <a:lnTo>
                  <a:pt x="43154" y="310362"/>
                </a:lnTo>
                <a:lnTo>
                  <a:pt x="55245" y="322580"/>
                </a:lnTo>
                <a:lnTo>
                  <a:pt x="58166" y="318008"/>
                </a:lnTo>
                <a:lnTo>
                  <a:pt x="47777" y="305612"/>
                </a:lnTo>
                <a:lnTo>
                  <a:pt x="38696" y="290703"/>
                </a:lnTo>
                <a:lnTo>
                  <a:pt x="24384" y="253492"/>
                </a:lnTo>
                <a:lnTo>
                  <a:pt x="15405" y="209283"/>
                </a:lnTo>
                <a:lnTo>
                  <a:pt x="12446" y="161163"/>
                </a:lnTo>
                <a:lnTo>
                  <a:pt x="13182" y="136169"/>
                </a:lnTo>
                <a:lnTo>
                  <a:pt x="19138" y="89827"/>
                </a:lnTo>
                <a:lnTo>
                  <a:pt x="30924" y="48907"/>
                </a:lnTo>
                <a:lnTo>
                  <a:pt x="47828" y="17043"/>
                </a:lnTo>
                <a:lnTo>
                  <a:pt x="58166" y="4699"/>
                </a:lnTo>
                <a:close/>
              </a:path>
              <a:path w="624839" h="322580">
                <a:moveTo>
                  <a:pt x="274574" y="157861"/>
                </a:moveTo>
                <a:lnTo>
                  <a:pt x="62738" y="157861"/>
                </a:lnTo>
                <a:lnTo>
                  <a:pt x="62738" y="165481"/>
                </a:lnTo>
                <a:lnTo>
                  <a:pt x="274574" y="165481"/>
                </a:lnTo>
                <a:lnTo>
                  <a:pt x="274574" y="157861"/>
                </a:lnTo>
                <a:close/>
              </a:path>
              <a:path w="624839" h="322580">
                <a:moveTo>
                  <a:pt x="624840" y="161163"/>
                </a:moveTo>
                <a:lnTo>
                  <a:pt x="621118" y="110515"/>
                </a:lnTo>
                <a:lnTo>
                  <a:pt x="609981" y="64897"/>
                </a:lnTo>
                <a:lnTo>
                  <a:pt x="592353" y="27127"/>
                </a:lnTo>
                <a:lnTo>
                  <a:pt x="569595" y="0"/>
                </a:lnTo>
                <a:lnTo>
                  <a:pt x="566674" y="4699"/>
                </a:lnTo>
                <a:lnTo>
                  <a:pt x="576986" y="17043"/>
                </a:lnTo>
                <a:lnTo>
                  <a:pt x="586041" y="31775"/>
                </a:lnTo>
                <a:lnTo>
                  <a:pt x="600456" y="68453"/>
                </a:lnTo>
                <a:lnTo>
                  <a:pt x="609371" y="112382"/>
                </a:lnTo>
                <a:lnTo>
                  <a:pt x="612394" y="161163"/>
                </a:lnTo>
                <a:lnTo>
                  <a:pt x="611644" y="185724"/>
                </a:lnTo>
                <a:lnTo>
                  <a:pt x="605688" y="231876"/>
                </a:lnTo>
                <a:lnTo>
                  <a:pt x="593902" y="273329"/>
                </a:lnTo>
                <a:lnTo>
                  <a:pt x="566674" y="318008"/>
                </a:lnTo>
                <a:lnTo>
                  <a:pt x="569595" y="322580"/>
                </a:lnTo>
                <a:lnTo>
                  <a:pt x="601802" y="277685"/>
                </a:lnTo>
                <a:lnTo>
                  <a:pt x="616470" y="234746"/>
                </a:lnTo>
                <a:lnTo>
                  <a:pt x="623900" y="186740"/>
                </a:lnTo>
                <a:lnTo>
                  <a:pt x="624840" y="161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418715" y="2278870"/>
            <a:ext cx="9588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2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8612" y="2097818"/>
            <a:ext cx="721995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80"/>
              </a:lnSpc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131</a:t>
            </a:r>
            <a:endParaRPr sz="1000">
              <a:latin typeface="FreeSerif"/>
              <a:cs typeface="FreeSerif"/>
            </a:endParaRPr>
          </a:p>
          <a:p>
            <a:pPr marL="253365">
              <a:lnSpc>
                <a:spcPts val="980"/>
              </a:lnSpc>
            </a:pPr>
            <a:r>
              <a:rPr sz="1000" spc="145" dirty="0">
                <a:latin typeface="FreeSerif"/>
                <a:cs typeface="FreeSerif"/>
              </a:rPr>
              <a:t>× </a:t>
            </a:r>
            <a:r>
              <a:rPr sz="1000" spc="50" dirty="0">
                <a:latin typeface="FreeSerif"/>
                <a:cs typeface="FreeSerif"/>
              </a:rPr>
              <a:t>13</a:t>
            </a:r>
            <a:r>
              <a:rPr sz="1000" spc="285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96387" y="2134266"/>
            <a:ext cx="693420" cy="322580"/>
          </a:xfrm>
          <a:custGeom>
            <a:avLst/>
            <a:gdLst/>
            <a:ahLst/>
            <a:cxnLst/>
            <a:rect l="l" t="t" r="r" b="b"/>
            <a:pathLst>
              <a:path w="693420" h="322580">
                <a:moveTo>
                  <a:pt x="58166" y="4699"/>
                </a:moveTo>
                <a:lnTo>
                  <a:pt x="22999" y="44691"/>
                </a:lnTo>
                <a:lnTo>
                  <a:pt x="8356" y="87071"/>
                </a:lnTo>
                <a:lnTo>
                  <a:pt x="927" y="135216"/>
                </a:lnTo>
                <a:lnTo>
                  <a:pt x="0" y="161163"/>
                </a:lnTo>
                <a:lnTo>
                  <a:pt x="927" y="186740"/>
                </a:lnTo>
                <a:lnTo>
                  <a:pt x="8356" y="234746"/>
                </a:lnTo>
                <a:lnTo>
                  <a:pt x="22999" y="277685"/>
                </a:lnTo>
                <a:lnTo>
                  <a:pt x="43154" y="310362"/>
                </a:lnTo>
                <a:lnTo>
                  <a:pt x="55245" y="322580"/>
                </a:lnTo>
                <a:lnTo>
                  <a:pt x="58166" y="318008"/>
                </a:lnTo>
                <a:lnTo>
                  <a:pt x="47777" y="305612"/>
                </a:lnTo>
                <a:lnTo>
                  <a:pt x="38696" y="290703"/>
                </a:lnTo>
                <a:lnTo>
                  <a:pt x="24384" y="253492"/>
                </a:lnTo>
                <a:lnTo>
                  <a:pt x="15405" y="209283"/>
                </a:lnTo>
                <a:lnTo>
                  <a:pt x="12446" y="161163"/>
                </a:lnTo>
                <a:lnTo>
                  <a:pt x="13182" y="136169"/>
                </a:lnTo>
                <a:lnTo>
                  <a:pt x="19138" y="89827"/>
                </a:lnTo>
                <a:lnTo>
                  <a:pt x="30924" y="48907"/>
                </a:lnTo>
                <a:lnTo>
                  <a:pt x="47828" y="17043"/>
                </a:lnTo>
                <a:lnTo>
                  <a:pt x="58166" y="4699"/>
                </a:lnTo>
                <a:close/>
              </a:path>
              <a:path w="693420" h="322580">
                <a:moveTo>
                  <a:pt x="344678" y="157861"/>
                </a:moveTo>
                <a:lnTo>
                  <a:pt x="62738" y="157861"/>
                </a:lnTo>
                <a:lnTo>
                  <a:pt x="62738" y="165481"/>
                </a:lnTo>
                <a:lnTo>
                  <a:pt x="344678" y="165481"/>
                </a:lnTo>
                <a:lnTo>
                  <a:pt x="344678" y="157861"/>
                </a:lnTo>
                <a:close/>
              </a:path>
              <a:path w="693420" h="322580">
                <a:moveTo>
                  <a:pt x="693420" y="161163"/>
                </a:moveTo>
                <a:lnTo>
                  <a:pt x="689698" y="110515"/>
                </a:lnTo>
                <a:lnTo>
                  <a:pt x="678561" y="64897"/>
                </a:lnTo>
                <a:lnTo>
                  <a:pt x="660933" y="27127"/>
                </a:lnTo>
                <a:lnTo>
                  <a:pt x="638175" y="0"/>
                </a:lnTo>
                <a:lnTo>
                  <a:pt x="635254" y="4699"/>
                </a:lnTo>
                <a:lnTo>
                  <a:pt x="645566" y="17043"/>
                </a:lnTo>
                <a:lnTo>
                  <a:pt x="654621" y="31775"/>
                </a:lnTo>
                <a:lnTo>
                  <a:pt x="669036" y="68453"/>
                </a:lnTo>
                <a:lnTo>
                  <a:pt x="677951" y="112382"/>
                </a:lnTo>
                <a:lnTo>
                  <a:pt x="680974" y="161163"/>
                </a:lnTo>
                <a:lnTo>
                  <a:pt x="680224" y="185724"/>
                </a:lnTo>
                <a:lnTo>
                  <a:pt x="674268" y="231876"/>
                </a:lnTo>
                <a:lnTo>
                  <a:pt x="662482" y="273329"/>
                </a:lnTo>
                <a:lnTo>
                  <a:pt x="635254" y="318008"/>
                </a:lnTo>
                <a:lnTo>
                  <a:pt x="638175" y="322580"/>
                </a:lnTo>
                <a:lnTo>
                  <a:pt x="670382" y="277685"/>
                </a:lnTo>
                <a:lnTo>
                  <a:pt x="685050" y="234746"/>
                </a:lnTo>
                <a:lnTo>
                  <a:pt x="692480" y="186740"/>
                </a:lnTo>
                <a:lnTo>
                  <a:pt x="693420" y="161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182239" y="2278870"/>
            <a:ext cx="322961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1</a:t>
            </a:r>
            <a:r>
              <a:rPr sz="1000" spc="45" dirty="0">
                <a:latin typeface="FreeSerif"/>
                <a:cs typeface="FreeSerif"/>
              </a:rPr>
              <a:t>3</a:t>
            </a:r>
            <a:r>
              <a:rPr sz="1000" spc="50" dirty="0">
                <a:latin typeface="FreeSerif"/>
                <a:cs typeface="FreeSerif"/>
              </a:rPr>
              <a:t>1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47186" y="2097818"/>
            <a:ext cx="594360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80"/>
              </a:lnSpc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3600</a:t>
            </a:r>
            <a:endParaRPr sz="1000">
              <a:latin typeface="FreeSerif"/>
              <a:cs typeface="FreeSerif"/>
            </a:endParaRPr>
          </a:p>
          <a:p>
            <a:pPr marL="321945">
              <a:lnSpc>
                <a:spcPts val="980"/>
              </a:lnSpc>
            </a:pP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95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31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75510" y="2572290"/>
            <a:ext cx="1006728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95" dirty="0">
                <a:latin typeface="FreeSerif"/>
                <a:cs typeface="FreeSerif"/>
              </a:rPr>
              <a:t>≈</a:t>
            </a:r>
            <a:r>
              <a:rPr sz="1000" spc="-5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852</a:t>
            </a:r>
            <a:r>
              <a:rPr sz="1000" spc="-35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</a:t>
            </a:r>
            <a:r>
              <a:rPr sz="1000" spc="-50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852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30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6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7D3BAB-D56A-BF89-24D0-AF2C845BD1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6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38074" y="1104424"/>
            <a:ext cx="4202430" cy="1347548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210"/>
              </a:spcBef>
            </a:pPr>
            <a:r>
              <a:rPr sz="950" spc="-5" dirty="0">
                <a:latin typeface="Trebuchet MS"/>
                <a:cs typeface="Trebuchet MS"/>
              </a:rPr>
              <a:t>A large bakery buys flour </a:t>
            </a:r>
            <a:r>
              <a:rPr sz="950" dirty="0">
                <a:latin typeface="Trebuchet MS"/>
                <a:cs typeface="Trebuchet MS"/>
              </a:rPr>
              <a:t>in </a:t>
            </a:r>
            <a:r>
              <a:rPr sz="950" b="1" spc="-5" dirty="0">
                <a:solidFill>
                  <a:srgbClr val="B85B21"/>
                </a:solidFill>
                <a:latin typeface="Trebuchet MS"/>
                <a:cs typeface="Trebuchet MS"/>
              </a:rPr>
              <a:t>25-pound bags</a:t>
            </a:r>
            <a:r>
              <a:rPr sz="950" spc="-5" dirty="0">
                <a:latin typeface="Trebuchet MS"/>
                <a:cs typeface="Trebuchet MS"/>
              </a:rPr>
              <a:t>. The bakery uses </a:t>
            </a:r>
            <a:r>
              <a:rPr sz="950" dirty="0">
                <a:latin typeface="Trebuchet MS"/>
                <a:cs typeface="Trebuchet MS"/>
              </a:rPr>
              <a:t>an </a:t>
            </a:r>
            <a:r>
              <a:rPr sz="950" spc="-5" dirty="0">
                <a:latin typeface="Trebuchet MS"/>
                <a:cs typeface="Trebuchet MS"/>
              </a:rPr>
              <a:t>average </a:t>
            </a:r>
            <a:r>
              <a:rPr sz="950" spc="-10" dirty="0">
                <a:latin typeface="Trebuchet MS"/>
                <a:cs typeface="Trebuchet MS"/>
              </a:rPr>
              <a:t>of  </a:t>
            </a:r>
            <a:r>
              <a:rPr sz="950" b="1" spc="-5" dirty="0">
                <a:solidFill>
                  <a:srgbClr val="B85B21"/>
                </a:solidFill>
                <a:latin typeface="Trebuchet MS"/>
                <a:cs typeface="Trebuchet MS"/>
              </a:rPr>
              <a:t>1,215 bags </a:t>
            </a:r>
            <a:r>
              <a:rPr sz="950" spc="-5" dirty="0">
                <a:latin typeface="Trebuchet MS"/>
                <a:cs typeface="Trebuchet MS"/>
              </a:rPr>
              <a:t>a </a:t>
            </a:r>
            <a:r>
              <a:rPr sz="950" spc="-30" dirty="0">
                <a:latin typeface="Trebuchet MS"/>
                <a:cs typeface="Trebuchet MS"/>
              </a:rPr>
              <a:t>year. </a:t>
            </a:r>
            <a:r>
              <a:rPr sz="950" spc="-15" dirty="0">
                <a:latin typeface="Trebuchet MS"/>
                <a:cs typeface="Trebuchet MS"/>
              </a:rPr>
              <a:t>Preparing </a:t>
            </a:r>
            <a:r>
              <a:rPr sz="950" dirty="0">
                <a:latin typeface="Trebuchet MS"/>
                <a:cs typeface="Trebuchet MS"/>
              </a:rPr>
              <a:t>an </a:t>
            </a:r>
            <a:r>
              <a:rPr sz="950" spc="-5" dirty="0">
                <a:latin typeface="Trebuchet MS"/>
                <a:cs typeface="Trebuchet MS"/>
              </a:rPr>
              <a:t>order and receiving a shipment of flour  involves a cost of </a:t>
            </a:r>
            <a:r>
              <a:rPr sz="950" b="1" spc="-5" dirty="0">
                <a:solidFill>
                  <a:srgbClr val="B85B21"/>
                </a:solidFill>
                <a:latin typeface="Trebuchet MS"/>
                <a:cs typeface="Trebuchet MS"/>
              </a:rPr>
              <a:t>$10 per order</a:t>
            </a:r>
            <a:r>
              <a:rPr sz="950" spc="-5" dirty="0">
                <a:latin typeface="Trebuchet MS"/>
                <a:cs typeface="Trebuchet MS"/>
              </a:rPr>
              <a:t>. Annual carrying costs </a:t>
            </a:r>
            <a:r>
              <a:rPr sz="950" dirty="0">
                <a:latin typeface="Trebuchet MS"/>
                <a:cs typeface="Trebuchet MS"/>
              </a:rPr>
              <a:t>are </a:t>
            </a:r>
            <a:r>
              <a:rPr sz="950" b="1" spc="-5" dirty="0">
                <a:solidFill>
                  <a:srgbClr val="B85B21"/>
                </a:solidFill>
                <a:latin typeface="Trebuchet MS"/>
                <a:cs typeface="Trebuchet MS"/>
              </a:rPr>
              <a:t>$75 per</a:t>
            </a:r>
            <a:r>
              <a:rPr sz="950" b="1" spc="70" dirty="0">
                <a:solidFill>
                  <a:srgbClr val="B85B21"/>
                </a:solidFill>
                <a:latin typeface="Trebuchet MS"/>
                <a:cs typeface="Trebuchet MS"/>
              </a:rPr>
              <a:t> </a:t>
            </a:r>
            <a:r>
              <a:rPr sz="950" b="1" spc="-5" dirty="0">
                <a:solidFill>
                  <a:srgbClr val="B85B21"/>
                </a:solidFill>
                <a:latin typeface="Trebuchet MS"/>
                <a:cs typeface="Trebuchet MS"/>
              </a:rPr>
              <a:t>bag</a:t>
            </a:r>
            <a:r>
              <a:rPr sz="950" spc="-5" dirty="0">
                <a:latin typeface="Trebuchet MS"/>
                <a:cs typeface="Trebuchet MS"/>
              </a:rPr>
              <a:t>.</a:t>
            </a:r>
            <a:endParaRPr sz="950" dirty="0">
              <a:latin typeface="Trebuchet MS"/>
              <a:cs typeface="Trebuchet MS"/>
            </a:endParaRPr>
          </a:p>
          <a:p>
            <a:pPr marL="157480" indent="-144780">
              <a:spcBef>
                <a:spcPts val="395"/>
              </a:spcBef>
              <a:buFont typeface="Trebuchet MS"/>
              <a:buAutoNum type="alphaLcPeriod"/>
              <a:tabLst>
                <a:tab pos="157480" algn="l"/>
              </a:tabLst>
            </a:pPr>
            <a:r>
              <a:rPr sz="950" spc="-5" dirty="0">
                <a:latin typeface="Trebuchet MS"/>
                <a:cs typeface="Trebuchet MS"/>
              </a:rPr>
              <a:t>Determine the </a:t>
            </a:r>
            <a:r>
              <a:rPr sz="950" spc="-10" dirty="0">
                <a:latin typeface="Trebuchet MS"/>
                <a:cs typeface="Trebuchet MS"/>
              </a:rPr>
              <a:t>economic </a:t>
            </a:r>
            <a:r>
              <a:rPr sz="950" spc="-5" dirty="0">
                <a:latin typeface="Trebuchet MS"/>
                <a:cs typeface="Trebuchet MS"/>
              </a:rPr>
              <a:t>order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quantity.</a:t>
            </a:r>
            <a:endParaRPr sz="950" dirty="0">
              <a:latin typeface="Trebuchet MS"/>
              <a:cs typeface="Trebuchet MS"/>
            </a:endParaRPr>
          </a:p>
          <a:p>
            <a:pPr marL="155575" indent="-143510">
              <a:spcBef>
                <a:spcPts val="385"/>
              </a:spcBef>
              <a:buFont typeface="Trebuchet MS"/>
              <a:buAutoNum type="alphaLcPeriod"/>
              <a:tabLst>
                <a:tab pos="156210" algn="l"/>
              </a:tabLst>
            </a:pPr>
            <a:r>
              <a:rPr sz="950" spc="-5" dirty="0">
                <a:latin typeface="Trebuchet MS"/>
                <a:cs typeface="Trebuchet MS"/>
              </a:rPr>
              <a:t>How many orders per year will there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be?</a:t>
            </a:r>
            <a:endParaRPr sz="950" dirty="0">
              <a:latin typeface="Trebuchet MS"/>
              <a:cs typeface="Trebuchet MS"/>
            </a:endParaRPr>
          </a:p>
          <a:p>
            <a:pPr marL="163195" indent="-151130">
              <a:spcBef>
                <a:spcPts val="385"/>
              </a:spcBef>
              <a:buFont typeface="Trebuchet MS"/>
              <a:buAutoNum type="alphaLcPeriod"/>
              <a:tabLst>
                <a:tab pos="163830" algn="l"/>
              </a:tabLst>
            </a:pPr>
            <a:r>
              <a:rPr sz="950" spc="-5" dirty="0">
                <a:latin typeface="Trebuchet MS"/>
                <a:cs typeface="Trebuchet MS"/>
              </a:rPr>
              <a:t>Compute the total cost of ordering and carrying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flour.</a:t>
            </a:r>
            <a:endParaRPr sz="950" dirty="0">
              <a:latin typeface="Trebuchet MS"/>
              <a:cs typeface="Trebuchet MS"/>
            </a:endParaRPr>
          </a:p>
          <a:p>
            <a:pPr marL="177165" indent="-165100">
              <a:lnSpc>
                <a:spcPts val="1085"/>
              </a:lnSpc>
              <a:spcBef>
                <a:spcPts val="384"/>
              </a:spcBef>
              <a:buFont typeface="Trebuchet MS"/>
              <a:buAutoNum type="alphaLcPeriod"/>
              <a:tabLst>
                <a:tab pos="177800" algn="l"/>
              </a:tabLst>
            </a:pPr>
            <a:r>
              <a:rPr sz="950" spc="-5" dirty="0">
                <a:latin typeface="Trebuchet MS"/>
                <a:cs typeface="Trebuchet MS"/>
              </a:rPr>
              <a:t>If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holding</a:t>
            </a:r>
            <a:r>
              <a:rPr sz="950" spc="125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costs</a:t>
            </a:r>
            <a:r>
              <a:rPr sz="950" spc="135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were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130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increase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by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$9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per</a:t>
            </a:r>
            <a:r>
              <a:rPr sz="950" spc="12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year,</a:t>
            </a:r>
            <a:r>
              <a:rPr sz="950" spc="125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how</a:t>
            </a:r>
            <a:r>
              <a:rPr sz="950" spc="125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much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would</a:t>
            </a:r>
            <a:r>
              <a:rPr sz="950" spc="125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that</a:t>
            </a:r>
            <a:endParaRPr sz="950" dirty="0">
              <a:latin typeface="Trebuchet MS"/>
              <a:cs typeface="Trebuchet MS"/>
            </a:endParaRPr>
          </a:p>
          <a:p>
            <a:pPr marL="12700">
              <a:lnSpc>
                <a:spcPts val="1085"/>
              </a:lnSpc>
            </a:pPr>
            <a:r>
              <a:rPr sz="950" spc="-5" dirty="0">
                <a:latin typeface="Trebuchet MS"/>
                <a:cs typeface="Trebuchet MS"/>
              </a:rPr>
              <a:t>affect the minimum </a:t>
            </a:r>
            <a:r>
              <a:rPr sz="950" spc="-10" dirty="0">
                <a:latin typeface="Trebuchet MS"/>
                <a:cs typeface="Trebuchet MS"/>
              </a:rPr>
              <a:t>total </a:t>
            </a:r>
            <a:r>
              <a:rPr sz="950" spc="-5" dirty="0">
                <a:latin typeface="Trebuchet MS"/>
                <a:cs typeface="Trebuchet MS"/>
              </a:rPr>
              <a:t>annual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5" dirty="0">
                <a:latin typeface="Trebuchet MS"/>
                <a:cs typeface="Trebuchet MS"/>
              </a:rPr>
              <a:t>cost?</a:t>
            </a:r>
            <a:endParaRPr sz="95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31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7289" y="417862"/>
            <a:ext cx="686562" cy="6865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FFD531-26AF-1DCC-8D8E-0B8BADE182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58394" y="712247"/>
            <a:ext cx="879856" cy="156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9598" y="1154462"/>
            <a:ext cx="16560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b="1" spc="-5" dirty="0">
                <a:latin typeface="Trebuchet MS"/>
                <a:cs typeface="Trebuchet MS"/>
              </a:rPr>
              <a:t>a. </a:t>
            </a:r>
            <a:r>
              <a:rPr sz="1000" spc="-10" dirty="0">
                <a:latin typeface="Trebuchet MS"/>
                <a:cs typeface="Trebuchet MS"/>
              </a:rPr>
              <a:t>Economic </a:t>
            </a:r>
            <a:r>
              <a:rPr sz="1000" spc="-5" dirty="0">
                <a:latin typeface="Trebuchet MS"/>
                <a:cs typeface="Trebuchet MS"/>
              </a:rPr>
              <a:t>Order</a:t>
            </a:r>
            <a:r>
              <a:rPr sz="1000" spc="5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Quantity: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32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21056" y="1599724"/>
            <a:ext cx="91719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20" dirty="0">
                <a:latin typeface="FreeSerif"/>
                <a:cs typeface="FreeSerif"/>
              </a:rPr>
              <a:t>𝑊𝑒</a:t>
            </a:r>
            <a:r>
              <a:rPr sz="1000" spc="-170" dirty="0">
                <a:latin typeface="FreeSerif"/>
                <a:cs typeface="FreeSerif"/>
              </a:rPr>
              <a:t> </a:t>
            </a:r>
            <a:r>
              <a:rPr sz="1000" spc="-10" dirty="0">
                <a:latin typeface="FreeSerif"/>
                <a:cs typeface="FreeSerif"/>
              </a:rPr>
              <a:t>𝑘𝑛𝑜𝑤, </a:t>
            </a:r>
            <a:r>
              <a:rPr sz="1000" spc="70" dirty="0">
                <a:latin typeface="FreeSerif"/>
                <a:cs typeface="FreeSerif"/>
              </a:rPr>
              <a:t>𝑄 </a:t>
            </a:r>
            <a:r>
              <a:rPr sz="1000" spc="180" dirty="0">
                <a:latin typeface="FreeSerif"/>
                <a:cs typeface="FreeSerif"/>
              </a:rPr>
              <a:t>=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60146" y="1471961"/>
            <a:ext cx="324485" cy="421640"/>
          </a:xfrm>
          <a:custGeom>
            <a:avLst/>
            <a:gdLst/>
            <a:ahLst/>
            <a:cxnLst/>
            <a:rect l="l" t="t" r="r" b="b"/>
            <a:pathLst>
              <a:path w="324484" h="421639">
                <a:moveTo>
                  <a:pt x="322453" y="635"/>
                </a:moveTo>
                <a:lnTo>
                  <a:pt x="99187" y="635"/>
                </a:lnTo>
                <a:lnTo>
                  <a:pt x="99187" y="0"/>
                </a:lnTo>
                <a:lnTo>
                  <a:pt x="80010" y="0"/>
                </a:lnTo>
                <a:lnTo>
                  <a:pt x="53721" y="397510"/>
                </a:lnTo>
                <a:lnTo>
                  <a:pt x="22225" y="339217"/>
                </a:lnTo>
                <a:lnTo>
                  <a:pt x="0" y="350901"/>
                </a:lnTo>
                <a:lnTo>
                  <a:pt x="2413" y="355346"/>
                </a:lnTo>
                <a:lnTo>
                  <a:pt x="14097" y="349123"/>
                </a:lnTo>
                <a:lnTo>
                  <a:pt x="53467" y="421640"/>
                </a:lnTo>
                <a:lnTo>
                  <a:pt x="59309" y="421640"/>
                </a:lnTo>
                <a:lnTo>
                  <a:pt x="86868" y="8128"/>
                </a:lnTo>
                <a:lnTo>
                  <a:pt x="322453" y="8255"/>
                </a:lnTo>
                <a:lnTo>
                  <a:pt x="322453" y="635"/>
                </a:lnTo>
                <a:close/>
              </a:path>
              <a:path w="324484" h="421639">
                <a:moveTo>
                  <a:pt x="323977" y="226187"/>
                </a:moveTo>
                <a:lnTo>
                  <a:pt x="95377" y="226187"/>
                </a:lnTo>
                <a:lnTo>
                  <a:pt x="95377" y="233807"/>
                </a:lnTo>
                <a:lnTo>
                  <a:pt x="323977" y="233807"/>
                </a:lnTo>
                <a:lnTo>
                  <a:pt x="323977" y="2261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77670" y="1599724"/>
            <a:ext cx="12001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80" dirty="0">
                <a:latin typeface="FreeSerif"/>
                <a:cs typeface="FreeSerif"/>
              </a:rPr>
              <a:t>=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23086" y="1470437"/>
            <a:ext cx="882015" cy="421640"/>
          </a:xfrm>
          <a:custGeom>
            <a:avLst/>
            <a:gdLst/>
            <a:ahLst/>
            <a:cxnLst/>
            <a:rect l="l" t="t" r="r" b="b"/>
            <a:pathLst>
              <a:path w="882014" h="421639">
                <a:moveTo>
                  <a:pt x="881761" y="227711"/>
                </a:moveTo>
                <a:lnTo>
                  <a:pt x="93853" y="227711"/>
                </a:lnTo>
                <a:lnTo>
                  <a:pt x="93853" y="235331"/>
                </a:lnTo>
                <a:lnTo>
                  <a:pt x="881761" y="235331"/>
                </a:lnTo>
                <a:lnTo>
                  <a:pt x="881761" y="227711"/>
                </a:lnTo>
                <a:close/>
              </a:path>
              <a:path w="882014" h="421639">
                <a:moveTo>
                  <a:pt x="881761" y="635"/>
                </a:moveTo>
                <a:lnTo>
                  <a:pt x="99187" y="635"/>
                </a:lnTo>
                <a:lnTo>
                  <a:pt x="99187" y="0"/>
                </a:lnTo>
                <a:lnTo>
                  <a:pt x="80010" y="0"/>
                </a:lnTo>
                <a:lnTo>
                  <a:pt x="53721" y="397510"/>
                </a:lnTo>
                <a:lnTo>
                  <a:pt x="22225" y="339217"/>
                </a:lnTo>
                <a:lnTo>
                  <a:pt x="0" y="350901"/>
                </a:lnTo>
                <a:lnTo>
                  <a:pt x="2413" y="355346"/>
                </a:lnTo>
                <a:lnTo>
                  <a:pt x="14097" y="349123"/>
                </a:lnTo>
                <a:lnTo>
                  <a:pt x="53467" y="421640"/>
                </a:lnTo>
                <a:lnTo>
                  <a:pt x="59309" y="421640"/>
                </a:lnTo>
                <a:lnTo>
                  <a:pt x="86868" y="8128"/>
                </a:lnTo>
                <a:lnTo>
                  <a:pt x="881761" y="8255"/>
                </a:lnTo>
                <a:lnTo>
                  <a:pt x="881761" y="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43331" y="1474522"/>
            <a:ext cx="1577593" cy="3879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spcBef>
                <a:spcPts val="325"/>
              </a:spcBef>
              <a:tabLst>
                <a:tab pos="673735" algn="l"/>
              </a:tabLst>
            </a:pPr>
            <a:r>
              <a:rPr sz="1000" spc="20" dirty="0">
                <a:latin typeface="FreeSerif"/>
                <a:cs typeface="FreeSerif"/>
              </a:rPr>
              <a:t>2𝐷𝑆	</a:t>
            </a:r>
            <a:r>
              <a:rPr sz="1000" spc="50" dirty="0">
                <a:latin typeface="FreeSerif"/>
                <a:cs typeface="FreeSerif"/>
              </a:rPr>
              <a:t>2</a:t>
            </a:r>
            <a:r>
              <a:rPr sz="1000" spc="-45" dirty="0">
                <a:latin typeface="FreeSerif"/>
                <a:cs typeface="FreeSerif"/>
              </a:rPr>
              <a:t>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50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1215</a:t>
            </a:r>
            <a:r>
              <a:rPr sz="1000" spc="-30" dirty="0">
                <a:latin typeface="FreeSerif"/>
                <a:cs typeface="FreeSerif"/>
              </a:rPr>
              <a:t>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45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10</a:t>
            </a:r>
            <a:endParaRPr sz="1000" dirty="0">
              <a:latin typeface="FreeSerif"/>
              <a:cs typeface="FreeSerif"/>
            </a:endParaRPr>
          </a:p>
          <a:p>
            <a:pPr marL="78105">
              <a:spcBef>
                <a:spcPts val="225"/>
              </a:spcBef>
              <a:tabLst>
                <a:tab pos="996950" algn="l"/>
              </a:tabLst>
            </a:pPr>
            <a:r>
              <a:rPr sz="1000" spc="125" dirty="0">
                <a:latin typeface="FreeSerif"/>
                <a:cs typeface="FreeSerif"/>
              </a:rPr>
              <a:t>𝐻	</a:t>
            </a:r>
            <a:r>
              <a:rPr sz="1000" spc="45" dirty="0">
                <a:latin typeface="FreeSerif"/>
                <a:cs typeface="FreeSerif"/>
              </a:rPr>
              <a:t>75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59405" y="1578134"/>
            <a:ext cx="12319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80" dirty="0">
                <a:latin typeface="FreeSerif"/>
                <a:cs typeface="FreeSerif"/>
              </a:rPr>
              <a:t>= </a:t>
            </a:r>
            <a:r>
              <a:rPr sz="1000" b="1" i="1" spc="-5" dirty="0">
                <a:latin typeface="Trebuchet MS"/>
                <a:cs typeface="Trebuchet MS"/>
              </a:rPr>
              <a:t>18 </a:t>
            </a:r>
            <a:r>
              <a:rPr sz="1000" b="1" i="1" spc="-10" dirty="0">
                <a:latin typeface="Trebuchet MS"/>
                <a:cs typeface="Trebuchet MS"/>
              </a:rPr>
              <a:t>bags </a:t>
            </a:r>
            <a:r>
              <a:rPr sz="1000" b="1" i="1" spc="-5" dirty="0">
                <a:latin typeface="Trebuchet MS"/>
                <a:cs typeface="Trebuchet MS"/>
              </a:rPr>
              <a:t>per</a:t>
            </a:r>
            <a:r>
              <a:rPr sz="1000" b="1" i="1" spc="-145" dirty="0">
                <a:latin typeface="Trebuchet MS"/>
                <a:cs typeface="Trebuchet MS"/>
              </a:rPr>
              <a:t> </a:t>
            </a:r>
            <a:r>
              <a:rPr sz="1000" b="1" i="1" spc="-10" dirty="0">
                <a:latin typeface="Trebuchet MS"/>
                <a:cs typeface="Trebuchet MS"/>
              </a:rPr>
              <a:t>order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966972" y="473995"/>
            <a:ext cx="686562" cy="6865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8E1A3F-F941-8E4C-BD63-3C50B49C14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56870" y="712247"/>
            <a:ext cx="879856" cy="156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8075" y="1104424"/>
            <a:ext cx="172783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1000" b="1" spc="-10" dirty="0">
                <a:latin typeface="Trebuchet MS"/>
                <a:cs typeface="Trebuchet MS"/>
              </a:rPr>
              <a:t>b</a:t>
            </a:r>
            <a:r>
              <a:rPr sz="1000" b="1" spc="-10" dirty="0">
                <a:latin typeface="Trebuchet MS"/>
                <a:cs typeface="Trebuchet MS"/>
              </a:rPr>
              <a:t>. </a:t>
            </a:r>
            <a:r>
              <a:rPr sz="1000" spc="-10" dirty="0">
                <a:latin typeface="Trebuchet MS"/>
                <a:cs typeface="Trebuchet MS"/>
              </a:rPr>
              <a:t>Number </a:t>
            </a:r>
            <a:r>
              <a:rPr sz="1000" dirty="0">
                <a:latin typeface="Trebuchet MS"/>
                <a:cs typeface="Trebuchet MS"/>
              </a:rPr>
              <a:t>of </a:t>
            </a:r>
            <a:r>
              <a:rPr sz="1000" spc="-10" dirty="0">
                <a:latin typeface="Trebuchet MS"/>
                <a:cs typeface="Trebuchet MS"/>
              </a:rPr>
              <a:t>orders per</a:t>
            </a:r>
            <a:r>
              <a:rPr sz="1000" spc="30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year: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33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6383" y="1573942"/>
            <a:ext cx="91440" cy="7620"/>
          </a:xfrm>
          <a:custGeom>
            <a:avLst/>
            <a:gdLst/>
            <a:ahLst/>
            <a:cxnLst/>
            <a:rect l="l" t="t" r="r" b="b"/>
            <a:pathLst>
              <a:path w="91440" h="7619">
                <a:moveTo>
                  <a:pt x="91439" y="0"/>
                </a:moveTo>
                <a:lnTo>
                  <a:pt x="0" y="0"/>
                </a:lnTo>
                <a:lnTo>
                  <a:pt x="0" y="7619"/>
                </a:lnTo>
                <a:lnTo>
                  <a:pt x="91439" y="7619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71372" y="1573942"/>
            <a:ext cx="281940" cy="7620"/>
          </a:xfrm>
          <a:custGeom>
            <a:avLst/>
            <a:gdLst/>
            <a:ahLst/>
            <a:cxnLst/>
            <a:rect l="l" t="t" r="r" b="b"/>
            <a:pathLst>
              <a:path w="281940" h="7619">
                <a:moveTo>
                  <a:pt x="281939" y="0"/>
                </a:moveTo>
                <a:lnTo>
                  <a:pt x="0" y="0"/>
                </a:lnTo>
                <a:lnTo>
                  <a:pt x="0" y="7620"/>
                </a:lnTo>
                <a:lnTo>
                  <a:pt x="281939" y="7620"/>
                </a:lnTo>
                <a:lnTo>
                  <a:pt x="2819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73937" y="1378439"/>
            <a:ext cx="721868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297180" algn="l"/>
              </a:tabLst>
            </a:pPr>
            <a:r>
              <a:rPr sz="1000" spc="150" dirty="0">
                <a:latin typeface="FreeSerif"/>
                <a:cs typeface="FreeSerif"/>
              </a:rPr>
              <a:t>𝐷	</a:t>
            </a:r>
            <a:r>
              <a:rPr sz="1000" spc="45" dirty="0">
                <a:latin typeface="FreeSerif"/>
                <a:cs typeface="FreeSerif"/>
              </a:rPr>
              <a:t>1215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0430" y="1475010"/>
            <a:ext cx="90805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89584" algn="l"/>
              </a:tabLst>
            </a:pPr>
            <a:r>
              <a:rPr sz="1000" spc="180" dirty="0">
                <a:latin typeface="FreeSerif"/>
                <a:cs typeface="FreeSerif"/>
              </a:rPr>
              <a:t>=	=</a:t>
            </a:r>
            <a:r>
              <a:rPr sz="1000" spc="-114" dirty="0">
                <a:latin typeface="FreeSerif"/>
                <a:cs typeface="FreeSerif"/>
              </a:rPr>
              <a:t> </a:t>
            </a:r>
            <a:r>
              <a:rPr sz="1000" spc="-20" dirty="0">
                <a:latin typeface="FreeSerif"/>
                <a:cs typeface="FreeSerif"/>
              </a:rPr>
              <a:t>𝟔𝟕. </a:t>
            </a:r>
            <a:r>
              <a:rPr sz="1000" spc="-5" dirty="0">
                <a:latin typeface="FreeSerif"/>
                <a:cs typeface="FreeSerif"/>
              </a:rPr>
              <a:t>𝟓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8074" y="1560354"/>
            <a:ext cx="957326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8309">
              <a:spcBef>
                <a:spcPts val="95"/>
              </a:spcBef>
              <a:tabLst>
                <a:tab pos="803275" algn="l"/>
              </a:tabLst>
            </a:pPr>
            <a:r>
              <a:rPr sz="1000" spc="120" dirty="0">
                <a:latin typeface="FreeSerif"/>
                <a:cs typeface="FreeSerif"/>
              </a:rPr>
              <a:t>𝑄	</a:t>
            </a:r>
            <a:r>
              <a:rPr sz="1000" spc="50" dirty="0">
                <a:latin typeface="FreeSerif"/>
                <a:cs typeface="FreeSerif"/>
              </a:rPr>
              <a:t>18</a:t>
            </a:r>
            <a:endParaRPr sz="1000" dirty="0">
              <a:latin typeface="FreeSerif"/>
              <a:cs typeface="FreeSerif"/>
            </a:endParaRPr>
          </a:p>
          <a:p>
            <a:pPr marL="12700">
              <a:spcBef>
                <a:spcPts val="775"/>
              </a:spcBef>
            </a:pPr>
            <a:r>
              <a:rPr lang="en-US" sz="1000" b="1" spc="-5" dirty="0">
                <a:latin typeface="Trebuchet MS"/>
                <a:cs typeface="Trebuchet MS"/>
              </a:rPr>
              <a:t>c</a:t>
            </a:r>
            <a:r>
              <a:rPr sz="1000" b="1" spc="-5" dirty="0">
                <a:latin typeface="Trebuchet MS"/>
                <a:cs typeface="Trebuchet MS"/>
              </a:rPr>
              <a:t>. </a:t>
            </a:r>
            <a:r>
              <a:rPr sz="1000" spc="-30" dirty="0">
                <a:latin typeface="Trebuchet MS"/>
                <a:cs typeface="Trebuchet MS"/>
              </a:rPr>
              <a:t>Total</a:t>
            </a:r>
            <a:r>
              <a:rPr sz="1000" spc="-40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cost: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64233" y="2533936"/>
            <a:ext cx="14319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910590" algn="l"/>
              </a:tabLst>
            </a:pPr>
            <a:r>
              <a:rPr sz="1000" spc="180" dirty="0">
                <a:latin typeface="FreeSerif"/>
                <a:cs typeface="FreeSerif"/>
              </a:rPr>
              <a:t>= </a:t>
            </a:r>
            <a:r>
              <a:rPr sz="1000" spc="50" dirty="0">
                <a:latin typeface="FreeSerif"/>
                <a:cs typeface="FreeSerif"/>
              </a:rPr>
              <a:t>675</a:t>
            </a:r>
            <a:r>
              <a:rPr sz="1000" spc="-165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</a:t>
            </a:r>
            <a:r>
              <a:rPr sz="1000" spc="-25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675	</a:t>
            </a: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dirty="0">
                <a:latin typeface="FreeSerif"/>
                <a:cs typeface="FreeSerif"/>
              </a:rPr>
              <a:t> </a:t>
            </a:r>
            <a:r>
              <a:rPr sz="1000" b="1" i="1" spc="-5" dirty="0">
                <a:latin typeface="Trebuchet MS"/>
                <a:cs typeface="Trebuchet MS"/>
              </a:rPr>
              <a:t>$1350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23188" y="2243613"/>
            <a:ext cx="90170" cy="7620"/>
          </a:xfrm>
          <a:custGeom>
            <a:avLst/>
            <a:gdLst/>
            <a:ahLst/>
            <a:cxnLst/>
            <a:rect l="l" t="t" r="r" b="b"/>
            <a:pathLst>
              <a:path w="90169" h="7619">
                <a:moveTo>
                  <a:pt x="89916" y="0"/>
                </a:moveTo>
                <a:lnTo>
                  <a:pt x="0" y="0"/>
                </a:lnTo>
                <a:lnTo>
                  <a:pt x="0" y="7619"/>
                </a:lnTo>
                <a:lnTo>
                  <a:pt x="89916" y="7619"/>
                </a:lnTo>
                <a:lnTo>
                  <a:pt x="899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10742" y="2048669"/>
            <a:ext cx="11112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20" dirty="0">
                <a:latin typeface="FreeSerif"/>
                <a:cs typeface="FreeSerif"/>
              </a:rPr>
              <a:t>𝑄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81327" y="2243613"/>
            <a:ext cx="91440" cy="7620"/>
          </a:xfrm>
          <a:custGeom>
            <a:avLst/>
            <a:gdLst/>
            <a:ahLst/>
            <a:cxnLst/>
            <a:rect l="l" t="t" r="r" b="b"/>
            <a:pathLst>
              <a:path w="91440" h="7619">
                <a:moveTo>
                  <a:pt x="91439" y="0"/>
                </a:moveTo>
                <a:lnTo>
                  <a:pt x="0" y="0"/>
                </a:lnTo>
                <a:lnTo>
                  <a:pt x="0" y="7619"/>
                </a:lnTo>
                <a:lnTo>
                  <a:pt x="91439" y="7619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69263" y="2048669"/>
            <a:ext cx="11303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45" dirty="0">
                <a:latin typeface="FreeSerif"/>
                <a:cs typeface="FreeSerif"/>
              </a:rPr>
              <a:t>𝐷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9886" y="2230025"/>
            <a:ext cx="56413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61950" algn="l"/>
              </a:tabLst>
            </a:pPr>
            <a:r>
              <a:rPr sz="1000" spc="50" dirty="0">
                <a:latin typeface="FreeSerif"/>
                <a:cs typeface="FreeSerif"/>
              </a:rPr>
              <a:t>2	</a:t>
            </a:r>
            <a:r>
              <a:rPr sz="1000" spc="120" dirty="0">
                <a:latin typeface="FreeSerif"/>
                <a:cs typeface="FreeSerif"/>
              </a:rPr>
              <a:t>𝑄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9177" y="2144681"/>
            <a:ext cx="931672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43865" algn="l"/>
                <a:tab pos="805180" algn="l"/>
              </a:tabLst>
            </a:pPr>
            <a:r>
              <a:rPr sz="1000" i="1" spc="-10" dirty="0">
                <a:latin typeface="Times New Roman"/>
                <a:cs typeface="Times New Roman"/>
              </a:rPr>
              <a:t>T</a:t>
            </a:r>
            <a:r>
              <a:rPr sz="1000" i="1" spc="-5" dirty="0">
                <a:latin typeface="Times New Roman"/>
                <a:cs typeface="Times New Roman"/>
              </a:rPr>
              <a:t>C</a:t>
            </a:r>
            <a:r>
              <a:rPr sz="1000" i="1" spc="30" dirty="0">
                <a:latin typeface="Times New Roman"/>
                <a:cs typeface="Times New Roman"/>
              </a:rPr>
              <a:t> </a:t>
            </a: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dirty="0">
                <a:latin typeface="FreeSerif"/>
                <a:cs typeface="FreeSerif"/>
              </a:rPr>
              <a:t>	</a:t>
            </a:r>
            <a:r>
              <a:rPr sz="1000" spc="204" dirty="0">
                <a:latin typeface="FreeSerif"/>
                <a:cs typeface="FreeSerif"/>
              </a:rPr>
              <a:t>𝐻</a:t>
            </a:r>
            <a:r>
              <a:rPr sz="1000" spc="-5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</a:t>
            </a:r>
            <a:r>
              <a:rPr sz="1000" dirty="0">
                <a:latin typeface="FreeSerif"/>
                <a:cs typeface="FreeSerif"/>
              </a:rPr>
              <a:t>	</a:t>
            </a:r>
            <a:r>
              <a:rPr sz="1000" spc="-125" dirty="0">
                <a:latin typeface="FreeSerif"/>
                <a:cs typeface="FreeSerif"/>
              </a:rPr>
              <a:t>𝑆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010664" y="2085625"/>
            <a:ext cx="553720" cy="322580"/>
          </a:xfrm>
          <a:custGeom>
            <a:avLst/>
            <a:gdLst/>
            <a:ahLst/>
            <a:cxnLst/>
            <a:rect l="l" t="t" r="r" b="b"/>
            <a:pathLst>
              <a:path w="553719" h="322580">
                <a:moveTo>
                  <a:pt x="58166" y="4572"/>
                </a:moveTo>
                <a:lnTo>
                  <a:pt x="22999" y="44577"/>
                </a:lnTo>
                <a:lnTo>
                  <a:pt x="8356" y="86995"/>
                </a:lnTo>
                <a:lnTo>
                  <a:pt x="927" y="135102"/>
                </a:lnTo>
                <a:lnTo>
                  <a:pt x="0" y="161163"/>
                </a:lnTo>
                <a:lnTo>
                  <a:pt x="927" y="186690"/>
                </a:lnTo>
                <a:lnTo>
                  <a:pt x="8356" y="234746"/>
                </a:lnTo>
                <a:lnTo>
                  <a:pt x="22999" y="277634"/>
                </a:lnTo>
                <a:lnTo>
                  <a:pt x="43154" y="310299"/>
                </a:lnTo>
                <a:lnTo>
                  <a:pt x="55245" y="322453"/>
                </a:lnTo>
                <a:lnTo>
                  <a:pt x="58166" y="317881"/>
                </a:lnTo>
                <a:lnTo>
                  <a:pt x="47777" y="305498"/>
                </a:lnTo>
                <a:lnTo>
                  <a:pt x="38696" y="290626"/>
                </a:lnTo>
                <a:lnTo>
                  <a:pt x="24384" y="253365"/>
                </a:lnTo>
                <a:lnTo>
                  <a:pt x="15405" y="209181"/>
                </a:lnTo>
                <a:lnTo>
                  <a:pt x="12446" y="161036"/>
                </a:lnTo>
                <a:lnTo>
                  <a:pt x="13182" y="136169"/>
                </a:lnTo>
                <a:lnTo>
                  <a:pt x="19138" y="89827"/>
                </a:lnTo>
                <a:lnTo>
                  <a:pt x="30924" y="48882"/>
                </a:lnTo>
                <a:lnTo>
                  <a:pt x="47828" y="16929"/>
                </a:lnTo>
                <a:lnTo>
                  <a:pt x="58166" y="4572"/>
                </a:lnTo>
                <a:close/>
              </a:path>
              <a:path w="553719" h="322580">
                <a:moveTo>
                  <a:pt x="204470" y="157861"/>
                </a:moveTo>
                <a:lnTo>
                  <a:pt x="62738" y="157861"/>
                </a:lnTo>
                <a:lnTo>
                  <a:pt x="62738" y="165481"/>
                </a:lnTo>
                <a:lnTo>
                  <a:pt x="204470" y="165481"/>
                </a:lnTo>
                <a:lnTo>
                  <a:pt x="204470" y="157861"/>
                </a:lnTo>
                <a:close/>
              </a:path>
              <a:path w="553719" h="322580">
                <a:moveTo>
                  <a:pt x="553212" y="161036"/>
                </a:moveTo>
                <a:lnTo>
                  <a:pt x="549490" y="110426"/>
                </a:lnTo>
                <a:lnTo>
                  <a:pt x="538353" y="64770"/>
                </a:lnTo>
                <a:lnTo>
                  <a:pt x="520725" y="27051"/>
                </a:lnTo>
                <a:lnTo>
                  <a:pt x="497967" y="0"/>
                </a:lnTo>
                <a:lnTo>
                  <a:pt x="495046" y="4572"/>
                </a:lnTo>
                <a:lnTo>
                  <a:pt x="505358" y="16929"/>
                </a:lnTo>
                <a:lnTo>
                  <a:pt x="514413" y="31711"/>
                </a:lnTo>
                <a:lnTo>
                  <a:pt x="528828" y="68453"/>
                </a:lnTo>
                <a:lnTo>
                  <a:pt x="537743" y="112382"/>
                </a:lnTo>
                <a:lnTo>
                  <a:pt x="540766" y="161163"/>
                </a:lnTo>
                <a:lnTo>
                  <a:pt x="540016" y="185648"/>
                </a:lnTo>
                <a:lnTo>
                  <a:pt x="534060" y="231749"/>
                </a:lnTo>
                <a:lnTo>
                  <a:pt x="522274" y="273253"/>
                </a:lnTo>
                <a:lnTo>
                  <a:pt x="495046" y="317881"/>
                </a:lnTo>
                <a:lnTo>
                  <a:pt x="497967" y="322453"/>
                </a:lnTo>
                <a:lnTo>
                  <a:pt x="530174" y="277634"/>
                </a:lnTo>
                <a:lnTo>
                  <a:pt x="544842" y="234746"/>
                </a:lnTo>
                <a:lnTo>
                  <a:pt x="552272" y="186690"/>
                </a:lnTo>
                <a:lnTo>
                  <a:pt x="553212" y="1610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061465" y="2048415"/>
            <a:ext cx="16573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18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57248" y="2144427"/>
            <a:ext cx="657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85445" algn="l"/>
              </a:tabLst>
            </a:pPr>
            <a:r>
              <a:rPr sz="1000" spc="180" dirty="0">
                <a:latin typeface="FreeSerif"/>
                <a:cs typeface="FreeSerif"/>
              </a:rPr>
              <a:t>=	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95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75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737613" y="2085625"/>
            <a:ext cx="695325" cy="322580"/>
          </a:xfrm>
          <a:custGeom>
            <a:avLst/>
            <a:gdLst/>
            <a:ahLst/>
            <a:cxnLst/>
            <a:rect l="l" t="t" r="r" b="b"/>
            <a:pathLst>
              <a:path w="695325" h="322580">
                <a:moveTo>
                  <a:pt x="58166" y="4572"/>
                </a:moveTo>
                <a:lnTo>
                  <a:pt x="22999" y="44577"/>
                </a:lnTo>
                <a:lnTo>
                  <a:pt x="8356" y="86995"/>
                </a:lnTo>
                <a:lnTo>
                  <a:pt x="927" y="135102"/>
                </a:lnTo>
                <a:lnTo>
                  <a:pt x="0" y="161163"/>
                </a:lnTo>
                <a:lnTo>
                  <a:pt x="927" y="186690"/>
                </a:lnTo>
                <a:lnTo>
                  <a:pt x="8356" y="234746"/>
                </a:lnTo>
                <a:lnTo>
                  <a:pt x="22999" y="277634"/>
                </a:lnTo>
                <a:lnTo>
                  <a:pt x="43154" y="310299"/>
                </a:lnTo>
                <a:lnTo>
                  <a:pt x="55245" y="322453"/>
                </a:lnTo>
                <a:lnTo>
                  <a:pt x="58166" y="317881"/>
                </a:lnTo>
                <a:lnTo>
                  <a:pt x="47777" y="305498"/>
                </a:lnTo>
                <a:lnTo>
                  <a:pt x="38696" y="290626"/>
                </a:lnTo>
                <a:lnTo>
                  <a:pt x="24384" y="253365"/>
                </a:lnTo>
                <a:lnTo>
                  <a:pt x="15405" y="209181"/>
                </a:lnTo>
                <a:lnTo>
                  <a:pt x="12446" y="161036"/>
                </a:lnTo>
                <a:lnTo>
                  <a:pt x="13182" y="136169"/>
                </a:lnTo>
                <a:lnTo>
                  <a:pt x="19138" y="89827"/>
                </a:lnTo>
                <a:lnTo>
                  <a:pt x="30924" y="48882"/>
                </a:lnTo>
                <a:lnTo>
                  <a:pt x="47828" y="16929"/>
                </a:lnTo>
                <a:lnTo>
                  <a:pt x="58166" y="4572"/>
                </a:lnTo>
                <a:close/>
              </a:path>
              <a:path w="695325" h="322580">
                <a:moveTo>
                  <a:pt x="344678" y="157861"/>
                </a:moveTo>
                <a:lnTo>
                  <a:pt x="62738" y="157861"/>
                </a:lnTo>
                <a:lnTo>
                  <a:pt x="62738" y="165481"/>
                </a:lnTo>
                <a:lnTo>
                  <a:pt x="344678" y="165481"/>
                </a:lnTo>
                <a:lnTo>
                  <a:pt x="344678" y="157861"/>
                </a:lnTo>
                <a:close/>
              </a:path>
              <a:path w="695325" h="322580">
                <a:moveTo>
                  <a:pt x="694944" y="161036"/>
                </a:moveTo>
                <a:lnTo>
                  <a:pt x="691222" y="110426"/>
                </a:lnTo>
                <a:lnTo>
                  <a:pt x="680085" y="64770"/>
                </a:lnTo>
                <a:lnTo>
                  <a:pt x="662457" y="27051"/>
                </a:lnTo>
                <a:lnTo>
                  <a:pt x="639699" y="0"/>
                </a:lnTo>
                <a:lnTo>
                  <a:pt x="636778" y="4572"/>
                </a:lnTo>
                <a:lnTo>
                  <a:pt x="647090" y="16929"/>
                </a:lnTo>
                <a:lnTo>
                  <a:pt x="656145" y="31711"/>
                </a:lnTo>
                <a:lnTo>
                  <a:pt x="670560" y="68453"/>
                </a:lnTo>
                <a:lnTo>
                  <a:pt x="679475" y="112382"/>
                </a:lnTo>
                <a:lnTo>
                  <a:pt x="682498" y="161163"/>
                </a:lnTo>
                <a:lnTo>
                  <a:pt x="681748" y="185648"/>
                </a:lnTo>
                <a:lnTo>
                  <a:pt x="675792" y="231749"/>
                </a:lnTo>
                <a:lnTo>
                  <a:pt x="664006" y="273253"/>
                </a:lnTo>
                <a:lnTo>
                  <a:pt x="636778" y="317881"/>
                </a:lnTo>
                <a:lnTo>
                  <a:pt x="639699" y="322453"/>
                </a:lnTo>
                <a:lnTo>
                  <a:pt x="671906" y="277634"/>
                </a:lnTo>
                <a:lnTo>
                  <a:pt x="686574" y="234746"/>
                </a:lnTo>
                <a:lnTo>
                  <a:pt x="694004" y="186690"/>
                </a:lnTo>
                <a:lnTo>
                  <a:pt x="694944" y="1610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788411" y="2048415"/>
            <a:ext cx="424182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1215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96517" y="2229771"/>
            <a:ext cx="970281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774065" algn="l"/>
              </a:tabLst>
            </a:pPr>
            <a:r>
              <a:rPr sz="1000" spc="50" dirty="0">
                <a:latin typeface="FreeSerif"/>
                <a:cs typeface="FreeSerif"/>
              </a:rPr>
              <a:t>2	18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91816" y="2144427"/>
            <a:ext cx="7924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520065" algn="l"/>
              </a:tabLst>
            </a:pPr>
            <a:r>
              <a:rPr sz="1000" spc="180" dirty="0">
                <a:latin typeface="FreeSerif"/>
                <a:cs typeface="FreeSerif"/>
              </a:rPr>
              <a:t>+	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95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10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965447" y="473996"/>
            <a:ext cx="686562" cy="686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6C7E4C-0696-9A0B-05DE-225859FF21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58394" y="712247"/>
            <a:ext cx="879856" cy="156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9598" y="1105059"/>
            <a:ext cx="26073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1000" b="1" spc="-5" dirty="0">
                <a:latin typeface="Trebuchet MS"/>
                <a:cs typeface="Trebuchet MS"/>
              </a:rPr>
              <a:t>d</a:t>
            </a:r>
            <a:r>
              <a:rPr sz="1000" b="1" spc="-5" dirty="0">
                <a:latin typeface="Trebuchet MS"/>
                <a:cs typeface="Trebuchet MS"/>
              </a:rPr>
              <a:t>. </a:t>
            </a:r>
            <a:r>
              <a:rPr sz="1000" spc="-5" dirty="0">
                <a:latin typeface="Trebuchet MS"/>
                <a:cs typeface="Trebuchet MS"/>
              </a:rPr>
              <a:t>By increasing </a:t>
            </a:r>
            <a:r>
              <a:rPr sz="1000" spc="-10" dirty="0">
                <a:latin typeface="Trebuchet MS"/>
                <a:cs typeface="Trebuchet MS"/>
              </a:rPr>
              <a:t>holding </a:t>
            </a:r>
            <a:r>
              <a:rPr sz="1000" spc="-5" dirty="0">
                <a:latin typeface="Trebuchet MS"/>
                <a:cs typeface="Trebuchet MS"/>
              </a:rPr>
              <a:t>costs by </a:t>
            </a:r>
            <a:r>
              <a:rPr sz="1000" dirty="0">
                <a:latin typeface="Trebuchet MS"/>
                <a:cs typeface="Trebuchet MS"/>
              </a:rPr>
              <a:t>$9 </a:t>
            </a:r>
            <a:r>
              <a:rPr sz="1000" spc="-10" dirty="0">
                <a:latin typeface="Trebuchet MS"/>
                <a:cs typeface="Trebuchet MS"/>
              </a:rPr>
              <a:t>per</a:t>
            </a:r>
            <a:r>
              <a:rPr sz="1000" spc="35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year: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34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9598" y="2285295"/>
            <a:ext cx="3340100" cy="48768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971039">
              <a:spcBef>
                <a:spcPts val="720"/>
              </a:spcBef>
              <a:tabLst>
                <a:tab pos="2819400" algn="l"/>
              </a:tabLst>
            </a:pPr>
            <a:r>
              <a:rPr sz="1000" spc="180" dirty="0">
                <a:latin typeface="FreeSerif"/>
                <a:cs typeface="FreeSerif"/>
              </a:rPr>
              <a:t>= </a:t>
            </a:r>
            <a:r>
              <a:rPr sz="1000" spc="50" dirty="0">
                <a:latin typeface="FreeSerif"/>
                <a:cs typeface="FreeSerif"/>
              </a:rPr>
              <a:t>714</a:t>
            </a:r>
            <a:r>
              <a:rPr sz="1000" spc="-165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</a:t>
            </a:r>
            <a:r>
              <a:rPr sz="1000" spc="-25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715	</a:t>
            </a: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dirty="0">
                <a:latin typeface="FreeSerif"/>
                <a:cs typeface="FreeSerif"/>
              </a:rPr>
              <a:t> </a:t>
            </a:r>
            <a:r>
              <a:rPr sz="1000" b="1" i="1" spc="-5" dirty="0">
                <a:latin typeface="Trebuchet MS"/>
                <a:cs typeface="Trebuchet MS"/>
              </a:rPr>
              <a:t>$1429</a:t>
            </a:r>
            <a:endParaRPr sz="1000" dirty="0">
              <a:latin typeface="Trebuchet MS"/>
              <a:cs typeface="Trebuchet MS"/>
            </a:endParaRPr>
          </a:p>
          <a:p>
            <a:pPr marL="12700">
              <a:spcBef>
                <a:spcPts val="615"/>
              </a:spcBef>
            </a:pPr>
            <a:r>
              <a:rPr sz="1000" spc="-5" dirty="0">
                <a:latin typeface="Trebuchet MS"/>
                <a:cs typeface="Trebuchet MS"/>
              </a:rPr>
              <a:t>Thus, total annual cost increases by</a:t>
            </a:r>
            <a:r>
              <a:rPr sz="1000" spc="25" dirty="0">
                <a:latin typeface="Trebuchet MS"/>
                <a:cs typeface="Trebuchet MS"/>
              </a:rPr>
              <a:t> </a:t>
            </a:r>
            <a:r>
              <a:rPr sz="1000" b="1" spc="-5" dirty="0">
                <a:latin typeface="Trebuchet MS"/>
                <a:cs typeface="Trebuchet MS"/>
              </a:rPr>
              <a:t>$79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99057" y="2095023"/>
            <a:ext cx="90170" cy="7620"/>
          </a:xfrm>
          <a:custGeom>
            <a:avLst/>
            <a:gdLst/>
            <a:ahLst/>
            <a:cxnLst/>
            <a:rect l="l" t="t" r="r" b="b"/>
            <a:pathLst>
              <a:path w="90169" h="7619">
                <a:moveTo>
                  <a:pt x="89916" y="0"/>
                </a:moveTo>
                <a:lnTo>
                  <a:pt x="0" y="0"/>
                </a:lnTo>
                <a:lnTo>
                  <a:pt x="0" y="7620"/>
                </a:lnTo>
                <a:lnTo>
                  <a:pt x="89916" y="7620"/>
                </a:lnTo>
                <a:lnTo>
                  <a:pt x="899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7197" y="2095023"/>
            <a:ext cx="91440" cy="7620"/>
          </a:xfrm>
          <a:custGeom>
            <a:avLst/>
            <a:gdLst/>
            <a:ahLst/>
            <a:cxnLst/>
            <a:rect l="l" t="t" r="r" b="b"/>
            <a:pathLst>
              <a:path w="91439" h="7619">
                <a:moveTo>
                  <a:pt x="91439" y="0"/>
                </a:moveTo>
                <a:lnTo>
                  <a:pt x="0" y="0"/>
                </a:lnTo>
                <a:lnTo>
                  <a:pt x="0" y="7620"/>
                </a:lnTo>
                <a:lnTo>
                  <a:pt x="91439" y="7620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86865" y="1900841"/>
            <a:ext cx="614172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70205" algn="l"/>
              </a:tabLst>
            </a:pPr>
            <a:r>
              <a:rPr sz="1000" spc="120" dirty="0">
                <a:latin typeface="FreeSerif"/>
                <a:cs typeface="FreeSerif"/>
              </a:rPr>
              <a:t>𝑄	</a:t>
            </a:r>
            <a:r>
              <a:rPr sz="1000" spc="145" dirty="0">
                <a:latin typeface="FreeSerif"/>
                <a:cs typeface="FreeSerif"/>
              </a:rPr>
              <a:t>𝐷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0960" y="1996853"/>
            <a:ext cx="158940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149350" algn="l"/>
                <a:tab pos="1509395" algn="l"/>
              </a:tabLst>
            </a:pPr>
            <a:r>
              <a:rPr sz="1000" spc="-215" dirty="0">
                <a:latin typeface="Times New Roman"/>
                <a:cs typeface="Times New Roman"/>
              </a:rPr>
              <a:t>⸫ </a:t>
            </a:r>
            <a:r>
              <a:rPr sz="1000" i="1" spc="-10" dirty="0">
                <a:latin typeface="Times New Roman"/>
                <a:cs typeface="Times New Roman"/>
              </a:rPr>
              <a:t>T</a:t>
            </a:r>
            <a:r>
              <a:rPr sz="1000" i="1" dirty="0">
                <a:latin typeface="Times New Roman"/>
                <a:cs typeface="Times New Roman"/>
              </a:rPr>
              <a:t>o</a:t>
            </a:r>
            <a:r>
              <a:rPr sz="1000" i="1" spc="-5" dirty="0">
                <a:latin typeface="Times New Roman"/>
                <a:cs typeface="Times New Roman"/>
              </a:rPr>
              <a:t>tal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C</a:t>
            </a:r>
            <a:r>
              <a:rPr sz="1000" i="1" dirty="0">
                <a:latin typeface="Times New Roman"/>
                <a:cs typeface="Times New Roman"/>
              </a:rPr>
              <a:t>o</a:t>
            </a:r>
            <a:r>
              <a:rPr sz="1000" i="1" spc="-10" dirty="0">
                <a:latin typeface="Times New Roman"/>
                <a:cs typeface="Times New Roman"/>
              </a:rPr>
              <a:t>s</a:t>
            </a:r>
            <a:r>
              <a:rPr sz="1000" i="1" spc="-5" dirty="0">
                <a:latin typeface="Times New Roman"/>
                <a:cs typeface="Times New Roman"/>
              </a:rPr>
              <a:t>t,</a:t>
            </a:r>
            <a:r>
              <a:rPr sz="1000" i="1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T</a:t>
            </a:r>
            <a:r>
              <a:rPr sz="1000" i="1" spc="-5" dirty="0">
                <a:latin typeface="Times New Roman"/>
                <a:cs typeface="Times New Roman"/>
              </a:rPr>
              <a:t>C</a:t>
            </a:r>
            <a:r>
              <a:rPr sz="1000" i="1" spc="20" dirty="0">
                <a:latin typeface="Times New Roman"/>
                <a:cs typeface="Times New Roman"/>
              </a:rPr>
              <a:t> </a:t>
            </a: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dirty="0">
                <a:latin typeface="FreeSerif"/>
                <a:cs typeface="FreeSerif"/>
              </a:rPr>
              <a:t>	</a:t>
            </a:r>
            <a:r>
              <a:rPr sz="1000" spc="204" dirty="0">
                <a:latin typeface="FreeSerif"/>
                <a:cs typeface="FreeSerif"/>
              </a:rPr>
              <a:t>𝐻</a:t>
            </a:r>
            <a:r>
              <a:rPr sz="1000" spc="-5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</a:t>
            </a:r>
            <a:r>
              <a:rPr sz="1000" dirty="0">
                <a:latin typeface="FreeSerif"/>
                <a:cs typeface="FreeSerif"/>
              </a:rPr>
              <a:t>	</a:t>
            </a:r>
            <a:r>
              <a:rPr sz="1000" spc="-125" dirty="0">
                <a:latin typeface="FreeSerif"/>
                <a:cs typeface="FreeSerif"/>
              </a:rPr>
              <a:t>𝑆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54910" y="1937035"/>
            <a:ext cx="553720" cy="322580"/>
          </a:xfrm>
          <a:custGeom>
            <a:avLst/>
            <a:gdLst/>
            <a:ahLst/>
            <a:cxnLst/>
            <a:rect l="l" t="t" r="r" b="b"/>
            <a:pathLst>
              <a:path w="553719" h="322580">
                <a:moveTo>
                  <a:pt x="58039" y="4699"/>
                </a:moveTo>
                <a:lnTo>
                  <a:pt x="22948" y="44691"/>
                </a:lnTo>
                <a:lnTo>
                  <a:pt x="8356" y="87071"/>
                </a:lnTo>
                <a:lnTo>
                  <a:pt x="927" y="135216"/>
                </a:lnTo>
                <a:lnTo>
                  <a:pt x="0" y="161163"/>
                </a:lnTo>
                <a:lnTo>
                  <a:pt x="927" y="186740"/>
                </a:lnTo>
                <a:lnTo>
                  <a:pt x="8356" y="234746"/>
                </a:lnTo>
                <a:lnTo>
                  <a:pt x="22948" y="277685"/>
                </a:lnTo>
                <a:lnTo>
                  <a:pt x="43091" y="310362"/>
                </a:lnTo>
                <a:lnTo>
                  <a:pt x="55118" y="322580"/>
                </a:lnTo>
                <a:lnTo>
                  <a:pt x="58039" y="318008"/>
                </a:lnTo>
                <a:lnTo>
                  <a:pt x="47713" y="305612"/>
                </a:lnTo>
                <a:lnTo>
                  <a:pt x="38671" y="290703"/>
                </a:lnTo>
                <a:lnTo>
                  <a:pt x="24257" y="253492"/>
                </a:lnTo>
                <a:lnTo>
                  <a:pt x="15392" y="209283"/>
                </a:lnTo>
                <a:lnTo>
                  <a:pt x="12446" y="161163"/>
                </a:lnTo>
                <a:lnTo>
                  <a:pt x="13182" y="136169"/>
                </a:lnTo>
                <a:lnTo>
                  <a:pt x="19138" y="89827"/>
                </a:lnTo>
                <a:lnTo>
                  <a:pt x="30924" y="48907"/>
                </a:lnTo>
                <a:lnTo>
                  <a:pt x="47777" y="17043"/>
                </a:lnTo>
                <a:lnTo>
                  <a:pt x="58039" y="4699"/>
                </a:lnTo>
                <a:close/>
              </a:path>
              <a:path w="553719" h="322580">
                <a:moveTo>
                  <a:pt x="204470" y="157861"/>
                </a:moveTo>
                <a:lnTo>
                  <a:pt x="62738" y="157861"/>
                </a:lnTo>
                <a:lnTo>
                  <a:pt x="62738" y="165481"/>
                </a:lnTo>
                <a:lnTo>
                  <a:pt x="204470" y="165481"/>
                </a:lnTo>
                <a:lnTo>
                  <a:pt x="204470" y="157861"/>
                </a:lnTo>
                <a:close/>
              </a:path>
              <a:path w="553719" h="322580">
                <a:moveTo>
                  <a:pt x="553212" y="161163"/>
                </a:moveTo>
                <a:lnTo>
                  <a:pt x="549478" y="110515"/>
                </a:lnTo>
                <a:lnTo>
                  <a:pt x="538226" y="64897"/>
                </a:lnTo>
                <a:lnTo>
                  <a:pt x="520712" y="27127"/>
                </a:lnTo>
                <a:lnTo>
                  <a:pt x="497967" y="0"/>
                </a:lnTo>
                <a:lnTo>
                  <a:pt x="495046" y="4699"/>
                </a:lnTo>
                <a:lnTo>
                  <a:pt x="505358" y="17043"/>
                </a:lnTo>
                <a:lnTo>
                  <a:pt x="514413" y="31775"/>
                </a:lnTo>
                <a:lnTo>
                  <a:pt x="528828" y="68453"/>
                </a:lnTo>
                <a:lnTo>
                  <a:pt x="537679" y="112382"/>
                </a:lnTo>
                <a:lnTo>
                  <a:pt x="540639" y="161163"/>
                </a:lnTo>
                <a:lnTo>
                  <a:pt x="539889" y="185724"/>
                </a:lnTo>
                <a:lnTo>
                  <a:pt x="533984" y="231876"/>
                </a:lnTo>
                <a:lnTo>
                  <a:pt x="522274" y="273329"/>
                </a:lnTo>
                <a:lnTo>
                  <a:pt x="495046" y="318008"/>
                </a:lnTo>
                <a:lnTo>
                  <a:pt x="497967" y="322580"/>
                </a:lnTo>
                <a:lnTo>
                  <a:pt x="530123" y="277685"/>
                </a:lnTo>
                <a:lnTo>
                  <a:pt x="544791" y="234746"/>
                </a:lnTo>
                <a:lnTo>
                  <a:pt x="552272" y="186740"/>
                </a:lnTo>
                <a:lnTo>
                  <a:pt x="553212" y="161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05584" y="1900587"/>
            <a:ext cx="16573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17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81859" y="1937035"/>
            <a:ext cx="695325" cy="322580"/>
          </a:xfrm>
          <a:custGeom>
            <a:avLst/>
            <a:gdLst/>
            <a:ahLst/>
            <a:cxnLst/>
            <a:rect l="l" t="t" r="r" b="b"/>
            <a:pathLst>
              <a:path w="695325" h="322580">
                <a:moveTo>
                  <a:pt x="58039" y="4699"/>
                </a:moveTo>
                <a:lnTo>
                  <a:pt x="22948" y="44691"/>
                </a:lnTo>
                <a:lnTo>
                  <a:pt x="8356" y="87071"/>
                </a:lnTo>
                <a:lnTo>
                  <a:pt x="927" y="135216"/>
                </a:lnTo>
                <a:lnTo>
                  <a:pt x="0" y="161163"/>
                </a:lnTo>
                <a:lnTo>
                  <a:pt x="927" y="186740"/>
                </a:lnTo>
                <a:lnTo>
                  <a:pt x="8356" y="234746"/>
                </a:lnTo>
                <a:lnTo>
                  <a:pt x="22948" y="277685"/>
                </a:lnTo>
                <a:lnTo>
                  <a:pt x="43091" y="310362"/>
                </a:lnTo>
                <a:lnTo>
                  <a:pt x="55118" y="322580"/>
                </a:lnTo>
                <a:lnTo>
                  <a:pt x="58039" y="318008"/>
                </a:lnTo>
                <a:lnTo>
                  <a:pt x="47713" y="305612"/>
                </a:lnTo>
                <a:lnTo>
                  <a:pt x="38671" y="290703"/>
                </a:lnTo>
                <a:lnTo>
                  <a:pt x="24257" y="253492"/>
                </a:lnTo>
                <a:lnTo>
                  <a:pt x="15392" y="209283"/>
                </a:lnTo>
                <a:lnTo>
                  <a:pt x="12446" y="161163"/>
                </a:lnTo>
                <a:lnTo>
                  <a:pt x="13182" y="136169"/>
                </a:lnTo>
                <a:lnTo>
                  <a:pt x="19138" y="89827"/>
                </a:lnTo>
                <a:lnTo>
                  <a:pt x="30924" y="48907"/>
                </a:lnTo>
                <a:lnTo>
                  <a:pt x="47777" y="17043"/>
                </a:lnTo>
                <a:lnTo>
                  <a:pt x="58039" y="4699"/>
                </a:lnTo>
                <a:close/>
              </a:path>
              <a:path w="695325" h="322580">
                <a:moveTo>
                  <a:pt x="344678" y="157861"/>
                </a:moveTo>
                <a:lnTo>
                  <a:pt x="62738" y="157861"/>
                </a:lnTo>
                <a:lnTo>
                  <a:pt x="62738" y="165481"/>
                </a:lnTo>
                <a:lnTo>
                  <a:pt x="344678" y="165481"/>
                </a:lnTo>
                <a:lnTo>
                  <a:pt x="344678" y="157861"/>
                </a:lnTo>
                <a:close/>
              </a:path>
              <a:path w="695325" h="322580">
                <a:moveTo>
                  <a:pt x="694944" y="161163"/>
                </a:moveTo>
                <a:lnTo>
                  <a:pt x="691210" y="110515"/>
                </a:lnTo>
                <a:lnTo>
                  <a:pt x="679958" y="64897"/>
                </a:lnTo>
                <a:lnTo>
                  <a:pt x="662444" y="27127"/>
                </a:lnTo>
                <a:lnTo>
                  <a:pt x="639699" y="0"/>
                </a:lnTo>
                <a:lnTo>
                  <a:pt x="636778" y="4699"/>
                </a:lnTo>
                <a:lnTo>
                  <a:pt x="647090" y="17043"/>
                </a:lnTo>
                <a:lnTo>
                  <a:pt x="656145" y="31775"/>
                </a:lnTo>
                <a:lnTo>
                  <a:pt x="670560" y="68453"/>
                </a:lnTo>
                <a:lnTo>
                  <a:pt x="679411" y="112382"/>
                </a:lnTo>
                <a:lnTo>
                  <a:pt x="682371" y="161163"/>
                </a:lnTo>
                <a:lnTo>
                  <a:pt x="681621" y="185724"/>
                </a:lnTo>
                <a:lnTo>
                  <a:pt x="675716" y="231876"/>
                </a:lnTo>
                <a:lnTo>
                  <a:pt x="664006" y="273329"/>
                </a:lnTo>
                <a:lnTo>
                  <a:pt x="636778" y="318008"/>
                </a:lnTo>
                <a:lnTo>
                  <a:pt x="639699" y="322580"/>
                </a:lnTo>
                <a:lnTo>
                  <a:pt x="671855" y="277685"/>
                </a:lnTo>
                <a:lnTo>
                  <a:pt x="686523" y="234746"/>
                </a:lnTo>
                <a:lnTo>
                  <a:pt x="694004" y="186740"/>
                </a:lnTo>
                <a:lnTo>
                  <a:pt x="694944" y="161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232785" y="1900587"/>
            <a:ext cx="409066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1215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96009" y="2082197"/>
            <a:ext cx="187261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61315" algn="l"/>
                <a:tab pos="956944" algn="l"/>
                <a:tab pos="1718945" algn="l"/>
              </a:tabLst>
            </a:pPr>
            <a:r>
              <a:rPr sz="1000" spc="50" dirty="0">
                <a:latin typeface="FreeSerif"/>
                <a:cs typeface="FreeSerif"/>
              </a:rPr>
              <a:t>2	</a:t>
            </a:r>
            <a:r>
              <a:rPr sz="1000" spc="120" dirty="0">
                <a:latin typeface="FreeSerif"/>
                <a:cs typeface="FreeSerif"/>
              </a:rPr>
              <a:t>𝑄	</a:t>
            </a:r>
            <a:r>
              <a:rPr sz="1000" spc="50" dirty="0">
                <a:latin typeface="FreeSerif"/>
                <a:cs typeface="FreeSerif"/>
              </a:rPr>
              <a:t>2	17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01368" y="1996599"/>
            <a:ext cx="152717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85445" algn="l"/>
                <a:tab pos="1254760" algn="l"/>
              </a:tabLst>
            </a:pPr>
            <a:r>
              <a:rPr sz="1000" spc="180" dirty="0">
                <a:latin typeface="FreeSerif"/>
                <a:cs typeface="FreeSerif"/>
              </a:rPr>
              <a:t>=	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25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84 </a:t>
            </a:r>
            <a:r>
              <a:rPr sz="1000" spc="250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	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90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10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9338" y="1520476"/>
            <a:ext cx="2451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70" dirty="0">
                <a:latin typeface="FreeSerif"/>
                <a:cs typeface="FreeSerif"/>
              </a:rPr>
              <a:t>𝑄</a:t>
            </a:r>
            <a:r>
              <a:rPr sz="1000" spc="-15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=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69849" y="1392713"/>
            <a:ext cx="324485" cy="421640"/>
          </a:xfrm>
          <a:custGeom>
            <a:avLst/>
            <a:gdLst/>
            <a:ahLst/>
            <a:cxnLst/>
            <a:rect l="l" t="t" r="r" b="b"/>
            <a:pathLst>
              <a:path w="324484" h="421640">
                <a:moveTo>
                  <a:pt x="322453" y="635"/>
                </a:moveTo>
                <a:lnTo>
                  <a:pt x="99187" y="635"/>
                </a:lnTo>
                <a:lnTo>
                  <a:pt x="99187" y="0"/>
                </a:lnTo>
                <a:lnTo>
                  <a:pt x="79883" y="0"/>
                </a:lnTo>
                <a:lnTo>
                  <a:pt x="53721" y="397510"/>
                </a:lnTo>
                <a:lnTo>
                  <a:pt x="22225" y="339217"/>
                </a:lnTo>
                <a:lnTo>
                  <a:pt x="0" y="351028"/>
                </a:lnTo>
                <a:lnTo>
                  <a:pt x="2413" y="355346"/>
                </a:lnTo>
                <a:lnTo>
                  <a:pt x="14097" y="349123"/>
                </a:lnTo>
                <a:lnTo>
                  <a:pt x="53467" y="421640"/>
                </a:lnTo>
                <a:lnTo>
                  <a:pt x="59182" y="421640"/>
                </a:lnTo>
                <a:lnTo>
                  <a:pt x="86868" y="8128"/>
                </a:lnTo>
                <a:lnTo>
                  <a:pt x="322453" y="8255"/>
                </a:lnTo>
                <a:lnTo>
                  <a:pt x="322453" y="635"/>
                </a:lnTo>
                <a:close/>
              </a:path>
              <a:path w="324484" h="421640">
                <a:moveTo>
                  <a:pt x="323977" y="226187"/>
                </a:moveTo>
                <a:lnTo>
                  <a:pt x="95377" y="226187"/>
                </a:lnTo>
                <a:lnTo>
                  <a:pt x="95377" y="233807"/>
                </a:lnTo>
                <a:lnTo>
                  <a:pt x="323977" y="233807"/>
                </a:lnTo>
                <a:lnTo>
                  <a:pt x="323977" y="2261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570101" y="1520476"/>
            <a:ext cx="12001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80" dirty="0">
                <a:latin typeface="FreeSerif"/>
                <a:cs typeface="FreeSerif"/>
              </a:rPr>
              <a:t>=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15644" y="1392713"/>
            <a:ext cx="882015" cy="421640"/>
          </a:xfrm>
          <a:custGeom>
            <a:avLst/>
            <a:gdLst/>
            <a:ahLst/>
            <a:cxnLst/>
            <a:rect l="l" t="t" r="r" b="b"/>
            <a:pathLst>
              <a:path w="882014" h="421640">
                <a:moveTo>
                  <a:pt x="881761" y="226187"/>
                </a:moveTo>
                <a:lnTo>
                  <a:pt x="93853" y="226187"/>
                </a:lnTo>
                <a:lnTo>
                  <a:pt x="93853" y="233807"/>
                </a:lnTo>
                <a:lnTo>
                  <a:pt x="881761" y="233807"/>
                </a:lnTo>
                <a:lnTo>
                  <a:pt x="881761" y="226187"/>
                </a:lnTo>
                <a:close/>
              </a:path>
              <a:path w="882014" h="421640">
                <a:moveTo>
                  <a:pt x="881761" y="635"/>
                </a:moveTo>
                <a:lnTo>
                  <a:pt x="99187" y="635"/>
                </a:lnTo>
                <a:lnTo>
                  <a:pt x="99187" y="0"/>
                </a:lnTo>
                <a:lnTo>
                  <a:pt x="80010" y="0"/>
                </a:lnTo>
                <a:lnTo>
                  <a:pt x="53721" y="397510"/>
                </a:lnTo>
                <a:lnTo>
                  <a:pt x="22225" y="339217"/>
                </a:lnTo>
                <a:lnTo>
                  <a:pt x="0" y="351028"/>
                </a:lnTo>
                <a:lnTo>
                  <a:pt x="2413" y="355346"/>
                </a:lnTo>
                <a:lnTo>
                  <a:pt x="14097" y="349123"/>
                </a:lnTo>
                <a:lnTo>
                  <a:pt x="53467" y="421640"/>
                </a:lnTo>
                <a:lnTo>
                  <a:pt x="59309" y="421640"/>
                </a:lnTo>
                <a:lnTo>
                  <a:pt x="86868" y="8128"/>
                </a:lnTo>
                <a:lnTo>
                  <a:pt x="881761" y="8255"/>
                </a:lnTo>
                <a:lnTo>
                  <a:pt x="881761" y="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152906" y="1395274"/>
            <a:ext cx="1530223" cy="3879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spcBef>
                <a:spcPts val="325"/>
              </a:spcBef>
              <a:tabLst>
                <a:tab pos="657225" algn="l"/>
              </a:tabLst>
            </a:pPr>
            <a:r>
              <a:rPr sz="1000" spc="20" dirty="0">
                <a:latin typeface="FreeSerif"/>
                <a:cs typeface="FreeSerif"/>
              </a:rPr>
              <a:t>2𝐷𝑆	</a:t>
            </a:r>
            <a:r>
              <a:rPr sz="1000" spc="50" dirty="0">
                <a:latin typeface="FreeSerif"/>
                <a:cs typeface="FreeSerif"/>
              </a:rPr>
              <a:t>2</a:t>
            </a:r>
            <a:r>
              <a:rPr sz="1000" spc="-45" dirty="0">
                <a:latin typeface="FreeSerif"/>
                <a:cs typeface="FreeSerif"/>
              </a:rPr>
              <a:t>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50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1215</a:t>
            </a:r>
            <a:r>
              <a:rPr sz="1000" spc="-30" dirty="0">
                <a:latin typeface="FreeSerif"/>
                <a:cs typeface="FreeSerif"/>
              </a:rPr>
              <a:t>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45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10</a:t>
            </a:r>
            <a:endParaRPr sz="1000" dirty="0">
              <a:latin typeface="FreeSerif"/>
              <a:cs typeface="FreeSerif"/>
            </a:endParaRPr>
          </a:p>
          <a:p>
            <a:pPr marL="78105">
              <a:spcBef>
                <a:spcPts val="225"/>
              </a:spcBef>
              <a:tabLst>
                <a:tab pos="868680" algn="l"/>
              </a:tabLst>
            </a:pPr>
            <a:r>
              <a:rPr sz="1000" spc="125" dirty="0">
                <a:latin typeface="FreeSerif"/>
                <a:cs typeface="FreeSerif"/>
              </a:rPr>
              <a:t>𝐻	</a:t>
            </a:r>
            <a:r>
              <a:rPr sz="1000" spc="50" dirty="0">
                <a:latin typeface="FreeSerif"/>
                <a:cs typeface="FreeSerif"/>
              </a:rPr>
              <a:t>75 </a:t>
            </a:r>
            <a:r>
              <a:rPr sz="1000" spc="180" dirty="0">
                <a:latin typeface="FreeSerif"/>
                <a:cs typeface="FreeSerif"/>
              </a:rPr>
              <a:t>+</a:t>
            </a:r>
            <a:r>
              <a:rPr sz="1000" spc="-110" dirty="0">
                <a:latin typeface="FreeSerif"/>
                <a:cs typeface="FreeSerif"/>
              </a:rPr>
              <a:t> </a:t>
            </a:r>
            <a:r>
              <a:rPr sz="1000" spc="50" dirty="0">
                <a:latin typeface="FreeSerif"/>
                <a:cs typeface="FreeSerif"/>
              </a:rPr>
              <a:t>9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02584" y="1528096"/>
            <a:ext cx="12319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80" dirty="0">
                <a:latin typeface="FreeSerif"/>
                <a:cs typeface="FreeSerif"/>
              </a:rPr>
              <a:t>= </a:t>
            </a:r>
            <a:r>
              <a:rPr sz="1000" b="1" i="1" spc="-5" dirty="0">
                <a:latin typeface="Trebuchet MS"/>
                <a:cs typeface="Trebuchet MS"/>
              </a:rPr>
              <a:t>17 </a:t>
            </a:r>
            <a:r>
              <a:rPr sz="1000" b="1" i="1" spc="-10" dirty="0">
                <a:latin typeface="Trebuchet MS"/>
                <a:cs typeface="Trebuchet MS"/>
              </a:rPr>
              <a:t>bags </a:t>
            </a:r>
            <a:r>
              <a:rPr sz="1000" b="1" i="1" spc="-5" dirty="0">
                <a:latin typeface="Trebuchet MS"/>
                <a:cs typeface="Trebuchet MS"/>
              </a:rPr>
              <a:t>per</a:t>
            </a:r>
            <a:r>
              <a:rPr sz="1000" b="1" i="1" spc="-145" dirty="0">
                <a:latin typeface="Trebuchet MS"/>
                <a:cs typeface="Trebuchet MS"/>
              </a:rPr>
              <a:t> </a:t>
            </a:r>
            <a:r>
              <a:rPr sz="1000" b="1" i="1" spc="-10" dirty="0">
                <a:latin typeface="Trebuchet MS"/>
                <a:cs typeface="Trebuchet MS"/>
              </a:rPr>
              <a:t>order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93670" y="1504601"/>
            <a:ext cx="12001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180" dirty="0">
                <a:latin typeface="FreeSerif"/>
                <a:cs typeface="FreeSerif"/>
              </a:rPr>
              <a:t>=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838705" y="1376585"/>
            <a:ext cx="448945" cy="422275"/>
          </a:xfrm>
          <a:custGeom>
            <a:avLst/>
            <a:gdLst/>
            <a:ahLst/>
            <a:cxnLst/>
            <a:rect l="l" t="t" r="r" b="b"/>
            <a:pathLst>
              <a:path w="448945" h="422275">
                <a:moveTo>
                  <a:pt x="447421" y="762"/>
                </a:moveTo>
                <a:lnTo>
                  <a:pt x="99187" y="762"/>
                </a:lnTo>
                <a:lnTo>
                  <a:pt x="99187" y="0"/>
                </a:lnTo>
                <a:lnTo>
                  <a:pt x="79883" y="0"/>
                </a:lnTo>
                <a:lnTo>
                  <a:pt x="53721" y="397510"/>
                </a:lnTo>
                <a:lnTo>
                  <a:pt x="22225" y="339217"/>
                </a:lnTo>
                <a:lnTo>
                  <a:pt x="0" y="351028"/>
                </a:lnTo>
                <a:lnTo>
                  <a:pt x="2413" y="355473"/>
                </a:lnTo>
                <a:lnTo>
                  <a:pt x="13970" y="349250"/>
                </a:lnTo>
                <a:lnTo>
                  <a:pt x="53467" y="421767"/>
                </a:lnTo>
                <a:lnTo>
                  <a:pt x="59182" y="421767"/>
                </a:lnTo>
                <a:lnTo>
                  <a:pt x="86741" y="8255"/>
                </a:lnTo>
                <a:lnTo>
                  <a:pt x="447421" y="8382"/>
                </a:lnTo>
                <a:lnTo>
                  <a:pt x="447421" y="762"/>
                </a:lnTo>
                <a:close/>
              </a:path>
              <a:path w="448945" h="422275">
                <a:moveTo>
                  <a:pt x="448945" y="226314"/>
                </a:moveTo>
                <a:lnTo>
                  <a:pt x="95377" y="226314"/>
                </a:lnTo>
                <a:lnTo>
                  <a:pt x="95377" y="233934"/>
                </a:lnTo>
                <a:lnTo>
                  <a:pt x="448945" y="233934"/>
                </a:lnTo>
                <a:lnTo>
                  <a:pt x="448945" y="226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922270" y="1408589"/>
            <a:ext cx="48031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24300</a:t>
            </a:r>
            <a:endParaRPr sz="1000" dirty="0">
              <a:latin typeface="FreeSerif"/>
              <a:cs typeface="Free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27427" y="1589945"/>
            <a:ext cx="16573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50" dirty="0">
                <a:latin typeface="FreeSerif"/>
                <a:cs typeface="FreeSerif"/>
              </a:rPr>
              <a:t>84</a:t>
            </a:r>
            <a:endParaRPr sz="1000">
              <a:latin typeface="FreeSerif"/>
              <a:cs typeface="FreeSerif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966972" y="473995"/>
            <a:ext cx="686562" cy="6865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08C6A7-7F74-A11A-370A-BF5F5771DDA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81177" y="618140"/>
            <a:ext cx="2169414" cy="1856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3832" y="980091"/>
            <a:ext cx="4058285" cy="134010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61620" marR="482600" algn="ctr">
              <a:lnSpc>
                <a:spcPts val="1080"/>
              </a:lnSpc>
              <a:spcBef>
                <a:spcPts val="229"/>
              </a:spcBef>
            </a:pPr>
            <a:r>
              <a:rPr sz="1000" b="1" spc="-5" dirty="0">
                <a:solidFill>
                  <a:srgbClr val="001F5F"/>
                </a:solidFill>
                <a:latin typeface="Trebuchet MS"/>
                <a:cs typeface="Trebuchet MS"/>
              </a:rPr>
              <a:t>If demand and lead time </a:t>
            </a:r>
            <a:r>
              <a:rPr sz="1000" b="1" spc="-10" dirty="0">
                <a:solidFill>
                  <a:srgbClr val="001F5F"/>
                </a:solidFill>
                <a:latin typeface="Trebuchet MS"/>
                <a:cs typeface="Trebuchet MS"/>
              </a:rPr>
              <a:t>are </a:t>
            </a:r>
            <a:r>
              <a:rPr sz="1000" b="1" spc="-5" dirty="0">
                <a:solidFill>
                  <a:srgbClr val="001F5F"/>
                </a:solidFill>
                <a:latin typeface="Trebuchet MS"/>
                <a:cs typeface="Trebuchet MS"/>
              </a:rPr>
              <a:t>both </a:t>
            </a:r>
            <a:r>
              <a:rPr sz="1000" b="1" spc="-10" dirty="0">
                <a:solidFill>
                  <a:srgbClr val="001F5F"/>
                </a:solidFill>
                <a:latin typeface="Trebuchet MS"/>
                <a:cs typeface="Trebuchet MS"/>
              </a:rPr>
              <a:t>constant, the reorder  </a:t>
            </a:r>
            <a:r>
              <a:rPr sz="1000" b="1" spc="-5" dirty="0">
                <a:solidFill>
                  <a:srgbClr val="001F5F"/>
                </a:solidFill>
                <a:latin typeface="Trebuchet MS"/>
                <a:cs typeface="Trebuchet MS"/>
              </a:rPr>
              <a:t>point is easy to</a:t>
            </a:r>
            <a:r>
              <a:rPr sz="1000" b="1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001F5F"/>
                </a:solidFill>
                <a:latin typeface="Trebuchet MS"/>
                <a:cs typeface="Trebuchet MS"/>
              </a:rPr>
              <a:t>calculate.</a:t>
            </a:r>
            <a:endParaRPr sz="1000" dirty="0">
              <a:latin typeface="Trebuchet MS"/>
              <a:cs typeface="Trebuchet MS"/>
            </a:endParaRPr>
          </a:p>
          <a:p>
            <a:pPr marR="237490" algn="ctr">
              <a:spcBef>
                <a:spcPts val="894"/>
              </a:spcBef>
            </a:pPr>
            <a:r>
              <a:rPr sz="1000" spc="35" dirty="0">
                <a:latin typeface="FreeSerif"/>
                <a:cs typeface="FreeSerif"/>
              </a:rPr>
              <a:t>𝑅𝑂𝑃 </a:t>
            </a:r>
            <a:r>
              <a:rPr sz="1000" spc="180" dirty="0">
                <a:latin typeface="FreeSerif"/>
                <a:cs typeface="FreeSerif"/>
              </a:rPr>
              <a:t>= </a:t>
            </a:r>
            <a:r>
              <a:rPr sz="1000" spc="-25" dirty="0">
                <a:latin typeface="FreeSerif"/>
                <a:cs typeface="FreeSerif"/>
              </a:rPr>
              <a:t>𝑑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140" dirty="0">
                <a:latin typeface="FreeSerif"/>
                <a:cs typeface="FreeSerif"/>
              </a:rPr>
              <a:t> </a:t>
            </a:r>
            <a:r>
              <a:rPr sz="1000" spc="-45" dirty="0">
                <a:latin typeface="FreeSerif"/>
                <a:cs typeface="FreeSerif"/>
              </a:rPr>
              <a:t>𝐿𝑇</a:t>
            </a:r>
            <a:endParaRPr sz="1000" dirty="0">
              <a:latin typeface="FreeSerif"/>
              <a:cs typeface="FreeSerif"/>
            </a:endParaRPr>
          </a:p>
          <a:p>
            <a:pPr marL="12700">
              <a:spcBef>
                <a:spcPts val="350"/>
              </a:spcBef>
            </a:pPr>
            <a:r>
              <a:rPr sz="900" dirty="0">
                <a:latin typeface="Trebuchet MS"/>
                <a:cs typeface="Trebuchet MS"/>
              </a:rPr>
              <a:t>Where,</a:t>
            </a:r>
          </a:p>
          <a:p>
            <a:pPr marL="251460" marR="1683385"/>
            <a:r>
              <a:rPr sz="900" i="1" dirty="0">
                <a:latin typeface="Trebuchet MS"/>
                <a:cs typeface="Trebuchet MS"/>
              </a:rPr>
              <a:t>d = </a:t>
            </a:r>
            <a:r>
              <a:rPr sz="900" spc="-5" dirty="0">
                <a:latin typeface="Trebuchet MS"/>
                <a:cs typeface="Trebuchet MS"/>
              </a:rPr>
              <a:t>Demand rate (units per day or week)  </a:t>
            </a:r>
            <a:r>
              <a:rPr sz="900" spc="-50" dirty="0">
                <a:latin typeface="Trebuchet MS"/>
                <a:cs typeface="Trebuchet MS"/>
              </a:rPr>
              <a:t>LT </a:t>
            </a:r>
            <a:r>
              <a:rPr sz="900" dirty="0">
                <a:latin typeface="Trebuchet MS"/>
                <a:cs typeface="Trebuchet MS"/>
              </a:rPr>
              <a:t>= </a:t>
            </a:r>
            <a:r>
              <a:rPr sz="900" spc="-5" dirty="0">
                <a:latin typeface="Trebuchet MS"/>
                <a:cs typeface="Trebuchet MS"/>
              </a:rPr>
              <a:t>Lead time in days or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5" dirty="0">
                <a:latin typeface="Trebuchet MS"/>
                <a:cs typeface="Trebuchet MS"/>
              </a:rPr>
              <a:t>weeks</a:t>
            </a:r>
            <a:endParaRPr sz="900" dirty="0">
              <a:latin typeface="Trebuchet MS"/>
              <a:cs typeface="Trebuchet MS"/>
            </a:endParaRPr>
          </a:p>
          <a:p>
            <a:pPr>
              <a:spcBef>
                <a:spcPts val="20"/>
              </a:spcBef>
            </a:pPr>
            <a:endParaRPr sz="900" dirty="0">
              <a:latin typeface="Trebuchet MS"/>
              <a:cs typeface="Trebuchet MS"/>
            </a:endParaRPr>
          </a:p>
          <a:p>
            <a:pPr marL="12700" marR="5080"/>
            <a:endParaRPr sz="1000" dirty="0">
              <a:latin typeface="Trebuchet MS"/>
              <a:cs typeface="Trebuchet MS"/>
            </a:endParaRPr>
          </a:p>
        </p:txBody>
      </p:sp>
      <p:sp>
        <p:nvSpPr>
          <p:cNvPr id="11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FA7EE0-F51C-2314-3E39-56120499A8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82703" y="618140"/>
            <a:ext cx="3141091" cy="1971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4152" y="706431"/>
            <a:ext cx="121833" cy="162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88970" y="661701"/>
            <a:ext cx="82041" cy="1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99814" y="2773457"/>
            <a:ext cx="111125" cy="993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52</a:t>
            </a:r>
            <a:endParaRPr sz="55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89642" y="641446"/>
            <a:ext cx="578485" cy="258445"/>
            <a:chOff x="3989641" y="393001"/>
            <a:chExt cx="578485" cy="258445"/>
          </a:xfrm>
        </p:grpSpPr>
        <p:sp>
          <p:nvSpPr>
            <p:cNvPr id="13" name="object 13"/>
            <p:cNvSpPr/>
            <p:nvPr/>
          </p:nvSpPr>
          <p:spPr>
            <a:xfrm>
              <a:off x="3994403" y="397763"/>
              <a:ext cx="568960" cy="248920"/>
            </a:xfrm>
            <a:custGeom>
              <a:avLst/>
              <a:gdLst/>
              <a:ahLst/>
              <a:cxnLst/>
              <a:rect l="l" t="t" r="r" b="b"/>
              <a:pathLst>
                <a:path w="568960" h="248920">
                  <a:moveTo>
                    <a:pt x="568452" y="0"/>
                  </a:moveTo>
                  <a:lnTo>
                    <a:pt x="0" y="0"/>
                  </a:lnTo>
                  <a:lnTo>
                    <a:pt x="0" y="198754"/>
                  </a:lnTo>
                  <a:lnTo>
                    <a:pt x="284225" y="248412"/>
                  </a:lnTo>
                  <a:lnTo>
                    <a:pt x="568452" y="198754"/>
                  </a:lnTo>
                  <a:lnTo>
                    <a:pt x="568452" y="0"/>
                  </a:lnTo>
                  <a:close/>
                </a:path>
              </a:pathLst>
            </a:custGeom>
            <a:solidFill>
              <a:srgbClr val="A4AB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94403" y="397763"/>
              <a:ext cx="568960" cy="248920"/>
            </a:xfrm>
            <a:custGeom>
              <a:avLst/>
              <a:gdLst/>
              <a:ahLst/>
              <a:cxnLst/>
              <a:rect l="l" t="t" r="r" b="b"/>
              <a:pathLst>
                <a:path w="568960" h="248920">
                  <a:moveTo>
                    <a:pt x="0" y="0"/>
                  </a:moveTo>
                  <a:lnTo>
                    <a:pt x="568452" y="0"/>
                  </a:lnTo>
                  <a:lnTo>
                    <a:pt x="568452" y="198754"/>
                  </a:lnTo>
                  <a:lnTo>
                    <a:pt x="284225" y="248412"/>
                  </a:lnTo>
                  <a:lnTo>
                    <a:pt x="0" y="19875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555A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63448" y="653955"/>
            <a:ext cx="4267200" cy="1640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spcBef>
                <a:spcPts val="95"/>
              </a:spcBef>
            </a:pPr>
            <a:r>
              <a:rPr sz="1000" b="1" spc="-35" dirty="0">
                <a:solidFill>
                  <a:srgbClr val="FFFFFF"/>
                </a:solidFill>
                <a:latin typeface="Trebuchet MS"/>
                <a:cs typeface="Trebuchet MS"/>
              </a:rPr>
              <a:t>(LT </a:t>
            </a:r>
            <a:r>
              <a:rPr sz="1000" spc="180" dirty="0">
                <a:solidFill>
                  <a:srgbClr val="FFFFFF"/>
                </a:solidFill>
                <a:latin typeface="FreeSerif"/>
                <a:cs typeface="FreeSerif"/>
              </a:rPr>
              <a:t>≠</a:t>
            </a:r>
            <a:r>
              <a:rPr sz="1000" dirty="0">
                <a:solidFill>
                  <a:srgbClr val="FFFFFF"/>
                </a:solidFill>
                <a:latin typeface="FreeSerif"/>
                <a:cs typeface="FreeSerif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Trebuchet MS"/>
                <a:cs typeface="Trebuchet MS"/>
              </a:rPr>
              <a:t>0)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150">
              <a:latin typeface="Trebuchet MS"/>
              <a:cs typeface="Trebuchet MS"/>
            </a:endParaRPr>
          </a:p>
          <a:p>
            <a:pPr marL="12700" marR="5080" algn="just">
              <a:lnSpc>
                <a:spcPts val="1080"/>
              </a:lnSpc>
            </a:pPr>
            <a:r>
              <a:rPr sz="1000" spc="-15" dirty="0">
                <a:latin typeface="Trebuchet MS"/>
                <a:cs typeface="Trebuchet MS"/>
              </a:rPr>
              <a:t>Kevin </a:t>
            </a:r>
            <a:r>
              <a:rPr sz="1000" spc="-5" dirty="0">
                <a:latin typeface="Trebuchet MS"/>
                <a:cs typeface="Trebuchet MS"/>
              </a:rPr>
              <a:t>takes </a:t>
            </a:r>
            <a:r>
              <a:rPr sz="1000" b="1" spc="-15" dirty="0">
                <a:solidFill>
                  <a:srgbClr val="B85B21"/>
                </a:solidFill>
                <a:latin typeface="Trebuchet MS"/>
                <a:cs typeface="Trebuchet MS"/>
              </a:rPr>
              <a:t>Two-a-Day </a:t>
            </a:r>
            <a:r>
              <a:rPr sz="1000" b="1" dirty="0">
                <a:solidFill>
                  <a:srgbClr val="B85B21"/>
                </a:solidFill>
                <a:latin typeface="Trebuchet MS"/>
                <a:cs typeface="Trebuchet MS"/>
              </a:rPr>
              <a:t>vitamins</a:t>
            </a:r>
            <a:r>
              <a:rPr sz="1000" dirty="0">
                <a:latin typeface="Trebuchet MS"/>
                <a:cs typeface="Trebuchet MS"/>
              </a:rPr>
              <a:t>, </a:t>
            </a:r>
            <a:r>
              <a:rPr sz="1000" spc="-5" dirty="0">
                <a:latin typeface="Trebuchet MS"/>
                <a:cs typeface="Trebuchet MS"/>
              </a:rPr>
              <a:t>which are delivered to his home by a  </a:t>
            </a:r>
            <a:r>
              <a:rPr sz="1000" spc="-10" dirty="0">
                <a:latin typeface="Trebuchet MS"/>
                <a:cs typeface="Trebuchet MS"/>
              </a:rPr>
              <a:t>routeman </a:t>
            </a:r>
            <a:r>
              <a:rPr sz="1000" b="1" spc="-5" dirty="0">
                <a:solidFill>
                  <a:srgbClr val="B85B21"/>
                </a:solidFill>
                <a:latin typeface="Trebuchet MS"/>
                <a:cs typeface="Trebuchet MS"/>
              </a:rPr>
              <a:t>three </a:t>
            </a:r>
            <a:r>
              <a:rPr sz="1000" b="1" spc="-10" dirty="0">
                <a:solidFill>
                  <a:srgbClr val="B85B21"/>
                </a:solidFill>
                <a:latin typeface="Trebuchet MS"/>
                <a:cs typeface="Trebuchet MS"/>
              </a:rPr>
              <a:t>days </a:t>
            </a:r>
            <a:r>
              <a:rPr sz="1000" spc="-5" dirty="0">
                <a:latin typeface="Trebuchet MS"/>
                <a:cs typeface="Trebuchet MS"/>
              </a:rPr>
              <a:t>after an </a:t>
            </a:r>
            <a:r>
              <a:rPr sz="1000" spc="-10" dirty="0">
                <a:latin typeface="Trebuchet MS"/>
                <a:cs typeface="Trebuchet MS"/>
              </a:rPr>
              <a:t>order </a:t>
            </a:r>
            <a:r>
              <a:rPr sz="1000" spc="-5" dirty="0">
                <a:latin typeface="Trebuchet MS"/>
                <a:cs typeface="Trebuchet MS"/>
              </a:rPr>
              <a:t>is called </a:t>
            </a:r>
            <a:r>
              <a:rPr sz="1000" dirty="0">
                <a:latin typeface="Trebuchet MS"/>
                <a:cs typeface="Trebuchet MS"/>
              </a:rPr>
              <a:t>in. At </a:t>
            </a:r>
            <a:r>
              <a:rPr sz="1000" spc="-5" dirty="0">
                <a:latin typeface="Trebuchet MS"/>
                <a:cs typeface="Trebuchet MS"/>
              </a:rPr>
              <a:t>what point </a:t>
            </a:r>
            <a:r>
              <a:rPr sz="1000" spc="-10" dirty="0">
                <a:latin typeface="Trebuchet MS"/>
                <a:cs typeface="Trebuchet MS"/>
              </a:rPr>
              <a:t>should  </a:t>
            </a:r>
            <a:r>
              <a:rPr sz="1000" spc="-15" dirty="0">
                <a:latin typeface="Trebuchet MS"/>
                <a:cs typeface="Trebuchet MS"/>
              </a:rPr>
              <a:t>Kevin</a:t>
            </a:r>
            <a:r>
              <a:rPr sz="100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reorder?</a:t>
            </a:r>
            <a:endParaRPr sz="1000">
              <a:latin typeface="Trebuchet MS"/>
              <a:cs typeface="Trebuchet MS"/>
            </a:endParaRPr>
          </a:p>
          <a:p>
            <a:pPr marL="393065">
              <a:spcBef>
                <a:spcPts val="944"/>
              </a:spcBef>
            </a:pPr>
            <a:r>
              <a:rPr sz="1000" spc="-5" dirty="0">
                <a:latin typeface="Trebuchet MS"/>
                <a:cs typeface="Trebuchet MS"/>
              </a:rPr>
              <a:t>Usage </a:t>
            </a:r>
            <a:r>
              <a:rPr sz="1000" spc="-10" dirty="0">
                <a:latin typeface="Trebuchet MS"/>
                <a:cs typeface="Trebuchet MS"/>
              </a:rPr>
              <a:t>rate </a:t>
            </a:r>
            <a:r>
              <a:rPr sz="1000" spc="-5" dirty="0">
                <a:latin typeface="Trebuchet MS"/>
                <a:cs typeface="Trebuchet MS"/>
              </a:rPr>
              <a:t>= </a:t>
            </a:r>
            <a:r>
              <a:rPr sz="1000" b="1" spc="-5" dirty="0">
                <a:solidFill>
                  <a:srgbClr val="A07B36"/>
                </a:solidFill>
                <a:latin typeface="Trebuchet MS"/>
                <a:cs typeface="Trebuchet MS"/>
              </a:rPr>
              <a:t>2 vitamins per</a:t>
            </a:r>
            <a:r>
              <a:rPr sz="1000" b="1" spc="25" dirty="0">
                <a:solidFill>
                  <a:srgbClr val="A07B36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A07B36"/>
                </a:solidFill>
                <a:latin typeface="Trebuchet MS"/>
                <a:cs typeface="Trebuchet MS"/>
              </a:rPr>
              <a:t>day</a:t>
            </a:r>
            <a:endParaRPr sz="1000">
              <a:latin typeface="Trebuchet MS"/>
              <a:cs typeface="Trebuchet MS"/>
            </a:endParaRPr>
          </a:p>
          <a:p>
            <a:pPr marL="393065"/>
            <a:r>
              <a:rPr sz="1000" spc="-10" dirty="0">
                <a:latin typeface="Trebuchet MS"/>
                <a:cs typeface="Trebuchet MS"/>
              </a:rPr>
              <a:t>Lead </a:t>
            </a:r>
            <a:r>
              <a:rPr sz="1000" spc="-5" dirty="0">
                <a:latin typeface="Trebuchet MS"/>
                <a:cs typeface="Trebuchet MS"/>
              </a:rPr>
              <a:t>time = </a:t>
            </a:r>
            <a:r>
              <a:rPr sz="1000" b="1" spc="-5" dirty="0">
                <a:solidFill>
                  <a:srgbClr val="A07B36"/>
                </a:solidFill>
                <a:latin typeface="Trebuchet MS"/>
                <a:cs typeface="Trebuchet MS"/>
              </a:rPr>
              <a:t>3</a:t>
            </a:r>
            <a:r>
              <a:rPr sz="1000" b="1" spc="20" dirty="0">
                <a:solidFill>
                  <a:srgbClr val="A07B36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A07B36"/>
                </a:solidFill>
                <a:latin typeface="Trebuchet MS"/>
                <a:cs typeface="Trebuchet MS"/>
              </a:rPr>
              <a:t>days</a:t>
            </a:r>
            <a:endParaRPr sz="1000">
              <a:latin typeface="Trebuchet MS"/>
              <a:cs typeface="Trebuchet MS"/>
            </a:endParaRPr>
          </a:p>
          <a:p>
            <a:pPr marL="393065"/>
            <a:r>
              <a:rPr sz="1000" spc="-5" dirty="0">
                <a:latin typeface="Trebuchet MS"/>
                <a:cs typeface="Trebuchet MS"/>
              </a:rPr>
              <a:t>ROP = Usage </a:t>
            </a:r>
            <a:r>
              <a:rPr sz="1000" spc="-10" dirty="0">
                <a:latin typeface="Trebuchet MS"/>
                <a:cs typeface="Trebuchet MS"/>
              </a:rPr>
              <a:t>rate </a:t>
            </a:r>
            <a:r>
              <a:rPr sz="1000" spc="145" dirty="0">
                <a:latin typeface="FreeSerif"/>
                <a:cs typeface="FreeSerif"/>
              </a:rPr>
              <a:t>× </a:t>
            </a:r>
            <a:r>
              <a:rPr sz="1000" spc="-10" dirty="0">
                <a:latin typeface="Trebuchet MS"/>
                <a:cs typeface="Trebuchet MS"/>
              </a:rPr>
              <a:t>Lead</a:t>
            </a:r>
            <a:r>
              <a:rPr sz="1000" spc="-9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time</a:t>
            </a:r>
            <a:endParaRPr sz="1000">
              <a:latin typeface="Trebuchet MS"/>
              <a:cs typeface="Trebuchet MS"/>
            </a:endParaRPr>
          </a:p>
          <a:p>
            <a:pPr marL="659765"/>
            <a:r>
              <a:rPr sz="1000" spc="-5" dirty="0">
                <a:latin typeface="Trebuchet MS"/>
                <a:cs typeface="Trebuchet MS"/>
              </a:rPr>
              <a:t>= 2 vitamins </a:t>
            </a:r>
            <a:r>
              <a:rPr sz="1000" spc="-10" dirty="0">
                <a:latin typeface="Trebuchet MS"/>
                <a:cs typeface="Trebuchet MS"/>
              </a:rPr>
              <a:t>per day </a:t>
            </a:r>
            <a:r>
              <a:rPr sz="1000" spc="145" dirty="0">
                <a:latin typeface="FreeSerif"/>
                <a:cs typeface="FreeSerif"/>
              </a:rPr>
              <a:t>× </a:t>
            </a:r>
            <a:r>
              <a:rPr sz="1000" spc="-5" dirty="0">
                <a:latin typeface="Trebuchet MS"/>
                <a:cs typeface="Trebuchet MS"/>
              </a:rPr>
              <a:t>3</a:t>
            </a:r>
            <a:r>
              <a:rPr sz="1000" spc="-145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days</a:t>
            </a:r>
            <a:endParaRPr sz="1000">
              <a:latin typeface="Trebuchet MS"/>
              <a:cs typeface="Trebuchet MS"/>
            </a:endParaRPr>
          </a:p>
          <a:p>
            <a:pPr marL="659765"/>
            <a:r>
              <a:rPr sz="1000" spc="-5" dirty="0">
                <a:latin typeface="Trebuchet MS"/>
                <a:cs typeface="Trebuchet MS"/>
              </a:rPr>
              <a:t>= </a:t>
            </a:r>
            <a:r>
              <a:rPr sz="1000" b="1" spc="-5" dirty="0">
                <a:solidFill>
                  <a:srgbClr val="A07B36"/>
                </a:solidFill>
                <a:latin typeface="Trebuchet MS"/>
                <a:cs typeface="Trebuchet MS"/>
              </a:rPr>
              <a:t>6</a:t>
            </a:r>
            <a:r>
              <a:rPr sz="1000" b="1" dirty="0">
                <a:solidFill>
                  <a:srgbClr val="A07B36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A07B36"/>
                </a:solidFill>
                <a:latin typeface="Trebuchet MS"/>
                <a:cs typeface="Trebuchet MS"/>
              </a:rPr>
              <a:t>vitamins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6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5BF5A5-AC9F-C003-3BFD-3FEA2E5DD0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82195" y="618140"/>
            <a:ext cx="1272413" cy="1971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97331" y="269272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5640" y="259112"/>
            <a:ext cx="129539" cy="152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1998" y="907192"/>
            <a:ext cx="3602990" cy="12954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918210" marR="5080" indent="-614680">
              <a:lnSpc>
                <a:spcPts val="1080"/>
              </a:lnSpc>
              <a:spcBef>
                <a:spcPts val="229"/>
              </a:spcBef>
            </a:pPr>
            <a:r>
              <a:rPr sz="1000" b="1" spc="-10" dirty="0">
                <a:solidFill>
                  <a:srgbClr val="716868"/>
                </a:solidFill>
                <a:latin typeface="Trebuchet MS"/>
                <a:cs typeface="Trebuchet MS"/>
              </a:rPr>
              <a:t>Stock that </a:t>
            </a:r>
            <a:r>
              <a:rPr sz="1000" b="1" spc="-5" dirty="0">
                <a:solidFill>
                  <a:srgbClr val="716868"/>
                </a:solidFill>
                <a:latin typeface="Trebuchet MS"/>
                <a:cs typeface="Trebuchet MS"/>
              </a:rPr>
              <a:t>is held in excess of </a:t>
            </a:r>
            <a:r>
              <a:rPr sz="1000" b="1" spc="-10" dirty="0">
                <a:solidFill>
                  <a:srgbClr val="716868"/>
                </a:solidFill>
                <a:latin typeface="Trebuchet MS"/>
                <a:cs typeface="Trebuchet MS"/>
              </a:rPr>
              <a:t>expected </a:t>
            </a:r>
            <a:r>
              <a:rPr sz="1000" b="1" spc="-5" dirty="0">
                <a:solidFill>
                  <a:srgbClr val="716868"/>
                </a:solidFill>
                <a:latin typeface="Trebuchet MS"/>
                <a:cs typeface="Trebuchet MS"/>
              </a:rPr>
              <a:t>demand due </a:t>
            </a:r>
            <a:r>
              <a:rPr sz="1000" b="1" spc="-10" dirty="0">
                <a:solidFill>
                  <a:srgbClr val="716868"/>
                </a:solidFill>
                <a:latin typeface="Trebuchet MS"/>
                <a:cs typeface="Trebuchet MS"/>
              </a:rPr>
              <a:t>to  variable </a:t>
            </a:r>
            <a:r>
              <a:rPr sz="1000" b="1" spc="-5" dirty="0">
                <a:solidFill>
                  <a:srgbClr val="716868"/>
                </a:solidFill>
                <a:latin typeface="Trebuchet MS"/>
                <a:cs typeface="Trebuchet MS"/>
              </a:rPr>
              <a:t>demand and/or lead</a:t>
            </a:r>
            <a:r>
              <a:rPr sz="1000" b="1" spc="45" dirty="0">
                <a:solidFill>
                  <a:srgbClr val="716868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716868"/>
                </a:solidFill>
                <a:latin typeface="Trebuchet MS"/>
                <a:cs typeface="Trebuchet MS"/>
              </a:rPr>
              <a:t>time.</a:t>
            </a:r>
            <a:endParaRPr sz="1000">
              <a:latin typeface="Trebuchet MS"/>
              <a:cs typeface="Trebuchet MS"/>
            </a:endParaRPr>
          </a:p>
          <a:p>
            <a:pPr>
              <a:spcBef>
                <a:spcPts val="30"/>
              </a:spcBef>
            </a:pPr>
            <a:endParaRPr sz="950">
              <a:latin typeface="Trebuchet MS"/>
              <a:cs typeface="Trebuchet MS"/>
            </a:endParaRPr>
          </a:p>
          <a:p>
            <a:pPr marL="96520" algn="ctr">
              <a:spcBef>
                <a:spcPts val="5"/>
              </a:spcBef>
            </a:pPr>
            <a:r>
              <a:rPr sz="1000" spc="35" dirty="0">
                <a:latin typeface="FreeSerif"/>
                <a:cs typeface="FreeSerif"/>
              </a:rPr>
              <a:t>𝑅𝑂𝑃</a:t>
            </a:r>
            <a:r>
              <a:rPr sz="1000" spc="50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=</a:t>
            </a:r>
            <a:r>
              <a:rPr sz="1000" spc="35" dirty="0">
                <a:latin typeface="FreeSerif"/>
                <a:cs typeface="FreeSerif"/>
              </a:rPr>
              <a:t> </a:t>
            </a:r>
            <a:r>
              <a:rPr sz="1000" spc="-25" dirty="0">
                <a:latin typeface="FreeSerif"/>
                <a:cs typeface="FreeSerif"/>
              </a:rPr>
              <a:t>𝑑</a:t>
            </a:r>
            <a:r>
              <a:rPr sz="1000" spc="-5" dirty="0">
                <a:latin typeface="FreeSerif"/>
                <a:cs typeface="FreeSerif"/>
              </a:rPr>
              <a:t> </a:t>
            </a:r>
            <a:r>
              <a:rPr sz="1000" spc="145" dirty="0">
                <a:latin typeface="FreeSerif"/>
                <a:cs typeface="FreeSerif"/>
              </a:rPr>
              <a:t>×</a:t>
            </a:r>
            <a:r>
              <a:rPr sz="1000" spc="-30" dirty="0">
                <a:latin typeface="FreeSerif"/>
                <a:cs typeface="FreeSerif"/>
              </a:rPr>
              <a:t> </a:t>
            </a:r>
            <a:r>
              <a:rPr sz="1000" spc="-45" dirty="0">
                <a:latin typeface="FreeSerif"/>
                <a:cs typeface="FreeSerif"/>
              </a:rPr>
              <a:t>𝐿𝑇</a:t>
            </a:r>
            <a:r>
              <a:rPr sz="1000" spc="-5" dirty="0">
                <a:latin typeface="FreeSerif"/>
                <a:cs typeface="FreeSerif"/>
              </a:rPr>
              <a:t> </a:t>
            </a:r>
            <a:r>
              <a:rPr sz="1000" spc="180" dirty="0">
                <a:latin typeface="FreeSerif"/>
                <a:cs typeface="FreeSerif"/>
              </a:rPr>
              <a:t>+</a:t>
            </a:r>
            <a:r>
              <a:rPr sz="1000" spc="-30" dirty="0">
                <a:latin typeface="FreeSerif"/>
                <a:cs typeface="FreeSerif"/>
              </a:rPr>
              <a:t> </a:t>
            </a:r>
            <a:r>
              <a:rPr sz="1000" spc="-145" dirty="0">
                <a:latin typeface="FreeSerif"/>
                <a:cs typeface="FreeSerif"/>
              </a:rPr>
              <a:t>𝑠𝑠</a:t>
            </a:r>
            <a:endParaRPr sz="1000">
              <a:latin typeface="FreeSerif"/>
              <a:cs typeface="FreeSerif"/>
            </a:endParaRPr>
          </a:p>
          <a:p>
            <a:pPr>
              <a:spcBef>
                <a:spcPts val="30"/>
              </a:spcBef>
            </a:pPr>
            <a:endParaRPr sz="850">
              <a:latin typeface="FreeSerif"/>
              <a:cs typeface="FreeSerif"/>
            </a:endParaRPr>
          </a:p>
          <a:p>
            <a:pPr marL="12700"/>
            <a:r>
              <a:rPr sz="900" dirty="0">
                <a:latin typeface="Trebuchet MS"/>
                <a:cs typeface="Trebuchet MS"/>
              </a:rPr>
              <a:t>Where,</a:t>
            </a:r>
            <a:endParaRPr sz="900">
              <a:latin typeface="Trebuchet MS"/>
              <a:cs typeface="Trebuchet MS"/>
            </a:endParaRPr>
          </a:p>
          <a:p>
            <a:pPr marL="251460"/>
            <a:r>
              <a:rPr sz="900" i="1" dirty="0">
                <a:latin typeface="Trebuchet MS"/>
                <a:cs typeface="Trebuchet MS"/>
              </a:rPr>
              <a:t>d = </a:t>
            </a:r>
            <a:r>
              <a:rPr sz="900" spc="-5" dirty="0">
                <a:latin typeface="Trebuchet MS"/>
                <a:cs typeface="Trebuchet MS"/>
              </a:rPr>
              <a:t>Demand rate (units per day or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5" dirty="0">
                <a:latin typeface="Trebuchet MS"/>
                <a:cs typeface="Trebuchet MS"/>
              </a:rPr>
              <a:t>week)</a:t>
            </a:r>
            <a:endParaRPr sz="900">
              <a:latin typeface="Trebuchet MS"/>
              <a:cs typeface="Trebuchet MS"/>
            </a:endParaRPr>
          </a:p>
          <a:p>
            <a:pPr marL="251460" marR="1712595"/>
            <a:r>
              <a:rPr sz="900" spc="-50" dirty="0">
                <a:latin typeface="Trebuchet MS"/>
                <a:cs typeface="Trebuchet MS"/>
              </a:rPr>
              <a:t>LT </a:t>
            </a:r>
            <a:r>
              <a:rPr sz="900" dirty="0">
                <a:latin typeface="Trebuchet MS"/>
                <a:cs typeface="Trebuchet MS"/>
              </a:rPr>
              <a:t>= </a:t>
            </a:r>
            <a:r>
              <a:rPr sz="900" spc="-5" dirty="0">
                <a:latin typeface="Trebuchet MS"/>
                <a:cs typeface="Trebuchet MS"/>
              </a:rPr>
              <a:t>Lead time in days or weeks  ss </a:t>
            </a:r>
            <a:r>
              <a:rPr sz="900" dirty="0">
                <a:latin typeface="Trebuchet MS"/>
                <a:cs typeface="Trebuchet MS"/>
              </a:rPr>
              <a:t>= </a:t>
            </a:r>
            <a:r>
              <a:rPr sz="900" spc="-5" dirty="0">
                <a:latin typeface="Trebuchet MS"/>
                <a:cs typeface="Trebuchet MS"/>
              </a:rPr>
              <a:t>Safety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5" dirty="0">
                <a:latin typeface="Trebuchet MS"/>
                <a:cs typeface="Trebuchet MS"/>
              </a:rPr>
              <a:t>Stock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1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66E97-1BC6-F69B-F6C0-1CBA4AEC18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67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228600" y="553244"/>
            <a:ext cx="38100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400" b="1" dirty="0">
                <a:solidFill>
                  <a:srgbClr val="355D7D"/>
                </a:solidFill>
                <a:cs typeface="Trebuchet MS"/>
              </a:rPr>
              <a:t>ABC Analysis Example</a:t>
            </a:r>
            <a:endParaRPr sz="1400" b="1" dirty="0">
              <a:cs typeface="Trebuchet M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2726" t="4767" r="1976" b="5941"/>
          <a:stretch/>
        </p:blipFill>
        <p:spPr>
          <a:xfrm>
            <a:off x="267195" y="922818"/>
            <a:ext cx="4343401" cy="18288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B7C19F-4298-B028-E719-3D1D4F80B5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418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598290" y="2772950"/>
            <a:ext cx="111125" cy="9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67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4264" y="1189912"/>
            <a:ext cx="1026099" cy="9624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95806" y="268637"/>
            <a:ext cx="1685289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14117" y="259112"/>
            <a:ext cx="129539" cy="152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95806" y="2774093"/>
            <a:ext cx="2961005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latin typeface="Trebuchet MS"/>
                <a:cs typeface="Trebuchet MS"/>
              </a:rPr>
              <a:t>Reference: </a:t>
            </a:r>
            <a:r>
              <a:rPr sz="600" dirty="0">
                <a:latin typeface="Arial"/>
                <a:cs typeface="Arial"/>
              </a:rPr>
              <a:t>Operations </a:t>
            </a:r>
            <a:r>
              <a:rPr sz="600" spc="-5" dirty="0">
                <a:latin typeface="Arial"/>
                <a:cs typeface="Arial"/>
              </a:rPr>
              <a:t>Management </a:t>
            </a:r>
            <a:r>
              <a:rPr sz="600" spc="-10" dirty="0">
                <a:latin typeface="Arial"/>
                <a:cs typeface="Arial"/>
              </a:rPr>
              <a:t>(11th </a:t>
            </a:r>
            <a:r>
              <a:rPr sz="600" dirty="0">
                <a:latin typeface="Arial"/>
                <a:cs typeface="Arial"/>
              </a:rPr>
              <a:t>edition) </a:t>
            </a:r>
            <a:r>
              <a:rPr sz="600" spc="-5" dirty="0">
                <a:latin typeface="Arial"/>
                <a:cs typeface="Arial"/>
              </a:rPr>
              <a:t>By </a:t>
            </a:r>
            <a:r>
              <a:rPr sz="600" dirty="0">
                <a:latin typeface="Arial"/>
                <a:cs typeface="Arial"/>
              </a:rPr>
              <a:t>William </a:t>
            </a:r>
            <a:r>
              <a:rPr sz="600" spc="-5" dirty="0">
                <a:latin typeface="Arial"/>
                <a:cs typeface="Arial"/>
              </a:rPr>
              <a:t>Stevenson (</a:t>
            </a:r>
            <a:r>
              <a:rPr sz="6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Chapter</a:t>
            </a:r>
            <a:r>
              <a:rPr sz="600" b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6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13</a:t>
            </a:r>
            <a:r>
              <a:rPr sz="600" spc="-5" dirty="0">
                <a:latin typeface="Arial"/>
                <a:cs typeface="Arial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2"/>
          <p:cNvSpPr txBox="1"/>
          <p:nvPr/>
        </p:nvSpPr>
        <p:spPr>
          <a:xfrm>
            <a:off x="3377565" y="268637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IPE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4111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6D0BCE-5CF4-0863-96FE-C08E95CF71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1371</TotalTime>
  <Words>2476</Words>
  <Application>Microsoft Office PowerPoint</Application>
  <PresentationFormat>Custom</PresentationFormat>
  <Paragraphs>457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FreeSerif</vt:lpstr>
      <vt:lpstr>Georgia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TSP</dc:creator>
  <cp:lastModifiedBy>Ahmadul Karim Chowdhury</cp:lastModifiedBy>
  <cp:revision>45</cp:revision>
  <dcterms:created xsi:type="dcterms:W3CDTF">2022-12-02T15:04:52Z</dcterms:created>
  <dcterms:modified xsi:type="dcterms:W3CDTF">2023-02-12T00:29:28Z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2022-12-02T00:00:00Z</vt:filetime>
  </property>
</Properties>
</file>