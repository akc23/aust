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4" r:id="rId1"/>
  </p:sldMasterIdLst>
  <p:notesMasterIdLst>
    <p:notesMasterId r:id="rId32"/>
  </p:notesMasterIdLst>
  <p:handoutMasterIdLst>
    <p:handoutMasterId r:id="rId33"/>
  </p:handoutMasterIdLst>
  <p:sldIdLst>
    <p:sldId id="268" r:id="rId2"/>
    <p:sldId id="269" r:id="rId3"/>
    <p:sldId id="270" r:id="rId4"/>
    <p:sldId id="272" r:id="rId5"/>
    <p:sldId id="271" r:id="rId6"/>
    <p:sldId id="292" r:id="rId7"/>
    <p:sldId id="273" r:id="rId8"/>
    <p:sldId id="274" r:id="rId9"/>
    <p:sldId id="279" r:id="rId10"/>
    <p:sldId id="280" r:id="rId11"/>
    <p:sldId id="276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9" r:id="rId20"/>
    <p:sldId id="288" r:id="rId21"/>
    <p:sldId id="275" r:id="rId22"/>
    <p:sldId id="290" r:id="rId23"/>
    <p:sldId id="293" r:id="rId24"/>
    <p:sldId id="291" r:id="rId25"/>
    <p:sldId id="294" r:id="rId26"/>
    <p:sldId id="296" r:id="rId27"/>
    <p:sldId id="295" r:id="rId28"/>
    <p:sldId id="297" r:id="rId29"/>
    <p:sldId id="298" r:id="rId30"/>
    <p:sldId id="299" r:id="rId3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384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pos="959">
          <p15:clr>
            <a:srgbClr val="A4A3A4"/>
          </p15:clr>
        </p15:guide>
        <p15:guide id="5" pos="67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51" autoAdjust="0"/>
    <p:restoredTop sz="94660"/>
  </p:normalViewPr>
  <p:slideViewPr>
    <p:cSldViewPr>
      <p:cViewPr varScale="1">
        <p:scale>
          <a:sx n="70" d="100"/>
          <a:sy n="70" d="100"/>
        </p:scale>
        <p:origin x="534" y="72"/>
      </p:cViewPr>
      <p:guideLst>
        <p:guide orient="horz" pos="2160"/>
        <p:guide orient="horz" pos="384"/>
        <p:guide orient="horz" pos="3792"/>
        <p:guide pos="959"/>
        <p:guide pos="671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2538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74EB7-856E-45FD-83F0-5F7C6F3E4372}" type="datetimeFigureOut">
              <a:rPr lang="en-US"/>
              <a:t>2/27/2023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86E15-F82A-4596-A46C-375C6D3981E1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8308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0E40-8125-41F8-BB6C-139D8D531A4F}" type="datetimeFigureOut">
              <a:rPr lang="en-US"/>
              <a:t>2/27/2023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05DB2-FD3E-441D-8B7E-7AE83ECE27B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472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276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600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443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874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730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489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345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786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76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02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6076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770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5126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929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1841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2167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692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3339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9808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3153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5049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668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block"/>
          <p:cNvSpPr/>
          <p:nvPr/>
        </p:nvSpPr>
        <p:spPr bwMode="invGray">
          <a:xfrm>
            <a:off x="1141413" y="1600200"/>
            <a:ext cx="11047412" cy="3276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7" name="top graphic"/>
          <p:cNvGrpSpPr/>
          <p:nvPr/>
        </p:nvGrpSpPr>
        <p:grpSpPr>
          <a:xfrm>
            <a:off x="1279" y="0"/>
            <a:ext cx="12188952" cy="429768"/>
            <a:chOff x="1279" y="0"/>
            <a:chExt cx="12188952" cy="429768"/>
          </a:xfrm>
        </p:grpSpPr>
        <p:sp>
          <p:nvSpPr>
            <p:cNvPr id="8" name="Rectangle 7"/>
            <p:cNvSpPr/>
            <p:nvPr/>
          </p:nvSpPr>
          <p:spPr>
            <a:xfrm>
              <a:off x="1279" y="0"/>
              <a:ext cx="12188952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228600"/>
              <a:ext cx="12188952" cy="2011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79" y="306324"/>
              <a:ext cx="12188952" cy="45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grpSp>
        <p:nvGrpSpPr>
          <p:cNvPr id="23" name="bottom graphic"/>
          <p:cNvGrpSpPr/>
          <p:nvPr/>
        </p:nvGrpSpPr>
        <p:grpSpPr>
          <a:xfrm>
            <a:off x="0" y="6080760"/>
            <a:ext cx="12190231" cy="777240"/>
            <a:chOff x="0" y="6080760"/>
            <a:chExt cx="12190231" cy="777240"/>
          </a:xfrm>
        </p:grpSpPr>
        <p:sp>
          <p:nvSpPr>
            <p:cNvPr id="13" name="Rectangle 12"/>
            <p:cNvSpPr/>
            <p:nvPr/>
          </p:nvSpPr>
          <p:spPr>
            <a:xfrm>
              <a:off x="0" y="6217920"/>
              <a:ext cx="12188825" cy="6400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79" y="60807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79" y="6172200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invGray">
          <a:xfrm>
            <a:off x="1522414" y="1905000"/>
            <a:ext cx="9143998" cy="2667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bg1"/>
                </a:solidFill>
                <a:effectLst>
                  <a:outerShdw blurRad="88900" algn="c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029200"/>
            <a:ext cx="8229598" cy="838200"/>
          </a:xfr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AC4C0-7930-4690-9374-7C8A3A2A2315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16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75BE-0F9E-4CD8-9A76-5EB52E290AD3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59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4876800"/>
            <a:ext cx="8229598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057AC7-368B-48C3-93F6-50A04269E3A1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10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849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E3F3-8CA4-4306-A279-66C39211A87E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25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6814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6814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1E023-C804-43E0-B076-596DDC44E374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70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18C7-E7A6-4F9D-B77C-DCD673063673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31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ottom graphic"/>
          <p:cNvGrpSpPr/>
          <p:nvPr userDrawn="1"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483DF-6526-49FF-A828-B195CB153D76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3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1930" y="1293495"/>
            <a:ext cx="5577840" cy="40233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69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DB9A6-834E-4C1C-AB40-9292ACD1A77E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13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400490" y="1202055"/>
            <a:ext cx="5760720" cy="4206240"/>
          </a:xfrm>
          <a:solidFill>
            <a:schemeClr val="bg1">
              <a:lumMod val="95000"/>
            </a:schemeClr>
          </a:solidFill>
        </p:spPr>
        <p:txBody>
          <a:bodyPr tIns="914400">
            <a:norm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71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40298-59BE-4EB6-97BF-7D4212DE4E0E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6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FF1-A7E1-4B51-9476-F6B2941B391A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79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94507" y="609600"/>
            <a:ext cx="1143001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3" y="609600"/>
            <a:ext cx="7696198" cy="5410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3693-28EA-46C6-9D82-5A94C862A928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1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8CD4-7ACC-4EB2-B25B-BED058A8F91A}" type="datetime1">
              <a:rPr lang="en-US" smtClean="0"/>
              <a:t>2/27/2023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647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bottom graphic"/>
          <p:cNvGrpSpPr/>
          <p:nvPr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grpSp>
        <p:nvGrpSpPr>
          <p:cNvPr id="10" name="top graphic"/>
          <p:cNvGrpSpPr/>
          <p:nvPr/>
        </p:nvGrpSpPr>
        <p:grpSpPr>
          <a:xfrm>
            <a:off x="1279" y="0"/>
            <a:ext cx="12188952" cy="320040"/>
            <a:chOff x="1279" y="0"/>
            <a:chExt cx="12188952" cy="320040"/>
          </a:xfrm>
        </p:grpSpPr>
        <p:sp>
          <p:nvSpPr>
            <p:cNvPr id="11" name="Rectangle 10"/>
            <p:cNvSpPr/>
            <p:nvPr/>
          </p:nvSpPr>
          <p:spPr>
            <a:xfrm>
              <a:off x="1279" y="0"/>
              <a:ext cx="12188952" cy="17023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79" y="170234"/>
              <a:ext cx="12188952" cy="14980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79" y="231421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76" y="1905000"/>
            <a:ext cx="9143538" cy="3697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507498" y="6516865"/>
            <a:ext cx="606214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994363" y="6516865"/>
            <a:ext cx="132762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9CFA2414-3FB4-4A65-8BAF-5DCC05AD2D76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730094" y="6516865"/>
            <a:ext cx="93631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681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14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100000"/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Quality Control &amp; Management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18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854" y="609600"/>
            <a:ext cx="9143538" cy="533400"/>
          </a:xfrm>
        </p:spPr>
        <p:txBody>
          <a:bodyPr>
            <a:noAutofit/>
          </a:bodyPr>
          <a:lstStyle/>
          <a:p>
            <a:r>
              <a:rPr lang="en-US"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4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rod</a:t>
            </a:r>
            <a:r>
              <a:rPr lang="en-US" sz="4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4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625854" y="1314602"/>
            <a:ext cx="10954957" cy="4414029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994"/>
              </a:spcBef>
            </a:pP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sz="2200" spc="30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refers</a:t>
            </a:r>
            <a:r>
              <a:rPr sz="2200" spc="3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3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3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</a:t>
            </a:r>
            <a:r>
              <a:rPr sz="2200" spc="30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30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3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z="22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200" spc="30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2200" spc="3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200" spc="3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defines</a:t>
            </a:r>
            <a:r>
              <a:rPr sz="2200" spc="30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z="2200" spc="30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ability</a:t>
            </a:r>
            <a:r>
              <a:rPr sz="2200" spc="3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200" spc="-48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consistently</a:t>
            </a:r>
            <a:r>
              <a:rPr sz="2200" spc="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</a:t>
            </a:r>
            <a:r>
              <a:rPr sz="22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2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exceed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sz="22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expectations.</a:t>
            </a:r>
            <a:endParaRPr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2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=</a:t>
            </a:r>
            <a:r>
              <a:rPr sz="22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b="1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200" b="1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2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2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endParaRPr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6369685">
              <a:lnSpc>
                <a:spcPct val="100000"/>
              </a:lnSpc>
            </a:pP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20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sz="2200" spc="-48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spc="-484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6369685">
              <a:lnSpc>
                <a:spcPct val="100000"/>
              </a:lnSpc>
            </a:pP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2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Expectation</a:t>
            </a:r>
            <a:endParaRPr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920"/>
              </a:lnSpc>
              <a:tabLst>
                <a:tab pos="772795" algn="l"/>
                <a:tab pos="1161415" algn="l"/>
                <a:tab pos="1755775" algn="l"/>
                <a:tab pos="2515235" algn="l"/>
                <a:tab pos="2792095" algn="l"/>
                <a:tab pos="3595370" algn="l"/>
                <a:tab pos="3949700" algn="l"/>
                <a:tab pos="4377690" algn="l"/>
                <a:tab pos="5406390" algn="l"/>
                <a:tab pos="6095365" algn="l"/>
                <a:tab pos="6958330" algn="l"/>
                <a:tab pos="7684770" algn="l"/>
              </a:tabLst>
            </a:pPr>
            <a:r>
              <a:rPr lang="en-US" sz="22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22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Fitne</a:t>
            </a:r>
            <a:r>
              <a:rPr sz="2200" spc="-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200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2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tnes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ned</a:t>
            </a:r>
            <a:r>
              <a:rPr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2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sz="2200" spc="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sz="22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200" spc="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ica</a:t>
            </a:r>
            <a:r>
              <a:rPr sz="22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Performance,</a:t>
            </a:r>
            <a:r>
              <a:rPr sz="2200" spc="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Conformance,</a:t>
            </a:r>
            <a:r>
              <a:rPr sz="2200" spc="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Durability,</a:t>
            </a:r>
            <a:r>
              <a:rPr sz="2200" spc="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Safety,</a:t>
            </a:r>
            <a:r>
              <a:rPr sz="22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en-US" sz="2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084695">
              <a:lnSpc>
                <a:spcPct val="100000"/>
              </a:lnSpc>
              <a:spcBef>
                <a:spcPts val="310"/>
              </a:spcBef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11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418012" y="457200"/>
            <a:ext cx="2895600" cy="6096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0539" y="1676400"/>
            <a:ext cx="3429000" cy="9144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Producer’s Perspective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0448" y="1676400"/>
            <a:ext cx="3429000" cy="9144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Consumer’s Perspective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0539" y="3266941"/>
            <a:ext cx="3429000" cy="1828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16" name="Rectangle 15"/>
          <p:cNvSpPr/>
          <p:nvPr/>
        </p:nvSpPr>
        <p:spPr>
          <a:xfrm>
            <a:off x="6399212" y="3268014"/>
            <a:ext cx="3429000" cy="1828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17" name="Rectangle 16"/>
          <p:cNvSpPr/>
          <p:nvPr/>
        </p:nvSpPr>
        <p:spPr>
          <a:xfrm>
            <a:off x="150812" y="3838441"/>
            <a:ext cx="18288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09212" y="3838441"/>
            <a:ext cx="18288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5941" y="5480496"/>
            <a:ext cx="2895600" cy="9144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Fitness for Consumer 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1775" y="3980645"/>
            <a:ext cx="3326527" cy="110490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Conformance to Specification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50448" y="3995671"/>
            <a:ext cx="3326527" cy="110490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cxnSp>
        <p:nvCxnSpPr>
          <p:cNvPr id="27" name="Straight Arrow Connector 26"/>
          <p:cNvCxnSpPr>
            <a:stCxn id="12" idx="2"/>
          </p:cNvCxnSpPr>
          <p:nvPr/>
        </p:nvCxnSpPr>
        <p:spPr>
          <a:xfrm>
            <a:off x="5865812" y="1066800"/>
            <a:ext cx="0" cy="2962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862534" y="1363549"/>
            <a:ext cx="4302414" cy="8051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862534" y="1367306"/>
            <a:ext cx="1" cy="3090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8164947" y="1367306"/>
            <a:ext cx="1" cy="3090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3" idx="2"/>
            <a:endCxn id="15" idx="0"/>
          </p:cNvCxnSpPr>
          <p:nvPr/>
        </p:nvCxnSpPr>
        <p:spPr>
          <a:xfrm>
            <a:off x="4125039" y="2590800"/>
            <a:ext cx="0" cy="6761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8304212" y="2594019"/>
            <a:ext cx="0" cy="6761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7" idx="3"/>
            <a:endCxn id="15" idx="1"/>
          </p:cNvCxnSpPr>
          <p:nvPr/>
        </p:nvCxnSpPr>
        <p:spPr>
          <a:xfrm>
            <a:off x="1979612" y="4181341"/>
            <a:ext cx="430927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9776975" y="4200659"/>
            <a:ext cx="430927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4875212" y="5115059"/>
            <a:ext cx="0" cy="3713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6932612" y="5115059"/>
            <a:ext cx="0" cy="3713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461775" y="3392961"/>
            <a:ext cx="3377764" cy="461665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of Conformance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0448" y="3405668"/>
            <a:ext cx="3377764" cy="461665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of Design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96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1812" y="533400"/>
            <a:ext cx="9143538" cy="838200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 of Poor Quality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25"/>
          <p:cNvSpPr txBox="1"/>
          <p:nvPr/>
        </p:nvSpPr>
        <p:spPr>
          <a:xfrm>
            <a:off x="836612" y="1524000"/>
            <a:ext cx="7542212" cy="387811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sz="2800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productivity,</a:t>
            </a:r>
            <a:r>
              <a:rPr sz="2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rework,</a:t>
            </a:r>
            <a:r>
              <a:rPr sz="28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rejection</a:t>
            </a:r>
            <a:endParaRPr lang="en-US" sz="2800" spc="-5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lang="en-US" sz="28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productive</a:t>
            </a:r>
            <a:r>
              <a:rPr lang="en-US" sz="280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lang="en-US" sz="28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of business </a:t>
            </a:r>
            <a:r>
              <a:rPr lang="en-US" sz="28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</a:t>
            </a: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8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Liability</a:t>
            </a:r>
            <a:r>
              <a:rPr lang="en-US" sz="2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warranty,</a:t>
            </a:r>
            <a:r>
              <a:rPr lang="en-US" sz="28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replacement,</a:t>
            </a:r>
            <a:r>
              <a:rPr lang="en-US" sz="28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repair</a:t>
            </a: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24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12" y="609600"/>
            <a:ext cx="9143538" cy="838200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 of Quality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4812" y="1676400"/>
            <a:ext cx="8934564" cy="3770295"/>
          </a:xfrm>
          <a:prstGeom prst="rect">
            <a:avLst/>
          </a:prstGeom>
        </p:spPr>
      </p:pic>
      <p:sp>
        <p:nvSpPr>
          <p:cNvPr id="7" name="object 6"/>
          <p:cNvSpPr txBox="1"/>
          <p:nvPr/>
        </p:nvSpPr>
        <p:spPr>
          <a:xfrm>
            <a:off x="4575347" y="5943600"/>
            <a:ext cx="3133493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Quality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86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1464" y="650961"/>
            <a:ext cx="9143538" cy="68993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sz="4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sz="44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spc="-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endParaRPr sz="4400" b="1" spc="-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48433" y="1676400"/>
            <a:ext cx="8229600" cy="3742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227965" algn="ctr">
              <a:spcBef>
                <a:spcPts val="100"/>
              </a:spcBef>
            </a:pP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 Basic </a:t>
            </a:r>
            <a:r>
              <a:rPr sz="2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Quality is a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 </a:t>
            </a:r>
            <a:r>
              <a:rPr sz="2800" b="1" spc="-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to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techniques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identified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most helpful in </a:t>
            </a:r>
            <a:r>
              <a:rPr sz="2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</a:t>
            </a:r>
            <a:r>
              <a:rPr sz="28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related to</a:t>
            </a:r>
            <a:r>
              <a:rPr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51435" algn="ctr">
              <a:spcBef>
                <a:spcPts val="2195"/>
              </a:spcBef>
            </a:pPr>
            <a:r>
              <a:rPr sz="2800" b="1" spc="-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sz="280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sz="2800" b="1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</a:t>
            </a:r>
            <a:r>
              <a:rPr sz="2800" b="1" spc="-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sz="2800" b="1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sz="280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</a:t>
            </a:r>
            <a:r>
              <a:rPr sz="2800" b="1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b="1" spc="-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sz="2800" b="1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8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little </a:t>
            </a:r>
            <a:r>
              <a:rPr sz="2800" b="1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</a:t>
            </a:r>
            <a:r>
              <a:rPr sz="28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sz="2800" b="1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statistics </a:t>
            </a:r>
            <a:r>
              <a:rPr sz="2800" b="1" spc="-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b="1" spc="-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sz="2800" b="1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sz="2800" b="1" spc="-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800" b="1" spc="-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8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sz="28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vast</a:t>
            </a:r>
            <a:r>
              <a:rPr sz="28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</a:t>
            </a:r>
            <a:r>
              <a:rPr sz="28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quality-related</a:t>
            </a:r>
            <a:r>
              <a:rPr sz="28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1641" y="4876800"/>
            <a:ext cx="1113813" cy="13456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923970" y="6464681"/>
            <a:ext cx="23177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685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6612" y="533400"/>
            <a:ext cx="9143538" cy="762000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Seven Basic Tools of Quality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89012" y="1524000"/>
            <a:ext cx="9143538" cy="3697465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Sheet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Stratification Analysis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 Chart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Pareto Chart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Scatter Diagram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 and Effect Diagram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01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 txBox="1"/>
          <p:nvPr/>
        </p:nvSpPr>
        <p:spPr>
          <a:xfrm>
            <a:off x="912812" y="457200"/>
            <a:ext cx="9906000" cy="4244111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2800" b="1" spc="-5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sz="2800" b="1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Sheet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 marR="5080">
              <a:lnSpc>
                <a:spcPct val="100000"/>
              </a:lnSpc>
              <a:spcBef>
                <a:spcPts val="1360"/>
              </a:spcBef>
            </a:pP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sz="2400" b="1" spc="-2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b="1" spc="-2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b="1" spc="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b="1" spc="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sz="2400" b="1" spc="-2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sz="2400" b="1" spc="-52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prepared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</a:t>
            </a:r>
            <a:r>
              <a:rPr sz="2400" b="1" spc="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b="1" spc="-2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adapted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wide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variety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>
              <a:lnSpc>
                <a:spcPct val="100000"/>
              </a:lnSpc>
            </a:pP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400" b="1" spc="-1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spc="-1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b="1" spc="-1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sz="2400" b="1" spc="1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Sheet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2610" marR="504825" indent="-51879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562610" algn="l"/>
                <a:tab pos="563245" algn="l"/>
              </a:tabLst>
            </a:pPr>
            <a:r>
              <a:rPr lang="en-US" sz="2000" b="1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0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</a:t>
            </a:r>
            <a:r>
              <a:rPr lang="en-US"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</a:t>
            </a:r>
            <a:r>
              <a:rPr lang="en-US" sz="2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repeatedly</a:t>
            </a:r>
            <a:r>
              <a:rPr lang="en-US"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0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lang="en-US" sz="2000" b="1" spc="-5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b="1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</a:t>
            </a:r>
            <a:r>
              <a:rPr lang="en-US"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</a:t>
            </a:r>
            <a:r>
              <a:rPr lang="en-US" sz="2000" b="1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00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0865" indent="-518795">
              <a:lnSpc>
                <a:spcPct val="100000"/>
              </a:lnSpc>
              <a:spcBef>
                <a:spcPts val="490"/>
              </a:spcBef>
              <a:buFont typeface="Wingdings"/>
              <a:buChar char=""/>
              <a:tabLst>
                <a:tab pos="570865" algn="l"/>
                <a:tab pos="571500" algn="l"/>
              </a:tabLst>
            </a:pPr>
            <a:r>
              <a:rPr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collecting</a:t>
            </a:r>
            <a:r>
              <a:rPr sz="2000" b="1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</a:t>
            </a:r>
            <a:r>
              <a:rPr sz="2000" b="1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events,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0865">
              <a:lnSpc>
                <a:spcPct val="100000"/>
              </a:lnSpc>
            </a:pP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problems,</a:t>
            </a:r>
            <a:r>
              <a:rPr sz="2000" b="1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defects,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defect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location,</a:t>
            </a:r>
            <a:r>
              <a:rPr sz="2000" b="1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defect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2135" indent="-51879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572135" algn="l"/>
                <a:tab pos="572770" algn="l"/>
              </a:tabLst>
            </a:pP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collecting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7812" y="457200"/>
            <a:ext cx="1527619" cy="165455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38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1370012" y="914400"/>
            <a:ext cx="4162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Example</a:t>
            </a:r>
            <a:r>
              <a:rPr sz="2800" b="1" spc="10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of</a:t>
            </a:r>
            <a:r>
              <a:rPr sz="2800" b="1" spc="5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Check</a:t>
            </a:r>
            <a:r>
              <a:rPr sz="2800" b="1" spc="15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Sheet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7812" y="2133600"/>
            <a:ext cx="6366633" cy="2584383"/>
          </a:xfrm>
          <a:prstGeom prst="rect">
            <a:avLst/>
          </a:prstGeom>
        </p:spPr>
      </p:pic>
      <p:pic>
        <p:nvPicPr>
          <p:cNvPr id="9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61612" y="914400"/>
            <a:ext cx="1527619" cy="165455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41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/>
          <p:nvPr/>
        </p:nvSpPr>
        <p:spPr>
          <a:xfrm>
            <a:off x="912812" y="609600"/>
            <a:ext cx="10210800" cy="4213333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2800" b="1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Stratification</a:t>
            </a:r>
            <a:r>
              <a:rPr sz="2800" b="1" spc="-130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 marR="5080">
              <a:lnSpc>
                <a:spcPct val="100000"/>
              </a:lnSpc>
              <a:spcBef>
                <a:spcPts val="1360"/>
              </a:spcBef>
            </a:pP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Stratification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</a:t>
            </a:r>
            <a:r>
              <a:rPr sz="2400" b="1" spc="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400" b="1" spc="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combination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sz="2400" b="1" spc="-52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tools.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b="1" spc="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variety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been 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lumped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3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together,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b="1" spc="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b="1" spc="-2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impossible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b="1" spc="-53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see.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sz="2400" b="1" spc="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sz="2400" b="1" spc="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>
              <a:lnSpc>
                <a:spcPct val="100000"/>
              </a:lnSpc>
              <a:spcBef>
                <a:spcPts val="1110"/>
              </a:spcBef>
            </a:pP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400" b="1" spc="-1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spc="-1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400" b="1" spc="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Stratification</a:t>
            </a:r>
            <a:r>
              <a:rPr sz="2400" b="1" spc="-13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2610" indent="-518795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562610" algn="l"/>
                <a:tab pos="563245" algn="l"/>
              </a:tabLst>
            </a:pPr>
            <a:r>
              <a:rPr sz="2000" b="1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</a:t>
            </a:r>
            <a:r>
              <a:rPr sz="2000" b="1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collectin</a:t>
            </a:r>
            <a:r>
              <a:rPr sz="200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0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7055" indent="-518795">
              <a:lnSpc>
                <a:spcPct val="100000"/>
              </a:lnSpc>
              <a:spcBef>
                <a:spcPts val="1325"/>
              </a:spcBef>
              <a:buFont typeface="Wingdings"/>
              <a:buChar char=""/>
              <a:tabLst>
                <a:tab pos="567055" algn="l"/>
                <a:tab pos="567690" algn="l"/>
              </a:tabLst>
            </a:pP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r>
              <a:rPr sz="20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</a:t>
            </a:r>
            <a:r>
              <a:rPr sz="20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different 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condition,</a:t>
            </a:r>
            <a:r>
              <a:rPr sz="2000" b="1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2000" b="1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7055">
              <a:lnSpc>
                <a:spcPct val="100000"/>
              </a:lnSpc>
            </a:pP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shifts,</a:t>
            </a:r>
            <a:r>
              <a:rPr sz="2000" b="1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days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week,</a:t>
            </a:r>
            <a:r>
              <a:rPr sz="20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</a:t>
            </a:r>
            <a:r>
              <a:rPr sz="2000" b="1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groups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165" marR="342900" indent="-514350">
              <a:lnSpc>
                <a:spcPct val="100000"/>
              </a:lnSpc>
              <a:spcBef>
                <a:spcPts val="1430"/>
              </a:spcBef>
              <a:buFont typeface="Wingdings"/>
              <a:buChar char=""/>
              <a:tabLst>
                <a:tab pos="562610" algn="l"/>
                <a:tab pos="563245" algn="l"/>
              </a:tabLst>
            </a:pP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</a:t>
            </a: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separating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000" b="1" spc="-4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73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1370012" y="990600"/>
            <a:ext cx="4202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Example of</a:t>
            </a:r>
            <a:r>
              <a:rPr sz="2800" b="1" spc="-10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990033"/>
                </a:solidFill>
                <a:latin typeface="Arial"/>
                <a:cs typeface="Arial"/>
              </a:rPr>
              <a:t>Stratification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2612" y="1828800"/>
            <a:ext cx="5181600" cy="437845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53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836612" y="762000"/>
            <a:ext cx="10668000" cy="4124206"/>
          </a:xfrm>
          <a:prstGeom prst="rect">
            <a:avLst/>
          </a:prstGeom>
        </p:spPr>
        <p:txBody>
          <a:bodyPr vert="horz" wrap="square" lIns="0" tIns="213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b="1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Pareto</a:t>
            </a:r>
            <a:r>
              <a:rPr sz="2800" b="1" spc="-30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 marR="303530">
              <a:lnSpc>
                <a:spcPct val="100000"/>
              </a:lnSpc>
              <a:spcBef>
                <a:spcPts val="1360"/>
              </a:spcBef>
            </a:pP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graphical</a:t>
            </a:r>
            <a:r>
              <a:rPr sz="2400" b="1" spc="-2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</a:t>
            </a:r>
            <a:r>
              <a:rPr sz="2400" b="1" spc="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sz="2400" b="1" spc="2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1" spc="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b="1" spc="-53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>
              <a:lnSpc>
                <a:spcPct val="100000"/>
              </a:lnSpc>
            </a:pP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400" b="1" spc="-1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</a:t>
            </a:r>
            <a:r>
              <a:rPr sz="2400" b="1" spc="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Pareto chart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2610" marR="570865" indent="-518795">
              <a:lnSpc>
                <a:spcPct val="100000"/>
              </a:lnSpc>
              <a:spcBef>
                <a:spcPts val="1935"/>
              </a:spcBef>
              <a:buFont typeface="Wingdings"/>
              <a:buChar char=""/>
              <a:tabLst>
                <a:tab pos="562610" algn="l"/>
                <a:tab pos="563245" algn="l"/>
              </a:tabLst>
            </a:pPr>
            <a:r>
              <a:rPr sz="2000" b="1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sz="2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sz="2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  <a:r>
              <a:rPr sz="2000" b="1" spc="-5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2610" indent="-51879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562610" algn="l"/>
                <a:tab pos="563245" algn="l"/>
              </a:tabLst>
            </a:pPr>
            <a:r>
              <a:rPr sz="2000" b="1" spc="-2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z="2000" b="1" spc="-1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b="1" spc="-9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000" b="1" spc="-11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sz="2000" b="1" spc="-1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b="1" spc="-11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  <a:r>
              <a:rPr sz="2000" b="1" spc="-1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b="1" spc="-1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2000" b="1" spc="-1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want</a:t>
            </a:r>
            <a:r>
              <a:rPr sz="2000" b="1" spc="-11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b="1" spc="-1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9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r>
              <a:rPr sz="2000" b="1" spc="-1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2610">
              <a:lnSpc>
                <a:spcPct val="100000"/>
              </a:lnSpc>
            </a:pPr>
            <a:r>
              <a:rPr sz="2000" b="1" spc="-1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b="1" spc="-2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000" b="1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b="1" spc="-11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3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b="1" spc="-2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b="1" spc="-20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b="1" spc="-1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b="1" spc="-1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</a:t>
            </a:r>
            <a:r>
              <a:rPr sz="2000" b="1" spc="-11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000" b="1" spc="-1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icant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2610" indent="-51879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562610" algn="l"/>
                <a:tab pos="563245" algn="l"/>
              </a:tabLst>
            </a:pPr>
            <a:r>
              <a:rPr sz="2000" b="1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</a:t>
            </a:r>
            <a:r>
              <a:rPr sz="2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</a:t>
            </a:r>
            <a:r>
              <a:rPr sz="20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00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2610" indent="-51879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562610" algn="l"/>
                <a:tab pos="563245" algn="l"/>
              </a:tabLst>
            </a:pPr>
            <a:r>
              <a:rPr sz="2000" b="1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communicating</a:t>
            </a:r>
            <a:r>
              <a:rPr sz="20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  <a:r>
              <a:rPr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1612" y="457200"/>
            <a:ext cx="1485900" cy="990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31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1217612" y="914400"/>
            <a:ext cx="4159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Example</a:t>
            </a:r>
            <a:r>
              <a:rPr sz="2800" b="1" spc="5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of</a:t>
            </a:r>
            <a:r>
              <a:rPr sz="2800" b="1" dirty="0">
                <a:solidFill>
                  <a:srgbClr val="990033"/>
                </a:solidFill>
                <a:latin typeface="Arial"/>
                <a:cs typeface="Arial"/>
              </a:rPr>
              <a:t> Pareto</a:t>
            </a:r>
            <a:r>
              <a:rPr sz="2800" b="1" spc="-20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Chart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3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4012" y="1828800"/>
            <a:ext cx="6477000" cy="4199331"/>
          </a:xfrm>
          <a:prstGeom prst="rect">
            <a:avLst/>
          </a:prstGeom>
        </p:spPr>
      </p:pic>
      <p:pic>
        <p:nvPicPr>
          <p:cNvPr id="4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09212" y="645160"/>
            <a:ext cx="1485900" cy="9906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50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760412" y="914400"/>
            <a:ext cx="10391076" cy="4883388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800" b="1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  <a:r>
              <a:rPr sz="2800" b="1" spc="-20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 marR="288925">
              <a:lnSpc>
                <a:spcPct val="100000"/>
              </a:lnSpc>
              <a:spcBef>
                <a:spcPts val="760"/>
              </a:spcBef>
            </a:pP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sz="2400" b="1" spc="3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1" spc="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variables,</a:t>
            </a:r>
            <a:r>
              <a:rPr sz="2400" b="1" spc="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plotting </a:t>
            </a:r>
            <a:r>
              <a:rPr sz="2400" b="1" spc="-52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pairs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data,</a:t>
            </a:r>
            <a:r>
              <a:rPr sz="2400" b="1" spc="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>
              <a:lnSpc>
                <a:spcPct val="100000"/>
              </a:lnSpc>
              <a:spcBef>
                <a:spcPts val="2140"/>
              </a:spcBef>
            </a:pP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400" b="1" spc="-1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spc="-1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400" b="1" spc="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Scatter</a:t>
            </a:r>
            <a:r>
              <a:rPr sz="2400" b="1" spc="1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2610" indent="-518795">
              <a:lnSpc>
                <a:spcPct val="100000"/>
              </a:lnSpc>
              <a:spcBef>
                <a:spcPts val="735"/>
              </a:spcBef>
              <a:buFont typeface="Wingdings"/>
              <a:buChar char=""/>
              <a:tabLst>
                <a:tab pos="562610" algn="l"/>
                <a:tab pos="563245" algn="l"/>
              </a:tabLst>
            </a:pPr>
            <a:r>
              <a:rPr sz="2000" b="1" spc="-2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sz="2000" b="1" spc="-2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000" b="1" spc="-1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000" b="1" spc="-11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paired</a:t>
            </a:r>
            <a:r>
              <a:rPr sz="2000" b="1" spc="-1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000" b="1" spc="-2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000" b="1" spc="-19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meric</a:t>
            </a:r>
            <a:r>
              <a:rPr sz="2000" b="1" spc="-2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b="1" spc="-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000" b="1" spc="-1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sz="2000" b="1" spc="-11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b="1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2610" indent="-51879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562610" algn="l"/>
                <a:tab pos="563245" algn="l"/>
              </a:tabLst>
            </a:pPr>
            <a:r>
              <a:rPr sz="2000" b="1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</a:t>
            </a:r>
            <a:r>
              <a:rPr sz="2000"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2000"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2000"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2610">
              <a:lnSpc>
                <a:spcPct val="100000"/>
              </a:lnSpc>
              <a:spcBef>
                <a:spcPts val="5"/>
              </a:spcBef>
            </a:pPr>
            <a:r>
              <a:rPr sz="20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sz="200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0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b="1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</a:t>
            </a:r>
            <a:r>
              <a:rPr sz="2000" b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b="1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sz="20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iable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2610" indent="-51879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562610" algn="l"/>
                <a:tab pos="563245" algn="l"/>
              </a:tabLst>
            </a:pPr>
            <a:r>
              <a:rPr sz="2000" b="1" spc="-2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trying</a:t>
            </a:r>
            <a:r>
              <a:rPr sz="2000" b="1" spc="-11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b="1" spc="-9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9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r>
              <a:rPr sz="2000" b="1" spc="-1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</a:t>
            </a:r>
            <a:r>
              <a:rPr sz="2000" b="1" spc="-1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-10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000" b="1" spc="-1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z="2000" b="1" spc="-10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b="1" spc="-11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6010" lvl="1" indent="-518795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1096010" algn="l"/>
                <a:tab pos="1096645" algn="l"/>
              </a:tabLst>
            </a:pPr>
            <a:r>
              <a:rPr sz="2000" b="1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trying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sz="2000"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sz="20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  <a:r>
              <a:rPr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6010" marR="441325" lvl="1" indent="-518159">
              <a:lnSpc>
                <a:spcPct val="100000"/>
              </a:lnSpc>
              <a:spcBef>
                <a:spcPts val="600"/>
              </a:spcBef>
              <a:buFont typeface="Courier New"/>
              <a:buChar char="o"/>
              <a:tabLst>
                <a:tab pos="1096010" algn="l"/>
                <a:tab pos="1096645" algn="l"/>
              </a:tabLst>
            </a:pPr>
            <a:r>
              <a:rPr sz="2000" b="1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</a:t>
            </a:r>
            <a:r>
              <a:rPr sz="20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</a:t>
            </a:r>
            <a:r>
              <a:rPr sz="2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</a:t>
            </a:r>
            <a:r>
              <a:rPr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</a:t>
            </a:r>
            <a:r>
              <a:rPr sz="2000" b="1" spc="-5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b="1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2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000"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b="1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6010" lvl="1" indent="-518795">
              <a:lnSpc>
                <a:spcPct val="100000"/>
              </a:lnSpc>
              <a:spcBef>
                <a:spcPts val="520"/>
              </a:spcBef>
              <a:buFont typeface="Courier New"/>
              <a:buChar char="o"/>
              <a:tabLst>
                <a:tab pos="1096010" algn="l"/>
                <a:tab pos="1096645" algn="l"/>
              </a:tabLst>
            </a:pPr>
            <a:r>
              <a:rPr sz="2000" b="1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autocorrelation</a:t>
            </a:r>
            <a:r>
              <a:rPr sz="20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</a:t>
            </a:r>
            <a:r>
              <a:rPr sz="20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0212" y="4648200"/>
            <a:ext cx="1414774" cy="149089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69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1293812" y="838200"/>
            <a:ext cx="4755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Example</a:t>
            </a:r>
            <a:r>
              <a:rPr sz="2800" b="1" spc="10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of</a:t>
            </a:r>
            <a:r>
              <a:rPr sz="2800" b="1" spc="5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990033"/>
                </a:solidFill>
                <a:latin typeface="Arial"/>
                <a:cs typeface="Arial"/>
              </a:rPr>
              <a:t>Scatter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Diagram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3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5534" y="1676400"/>
            <a:ext cx="4807585" cy="43967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61612" y="4495800"/>
            <a:ext cx="1414774" cy="149089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1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836612" y="609600"/>
            <a:ext cx="10619676" cy="4740400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800" b="1" spc="-5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</a:t>
            </a:r>
            <a:r>
              <a:rPr sz="2800" b="1" spc="20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b="1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 Diagram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257810" algn="ctr">
              <a:lnSpc>
                <a:spcPct val="100000"/>
              </a:lnSpc>
              <a:spcBef>
                <a:spcPts val="1365"/>
              </a:spcBef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Ishikawa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Fishbone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>
              <a:lnSpc>
                <a:spcPct val="100000"/>
              </a:lnSpc>
              <a:spcBef>
                <a:spcPts val="2010"/>
              </a:spcBef>
            </a:pP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sz="2400" b="1" spc="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Storming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sz="2400" b="1" spc="-9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sort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400" b="1" spc="-2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</a:t>
            </a:r>
            <a:r>
              <a:rPr sz="2400" b="1" spc="-2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 marR="302895">
              <a:lnSpc>
                <a:spcPct val="100000"/>
              </a:lnSpc>
              <a:spcBef>
                <a:spcPts val="840"/>
              </a:spcBef>
            </a:pP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Causes</a:t>
            </a:r>
            <a:r>
              <a:rPr sz="2400" b="1" spc="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identified</a:t>
            </a:r>
            <a:r>
              <a:rPr sz="2400" b="1" spc="2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stated</a:t>
            </a:r>
            <a:r>
              <a:rPr sz="2400" b="1" spc="2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sz="2400" b="1" spc="-53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1" spc="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the</a:t>
            </a:r>
            <a:r>
              <a:rPr sz="2400" b="1" spc="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identified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>
              <a:lnSpc>
                <a:spcPct val="100000"/>
              </a:lnSpc>
            </a:pP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</a:t>
            </a:r>
            <a:r>
              <a:rPr sz="2400" b="1" spc="1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Cause</a:t>
            </a:r>
            <a:r>
              <a:rPr sz="2400" b="1" spc="2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Effect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2610" indent="-518795">
              <a:lnSpc>
                <a:spcPct val="100000"/>
              </a:lnSpc>
              <a:spcBef>
                <a:spcPts val="1789"/>
              </a:spcBef>
              <a:buFont typeface="Wingdings"/>
              <a:buChar char=""/>
              <a:tabLst>
                <a:tab pos="562610" algn="l"/>
                <a:tab pos="563245" algn="l"/>
              </a:tabLst>
            </a:pPr>
            <a:r>
              <a:rPr sz="2000" b="1" spc="-2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</a:t>
            </a:r>
            <a:r>
              <a:rPr sz="2000" b="1" spc="-15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sz="2000" b="1" spc="-1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  <a:r>
              <a:rPr sz="2000" b="1" spc="-1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6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b="1" spc="-11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b="1" spc="-11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4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0865" indent="-518795">
              <a:lnSpc>
                <a:spcPct val="100000"/>
              </a:lnSpc>
              <a:spcBef>
                <a:spcPts val="1175"/>
              </a:spcBef>
              <a:buFont typeface="Wingdings"/>
              <a:buChar char=""/>
              <a:tabLst>
                <a:tab pos="570865" algn="l"/>
                <a:tab pos="571500" algn="l"/>
              </a:tabLst>
            </a:pPr>
            <a:r>
              <a:rPr sz="20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</a:t>
            </a:r>
            <a:r>
              <a:rPr sz="2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team’s</a:t>
            </a:r>
            <a:r>
              <a:rPr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thinking</a:t>
            </a:r>
            <a:r>
              <a:rPr sz="20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tends</a:t>
            </a:r>
            <a:r>
              <a:rPr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</a:t>
            </a:r>
            <a:r>
              <a:rPr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000"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ruts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52173" y="4655818"/>
            <a:ext cx="1837944" cy="138836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9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6612" y="1066800"/>
            <a:ext cx="9447212" cy="4021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35050" indent="-1022985">
              <a:lnSpc>
                <a:spcPct val="100000"/>
              </a:lnSpc>
              <a:spcBef>
                <a:spcPts val="1685"/>
              </a:spcBef>
            </a:pPr>
            <a:r>
              <a:rPr lang="en-US" sz="2800" b="1" spc="-50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en-US" sz="2800" b="1" spc="35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5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b="1" spc="-10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5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800" b="1" spc="-30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5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7950" marR="3303904" indent="-342900">
              <a:lnSpc>
                <a:spcPct val="100000"/>
              </a:lnSpc>
              <a:spcBef>
                <a:spcPts val="1365"/>
              </a:spcBef>
              <a:buFont typeface="Wingdings" panose="05000000000000000000" pitchFamily="2" charset="2"/>
              <a:buChar char="Ø"/>
            </a:pP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</a:t>
            </a:r>
            <a:r>
              <a:rPr lang="en-US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Enumeration </a:t>
            </a:r>
            <a:r>
              <a:rPr lang="en-US" sz="2400" b="1" spc="-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spc="-53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7950" marR="3303904" indent="-342900">
              <a:lnSpc>
                <a:spcPct val="100000"/>
              </a:lnSpc>
              <a:spcBef>
                <a:spcPts val="1365"/>
              </a:spcBef>
              <a:buFont typeface="Wingdings" panose="05000000000000000000" pitchFamily="2" charset="2"/>
              <a:buChar char="Ø"/>
            </a:pPr>
            <a:r>
              <a:rPr lang="en-US" sz="2400" b="1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2400" b="1" spc="-3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 marR="5080">
              <a:lnSpc>
                <a:spcPct val="100000"/>
              </a:lnSpc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 </a:t>
            </a:r>
            <a:r>
              <a:rPr lang="en-US" sz="24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Enumeration: </a:t>
            </a:r>
            <a:r>
              <a:rPr lang="en-US"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causes </a:t>
            </a:r>
            <a:r>
              <a:rPr lang="en-US" sz="24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spc="-5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brainstorming</a:t>
            </a:r>
            <a:r>
              <a:rPr lang="en-US" sz="24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sessions</a:t>
            </a:r>
            <a:r>
              <a:rPr lang="en-US" sz="24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groups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 marR="111125">
              <a:lnSpc>
                <a:spcPct val="100000"/>
              </a:lnSpc>
            </a:pPr>
            <a:r>
              <a:rPr lang="en-US" sz="24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analysis: </a:t>
            </a:r>
            <a:r>
              <a:rPr lang="en-US" sz="24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follows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sz="24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4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spc="-5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  <a:r>
              <a:rPr lang="en-US"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4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listed</a:t>
            </a:r>
            <a:r>
              <a:rPr lang="en-US"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en-US"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75812" y="4724400"/>
            <a:ext cx="1837944" cy="138836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57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912812" y="838200"/>
            <a:ext cx="53663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Example</a:t>
            </a:r>
            <a:r>
              <a:rPr sz="2800" b="1" spc="20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of</a:t>
            </a:r>
            <a:r>
              <a:rPr sz="2800" b="1" spc="15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Cause</a:t>
            </a:r>
            <a:r>
              <a:rPr sz="2800" b="1" spc="20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Enumeration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3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1012" y="1676400"/>
            <a:ext cx="8305800" cy="429310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51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1217612" y="914400"/>
            <a:ext cx="4957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Example</a:t>
            </a:r>
            <a:r>
              <a:rPr sz="2800" b="1" spc="10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of</a:t>
            </a:r>
            <a:r>
              <a:rPr sz="2800" b="1" spc="5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Process</a:t>
            </a:r>
            <a:r>
              <a:rPr sz="2800" b="1" spc="-90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Analysis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3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9612" y="1394424"/>
            <a:ext cx="7996555" cy="474167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42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836612" y="533400"/>
            <a:ext cx="10210800" cy="194668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800" b="1" spc="-5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 marR="5080">
              <a:lnSpc>
                <a:spcPct val="100000"/>
              </a:lnSpc>
              <a:spcBef>
                <a:spcPts val="760"/>
              </a:spcBef>
            </a:pP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sz="2400" b="1" spc="2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1" spc="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sz="2400" b="1" spc="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occurrence</a:t>
            </a:r>
            <a:r>
              <a:rPr sz="2400" b="1" spc="-3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sz="2400" b="1" spc="-53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set</a:t>
            </a:r>
            <a:r>
              <a:rPr sz="2400" b="1" spc="-1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b="1" spc="-3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looks</a:t>
            </a:r>
            <a:r>
              <a:rPr sz="2400" b="1" spc="-3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much</a:t>
            </a:r>
            <a:r>
              <a:rPr sz="2400" b="1" spc="-2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2400" b="1" spc="-1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sz="2400" b="1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">
              <a:lnSpc>
                <a:spcPct val="100000"/>
              </a:lnSpc>
              <a:spcBef>
                <a:spcPts val="1365"/>
              </a:spcBef>
            </a:pP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400" b="1" spc="-2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spc="-2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400" b="1" spc="-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b="1" spc="-15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4"/>
          <p:cNvSpPr txBox="1">
            <a:spLocks/>
          </p:cNvSpPr>
          <p:nvPr/>
        </p:nvSpPr>
        <p:spPr>
          <a:xfrm>
            <a:off x="836612" y="2667000"/>
            <a:ext cx="10896600" cy="305981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860" indent="-518795">
              <a:lnSpc>
                <a:spcPct val="100000"/>
              </a:lnSpc>
              <a:spcBef>
                <a:spcPts val="700"/>
              </a:spcBef>
              <a:buFont typeface="Wingdings"/>
              <a:buChar char=""/>
              <a:tabLst>
                <a:tab pos="530860" algn="l"/>
                <a:tab pos="531495" algn="l"/>
              </a:tabLst>
            </a:pPr>
            <a:r>
              <a:rPr lang="en-US" spc="-2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pc="-1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2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pc="-11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en-US" spc="-11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11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7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pc="-10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pc="-2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pc="-19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meric</a:t>
            </a:r>
            <a:r>
              <a:rPr lang="en-US" spc="-2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pPr marL="539115" marR="5080" indent="-51879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538480" algn="l"/>
                <a:tab pos="539115" algn="l"/>
              </a:tabLst>
            </a:pPr>
            <a:r>
              <a:rPr lang="en-US" spc="-24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pc="-1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n-US" spc="-10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4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want</a:t>
            </a:r>
            <a:r>
              <a:rPr lang="en-US" spc="-1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7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114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4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en-US" spc="-1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114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en-US" spc="-1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7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1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1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data’s</a:t>
            </a:r>
            <a:r>
              <a:rPr lang="en-US" spc="-1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6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distribution,</a:t>
            </a:r>
            <a:r>
              <a:rPr lang="en-US" spc="-14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especially </a:t>
            </a:r>
            <a:r>
              <a:rPr lang="en-US" spc="-54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29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pc="-14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determining</a:t>
            </a:r>
            <a:r>
              <a:rPr lang="en-US" spc="-14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</a:t>
            </a:r>
            <a:r>
              <a:rPr lang="en-US" spc="-1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1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pc="-1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7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1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114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pc="-1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pc="-1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7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</a:t>
            </a:r>
            <a:r>
              <a:rPr lang="en-US" spc="-16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  <a:r>
              <a:rPr lang="en-US" spc="-18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proximately</a:t>
            </a:r>
            <a:r>
              <a:rPr lang="en-US" spc="-14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pc="-2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pc="-1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rmally</a:t>
            </a:r>
          </a:p>
          <a:p>
            <a:pPr marL="539115" indent="-51879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538480" algn="l"/>
                <a:tab pos="539115" algn="l"/>
              </a:tabLst>
            </a:pPr>
            <a:r>
              <a:rPr lang="en-US" spc="-2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pc="-1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9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US" spc="-11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pc="-1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11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pc="-1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pc="-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1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7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supplier’s</a:t>
            </a:r>
            <a:r>
              <a:rPr lang="en-US" spc="-14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pc="-1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9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looks</a:t>
            </a:r>
            <a:r>
              <a:rPr lang="en-US" spc="-1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</a:p>
          <a:p>
            <a:pPr marL="539115" marR="53340" indent="-51879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538480" algn="l"/>
                <a:tab pos="539115" algn="l"/>
              </a:tabLst>
            </a:pPr>
            <a:r>
              <a:rPr lang="en-US" spc="-2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pc="-1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9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seeing</a:t>
            </a:r>
            <a:r>
              <a:rPr lang="en-US" spc="-11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whether</a:t>
            </a:r>
            <a:r>
              <a:rPr lang="en-US" spc="-1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1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pc="-1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en-US" spc="-1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spc="-1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9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occurred</a:t>
            </a:r>
            <a:r>
              <a:rPr lang="en-US" spc="-1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pc="-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US" spc="-1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spc="-54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period</a:t>
            </a:r>
            <a:r>
              <a:rPr lang="en-US" spc="-1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7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10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pc="-2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pc="-1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2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pc="-17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</a:p>
          <a:p>
            <a:pPr marL="530860" marR="362585" indent="-51879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530860" algn="l"/>
                <a:tab pos="531495" algn="l"/>
              </a:tabLst>
            </a:pPr>
            <a:r>
              <a:rPr lang="en-US" spc="-2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pc="-1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9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</a:t>
            </a:r>
            <a:r>
              <a:rPr lang="en-US" spc="-1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whether</a:t>
            </a:r>
            <a:r>
              <a:rPr lang="en-US" spc="-1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1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lang="en-US" spc="-13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7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10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pc="-1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8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pc="-11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spc="-11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</a:t>
            </a:r>
            <a:r>
              <a:rPr lang="en-US" spc="-54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7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pc="-10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en-US" spc="-11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pc="-17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ferent</a:t>
            </a:r>
          </a:p>
          <a:p>
            <a:pPr marL="530860" marR="560705" indent="-51879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530860" algn="l"/>
                <a:tab pos="531495" algn="l"/>
              </a:tabLst>
            </a:pPr>
            <a:r>
              <a:rPr lang="en-US" spc="-2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pc="-24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n-US" spc="-2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wish </a:t>
            </a:r>
            <a:r>
              <a:rPr lang="en-US" spc="-17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pc="-2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</a:t>
            </a:r>
            <a:r>
              <a:rPr lang="en-US" spc="-18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pc="-16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</a:t>
            </a:r>
            <a:r>
              <a:rPr lang="en-US" spc="-17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pc="-18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pc="-18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quickly </a:t>
            </a:r>
            <a:r>
              <a:rPr lang="en-US" spc="-5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pc="-2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pc="-1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</a:t>
            </a:r>
            <a:r>
              <a:rPr lang="en-US" spc="-1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pc="-10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pc="-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pc="-11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7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10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pc="-11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19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hers</a:t>
            </a:r>
            <a:endParaRPr lang="en-US" spc="-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42612" y="609600"/>
            <a:ext cx="1231392" cy="147827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04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1141412" y="838200"/>
            <a:ext cx="3783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Example</a:t>
            </a:r>
            <a:r>
              <a:rPr sz="2800" b="1" spc="5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of</a:t>
            </a:r>
            <a:r>
              <a:rPr sz="2800" b="1" spc="5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Histogram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8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2212" y="2133600"/>
            <a:ext cx="4038600" cy="3468843"/>
          </a:xfrm>
          <a:prstGeom prst="rect">
            <a:avLst/>
          </a:prstGeom>
        </p:spPr>
      </p:pic>
      <p:pic>
        <p:nvPicPr>
          <p:cNvPr id="9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61612" y="838200"/>
            <a:ext cx="1231392" cy="147827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74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760412" y="762000"/>
            <a:ext cx="4846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0" dirty="0">
                <a:solidFill>
                  <a:srgbClr val="990033"/>
                </a:solidFill>
                <a:latin typeface="Arial"/>
                <a:cs typeface="Arial"/>
              </a:rPr>
              <a:t>Typical</a:t>
            </a:r>
            <a:r>
              <a:rPr sz="2800" b="1" spc="55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shapes</a:t>
            </a:r>
            <a:r>
              <a:rPr sz="2800" b="1" spc="20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of</a:t>
            </a:r>
            <a:r>
              <a:rPr sz="2800" b="1" spc="10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Histogram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3" name="object 4"/>
          <p:cNvGrpSpPr/>
          <p:nvPr/>
        </p:nvGrpSpPr>
        <p:grpSpPr>
          <a:xfrm>
            <a:off x="1217612" y="1752600"/>
            <a:ext cx="5220970" cy="1591310"/>
            <a:chOff x="191007" y="2112264"/>
            <a:chExt cx="5220970" cy="1591310"/>
          </a:xfrm>
        </p:grpSpPr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007" y="2122932"/>
              <a:ext cx="2469896" cy="1513973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3284" y="2112264"/>
              <a:ext cx="2758440" cy="1591056"/>
            </a:xfrm>
            <a:prstGeom prst="rect">
              <a:avLst/>
            </a:prstGeom>
          </p:spPr>
        </p:pic>
      </p:grpSp>
      <p:pic>
        <p:nvPicPr>
          <p:cNvPr id="6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27980" y="1803691"/>
            <a:ext cx="3553255" cy="1488874"/>
          </a:xfrm>
          <a:prstGeom prst="rect">
            <a:avLst/>
          </a:prstGeom>
        </p:spPr>
      </p:pic>
      <p:pic>
        <p:nvPicPr>
          <p:cNvPr id="7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47640" y="4212321"/>
            <a:ext cx="2247201" cy="1477397"/>
          </a:xfrm>
          <a:prstGeom prst="rect">
            <a:avLst/>
          </a:prstGeom>
        </p:spPr>
      </p:pic>
      <p:pic>
        <p:nvPicPr>
          <p:cNvPr id="8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70612" y="4074384"/>
            <a:ext cx="2638736" cy="1615334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480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5438" y="623667"/>
            <a:ext cx="9398069" cy="5203348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marL="12700">
              <a:spcBef>
                <a:spcPts val="1675"/>
              </a:spcBef>
            </a:pP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Control</a:t>
            </a:r>
            <a:r>
              <a:rPr sz="2800" b="1" spc="5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Arial"/>
                <a:cs typeface="Arial"/>
              </a:rPr>
              <a:t>Charts</a:t>
            </a:r>
            <a:endParaRPr sz="2800" dirty="0">
              <a:latin typeface="Arial"/>
              <a:cs typeface="Arial"/>
            </a:endParaRPr>
          </a:p>
          <a:p>
            <a:pPr marL="44450">
              <a:spcBef>
                <a:spcPts val="1360"/>
              </a:spcBef>
            </a:pPr>
            <a:r>
              <a:rPr sz="2400" b="1" dirty="0">
                <a:solidFill>
                  <a:srgbClr val="375F92"/>
                </a:solidFill>
                <a:latin typeface="Calibri"/>
                <a:cs typeface="Calibri"/>
              </a:rPr>
              <a:t>A </a:t>
            </a:r>
            <a:r>
              <a:rPr sz="2400" b="1" spc="-10" dirty="0">
                <a:solidFill>
                  <a:srgbClr val="375F92"/>
                </a:solidFill>
                <a:latin typeface="Calibri"/>
                <a:cs typeface="Calibri"/>
              </a:rPr>
              <a:t>graphical</a:t>
            </a:r>
            <a:r>
              <a:rPr sz="2400" b="1" spc="-20" dirty="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2400" b="1" spc="-5" dirty="0" smtClean="0">
                <a:solidFill>
                  <a:srgbClr val="375F92"/>
                </a:solidFill>
                <a:latin typeface="Calibri"/>
                <a:cs typeface="Calibri"/>
              </a:rPr>
              <a:t>technique</a:t>
            </a:r>
            <a:r>
              <a:rPr sz="2400" b="1" spc="10" dirty="0" smtClean="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2400" b="1" spc="-15" dirty="0" smtClean="0">
                <a:solidFill>
                  <a:srgbClr val="375F92"/>
                </a:solidFill>
                <a:latin typeface="Calibri"/>
                <a:cs typeface="Calibri"/>
              </a:rPr>
              <a:t>to</a:t>
            </a:r>
            <a:r>
              <a:rPr sz="2400" b="1" dirty="0" smtClean="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2400" b="1" spc="-5" dirty="0" smtClean="0">
                <a:solidFill>
                  <a:srgbClr val="375F92"/>
                </a:solidFill>
                <a:latin typeface="Calibri"/>
                <a:cs typeface="Calibri"/>
              </a:rPr>
              <a:t>study</a:t>
            </a:r>
            <a:r>
              <a:rPr sz="2400" b="1" spc="15" dirty="0" smtClean="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2400" b="1" dirty="0" smtClean="0">
                <a:solidFill>
                  <a:srgbClr val="375F92"/>
                </a:solidFill>
                <a:latin typeface="Calibri"/>
                <a:cs typeface="Calibri"/>
              </a:rPr>
              <a:t>the</a:t>
            </a:r>
            <a:r>
              <a:rPr sz="2400" b="1" spc="5" dirty="0" smtClean="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2400" b="1" spc="-10" dirty="0" smtClean="0">
                <a:solidFill>
                  <a:srgbClr val="375F92"/>
                </a:solidFill>
                <a:latin typeface="Calibri"/>
                <a:cs typeface="Calibri"/>
              </a:rPr>
              <a:t>changes </a:t>
            </a:r>
            <a:r>
              <a:rPr sz="2400" b="1" spc="-15" dirty="0" smtClean="0">
                <a:solidFill>
                  <a:srgbClr val="375F92"/>
                </a:solidFill>
                <a:latin typeface="Calibri"/>
                <a:cs typeface="Calibri"/>
              </a:rPr>
              <a:t>to</a:t>
            </a:r>
            <a:r>
              <a:rPr sz="2400" b="1" dirty="0" smtClean="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75F92"/>
                </a:solidFill>
                <a:latin typeface="Calibri"/>
                <a:cs typeface="Calibri"/>
              </a:rPr>
              <a:t>a</a:t>
            </a:r>
            <a:r>
              <a:rPr sz="2400" b="1" spc="5" dirty="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75F92"/>
                </a:solidFill>
                <a:latin typeface="Calibri"/>
                <a:cs typeface="Calibri"/>
              </a:rPr>
              <a:t>process</a:t>
            </a:r>
            <a:endParaRPr sz="2400" dirty="0">
              <a:latin typeface="Calibri"/>
              <a:cs typeface="Calibri"/>
            </a:endParaRPr>
          </a:p>
          <a:p>
            <a:pPr marL="44450">
              <a:spcBef>
                <a:spcPts val="5"/>
              </a:spcBef>
            </a:pPr>
            <a:r>
              <a:rPr sz="2400" b="1" spc="-10" dirty="0">
                <a:solidFill>
                  <a:srgbClr val="375F92"/>
                </a:solidFill>
                <a:latin typeface="Calibri"/>
                <a:cs typeface="Calibri"/>
              </a:rPr>
              <a:t>over</a:t>
            </a:r>
            <a:r>
              <a:rPr sz="2400" b="1" spc="-50" dirty="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75F92"/>
                </a:solidFill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44450">
              <a:spcBef>
                <a:spcPts val="1535"/>
              </a:spcBef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When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to</a:t>
            </a:r>
            <a:r>
              <a:rPr sz="2400" b="1" spc="-5" dirty="0">
                <a:solidFill>
                  <a:srgbClr val="006600"/>
                </a:solidFill>
                <a:latin typeface="Arial"/>
                <a:cs typeface="Arial"/>
              </a:rPr>
              <a:t> Use</a:t>
            </a:r>
            <a:r>
              <a:rPr sz="2400" b="1" spc="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6600"/>
                </a:solidFill>
                <a:latin typeface="Arial"/>
                <a:cs typeface="Arial"/>
              </a:rPr>
              <a:t>a Control Chart</a:t>
            </a:r>
            <a:endParaRPr sz="2400" dirty="0">
              <a:latin typeface="Arial"/>
              <a:cs typeface="Arial"/>
            </a:endParaRPr>
          </a:p>
          <a:p>
            <a:pPr marL="584835" marR="541020" indent="-518795">
              <a:spcBef>
                <a:spcPts val="1265"/>
              </a:spcBef>
              <a:buFont typeface="Wingdings"/>
              <a:buChar char=""/>
              <a:tabLst>
                <a:tab pos="584835" algn="l"/>
                <a:tab pos="585470" algn="l"/>
              </a:tabLst>
            </a:pPr>
            <a:r>
              <a:rPr sz="2000" b="1" spc="-245" dirty="0">
                <a:latin typeface="Arial"/>
                <a:cs typeface="Arial"/>
              </a:rPr>
              <a:t>When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controlling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spc="-204" dirty="0">
                <a:latin typeface="Arial"/>
                <a:cs typeface="Arial"/>
              </a:rPr>
              <a:t>ongoing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spc="-200" dirty="0">
                <a:latin typeface="Arial"/>
                <a:cs typeface="Arial"/>
              </a:rPr>
              <a:t>processes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210" dirty="0">
                <a:latin typeface="Arial"/>
                <a:cs typeface="Arial"/>
              </a:rPr>
              <a:t>by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finding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spc="-215" dirty="0">
                <a:latin typeface="Arial"/>
                <a:cs typeface="Arial"/>
              </a:rPr>
              <a:t>and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180" dirty="0">
                <a:latin typeface="Arial"/>
                <a:cs typeface="Arial"/>
              </a:rPr>
              <a:t>correcting </a:t>
            </a:r>
            <a:r>
              <a:rPr sz="2000" b="1" spc="-540" dirty="0">
                <a:latin typeface="Arial"/>
                <a:cs typeface="Arial"/>
              </a:rPr>
              <a:t> </a:t>
            </a:r>
            <a:r>
              <a:rPr sz="2000" b="1" spc="-195" dirty="0">
                <a:latin typeface="Arial"/>
                <a:cs typeface="Arial"/>
              </a:rPr>
              <a:t>pro</a:t>
            </a:r>
            <a:r>
              <a:rPr sz="2000" b="1" spc="-215" dirty="0">
                <a:latin typeface="Arial"/>
                <a:cs typeface="Arial"/>
              </a:rPr>
              <a:t>b</a:t>
            </a:r>
            <a:r>
              <a:rPr sz="2000" b="1" spc="-210" dirty="0">
                <a:latin typeface="Arial"/>
                <a:cs typeface="Arial"/>
              </a:rPr>
              <a:t>lem</a:t>
            </a:r>
            <a:r>
              <a:rPr sz="2000" b="1" spc="-200" dirty="0">
                <a:latin typeface="Arial"/>
                <a:cs typeface="Arial"/>
              </a:rPr>
              <a:t>s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spc="-204" dirty="0">
                <a:latin typeface="Arial"/>
                <a:cs typeface="Arial"/>
              </a:rPr>
              <a:t>a</a:t>
            </a:r>
            <a:r>
              <a:rPr sz="2000" b="1" spc="-200" dirty="0">
                <a:latin typeface="Arial"/>
                <a:cs typeface="Arial"/>
              </a:rPr>
              <a:t>s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-185" dirty="0">
                <a:latin typeface="Arial"/>
                <a:cs typeface="Arial"/>
              </a:rPr>
              <a:t>they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195" dirty="0">
                <a:latin typeface="Arial"/>
                <a:cs typeface="Arial"/>
              </a:rPr>
              <a:t>occur</a:t>
            </a:r>
            <a:endParaRPr sz="2000" dirty="0">
              <a:latin typeface="Arial"/>
              <a:cs typeface="Arial"/>
            </a:endParaRPr>
          </a:p>
          <a:p>
            <a:pPr marL="593090" indent="-519430">
              <a:spcBef>
                <a:spcPts val="790"/>
              </a:spcBef>
              <a:buFont typeface="Wingdings"/>
              <a:buChar char=""/>
              <a:tabLst>
                <a:tab pos="593090" algn="l"/>
                <a:tab pos="593725" algn="l"/>
              </a:tabLst>
            </a:pPr>
            <a:r>
              <a:rPr sz="2000" b="1" spc="-245" dirty="0">
                <a:solidFill>
                  <a:srgbClr val="974707"/>
                </a:solidFill>
                <a:latin typeface="Arial"/>
                <a:cs typeface="Arial"/>
              </a:rPr>
              <a:t>When</a:t>
            </a:r>
            <a:r>
              <a:rPr sz="2000" b="1" spc="-125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2000" b="1" spc="-175" dirty="0">
                <a:solidFill>
                  <a:srgbClr val="974707"/>
                </a:solidFill>
                <a:latin typeface="Arial"/>
                <a:cs typeface="Arial"/>
              </a:rPr>
              <a:t>predicting</a:t>
            </a:r>
            <a:r>
              <a:rPr sz="2000" b="1" spc="-145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974707"/>
                </a:solidFill>
                <a:latin typeface="Arial"/>
                <a:cs typeface="Arial"/>
              </a:rPr>
              <a:t>the</a:t>
            </a:r>
            <a:r>
              <a:rPr sz="2000" b="1" spc="-110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974707"/>
                </a:solidFill>
                <a:latin typeface="Arial"/>
                <a:cs typeface="Arial"/>
              </a:rPr>
              <a:t>expected</a:t>
            </a:r>
            <a:r>
              <a:rPr sz="2000" b="1" spc="-125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2000" b="1" spc="-195" dirty="0">
                <a:solidFill>
                  <a:srgbClr val="974707"/>
                </a:solidFill>
                <a:latin typeface="Arial"/>
                <a:cs typeface="Arial"/>
              </a:rPr>
              <a:t>range</a:t>
            </a:r>
            <a:r>
              <a:rPr sz="2000" b="1" spc="-110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2000" b="1" spc="-170" dirty="0">
                <a:solidFill>
                  <a:srgbClr val="974707"/>
                </a:solidFill>
                <a:latin typeface="Arial"/>
                <a:cs typeface="Arial"/>
              </a:rPr>
              <a:t>of</a:t>
            </a:r>
            <a:r>
              <a:rPr sz="2000" b="1" spc="-120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2000" b="1" spc="-210" dirty="0">
                <a:solidFill>
                  <a:srgbClr val="974707"/>
                </a:solidFill>
                <a:latin typeface="Arial"/>
                <a:cs typeface="Arial"/>
              </a:rPr>
              <a:t>outcomes</a:t>
            </a:r>
            <a:r>
              <a:rPr sz="2000" b="1" spc="-125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974707"/>
                </a:solidFill>
                <a:latin typeface="Arial"/>
                <a:cs typeface="Arial"/>
              </a:rPr>
              <a:t>from</a:t>
            </a:r>
            <a:r>
              <a:rPr sz="2000" b="1" spc="-114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974707"/>
                </a:solidFill>
                <a:latin typeface="Arial"/>
                <a:cs typeface="Arial"/>
              </a:rPr>
              <a:t>a</a:t>
            </a:r>
            <a:r>
              <a:rPr sz="2000" b="1" spc="-100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974707"/>
                </a:solidFill>
                <a:latin typeface="Arial"/>
                <a:cs typeface="Arial"/>
              </a:rPr>
              <a:t>process</a:t>
            </a:r>
            <a:endParaRPr sz="2000" dirty="0">
              <a:latin typeface="Arial"/>
              <a:cs typeface="Arial"/>
            </a:endParaRPr>
          </a:p>
          <a:p>
            <a:pPr marL="585470" indent="-518795">
              <a:spcBef>
                <a:spcPts val="930"/>
              </a:spcBef>
              <a:buFont typeface="Wingdings"/>
              <a:buChar char=""/>
              <a:tabLst>
                <a:tab pos="584835" algn="l"/>
                <a:tab pos="585470" algn="l"/>
              </a:tabLst>
            </a:pPr>
            <a:r>
              <a:rPr sz="2000" b="1" spc="-245" dirty="0">
                <a:latin typeface="Arial"/>
                <a:cs typeface="Arial"/>
              </a:rPr>
              <a:t>When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190" dirty="0">
                <a:latin typeface="Arial"/>
                <a:cs typeface="Arial"/>
              </a:rPr>
              <a:t>determining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spc="-200" dirty="0">
                <a:latin typeface="Arial"/>
                <a:cs typeface="Arial"/>
              </a:rPr>
              <a:t>whether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200" dirty="0">
                <a:latin typeface="Arial"/>
                <a:cs typeface="Arial"/>
              </a:rPr>
              <a:t>a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200" dirty="0">
                <a:latin typeface="Arial"/>
                <a:cs typeface="Arial"/>
              </a:rPr>
              <a:t>process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155" dirty="0">
                <a:latin typeface="Arial"/>
                <a:cs typeface="Arial"/>
              </a:rPr>
              <a:t>is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180" dirty="0">
                <a:latin typeface="Arial"/>
                <a:cs typeface="Arial"/>
              </a:rPr>
              <a:t>stable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150" dirty="0">
                <a:latin typeface="Arial"/>
                <a:cs typeface="Arial"/>
              </a:rPr>
              <a:t>(in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155" dirty="0">
                <a:latin typeface="Arial"/>
                <a:cs typeface="Arial"/>
              </a:rPr>
              <a:t>statistical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control)</a:t>
            </a:r>
            <a:endParaRPr sz="2000" dirty="0">
              <a:latin typeface="Arial"/>
              <a:cs typeface="Arial"/>
            </a:endParaRPr>
          </a:p>
          <a:p>
            <a:pPr marL="585470" indent="-518795">
              <a:spcBef>
                <a:spcPts val="885"/>
              </a:spcBef>
              <a:buFont typeface="Wingdings"/>
              <a:buChar char=""/>
              <a:tabLst>
                <a:tab pos="584835" algn="l"/>
                <a:tab pos="585470" algn="l"/>
              </a:tabLst>
            </a:pPr>
            <a:r>
              <a:rPr sz="2000" b="1" spc="-245" dirty="0">
                <a:latin typeface="Arial"/>
                <a:cs typeface="Arial"/>
              </a:rPr>
              <a:t>When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spc="-185" dirty="0">
                <a:latin typeface="Arial"/>
                <a:cs typeface="Arial"/>
              </a:rPr>
              <a:t>analyzing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180" dirty="0">
                <a:latin typeface="Arial"/>
                <a:cs typeface="Arial"/>
              </a:rPr>
              <a:t>patterns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of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200" dirty="0">
                <a:latin typeface="Arial"/>
                <a:cs typeface="Arial"/>
              </a:rPr>
              <a:t>process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variation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spc="-200" dirty="0">
                <a:latin typeface="Arial"/>
                <a:cs typeface="Arial"/>
              </a:rPr>
              <a:t>from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180" dirty="0">
                <a:latin typeface="Arial"/>
                <a:cs typeface="Arial"/>
              </a:rPr>
              <a:t>special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210" dirty="0">
                <a:latin typeface="Arial"/>
                <a:cs typeface="Arial"/>
              </a:rPr>
              <a:t>causes</a:t>
            </a:r>
            <a:endParaRPr sz="2000" dirty="0">
              <a:latin typeface="Arial"/>
              <a:cs typeface="Arial"/>
            </a:endParaRPr>
          </a:p>
          <a:p>
            <a:pPr marL="584835">
              <a:spcBef>
                <a:spcPts val="5"/>
              </a:spcBef>
            </a:pPr>
            <a:r>
              <a:rPr sz="2000" b="1" spc="-175" dirty="0">
                <a:latin typeface="Arial"/>
                <a:cs typeface="Arial"/>
              </a:rPr>
              <a:t>(non-routine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spc="-185" dirty="0">
                <a:latin typeface="Arial"/>
                <a:cs typeface="Arial"/>
              </a:rPr>
              <a:t>events)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180" dirty="0">
                <a:latin typeface="Arial"/>
                <a:cs typeface="Arial"/>
              </a:rPr>
              <a:t>or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250" dirty="0">
                <a:latin typeface="Arial"/>
                <a:cs typeface="Arial"/>
              </a:rPr>
              <a:t>common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210" dirty="0">
                <a:latin typeface="Arial"/>
                <a:cs typeface="Arial"/>
              </a:rPr>
              <a:t>causes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145" dirty="0">
                <a:latin typeface="Arial"/>
                <a:cs typeface="Arial"/>
              </a:rPr>
              <a:t>(built </a:t>
            </a:r>
            <a:r>
              <a:rPr sz="2000" b="1" spc="-165" dirty="0">
                <a:latin typeface="Arial"/>
                <a:cs typeface="Arial"/>
              </a:rPr>
              <a:t>into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180" dirty="0">
                <a:latin typeface="Arial"/>
                <a:cs typeface="Arial"/>
              </a:rPr>
              <a:t>the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190" dirty="0">
                <a:latin typeface="Arial"/>
                <a:cs typeface="Arial"/>
              </a:rPr>
              <a:t>process)</a:t>
            </a:r>
            <a:endParaRPr sz="2000" dirty="0">
              <a:latin typeface="Arial"/>
              <a:cs typeface="Arial"/>
            </a:endParaRPr>
          </a:p>
          <a:p>
            <a:pPr marL="593090" marR="352425" indent="-518795">
              <a:spcBef>
                <a:spcPts val="865"/>
              </a:spcBef>
              <a:buFont typeface="Wingdings"/>
              <a:buChar char=""/>
              <a:tabLst>
                <a:tab pos="593090" algn="l"/>
                <a:tab pos="593725" algn="l"/>
              </a:tabLst>
            </a:pPr>
            <a:r>
              <a:rPr sz="2000" b="1" spc="-245" dirty="0">
                <a:latin typeface="Arial"/>
                <a:cs typeface="Arial"/>
              </a:rPr>
              <a:t>When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spc="-185" dirty="0">
                <a:latin typeface="Arial"/>
                <a:cs typeface="Arial"/>
              </a:rPr>
              <a:t>determining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spc="-200" dirty="0">
                <a:latin typeface="Arial"/>
                <a:cs typeface="Arial"/>
              </a:rPr>
              <a:t>whether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spc="-200" dirty="0">
                <a:latin typeface="Arial"/>
                <a:cs typeface="Arial"/>
              </a:rPr>
              <a:t>your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165" dirty="0">
                <a:latin typeface="Arial"/>
                <a:cs typeface="Arial"/>
              </a:rPr>
              <a:t>quality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spc="-210" dirty="0">
                <a:latin typeface="Arial"/>
                <a:cs typeface="Arial"/>
              </a:rPr>
              <a:t>improvement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project 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spc="-200" dirty="0">
                <a:latin typeface="Arial"/>
                <a:cs typeface="Arial"/>
              </a:rPr>
              <a:t>should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spc="-210" dirty="0">
                <a:latin typeface="Arial"/>
                <a:cs typeface="Arial"/>
              </a:rPr>
              <a:t>aim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to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-185" dirty="0">
                <a:latin typeface="Arial"/>
                <a:cs typeface="Arial"/>
              </a:rPr>
              <a:t>prevent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175" dirty="0">
                <a:latin typeface="Arial"/>
                <a:cs typeface="Arial"/>
              </a:rPr>
              <a:t>specific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204" dirty="0">
                <a:latin typeface="Arial"/>
                <a:cs typeface="Arial"/>
              </a:rPr>
              <a:t>problems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spc="-180" dirty="0">
                <a:latin typeface="Arial"/>
                <a:cs typeface="Arial"/>
              </a:rPr>
              <a:t>or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to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229" dirty="0">
                <a:latin typeface="Arial"/>
                <a:cs typeface="Arial"/>
              </a:rPr>
              <a:t>make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195" dirty="0">
                <a:latin typeface="Arial"/>
                <a:cs typeface="Arial"/>
              </a:rPr>
              <a:t>fundamental </a:t>
            </a:r>
            <a:r>
              <a:rPr sz="2000" b="1" spc="-540" dirty="0">
                <a:latin typeface="Arial"/>
                <a:cs typeface="Arial"/>
              </a:rPr>
              <a:t> </a:t>
            </a:r>
            <a:r>
              <a:rPr sz="2000" b="1" spc="-215" dirty="0">
                <a:latin typeface="Arial"/>
                <a:cs typeface="Arial"/>
              </a:rPr>
              <a:t>chang</a:t>
            </a:r>
            <a:r>
              <a:rPr sz="2000" b="1" spc="-204" dirty="0">
                <a:latin typeface="Arial"/>
                <a:cs typeface="Arial"/>
              </a:rPr>
              <a:t>e</a:t>
            </a:r>
            <a:r>
              <a:rPr sz="2000" b="1" spc="-200" dirty="0">
                <a:latin typeface="Arial"/>
                <a:cs typeface="Arial"/>
              </a:rPr>
              <a:t>s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to</a:t>
            </a:r>
            <a:r>
              <a:rPr sz="2000" b="1" spc="-120" dirty="0">
                <a:latin typeface="Arial"/>
                <a:cs typeface="Arial"/>
              </a:rPr>
              <a:t> t</a:t>
            </a:r>
            <a:r>
              <a:rPr sz="2000" b="1" spc="-215" dirty="0">
                <a:latin typeface="Arial"/>
                <a:cs typeface="Arial"/>
              </a:rPr>
              <a:t>h</a:t>
            </a:r>
            <a:r>
              <a:rPr sz="2000" b="1" spc="-200" dirty="0">
                <a:latin typeface="Arial"/>
                <a:cs typeface="Arial"/>
              </a:rPr>
              <a:t>e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200" dirty="0">
                <a:latin typeface="Arial"/>
                <a:cs typeface="Arial"/>
              </a:rPr>
              <a:t>process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3508" y="623667"/>
            <a:ext cx="1600200" cy="1600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923970" y="6464681"/>
            <a:ext cx="23177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23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399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2012" y="1447800"/>
            <a:ext cx="7239000" cy="45608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6612" y="533400"/>
            <a:ext cx="373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1675"/>
              </a:spcBef>
            </a:pPr>
            <a:r>
              <a:rPr lang="en-US" sz="3200" b="1" spc="-5" dirty="0">
                <a:solidFill>
                  <a:srgbClr val="990033"/>
                </a:solidFill>
                <a:latin typeface="Arial"/>
                <a:cs typeface="Arial"/>
              </a:rPr>
              <a:t>Control</a:t>
            </a:r>
            <a:r>
              <a:rPr lang="en-US" sz="3200" b="1" spc="5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lang="en-US" sz="3200" b="1" spc="-5" dirty="0">
                <a:solidFill>
                  <a:srgbClr val="990033"/>
                </a:solidFill>
                <a:latin typeface="Arial"/>
                <a:cs typeface="Arial"/>
              </a:rPr>
              <a:t>Charts</a:t>
            </a:r>
            <a:endParaRPr lang="en-US" sz="32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5412" y="542499"/>
            <a:ext cx="1600200" cy="16002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13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7012" y="457200"/>
            <a:ext cx="11734800" cy="4549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3500" algn="ctr">
              <a:lnSpc>
                <a:spcPct val="100000"/>
              </a:lnSpc>
              <a:spcBef>
                <a:spcPts val="1100"/>
              </a:spcBef>
            </a:pPr>
            <a:r>
              <a:rPr lang="en-US" sz="3600" b="1" spc="-5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en-US" sz="36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spc="-5" dirty="0">
                <a:latin typeface="Arial" panose="020B0604020202020204" pitchFamily="34" charset="0"/>
                <a:cs typeface="Arial" panose="020B0604020202020204" pitchFamily="34" charset="0"/>
              </a:rPr>
              <a:t>Charts</a:t>
            </a:r>
            <a:r>
              <a:rPr lang="en-US" sz="36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spc="-5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spc="-5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5445">
              <a:lnSpc>
                <a:spcPct val="100000"/>
              </a:lnSpc>
              <a:spcBef>
                <a:spcPts val="990"/>
              </a:spcBef>
            </a:pPr>
            <a:r>
              <a:rPr lang="en-US" sz="3200" b="1" spc="-5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X-R</a:t>
            </a:r>
            <a:r>
              <a:rPr lang="en-US" sz="3200" b="1" spc="-4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9740" indent="-11493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460375" algn="l"/>
              </a:tabLst>
            </a:pPr>
            <a:r>
              <a:rPr lang="en-US" sz="2000" b="1" spc="-9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20-25</a:t>
            </a:r>
            <a:r>
              <a:rPr lang="en-US" sz="2000" b="1" spc="-3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samples</a:t>
            </a:r>
            <a:r>
              <a:rPr lang="en-US" sz="2000" b="1" spc="-3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en-US" sz="2000" b="1" spc="-3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taken</a:t>
            </a:r>
            <a:r>
              <a:rPr lang="en-US" sz="2000" b="1" spc="-3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usually</a:t>
            </a:r>
            <a:r>
              <a:rPr lang="en-US" sz="2000" b="1" spc="-4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10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000" b="1" spc="-2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000" b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en-US" sz="2000" b="1" spc="-5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</a:t>
            </a:r>
            <a:r>
              <a:rPr lang="en-US" sz="2000" b="1" spc="-3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4-6</a:t>
            </a:r>
            <a:r>
              <a:rPr lang="en-US" sz="2000" b="1" spc="-4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9740" marR="1030605" indent="-11430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460375" algn="l"/>
              </a:tabLst>
            </a:pPr>
            <a:r>
              <a:rPr lang="en-US" sz="2000" b="1" spc="-5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000" b="1" spc="-1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000" b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samples</a:t>
            </a:r>
            <a:r>
              <a:rPr lang="en-US" sz="2000" b="1" spc="-4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en-US" sz="2000" b="1" spc="-4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taken</a:t>
            </a:r>
            <a:r>
              <a:rPr lang="en-US" sz="2000" b="1" spc="-3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10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000" b="1" spc="-5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1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 </a:t>
            </a:r>
            <a:r>
              <a:rPr lang="en-US" sz="2000" b="1" spc="-9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  <a:r>
              <a:rPr lang="en-US" sz="2000" b="1" spc="-4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en-US" sz="2000" b="1" spc="-3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11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made</a:t>
            </a:r>
            <a:r>
              <a:rPr lang="en-US" sz="2000" b="1" spc="-5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7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sz="2000" b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10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000" b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en-US" sz="2000" b="1" spc="-9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then</a:t>
            </a:r>
            <a:r>
              <a:rPr lang="en-US" sz="2000" b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000" b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r>
              <a:rPr lang="en-US" sz="2000" b="1" spc="-5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estimator</a:t>
            </a:r>
            <a:r>
              <a:rPr lang="en-US" sz="2000" b="1" spc="-3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7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000" b="1" spc="-5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lang="en-US" sz="2000" b="1" spc="-3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11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r>
              <a:rPr lang="en-US" sz="2000" b="1" spc="-4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7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000" b="1" spc="-4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000" b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grand</a:t>
            </a:r>
            <a:r>
              <a:rPr lang="en-US" sz="2000" b="1" spc="-5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974807"/>
              </a:buClr>
              <a:buFont typeface="Arial MT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974807"/>
              </a:buClr>
              <a:buFont typeface="Arial MT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974807"/>
              </a:buClr>
              <a:buFont typeface="Arial MT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74807"/>
              </a:buClr>
              <a:buFont typeface="Arial MT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97840" indent="-114935">
              <a:lnSpc>
                <a:spcPct val="100000"/>
              </a:lnSpc>
              <a:buFont typeface="Arial MT"/>
              <a:buChar char="•"/>
              <a:tabLst>
                <a:tab pos="498475" algn="l"/>
                <a:tab pos="1466215" algn="l"/>
              </a:tabLst>
            </a:pPr>
            <a:r>
              <a:rPr lang="en-US" sz="2000" b="1" spc="-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2000" b="1" spc="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000" b="1" spc="-1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b="1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	</a:t>
            </a:r>
            <a:r>
              <a:rPr lang="en-US" sz="2000" b="1" spc="-1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b="1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en-US" sz="2000" b="1" spc="-4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="1" spc="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000" b="1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b="1" spc="-5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1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</a:t>
            </a:r>
            <a:r>
              <a:rPr lang="en-US" sz="2000" b="1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lang="en-US" sz="2000" b="1" spc="-1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b="1" spc="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2000" b="1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b="1" spc="-3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b="1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="1" spc="-5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b="1" spc="-1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</a:t>
            </a:r>
            <a:r>
              <a:rPr lang="en-US" sz="2000" b="1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000" b="1" spc="-3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1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b="1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en-US" sz="2000" b="1" spc="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="1" spc="-1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000" b="1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3875" marR="66675" indent="-14351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524510" algn="l"/>
              </a:tabLst>
            </a:pPr>
            <a:r>
              <a:rPr lang="en-US" sz="2000" b="1" spc="-5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sz="2000" b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7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x1,</a:t>
            </a:r>
            <a:r>
              <a:rPr lang="en-US" sz="2000" b="1" i="1" spc="-5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6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x2,</a:t>
            </a:r>
            <a:r>
              <a:rPr lang="en-US" sz="2000" b="1" i="1" spc="-3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000" b="1" i="1" spc="-5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000" b="1" i="1" spc="-3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000" b="1" i="1" spc="-5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000" b="1" i="1" spc="-3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85" dirty="0" err="1" smtClean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 b="1" i="1" spc="-85" dirty="0" err="1" smtClean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b="1" i="1" spc="-80" dirty="0" smtClean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7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000" b="1" spc="-3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000" b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  <a:r>
              <a:rPr lang="en-US" sz="2000" b="1" spc="-3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sz="2000" b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10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en-US" sz="2000" b="1" spc="-3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en-US" sz="2000" b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7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n,</a:t>
            </a:r>
            <a:r>
              <a:rPr lang="en-US" sz="2000" b="1" i="1" spc="-5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9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  <a:r>
              <a:rPr lang="en-US" sz="2000" b="1" i="1" spc="-4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000" b="1" i="1" spc="-3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9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en-US" sz="2000" b="1" i="1" spc="-6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7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000" b="1" i="1" spc="-5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000" b="1" i="1" spc="-3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10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en-US" sz="2000" b="1" i="1" spc="-3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7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000" b="1" i="1" spc="-4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b="1" i="1" spc="-8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  <a:r>
              <a:rPr lang="en-US" sz="2000" b="1" i="1" spc="-3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100" dirty="0" smtClean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en-US" sz="2000" b="1" i="1" spc="-30" dirty="0" smtClean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000" b="1" i="1" spc="-5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8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largest</a:t>
            </a:r>
            <a:r>
              <a:rPr lang="en-US" sz="2000" b="1" i="1" spc="-3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spc="-10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000" b="1" i="1" spc="-5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9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smallest</a:t>
            </a:r>
            <a:r>
              <a:rPr lang="en-US" sz="2000" b="1" spc="-3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observations;</a:t>
            </a:r>
            <a:r>
              <a:rPr lang="en-US" sz="2000" b="1" spc="-5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80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en-US" sz="2000" b="1" spc="-3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65" dirty="0">
                <a:solidFill>
                  <a:srgbClr val="974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is,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7012" y="2745830"/>
            <a:ext cx="3429000" cy="1219200"/>
          </a:xfrm>
          <a:prstGeom prst="rect">
            <a:avLst/>
          </a:prstGeom>
        </p:spPr>
      </p:pic>
      <p:pic>
        <p:nvPicPr>
          <p:cNvPr id="7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4812" y="5007164"/>
            <a:ext cx="3124200" cy="976547"/>
          </a:xfrm>
          <a:prstGeom prst="rect">
            <a:avLst/>
          </a:prstGeom>
        </p:spPr>
      </p:pic>
      <p:pic>
        <p:nvPicPr>
          <p:cNvPr id="8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27812" y="5007164"/>
            <a:ext cx="3276600" cy="976547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608012" y="1143000"/>
            <a:ext cx="3810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42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12" y="2209800"/>
            <a:ext cx="5027612" cy="2377440"/>
          </a:xfrm>
          <a:prstGeom prst="rect">
            <a:avLst/>
          </a:prstGeom>
        </p:spPr>
      </p:pic>
      <p:pic>
        <p:nvPicPr>
          <p:cNvPr id="3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6812" y="2209800"/>
            <a:ext cx="5037161" cy="23774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894012" y="453219"/>
            <a:ext cx="6358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63500" algn="ctr">
              <a:lnSpc>
                <a:spcPct val="100000"/>
              </a:lnSpc>
              <a:spcBef>
                <a:spcPts val="1100"/>
              </a:spcBef>
            </a:pPr>
            <a:r>
              <a:rPr lang="en-US" sz="3600" b="1" spc="-5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en-US" sz="36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spc="-5" dirty="0">
                <a:latin typeface="Arial" panose="020B0604020202020204" pitchFamily="34" charset="0"/>
                <a:cs typeface="Arial" panose="020B0604020202020204" pitchFamily="34" charset="0"/>
              </a:rPr>
              <a:t>Charts</a:t>
            </a:r>
            <a:r>
              <a:rPr lang="en-US" sz="36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spc="-5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spc="-5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24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1412" y="152400"/>
            <a:ext cx="6629400" cy="65622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4212" y="2667000"/>
            <a:ext cx="4267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3500" algn="ctr">
              <a:lnSpc>
                <a:spcPct val="100000"/>
              </a:lnSpc>
              <a:spcBef>
                <a:spcPts val="1100"/>
              </a:spcBef>
            </a:pPr>
            <a:r>
              <a:rPr lang="en-US" sz="3600" b="1" spc="-5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en-US" sz="36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spc="-5" dirty="0">
                <a:latin typeface="Arial" panose="020B0604020202020204" pitchFamily="34" charset="0"/>
                <a:cs typeface="Arial" panose="020B0604020202020204" pitchFamily="34" charset="0"/>
              </a:rPr>
              <a:t>Charts</a:t>
            </a:r>
            <a:r>
              <a:rPr lang="en-US" sz="36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55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57580"/>
          <a:stretch/>
        </p:blipFill>
        <p:spPr>
          <a:xfrm>
            <a:off x="1018131" y="1219200"/>
            <a:ext cx="10427591" cy="4800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ctangle 3"/>
          <p:cNvSpPr/>
          <p:nvPr/>
        </p:nvSpPr>
        <p:spPr>
          <a:xfrm>
            <a:off x="989012" y="457200"/>
            <a:ext cx="96706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3500" algn="ctr">
              <a:lnSpc>
                <a:spcPct val="100000"/>
              </a:lnSpc>
              <a:spcBef>
                <a:spcPts val="1100"/>
              </a:spcBef>
            </a:pPr>
            <a:r>
              <a:rPr lang="en-US" sz="3200" b="1" spc="-5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en-US" sz="32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Chart Example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70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12" y="121622"/>
            <a:ext cx="6226397" cy="62619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12" y="195618"/>
            <a:ext cx="6178117" cy="62255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98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732212" y="1828800"/>
            <a:ext cx="4267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3500" algn="ctr">
              <a:lnSpc>
                <a:spcPct val="100000"/>
              </a:lnSpc>
              <a:spcBef>
                <a:spcPts val="1100"/>
              </a:spcBef>
            </a:pPr>
            <a:r>
              <a:rPr lang="en-US" sz="6000" b="1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86170" y="5925266"/>
            <a:ext cx="70756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</a:t>
            </a:r>
            <a:r>
              <a:rPr lang="en-US" sz="16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 and Management</a:t>
            </a:r>
            <a:r>
              <a:rPr lang="en-US" sz="16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sz="1600" spc="-7" baseline="27777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600" spc="67" baseline="27777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edition)</a:t>
            </a:r>
            <a:r>
              <a:rPr lang="en-US"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Ahsan Akhter </a:t>
            </a:r>
            <a:r>
              <a:rPr lang="en-US" sz="1600" spc="1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61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oject planning overview presentatio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98000"/>
              </a:schemeClr>
            </a:duotone>
          </a:blip>
          <a:tile tx="0" ty="0" sx="100000" sy="100000" flip="none" algn="ctr"/>
        </a:blipFill>
      </a:bgFillStyleLst>
    </a:fmtScheme>
  </a:themeElements>
  <a:objectDefaults>
    <a:spDef>
      <a:spPr>
        <a:solidFill>
          <a:schemeClr val="accent1">
            <a:lumMod val="50000"/>
          </a:schemeClr>
        </a:solidFill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accent1">
              <a:lumMod val="20000"/>
              <a:lumOff val="80000"/>
            </a:schemeClr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siness project planning overview presentation.potx" id="{0D6D6775-FC9F-484B-A889-C0FCD86449E3}" vid="{CBE6795F-D548-4056-89FC-5BC618C494F3}"/>
    </a:ext>
  </a:extLst>
</a:theme>
</file>

<file path=ppt/theme/theme2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planning overview presentation</Template>
  <TotalTime>603</TotalTime>
  <Words>973</Words>
  <Application>Microsoft Office PowerPoint</Application>
  <PresentationFormat>Custom</PresentationFormat>
  <Paragraphs>188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 MT</vt:lpstr>
      <vt:lpstr>Calibri</vt:lpstr>
      <vt:lpstr>Courier New</vt:lpstr>
      <vt:lpstr>Times New Roman</vt:lpstr>
      <vt:lpstr>Wingdings</vt:lpstr>
      <vt:lpstr>Project planning overview presentation</vt:lpstr>
      <vt:lpstr>Quality Control &amp; Management</vt:lpstr>
      <vt:lpstr>Introduction</vt:lpstr>
      <vt:lpstr>PowerPoint Presentation</vt:lpstr>
      <vt:lpstr>Consequence of Poor Quality</vt:lpstr>
      <vt:lpstr>Cost of Quality</vt:lpstr>
      <vt:lpstr>Basic Tools of Quality</vt:lpstr>
      <vt:lpstr>Seven Basic Tools of Quality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Control &amp; Management</dc:title>
  <dc:creator>SadMad</dc:creator>
  <cp:lastModifiedBy>SadMad</cp:lastModifiedBy>
  <cp:revision>25</cp:revision>
  <dcterms:created xsi:type="dcterms:W3CDTF">2023-01-22T07:56:41Z</dcterms:created>
  <dcterms:modified xsi:type="dcterms:W3CDTF">2023-02-27T06:10:30Z</dcterms:modified>
</cp:coreProperties>
</file>