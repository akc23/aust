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20"/>
  </p:notesMasterIdLst>
  <p:handoutMasterIdLst>
    <p:handoutMasterId r:id="rId21"/>
  </p:handoutMasterIdLst>
  <p:sldIdLst>
    <p:sldId id="290" r:id="rId2"/>
    <p:sldId id="297" r:id="rId3"/>
    <p:sldId id="258" r:id="rId4"/>
    <p:sldId id="257" r:id="rId5"/>
    <p:sldId id="259" r:id="rId6"/>
    <p:sldId id="260" r:id="rId7"/>
    <p:sldId id="261" r:id="rId8"/>
    <p:sldId id="262" r:id="rId9"/>
    <p:sldId id="263" r:id="rId10"/>
    <p:sldId id="264" r:id="rId11"/>
    <p:sldId id="294" r:id="rId12"/>
    <p:sldId id="268" r:id="rId13"/>
    <p:sldId id="295" r:id="rId14"/>
    <p:sldId id="270" r:id="rId15"/>
    <p:sldId id="271" r:id="rId16"/>
    <p:sldId id="293" r:id="rId17"/>
    <p:sldId id="278" r:id="rId18"/>
    <p:sldId id="29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44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60"/>
  </p:normalViewPr>
  <p:slideViewPr>
    <p:cSldViewPr>
      <p:cViewPr varScale="1">
        <p:scale>
          <a:sx n="66" d="100"/>
          <a:sy n="66" d="100"/>
        </p:scale>
        <p:origin x="142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021661-BDE7-4943-824E-2E06BD28D511}" type="datetimeFigureOut">
              <a:rPr lang="en-US" smtClean="0"/>
              <a:t>12/12/2022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A3AC999-6986-4A87-BBE6-060EE43647A5}" type="slidenum">
              <a:rPr lang="en-US" smtClean="0"/>
              <a:t>‹#›</a:t>
            </a:fld>
            <a:endParaRPr lang="en-US"/>
          </a:p>
        </p:txBody>
      </p:sp>
    </p:spTree>
    <p:extLst>
      <p:ext uri="{BB962C8B-B14F-4D97-AF65-F5344CB8AC3E}">
        <p14:creationId xmlns:p14="http://schemas.microsoft.com/office/powerpoint/2010/main" val="37025013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E8CE31-32D3-452B-ACFB-0363ECFAEDA3}" type="datetimeFigureOut">
              <a:rPr lang="en-US" smtClean="0"/>
              <a:pPr/>
              <a:t>12/12/2022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7DC6A7-2588-4C9C-B8DF-83C3115E020E}" type="slidenum">
              <a:rPr lang="en-US" smtClean="0"/>
              <a:pPr/>
              <a:t>‹#›</a:t>
            </a:fld>
            <a:endParaRPr lang="en-US"/>
          </a:p>
        </p:txBody>
      </p:sp>
    </p:spTree>
    <p:extLst>
      <p:ext uri="{BB962C8B-B14F-4D97-AF65-F5344CB8AC3E}">
        <p14:creationId xmlns:p14="http://schemas.microsoft.com/office/powerpoint/2010/main" val="147531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6D124BE-D684-4BC3-81FF-55203275E421}" type="slidenum">
              <a:rPr lang="en-AU">
                <a:cs typeface="Arial" pitchFamily="34" charset="0"/>
              </a:rPr>
              <a:pPr fontAlgn="base">
                <a:spcBef>
                  <a:spcPct val="0"/>
                </a:spcBef>
                <a:spcAft>
                  <a:spcPct val="0"/>
                </a:spcAft>
              </a:pPr>
              <a:t>3</a:t>
            </a:fld>
            <a:endParaRPr lang="en-AU">
              <a:cs typeface="Arial" pitchFamily="34" charset="0"/>
            </a:endParaRPr>
          </a:p>
        </p:txBody>
      </p:sp>
      <p:sp>
        <p:nvSpPr>
          <p:cNvPr id="1075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75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This slide can be used to frame a discussion of capacity.</a:t>
            </a:r>
          </a:p>
          <a:p>
            <a:pPr>
              <a:spcBef>
                <a:spcPct val="0"/>
              </a:spcBef>
            </a:pPr>
            <a:endParaRPr lang="en-US"/>
          </a:p>
          <a:p>
            <a:pPr>
              <a:spcBef>
                <a:spcPct val="0"/>
              </a:spcBef>
            </a:pPr>
            <a:r>
              <a:rPr lang="en-US"/>
              <a:t>Points to be made might include:</a:t>
            </a:r>
          </a:p>
          <a:p>
            <a:pPr>
              <a:spcBef>
                <a:spcPct val="0"/>
              </a:spcBef>
            </a:pPr>
            <a:r>
              <a:rPr lang="en-US"/>
              <a:t>     - capacity definition and measurement is necessary if we are to develop a production schedule</a:t>
            </a:r>
          </a:p>
          <a:p>
            <a:pPr>
              <a:spcBef>
                <a:spcPct val="0"/>
              </a:spcBef>
            </a:pPr>
            <a:r>
              <a:rPr lang="en-US"/>
              <a:t>     - while a process may have “maximum” capacity, many factors prevent us from achieving that capacity on a continuous basis.</a:t>
            </a:r>
          </a:p>
          <a:p>
            <a:pPr>
              <a:spcBef>
                <a:spcPct val="0"/>
              </a:spcBef>
            </a:pPr>
            <a:endParaRPr lang="en-US"/>
          </a:p>
          <a:p>
            <a:pPr>
              <a:spcBef>
                <a:spcPct val="0"/>
              </a:spcBef>
            </a:pPr>
            <a:r>
              <a:rPr lang="en-US"/>
              <a:t>Students should be asked to suggest factors which might prevent one from achieving maximum capacity.</a:t>
            </a:r>
          </a:p>
        </p:txBody>
      </p:sp>
    </p:spTree>
    <p:extLst>
      <p:ext uri="{BB962C8B-B14F-4D97-AF65-F5344CB8AC3E}">
        <p14:creationId xmlns:p14="http://schemas.microsoft.com/office/powerpoint/2010/main" val="1088004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27EE2C4-3F61-4657-9248-998815B0DE11}" type="slidenum">
              <a:rPr lang="en-AU">
                <a:cs typeface="Arial" pitchFamily="34" charset="0"/>
              </a:rPr>
              <a:pPr fontAlgn="base">
                <a:spcBef>
                  <a:spcPct val="0"/>
                </a:spcBef>
                <a:spcAft>
                  <a:spcPct val="0"/>
                </a:spcAft>
              </a:pPr>
              <a:t>12</a:t>
            </a:fld>
            <a:endParaRPr lang="en-AU">
              <a:cs typeface="Arial" pitchFamily="34" charset="0"/>
            </a:endParaRPr>
          </a:p>
        </p:txBody>
      </p:sp>
      <p:sp>
        <p:nvSpPr>
          <p:cNvPr id="119810" name="Rectangle 2"/>
          <p:cNvSpPr>
            <a:spLocks noGrp="1" noChangeArrowheads="1"/>
          </p:cNvSpPr>
          <p:nvPr>
            <p:ph type="body" idx="1"/>
          </p:nvPr>
        </p:nvSpPr>
        <p:spPr bwMode="auto">
          <a:noFill/>
        </p:spPr>
        <p:txBody>
          <a:bodyPr wrap="square" lIns="90488" tIns="44450" rIns="90488" bIns="44450" numCol="1" anchor="t" anchorCtr="0" compatLnSpc="1">
            <a:prstTxWarp prst="textNoShape">
              <a:avLst/>
            </a:prstTxWarp>
          </a:bodyPr>
          <a:lstStyle/>
          <a:p>
            <a:pPr>
              <a:spcBef>
                <a:spcPct val="0"/>
              </a:spcBef>
            </a:pPr>
            <a:r>
              <a:rPr lang="en-US"/>
              <a:t>It might be useful at this point to discuss typical equipment utilization rates for different process strategies if you have not done so before.</a:t>
            </a:r>
          </a:p>
        </p:txBody>
      </p:sp>
      <p:sp>
        <p:nvSpPr>
          <p:cNvPr id="119811" name="Rectangle 3"/>
          <p:cNvSpPr>
            <a:spLocks noGrp="1" noRot="1" noChangeAspect="1" noChangeArrowheads="1" noTextEdit="1"/>
          </p:cNvSpPr>
          <p:nvPr>
            <p:ph type="sldImg"/>
          </p:nvPr>
        </p:nvSpPr>
        <p:spPr bwMode="auto">
          <a:noFill/>
          <a:ln cap="flat">
            <a:solidFill>
              <a:schemeClr val="tx1"/>
            </a:solidFill>
            <a:miter lim="800000"/>
            <a:headEnd/>
            <a:tailEnd/>
          </a:ln>
        </p:spPr>
      </p:sp>
    </p:spTree>
    <p:extLst>
      <p:ext uri="{BB962C8B-B14F-4D97-AF65-F5344CB8AC3E}">
        <p14:creationId xmlns:p14="http://schemas.microsoft.com/office/powerpoint/2010/main" val="236616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34A69AC-E3E5-42F8-BDB8-A3BE9EA97FFF}" type="slidenum">
              <a:rPr lang="en-AU">
                <a:cs typeface="Arial" pitchFamily="34" charset="0"/>
              </a:rPr>
              <a:pPr fontAlgn="base">
                <a:spcBef>
                  <a:spcPct val="0"/>
                </a:spcBef>
                <a:spcAft>
                  <a:spcPct val="0"/>
                </a:spcAft>
              </a:pPr>
              <a:t>14</a:t>
            </a:fld>
            <a:endParaRPr lang="en-AU">
              <a:cs typeface="Arial" pitchFamily="34" charset="0"/>
            </a:endParaRPr>
          </a:p>
        </p:txBody>
      </p:sp>
      <p:sp>
        <p:nvSpPr>
          <p:cNvPr id="121858" name="Rectangle 2"/>
          <p:cNvSpPr>
            <a:spLocks noGrp="1" noChangeArrowheads="1"/>
          </p:cNvSpPr>
          <p:nvPr>
            <p:ph type="body" idx="1"/>
          </p:nvPr>
        </p:nvSpPr>
        <p:spPr bwMode="auto">
          <a:noFill/>
        </p:spPr>
        <p:txBody>
          <a:bodyPr wrap="square" lIns="90488" tIns="44450" rIns="90488" bIns="44450" numCol="1" anchor="t" anchorCtr="0" compatLnSpc="1">
            <a:prstTxWarp prst="textNoShape">
              <a:avLst/>
            </a:prstTxWarp>
          </a:bodyPr>
          <a:lstStyle/>
          <a:p>
            <a:pPr>
              <a:spcBef>
                <a:spcPct val="0"/>
              </a:spcBef>
            </a:pPr>
            <a:r>
              <a:rPr lang="en-US"/>
              <a:t>It might be useful at this point to discuss typical equipment utilization rates for different process strategies if you have not done so before.</a:t>
            </a:r>
          </a:p>
        </p:txBody>
      </p:sp>
      <p:sp>
        <p:nvSpPr>
          <p:cNvPr id="121859" name="Rectangle 3"/>
          <p:cNvSpPr>
            <a:spLocks noGrp="1" noRot="1" noChangeAspect="1" noChangeArrowheads="1" noTextEdit="1"/>
          </p:cNvSpPr>
          <p:nvPr>
            <p:ph type="sldImg"/>
          </p:nvPr>
        </p:nvSpPr>
        <p:spPr bwMode="auto">
          <a:noFill/>
          <a:ln cap="flat">
            <a:solidFill>
              <a:schemeClr val="tx1"/>
            </a:solidFill>
            <a:miter lim="800000"/>
            <a:headEnd/>
            <a:tailEnd/>
          </a:ln>
        </p:spPr>
      </p:sp>
    </p:spTree>
    <p:extLst>
      <p:ext uri="{BB962C8B-B14F-4D97-AF65-F5344CB8AC3E}">
        <p14:creationId xmlns:p14="http://schemas.microsoft.com/office/powerpoint/2010/main" val="4246569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1971796-0B6A-47F0-A944-0C5A9BE8D593}" type="slidenum">
              <a:rPr lang="en-AU">
                <a:cs typeface="Arial" pitchFamily="34" charset="0"/>
              </a:rPr>
              <a:pPr fontAlgn="base">
                <a:spcBef>
                  <a:spcPct val="0"/>
                </a:spcBef>
                <a:spcAft>
                  <a:spcPct val="0"/>
                </a:spcAft>
              </a:pPr>
              <a:t>15</a:t>
            </a:fld>
            <a:endParaRPr lang="en-AU">
              <a:cs typeface="Arial" pitchFamily="34" charset="0"/>
            </a:endParaRPr>
          </a:p>
        </p:txBody>
      </p:sp>
      <p:sp>
        <p:nvSpPr>
          <p:cNvPr id="123906" name="Rectangle 2"/>
          <p:cNvSpPr>
            <a:spLocks noGrp="1" noChangeArrowheads="1"/>
          </p:cNvSpPr>
          <p:nvPr>
            <p:ph type="body" idx="1"/>
          </p:nvPr>
        </p:nvSpPr>
        <p:spPr bwMode="auto">
          <a:noFill/>
        </p:spPr>
        <p:txBody>
          <a:bodyPr wrap="square" lIns="90488" tIns="44450" rIns="90488" bIns="44450" numCol="1" anchor="t" anchorCtr="0" compatLnSpc="1">
            <a:prstTxWarp prst="textNoShape">
              <a:avLst/>
            </a:prstTxWarp>
          </a:bodyPr>
          <a:lstStyle/>
          <a:p>
            <a:pPr>
              <a:spcBef>
                <a:spcPct val="0"/>
              </a:spcBef>
            </a:pPr>
            <a:r>
              <a:rPr lang="en-US"/>
              <a:t>It might be useful at this point to discuss typical equipment utilization rates for different process strategies if you have not done so before.</a:t>
            </a:r>
          </a:p>
        </p:txBody>
      </p:sp>
      <p:sp>
        <p:nvSpPr>
          <p:cNvPr id="123907" name="Rectangle 3"/>
          <p:cNvSpPr>
            <a:spLocks noGrp="1" noRot="1" noChangeAspect="1" noChangeArrowheads="1" noTextEdit="1"/>
          </p:cNvSpPr>
          <p:nvPr>
            <p:ph type="sldImg"/>
          </p:nvPr>
        </p:nvSpPr>
        <p:spPr bwMode="auto">
          <a:noFill/>
          <a:ln cap="flat">
            <a:solidFill>
              <a:schemeClr val="tx1"/>
            </a:solidFill>
            <a:miter lim="800000"/>
            <a:headEnd/>
            <a:tailEnd/>
          </a:ln>
        </p:spPr>
      </p:sp>
    </p:spTree>
    <p:extLst>
      <p:ext uri="{BB962C8B-B14F-4D97-AF65-F5344CB8AC3E}">
        <p14:creationId xmlns:p14="http://schemas.microsoft.com/office/powerpoint/2010/main" val="3194909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1A642EC-9D5F-4B69-B662-5849E719B7CF}" type="slidenum">
              <a:rPr lang="en-AU">
                <a:cs typeface="Arial" pitchFamily="34" charset="0"/>
              </a:rPr>
              <a:pPr fontAlgn="base">
                <a:spcBef>
                  <a:spcPct val="0"/>
                </a:spcBef>
                <a:spcAft>
                  <a:spcPct val="0"/>
                </a:spcAft>
              </a:pPr>
              <a:t>17</a:t>
            </a:fld>
            <a:endParaRPr lang="en-AU">
              <a:cs typeface="Arial" pitchFamily="34" charset="0"/>
            </a:endParaRPr>
          </a:p>
        </p:txBody>
      </p:sp>
      <p:sp>
        <p:nvSpPr>
          <p:cNvPr id="145410" name="Rectangle 2"/>
          <p:cNvSpPr>
            <a:spLocks noGrp="1" noChangeArrowheads="1"/>
          </p:cNvSpPr>
          <p:nvPr>
            <p:ph type="body" idx="1"/>
          </p:nvPr>
        </p:nvSpPr>
        <p:spPr bwMode="auto">
          <a:noFill/>
        </p:spPr>
        <p:txBody>
          <a:bodyPr wrap="square" lIns="90488" tIns="44450" rIns="90488" bIns="44450" numCol="1" anchor="t" anchorCtr="0" compatLnSpc="1">
            <a:prstTxWarp prst="textNoShape">
              <a:avLst/>
            </a:prstTxWarp>
          </a:bodyPr>
          <a:lstStyle/>
          <a:p>
            <a:pPr>
              <a:spcBef>
                <a:spcPct val="0"/>
              </a:spcBef>
            </a:pPr>
            <a:r>
              <a:rPr lang="en-US"/>
              <a:t>You might point out to students that this slide links capacity to work measurement (standard times).</a:t>
            </a:r>
          </a:p>
        </p:txBody>
      </p:sp>
      <p:sp>
        <p:nvSpPr>
          <p:cNvPr id="145411" name="Rectangle 3"/>
          <p:cNvSpPr>
            <a:spLocks noGrp="1" noRot="1" noChangeAspect="1" noChangeArrowheads="1" noTextEdit="1"/>
          </p:cNvSpPr>
          <p:nvPr>
            <p:ph type="sldImg"/>
          </p:nvPr>
        </p:nvSpPr>
        <p:spPr bwMode="auto">
          <a:noFill/>
          <a:ln cap="flat">
            <a:solidFill>
              <a:schemeClr val="tx1"/>
            </a:solidFill>
            <a:miter lim="800000"/>
            <a:headEnd/>
            <a:tailEnd/>
          </a:ln>
        </p:spPr>
      </p:sp>
    </p:spTree>
    <p:extLst>
      <p:ext uri="{BB962C8B-B14F-4D97-AF65-F5344CB8AC3E}">
        <p14:creationId xmlns:p14="http://schemas.microsoft.com/office/powerpoint/2010/main" val="4087564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12/12/2022</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12/12/2022</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12/12/2022</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1D8BD707-D9CF-40AE-B4C6-C98DA3205C09}" type="datetimeFigureOut">
              <a:rPr lang="en-US" smtClean="0"/>
              <a:pPr/>
              <a:t>12/12/2022</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12/12/2022</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12/12/2022</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xOverObj">
  <p:cSld name="Title and Text over Content">
    <p:spTree>
      <p:nvGrpSpPr>
        <p:cNvPr id="1" name=""/>
        <p:cNvGrpSpPr/>
        <p:nvPr/>
      </p:nvGrpSpPr>
      <p:grpSpPr>
        <a:xfrm>
          <a:off x="0" y="0"/>
          <a:ext cx="0" cy="0"/>
          <a:chOff x="0" y="0"/>
          <a:chExt cx="0" cy="0"/>
        </a:xfrm>
      </p:grpSpPr>
      <p:sp>
        <p:nvSpPr>
          <p:cNvPr id="5" name="TextBox 4"/>
          <p:cNvSpPr txBox="1"/>
          <p:nvPr userDrawn="1"/>
        </p:nvSpPr>
        <p:spPr>
          <a:xfrm>
            <a:off x="7950200" y="6384925"/>
            <a:ext cx="684213" cy="276225"/>
          </a:xfrm>
          <a:prstGeom prst="rect">
            <a:avLst/>
          </a:prstGeom>
          <a:noFill/>
        </p:spPr>
        <p:txBody>
          <a:bodyPr wrap="none">
            <a:spAutoFit/>
          </a:bodyPr>
          <a:lstStyle/>
          <a:p>
            <a:pPr fontAlgn="auto">
              <a:spcBef>
                <a:spcPts val="0"/>
              </a:spcBef>
              <a:spcAft>
                <a:spcPts val="0"/>
              </a:spcAft>
              <a:defRPr/>
            </a:pPr>
            <a:r>
              <a:rPr lang="en-US" sz="1200" dirty="0">
                <a:solidFill>
                  <a:srgbClr val="A6A6A6"/>
                </a:solidFill>
                <a:latin typeface="Arial"/>
                <a:cs typeface="Arial"/>
              </a:rPr>
              <a:t>10 - </a:t>
            </a:r>
            <a:fld id="{7EA3E250-5D6A-41CD-BB4B-7BA9835EC04F}" type="slidenum">
              <a:rPr lang="en-US" sz="1200">
                <a:solidFill>
                  <a:srgbClr val="A6A6A6"/>
                </a:solidFill>
                <a:latin typeface="Arial"/>
                <a:cs typeface="Arial"/>
              </a:rPr>
              <a:pPr fontAlgn="auto">
                <a:spcBef>
                  <a:spcPts val="0"/>
                </a:spcBef>
                <a:spcAft>
                  <a:spcPts val="0"/>
                </a:spcAft>
                <a:defRPr/>
              </a:pPr>
              <a:t>‹#›</a:t>
            </a:fld>
            <a:endParaRPr lang="en-US" sz="1200" dirty="0">
              <a:solidFill>
                <a:srgbClr val="A6A6A6"/>
              </a:solidFill>
              <a:latin typeface="Arial"/>
              <a:cs typeface="Arial"/>
            </a:endParaRPr>
          </a:p>
        </p:txBody>
      </p:sp>
      <p:sp>
        <p:nvSpPr>
          <p:cNvPr id="6" name="TextBox 5"/>
          <p:cNvSpPr txBox="1"/>
          <p:nvPr userDrawn="1"/>
        </p:nvSpPr>
        <p:spPr>
          <a:xfrm>
            <a:off x="457200" y="6384925"/>
            <a:ext cx="2333625" cy="274638"/>
          </a:xfrm>
          <a:prstGeom prst="rect">
            <a:avLst/>
          </a:prstGeom>
          <a:noFill/>
        </p:spPr>
        <p:txBody>
          <a:bodyPr wrap="none">
            <a:spAutoFit/>
          </a:bodyPr>
          <a:lstStyle/>
          <a:p>
            <a:r>
              <a:rPr lang="en-AU" sz="1200">
                <a:solidFill>
                  <a:srgbClr val="A6A6A6"/>
                </a:solidFill>
              </a:rPr>
              <a:t>© 2014 Pearson Education, Inc.</a:t>
            </a:r>
            <a:endParaRPr lang="en-US" sz="1200">
              <a:solidFill>
                <a:srgbClr val="A6A6A6"/>
              </a:solidFill>
            </a:endParaRPr>
          </a:p>
        </p:txBody>
      </p:sp>
      <p:sp>
        <p:nvSpPr>
          <p:cNvPr id="2" name="Title 1"/>
          <p:cNvSpPr>
            <a:spLocks noGrp="1"/>
          </p:cNvSpPr>
          <p:nvPr>
            <p:ph type="title"/>
          </p:nvPr>
        </p:nvSpPr>
        <p:spPr>
          <a:xfrm>
            <a:off x="685800" y="434975"/>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177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40513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type="chartAndTx">
  <p:cSld name="Title, Chart and Text">
    <p:spTree>
      <p:nvGrpSpPr>
        <p:cNvPr id="1" name=""/>
        <p:cNvGrpSpPr/>
        <p:nvPr/>
      </p:nvGrpSpPr>
      <p:grpSpPr>
        <a:xfrm>
          <a:off x="0" y="0"/>
          <a:ext cx="0" cy="0"/>
          <a:chOff x="0" y="0"/>
          <a:chExt cx="0" cy="0"/>
        </a:xfrm>
      </p:grpSpPr>
      <p:sp>
        <p:nvSpPr>
          <p:cNvPr id="5" name="TextBox 4"/>
          <p:cNvSpPr txBox="1"/>
          <p:nvPr userDrawn="1"/>
        </p:nvSpPr>
        <p:spPr>
          <a:xfrm>
            <a:off x="7950200" y="6384925"/>
            <a:ext cx="684213" cy="276225"/>
          </a:xfrm>
          <a:prstGeom prst="rect">
            <a:avLst/>
          </a:prstGeom>
          <a:noFill/>
        </p:spPr>
        <p:txBody>
          <a:bodyPr wrap="none">
            <a:spAutoFit/>
          </a:bodyPr>
          <a:lstStyle/>
          <a:p>
            <a:pPr fontAlgn="auto">
              <a:spcBef>
                <a:spcPts val="0"/>
              </a:spcBef>
              <a:spcAft>
                <a:spcPts val="0"/>
              </a:spcAft>
              <a:defRPr/>
            </a:pPr>
            <a:r>
              <a:rPr lang="en-US" sz="1200" dirty="0">
                <a:solidFill>
                  <a:srgbClr val="A6A6A6"/>
                </a:solidFill>
                <a:latin typeface="Arial"/>
                <a:cs typeface="Arial"/>
              </a:rPr>
              <a:t>10 - </a:t>
            </a:r>
            <a:fld id="{B9BF65D3-AB36-469A-9D4D-6A55BD0D9177}" type="slidenum">
              <a:rPr lang="en-US" sz="1200">
                <a:solidFill>
                  <a:srgbClr val="A6A6A6"/>
                </a:solidFill>
                <a:latin typeface="Arial"/>
                <a:cs typeface="Arial"/>
              </a:rPr>
              <a:pPr fontAlgn="auto">
                <a:spcBef>
                  <a:spcPts val="0"/>
                </a:spcBef>
                <a:spcAft>
                  <a:spcPts val="0"/>
                </a:spcAft>
                <a:defRPr/>
              </a:pPr>
              <a:t>‹#›</a:t>
            </a:fld>
            <a:endParaRPr lang="en-US" sz="1200" dirty="0">
              <a:solidFill>
                <a:srgbClr val="A6A6A6"/>
              </a:solidFill>
              <a:latin typeface="Arial"/>
              <a:cs typeface="Arial"/>
            </a:endParaRPr>
          </a:p>
        </p:txBody>
      </p:sp>
      <p:sp>
        <p:nvSpPr>
          <p:cNvPr id="6" name="TextBox 5"/>
          <p:cNvSpPr txBox="1"/>
          <p:nvPr userDrawn="1"/>
        </p:nvSpPr>
        <p:spPr>
          <a:xfrm>
            <a:off x="457200" y="6384925"/>
            <a:ext cx="2333625" cy="274638"/>
          </a:xfrm>
          <a:prstGeom prst="rect">
            <a:avLst/>
          </a:prstGeom>
          <a:noFill/>
        </p:spPr>
        <p:txBody>
          <a:bodyPr wrap="none">
            <a:spAutoFit/>
          </a:bodyPr>
          <a:lstStyle/>
          <a:p>
            <a:r>
              <a:rPr lang="en-AU" sz="1200">
                <a:solidFill>
                  <a:srgbClr val="A6A6A6"/>
                </a:solidFill>
              </a:rPr>
              <a:t>© 2014 Pearson Education, Inc.</a:t>
            </a:r>
            <a:endParaRPr lang="en-US" sz="1200">
              <a:solidFill>
                <a:srgbClr val="A6A6A6"/>
              </a:solidFill>
            </a:endParaRPr>
          </a:p>
        </p:txBody>
      </p:sp>
      <p:sp>
        <p:nvSpPr>
          <p:cNvPr id="2" name="Title 1"/>
          <p:cNvSpPr>
            <a:spLocks noGrp="1"/>
          </p:cNvSpPr>
          <p:nvPr>
            <p:ph type="title"/>
          </p:nvPr>
        </p:nvSpPr>
        <p:spPr>
          <a:xfrm>
            <a:off x="685800" y="434975"/>
            <a:ext cx="7772400" cy="1143000"/>
          </a:xfrm>
        </p:spPr>
        <p:txBody>
          <a:bodyPr/>
          <a:lstStyle/>
          <a:p>
            <a:r>
              <a:rPr lang="en-US"/>
              <a:t>Click to edit Master title style</a:t>
            </a:r>
          </a:p>
        </p:txBody>
      </p:sp>
      <p:sp>
        <p:nvSpPr>
          <p:cNvPr id="3" name="Chart Placeholder 2"/>
          <p:cNvSpPr>
            <a:spLocks noGrp="1"/>
          </p:cNvSpPr>
          <p:nvPr>
            <p:ph type="chart" sz="half" idx="1"/>
          </p:nvPr>
        </p:nvSpPr>
        <p:spPr>
          <a:xfrm>
            <a:off x="685800" y="1917700"/>
            <a:ext cx="3810000" cy="4114800"/>
          </a:xfrm>
        </p:spPr>
        <p:txBody>
          <a:bodyPr rtlCol="0">
            <a:normAutofit/>
          </a:bodyPr>
          <a:lstStyle/>
          <a:p>
            <a:pPr lvl="0"/>
            <a:endParaRPr lang="en-US" noProof="0" dirty="0"/>
          </a:p>
        </p:txBody>
      </p:sp>
      <p:sp>
        <p:nvSpPr>
          <p:cNvPr id="4" name="Text Placeholder 3"/>
          <p:cNvSpPr>
            <a:spLocks noGrp="1"/>
          </p:cNvSpPr>
          <p:nvPr>
            <p:ph type="body" sz="half" idx="2"/>
          </p:nvPr>
        </p:nvSpPr>
        <p:spPr>
          <a:xfrm>
            <a:off x="4648200" y="19177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nodePh="1">
                                  <p:stCondLst>
                                    <p:cond delay="100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par>
                          <p:cTn id="8" fill="hold">
                            <p:stCondLst>
                              <p:cond delay="1500"/>
                            </p:stCondLst>
                            <p:childTnLst>
                              <p:par>
                                <p:cTn id="9" presetID="18" presetClass="entr" presetSubtype="6" fill="hold" grpId="0" nodeType="afterEffect">
                                  <p:stCondLst>
                                    <p:cond delay="1000"/>
                                  </p:stCondLst>
                                  <p:childTnLst>
                                    <p:set>
                                      <p:cBhvr>
                                        <p:cTn id="10" dur="1" fill="hold">
                                          <p:stCondLst>
                                            <p:cond delay="0"/>
                                          </p:stCondLst>
                                        </p:cTn>
                                        <p:tgtEl>
                                          <p:spTgt spid="4"/>
                                        </p:tgtEl>
                                        <p:attrNameLst>
                                          <p:attrName>style.visibility</p:attrName>
                                        </p:attrNameLst>
                                      </p:cBhvr>
                                      <p:to>
                                        <p:strVal val="visible"/>
                                      </p:to>
                                    </p:set>
                                    <p:animEffect transition="in" filter="strips(downRight)">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12/12/2022</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0"/>
            <a:ext cx="8229600" cy="4525963"/>
          </a:xfrm>
        </p:spPr>
        <p:txBody>
          <a:bodyPr>
            <a:normAutofit/>
          </a:bodyPr>
          <a:lstStyle/>
          <a:p>
            <a:pPr algn="ctr">
              <a:buNone/>
            </a:pPr>
            <a:r>
              <a:rPr lang="en-US" sz="6000" dirty="0"/>
              <a:t> </a:t>
            </a:r>
          </a:p>
          <a:p>
            <a:pPr algn="ctr">
              <a:buNone/>
            </a:pPr>
            <a:r>
              <a:rPr lang="en-US" sz="6000" dirty="0"/>
              <a:t>Work Measurement</a:t>
            </a:r>
          </a:p>
        </p:txBody>
      </p:sp>
      <p:pic>
        <p:nvPicPr>
          <p:cNvPr id="4" name="Picture 3" descr="time study.jpg"/>
          <p:cNvPicPr>
            <a:picLocks noChangeAspect="1"/>
          </p:cNvPicPr>
          <p:nvPr/>
        </p:nvPicPr>
        <p:blipFill>
          <a:blip r:embed="rId2"/>
          <a:stretch>
            <a:fillRect/>
          </a:stretch>
        </p:blipFill>
        <p:spPr>
          <a:xfrm>
            <a:off x="3200400" y="1981200"/>
            <a:ext cx="1981200" cy="2968300"/>
          </a:xfrm>
          <a:prstGeom prst="rect">
            <a:avLst/>
          </a:prstGeom>
        </p:spPr>
      </p:pic>
      <p:grpSp>
        <p:nvGrpSpPr>
          <p:cNvPr id="9" name="Group 8"/>
          <p:cNvGrpSpPr/>
          <p:nvPr/>
        </p:nvGrpSpPr>
        <p:grpSpPr>
          <a:xfrm>
            <a:off x="0" y="6324600"/>
            <a:ext cx="8763000" cy="540000"/>
            <a:chOff x="0" y="5257800"/>
            <a:chExt cx="8763000" cy="719554"/>
          </a:xfrm>
        </p:grpSpPr>
        <p:sp>
          <p:nvSpPr>
            <p:cNvPr id="5" name="TextBox 4"/>
            <p:cNvSpPr txBox="1"/>
            <p:nvPr/>
          </p:nvSpPr>
          <p:spPr>
            <a:xfrm>
              <a:off x="0" y="5638800"/>
              <a:ext cx="7010400" cy="338554"/>
            </a:xfrm>
            <a:prstGeom prst="rect">
              <a:avLst/>
            </a:prstGeom>
            <a:solidFill>
              <a:schemeClr val="accent1">
                <a:lumMod val="40000"/>
                <a:lumOff val="60000"/>
              </a:schemeClr>
            </a:solidFill>
          </p:spPr>
          <p:txBody>
            <a:bodyPr wrap="square" rtlCol="0">
              <a:spAutoFit/>
            </a:bodyPr>
            <a:lstStyle/>
            <a:p>
              <a:endParaRPr lang="en-US" sz="1600" i="1" dirty="0">
                <a:latin typeface="Times New Roman" pitchFamily="18" charset="0"/>
                <a:cs typeface="Times New Roman" pitchFamily="18" charset="0"/>
              </a:endParaRPr>
            </a:p>
          </p:txBody>
        </p:sp>
        <p:sp>
          <p:nvSpPr>
            <p:cNvPr id="7" name="TextBox 6"/>
            <p:cNvSpPr txBox="1"/>
            <p:nvPr/>
          </p:nvSpPr>
          <p:spPr>
            <a:xfrm>
              <a:off x="0" y="5410200"/>
              <a:ext cx="7848600" cy="307777"/>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8" name="TextBox 7"/>
            <p:cNvSpPr txBox="1"/>
            <p:nvPr/>
          </p:nvSpPr>
          <p:spPr>
            <a:xfrm>
              <a:off x="0" y="5257800"/>
              <a:ext cx="8763000" cy="400110"/>
            </a:xfrm>
            <a:prstGeom prst="rect">
              <a:avLst/>
            </a:prstGeom>
            <a:solidFill>
              <a:schemeClr val="accent1"/>
            </a:solidFill>
          </p:spPr>
          <p:txBody>
            <a:bodyPr wrap="square" rtlCol="0">
              <a:spAutoFit/>
            </a:bodyPr>
            <a:lstStyle/>
            <a:p>
              <a:endParaRPr lang="en-US" sz="2000" i="1" dirty="0">
                <a:latin typeface="Times New Roman" pitchFamily="18" charset="0"/>
                <a:cs typeface="Times New Roman" pitchFamily="18"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6849" y="152400"/>
            <a:ext cx="8267700" cy="6986528"/>
          </a:xfrm>
          <a:prstGeom prst="rect">
            <a:avLst/>
          </a:prstGeom>
        </p:spPr>
        <p:txBody>
          <a:bodyPr wrap="square">
            <a:spAutoFit/>
          </a:bodyPr>
          <a:lstStyle/>
          <a:p>
            <a:pPr marL="342900" indent="-342900">
              <a:buFont typeface="Arial" panose="020B0604020202020204" pitchFamily="34" charset="0"/>
              <a:buChar char="•"/>
            </a:pPr>
            <a:r>
              <a:rPr lang="en-US" sz="2800" b="1" dirty="0">
                <a:solidFill>
                  <a:srgbClr val="FF0000"/>
                </a:solidFill>
                <a:latin typeface="Times New Roman" panose="02020603050405020304" pitchFamily="18" charset="0"/>
                <a:cs typeface="Times New Roman" panose="02020603050405020304" pitchFamily="18" charset="0"/>
              </a:rPr>
              <a:t>Work study </a:t>
            </a:r>
            <a:r>
              <a:rPr lang="en-US" sz="2800" dirty="0">
                <a:latin typeface="Times New Roman" panose="02020603050405020304" pitchFamily="18" charset="0"/>
                <a:cs typeface="Times New Roman" panose="02020603050405020304" pitchFamily="18" charset="0"/>
              </a:rPr>
              <a:t>is the systematic examination of the methods of carrying on activities so as to improve the effective use of resources and to set up standards of performance for the activities being carried out</a:t>
            </a:r>
          </a:p>
          <a:p>
            <a:endParaRPr lang="en-US"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800" b="1" dirty="0">
                <a:solidFill>
                  <a:srgbClr val="FF0000"/>
                </a:solidFill>
                <a:latin typeface="Times New Roman" panose="02020603050405020304" pitchFamily="18" charset="0"/>
                <a:ea typeface="Nirmala UI Semilight" panose="020B0402040204020203" pitchFamily="34" charset="0"/>
                <a:cs typeface="Times New Roman" panose="02020603050405020304" pitchFamily="18" charset="0"/>
              </a:rPr>
              <a:t>Method study</a:t>
            </a:r>
            <a:r>
              <a:rPr lang="en-US" sz="2800" b="1" dirty="0">
                <a:solidFill>
                  <a:srgbClr val="000000"/>
                </a:solidFill>
                <a:latin typeface="Times New Roman" panose="02020603050405020304" pitchFamily="18" charset="0"/>
                <a:ea typeface="Nirmala UI Semilight" panose="020B0402040204020203" pitchFamily="34" charset="0"/>
                <a:cs typeface="Times New Roman" panose="02020603050405020304" pitchFamily="18" charset="0"/>
              </a:rPr>
              <a:t> </a:t>
            </a:r>
            <a:r>
              <a:rPr lang="en-US" sz="2800" dirty="0">
                <a:solidFill>
                  <a:srgbClr val="000000"/>
                </a:solidFill>
                <a:latin typeface="Times New Roman" panose="02020603050405020304" pitchFamily="18" charset="0"/>
                <a:ea typeface="Nirmala UI Semilight" panose="020B0402040204020203" pitchFamily="34" charset="0"/>
                <a:cs typeface="Times New Roman" panose="02020603050405020304" pitchFamily="18" charset="0"/>
              </a:rPr>
              <a:t>the systematic recording and critical examination of existing and proposed ways of doing work as a means of developing and applying easier and more effective methods and reducing costs.</a:t>
            </a:r>
          </a:p>
          <a:p>
            <a:endParaRPr lang="en-US" sz="2800" dirty="0">
              <a:latin typeface="Times New Roman" panose="02020603050405020304" pitchFamily="18" charset="0"/>
              <a:ea typeface="Nirmala UI Semilight" panose="020B0402040204020203" pitchFamily="34" charset="0"/>
              <a:cs typeface="Times New Roman" panose="02020603050405020304" pitchFamily="18" charset="0"/>
            </a:endParaRPr>
          </a:p>
          <a:p>
            <a:pPr marL="342900" indent="-342900">
              <a:buFont typeface="Arial" panose="020B0604020202020204" pitchFamily="34" charset="0"/>
              <a:buChar char="•"/>
            </a:pPr>
            <a:r>
              <a:rPr lang="en-US" sz="2800" b="1" dirty="0">
                <a:solidFill>
                  <a:srgbClr val="FF0000"/>
                </a:solidFill>
                <a:latin typeface="Times New Roman" panose="02020603050405020304" pitchFamily="18" charset="0"/>
                <a:cs typeface="Times New Roman" panose="02020603050405020304" pitchFamily="18" charset="0"/>
              </a:rPr>
              <a:t>Work Measurement</a:t>
            </a:r>
            <a:r>
              <a:rPr lang="en-US" sz="2400" b="1" dirty="0">
                <a:solidFill>
                  <a:srgbClr val="FF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is measuring time it should take a qualified worker to complete a specified task, working at a sustainable rate, using given methods, tools and equipment, raw material inputs, and workplace arrangement</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03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609600" y="609601"/>
            <a:ext cx="8089900" cy="457200"/>
          </a:xfrm>
        </p:spPr>
        <p:txBody>
          <a:bodyPr rtlCol="0">
            <a:normAutofit fontScale="90000"/>
          </a:bodyPr>
          <a:lstStyle/>
          <a:p>
            <a:pPr fontAlgn="auto">
              <a:spcAft>
                <a:spcPts val="0"/>
              </a:spcAft>
              <a:defRPr/>
            </a:pPr>
            <a:r>
              <a:rPr lang="en-US" dirty="0">
                <a:solidFill>
                  <a:srgbClr val="0844BC"/>
                </a:solidFill>
              </a:rPr>
              <a:t>Meaningful Standards Help a firm to Determine-</a:t>
            </a:r>
          </a:p>
        </p:txBody>
      </p:sp>
      <p:sp>
        <p:nvSpPr>
          <p:cNvPr id="112643" name="Rectangle 3"/>
          <p:cNvSpPr>
            <a:spLocks noChangeArrowheads="1"/>
          </p:cNvSpPr>
          <p:nvPr/>
        </p:nvSpPr>
        <p:spPr bwMode="auto">
          <a:xfrm>
            <a:off x="695325" y="1295400"/>
            <a:ext cx="7372350" cy="4487382"/>
          </a:xfrm>
          <a:prstGeom prst="rect">
            <a:avLst/>
          </a:prstGeom>
          <a:noFill/>
          <a:ln w="9525">
            <a:noFill/>
            <a:miter lim="800000"/>
            <a:headEnd/>
            <a:tailEnd/>
          </a:ln>
        </p:spPr>
        <p:txBody>
          <a:bodyPr>
            <a:spAutoFit/>
          </a:bodyPr>
          <a:lstStyle/>
          <a:p>
            <a:pPr marL="533400" indent="-533400">
              <a:lnSpc>
                <a:spcPct val="90000"/>
              </a:lnSpc>
              <a:spcAft>
                <a:spcPct val="40000"/>
              </a:spcAft>
              <a:buClr>
                <a:srgbClr val="BF0922"/>
              </a:buClr>
              <a:buFont typeface="Times" pitchFamily="18" charset="0"/>
              <a:buAutoNum type="arabicPeriod"/>
            </a:pPr>
            <a:r>
              <a:rPr lang="en-US" sz="2400" dirty="0"/>
              <a:t>Staffing needs( to meet required production)</a:t>
            </a:r>
          </a:p>
          <a:p>
            <a:pPr marL="533400" indent="-533400">
              <a:lnSpc>
                <a:spcPct val="90000"/>
              </a:lnSpc>
              <a:spcAft>
                <a:spcPct val="40000"/>
              </a:spcAft>
              <a:buClr>
                <a:srgbClr val="BF0922"/>
              </a:buClr>
              <a:buFont typeface="Times" pitchFamily="18" charset="0"/>
              <a:buAutoNum type="arabicPeriod"/>
            </a:pPr>
            <a:r>
              <a:rPr lang="en-US" sz="2400" dirty="0"/>
              <a:t>Cost and time estimates prior to production</a:t>
            </a:r>
          </a:p>
          <a:p>
            <a:pPr marL="533400" indent="-533400">
              <a:lnSpc>
                <a:spcPct val="90000"/>
              </a:lnSpc>
              <a:spcAft>
                <a:spcPct val="40000"/>
              </a:spcAft>
              <a:buClr>
                <a:srgbClr val="BF0922"/>
              </a:buClr>
              <a:buFont typeface="Times" pitchFamily="18" charset="0"/>
              <a:buAutoNum type="arabicPeriod"/>
            </a:pPr>
            <a:r>
              <a:rPr lang="en-US" sz="2400" dirty="0"/>
              <a:t>Crew size and work balance(who does what in an assembly line)</a:t>
            </a:r>
          </a:p>
          <a:p>
            <a:pPr marL="533400" indent="-533400">
              <a:lnSpc>
                <a:spcPct val="90000"/>
              </a:lnSpc>
              <a:spcAft>
                <a:spcPct val="40000"/>
              </a:spcAft>
              <a:buClr>
                <a:srgbClr val="BF0922"/>
              </a:buClr>
              <a:buFont typeface="Times" pitchFamily="18" charset="0"/>
              <a:buAutoNum type="arabicPeriod"/>
            </a:pPr>
            <a:r>
              <a:rPr lang="en-US" sz="2400" dirty="0"/>
              <a:t>Expected production(to constitute a fair day’s work)</a:t>
            </a:r>
          </a:p>
          <a:p>
            <a:pPr marL="533400" indent="-533400">
              <a:lnSpc>
                <a:spcPct val="90000"/>
              </a:lnSpc>
              <a:spcAft>
                <a:spcPct val="40000"/>
              </a:spcAft>
              <a:buClr>
                <a:srgbClr val="BF0922"/>
              </a:buClr>
              <a:buFont typeface="Times" pitchFamily="18" charset="0"/>
              <a:buAutoNum type="arabicPeriod"/>
            </a:pPr>
            <a:r>
              <a:rPr lang="en-US" sz="2400" dirty="0"/>
              <a:t>Basis of wage-incentive plans(provides a reasonable incentive)</a:t>
            </a:r>
          </a:p>
          <a:p>
            <a:pPr marL="533400" indent="-533400">
              <a:lnSpc>
                <a:spcPct val="90000"/>
              </a:lnSpc>
              <a:spcAft>
                <a:spcPct val="40000"/>
              </a:spcAft>
              <a:buClr>
                <a:srgbClr val="BF0922"/>
              </a:buClr>
              <a:buFont typeface="Times" pitchFamily="18" charset="0"/>
              <a:buAutoNum type="arabicPeriod"/>
            </a:pPr>
            <a:r>
              <a:rPr lang="en-US" sz="2400" dirty="0"/>
              <a:t>Efficiency of employees and supervision(standard is necessary to determine)</a:t>
            </a:r>
          </a:p>
        </p:txBody>
      </p:sp>
      <p:grpSp>
        <p:nvGrpSpPr>
          <p:cNvPr id="5" name="Group 4"/>
          <p:cNvGrpSpPr/>
          <p:nvPr/>
        </p:nvGrpSpPr>
        <p:grpSpPr>
          <a:xfrm>
            <a:off x="0" y="6324600"/>
            <a:ext cx="8763000" cy="533400"/>
            <a:chOff x="0" y="6324600"/>
            <a:chExt cx="8763000" cy="533400"/>
          </a:xfrm>
        </p:grpSpPr>
        <p:sp>
          <p:nvSpPr>
            <p:cNvPr id="6" name="TextBox 5"/>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8" name="TextBox 7"/>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3 of 28</a:t>
              </a:r>
            </a:p>
          </p:txBody>
        </p:sp>
      </p:grpSp>
    </p:spTree>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112643"/>
                                        </p:tgtEl>
                                        <p:attrNameLst>
                                          <p:attrName>style.visibility</p:attrName>
                                        </p:attrNameLst>
                                      </p:cBhvr>
                                      <p:to>
                                        <p:strVal val="visible"/>
                                      </p:to>
                                    </p:set>
                                    <p:animEffect transition="in" filter="strips(downRight)">
                                      <p:cBhvr>
                                        <p:cTn id="7" dur="1000"/>
                                        <p:tgtEl>
                                          <p:spTgt spid="112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p:cNvSpPr>
            <a:spLocks noGrp="1" noChangeArrowheads="1"/>
          </p:cNvSpPr>
          <p:nvPr>
            <p:ph type="title"/>
          </p:nvPr>
        </p:nvSpPr>
        <p:spPr>
          <a:xfrm>
            <a:off x="685800" y="434975"/>
            <a:ext cx="7772400" cy="1003300"/>
          </a:xfrm>
        </p:spPr>
        <p:txBody>
          <a:bodyPr/>
          <a:lstStyle/>
          <a:p>
            <a:r>
              <a:rPr lang="en-US" dirty="0">
                <a:solidFill>
                  <a:srgbClr val="0844BC"/>
                </a:solidFill>
                <a:latin typeface="Arial" pitchFamily="34" charset="0"/>
                <a:cs typeface="Arial" pitchFamily="34" charset="0"/>
              </a:rPr>
              <a:t>Labor Standards</a:t>
            </a:r>
          </a:p>
        </p:txBody>
      </p:sp>
      <p:sp>
        <p:nvSpPr>
          <p:cNvPr id="114691" name="Rectangle 3"/>
          <p:cNvSpPr>
            <a:spLocks noChangeArrowheads="1"/>
          </p:cNvSpPr>
          <p:nvPr/>
        </p:nvSpPr>
        <p:spPr bwMode="auto">
          <a:xfrm>
            <a:off x="583479" y="1930256"/>
            <a:ext cx="5154613" cy="978729"/>
          </a:xfrm>
          <a:prstGeom prst="rect">
            <a:avLst/>
          </a:prstGeom>
          <a:noFill/>
          <a:ln w="9525">
            <a:noFill/>
            <a:miter lim="800000"/>
            <a:headEnd/>
            <a:tailEnd/>
          </a:ln>
        </p:spPr>
        <p:txBody>
          <a:bodyPr>
            <a:spAutoFit/>
          </a:bodyPr>
          <a:lstStyle/>
          <a:p>
            <a:pPr>
              <a:lnSpc>
                <a:spcPct val="90000"/>
              </a:lnSpc>
            </a:pPr>
            <a:r>
              <a:rPr lang="en-US" sz="3200" dirty="0"/>
              <a:t>Four ways of establishing labor standards:</a:t>
            </a:r>
          </a:p>
        </p:txBody>
      </p:sp>
      <p:sp>
        <p:nvSpPr>
          <p:cNvPr id="114692" name="Rectangle 4"/>
          <p:cNvSpPr>
            <a:spLocks noChangeArrowheads="1"/>
          </p:cNvSpPr>
          <p:nvPr/>
        </p:nvSpPr>
        <p:spPr bwMode="auto">
          <a:xfrm>
            <a:off x="304800" y="2908985"/>
            <a:ext cx="8458200" cy="2456057"/>
          </a:xfrm>
          <a:prstGeom prst="rect">
            <a:avLst/>
          </a:prstGeom>
          <a:noFill/>
          <a:ln w="9525">
            <a:noFill/>
            <a:miter lim="800000"/>
            <a:headEnd/>
            <a:tailEnd/>
          </a:ln>
        </p:spPr>
        <p:txBody>
          <a:bodyPr wrap="square">
            <a:spAutoFit/>
          </a:bodyPr>
          <a:lstStyle/>
          <a:p>
            <a:pPr marL="533400" indent="-533400">
              <a:lnSpc>
                <a:spcPct val="90000"/>
              </a:lnSpc>
              <a:spcAft>
                <a:spcPct val="40000"/>
              </a:spcAft>
              <a:buClr>
                <a:schemeClr val="tx2"/>
              </a:buClr>
              <a:buFont typeface="Times" pitchFamily="18" charset="0"/>
              <a:buAutoNum type="arabicPeriod"/>
            </a:pPr>
            <a:r>
              <a:rPr lang="en-US" sz="3200" dirty="0"/>
              <a:t>Historical experience</a:t>
            </a:r>
          </a:p>
          <a:p>
            <a:pPr marL="533400" indent="-533400">
              <a:lnSpc>
                <a:spcPct val="90000"/>
              </a:lnSpc>
              <a:spcAft>
                <a:spcPct val="40000"/>
              </a:spcAft>
              <a:buClr>
                <a:schemeClr val="tx2"/>
              </a:buClr>
              <a:buFont typeface="Times" pitchFamily="18" charset="0"/>
              <a:buAutoNum type="arabicPeriod"/>
            </a:pPr>
            <a:r>
              <a:rPr lang="en-US" sz="3200" dirty="0"/>
              <a:t>Time studies</a:t>
            </a:r>
          </a:p>
          <a:p>
            <a:pPr marL="533400" indent="-533400">
              <a:lnSpc>
                <a:spcPct val="90000"/>
              </a:lnSpc>
              <a:spcAft>
                <a:spcPct val="40000"/>
              </a:spcAft>
              <a:buClr>
                <a:schemeClr val="tx2"/>
              </a:buClr>
              <a:buFont typeface="Times" pitchFamily="18" charset="0"/>
              <a:buAutoNum type="arabicPeriod"/>
            </a:pPr>
            <a:r>
              <a:rPr lang="en-US" sz="3200" dirty="0"/>
              <a:t>Predetermined time standards</a:t>
            </a:r>
          </a:p>
          <a:p>
            <a:pPr marL="533400" indent="-533400">
              <a:lnSpc>
                <a:spcPct val="90000"/>
              </a:lnSpc>
              <a:spcAft>
                <a:spcPct val="40000"/>
              </a:spcAft>
              <a:buClr>
                <a:schemeClr val="tx2"/>
              </a:buClr>
              <a:buFont typeface="Times" pitchFamily="18" charset="0"/>
              <a:buAutoNum type="arabicPeriod"/>
            </a:pPr>
            <a:r>
              <a:rPr lang="en-US" sz="3200" dirty="0"/>
              <a:t>Work sampling</a:t>
            </a:r>
          </a:p>
        </p:txBody>
      </p:sp>
      <p:grpSp>
        <p:nvGrpSpPr>
          <p:cNvPr id="14" name="Group 13"/>
          <p:cNvGrpSpPr/>
          <p:nvPr/>
        </p:nvGrpSpPr>
        <p:grpSpPr>
          <a:xfrm>
            <a:off x="0" y="6324600"/>
            <a:ext cx="8763000" cy="533400"/>
            <a:chOff x="0" y="6324600"/>
            <a:chExt cx="8763000" cy="533400"/>
          </a:xfrm>
        </p:grpSpPr>
        <p:sp>
          <p:nvSpPr>
            <p:cNvPr id="8" name="TextBox 7"/>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9" name="TextBox 8"/>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0" name="TextBox 9"/>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2 of 28</a:t>
              </a:r>
            </a:p>
          </p:txBody>
        </p:sp>
      </p:grpSp>
      <p:grpSp>
        <p:nvGrpSpPr>
          <p:cNvPr id="13" name="Group 12"/>
          <p:cNvGrpSpPr/>
          <p:nvPr/>
        </p:nvGrpSpPr>
        <p:grpSpPr>
          <a:xfrm>
            <a:off x="5943600" y="381001"/>
            <a:ext cx="2667000" cy="2502931"/>
            <a:chOff x="5943600" y="381001"/>
            <a:chExt cx="2667000" cy="2502931"/>
          </a:xfrm>
        </p:grpSpPr>
        <p:pic>
          <p:nvPicPr>
            <p:cNvPr id="11" name="Picture 10" descr="time-motion-study-22067085.jpg"/>
            <p:cNvPicPr>
              <a:picLocks noChangeAspect="1"/>
            </p:cNvPicPr>
            <p:nvPr/>
          </p:nvPicPr>
          <p:blipFill>
            <a:blip r:embed="rId2"/>
            <a:stretch>
              <a:fillRect/>
            </a:stretch>
          </p:blipFill>
          <p:spPr>
            <a:xfrm>
              <a:off x="5943600" y="381001"/>
              <a:ext cx="2628900" cy="2319618"/>
            </a:xfrm>
            <a:prstGeom prst="rect">
              <a:avLst/>
            </a:prstGeom>
          </p:spPr>
        </p:pic>
        <p:sp>
          <p:nvSpPr>
            <p:cNvPr id="12" name="TextBox 11"/>
            <p:cNvSpPr txBox="1"/>
            <p:nvPr/>
          </p:nvSpPr>
          <p:spPr>
            <a:xfrm>
              <a:off x="7620000" y="2514600"/>
              <a:ext cx="990600" cy="369332"/>
            </a:xfrm>
            <a:prstGeom prst="rect">
              <a:avLst/>
            </a:prstGeom>
            <a:solidFill>
              <a:schemeClr val="bg1"/>
            </a:solidFill>
          </p:spPr>
          <p:txBody>
            <a:bodyPr wrap="square" rtlCol="0">
              <a:spAutoFit/>
            </a:bodyPr>
            <a:lstStyle/>
            <a:p>
              <a:endParaRPr lang="en-US" dirty="0"/>
            </a:p>
          </p:txBody>
        </p:sp>
      </p:grpSp>
    </p:spTree>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14691"/>
                                        </p:tgtEl>
                                        <p:attrNameLst>
                                          <p:attrName>style.visibility</p:attrName>
                                        </p:attrNameLst>
                                      </p:cBhvr>
                                      <p:to>
                                        <p:strVal val="visible"/>
                                      </p:to>
                                    </p:set>
                                    <p:animEffect transition="in" filter="wipe(left)">
                                      <p:cBhvr>
                                        <p:cTn id="7" dur="1000"/>
                                        <p:tgtEl>
                                          <p:spTgt spid="114691"/>
                                        </p:tgtEl>
                                      </p:cBhvr>
                                    </p:animEffect>
                                  </p:childTnLst>
                                </p:cTn>
                              </p:par>
                            </p:childTnLst>
                          </p:cTn>
                        </p:par>
                        <p:par>
                          <p:cTn id="8" fill="hold" nodeType="afterGroup">
                            <p:stCondLst>
                              <p:cond delay="2000"/>
                            </p:stCondLst>
                            <p:childTnLst>
                              <p:par>
                                <p:cTn id="9" presetID="18" presetClass="entr" presetSubtype="6" fill="hold" grpId="0" nodeType="afterEffect">
                                  <p:stCondLst>
                                    <p:cond delay="1000"/>
                                  </p:stCondLst>
                                  <p:childTnLst>
                                    <p:set>
                                      <p:cBhvr>
                                        <p:cTn id="10" dur="1" fill="hold">
                                          <p:stCondLst>
                                            <p:cond delay="0"/>
                                          </p:stCondLst>
                                        </p:cTn>
                                        <p:tgtEl>
                                          <p:spTgt spid="114692"/>
                                        </p:tgtEl>
                                        <p:attrNameLst>
                                          <p:attrName>style.visibility</p:attrName>
                                        </p:attrNameLst>
                                      </p:cBhvr>
                                      <p:to>
                                        <p:strVal val="visible"/>
                                      </p:to>
                                    </p:set>
                                    <p:animEffect transition="in" filter="strips(downRight)">
                                      <p:cBhvr>
                                        <p:cTn id="11" dur="1000"/>
                                        <p:tgtEl>
                                          <p:spTgt spid="114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autoUpdateAnimBg="0"/>
      <p:bldP spid="114692"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noChangeArrowheads="1"/>
          </p:cNvSpPr>
          <p:nvPr>
            <p:ph type="title"/>
          </p:nvPr>
        </p:nvSpPr>
        <p:spPr>
          <a:xfrm>
            <a:off x="457200" y="0"/>
            <a:ext cx="7467600" cy="1143000"/>
          </a:xfrm>
        </p:spPr>
        <p:txBody>
          <a:bodyPr/>
          <a:lstStyle/>
          <a:p>
            <a:r>
              <a:rPr lang="en-US" dirty="0">
                <a:solidFill>
                  <a:srgbClr val="0844BC"/>
                </a:solidFill>
                <a:latin typeface="Arial" pitchFamily="34" charset="0"/>
                <a:cs typeface="Arial" pitchFamily="34" charset="0"/>
              </a:rPr>
              <a:t>Historical Experience</a:t>
            </a:r>
          </a:p>
        </p:txBody>
      </p:sp>
      <p:sp>
        <p:nvSpPr>
          <p:cNvPr id="109570" name="Content Placeholder 1"/>
          <p:cNvSpPr>
            <a:spLocks noGrp="1"/>
          </p:cNvSpPr>
          <p:nvPr>
            <p:ph sz="quarter" idx="1"/>
          </p:nvPr>
        </p:nvSpPr>
        <p:spPr>
          <a:xfrm>
            <a:off x="736600" y="1600200"/>
            <a:ext cx="7670800" cy="4525963"/>
          </a:xfrm>
        </p:spPr>
        <p:txBody>
          <a:bodyPr/>
          <a:lstStyle/>
          <a:p>
            <a:pPr>
              <a:buFont typeface="Arial Unicode MS" pitchFamily="34" charset="-128"/>
              <a:buChar char="▶"/>
            </a:pPr>
            <a:r>
              <a:rPr lang="en-US" dirty="0">
                <a:latin typeface="Arial" pitchFamily="34" charset="0"/>
                <a:cs typeface="Arial" pitchFamily="34" charset="0"/>
              </a:rPr>
              <a:t>How the task was performed last time</a:t>
            </a:r>
          </a:p>
          <a:p>
            <a:pPr>
              <a:buFont typeface="Arial Unicode MS" pitchFamily="34" charset="-128"/>
              <a:buChar char="▶"/>
            </a:pPr>
            <a:r>
              <a:rPr lang="en-US" dirty="0">
                <a:latin typeface="Arial" pitchFamily="34" charset="0"/>
                <a:cs typeface="Arial" pitchFamily="34" charset="0"/>
              </a:rPr>
              <a:t>Easy and inexpensive</a:t>
            </a:r>
          </a:p>
          <a:p>
            <a:pPr>
              <a:buFont typeface="Arial Unicode MS" pitchFamily="34" charset="-128"/>
              <a:buChar char="▶"/>
            </a:pPr>
            <a:r>
              <a:rPr lang="en-US" dirty="0">
                <a:latin typeface="Arial" pitchFamily="34" charset="0"/>
                <a:cs typeface="Arial" pitchFamily="34" charset="0"/>
              </a:rPr>
              <a:t>Data available from production records or time cards</a:t>
            </a:r>
          </a:p>
          <a:p>
            <a:pPr>
              <a:buFont typeface="Arial Unicode MS" pitchFamily="34" charset="-128"/>
              <a:buChar char="▶"/>
            </a:pPr>
            <a:r>
              <a:rPr lang="en-US" dirty="0">
                <a:latin typeface="Arial" pitchFamily="34" charset="0"/>
                <a:cs typeface="Arial" pitchFamily="34" charset="0"/>
              </a:rPr>
              <a:t>Data is not objective and may be inaccurate</a:t>
            </a:r>
          </a:p>
          <a:p>
            <a:pPr>
              <a:buFont typeface="Arial Unicode MS" pitchFamily="34" charset="-128"/>
              <a:buChar char="▶"/>
            </a:pPr>
            <a:r>
              <a:rPr lang="en-US" dirty="0">
                <a:latin typeface="Arial" pitchFamily="34" charset="0"/>
                <a:cs typeface="Arial" pitchFamily="34" charset="0"/>
              </a:rPr>
              <a:t>Not recommended</a:t>
            </a:r>
          </a:p>
        </p:txBody>
      </p:sp>
      <p:grpSp>
        <p:nvGrpSpPr>
          <p:cNvPr id="4" name="Group 3"/>
          <p:cNvGrpSpPr/>
          <p:nvPr/>
        </p:nvGrpSpPr>
        <p:grpSpPr>
          <a:xfrm>
            <a:off x="0" y="6324600"/>
            <a:ext cx="8763000" cy="533400"/>
            <a:chOff x="0" y="6324600"/>
            <a:chExt cx="8763000" cy="533400"/>
          </a:xfrm>
        </p:grpSpPr>
        <p:sp>
          <p:nvSpPr>
            <p:cNvPr id="5" name="TextBox 4"/>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6" name="TextBox 5"/>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4 of 28</a:t>
              </a:r>
            </a:p>
          </p:txBody>
        </p:sp>
      </p:grpSp>
    </p:spTree>
  </p:cSld>
  <p:clrMapOvr>
    <a:masterClrMapping/>
  </p:clrMapOvr>
  <p:transition>
    <p:pull dir="l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noChangeArrowheads="1"/>
          </p:cNvSpPr>
          <p:nvPr>
            <p:ph type="title"/>
          </p:nvPr>
        </p:nvSpPr>
        <p:spPr>
          <a:xfrm>
            <a:off x="457200" y="228600"/>
            <a:ext cx="8229600" cy="1143000"/>
          </a:xfrm>
        </p:spPr>
        <p:txBody>
          <a:bodyPr/>
          <a:lstStyle/>
          <a:p>
            <a:r>
              <a:rPr lang="en-US" dirty="0">
                <a:solidFill>
                  <a:srgbClr val="0844BC"/>
                </a:solidFill>
                <a:latin typeface="Arial" pitchFamily="34" charset="0"/>
                <a:cs typeface="Arial" pitchFamily="34" charset="0"/>
              </a:rPr>
              <a:t>Time Studies</a:t>
            </a:r>
          </a:p>
        </p:txBody>
      </p:sp>
      <p:sp>
        <p:nvSpPr>
          <p:cNvPr id="110594" name="Content Placeholder 1"/>
          <p:cNvSpPr>
            <a:spLocks noGrp="1"/>
          </p:cNvSpPr>
          <p:nvPr>
            <p:ph sz="quarter" idx="1"/>
          </p:nvPr>
        </p:nvSpPr>
        <p:spPr>
          <a:xfrm>
            <a:off x="381000" y="1739900"/>
            <a:ext cx="7962900" cy="4152900"/>
          </a:xfrm>
        </p:spPr>
        <p:txBody>
          <a:bodyPr>
            <a:normAutofit/>
          </a:bodyPr>
          <a:lstStyle/>
          <a:p>
            <a:pPr>
              <a:buFont typeface="Arial Unicode MS" pitchFamily="34" charset="-128"/>
              <a:buChar char="▶"/>
            </a:pPr>
            <a:r>
              <a:rPr lang="en-US" sz="2000" dirty="0">
                <a:latin typeface="Arial" pitchFamily="34" charset="0"/>
                <a:cs typeface="Arial" pitchFamily="34" charset="0"/>
              </a:rPr>
              <a:t>Involves timing a sample of a worker’s </a:t>
            </a:r>
          </a:p>
          <a:p>
            <a:pPr>
              <a:buNone/>
            </a:pPr>
            <a:r>
              <a:rPr lang="en-US" sz="2000" dirty="0">
                <a:latin typeface="Arial" pitchFamily="34" charset="0"/>
                <a:cs typeface="Arial" pitchFamily="34" charset="0"/>
              </a:rPr>
              <a:t>    performance and using it to set a standard</a:t>
            </a:r>
          </a:p>
          <a:p>
            <a:pPr>
              <a:buFont typeface="Arial Unicode MS" pitchFamily="34" charset="-128"/>
              <a:buChar char="▶"/>
            </a:pPr>
            <a:r>
              <a:rPr lang="en-US" sz="2000" dirty="0">
                <a:latin typeface="Arial" pitchFamily="34" charset="0"/>
                <a:cs typeface="Arial" pitchFamily="34" charset="0"/>
              </a:rPr>
              <a:t>Requires trained and experienced observers</a:t>
            </a:r>
          </a:p>
          <a:p>
            <a:pPr>
              <a:buFont typeface="Arial Unicode MS" pitchFamily="34" charset="-128"/>
              <a:buChar char="▶"/>
            </a:pPr>
            <a:r>
              <a:rPr lang="en-US" sz="2000" dirty="0">
                <a:latin typeface="Arial" pitchFamily="34" charset="0"/>
                <a:cs typeface="Arial" pitchFamily="34" charset="0"/>
              </a:rPr>
              <a:t>Cannot be set before the work is performed</a:t>
            </a:r>
          </a:p>
        </p:txBody>
      </p:sp>
      <p:pic>
        <p:nvPicPr>
          <p:cNvPr id="4" name="Picture 3" descr="74210184.png"/>
          <p:cNvPicPr>
            <a:picLocks noChangeAspect="1"/>
          </p:cNvPicPr>
          <p:nvPr/>
        </p:nvPicPr>
        <p:blipFill>
          <a:blip r:embed="rId2"/>
          <a:stretch>
            <a:fillRect/>
          </a:stretch>
        </p:blipFill>
        <p:spPr>
          <a:xfrm>
            <a:off x="5791200" y="1295400"/>
            <a:ext cx="3029309" cy="3504829"/>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grpSp>
        <p:nvGrpSpPr>
          <p:cNvPr id="5" name="Group 4"/>
          <p:cNvGrpSpPr/>
          <p:nvPr/>
        </p:nvGrpSpPr>
        <p:grpSpPr>
          <a:xfrm>
            <a:off x="0" y="6324600"/>
            <a:ext cx="8763000" cy="533400"/>
            <a:chOff x="0" y="6324600"/>
            <a:chExt cx="8763000" cy="533400"/>
          </a:xfrm>
        </p:grpSpPr>
        <p:sp>
          <p:nvSpPr>
            <p:cNvPr id="6" name="TextBox 5"/>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8" name="TextBox 7"/>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5 of 28</a:t>
              </a:r>
            </a:p>
          </p:txBody>
        </p:sp>
      </p:grpSp>
    </p:spTree>
  </p:cSld>
  <p:clrMapOvr>
    <a:masterClrMapping/>
  </p:clrMapOvr>
  <p:transition>
    <p:pull dir="l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Grp="1" noChangeArrowheads="1"/>
          </p:cNvSpPr>
          <p:nvPr>
            <p:ph type="title"/>
          </p:nvPr>
        </p:nvSpPr>
        <p:spPr>
          <a:xfrm>
            <a:off x="685800" y="434975"/>
            <a:ext cx="7772400" cy="1003300"/>
          </a:xfrm>
        </p:spPr>
        <p:txBody>
          <a:bodyPr/>
          <a:lstStyle/>
          <a:p>
            <a:r>
              <a:rPr lang="en-US" dirty="0">
                <a:solidFill>
                  <a:srgbClr val="0844BC"/>
                </a:solidFill>
                <a:latin typeface="Arial" pitchFamily="34" charset="0"/>
                <a:cs typeface="Arial" pitchFamily="34" charset="0"/>
              </a:rPr>
              <a:t>Time Studies</a:t>
            </a:r>
          </a:p>
        </p:txBody>
      </p:sp>
      <p:sp>
        <p:nvSpPr>
          <p:cNvPr id="117763" name="Rectangle 3"/>
          <p:cNvSpPr>
            <a:spLocks noChangeArrowheads="1"/>
          </p:cNvSpPr>
          <p:nvPr/>
        </p:nvSpPr>
        <p:spPr bwMode="auto">
          <a:xfrm>
            <a:off x="779463" y="1954213"/>
            <a:ext cx="7559675" cy="3351212"/>
          </a:xfrm>
          <a:prstGeom prst="rect">
            <a:avLst/>
          </a:prstGeom>
          <a:noFill/>
          <a:ln w="9525">
            <a:noFill/>
            <a:miter lim="800000"/>
            <a:headEnd/>
            <a:tailEnd/>
          </a:ln>
        </p:spPr>
        <p:txBody>
          <a:bodyPr>
            <a:spAutoFit/>
          </a:bodyPr>
          <a:lstStyle/>
          <a:p>
            <a:pPr marL="533400" indent="-533400">
              <a:lnSpc>
                <a:spcPct val="90000"/>
              </a:lnSpc>
              <a:spcAft>
                <a:spcPct val="40000"/>
              </a:spcAft>
              <a:buClr>
                <a:srgbClr val="BF0922"/>
              </a:buClr>
              <a:buFont typeface="Times" pitchFamily="18" charset="0"/>
              <a:buAutoNum type="arabicPeriod"/>
            </a:pPr>
            <a:r>
              <a:rPr lang="en-US" sz="3200"/>
              <a:t>Define the task to be studied</a:t>
            </a:r>
          </a:p>
          <a:p>
            <a:pPr marL="533400" indent="-533400">
              <a:lnSpc>
                <a:spcPct val="90000"/>
              </a:lnSpc>
              <a:spcAft>
                <a:spcPct val="40000"/>
              </a:spcAft>
              <a:buClr>
                <a:srgbClr val="BF0922"/>
              </a:buClr>
              <a:buFont typeface="Times" pitchFamily="18" charset="0"/>
              <a:buAutoNum type="arabicPeriod"/>
            </a:pPr>
            <a:r>
              <a:rPr lang="en-US" sz="3200"/>
              <a:t>Divide the task into precise elements</a:t>
            </a:r>
          </a:p>
          <a:p>
            <a:pPr marL="533400" indent="-533400">
              <a:lnSpc>
                <a:spcPct val="90000"/>
              </a:lnSpc>
              <a:spcAft>
                <a:spcPct val="40000"/>
              </a:spcAft>
              <a:buClr>
                <a:srgbClr val="BF0922"/>
              </a:buClr>
              <a:buFont typeface="Times" pitchFamily="18" charset="0"/>
              <a:buAutoNum type="arabicPeriod"/>
            </a:pPr>
            <a:r>
              <a:rPr lang="en-US" sz="3200"/>
              <a:t>Decide how many times to measure the task</a:t>
            </a:r>
          </a:p>
          <a:p>
            <a:pPr marL="533400" indent="-533400">
              <a:lnSpc>
                <a:spcPct val="90000"/>
              </a:lnSpc>
              <a:spcAft>
                <a:spcPct val="40000"/>
              </a:spcAft>
              <a:buClr>
                <a:srgbClr val="BF0922"/>
              </a:buClr>
              <a:buFont typeface="Times" pitchFamily="18" charset="0"/>
              <a:buAutoNum type="arabicPeriod"/>
            </a:pPr>
            <a:r>
              <a:rPr lang="en-US" sz="3200"/>
              <a:t>Time and record element times and rating of performance</a:t>
            </a:r>
          </a:p>
        </p:txBody>
      </p:sp>
      <p:grpSp>
        <p:nvGrpSpPr>
          <p:cNvPr id="4" name="Group 3"/>
          <p:cNvGrpSpPr/>
          <p:nvPr/>
        </p:nvGrpSpPr>
        <p:grpSpPr>
          <a:xfrm>
            <a:off x="0" y="6324600"/>
            <a:ext cx="8763000" cy="533400"/>
            <a:chOff x="0" y="6324600"/>
            <a:chExt cx="8763000" cy="533400"/>
          </a:xfrm>
        </p:grpSpPr>
        <p:sp>
          <p:nvSpPr>
            <p:cNvPr id="5" name="TextBox 4"/>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6" name="TextBox 5"/>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6 of 28</a:t>
              </a:r>
            </a:p>
          </p:txBody>
        </p:sp>
      </p:gr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grpId="0" nodeType="afterEffect">
                                  <p:stCondLst>
                                    <p:cond delay="1000"/>
                                  </p:stCondLst>
                                  <p:childTnLst>
                                    <p:set>
                                      <p:cBhvr>
                                        <p:cTn id="6" dur="1" fill="hold">
                                          <p:stCondLst>
                                            <p:cond delay="0"/>
                                          </p:stCondLst>
                                        </p:cTn>
                                        <p:tgtEl>
                                          <p:spTgt spid="117763"/>
                                        </p:tgtEl>
                                        <p:attrNameLst>
                                          <p:attrName>style.visibility</p:attrName>
                                        </p:attrNameLst>
                                      </p:cBhvr>
                                      <p:to>
                                        <p:strVal val="visible"/>
                                      </p:to>
                                    </p:set>
                                    <p:animEffect transition="in" filter="strips(downRight)">
                                      <p:cBhvr>
                                        <p:cTn id="7" dur="1000"/>
                                        <p:tgtEl>
                                          <p:spTgt spid="117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ChangeArrowheads="1"/>
          </p:cNvSpPr>
          <p:nvPr>
            <p:ph type="title"/>
          </p:nvPr>
        </p:nvSpPr>
        <p:spPr>
          <a:xfrm>
            <a:off x="685800" y="434975"/>
            <a:ext cx="7772400" cy="1003300"/>
          </a:xfrm>
        </p:spPr>
        <p:txBody>
          <a:bodyPr/>
          <a:lstStyle/>
          <a:p>
            <a:r>
              <a:rPr lang="en-US" dirty="0">
                <a:solidFill>
                  <a:srgbClr val="0844BC"/>
                </a:solidFill>
                <a:latin typeface="Arial" pitchFamily="34" charset="0"/>
                <a:cs typeface="Arial" pitchFamily="34" charset="0"/>
              </a:rPr>
              <a:t>Time Studies</a:t>
            </a:r>
          </a:p>
        </p:txBody>
      </p:sp>
      <p:sp>
        <p:nvSpPr>
          <p:cNvPr id="118787" name="Rectangle 3"/>
          <p:cNvSpPr>
            <a:spLocks noChangeArrowheads="1"/>
          </p:cNvSpPr>
          <p:nvPr/>
        </p:nvSpPr>
        <p:spPr bwMode="auto">
          <a:xfrm>
            <a:off x="833438" y="1611313"/>
            <a:ext cx="6648450" cy="544512"/>
          </a:xfrm>
          <a:prstGeom prst="rect">
            <a:avLst/>
          </a:prstGeom>
          <a:noFill/>
          <a:ln w="9525">
            <a:noFill/>
            <a:miter lim="800000"/>
            <a:headEnd/>
            <a:tailEnd/>
          </a:ln>
        </p:spPr>
        <p:txBody>
          <a:bodyPr wrap="none">
            <a:spAutoFit/>
          </a:bodyPr>
          <a:lstStyle/>
          <a:p>
            <a:pPr marL="533400" indent="-533400">
              <a:lnSpc>
                <a:spcPct val="90000"/>
              </a:lnSpc>
              <a:spcBef>
                <a:spcPct val="40000"/>
              </a:spcBef>
              <a:buClr>
                <a:srgbClr val="BF0922"/>
              </a:buClr>
              <a:buFont typeface="Times" pitchFamily="18" charset="0"/>
              <a:buAutoNum type="arabicPeriod" startAt="5"/>
            </a:pPr>
            <a:r>
              <a:rPr lang="en-US" sz="3200"/>
              <a:t>Compute average observed time</a:t>
            </a:r>
          </a:p>
        </p:txBody>
      </p:sp>
      <p:grpSp>
        <p:nvGrpSpPr>
          <p:cNvPr id="2" name="Group 4"/>
          <p:cNvGrpSpPr>
            <a:grpSpLocks/>
          </p:cNvGrpSpPr>
          <p:nvPr/>
        </p:nvGrpSpPr>
        <p:grpSpPr bwMode="auto">
          <a:xfrm>
            <a:off x="1009650" y="2395538"/>
            <a:ext cx="6718300" cy="1316037"/>
            <a:chOff x="1142" y="1865"/>
            <a:chExt cx="4232" cy="829"/>
          </a:xfrm>
        </p:grpSpPr>
        <p:sp>
          <p:nvSpPr>
            <p:cNvPr id="112649" name="Rectangle 5"/>
            <p:cNvSpPr>
              <a:spLocks noChangeArrowheads="1"/>
            </p:cNvSpPr>
            <p:nvPr/>
          </p:nvSpPr>
          <p:spPr bwMode="auto">
            <a:xfrm>
              <a:off x="1142" y="2037"/>
              <a:ext cx="1187" cy="657"/>
            </a:xfrm>
            <a:prstGeom prst="rect">
              <a:avLst/>
            </a:prstGeom>
            <a:noFill/>
            <a:ln w="9525">
              <a:noFill/>
              <a:miter lim="800000"/>
              <a:headEnd/>
              <a:tailEnd/>
            </a:ln>
          </p:spPr>
          <p:txBody>
            <a:bodyPr>
              <a:spAutoFit/>
            </a:bodyPr>
            <a:lstStyle/>
            <a:p>
              <a:pPr algn="ctr">
                <a:lnSpc>
                  <a:spcPct val="85000"/>
                </a:lnSpc>
              </a:pPr>
              <a:r>
                <a:rPr lang="en-US" sz="2400"/>
                <a:t>Average observed</a:t>
              </a:r>
            </a:p>
            <a:p>
              <a:pPr algn="ctr">
                <a:lnSpc>
                  <a:spcPct val="85000"/>
                </a:lnSpc>
              </a:pPr>
              <a:r>
                <a:rPr lang="en-US" sz="2400"/>
                <a:t>time</a:t>
              </a:r>
            </a:p>
          </p:txBody>
        </p:sp>
        <p:grpSp>
          <p:nvGrpSpPr>
            <p:cNvPr id="3" name="Group 6"/>
            <p:cNvGrpSpPr>
              <a:grpSpLocks/>
            </p:cNvGrpSpPr>
            <p:nvPr/>
          </p:nvGrpSpPr>
          <p:grpSpPr bwMode="auto">
            <a:xfrm>
              <a:off x="2696" y="1865"/>
              <a:ext cx="2678" cy="750"/>
              <a:chOff x="2696" y="1945"/>
              <a:chExt cx="2678" cy="750"/>
            </a:xfrm>
          </p:grpSpPr>
          <p:sp>
            <p:nvSpPr>
              <p:cNvPr id="112652" name="Rectangle 7"/>
              <p:cNvSpPr>
                <a:spLocks noChangeArrowheads="1"/>
              </p:cNvSpPr>
              <p:nvPr/>
            </p:nvSpPr>
            <p:spPr bwMode="auto">
              <a:xfrm>
                <a:off x="2696" y="1945"/>
                <a:ext cx="2678" cy="750"/>
              </a:xfrm>
              <a:prstGeom prst="rect">
                <a:avLst/>
              </a:prstGeom>
              <a:noFill/>
              <a:ln w="9525">
                <a:noFill/>
                <a:miter lim="800000"/>
                <a:headEnd/>
                <a:tailEnd/>
              </a:ln>
            </p:spPr>
            <p:txBody>
              <a:bodyPr>
                <a:spAutoFit/>
              </a:bodyPr>
              <a:lstStyle/>
              <a:p>
                <a:pPr algn="ctr">
                  <a:lnSpc>
                    <a:spcPct val="85000"/>
                  </a:lnSpc>
                  <a:spcAft>
                    <a:spcPct val="40000"/>
                  </a:spcAft>
                </a:pPr>
                <a:r>
                  <a:rPr lang="en-US" sz="2400"/>
                  <a:t>Sum of the times recorded to perform each element</a:t>
                </a:r>
              </a:p>
              <a:p>
                <a:pPr algn="ctr">
                  <a:lnSpc>
                    <a:spcPct val="85000"/>
                  </a:lnSpc>
                  <a:spcAft>
                    <a:spcPct val="40000"/>
                  </a:spcAft>
                </a:pPr>
                <a:r>
                  <a:rPr lang="en-US" sz="2400"/>
                  <a:t>Number of observations</a:t>
                </a:r>
              </a:p>
            </p:txBody>
          </p:sp>
          <p:sp>
            <p:nvSpPr>
              <p:cNvPr id="112653" name="Line 8"/>
              <p:cNvSpPr>
                <a:spLocks noChangeShapeType="1"/>
              </p:cNvSpPr>
              <p:nvPr/>
            </p:nvSpPr>
            <p:spPr bwMode="auto">
              <a:xfrm>
                <a:off x="2728" y="2424"/>
                <a:ext cx="2632" cy="0"/>
              </a:xfrm>
              <a:prstGeom prst="line">
                <a:avLst/>
              </a:prstGeom>
              <a:noFill/>
              <a:ln w="28575">
                <a:solidFill>
                  <a:schemeClr val="tx1"/>
                </a:solidFill>
                <a:round/>
                <a:headEnd/>
                <a:tailEnd/>
              </a:ln>
            </p:spPr>
            <p:txBody>
              <a:bodyPr wrap="none" anchor="ctr"/>
              <a:lstStyle/>
              <a:p>
                <a:endParaRPr lang="en-US"/>
              </a:p>
            </p:txBody>
          </p:sp>
        </p:grpSp>
        <p:sp>
          <p:nvSpPr>
            <p:cNvPr id="112651" name="Rectangle 10"/>
            <p:cNvSpPr>
              <a:spLocks noChangeArrowheads="1"/>
            </p:cNvSpPr>
            <p:nvPr/>
          </p:nvSpPr>
          <p:spPr bwMode="auto">
            <a:xfrm>
              <a:off x="2342" y="2216"/>
              <a:ext cx="230" cy="291"/>
            </a:xfrm>
            <a:prstGeom prst="rect">
              <a:avLst/>
            </a:prstGeom>
            <a:noFill/>
            <a:ln w="9525">
              <a:noFill/>
              <a:miter lim="800000"/>
              <a:headEnd/>
              <a:tailEnd/>
            </a:ln>
          </p:spPr>
          <p:txBody>
            <a:bodyPr wrap="none">
              <a:spAutoFit/>
            </a:bodyPr>
            <a:lstStyle/>
            <a:p>
              <a:r>
                <a:rPr lang="en-US" sz="2400"/>
                <a:t>=</a:t>
              </a:r>
            </a:p>
          </p:txBody>
        </p:sp>
      </p:grpSp>
      <p:sp>
        <p:nvSpPr>
          <p:cNvPr id="118795" name="Rectangle 11"/>
          <p:cNvSpPr>
            <a:spLocks noChangeArrowheads="1"/>
          </p:cNvSpPr>
          <p:nvPr/>
        </p:nvSpPr>
        <p:spPr bwMode="auto">
          <a:xfrm>
            <a:off x="833438" y="3983038"/>
            <a:ext cx="7080250" cy="987425"/>
          </a:xfrm>
          <a:prstGeom prst="rect">
            <a:avLst/>
          </a:prstGeom>
          <a:noFill/>
          <a:ln w="9525">
            <a:noFill/>
            <a:miter lim="800000"/>
            <a:headEnd/>
            <a:tailEnd/>
          </a:ln>
        </p:spPr>
        <p:txBody>
          <a:bodyPr>
            <a:spAutoFit/>
          </a:bodyPr>
          <a:lstStyle/>
          <a:p>
            <a:pPr marL="533400" indent="-533400">
              <a:lnSpc>
                <a:spcPct val="90000"/>
              </a:lnSpc>
              <a:spcBef>
                <a:spcPct val="40000"/>
              </a:spcBef>
              <a:buClr>
                <a:srgbClr val="BF0922"/>
              </a:buClr>
              <a:buFont typeface="Times" pitchFamily="18" charset="0"/>
              <a:buAutoNum type="arabicPeriod" startAt="6"/>
            </a:pPr>
            <a:r>
              <a:rPr lang="en-US" sz="3200"/>
              <a:t>Determine performance rating and normal time</a:t>
            </a:r>
          </a:p>
        </p:txBody>
      </p:sp>
      <p:grpSp>
        <p:nvGrpSpPr>
          <p:cNvPr id="4" name="Group 12"/>
          <p:cNvGrpSpPr>
            <a:grpSpLocks/>
          </p:cNvGrpSpPr>
          <p:nvPr/>
        </p:nvGrpSpPr>
        <p:grpSpPr bwMode="auto">
          <a:xfrm>
            <a:off x="1139825" y="5200650"/>
            <a:ext cx="6454775" cy="1042988"/>
            <a:chOff x="638" y="3572"/>
            <a:chExt cx="4066" cy="657"/>
          </a:xfrm>
        </p:grpSpPr>
        <p:sp>
          <p:nvSpPr>
            <p:cNvPr id="112646" name="Rectangle 13"/>
            <p:cNvSpPr>
              <a:spLocks noChangeArrowheads="1"/>
            </p:cNvSpPr>
            <p:nvPr/>
          </p:nvSpPr>
          <p:spPr bwMode="auto">
            <a:xfrm>
              <a:off x="638" y="3698"/>
              <a:ext cx="2718" cy="291"/>
            </a:xfrm>
            <a:prstGeom prst="rect">
              <a:avLst/>
            </a:prstGeom>
            <a:noFill/>
            <a:ln w="9525">
              <a:noFill/>
              <a:miter lim="800000"/>
              <a:headEnd/>
              <a:tailEnd/>
            </a:ln>
          </p:spPr>
          <p:txBody>
            <a:bodyPr wrap="none">
              <a:spAutoFit/>
            </a:bodyPr>
            <a:lstStyle/>
            <a:p>
              <a:r>
                <a:rPr lang="en-US" sz="2400"/>
                <a:t>Normal time =                        x</a:t>
              </a:r>
            </a:p>
          </p:txBody>
        </p:sp>
        <p:sp>
          <p:nvSpPr>
            <p:cNvPr id="112647" name="Rectangle 15"/>
            <p:cNvSpPr>
              <a:spLocks noChangeArrowheads="1"/>
            </p:cNvSpPr>
            <p:nvPr/>
          </p:nvSpPr>
          <p:spPr bwMode="auto">
            <a:xfrm>
              <a:off x="2018" y="3572"/>
              <a:ext cx="990" cy="657"/>
            </a:xfrm>
            <a:prstGeom prst="rect">
              <a:avLst/>
            </a:prstGeom>
            <a:noFill/>
            <a:ln w="9525">
              <a:noFill/>
              <a:miter lim="800000"/>
              <a:headEnd/>
              <a:tailEnd/>
            </a:ln>
          </p:spPr>
          <p:txBody>
            <a:bodyPr>
              <a:spAutoFit/>
            </a:bodyPr>
            <a:lstStyle/>
            <a:p>
              <a:pPr algn="ctr">
                <a:lnSpc>
                  <a:spcPct val="85000"/>
                </a:lnSpc>
              </a:pPr>
              <a:r>
                <a:rPr lang="en-US" sz="2400"/>
                <a:t>Average </a:t>
              </a:r>
            </a:p>
            <a:p>
              <a:pPr algn="ctr">
                <a:lnSpc>
                  <a:spcPct val="85000"/>
                </a:lnSpc>
              </a:pPr>
              <a:r>
                <a:rPr lang="en-US" sz="2400"/>
                <a:t>observed </a:t>
              </a:r>
              <a:br>
                <a:rPr lang="en-US" sz="2400"/>
              </a:br>
              <a:r>
                <a:rPr lang="en-US" sz="2400"/>
                <a:t>time</a:t>
              </a:r>
            </a:p>
          </p:txBody>
        </p:sp>
        <p:sp>
          <p:nvSpPr>
            <p:cNvPr id="112648" name="Rectangle 18"/>
            <p:cNvSpPr>
              <a:spLocks noChangeArrowheads="1"/>
            </p:cNvSpPr>
            <p:nvPr/>
          </p:nvSpPr>
          <p:spPr bwMode="auto">
            <a:xfrm>
              <a:off x="3448" y="3646"/>
              <a:ext cx="1256" cy="459"/>
            </a:xfrm>
            <a:prstGeom prst="rect">
              <a:avLst/>
            </a:prstGeom>
            <a:noFill/>
            <a:ln w="9525">
              <a:noFill/>
              <a:miter lim="800000"/>
              <a:headEnd/>
              <a:tailEnd/>
            </a:ln>
          </p:spPr>
          <p:txBody>
            <a:bodyPr>
              <a:spAutoFit/>
            </a:bodyPr>
            <a:lstStyle/>
            <a:p>
              <a:pPr algn="ctr">
                <a:lnSpc>
                  <a:spcPct val="85000"/>
                </a:lnSpc>
              </a:pPr>
              <a:r>
                <a:rPr lang="en-US" sz="2400"/>
                <a:t>Performance </a:t>
              </a:r>
            </a:p>
            <a:p>
              <a:pPr algn="ctr">
                <a:lnSpc>
                  <a:spcPct val="85000"/>
                </a:lnSpc>
              </a:pPr>
              <a:r>
                <a:rPr lang="en-US" sz="2400"/>
                <a:t>rating factor</a:t>
              </a:r>
            </a:p>
          </p:txBody>
        </p:sp>
      </p:grpSp>
      <p:grpSp>
        <p:nvGrpSpPr>
          <p:cNvPr id="15" name="Group 14"/>
          <p:cNvGrpSpPr/>
          <p:nvPr/>
        </p:nvGrpSpPr>
        <p:grpSpPr>
          <a:xfrm>
            <a:off x="0" y="6324600"/>
            <a:ext cx="8763000" cy="533400"/>
            <a:chOff x="0" y="6324600"/>
            <a:chExt cx="8763000" cy="533400"/>
          </a:xfrm>
        </p:grpSpPr>
        <p:sp>
          <p:nvSpPr>
            <p:cNvPr id="16" name="TextBox 15"/>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7" name="TextBox 16"/>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8" name="TextBox 17"/>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7 of 28</a:t>
              </a:r>
            </a:p>
          </p:txBody>
        </p:sp>
      </p:gr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18787"/>
                                        </p:tgtEl>
                                        <p:attrNameLst>
                                          <p:attrName>style.visibility</p:attrName>
                                        </p:attrNameLst>
                                      </p:cBhvr>
                                      <p:to>
                                        <p:strVal val="visible"/>
                                      </p:to>
                                    </p:set>
                                    <p:animEffect transition="in" filter="wipe(left)">
                                      <p:cBhvr>
                                        <p:cTn id="7" dur="1000"/>
                                        <p:tgtEl>
                                          <p:spTgt spid="118787"/>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8795"/>
                                        </p:tgtEl>
                                        <p:attrNameLst>
                                          <p:attrName>style.visibility</p:attrName>
                                        </p:attrNameLst>
                                      </p:cBhvr>
                                      <p:to>
                                        <p:strVal val="visible"/>
                                      </p:to>
                                    </p:set>
                                    <p:animEffect transition="in" filter="wipe(left)">
                                      <p:cBhvr>
                                        <p:cTn id="16" dur="1000"/>
                                        <p:tgtEl>
                                          <p:spTgt spid="118795"/>
                                        </p:tgtEl>
                                      </p:cBhvr>
                                    </p:animEffect>
                                  </p:childTnLst>
                                </p:cTn>
                              </p:par>
                            </p:childTnLst>
                          </p:cTn>
                        </p:par>
                        <p:par>
                          <p:cTn id="17" fill="hold" nodeType="afterGroup">
                            <p:stCondLst>
                              <p:cond delay="1000"/>
                            </p:stCondLst>
                            <p:childTnLst>
                              <p:par>
                                <p:cTn id="18" presetID="22" presetClass="entr" presetSubtype="8" fill="hold" nodeType="afterEffect">
                                  <p:stCondLst>
                                    <p:cond delay="100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autoUpdateAnimBg="0"/>
      <p:bldP spid="118795"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ChangeArrowheads="1"/>
          </p:cNvSpPr>
          <p:nvPr>
            <p:ph type="title"/>
          </p:nvPr>
        </p:nvSpPr>
        <p:spPr>
          <a:xfrm>
            <a:off x="685800" y="520700"/>
            <a:ext cx="7772400" cy="1003300"/>
          </a:xfrm>
        </p:spPr>
        <p:txBody>
          <a:bodyPr/>
          <a:lstStyle/>
          <a:p>
            <a:r>
              <a:rPr lang="en-US" dirty="0">
                <a:solidFill>
                  <a:srgbClr val="0844BC"/>
                </a:solidFill>
                <a:latin typeface="Arial" pitchFamily="34" charset="0"/>
                <a:cs typeface="Arial" pitchFamily="34" charset="0"/>
              </a:rPr>
              <a:t>Time Studies</a:t>
            </a:r>
          </a:p>
        </p:txBody>
      </p:sp>
      <p:sp>
        <p:nvSpPr>
          <p:cNvPr id="119811" name="Rectangle 3"/>
          <p:cNvSpPr>
            <a:spLocks noChangeArrowheads="1"/>
          </p:cNvSpPr>
          <p:nvPr/>
        </p:nvSpPr>
        <p:spPr bwMode="auto">
          <a:xfrm>
            <a:off x="728663" y="1979613"/>
            <a:ext cx="7659687" cy="2070100"/>
          </a:xfrm>
          <a:prstGeom prst="rect">
            <a:avLst/>
          </a:prstGeom>
          <a:noFill/>
          <a:ln w="9525">
            <a:noFill/>
            <a:miter lim="800000"/>
            <a:headEnd/>
            <a:tailEnd/>
          </a:ln>
        </p:spPr>
        <p:txBody>
          <a:bodyPr>
            <a:spAutoFit/>
          </a:bodyPr>
          <a:lstStyle/>
          <a:p>
            <a:pPr marL="533400" indent="-533400">
              <a:lnSpc>
                <a:spcPct val="90000"/>
              </a:lnSpc>
              <a:spcAft>
                <a:spcPct val="40000"/>
              </a:spcAft>
              <a:buClr>
                <a:srgbClr val="BF0922"/>
              </a:buClr>
              <a:buFont typeface="Times" pitchFamily="18" charset="0"/>
              <a:buAutoNum type="arabicPeriod" startAt="7"/>
            </a:pPr>
            <a:r>
              <a:rPr lang="en-US" sz="3200"/>
              <a:t>Add the normal times for each element to develop the total normal time for the task</a:t>
            </a:r>
          </a:p>
          <a:p>
            <a:pPr marL="533400" indent="-533400">
              <a:lnSpc>
                <a:spcPct val="90000"/>
              </a:lnSpc>
              <a:spcAft>
                <a:spcPct val="40000"/>
              </a:spcAft>
              <a:buClr>
                <a:srgbClr val="BF0922"/>
              </a:buClr>
              <a:buFont typeface="Times" pitchFamily="18" charset="0"/>
              <a:buAutoNum type="arabicPeriod" startAt="7"/>
            </a:pPr>
            <a:r>
              <a:rPr lang="en-US" sz="3200"/>
              <a:t>Compute the standard time</a:t>
            </a:r>
          </a:p>
        </p:txBody>
      </p:sp>
      <p:grpSp>
        <p:nvGrpSpPr>
          <p:cNvPr id="2" name="Group 4"/>
          <p:cNvGrpSpPr>
            <a:grpSpLocks/>
          </p:cNvGrpSpPr>
          <p:nvPr/>
        </p:nvGrpSpPr>
        <p:grpSpPr bwMode="auto">
          <a:xfrm>
            <a:off x="1776413" y="4422775"/>
            <a:ext cx="5527675" cy="1000125"/>
            <a:chOff x="486" y="3138"/>
            <a:chExt cx="3482" cy="630"/>
          </a:xfrm>
        </p:grpSpPr>
        <p:sp>
          <p:nvSpPr>
            <p:cNvPr id="113668" name="Rectangle 5"/>
            <p:cNvSpPr>
              <a:spLocks noChangeArrowheads="1"/>
            </p:cNvSpPr>
            <p:nvPr/>
          </p:nvSpPr>
          <p:spPr bwMode="auto">
            <a:xfrm>
              <a:off x="486" y="3321"/>
              <a:ext cx="1544" cy="291"/>
            </a:xfrm>
            <a:prstGeom prst="rect">
              <a:avLst/>
            </a:prstGeom>
            <a:noFill/>
            <a:ln w="9525">
              <a:noFill/>
              <a:miter lim="800000"/>
              <a:headEnd/>
              <a:tailEnd/>
            </a:ln>
          </p:spPr>
          <p:txBody>
            <a:bodyPr wrap="none">
              <a:spAutoFit/>
            </a:bodyPr>
            <a:lstStyle/>
            <a:p>
              <a:r>
                <a:rPr lang="en-US" sz="2400"/>
                <a:t>Standard time  =</a:t>
              </a:r>
            </a:p>
          </p:txBody>
        </p:sp>
        <p:grpSp>
          <p:nvGrpSpPr>
            <p:cNvPr id="3" name="Group 6"/>
            <p:cNvGrpSpPr>
              <a:grpSpLocks/>
            </p:cNvGrpSpPr>
            <p:nvPr/>
          </p:nvGrpSpPr>
          <p:grpSpPr bwMode="auto">
            <a:xfrm>
              <a:off x="2112" y="3138"/>
              <a:ext cx="1856" cy="630"/>
              <a:chOff x="2360" y="3154"/>
              <a:chExt cx="1856" cy="630"/>
            </a:xfrm>
          </p:grpSpPr>
          <p:sp>
            <p:nvSpPr>
              <p:cNvPr id="113670" name="Rectangle 7"/>
              <p:cNvSpPr>
                <a:spLocks noChangeArrowheads="1"/>
              </p:cNvSpPr>
              <p:nvPr/>
            </p:nvSpPr>
            <p:spPr bwMode="auto">
              <a:xfrm>
                <a:off x="2386" y="3154"/>
                <a:ext cx="1808" cy="630"/>
              </a:xfrm>
              <a:prstGeom prst="rect">
                <a:avLst/>
              </a:prstGeom>
              <a:noFill/>
              <a:ln w="9525">
                <a:noFill/>
                <a:miter lim="800000"/>
                <a:headEnd/>
                <a:tailEnd/>
              </a:ln>
            </p:spPr>
            <p:txBody>
              <a:bodyPr wrap="none">
                <a:spAutoFit/>
              </a:bodyPr>
              <a:lstStyle/>
              <a:p>
                <a:pPr algn="ctr">
                  <a:lnSpc>
                    <a:spcPct val="125000"/>
                  </a:lnSpc>
                </a:pPr>
                <a:r>
                  <a:rPr lang="en-US" sz="2400"/>
                  <a:t>Total normal time</a:t>
                </a:r>
              </a:p>
              <a:p>
                <a:pPr algn="ctr">
                  <a:lnSpc>
                    <a:spcPct val="125000"/>
                  </a:lnSpc>
                </a:pPr>
                <a:r>
                  <a:rPr lang="en-US" sz="2400"/>
                  <a:t>1 - Allowance factor</a:t>
                </a:r>
              </a:p>
            </p:txBody>
          </p:sp>
          <p:sp>
            <p:nvSpPr>
              <p:cNvPr id="113671" name="Line 8"/>
              <p:cNvSpPr>
                <a:spLocks noChangeShapeType="1"/>
              </p:cNvSpPr>
              <p:nvPr/>
            </p:nvSpPr>
            <p:spPr bwMode="auto">
              <a:xfrm>
                <a:off x="2360" y="3488"/>
                <a:ext cx="1856" cy="0"/>
              </a:xfrm>
              <a:prstGeom prst="line">
                <a:avLst/>
              </a:prstGeom>
              <a:noFill/>
              <a:ln w="28575">
                <a:solidFill>
                  <a:schemeClr val="tx1"/>
                </a:solidFill>
                <a:round/>
                <a:headEnd/>
                <a:tailEnd/>
              </a:ln>
            </p:spPr>
            <p:txBody>
              <a:bodyPr wrap="none" anchor="ctr"/>
              <a:lstStyle/>
              <a:p>
                <a:endParaRPr lang="en-US"/>
              </a:p>
            </p:txBody>
          </p:sp>
        </p:grpSp>
      </p:grpSp>
      <p:grpSp>
        <p:nvGrpSpPr>
          <p:cNvPr id="9" name="Group 8"/>
          <p:cNvGrpSpPr/>
          <p:nvPr/>
        </p:nvGrpSpPr>
        <p:grpSpPr>
          <a:xfrm>
            <a:off x="0" y="6324600"/>
            <a:ext cx="8763000" cy="533400"/>
            <a:chOff x="0" y="6324600"/>
            <a:chExt cx="8763000" cy="533400"/>
          </a:xfrm>
        </p:grpSpPr>
        <p:sp>
          <p:nvSpPr>
            <p:cNvPr id="10" name="TextBox 9"/>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1" name="TextBox 10"/>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2" name="TextBox 11"/>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8 of 28</a:t>
              </a:r>
            </a:p>
          </p:txBody>
        </p:sp>
      </p:grpSp>
    </p:spTree>
  </p:cSld>
  <p:clrMapOvr>
    <a:masterClrMapping/>
  </p:clrMapOvr>
  <p:transition>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19811"/>
                                        </p:tgtEl>
                                        <p:attrNameLst>
                                          <p:attrName>style.visibility</p:attrName>
                                        </p:attrNameLst>
                                      </p:cBhvr>
                                      <p:to>
                                        <p:strVal val="visible"/>
                                      </p:to>
                                    </p:set>
                                    <p:animEffect transition="in" filter="wipe(left)">
                                      <p:cBhvr>
                                        <p:cTn id="7" dur="1000"/>
                                        <p:tgtEl>
                                          <p:spTgt spid="119811"/>
                                        </p:tgtEl>
                                      </p:cBhvr>
                                    </p:animEffect>
                                  </p:childTnLst>
                                </p:cTn>
                              </p:par>
                            </p:childTnLst>
                          </p:cTn>
                        </p:par>
                        <p:par>
                          <p:cTn id="8" fill="hold" nodeType="afterGroup">
                            <p:stCondLst>
                              <p:cond delay="2000"/>
                            </p:stCondLst>
                            <p:childTnLst>
                              <p:par>
                                <p:cTn id="9" presetID="22" presetClass="entr" presetSubtype="8"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noChangeArrowheads="1"/>
          </p:cNvSpPr>
          <p:nvPr>
            <p:ph type="title"/>
          </p:nvPr>
        </p:nvSpPr>
        <p:spPr/>
        <p:txBody>
          <a:bodyPr/>
          <a:lstStyle/>
          <a:p>
            <a:r>
              <a:rPr lang="en-US" dirty="0">
                <a:solidFill>
                  <a:srgbClr val="0844BC"/>
                </a:solidFill>
                <a:latin typeface="Arial" pitchFamily="34" charset="0"/>
                <a:cs typeface="Arial" pitchFamily="34" charset="0"/>
              </a:rPr>
              <a:t>Rest Allowances</a:t>
            </a:r>
          </a:p>
        </p:txBody>
      </p:sp>
      <p:sp>
        <p:nvSpPr>
          <p:cNvPr id="114690" name="Content Placeholder 1"/>
          <p:cNvSpPr>
            <a:spLocks noGrp="1"/>
          </p:cNvSpPr>
          <p:nvPr>
            <p:ph sz="quarter" idx="1"/>
          </p:nvPr>
        </p:nvSpPr>
        <p:spPr>
          <a:xfrm>
            <a:off x="673100" y="1600200"/>
            <a:ext cx="7810500" cy="4525963"/>
          </a:xfrm>
        </p:spPr>
        <p:txBody>
          <a:bodyPr>
            <a:normAutofit/>
          </a:bodyPr>
          <a:lstStyle/>
          <a:p>
            <a:pPr>
              <a:buFont typeface="Arial Unicode MS" pitchFamily="34" charset="-128"/>
              <a:buChar char="▶"/>
            </a:pPr>
            <a:r>
              <a:rPr lang="en-US" dirty="0">
                <a:latin typeface="Arial" pitchFamily="34" charset="0"/>
                <a:cs typeface="Arial" pitchFamily="34" charset="0"/>
              </a:rPr>
              <a:t>Personal time allowance</a:t>
            </a:r>
          </a:p>
          <a:p>
            <a:pPr lvl="1">
              <a:buFont typeface="Arial Unicode MS" pitchFamily="34" charset="-128"/>
              <a:buChar char="▶"/>
            </a:pPr>
            <a:r>
              <a:rPr lang="en-US" dirty="0">
                <a:latin typeface="Arial" pitchFamily="34" charset="0"/>
                <a:cs typeface="Arial" pitchFamily="34" charset="0"/>
              </a:rPr>
              <a:t>4% - 7% of total time for use of restroom, water fountain, etc.</a:t>
            </a:r>
          </a:p>
          <a:p>
            <a:pPr>
              <a:buFont typeface="Arial Unicode MS" pitchFamily="34" charset="-128"/>
              <a:buChar char="▶"/>
            </a:pPr>
            <a:r>
              <a:rPr lang="en-US" dirty="0">
                <a:latin typeface="Arial" pitchFamily="34" charset="0"/>
                <a:cs typeface="Arial" pitchFamily="34" charset="0"/>
              </a:rPr>
              <a:t>Delay allowance</a:t>
            </a:r>
          </a:p>
          <a:p>
            <a:pPr lvl="1">
              <a:buFont typeface="Arial Unicode MS" pitchFamily="34" charset="-128"/>
              <a:buChar char="▶"/>
            </a:pPr>
            <a:r>
              <a:rPr lang="en-US" dirty="0">
                <a:latin typeface="Arial" pitchFamily="34" charset="0"/>
                <a:cs typeface="Arial" pitchFamily="34" charset="0"/>
              </a:rPr>
              <a:t>Based upon actual delays that occur</a:t>
            </a:r>
          </a:p>
          <a:p>
            <a:pPr>
              <a:buFont typeface="Arial Unicode MS" pitchFamily="34" charset="-128"/>
              <a:buChar char="▶"/>
            </a:pPr>
            <a:r>
              <a:rPr lang="en-US" dirty="0">
                <a:latin typeface="Arial" pitchFamily="34" charset="0"/>
                <a:cs typeface="Arial" pitchFamily="34" charset="0"/>
              </a:rPr>
              <a:t>Fatigue allowance</a:t>
            </a:r>
          </a:p>
          <a:p>
            <a:pPr lvl="1">
              <a:buFont typeface="Arial Unicode MS" pitchFamily="34" charset="-128"/>
              <a:buChar char="▶"/>
            </a:pPr>
            <a:r>
              <a:rPr lang="en-US" dirty="0">
                <a:latin typeface="Arial" pitchFamily="34" charset="0"/>
                <a:cs typeface="Arial" pitchFamily="34" charset="0"/>
              </a:rPr>
              <a:t>Based on human energy expenditure under various physical and environmental conditions</a:t>
            </a:r>
          </a:p>
          <a:p>
            <a:pPr>
              <a:buFont typeface="Arial Unicode MS" pitchFamily="34" charset="-128"/>
              <a:buChar char="▶"/>
            </a:pPr>
            <a:endParaRPr lang="en-US" dirty="0">
              <a:latin typeface="Arial" pitchFamily="34" charset="0"/>
              <a:cs typeface="Arial" pitchFamily="34" charset="0"/>
            </a:endParaRPr>
          </a:p>
        </p:txBody>
      </p:sp>
      <p:grpSp>
        <p:nvGrpSpPr>
          <p:cNvPr id="4" name="Group 3"/>
          <p:cNvGrpSpPr/>
          <p:nvPr/>
        </p:nvGrpSpPr>
        <p:grpSpPr>
          <a:xfrm>
            <a:off x="0" y="6324600"/>
            <a:ext cx="8763000" cy="533400"/>
            <a:chOff x="0" y="6324600"/>
            <a:chExt cx="8763000" cy="533400"/>
          </a:xfrm>
        </p:grpSpPr>
        <p:sp>
          <p:nvSpPr>
            <p:cNvPr id="5" name="TextBox 4"/>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6" name="TextBox 5"/>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9 of 28</a:t>
              </a:r>
            </a:p>
          </p:txBody>
        </p:sp>
      </p:grpSp>
    </p:spTree>
  </p:cSld>
  <p:clrMapOvr>
    <a:masterClrMapping/>
  </p:clrMapOvr>
  <p:transition>
    <p:pull dir="l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p:txBody>
          <a:bodyPr/>
          <a:lstStyle/>
          <a:p>
            <a:r>
              <a:rPr lang="en-US" dirty="0">
                <a:solidFill>
                  <a:srgbClr val="0844BC"/>
                </a:solidFill>
                <a:latin typeface="Arial" pitchFamily="34" charset="0"/>
                <a:cs typeface="Arial" pitchFamily="34" charset="0"/>
              </a:rPr>
              <a:t>Time Study Example 1</a:t>
            </a:r>
          </a:p>
        </p:txBody>
      </p:sp>
      <p:sp>
        <p:nvSpPr>
          <p:cNvPr id="5" name="Rectangle 3"/>
          <p:cNvSpPr>
            <a:spLocks noGrp="1" noChangeArrowheads="1"/>
          </p:cNvSpPr>
          <p:nvPr>
            <p:ph sz="quarter" idx="1"/>
          </p:nvPr>
        </p:nvSpPr>
        <p:spPr bwMode="auto">
          <a:xfrm>
            <a:off x="457200" y="1600200"/>
            <a:ext cx="5729132" cy="2693045"/>
          </a:xfrm>
          <a:prstGeom prst="rect">
            <a:avLst/>
          </a:prstGeom>
          <a:noFill/>
          <a:ln w="9525">
            <a:noFill/>
            <a:miter lim="800000"/>
            <a:headEnd/>
            <a:tailEnd/>
          </a:ln>
        </p:spPr>
        <p:txBody>
          <a:bodyPr wrap="none">
            <a:spAutoFit/>
          </a:bodyPr>
          <a:lstStyle/>
          <a:p>
            <a:r>
              <a:rPr lang="en-US" sz="2400" dirty="0"/>
              <a:t>Average observed time = 4.0 minutes</a:t>
            </a:r>
          </a:p>
          <a:p>
            <a:r>
              <a:rPr lang="en-US" sz="2400" dirty="0"/>
              <a:t>Worker rating = 85%</a:t>
            </a:r>
          </a:p>
          <a:p>
            <a:r>
              <a:rPr lang="en-US" sz="2400" dirty="0"/>
              <a:t>Allowance factor = 13%</a:t>
            </a:r>
          </a:p>
          <a:p>
            <a:endParaRPr lang="en-US" dirty="0"/>
          </a:p>
          <a:p>
            <a:endParaRPr lang="en-US" sz="2400" dirty="0"/>
          </a:p>
          <a:p>
            <a:r>
              <a:rPr lang="en-US" sz="2400" dirty="0"/>
              <a:t>               Standard time??</a:t>
            </a:r>
          </a:p>
        </p:txBody>
      </p:sp>
    </p:spTree>
    <p:extLst>
      <p:ext uri="{BB962C8B-B14F-4D97-AF65-F5344CB8AC3E}">
        <p14:creationId xmlns:p14="http://schemas.microsoft.com/office/powerpoint/2010/main" val="577970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p:cNvSpPr>
            <a:spLocks noGrp="1" noChangeArrowheads="1"/>
          </p:cNvSpPr>
          <p:nvPr>
            <p:ph type="title"/>
          </p:nvPr>
        </p:nvSpPr>
        <p:spPr/>
        <p:txBody>
          <a:bodyPr/>
          <a:lstStyle/>
          <a:p>
            <a:r>
              <a:rPr lang="en-US" dirty="0">
                <a:solidFill>
                  <a:srgbClr val="0844BC"/>
                </a:solidFill>
                <a:latin typeface="Arial" pitchFamily="34" charset="0"/>
                <a:cs typeface="Arial" pitchFamily="34" charset="0"/>
              </a:rPr>
              <a:t>Time Study Example 1</a:t>
            </a:r>
          </a:p>
        </p:txBody>
      </p:sp>
      <p:sp>
        <p:nvSpPr>
          <p:cNvPr id="125955" name="Rectangle 3"/>
          <p:cNvSpPr>
            <a:spLocks noChangeArrowheads="1"/>
          </p:cNvSpPr>
          <p:nvPr/>
        </p:nvSpPr>
        <p:spPr bwMode="auto">
          <a:xfrm>
            <a:off x="1112838" y="1514475"/>
            <a:ext cx="5299075" cy="1200150"/>
          </a:xfrm>
          <a:prstGeom prst="rect">
            <a:avLst/>
          </a:prstGeom>
          <a:noFill/>
          <a:ln w="9525">
            <a:noFill/>
            <a:miter lim="800000"/>
            <a:headEnd/>
            <a:tailEnd/>
          </a:ln>
        </p:spPr>
        <p:txBody>
          <a:bodyPr wrap="none">
            <a:spAutoFit/>
          </a:bodyPr>
          <a:lstStyle/>
          <a:p>
            <a:r>
              <a:rPr lang="en-US" sz="2400" dirty="0"/>
              <a:t>Average observed time = 4.0 minutes</a:t>
            </a:r>
          </a:p>
          <a:p>
            <a:r>
              <a:rPr lang="en-US" sz="2400" dirty="0"/>
              <a:t>Worker rating = 85%</a:t>
            </a:r>
          </a:p>
          <a:p>
            <a:r>
              <a:rPr lang="en-US" sz="2400" dirty="0"/>
              <a:t>Allowance factor = 13%</a:t>
            </a:r>
          </a:p>
        </p:txBody>
      </p:sp>
      <p:grpSp>
        <p:nvGrpSpPr>
          <p:cNvPr id="2" name="Group 4"/>
          <p:cNvGrpSpPr>
            <a:grpSpLocks/>
          </p:cNvGrpSpPr>
          <p:nvPr/>
        </p:nvGrpSpPr>
        <p:grpSpPr bwMode="auto">
          <a:xfrm>
            <a:off x="615950" y="2911475"/>
            <a:ext cx="7832725" cy="1406525"/>
            <a:chOff x="444" y="2066"/>
            <a:chExt cx="4934" cy="886"/>
          </a:xfrm>
        </p:grpSpPr>
        <p:sp>
          <p:nvSpPr>
            <p:cNvPr id="118801" name="Rectangle 5"/>
            <p:cNvSpPr>
              <a:spLocks noChangeArrowheads="1"/>
            </p:cNvSpPr>
            <p:nvPr/>
          </p:nvSpPr>
          <p:spPr bwMode="auto">
            <a:xfrm>
              <a:off x="444" y="2066"/>
              <a:ext cx="4934" cy="291"/>
            </a:xfrm>
            <a:prstGeom prst="rect">
              <a:avLst/>
            </a:prstGeom>
            <a:noFill/>
            <a:ln w="9525">
              <a:noFill/>
              <a:miter lim="800000"/>
              <a:headEnd/>
              <a:tailEnd/>
            </a:ln>
          </p:spPr>
          <p:txBody>
            <a:bodyPr wrap="none">
              <a:spAutoFit/>
            </a:bodyPr>
            <a:lstStyle/>
            <a:p>
              <a:r>
                <a:rPr lang="en-US" sz="2400"/>
                <a:t>Normal time = (Average observed time) x (Rating factor)</a:t>
              </a:r>
            </a:p>
          </p:txBody>
        </p:sp>
        <p:sp>
          <p:nvSpPr>
            <p:cNvPr id="118802" name="Rectangle 6"/>
            <p:cNvSpPr>
              <a:spLocks noChangeArrowheads="1"/>
            </p:cNvSpPr>
            <p:nvPr/>
          </p:nvSpPr>
          <p:spPr bwMode="auto">
            <a:xfrm>
              <a:off x="1535" y="2322"/>
              <a:ext cx="1286" cy="630"/>
            </a:xfrm>
            <a:prstGeom prst="rect">
              <a:avLst/>
            </a:prstGeom>
            <a:noFill/>
            <a:ln w="9525">
              <a:noFill/>
              <a:miter lim="800000"/>
              <a:headEnd/>
              <a:tailEnd/>
            </a:ln>
          </p:spPr>
          <p:txBody>
            <a:bodyPr wrap="none">
              <a:spAutoFit/>
            </a:bodyPr>
            <a:lstStyle/>
            <a:p>
              <a:pPr>
                <a:lnSpc>
                  <a:spcPct val="125000"/>
                </a:lnSpc>
              </a:pPr>
              <a:r>
                <a:rPr lang="en-US" sz="2400"/>
                <a:t>= (4.0)(.85)</a:t>
              </a:r>
            </a:p>
            <a:p>
              <a:pPr>
                <a:lnSpc>
                  <a:spcPct val="125000"/>
                </a:lnSpc>
              </a:pPr>
              <a:r>
                <a:rPr lang="en-US" sz="2400"/>
                <a:t>= 3.4 minutes</a:t>
              </a:r>
            </a:p>
          </p:txBody>
        </p:sp>
      </p:grpSp>
      <p:grpSp>
        <p:nvGrpSpPr>
          <p:cNvPr id="3" name="Group 7"/>
          <p:cNvGrpSpPr>
            <a:grpSpLocks/>
          </p:cNvGrpSpPr>
          <p:nvPr/>
        </p:nvGrpSpPr>
        <p:grpSpPr bwMode="auto">
          <a:xfrm>
            <a:off x="590550" y="4548188"/>
            <a:ext cx="7759700" cy="1427162"/>
            <a:chOff x="428" y="3097"/>
            <a:chExt cx="4888" cy="899"/>
          </a:xfrm>
        </p:grpSpPr>
        <p:grpSp>
          <p:nvGrpSpPr>
            <p:cNvPr id="4" name="Group 8"/>
            <p:cNvGrpSpPr>
              <a:grpSpLocks/>
            </p:cNvGrpSpPr>
            <p:nvPr/>
          </p:nvGrpSpPr>
          <p:grpSpPr bwMode="auto">
            <a:xfrm>
              <a:off x="428" y="3097"/>
              <a:ext cx="4888" cy="531"/>
              <a:chOff x="614" y="3089"/>
              <a:chExt cx="4888" cy="531"/>
            </a:xfrm>
          </p:grpSpPr>
          <p:sp>
            <p:nvSpPr>
              <p:cNvPr id="118791" name="Rectangle 9"/>
              <p:cNvSpPr>
                <a:spLocks noChangeArrowheads="1"/>
              </p:cNvSpPr>
              <p:nvPr/>
            </p:nvSpPr>
            <p:spPr bwMode="auto">
              <a:xfrm>
                <a:off x="614" y="3209"/>
                <a:ext cx="4518" cy="291"/>
              </a:xfrm>
              <a:prstGeom prst="rect">
                <a:avLst/>
              </a:prstGeom>
              <a:noFill/>
              <a:ln w="9525">
                <a:noFill/>
                <a:miter lim="800000"/>
                <a:headEnd/>
                <a:tailEnd/>
              </a:ln>
            </p:spPr>
            <p:txBody>
              <a:bodyPr wrap="none">
                <a:spAutoFit/>
              </a:bodyPr>
              <a:lstStyle/>
              <a:p>
                <a:r>
                  <a:rPr lang="en-US" sz="2400"/>
                  <a:t>Standard time =                                      =              =</a:t>
                </a:r>
              </a:p>
            </p:txBody>
          </p:sp>
          <p:grpSp>
            <p:nvGrpSpPr>
              <p:cNvPr id="5" name="Group 10"/>
              <p:cNvGrpSpPr>
                <a:grpSpLocks/>
              </p:cNvGrpSpPr>
              <p:nvPr/>
            </p:nvGrpSpPr>
            <p:grpSpPr bwMode="auto">
              <a:xfrm>
                <a:off x="2138" y="3097"/>
                <a:ext cx="1825" cy="523"/>
                <a:chOff x="2530" y="3185"/>
                <a:chExt cx="1825" cy="523"/>
              </a:xfrm>
            </p:grpSpPr>
            <p:sp>
              <p:nvSpPr>
                <p:cNvPr id="118799" name="Rectangle 11"/>
                <p:cNvSpPr>
                  <a:spLocks noChangeArrowheads="1"/>
                </p:cNvSpPr>
                <p:nvPr/>
              </p:nvSpPr>
              <p:spPr bwMode="auto">
                <a:xfrm>
                  <a:off x="2530" y="3185"/>
                  <a:ext cx="1808" cy="523"/>
                </a:xfrm>
                <a:prstGeom prst="rect">
                  <a:avLst/>
                </a:prstGeom>
                <a:noFill/>
                <a:ln w="9525">
                  <a:noFill/>
                  <a:miter lim="800000"/>
                  <a:headEnd/>
                  <a:tailEnd/>
                </a:ln>
              </p:spPr>
              <p:txBody>
                <a:bodyPr wrap="none">
                  <a:spAutoFit/>
                </a:bodyPr>
                <a:lstStyle/>
                <a:p>
                  <a:pPr algn="ctr"/>
                  <a:r>
                    <a:rPr lang="en-US" sz="2400"/>
                    <a:t>Normal time</a:t>
                  </a:r>
                </a:p>
                <a:p>
                  <a:pPr algn="ctr"/>
                  <a:r>
                    <a:rPr lang="en-US" sz="2400"/>
                    <a:t>1 - Allowance factor</a:t>
                  </a:r>
                </a:p>
              </p:txBody>
            </p:sp>
            <p:sp>
              <p:nvSpPr>
                <p:cNvPr id="118800" name="Line 12"/>
                <p:cNvSpPr>
                  <a:spLocks noChangeShapeType="1"/>
                </p:cNvSpPr>
                <p:nvPr/>
              </p:nvSpPr>
              <p:spPr bwMode="auto">
                <a:xfrm>
                  <a:off x="2531" y="3440"/>
                  <a:ext cx="1824" cy="0"/>
                </a:xfrm>
                <a:prstGeom prst="line">
                  <a:avLst/>
                </a:prstGeom>
                <a:noFill/>
                <a:ln w="28575">
                  <a:solidFill>
                    <a:schemeClr val="tx1"/>
                  </a:solidFill>
                  <a:round/>
                  <a:headEnd/>
                  <a:tailEnd/>
                </a:ln>
              </p:spPr>
              <p:txBody>
                <a:bodyPr wrap="none" anchor="ctr"/>
                <a:lstStyle/>
                <a:p>
                  <a:endParaRPr lang="en-US"/>
                </a:p>
              </p:txBody>
            </p:sp>
          </p:grpSp>
          <p:grpSp>
            <p:nvGrpSpPr>
              <p:cNvPr id="6" name="Group 13"/>
              <p:cNvGrpSpPr>
                <a:grpSpLocks/>
              </p:cNvGrpSpPr>
              <p:nvPr/>
            </p:nvGrpSpPr>
            <p:grpSpPr bwMode="auto">
              <a:xfrm>
                <a:off x="4196" y="3089"/>
                <a:ext cx="666" cy="523"/>
                <a:chOff x="3348" y="3625"/>
                <a:chExt cx="666" cy="523"/>
              </a:xfrm>
            </p:grpSpPr>
            <p:sp>
              <p:nvSpPr>
                <p:cNvPr id="118797" name="Rectangle 14"/>
                <p:cNvSpPr>
                  <a:spLocks noChangeArrowheads="1"/>
                </p:cNvSpPr>
                <p:nvPr/>
              </p:nvSpPr>
              <p:spPr bwMode="auto">
                <a:xfrm>
                  <a:off x="3348" y="3625"/>
                  <a:ext cx="666" cy="523"/>
                </a:xfrm>
                <a:prstGeom prst="rect">
                  <a:avLst/>
                </a:prstGeom>
                <a:noFill/>
                <a:ln w="9525">
                  <a:noFill/>
                  <a:miter lim="800000"/>
                  <a:headEnd/>
                  <a:tailEnd/>
                </a:ln>
              </p:spPr>
              <p:txBody>
                <a:bodyPr wrap="none">
                  <a:spAutoFit/>
                </a:bodyPr>
                <a:lstStyle/>
                <a:p>
                  <a:pPr algn="ctr"/>
                  <a:r>
                    <a:rPr lang="en-US" sz="2400"/>
                    <a:t>3.4</a:t>
                  </a:r>
                </a:p>
                <a:p>
                  <a:pPr algn="ctr"/>
                  <a:r>
                    <a:rPr lang="en-US" sz="2400"/>
                    <a:t>1 - .13</a:t>
                  </a:r>
                </a:p>
              </p:txBody>
            </p:sp>
            <p:sp>
              <p:nvSpPr>
                <p:cNvPr id="118798" name="Line 15"/>
                <p:cNvSpPr>
                  <a:spLocks noChangeShapeType="1"/>
                </p:cNvSpPr>
                <p:nvPr/>
              </p:nvSpPr>
              <p:spPr bwMode="auto">
                <a:xfrm>
                  <a:off x="3408" y="3888"/>
                  <a:ext cx="552" cy="0"/>
                </a:xfrm>
                <a:prstGeom prst="line">
                  <a:avLst/>
                </a:prstGeom>
                <a:noFill/>
                <a:ln w="28575">
                  <a:solidFill>
                    <a:schemeClr val="tx1"/>
                  </a:solidFill>
                  <a:round/>
                  <a:headEnd/>
                  <a:tailEnd/>
                </a:ln>
              </p:spPr>
              <p:txBody>
                <a:bodyPr wrap="none" anchor="ctr"/>
                <a:lstStyle/>
                <a:p>
                  <a:endParaRPr lang="en-US"/>
                </a:p>
              </p:txBody>
            </p:sp>
          </p:grpSp>
          <p:grpSp>
            <p:nvGrpSpPr>
              <p:cNvPr id="7" name="Group 16"/>
              <p:cNvGrpSpPr>
                <a:grpSpLocks/>
              </p:cNvGrpSpPr>
              <p:nvPr/>
            </p:nvGrpSpPr>
            <p:grpSpPr bwMode="auto">
              <a:xfrm>
                <a:off x="5116" y="3097"/>
                <a:ext cx="386" cy="523"/>
                <a:chOff x="4316" y="3689"/>
                <a:chExt cx="386" cy="523"/>
              </a:xfrm>
            </p:grpSpPr>
            <p:sp>
              <p:nvSpPr>
                <p:cNvPr id="118795" name="Rectangle 17"/>
                <p:cNvSpPr>
                  <a:spLocks noChangeArrowheads="1"/>
                </p:cNvSpPr>
                <p:nvPr/>
              </p:nvSpPr>
              <p:spPr bwMode="auto">
                <a:xfrm>
                  <a:off x="4316" y="3689"/>
                  <a:ext cx="386" cy="523"/>
                </a:xfrm>
                <a:prstGeom prst="rect">
                  <a:avLst/>
                </a:prstGeom>
                <a:noFill/>
                <a:ln w="9525">
                  <a:noFill/>
                  <a:miter lim="800000"/>
                  <a:headEnd/>
                  <a:tailEnd/>
                </a:ln>
              </p:spPr>
              <p:txBody>
                <a:bodyPr wrap="none">
                  <a:spAutoFit/>
                </a:bodyPr>
                <a:lstStyle/>
                <a:p>
                  <a:pPr algn="ctr"/>
                  <a:r>
                    <a:rPr lang="en-US" sz="2400"/>
                    <a:t>3.4</a:t>
                  </a:r>
                </a:p>
                <a:p>
                  <a:pPr algn="ctr"/>
                  <a:r>
                    <a:rPr lang="en-US" sz="2400"/>
                    <a:t>.87</a:t>
                  </a:r>
                </a:p>
              </p:txBody>
            </p:sp>
            <p:sp>
              <p:nvSpPr>
                <p:cNvPr id="118796" name="Line 18"/>
                <p:cNvSpPr>
                  <a:spLocks noChangeShapeType="1"/>
                </p:cNvSpPr>
                <p:nvPr/>
              </p:nvSpPr>
              <p:spPr bwMode="auto">
                <a:xfrm>
                  <a:off x="4344" y="3944"/>
                  <a:ext cx="336" cy="0"/>
                </a:xfrm>
                <a:prstGeom prst="line">
                  <a:avLst/>
                </a:prstGeom>
                <a:noFill/>
                <a:ln w="28575">
                  <a:solidFill>
                    <a:schemeClr val="tx1"/>
                  </a:solidFill>
                  <a:round/>
                  <a:headEnd/>
                  <a:tailEnd/>
                </a:ln>
              </p:spPr>
              <p:txBody>
                <a:bodyPr wrap="none" anchor="ctr"/>
                <a:lstStyle/>
                <a:p>
                  <a:endParaRPr lang="en-US"/>
                </a:p>
              </p:txBody>
            </p:sp>
          </p:grpSp>
        </p:grpSp>
        <p:sp>
          <p:nvSpPr>
            <p:cNvPr id="118790" name="Rectangle 19"/>
            <p:cNvSpPr>
              <a:spLocks noChangeArrowheads="1"/>
            </p:cNvSpPr>
            <p:nvPr/>
          </p:nvSpPr>
          <p:spPr bwMode="auto">
            <a:xfrm>
              <a:off x="1678" y="3705"/>
              <a:ext cx="1286" cy="291"/>
            </a:xfrm>
            <a:prstGeom prst="rect">
              <a:avLst/>
            </a:prstGeom>
            <a:noFill/>
            <a:ln w="9525">
              <a:noFill/>
              <a:miter lim="800000"/>
              <a:headEnd/>
              <a:tailEnd/>
            </a:ln>
          </p:spPr>
          <p:txBody>
            <a:bodyPr wrap="none">
              <a:spAutoFit/>
            </a:bodyPr>
            <a:lstStyle/>
            <a:p>
              <a:r>
                <a:rPr lang="en-US" sz="2400"/>
                <a:t>= 3.9 minutes</a:t>
              </a:r>
            </a:p>
          </p:txBody>
        </p:sp>
      </p:grpSp>
      <p:grpSp>
        <p:nvGrpSpPr>
          <p:cNvPr id="20" name="Group 19"/>
          <p:cNvGrpSpPr/>
          <p:nvPr/>
        </p:nvGrpSpPr>
        <p:grpSpPr>
          <a:xfrm>
            <a:off x="0" y="6324600"/>
            <a:ext cx="8763000" cy="533400"/>
            <a:chOff x="0" y="6324600"/>
            <a:chExt cx="8763000" cy="533400"/>
          </a:xfrm>
        </p:grpSpPr>
        <p:sp>
          <p:nvSpPr>
            <p:cNvPr id="21" name="TextBox 20"/>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22" name="TextBox 21"/>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23" name="TextBox 22"/>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10 of 28</a:t>
              </a:r>
            </a:p>
          </p:txBody>
        </p:sp>
      </p:grpSp>
    </p:spTree>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25955"/>
                                        </p:tgtEl>
                                        <p:attrNameLst>
                                          <p:attrName>style.visibility</p:attrName>
                                        </p:attrNameLst>
                                      </p:cBhvr>
                                      <p:to>
                                        <p:strVal val="visible"/>
                                      </p:to>
                                    </p:set>
                                    <p:animEffect transition="in" filter="wipe(left)">
                                      <p:cBhvr>
                                        <p:cTn id="7" dur="1000"/>
                                        <p:tgtEl>
                                          <p:spTgt spid="125955"/>
                                        </p:tgtEl>
                                      </p:cBhvr>
                                    </p:animEffect>
                                  </p:childTnLst>
                                </p:cTn>
                              </p:par>
                            </p:childTnLst>
                          </p:cTn>
                        </p:par>
                        <p:par>
                          <p:cTn id="8" fill="hold" nodeType="afterGroup">
                            <p:stCondLst>
                              <p:cond delay="2000"/>
                            </p:stCondLst>
                            <p:childTnLst>
                              <p:par>
                                <p:cTn id="9" presetID="18" presetClass="entr" presetSubtype="6"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strips(downRight)">
                                      <p:cBhvr>
                                        <p:cTn id="11" dur="1000"/>
                                        <p:tgtEl>
                                          <p:spTgt spid="2"/>
                                        </p:tgtEl>
                                      </p:cBhvr>
                                    </p:animEffect>
                                  </p:childTnLst>
                                </p:cTn>
                              </p:par>
                            </p:childTnLst>
                          </p:cTn>
                        </p:par>
                        <p:par>
                          <p:cTn id="12" fill="hold" nodeType="afterGroup">
                            <p:stCondLst>
                              <p:cond delay="4000"/>
                            </p:stCondLst>
                            <p:childTnLst>
                              <p:par>
                                <p:cTn id="13" presetID="18" presetClass="entr" presetSubtype="6" fill="hold" nodeType="afterEffect">
                                  <p:stCondLst>
                                    <p:cond delay="1000"/>
                                  </p:stCondLst>
                                  <p:childTnLst>
                                    <p:set>
                                      <p:cBhvr>
                                        <p:cTn id="14" dur="1" fill="hold">
                                          <p:stCondLst>
                                            <p:cond delay="0"/>
                                          </p:stCondLst>
                                        </p:cTn>
                                        <p:tgtEl>
                                          <p:spTgt spid="3"/>
                                        </p:tgtEl>
                                        <p:attrNameLst>
                                          <p:attrName>style.visibility</p:attrName>
                                        </p:attrNameLst>
                                      </p:cBhvr>
                                      <p:to>
                                        <p:strVal val="visible"/>
                                      </p:to>
                                    </p:set>
                                    <p:animEffect transition="in" filter="strips(downRight)">
                                      <p:cBhvr>
                                        <p:cTn id="15"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p:txBody>
          <a:bodyPr/>
          <a:lstStyle/>
          <a:p>
            <a:r>
              <a:rPr lang="en-US" dirty="0">
                <a:solidFill>
                  <a:srgbClr val="0844BC"/>
                </a:solidFill>
                <a:latin typeface="Arial" pitchFamily="34" charset="0"/>
                <a:cs typeface="Arial" pitchFamily="34" charset="0"/>
              </a:rPr>
              <a:t>Time Study Example 2</a:t>
            </a:r>
          </a:p>
        </p:txBody>
      </p:sp>
      <p:sp>
        <p:nvSpPr>
          <p:cNvPr id="4" name="Rectangle 3"/>
          <p:cNvSpPr>
            <a:spLocks noChangeArrowheads="1"/>
          </p:cNvSpPr>
          <p:nvPr/>
        </p:nvSpPr>
        <p:spPr bwMode="auto">
          <a:xfrm>
            <a:off x="744538" y="1438275"/>
            <a:ext cx="2884487" cy="374650"/>
          </a:xfrm>
          <a:prstGeom prst="rect">
            <a:avLst/>
          </a:prstGeom>
          <a:noFill/>
          <a:ln w="9525">
            <a:noFill/>
            <a:miter lim="800000"/>
            <a:headEnd/>
            <a:tailEnd/>
          </a:ln>
        </p:spPr>
        <p:txBody>
          <a:bodyPr wrap="none">
            <a:spAutoFit/>
          </a:bodyPr>
          <a:lstStyle/>
          <a:p>
            <a:pPr>
              <a:lnSpc>
                <a:spcPct val="90000"/>
              </a:lnSpc>
            </a:pPr>
            <a:r>
              <a:rPr lang="en-US" sz="2000" dirty="0"/>
              <a:t>Allowance factor = 15%</a:t>
            </a:r>
          </a:p>
        </p:txBody>
      </p:sp>
      <p:graphicFrame>
        <p:nvGraphicFramePr>
          <p:cNvPr id="5" name="Table 4"/>
          <p:cNvGraphicFramePr>
            <a:graphicFrameLocks noGrp="1"/>
          </p:cNvGraphicFramePr>
          <p:nvPr/>
        </p:nvGraphicFramePr>
        <p:xfrm>
          <a:off x="669925" y="2001838"/>
          <a:ext cx="7772401" cy="2270760"/>
        </p:xfrm>
        <a:graphic>
          <a:graphicData uri="http://schemas.openxmlformats.org/drawingml/2006/table">
            <a:tbl>
              <a:tblPr firstRow="1" bandRow="1">
                <a:tableStyleId>{2D5ABB26-0587-4C30-8999-92F81FD0307C}</a:tableStyleId>
              </a:tblPr>
              <a:tblGrid>
                <a:gridCol w="3203574">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gridCol w="2041527">
                  <a:extLst>
                    <a:ext uri="{9D8B030D-6E8A-4147-A177-3AD203B41FA5}">
                      <a16:colId xmlns:a16="http://schemas.microsoft.com/office/drawing/2014/main" val="20006"/>
                    </a:ext>
                  </a:extLst>
                </a:gridCol>
              </a:tblGrid>
              <a:tr h="0">
                <a:tc>
                  <a:txBody>
                    <a:bodyPr/>
                    <a:lstStyle/>
                    <a:p>
                      <a:endParaRPr lang="en-US" sz="1600" b="1" dirty="0">
                        <a:solidFill>
                          <a:srgbClr val="FFFFFF"/>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gridSpan="5">
                  <a:txBody>
                    <a:bodyPr/>
                    <a:lstStyle/>
                    <a:p>
                      <a:pPr algn="ctr"/>
                      <a:r>
                        <a:rPr lang="en-US" sz="1600" b="1" dirty="0">
                          <a:solidFill>
                            <a:srgbClr val="FFFFFF"/>
                          </a:solidFill>
                        </a:rPr>
                        <a:t>OBSERVATIONS (MIN)</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rowSpan="2">
                  <a:txBody>
                    <a:bodyPr/>
                    <a:lstStyle/>
                    <a:p>
                      <a:pPr algn="ctr"/>
                      <a:r>
                        <a:rPr lang="en-US" sz="1600" b="1" dirty="0">
                          <a:solidFill>
                            <a:srgbClr val="FFFFFF"/>
                          </a:solidFill>
                        </a:rPr>
                        <a:t>PERFORMANCE</a:t>
                      </a:r>
                      <a:r>
                        <a:rPr lang="en-US" sz="1600" b="1" baseline="0" dirty="0">
                          <a:solidFill>
                            <a:srgbClr val="FFFFFF"/>
                          </a:solidFill>
                        </a:rPr>
                        <a:t> RATING</a:t>
                      </a:r>
                      <a:endParaRPr lang="en-US" sz="1600" b="1" dirty="0">
                        <a:solidFill>
                          <a:srgbClr val="FFFFFF"/>
                        </a:solidFill>
                      </a:endParaRPr>
                    </a:p>
                  </a:txBody>
                  <a:tcPr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70840">
                <a:tc>
                  <a:txBody>
                    <a:bodyPr/>
                    <a:lstStyle/>
                    <a:p>
                      <a:r>
                        <a:rPr lang="en-US" sz="1600" b="1" dirty="0">
                          <a:solidFill>
                            <a:srgbClr val="FFFFFF"/>
                          </a:solidFill>
                        </a:rPr>
                        <a:t>JOB ELEMENT</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3</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4</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5</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v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355600" indent="-355600"/>
                      <a:r>
                        <a:rPr lang="en-US" sz="1600" dirty="0"/>
                        <a:t>(A)	Compose and type letter</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8</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10</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9</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120%</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355600" marR="0" indent="-355600" algn="l" defTabSz="457200" rtl="0" eaLnBrk="1" fontAlgn="auto" latinLnBrk="0" hangingPunct="1">
                        <a:lnSpc>
                          <a:spcPct val="100000"/>
                        </a:lnSpc>
                        <a:spcBef>
                          <a:spcPts val="0"/>
                        </a:spcBef>
                        <a:spcAft>
                          <a:spcPts val="0"/>
                        </a:spcAft>
                        <a:buClrTx/>
                        <a:buSzTx/>
                        <a:buFontTx/>
                        <a:buNone/>
                        <a:tabLst/>
                        <a:defRPr/>
                      </a:pPr>
                      <a:r>
                        <a:rPr lang="en-US" sz="1600" dirty="0"/>
                        <a:t>(B)	Type envelope address</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3</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3</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105%</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355600" indent="-355600"/>
                      <a:r>
                        <a:rPr lang="en-US" sz="1600" dirty="0"/>
                        <a:t>(C)	Stuff, stamp, and seal envelopes</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5*</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110%</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Rectangle 5"/>
          <p:cNvSpPr>
            <a:spLocks noChangeArrowheads="1"/>
          </p:cNvSpPr>
          <p:nvPr/>
        </p:nvSpPr>
        <p:spPr bwMode="auto">
          <a:xfrm>
            <a:off x="2743200" y="4876800"/>
            <a:ext cx="3175869" cy="369332"/>
          </a:xfrm>
          <a:prstGeom prst="rect">
            <a:avLst/>
          </a:prstGeom>
          <a:noFill/>
          <a:ln w="9525">
            <a:noFill/>
            <a:miter lim="800000"/>
            <a:headEnd/>
            <a:tailEnd/>
          </a:ln>
        </p:spPr>
        <p:txBody>
          <a:bodyPr wrap="none">
            <a:spAutoFit/>
          </a:bodyPr>
          <a:lstStyle/>
          <a:p>
            <a:pPr>
              <a:lnSpc>
                <a:spcPct val="90000"/>
              </a:lnSpc>
            </a:pPr>
            <a:r>
              <a:rPr lang="en-US" sz="2000" dirty="0"/>
              <a:t>Calculate Standard Time</a:t>
            </a:r>
          </a:p>
        </p:txBody>
      </p:sp>
    </p:spTree>
    <p:extLst>
      <p:ext uri="{BB962C8B-B14F-4D97-AF65-F5344CB8AC3E}">
        <p14:creationId xmlns:p14="http://schemas.microsoft.com/office/powerpoint/2010/main" val="271270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par>
                          <p:cTn id="8" fill="hold">
                            <p:stCondLst>
                              <p:cond delay="2000"/>
                            </p:stCondLst>
                            <p:childTnLst>
                              <p:par>
                                <p:cTn id="9" presetID="23" presetClass="entr" presetSubtype="272" fill="hold" nodeType="afterEffect">
                                  <p:stCondLst>
                                    <p:cond delay="1000"/>
                                  </p:stCondLst>
                                  <p:childTnLst>
                                    <p:set>
                                      <p:cBhvr>
                                        <p:cTn id="10" dur="1" fill="hold">
                                          <p:stCondLst>
                                            <p:cond delay="0"/>
                                          </p:stCondLst>
                                        </p:cTn>
                                        <p:tgtEl>
                                          <p:spTgt spid="5"/>
                                        </p:tgtEl>
                                        <p:attrNameLst>
                                          <p:attrName>style.visibility</p:attrName>
                                        </p:attrNameLst>
                                      </p:cBhvr>
                                      <p:to>
                                        <p:strVal val="visible"/>
                                      </p:to>
                                    </p:set>
                                    <p:anim calcmode="lin" valueType="num">
                                      <p:cBhvr>
                                        <p:cTn id="11" dur="1000" fill="hold"/>
                                        <p:tgtEl>
                                          <p:spTgt spid="5"/>
                                        </p:tgtEl>
                                        <p:attrNameLst>
                                          <p:attrName>ppt_w</p:attrName>
                                        </p:attrNameLst>
                                      </p:cBhvr>
                                      <p:tavLst>
                                        <p:tav tm="0">
                                          <p:val>
                                            <p:strVal val="2/3*#ppt_w"/>
                                          </p:val>
                                        </p:tav>
                                        <p:tav tm="100000">
                                          <p:val>
                                            <p:strVal val="#ppt_w"/>
                                          </p:val>
                                        </p:tav>
                                      </p:tavLst>
                                    </p:anim>
                                    <p:anim calcmode="lin" valueType="num">
                                      <p:cBhvr>
                                        <p:cTn id="12" dur="1000" fill="hold"/>
                                        <p:tgtEl>
                                          <p:spTgt spid="5"/>
                                        </p:tgtEl>
                                        <p:attrNameLst>
                                          <p:attrName>ppt_h</p:attrName>
                                        </p:attrNameLst>
                                      </p:cBhvr>
                                      <p:tavLst>
                                        <p:tav tm="0">
                                          <p:val>
                                            <p:strVal val="2/3*#ppt_h"/>
                                          </p:val>
                                        </p:tav>
                                        <p:tav tm="100000">
                                          <p:val>
                                            <p:strVal val="#ppt_h"/>
                                          </p:val>
                                        </p:tav>
                                      </p:tavLst>
                                    </p:anim>
                                  </p:childTnLst>
                                </p:cTn>
                              </p:par>
                            </p:childTnLst>
                          </p:cTn>
                        </p:par>
                        <p:par>
                          <p:cTn id="13" fill="hold">
                            <p:stCondLst>
                              <p:cond delay="4000"/>
                            </p:stCondLst>
                            <p:childTnLst>
                              <p:par>
                                <p:cTn id="14" presetID="22" presetClass="entr" presetSubtype="8" fill="hold" grpId="0" nodeType="afterEffect">
                                  <p:stCondLst>
                                    <p:cond delay="10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6"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p:cNvSpPr>
            <a:spLocks noGrp="1" noChangeArrowheads="1"/>
          </p:cNvSpPr>
          <p:nvPr>
            <p:ph type="title" idx="4294967295"/>
          </p:nvPr>
        </p:nvSpPr>
        <p:spPr>
          <a:xfrm>
            <a:off x="228600" y="381000"/>
            <a:ext cx="7772400" cy="889000"/>
          </a:xfrm>
        </p:spPr>
        <p:txBody>
          <a:bodyPr/>
          <a:lstStyle/>
          <a:p>
            <a:r>
              <a:rPr lang="en-US" dirty="0">
                <a:solidFill>
                  <a:srgbClr val="0844BC"/>
                </a:solidFill>
                <a:latin typeface="Arial" pitchFamily="34" charset="0"/>
                <a:cs typeface="Arial" pitchFamily="34" charset="0"/>
              </a:rPr>
              <a:t>Time Study Example 2</a:t>
            </a:r>
          </a:p>
        </p:txBody>
      </p:sp>
      <p:sp>
        <p:nvSpPr>
          <p:cNvPr id="128003" name="Rectangle 3"/>
          <p:cNvSpPr>
            <a:spLocks noChangeArrowheads="1"/>
          </p:cNvSpPr>
          <p:nvPr/>
        </p:nvSpPr>
        <p:spPr bwMode="auto">
          <a:xfrm>
            <a:off x="744538" y="1438275"/>
            <a:ext cx="2884487" cy="374650"/>
          </a:xfrm>
          <a:prstGeom prst="rect">
            <a:avLst/>
          </a:prstGeom>
          <a:noFill/>
          <a:ln w="9525">
            <a:noFill/>
            <a:miter lim="800000"/>
            <a:headEnd/>
            <a:tailEnd/>
          </a:ln>
        </p:spPr>
        <p:txBody>
          <a:bodyPr wrap="none">
            <a:spAutoFit/>
          </a:bodyPr>
          <a:lstStyle/>
          <a:p>
            <a:pPr>
              <a:lnSpc>
                <a:spcPct val="90000"/>
              </a:lnSpc>
            </a:pPr>
            <a:r>
              <a:rPr lang="en-US" sz="2000" dirty="0"/>
              <a:t>Allowance factor = 15%</a:t>
            </a:r>
          </a:p>
        </p:txBody>
      </p:sp>
      <p:sp>
        <p:nvSpPr>
          <p:cNvPr id="128010" name="Rectangle 10"/>
          <p:cNvSpPr>
            <a:spLocks noChangeArrowheads="1"/>
          </p:cNvSpPr>
          <p:nvPr/>
        </p:nvSpPr>
        <p:spPr bwMode="auto">
          <a:xfrm>
            <a:off x="614363" y="4316413"/>
            <a:ext cx="7404100" cy="708025"/>
          </a:xfrm>
          <a:prstGeom prst="rect">
            <a:avLst/>
          </a:prstGeom>
          <a:noFill/>
          <a:ln w="9525">
            <a:noFill/>
            <a:miter lim="800000"/>
            <a:headEnd/>
            <a:tailEnd/>
          </a:ln>
        </p:spPr>
        <p:txBody>
          <a:bodyPr wrap="none">
            <a:spAutoFit/>
          </a:bodyPr>
          <a:lstStyle/>
          <a:p>
            <a:pPr marL="381000" indent="-381000">
              <a:buFont typeface="Times" pitchFamily="18" charset="0"/>
              <a:buAutoNum type="arabicPeriod"/>
            </a:pPr>
            <a:r>
              <a:rPr lang="en-US" sz="2000"/>
              <a:t>Delete unusual or nonrecurring observations (marked with *)</a:t>
            </a:r>
          </a:p>
          <a:p>
            <a:pPr marL="381000" indent="-381000">
              <a:buFont typeface="Times" pitchFamily="18" charset="0"/>
              <a:buAutoNum type="arabicPeriod"/>
            </a:pPr>
            <a:r>
              <a:rPr lang="en-US" sz="2000"/>
              <a:t>Compute average times for each element</a:t>
            </a:r>
          </a:p>
        </p:txBody>
      </p:sp>
      <p:sp>
        <p:nvSpPr>
          <p:cNvPr id="128011" name="Rectangle 11"/>
          <p:cNvSpPr>
            <a:spLocks noChangeArrowheads="1"/>
          </p:cNvSpPr>
          <p:nvPr/>
        </p:nvSpPr>
        <p:spPr bwMode="auto">
          <a:xfrm>
            <a:off x="1223963" y="5092700"/>
            <a:ext cx="6645275" cy="1096963"/>
          </a:xfrm>
          <a:prstGeom prst="rect">
            <a:avLst/>
          </a:prstGeom>
          <a:noFill/>
          <a:ln w="9525">
            <a:noFill/>
            <a:miter lim="800000"/>
            <a:headEnd/>
            <a:tailEnd/>
          </a:ln>
        </p:spPr>
        <p:txBody>
          <a:bodyPr wrap="none">
            <a:spAutoFit/>
          </a:bodyPr>
          <a:lstStyle/>
          <a:p>
            <a:pPr>
              <a:lnSpc>
                <a:spcPct val="110000"/>
              </a:lnSpc>
            </a:pPr>
            <a:r>
              <a:rPr lang="en-US" sz="2000"/>
              <a:t>Average time for A = (8 + 10 + 9 + 11)/4 = 9.5 minutes</a:t>
            </a:r>
          </a:p>
          <a:p>
            <a:pPr>
              <a:lnSpc>
                <a:spcPct val="110000"/>
              </a:lnSpc>
            </a:pPr>
            <a:r>
              <a:rPr lang="en-US" sz="2000"/>
              <a:t>Average time for B = (2 + 3 + 2 + 1 + 3)/5 = 2.2 minutes</a:t>
            </a:r>
          </a:p>
          <a:p>
            <a:pPr>
              <a:lnSpc>
                <a:spcPct val="110000"/>
              </a:lnSpc>
            </a:pPr>
            <a:r>
              <a:rPr lang="en-US" sz="2000"/>
              <a:t>Average time for C = (2 + 1 + 2 + 1)/4 = 1.5 minutes</a:t>
            </a:r>
          </a:p>
        </p:txBody>
      </p:sp>
      <p:graphicFrame>
        <p:nvGraphicFramePr>
          <p:cNvPr id="2" name="Table 1"/>
          <p:cNvGraphicFramePr>
            <a:graphicFrameLocks noGrp="1"/>
          </p:cNvGraphicFramePr>
          <p:nvPr/>
        </p:nvGraphicFramePr>
        <p:xfrm>
          <a:off x="669925" y="2001838"/>
          <a:ext cx="7772401" cy="2270760"/>
        </p:xfrm>
        <a:graphic>
          <a:graphicData uri="http://schemas.openxmlformats.org/drawingml/2006/table">
            <a:tbl>
              <a:tblPr firstRow="1" bandRow="1">
                <a:tableStyleId>{2D5ABB26-0587-4C30-8999-92F81FD0307C}</a:tableStyleId>
              </a:tblPr>
              <a:tblGrid>
                <a:gridCol w="3203574">
                  <a:extLst>
                    <a:ext uri="{9D8B030D-6E8A-4147-A177-3AD203B41FA5}">
                      <a16:colId xmlns:a16="http://schemas.microsoft.com/office/drawing/2014/main" val="20000"/>
                    </a:ext>
                  </a:extLst>
                </a:gridCol>
                <a:gridCol w="4699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20700">
                  <a:extLst>
                    <a:ext uri="{9D8B030D-6E8A-4147-A177-3AD203B41FA5}">
                      <a16:colId xmlns:a16="http://schemas.microsoft.com/office/drawing/2014/main" val="20004"/>
                    </a:ext>
                  </a:extLst>
                </a:gridCol>
                <a:gridCol w="520700">
                  <a:extLst>
                    <a:ext uri="{9D8B030D-6E8A-4147-A177-3AD203B41FA5}">
                      <a16:colId xmlns:a16="http://schemas.microsoft.com/office/drawing/2014/main" val="20005"/>
                    </a:ext>
                  </a:extLst>
                </a:gridCol>
                <a:gridCol w="2041527">
                  <a:extLst>
                    <a:ext uri="{9D8B030D-6E8A-4147-A177-3AD203B41FA5}">
                      <a16:colId xmlns:a16="http://schemas.microsoft.com/office/drawing/2014/main" val="20006"/>
                    </a:ext>
                  </a:extLst>
                </a:gridCol>
              </a:tblGrid>
              <a:tr h="0">
                <a:tc>
                  <a:txBody>
                    <a:bodyPr/>
                    <a:lstStyle/>
                    <a:p>
                      <a:endParaRPr lang="en-US" sz="1600" b="1" dirty="0">
                        <a:solidFill>
                          <a:srgbClr val="FFFFFF"/>
                        </a:solidFill>
                      </a:endParaRP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gridSpan="5">
                  <a:txBody>
                    <a:bodyPr/>
                    <a:lstStyle/>
                    <a:p>
                      <a:pPr algn="ctr"/>
                      <a:r>
                        <a:rPr lang="en-US" sz="1600" b="1" dirty="0">
                          <a:solidFill>
                            <a:srgbClr val="FFFFFF"/>
                          </a:solidFill>
                        </a:rPr>
                        <a:t>OBSERVATIONS (MIN)</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h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rowSpan="2">
                  <a:txBody>
                    <a:bodyPr/>
                    <a:lstStyle/>
                    <a:p>
                      <a:pPr algn="ctr"/>
                      <a:r>
                        <a:rPr lang="en-US" sz="1600" b="1" dirty="0">
                          <a:solidFill>
                            <a:srgbClr val="FFFFFF"/>
                          </a:solidFill>
                        </a:rPr>
                        <a:t>PERFORMANCE</a:t>
                      </a:r>
                      <a:r>
                        <a:rPr lang="en-US" sz="1600" b="1" baseline="0" dirty="0">
                          <a:solidFill>
                            <a:srgbClr val="FFFFFF"/>
                          </a:solidFill>
                        </a:rPr>
                        <a:t> RATING</a:t>
                      </a:r>
                      <a:endParaRPr lang="en-US" sz="1600" b="1" dirty="0">
                        <a:solidFill>
                          <a:srgbClr val="FFFFFF"/>
                        </a:solidFill>
                      </a:endParaRPr>
                    </a:p>
                  </a:txBody>
                  <a:tcPr anchor="ct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70840">
                <a:tc>
                  <a:txBody>
                    <a:bodyPr/>
                    <a:lstStyle/>
                    <a:p>
                      <a:r>
                        <a:rPr lang="en-US" sz="1600" b="1" dirty="0">
                          <a:solidFill>
                            <a:srgbClr val="FFFFFF"/>
                          </a:solidFill>
                        </a:rPr>
                        <a:t>JOB ELEMENT</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3</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4</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a:txBody>
                    <a:bodyPr/>
                    <a:lstStyle/>
                    <a:p>
                      <a:pPr algn="ctr"/>
                      <a:r>
                        <a:rPr lang="en-US" sz="1600" b="1" dirty="0">
                          <a:solidFill>
                            <a:srgbClr val="FFFFFF"/>
                          </a:solidFill>
                        </a:rPr>
                        <a:t>5</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solidFill>
                      <a:schemeClr val="accent1"/>
                    </a:solidFill>
                  </a:tcPr>
                </a:tc>
                <a:tc vMerge="1">
                  <a:txBody>
                    <a:bodyPr/>
                    <a:lstStyle/>
                    <a:p>
                      <a:endParaRPr lang="en-US" sz="1600" dirty="0"/>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marL="355600" indent="-355600"/>
                      <a:r>
                        <a:rPr lang="en-US" sz="1600" dirty="0"/>
                        <a:t>(A)	Compose and type letter</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8</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10</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9</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120%</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marL="355600" marR="0" indent="-355600" algn="l" defTabSz="457200" rtl="0" eaLnBrk="1" fontAlgn="auto" latinLnBrk="0" hangingPunct="1">
                        <a:lnSpc>
                          <a:spcPct val="100000"/>
                        </a:lnSpc>
                        <a:spcBef>
                          <a:spcPts val="0"/>
                        </a:spcBef>
                        <a:spcAft>
                          <a:spcPts val="0"/>
                        </a:spcAft>
                        <a:buClrTx/>
                        <a:buSzTx/>
                        <a:buFontTx/>
                        <a:buNone/>
                        <a:tabLst/>
                        <a:defRPr/>
                      </a:pPr>
                      <a:r>
                        <a:rPr lang="en-US" sz="1600" dirty="0"/>
                        <a:t>(B)	Type envelope address</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3</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3</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105%</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355600" indent="-355600"/>
                      <a:r>
                        <a:rPr lang="en-US" sz="1600" dirty="0"/>
                        <a:t>(C)	Stuff, stamp, and seal envelopes</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5*</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2</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tc>
                  <a:txBody>
                    <a:bodyPr/>
                    <a:lstStyle/>
                    <a:p>
                      <a:pPr algn="ctr"/>
                      <a:r>
                        <a:rPr lang="en-US" sz="1600" dirty="0"/>
                        <a:t>110%</a:t>
                      </a:r>
                    </a:p>
                  </a:txBody>
                  <a:tcPr>
                    <a:lnL w="12700" cap="flat" cmpd="sng" algn="ctr">
                      <a:solidFill>
                        <a:srgbClr val="FFFFFF">
                          <a:lumMod val="75000"/>
                        </a:srgbClr>
                      </a:solidFill>
                      <a:prstDash val="solid"/>
                      <a:round/>
                      <a:headEnd type="none" w="med" len="med"/>
                      <a:tailEnd type="none" w="med" len="med"/>
                    </a:lnL>
                    <a:lnR w="12700" cap="flat" cmpd="sng" algn="ctr">
                      <a:solidFill>
                        <a:srgbClr val="FFFFFF">
                          <a:lumMod val="75000"/>
                        </a:srgbClr>
                      </a:solidFill>
                      <a:prstDash val="solid"/>
                      <a:round/>
                      <a:headEnd type="none" w="med" len="med"/>
                      <a:tailEnd type="none" w="med" len="med"/>
                    </a:lnR>
                    <a:lnT w="12700" cap="flat" cmpd="sng" algn="ctr">
                      <a:solidFill>
                        <a:srgbClr val="FFFFFF">
                          <a:lumMod val="75000"/>
                        </a:srgbClr>
                      </a:solidFill>
                      <a:prstDash val="solid"/>
                      <a:round/>
                      <a:headEnd type="none" w="med" len="med"/>
                      <a:tailEnd type="none" w="med" len="med"/>
                    </a:lnT>
                    <a:lnB w="12700" cap="flat" cmpd="sng" algn="ctr">
                      <a:solidFill>
                        <a:srgbClr val="FFFFFF">
                          <a:lumMod val="75000"/>
                        </a:srgbClr>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pSp>
        <p:nvGrpSpPr>
          <p:cNvPr id="7" name="Group 6"/>
          <p:cNvGrpSpPr/>
          <p:nvPr/>
        </p:nvGrpSpPr>
        <p:grpSpPr>
          <a:xfrm>
            <a:off x="0" y="6324600"/>
            <a:ext cx="8763000" cy="533400"/>
            <a:chOff x="0" y="6324600"/>
            <a:chExt cx="8763000" cy="533400"/>
          </a:xfrm>
        </p:grpSpPr>
        <p:sp>
          <p:nvSpPr>
            <p:cNvPr id="8" name="TextBox 7"/>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9" name="TextBox 8"/>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0" name="TextBox 9"/>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11 of 28</a:t>
              </a:r>
            </a:p>
          </p:txBody>
        </p:sp>
      </p:grpSp>
    </p:spTree>
  </p:cSld>
  <p:clrMapOvr>
    <a:masterClrMapping/>
  </p:clrMapOvr>
  <p:transition spd="slow">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28003"/>
                                        </p:tgtEl>
                                        <p:attrNameLst>
                                          <p:attrName>style.visibility</p:attrName>
                                        </p:attrNameLst>
                                      </p:cBhvr>
                                      <p:to>
                                        <p:strVal val="visible"/>
                                      </p:to>
                                    </p:set>
                                    <p:animEffect transition="in" filter="wipe(left)">
                                      <p:cBhvr>
                                        <p:cTn id="7" dur="1000"/>
                                        <p:tgtEl>
                                          <p:spTgt spid="128003"/>
                                        </p:tgtEl>
                                      </p:cBhvr>
                                    </p:animEffect>
                                  </p:childTnLst>
                                </p:cTn>
                              </p:par>
                            </p:childTnLst>
                          </p:cTn>
                        </p:par>
                        <p:par>
                          <p:cTn id="8" fill="hold">
                            <p:stCondLst>
                              <p:cond delay="2000"/>
                            </p:stCondLst>
                            <p:childTnLst>
                              <p:par>
                                <p:cTn id="9" presetID="23" presetClass="entr" presetSubtype="272"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strVal val="2/3*#ppt_w"/>
                                          </p:val>
                                        </p:tav>
                                        <p:tav tm="100000">
                                          <p:val>
                                            <p:strVal val="#ppt_w"/>
                                          </p:val>
                                        </p:tav>
                                      </p:tavLst>
                                    </p:anim>
                                    <p:anim calcmode="lin" valueType="num">
                                      <p:cBhvr>
                                        <p:cTn id="12"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8010"/>
                                        </p:tgtEl>
                                        <p:attrNameLst>
                                          <p:attrName>style.visibility</p:attrName>
                                        </p:attrNameLst>
                                      </p:cBhvr>
                                      <p:to>
                                        <p:strVal val="visible"/>
                                      </p:to>
                                    </p:set>
                                    <p:animEffect transition="in" filter="wipe(left)">
                                      <p:cBhvr>
                                        <p:cTn id="17" dur="1000"/>
                                        <p:tgtEl>
                                          <p:spTgt spid="128010"/>
                                        </p:tgtEl>
                                      </p:cBhvr>
                                    </p:animEffect>
                                  </p:childTnLst>
                                </p:cTn>
                              </p:par>
                            </p:childTnLst>
                          </p:cTn>
                        </p:par>
                        <p:par>
                          <p:cTn id="18" fill="hold">
                            <p:stCondLst>
                              <p:cond delay="1000"/>
                            </p:stCondLst>
                            <p:childTnLst>
                              <p:par>
                                <p:cTn id="19" presetID="22" presetClass="entr" presetSubtype="8" fill="hold" grpId="0" nodeType="afterEffect">
                                  <p:stCondLst>
                                    <p:cond delay="1000"/>
                                  </p:stCondLst>
                                  <p:childTnLst>
                                    <p:set>
                                      <p:cBhvr>
                                        <p:cTn id="20" dur="1" fill="hold">
                                          <p:stCondLst>
                                            <p:cond delay="0"/>
                                          </p:stCondLst>
                                        </p:cTn>
                                        <p:tgtEl>
                                          <p:spTgt spid="128011"/>
                                        </p:tgtEl>
                                        <p:attrNameLst>
                                          <p:attrName>style.visibility</p:attrName>
                                        </p:attrNameLst>
                                      </p:cBhvr>
                                      <p:to>
                                        <p:strVal val="visible"/>
                                      </p:to>
                                    </p:set>
                                    <p:animEffect transition="in" filter="wipe(left)">
                                      <p:cBhvr>
                                        <p:cTn id="21" dur="1000"/>
                                        <p:tgtEl>
                                          <p:spTgt spid="1280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autoUpdateAnimBg="0"/>
      <p:bldP spid="128010" grpId="0" autoUpdateAnimBg="0"/>
      <p:bldP spid="128011"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p:cNvSpPr>
            <a:spLocks noGrp="1" noChangeArrowheads="1"/>
          </p:cNvSpPr>
          <p:nvPr>
            <p:ph type="title" idx="4294967295"/>
          </p:nvPr>
        </p:nvSpPr>
        <p:spPr>
          <a:xfrm>
            <a:off x="228600" y="381000"/>
            <a:ext cx="7772400" cy="889000"/>
          </a:xfrm>
        </p:spPr>
        <p:txBody>
          <a:bodyPr/>
          <a:lstStyle/>
          <a:p>
            <a:r>
              <a:rPr lang="en-US" dirty="0">
                <a:solidFill>
                  <a:srgbClr val="0844BC"/>
                </a:solidFill>
                <a:latin typeface="Arial" pitchFamily="34" charset="0"/>
                <a:cs typeface="Arial" pitchFamily="34" charset="0"/>
              </a:rPr>
              <a:t>Time Study Example 2</a:t>
            </a:r>
          </a:p>
        </p:txBody>
      </p:sp>
      <p:sp>
        <p:nvSpPr>
          <p:cNvPr id="130051" name="Rectangle 3"/>
          <p:cNvSpPr>
            <a:spLocks noChangeArrowheads="1"/>
          </p:cNvSpPr>
          <p:nvPr/>
        </p:nvSpPr>
        <p:spPr bwMode="auto">
          <a:xfrm>
            <a:off x="614363" y="1789113"/>
            <a:ext cx="6403975" cy="461962"/>
          </a:xfrm>
          <a:prstGeom prst="rect">
            <a:avLst/>
          </a:prstGeom>
          <a:noFill/>
          <a:ln w="9525">
            <a:noFill/>
            <a:miter lim="800000"/>
            <a:headEnd/>
            <a:tailEnd/>
          </a:ln>
        </p:spPr>
        <p:txBody>
          <a:bodyPr wrap="none">
            <a:spAutoFit/>
          </a:bodyPr>
          <a:lstStyle/>
          <a:p>
            <a:pPr marL="381000" indent="-381000">
              <a:buFont typeface="Times" pitchFamily="18" charset="0"/>
              <a:buAutoNum type="arabicPeriod" startAt="3"/>
            </a:pPr>
            <a:r>
              <a:rPr lang="en-US" sz="2400" dirty="0"/>
              <a:t>Compute the normal time for each element</a:t>
            </a:r>
          </a:p>
        </p:txBody>
      </p:sp>
      <p:sp>
        <p:nvSpPr>
          <p:cNvPr id="130052" name="Rectangle 4"/>
          <p:cNvSpPr>
            <a:spLocks noChangeArrowheads="1"/>
          </p:cNvSpPr>
          <p:nvPr/>
        </p:nvSpPr>
        <p:spPr bwMode="auto">
          <a:xfrm>
            <a:off x="1749425" y="3016250"/>
            <a:ext cx="6496050" cy="1304925"/>
          </a:xfrm>
          <a:prstGeom prst="rect">
            <a:avLst/>
          </a:prstGeom>
          <a:noFill/>
          <a:ln w="9525">
            <a:noFill/>
            <a:miter lim="800000"/>
            <a:headEnd/>
            <a:tailEnd/>
          </a:ln>
        </p:spPr>
        <p:txBody>
          <a:bodyPr wrap="none">
            <a:spAutoFit/>
          </a:bodyPr>
          <a:lstStyle/>
          <a:p>
            <a:pPr>
              <a:lnSpc>
                <a:spcPct val="110000"/>
              </a:lnSpc>
            </a:pPr>
            <a:r>
              <a:rPr lang="en-US" sz="2400"/>
              <a:t>Normal time for A = (9.5)(1.2) = 11.4 minutes</a:t>
            </a:r>
          </a:p>
          <a:p>
            <a:pPr>
              <a:lnSpc>
                <a:spcPct val="110000"/>
              </a:lnSpc>
            </a:pPr>
            <a:r>
              <a:rPr lang="en-US" sz="2400"/>
              <a:t>Normal time for B = (2.2)(1.05) = 2.31 minutes</a:t>
            </a:r>
          </a:p>
          <a:p>
            <a:pPr>
              <a:lnSpc>
                <a:spcPct val="110000"/>
              </a:lnSpc>
            </a:pPr>
            <a:r>
              <a:rPr lang="en-US" sz="2400"/>
              <a:t>Normal time for C = (1.5)(1.10) = 1.65 minutes</a:t>
            </a:r>
          </a:p>
        </p:txBody>
      </p:sp>
      <p:sp>
        <p:nvSpPr>
          <p:cNvPr id="130053" name="Rectangle 5"/>
          <p:cNvSpPr>
            <a:spLocks noChangeArrowheads="1"/>
          </p:cNvSpPr>
          <p:nvPr/>
        </p:nvSpPr>
        <p:spPr bwMode="auto">
          <a:xfrm>
            <a:off x="1176338" y="2436813"/>
            <a:ext cx="6978650" cy="461962"/>
          </a:xfrm>
          <a:prstGeom prst="rect">
            <a:avLst/>
          </a:prstGeom>
          <a:noFill/>
          <a:ln w="9525">
            <a:noFill/>
            <a:miter lim="800000"/>
            <a:headEnd/>
            <a:tailEnd/>
          </a:ln>
        </p:spPr>
        <p:txBody>
          <a:bodyPr wrap="none">
            <a:spAutoFit/>
          </a:bodyPr>
          <a:lstStyle/>
          <a:p>
            <a:r>
              <a:rPr lang="en-US" sz="2400" dirty="0"/>
              <a:t>Normal time = (Average observed time) x (Rating)</a:t>
            </a:r>
          </a:p>
        </p:txBody>
      </p:sp>
      <p:sp>
        <p:nvSpPr>
          <p:cNvPr id="130054" name="Rectangle 6"/>
          <p:cNvSpPr>
            <a:spLocks noChangeArrowheads="1"/>
          </p:cNvSpPr>
          <p:nvPr/>
        </p:nvSpPr>
        <p:spPr bwMode="auto">
          <a:xfrm>
            <a:off x="614363" y="4494213"/>
            <a:ext cx="7340600" cy="461962"/>
          </a:xfrm>
          <a:prstGeom prst="rect">
            <a:avLst/>
          </a:prstGeom>
          <a:noFill/>
          <a:ln w="9525">
            <a:noFill/>
            <a:miter lim="800000"/>
            <a:headEnd/>
            <a:tailEnd/>
          </a:ln>
        </p:spPr>
        <p:txBody>
          <a:bodyPr wrap="none">
            <a:spAutoFit/>
          </a:bodyPr>
          <a:lstStyle/>
          <a:p>
            <a:pPr marL="457200" indent="-457200">
              <a:buFont typeface="Times" pitchFamily="18" charset="0"/>
              <a:buAutoNum type="arabicPeriod" startAt="4"/>
            </a:pPr>
            <a:r>
              <a:rPr lang="en-US" sz="2400"/>
              <a:t>Add the normal times to find the total normal time</a:t>
            </a:r>
          </a:p>
        </p:txBody>
      </p:sp>
      <p:sp>
        <p:nvSpPr>
          <p:cNvPr id="130055" name="Rectangle 7"/>
          <p:cNvSpPr>
            <a:spLocks noChangeArrowheads="1"/>
          </p:cNvSpPr>
          <p:nvPr/>
        </p:nvSpPr>
        <p:spPr bwMode="auto">
          <a:xfrm>
            <a:off x="1176338" y="5218113"/>
            <a:ext cx="5546725" cy="830262"/>
          </a:xfrm>
          <a:prstGeom prst="rect">
            <a:avLst/>
          </a:prstGeom>
          <a:noFill/>
          <a:ln w="9525">
            <a:noFill/>
            <a:miter lim="800000"/>
            <a:headEnd/>
            <a:tailEnd/>
          </a:ln>
        </p:spPr>
        <p:txBody>
          <a:bodyPr wrap="none">
            <a:spAutoFit/>
          </a:bodyPr>
          <a:lstStyle/>
          <a:p>
            <a:pPr marL="2425700" indent="-2425700"/>
            <a:r>
              <a:rPr lang="en-US" sz="2400"/>
              <a:t>Total normal time	= 11.40 + 2.31 + 1.65 </a:t>
            </a:r>
          </a:p>
          <a:p>
            <a:pPr marL="2425700" indent="-2425700"/>
            <a:r>
              <a:rPr lang="en-US" sz="2400"/>
              <a:t>	= 15.36 minutes</a:t>
            </a:r>
          </a:p>
        </p:txBody>
      </p:sp>
      <p:grpSp>
        <p:nvGrpSpPr>
          <p:cNvPr id="8" name="Group 7"/>
          <p:cNvGrpSpPr/>
          <p:nvPr/>
        </p:nvGrpSpPr>
        <p:grpSpPr>
          <a:xfrm>
            <a:off x="0" y="6324600"/>
            <a:ext cx="8763000" cy="533400"/>
            <a:chOff x="0" y="6324600"/>
            <a:chExt cx="8763000" cy="533400"/>
          </a:xfrm>
        </p:grpSpPr>
        <p:sp>
          <p:nvSpPr>
            <p:cNvPr id="9" name="TextBox 8"/>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0" name="TextBox 9"/>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11" name="TextBox 10"/>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12 of 28</a:t>
              </a:r>
            </a:p>
          </p:txBody>
        </p:sp>
      </p:grpSp>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130051"/>
                                        </p:tgtEl>
                                        <p:attrNameLst>
                                          <p:attrName>style.visibility</p:attrName>
                                        </p:attrNameLst>
                                      </p:cBhvr>
                                      <p:to>
                                        <p:strVal val="visible"/>
                                      </p:to>
                                    </p:set>
                                    <p:animEffect transition="in" filter="wipe(left)">
                                      <p:cBhvr>
                                        <p:cTn id="7" dur="1000"/>
                                        <p:tgtEl>
                                          <p:spTgt spid="130051"/>
                                        </p:tgtEl>
                                      </p:cBhvr>
                                    </p:animEffect>
                                  </p:childTnLst>
                                </p:cTn>
                              </p:par>
                            </p:childTnLst>
                          </p:cTn>
                        </p:par>
                        <p:par>
                          <p:cTn id="8" fill="hold" nodeType="afterGroup">
                            <p:stCondLst>
                              <p:cond delay="2000"/>
                            </p:stCondLst>
                            <p:childTnLst>
                              <p:par>
                                <p:cTn id="9" presetID="22" presetClass="entr" presetSubtype="8" fill="hold" grpId="0" nodeType="afterEffect">
                                  <p:stCondLst>
                                    <p:cond delay="1000"/>
                                  </p:stCondLst>
                                  <p:childTnLst>
                                    <p:set>
                                      <p:cBhvr>
                                        <p:cTn id="10" dur="1" fill="hold">
                                          <p:stCondLst>
                                            <p:cond delay="0"/>
                                          </p:stCondLst>
                                        </p:cTn>
                                        <p:tgtEl>
                                          <p:spTgt spid="130053"/>
                                        </p:tgtEl>
                                        <p:attrNameLst>
                                          <p:attrName>style.visibility</p:attrName>
                                        </p:attrNameLst>
                                      </p:cBhvr>
                                      <p:to>
                                        <p:strVal val="visible"/>
                                      </p:to>
                                    </p:set>
                                    <p:animEffect transition="in" filter="wipe(left)">
                                      <p:cBhvr>
                                        <p:cTn id="11" dur="1000"/>
                                        <p:tgtEl>
                                          <p:spTgt spid="130053"/>
                                        </p:tgtEl>
                                      </p:cBhvr>
                                    </p:animEffect>
                                  </p:childTnLst>
                                </p:cTn>
                              </p:par>
                            </p:childTnLst>
                          </p:cTn>
                        </p:par>
                        <p:par>
                          <p:cTn id="12" fill="hold" nodeType="afterGroup">
                            <p:stCondLst>
                              <p:cond delay="4000"/>
                            </p:stCondLst>
                            <p:childTnLst>
                              <p:par>
                                <p:cTn id="13" presetID="22" presetClass="entr" presetSubtype="8" fill="hold" grpId="0" nodeType="afterEffect">
                                  <p:stCondLst>
                                    <p:cond delay="1000"/>
                                  </p:stCondLst>
                                  <p:childTnLst>
                                    <p:set>
                                      <p:cBhvr>
                                        <p:cTn id="14" dur="1" fill="hold">
                                          <p:stCondLst>
                                            <p:cond delay="0"/>
                                          </p:stCondLst>
                                        </p:cTn>
                                        <p:tgtEl>
                                          <p:spTgt spid="130052"/>
                                        </p:tgtEl>
                                        <p:attrNameLst>
                                          <p:attrName>style.visibility</p:attrName>
                                        </p:attrNameLst>
                                      </p:cBhvr>
                                      <p:to>
                                        <p:strVal val="visible"/>
                                      </p:to>
                                    </p:set>
                                    <p:animEffect transition="in" filter="wipe(left)">
                                      <p:cBhvr>
                                        <p:cTn id="15" dur="1000"/>
                                        <p:tgtEl>
                                          <p:spTgt spid="13005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0054"/>
                                        </p:tgtEl>
                                        <p:attrNameLst>
                                          <p:attrName>style.visibility</p:attrName>
                                        </p:attrNameLst>
                                      </p:cBhvr>
                                      <p:to>
                                        <p:strVal val="visible"/>
                                      </p:to>
                                    </p:set>
                                    <p:animEffect transition="in" filter="wipe(left)">
                                      <p:cBhvr>
                                        <p:cTn id="20" dur="1000"/>
                                        <p:tgtEl>
                                          <p:spTgt spid="130054"/>
                                        </p:tgtEl>
                                      </p:cBhvr>
                                    </p:animEffect>
                                  </p:childTnLst>
                                </p:cTn>
                              </p:par>
                            </p:childTnLst>
                          </p:cTn>
                        </p:par>
                        <p:par>
                          <p:cTn id="21" fill="hold" nodeType="afterGroup">
                            <p:stCondLst>
                              <p:cond delay="1000"/>
                            </p:stCondLst>
                            <p:childTnLst>
                              <p:par>
                                <p:cTn id="22" presetID="22" presetClass="entr" presetSubtype="8" fill="hold" grpId="0" nodeType="afterEffect">
                                  <p:stCondLst>
                                    <p:cond delay="1000"/>
                                  </p:stCondLst>
                                  <p:childTnLst>
                                    <p:set>
                                      <p:cBhvr>
                                        <p:cTn id="23" dur="1" fill="hold">
                                          <p:stCondLst>
                                            <p:cond delay="0"/>
                                          </p:stCondLst>
                                        </p:cTn>
                                        <p:tgtEl>
                                          <p:spTgt spid="130055"/>
                                        </p:tgtEl>
                                        <p:attrNameLst>
                                          <p:attrName>style.visibility</p:attrName>
                                        </p:attrNameLst>
                                      </p:cBhvr>
                                      <p:to>
                                        <p:strVal val="visible"/>
                                      </p:to>
                                    </p:set>
                                    <p:animEffect transition="in" filter="wipe(left)">
                                      <p:cBhvr>
                                        <p:cTn id="24" dur="1000"/>
                                        <p:tgtEl>
                                          <p:spTgt spid="1300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autoUpdateAnimBg="0"/>
      <p:bldP spid="130052" grpId="0" autoUpdateAnimBg="0"/>
      <p:bldP spid="130053" grpId="0" autoUpdateAnimBg="0"/>
      <p:bldP spid="130054" grpId="0" autoUpdateAnimBg="0"/>
      <p:bldP spid="13005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143000"/>
            <a:ext cx="7391400" cy="3416320"/>
          </a:xfrm>
          <a:prstGeom prst="rect">
            <a:avLst/>
          </a:prstGeom>
          <a:noFill/>
        </p:spPr>
        <p:txBody>
          <a:bodyPr wrap="square" rtlCol="0">
            <a:spAutoFit/>
          </a:bodyPr>
          <a:lstStyle/>
          <a:p>
            <a:r>
              <a:rPr lang="en-US" sz="2400" dirty="0"/>
              <a:t>5. Standard time for the job:</a:t>
            </a:r>
          </a:p>
          <a:p>
            <a:r>
              <a:rPr lang="en-US" sz="2400" dirty="0"/>
              <a:t>    </a:t>
            </a:r>
          </a:p>
          <a:p>
            <a:r>
              <a:rPr lang="en-US" sz="2400" dirty="0"/>
              <a:t>Standard time = Total normal time/( 1 - Allowance factor)</a:t>
            </a:r>
          </a:p>
          <a:p>
            <a:r>
              <a:rPr lang="en-US" sz="2400" dirty="0"/>
              <a:t>                         = 15.36/(1-.15)</a:t>
            </a:r>
          </a:p>
          <a:p>
            <a:r>
              <a:rPr lang="en-US" sz="2400" dirty="0"/>
              <a:t>                         =18.07 min</a:t>
            </a:r>
          </a:p>
          <a:p>
            <a:endParaRPr lang="en-US" sz="2400" dirty="0"/>
          </a:p>
          <a:p>
            <a:r>
              <a:rPr lang="en-US" sz="2400" dirty="0"/>
              <a:t>Thus, 18.07 minutes is the time standard for this job.</a:t>
            </a:r>
          </a:p>
        </p:txBody>
      </p:sp>
    </p:spTree>
    <p:extLst>
      <p:ext uri="{BB962C8B-B14F-4D97-AF65-F5344CB8AC3E}">
        <p14:creationId xmlns:p14="http://schemas.microsoft.com/office/powerpoint/2010/main" val="69246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rtlCol="0">
            <a:normAutofit/>
          </a:bodyPr>
          <a:lstStyle/>
          <a:p>
            <a:pPr fontAlgn="auto">
              <a:spcAft>
                <a:spcPts val="0"/>
              </a:spcAft>
              <a:defRPr/>
            </a:pPr>
            <a:r>
              <a:rPr lang="en-US" dirty="0">
                <a:solidFill>
                  <a:srgbClr val="0844BC"/>
                </a:solidFill>
              </a:rPr>
              <a:t>Predetermined Time Standards</a:t>
            </a:r>
          </a:p>
        </p:txBody>
      </p:sp>
      <p:sp>
        <p:nvSpPr>
          <p:cNvPr id="144386" name="Content Placeholder 1"/>
          <p:cNvSpPr>
            <a:spLocks noGrp="1"/>
          </p:cNvSpPr>
          <p:nvPr>
            <p:ph sz="quarter" idx="1"/>
          </p:nvPr>
        </p:nvSpPr>
        <p:spPr>
          <a:xfrm>
            <a:off x="711200" y="1600200"/>
            <a:ext cx="7734300" cy="4525963"/>
          </a:xfrm>
        </p:spPr>
        <p:txBody>
          <a:bodyPr/>
          <a:lstStyle/>
          <a:p>
            <a:pPr>
              <a:buFont typeface="Arial Unicode MS" pitchFamily="34" charset="-128"/>
              <a:buChar char="▶"/>
            </a:pPr>
            <a:r>
              <a:rPr lang="en-US">
                <a:latin typeface="Arial" pitchFamily="34" charset="0"/>
                <a:cs typeface="Arial" pitchFamily="34" charset="0"/>
              </a:rPr>
              <a:t>Divide manual work into small basic elements that have established times</a:t>
            </a:r>
          </a:p>
          <a:p>
            <a:pPr>
              <a:buFont typeface="Arial Unicode MS" pitchFamily="34" charset="-128"/>
              <a:buChar char="▶"/>
            </a:pPr>
            <a:r>
              <a:rPr lang="en-US">
                <a:latin typeface="Arial" pitchFamily="34" charset="0"/>
                <a:cs typeface="Arial" pitchFamily="34" charset="0"/>
              </a:rPr>
              <a:t>Can be done in a laboratory away from the actual production operation</a:t>
            </a:r>
          </a:p>
          <a:p>
            <a:pPr>
              <a:buFont typeface="Arial Unicode MS" pitchFamily="34" charset="-128"/>
              <a:buChar char="▶"/>
            </a:pPr>
            <a:r>
              <a:rPr lang="en-US">
                <a:latin typeface="Arial" pitchFamily="34" charset="0"/>
                <a:cs typeface="Arial" pitchFamily="34" charset="0"/>
              </a:rPr>
              <a:t>Can be set before the work is actually performed</a:t>
            </a:r>
          </a:p>
          <a:p>
            <a:pPr>
              <a:buFont typeface="Arial Unicode MS" pitchFamily="34" charset="-128"/>
              <a:buChar char="▶"/>
            </a:pPr>
            <a:r>
              <a:rPr lang="en-US">
                <a:latin typeface="Arial" pitchFamily="34" charset="0"/>
                <a:cs typeface="Arial" pitchFamily="34" charset="0"/>
              </a:rPr>
              <a:t>No performance ratings are necessary</a:t>
            </a:r>
          </a:p>
        </p:txBody>
      </p:sp>
      <p:grpSp>
        <p:nvGrpSpPr>
          <p:cNvPr id="4" name="Group 3"/>
          <p:cNvGrpSpPr/>
          <p:nvPr/>
        </p:nvGrpSpPr>
        <p:grpSpPr>
          <a:xfrm>
            <a:off x="0" y="6324600"/>
            <a:ext cx="8763000" cy="533400"/>
            <a:chOff x="0" y="6324600"/>
            <a:chExt cx="8763000" cy="533400"/>
          </a:xfrm>
        </p:grpSpPr>
        <p:sp>
          <p:nvSpPr>
            <p:cNvPr id="5" name="TextBox 4"/>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6" name="TextBox 5"/>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324600"/>
              <a:ext cx="8763000" cy="307777"/>
            </a:xfrm>
            <a:prstGeom prst="rect">
              <a:avLst/>
            </a:prstGeom>
            <a:solidFill>
              <a:schemeClr val="accent1"/>
            </a:solidFill>
          </p:spPr>
          <p:txBody>
            <a:bodyPr wrap="square" rtlCol="0">
              <a:spAutoFit/>
            </a:bodyPr>
            <a:lstStyle/>
            <a:p>
              <a:r>
                <a:rPr lang="en-US" sz="1400" i="1" dirty="0">
                  <a:latin typeface="Times New Roman" pitchFamily="18" charset="0"/>
                  <a:cs typeface="Times New Roman" pitchFamily="18" charset="0"/>
                </a:rPr>
                <a:t>Work Measurement || Slide 19 of 28</a:t>
              </a:r>
            </a:p>
          </p:txBody>
        </p:sp>
      </p:grpSp>
    </p:spTree>
  </p:cSld>
  <p:clrMapOvr>
    <a:masterClrMapping/>
  </p:clrMapOvr>
  <p:transition>
    <p:pull dir="l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rot="21310368">
            <a:off x="533400" y="457200"/>
            <a:ext cx="8305800" cy="4144963"/>
          </a:xfrm>
        </p:spPr>
        <p:txBody>
          <a:bodyPr>
            <a:noAutofit/>
          </a:bodyPr>
          <a:lstStyle/>
          <a:p>
            <a:pPr>
              <a:buNone/>
            </a:pPr>
            <a:r>
              <a:rPr lang="en-US" sz="5400" dirty="0"/>
              <a:t>                                  Thank You</a:t>
            </a:r>
          </a:p>
        </p:txBody>
      </p:sp>
      <p:pic>
        <p:nvPicPr>
          <p:cNvPr id="4" name="Picture 3" descr="IE_TimeMotion-graphic72.jpg"/>
          <p:cNvPicPr>
            <a:picLocks noChangeAspect="1"/>
          </p:cNvPicPr>
          <p:nvPr/>
        </p:nvPicPr>
        <p:blipFill>
          <a:blip r:embed="rId2"/>
          <a:stretch>
            <a:fillRect/>
          </a:stretch>
        </p:blipFill>
        <p:spPr>
          <a:xfrm>
            <a:off x="4800600" y="2743200"/>
            <a:ext cx="2540000" cy="254000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grpSp>
        <p:nvGrpSpPr>
          <p:cNvPr id="5" name="Group 4"/>
          <p:cNvGrpSpPr/>
          <p:nvPr/>
        </p:nvGrpSpPr>
        <p:grpSpPr>
          <a:xfrm>
            <a:off x="0" y="6324600"/>
            <a:ext cx="8763000" cy="533400"/>
            <a:chOff x="0" y="6324600"/>
            <a:chExt cx="8763000" cy="533400"/>
          </a:xfrm>
        </p:grpSpPr>
        <p:sp>
          <p:nvSpPr>
            <p:cNvPr id="6" name="TextBox 5"/>
            <p:cNvSpPr txBox="1"/>
            <p:nvPr/>
          </p:nvSpPr>
          <p:spPr>
            <a:xfrm>
              <a:off x="0" y="6625715"/>
              <a:ext cx="7010400" cy="232285"/>
            </a:xfrm>
            <a:prstGeom prst="rect">
              <a:avLst/>
            </a:prstGeom>
            <a:solidFill>
              <a:schemeClr val="accent1">
                <a:lumMod val="40000"/>
                <a:lumOff val="60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7" name="TextBox 6"/>
            <p:cNvSpPr txBox="1"/>
            <p:nvPr/>
          </p:nvSpPr>
          <p:spPr>
            <a:xfrm>
              <a:off x="0" y="6479553"/>
              <a:ext cx="7848600" cy="196790"/>
            </a:xfrm>
            <a:prstGeom prst="rect">
              <a:avLst/>
            </a:prstGeom>
            <a:solidFill>
              <a:schemeClr val="tx2">
                <a:lumMod val="75000"/>
              </a:schemeClr>
            </a:solidFill>
          </p:spPr>
          <p:txBody>
            <a:bodyPr wrap="square" rtlCol="0">
              <a:spAutoFit/>
            </a:bodyPr>
            <a:lstStyle/>
            <a:p>
              <a:endParaRPr lang="en-US" sz="1400" dirty="0">
                <a:latin typeface="Times New Roman" pitchFamily="18" charset="0"/>
                <a:cs typeface="Times New Roman" pitchFamily="18" charset="0"/>
              </a:endParaRPr>
            </a:p>
          </p:txBody>
        </p:sp>
        <p:sp>
          <p:nvSpPr>
            <p:cNvPr id="8" name="TextBox 7"/>
            <p:cNvSpPr txBox="1"/>
            <p:nvPr/>
          </p:nvSpPr>
          <p:spPr>
            <a:xfrm>
              <a:off x="0" y="6324600"/>
              <a:ext cx="8763000" cy="307777"/>
            </a:xfrm>
            <a:prstGeom prst="rect">
              <a:avLst/>
            </a:prstGeom>
            <a:solidFill>
              <a:schemeClr val="accent1"/>
            </a:solidFill>
          </p:spPr>
          <p:txBody>
            <a:bodyPr wrap="square" rtlCol="0">
              <a:spAutoFit/>
            </a:bodyPr>
            <a:lstStyle/>
            <a:p>
              <a:endParaRPr lang="en-US" sz="1400" i="1" dirty="0">
                <a:latin typeface="Times New Roman" pitchFamily="18" charset="0"/>
                <a:cs typeface="Times New Roman" pitchFamily="18" charset="0"/>
              </a:endParaRPr>
            </a:p>
          </p:txBody>
        </p:sp>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1140</TotalTime>
  <Words>1137</Words>
  <Application>Microsoft Office PowerPoint</Application>
  <PresentationFormat>On-screen Show (4:3)</PresentationFormat>
  <Paragraphs>202</Paragraphs>
  <Slides>18</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Arial Unicode MS</vt:lpstr>
      <vt:lpstr>Calibri</vt:lpstr>
      <vt:lpstr>Century Schoolbook</vt:lpstr>
      <vt:lpstr>Times</vt:lpstr>
      <vt:lpstr>Times New Roman</vt:lpstr>
      <vt:lpstr>Wingdings</vt:lpstr>
      <vt:lpstr>Wingdings 2</vt:lpstr>
      <vt:lpstr>Oriel</vt:lpstr>
      <vt:lpstr>PowerPoint Presentation</vt:lpstr>
      <vt:lpstr>PowerPoint Presentation</vt:lpstr>
      <vt:lpstr>Meaningful Standards Help a firm to Determine-</vt:lpstr>
      <vt:lpstr>Labor Standards</vt:lpstr>
      <vt:lpstr>Historical Experience</vt:lpstr>
      <vt:lpstr>Time Studies</vt:lpstr>
      <vt:lpstr>Time Studies</vt:lpstr>
      <vt:lpstr>Time Studies</vt:lpstr>
      <vt:lpstr>Time Studies</vt:lpstr>
      <vt:lpstr>Rest Allowances</vt:lpstr>
      <vt:lpstr>Time Study Example 1</vt:lpstr>
      <vt:lpstr>Time Study Example 1</vt:lpstr>
      <vt:lpstr>Time Study Example 2</vt:lpstr>
      <vt:lpstr>Time Study Example 2</vt:lpstr>
      <vt:lpstr>Time Study Example 2</vt:lpstr>
      <vt:lpstr>PowerPoint Presentation</vt:lpstr>
      <vt:lpstr>Predetermined Time Standards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 Standards</dc:title>
  <dc:creator>FLC</dc:creator>
  <cp:lastModifiedBy>Ahmadul Karim Chowdhury</cp:lastModifiedBy>
  <cp:revision>34</cp:revision>
  <dcterms:created xsi:type="dcterms:W3CDTF">2006-08-16T00:00:00Z</dcterms:created>
  <dcterms:modified xsi:type="dcterms:W3CDTF">2022-12-12T08:22:56Z</dcterms:modified>
</cp:coreProperties>
</file>