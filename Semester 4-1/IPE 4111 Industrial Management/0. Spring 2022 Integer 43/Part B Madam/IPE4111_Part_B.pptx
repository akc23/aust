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57" r:id="rId3"/>
    <p:sldId id="259" r:id="rId4"/>
    <p:sldId id="301" r:id="rId5"/>
    <p:sldId id="276" r:id="rId6"/>
    <p:sldId id="277" r:id="rId7"/>
    <p:sldId id="278" r:id="rId8"/>
    <p:sldId id="279" r:id="rId9"/>
    <p:sldId id="300" r:id="rId10"/>
    <p:sldId id="280" r:id="rId11"/>
    <p:sldId id="281" r:id="rId12"/>
    <p:sldId id="282" r:id="rId13"/>
    <p:sldId id="283" r:id="rId14"/>
    <p:sldId id="284" r:id="rId15"/>
    <p:sldId id="285" r:id="rId16"/>
    <p:sldId id="286" r:id="rId17"/>
    <p:sldId id="287" r:id="rId18"/>
    <p:sldId id="288" r:id="rId19"/>
    <p:sldId id="293" r:id="rId20"/>
    <p:sldId id="294" r:id="rId21"/>
    <p:sldId id="295" r:id="rId22"/>
    <p:sldId id="296" r:id="rId23"/>
    <p:sldId id="297" r:id="rId24"/>
    <p:sldId id="298" r:id="rId25"/>
    <p:sldId id="299" r:id="rId26"/>
    <p:sldId id="290" r:id="rId27"/>
    <p:sldId id="303" r:id="rId28"/>
    <p:sldId id="258" r:id="rId29"/>
    <p:sldId id="304" r:id="rId30"/>
    <p:sldId id="305" r:id="rId31"/>
    <p:sldId id="260" r:id="rId32"/>
    <p:sldId id="261" r:id="rId33"/>
    <p:sldId id="262" r:id="rId34"/>
    <p:sldId id="263" r:id="rId35"/>
    <p:sldId id="264" r:id="rId36"/>
    <p:sldId id="306" r:id="rId37"/>
    <p:sldId id="268" r:id="rId38"/>
    <p:sldId id="307" r:id="rId39"/>
    <p:sldId id="270" r:id="rId40"/>
    <p:sldId id="271" r:id="rId41"/>
    <p:sldId id="308" r:id="rId42"/>
    <p:sldId id="309" r:id="rId43"/>
    <p:sldId id="291" r:id="rId4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cheduling" id="{D42D7BC5-5E23-4611-9025-A6EBE7B4E59C}">
          <p14:sldIdLst>
            <p14:sldId id="256"/>
            <p14:sldId id="257"/>
            <p14:sldId id="259"/>
            <p14:sldId id="301"/>
            <p14:sldId id="276"/>
            <p14:sldId id="277"/>
            <p14:sldId id="278"/>
            <p14:sldId id="279"/>
            <p14:sldId id="300"/>
            <p14:sldId id="280"/>
            <p14:sldId id="281"/>
            <p14:sldId id="282"/>
            <p14:sldId id="283"/>
            <p14:sldId id="284"/>
            <p14:sldId id="285"/>
            <p14:sldId id="286"/>
            <p14:sldId id="287"/>
            <p14:sldId id="288"/>
            <p14:sldId id="293"/>
            <p14:sldId id="294"/>
            <p14:sldId id="295"/>
            <p14:sldId id="296"/>
            <p14:sldId id="297"/>
            <p14:sldId id="298"/>
            <p14:sldId id="299"/>
          </p14:sldIdLst>
        </p14:section>
        <p14:section name="Work Measurement" id="{8DB8C05C-6344-4A42-AF52-F9FB7DF4D3D9}">
          <p14:sldIdLst>
            <p14:sldId id="290"/>
            <p14:sldId id="303"/>
            <p14:sldId id="258"/>
            <p14:sldId id="304"/>
            <p14:sldId id="305"/>
            <p14:sldId id="260"/>
            <p14:sldId id="261"/>
            <p14:sldId id="262"/>
            <p14:sldId id="263"/>
            <p14:sldId id="264"/>
            <p14:sldId id="306"/>
            <p14:sldId id="268"/>
            <p14:sldId id="307"/>
            <p14:sldId id="270"/>
            <p14:sldId id="271"/>
            <p14:sldId id="308"/>
            <p14:sldId id="309"/>
            <p14:sldId id="291"/>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63" autoAdjust="0"/>
    <p:restoredTop sz="94660"/>
  </p:normalViewPr>
  <p:slideViewPr>
    <p:cSldViewPr>
      <p:cViewPr varScale="1">
        <p:scale>
          <a:sx n="66" d="100"/>
          <a:sy n="66" d="100"/>
        </p:scale>
        <p:origin x="1284"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623F8DB9-61C1-44DA-92A6-C3A24F302992}" type="datetimeFigureOut">
              <a:rPr lang="en-US" smtClean="0"/>
              <a:t>12/15/2022</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26EEDBA3-AB07-4178-9AFB-49A490C3E479}" type="slidenum">
              <a:rPr lang="en-US" smtClean="0"/>
              <a:t>‹#›</a:t>
            </a:fld>
            <a:endParaRPr lang="en-US"/>
          </a:p>
        </p:txBody>
      </p:sp>
    </p:spTree>
    <p:extLst>
      <p:ext uri="{BB962C8B-B14F-4D97-AF65-F5344CB8AC3E}">
        <p14:creationId xmlns:p14="http://schemas.microsoft.com/office/powerpoint/2010/main" val="2665014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customization, complexity of workflow, amount of setup</a:t>
            </a:r>
          </a:p>
        </p:txBody>
      </p:sp>
      <p:sp>
        <p:nvSpPr>
          <p:cNvPr id="4" name="Slide Number Placeholder 3"/>
          <p:cNvSpPr>
            <a:spLocks noGrp="1"/>
          </p:cNvSpPr>
          <p:nvPr>
            <p:ph type="sldNum" sz="quarter" idx="10"/>
          </p:nvPr>
        </p:nvSpPr>
        <p:spPr/>
        <p:txBody>
          <a:bodyPr/>
          <a:lstStyle/>
          <a:p>
            <a:fld id="{26EEDBA3-AB07-4178-9AFB-49A490C3E479}" type="slidenum">
              <a:rPr lang="en-US" smtClean="0"/>
              <a:t>4</a:t>
            </a:fld>
            <a:endParaRPr lang="en-US"/>
          </a:p>
        </p:txBody>
      </p:sp>
    </p:spTree>
    <p:extLst>
      <p:ext uri="{BB962C8B-B14F-4D97-AF65-F5344CB8AC3E}">
        <p14:creationId xmlns:p14="http://schemas.microsoft.com/office/powerpoint/2010/main" val="2809982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6EEDBA3-AB07-4178-9AFB-49A490C3E479}" type="slidenum">
              <a:rPr lang="en-US" smtClean="0"/>
              <a:t>5</a:t>
            </a:fld>
            <a:endParaRPr lang="en-US"/>
          </a:p>
        </p:txBody>
      </p:sp>
    </p:spTree>
    <p:extLst>
      <p:ext uri="{BB962C8B-B14F-4D97-AF65-F5344CB8AC3E}">
        <p14:creationId xmlns:p14="http://schemas.microsoft.com/office/powerpoint/2010/main" val="4242512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6D124BE-D684-4BC3-81FF-55203275E421}" type="slidenum">
              <a:rPr lang="en-AU">
                <a:cs typeface="Arial" pitchFamily="34" charset="0"/>
              </a:rPr>
              <a:pPr fontAlgn="base">
                <a:spcBef>
                  <a:spcPct val="0"/>
                </a:spcBef>
                <a:spcAft>
                  <a:spcPct val="0"/>
                </a:spcAft>
              </a:pPr>
              <a:t>28</a:t>
            </a:fld>
            <a:endParaRPr lang="en-AU">
              <a:cs typeface="Arial" pitchFamily="34" charset="0"/>
            </a:endParaRPr>
          </a:p>
        </p:txBody>
      </p:sp>
      <p:sp>
        <p:nvSpPr>
          <p:cNvPr id="1075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75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This slide can be used to frame a discussion of capacity.</a:t>
            </a:r>
          </a:p>
          <a:p>
            <a:pPr>
              <a:spcBef>
                <a:spcPct val="0"/>
              </a:spcBef>
            </a:pPr>
            <a:endParaRPr lang="en-US"/>
          </a:p>
          <a:p>
            <a:pPr>
              <a:spcBef>
                <a:spcPct val="0"/>
              </a:spcBef>
            </a:pPr>
            <a:r>
              <a:rPr lang="en-US"/>
              <a:t>Points to be made might include:</a:t>
            </a:r>
          </a:p>
          <a:p>
            <a:pPr>
              <a:spcBef>
                <a:spcPct val="0"/>
              </a:spcBef>
            </a:pPr>
            <a:r>
              <a:rPr lang="en-US"/>
              <a:t>     - capacity definition and measurement is necessary if we are to develop a production schedule</a:t>
            </a:r>
          </a:p>
          <a:p>
            <a:pPr>
              <a:spcBef>
                <a:spcPct val="0"/>
              </a:spcBef>
            </a:pPr>
            <a:r>
              <a:rPr lang="en-US"/>
              <a:t>     - while a process may have “maximum” capacity, many factors prevent us from achieving that capacity on a continuous basis.</a:t>
            </a:r>
          </a:p>
          <a:p>
            <a:pPr>
              <a:spcBef>
                <a:spcPct val="0"/>
              </a:spcBef>
            </a:pPr>
            <a:endParaRPr lang="en-US"/>
          </a:p>
          <a:p>
            <a:pPr>
              <a:spcBef>
                <a:spcPct val="0"/>
              </a:spcBef>
            </a:pPr>
            <a:r>
              <a:rPr lang="en-US"/>
              <a:t>Students should be asked to suggest factors which might prevent one from achieving maximum capacity.</a:t>
            </a:r>
          </a:p>
        </p:txBody>
      </p:sp>
    </p:spTree>
    <p:extLst>
      <p:ext uri="{BB962C8B-B14F-4D97-AF65-F5344CB8AC3E}">
        <p14:creationId xmlns:p14="http://schemas.microsoft.com/office/powerpoint/2010/main" val="1088004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27EE2C4-3F61-4657-9248-998815B0DE11}" type="slidenum">
              <a:rPr lang="en-AU">
                <a:cs typeface="Arial" pitchFamily="34" charset="0"/>
              </a:rPr>
              <a:pPr fontAlgn="base">
                <a:spcBef>
                  <a:spcPct val="0"/>
                </a:spcBef>
                <a:spcAft>
                  <a:spcPct val="0"/>
                </a:spcAft>
              </a:pPr>
              <a:t>37</a:t>
            </a:fld>
            <a:endParaRPr lang="en-AU">
              <a:cs typeface="Arial" pitchFamily="34" charset="0"/>
            </a:endParaRPr>
          </a:p>
        </p:txBody>
      </p:sp>
      <p:sp>
        <p:nvSpPr>
          <p:cNvPr id="119810" name="Rectangle 2"/>
          <p:cNvSpPr>
            <a:spLocks noGrp="1" noChangeArrowheads="1"/>
          </p:cNvSpPr>
          <p:nvPr>
            <p:ph type="body" idx="1"/>
          </p:nvPr>
        </p:nvSpPr>
        <p:spPr bwMode="auto">
          <a:noFill/>
        </p:spPr>
        <p:txBody>
          <a:bodyPr wrap="square" lIns="90488" tIns="44450" rIns="90488" bIns="44450" numCol="1" anchor="t" anchorCtr="0" compatLnSpc="1">
            <a:prstTxWarp prst="textNoShape">
              <a:avLst/>
            </a:prstTxWarp>
          </a:bodyPr>
          <a:lstStyle/>
          <a:p>
            <a:pPr>
              <a:spcBef>
                <a:spcPct val="0"/>
              </a:spcBef>
            </a:pPr>
            <a:r>
              <a:rPr lang="en-US"/>
              <a:t>It might be useful at this point to discuss typical equipment utilization rates for different process strategies if you have not done so before.</a:t>
            </a:r>
          </a:p>
        </p:txBody>
      </p:sp>
      <p:sp>
        <p:nvSpPr>
          <p:cNvPr id="119811" name="Rectangle 3"/>
          <p:cNvSpPr>
            <a:spLocks noGrp="1" noRot="1" noChangeAspect="1" noChangeArrowheads="1" noTextEdit="1"/>
          </p:cNvSpPr>
          <p:nvPr>
            <p:ph type="sldImg"/>
          </p:nvPr>
        </p:nvSpPr>
        <p:spPr bwMode="auto">
          <a:noFill/>
          <a:ln cap="flat">
            <a:solidFill>
              <a:schemeClr val="tx1"/>
            </a:solidFill>
            <a:miter lim="800000"/>
            <a:headEnd/>
            <a:tailEnd/>
          </a:ln>
        </p:spPr>
      </p:sp>
    </p:spTree>
    <p:extLst>
      <p:ext uri="{BB962C8B-B14F-4D97-AF65-F5344CB8AC3E}">
        <p14:creationId xmlns:p14="http://schemas.microsoft.com/office/powerpoint/2010/main" val="236616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34A69AC-E3E5-42F8-BDB8-A3BE9EA97FFF}" type="slidenum">
              <a:rPr lang="en-AU">
                <a:cs typeface="Arial" pitchFamily="34" charset="0"/>
              </a:rPr>
              <a:pPr fontAlgn="base">
                <a:spcBef>
                  <a:spcPct val="0"/>
                </a:spcBef>
                <a:spcAft>
                  <a:spcPct val="0"/>
                </a:spcAft>
              </a:pPr>
              <a:t>39</a:t>
            </a:fld>
            <a:endParaRPr lang="en-AU">
              <a:cs typeface="Arial" pitchFamily="34" charset="0"/>
            </a:endParaRPr>
          </a:p>
        </p:txBody>
      </p:sp>
      <p:sp>
        <p:nvSpPr>
          <p:cNvPr id="121858" name="Rectangle 2"/>
          <p:cNvSpPr>
            <a:spLocks noGrp="1" noChangeArrowheads="1"/>
          </p:cNvSpPr>
          <p:nvPr>
            <p:ph type="body" idx="1"/>
          </p:nvPr>
        </p:nvSpPr>
        <p:spPr bwMode="auto">
          <a:noFill/>
        </p:spPr>
        <p:txBody>
          <a:bodyPr wrap="square" lIns="90488" tIns="44450" rIns="90488" bIns="44450" numCol="1" anchor="t" anchorCtr="0" compatLnSpc="1">
            <a:prstTxWarp prst="textNoShape">
              <a:avLst/>
            </a:prstTxWarp>
          </a:bodyPr>
          <a:lstStyle/>
          <a:p>
            <a:pPr>
              <a:spcBef>
                <a:spcPct val="0"/>
              </a:spcBef>
            </a:pPr>
            <a:r>
              <a:rPr lang="en-US"/>
              <a:t>It might be useful at this point to discuss typical equipment utilization rates for different process strategies if you have not done so before.</a:t>
            </a:r>
          </a:p>
        </p:txBody>
      </p:sp>
      <p:sp>
        <p:nvSpPr>
          <p:cNvPr id="121859" name="Rectangle 3"/>
          <p:cNvSpPr>
            <a:spLocks noGrp="1" noRot="1" noChangeAspect="1" noChangeArrowheads="1" noTextEdit="1"/>
          </p:cNvSpPr>
          <p:nvPr>
            <p:ph type="sldImg"/>
          </p:nvPr>
        </p:nvSpPr>
        <p:spPr bwMode="auto">
          <a:noFill/>
          <a:ln cap="flat">
            <a:solidFill>
              <a:schemeClr val="tx1"/>
            </a:solidFill>
            <a:miter lim="800000"/>
            <a:headEnd/>
            <a:tailEnd/>
          </a:ln>
        </p:spPr>
      </p:sp>
    </p:spTree>
    <p:extLst>
      <p:ext uri="{BB962C8B-B14F-4D97-AF65-F5344CB8AC3E}">
        <p14:creationId xmlns:p14="http://schemas.microsoft.com/office/powerpoint/2010/main" val="4246569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1971796-0B6A-47F0-A944-0C5A9BE8D593}" type="slidenum">
              <a:rPr lang="en-AU">
                <a:cs typeface="Arial" pitchFamily="34" charset="0"/>
              </a:rPr>
              <a:pPr fontAlgn="base">
                <a:spcBef>
                  <a:spcPct val="0"/>
                </a:spcBef>
                <a:spcAft>
                  <a:spcPct val="0"/>
                </a:spcAft>
              </a:pPr>
              <a:t>40</a:t>
            </a:fld>
            <a:endParaRPr lang="en-AU">
              <a:cs typeface="Arial" pitchFamily="34" charset="0"/>
            </a:endParaRPr>
          </a:p>
        </p:txBody>
      </p:sp>
      <p:sp>
        <p:nvSpPr>
          <p:cNvPr id="123906" name="Rectangle 2"/>
          <p:cNvSpPr>
            <a:spLocks noGrp="1" noChangeArrowheads="1"/>
          </p:cNvSpPr>
          <p:nvPr>
            <p:ph type="body" idx="1"/>
          </p:nvPr>
        </p:nvSpPr>
        <p:spPr bwMode="auto">
          <a:noFill/>
        </p:spPr>
        <p:txBody>
          <a:bodyPr wrap="square" lIns="90488" tIns="44450" rIns="90488" bIns="44450" numCol="1" anchor="t" anchorCtr="0" compatLnSpc="1">
            <a:prstTxWarp prst="textNoShape">
              <a:avLst/>
            </a:prstTxWarp>
          </a:bodyPr>
          <a:lstStyle/>
          <a:p>
            <a:pPr>
              <a:spcBef>
                <a:spcPct val="0"/>
              </a:spcBef>
            </a:pPr>
            <a:r>
              <a:rPr lang="en-US"/>
              <a:t>It might be useful at this point to discuss typical equipment utilization rates for different process strategies if you have not done so before.</a:t>
            </a:r>
          </a:p>
        </p:txBody>
      </p:sp>
      <p:sp>
        <p:nvSpPr>
          <p:cNvPr id="123907" name="Rectangle 3"/>
          <p:cNvSpPr>
            <a:spLocks noGrp="1" noRot="1" noChangeAspect="1" noChangeArrowheads="1" noTextEdit="1"/>
          </p:cNvSpPr>
          <p:nvPr>
            <p:ph type="sldImg"/>
          </p:nvPr>
        </p:nvSpPr>
        <p:spPr bwMode="auto">
          <a:noFill/>
          <a:ln cap="flat">
            <a:solidFill>
              <a:schemeClr val="tx1"/>
            </a:solidFill>
            <a:miter lim="800000"/>
            <a:headEnd/>
            <a:tailEnd/>
          </a:ln>
        </p:spPr>
      </p:sp>
    </p:spTree>
    <p:extLst>
      <p:ext uri="{BB962C8B-B14F-4D97-AF65-F5344CB8AC3E}">
        <p14:creationId xmlns:p14="http://schemas.microsoft.com/office/powerpoint/2010/main" val="3194909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1A642EC-9D5F-4B69-B662-5849E719B7CF}" type="slidenum">
              <a:rPr lang="en-AU">
                <a:cs typeface="Arial" pitchFamily="34" charset="0"/>
              </a:rPr>
              <a:pPr fontAlgn="base">
                <a:spcBef>
                  <a:spcPct val="0"/>
                </a:spcBef>
                <a:spcAft>
                  <a:spcPct val="0"/>
                </a:spcAft>
              </a:pPr>
              <a:t>42</a:t>
            </a:fld>
            <a:endParaRPr lang="en-AU">
              <a:cs typeface="Arial" pitchFamily="34" charset="0"/>
            </a:endParaRPr>
          </a:p>
        </p:txBody>
      </p:sp>
      <p:sp>
        <p:nvSpPr>
          <p:cNvPr id="145410" name="Rectangle 2"/>
          <p:cNvSpPr>
            <a:spLocks noGrp="1" noChangeArrowheads="1"/>
          </p:cNvSpPr>
          <p:nvPr>
            <p:ph type="body" idx="1"/>
          </p:nvPr>
        </p:nvSpPr>
        <p:spPr bwMode="auto">
          <a:noFill/>
        </p:spPr>
        <p:txBody>
          <a:bodyPr wrap="square" lIns="90488" tIns="44450" rIns="90488" bIns="44450" numCol="1" anchor="t" anchorCtr="0" compatLnSpc="1">
            <a:prstTxWarp prst="textNoShape">
              <a:avLst/>
            </a:prstTxWarp>
          </a:bodyPr>
          <a:lstStyle/>
          <a:p>
            <a:pPr>
              <a:spcBef>
                <a:spcPct val="0"/>
              </a:spcBef>
            </a:pPr>
            <a:r>
              <a:rPr lang="en-US"/>
              <a:t>You might point out to students that this slide links capacity to work measurement (standard times).</a:t>
            </a:r>
          </a:p>
        </p:txBody>
      </p:sp>
      <p:sp>
        <p:nvSpPr>
          <p:cNvPr id="145411" name="Rectangle 3"/>
          <p:cNvSpPr>
            <a:spLocks noGrp="1" noRot="1" noChangeAspect="1" noChangeArrowheads="1" noTextEdit="1"/>
          </p:cNvSpPr>
          <p:nvPr>
            <p:ph type="sldImg"/>
          </p:nvPr>
        </p:nvSpPr>
        <p:spPr bwMode="auto">
          <a:noFill/>
          <a:ln cap="flat">
            <a:solidFill>
              <a:schemeClr val="tx1"/>
            </a:solidFill>
            <a:miter lim="800000"/>
            <a:headEnd/>
            <a:tailEnd/>
          </a:ln>
        </p:spPr>
      </p:sp>
    </p:spTree>
    <p:extLst>
      <p:ext uri="{BB962C8B-B14F-4D97-AF65-F5344CB8AC3E}">
        <p14:creationId xmlns:p14="http://schemas.microsoft.com/office/powerpoint/2010/main" val="4087564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4276" y="510540"/>
            <a:ext cx="7775447" cy="92710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12/15/2022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12/15/2022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12/15/2022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12/15/2022</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12/15/2022</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F7FAFF"/>
          </a:solidFill>
        </p:spPr>
        <p:txBody>
          <a:bodyPr wrap="square" lIns="0" tIns="0" rIns="0" bIns="0" rtlCol="0"/>
          <a:lstStyle/>
          <a:p>
            <a:endParaRPr/>
          </a:p>
        </p:txBody>
      </p:sp>
      <p:sp>
        <p:nvSpPr>
          <p:cNvPr id="2" name="Holder 2"/>
          <p:cNvSpPr>
            <a:spLocks noGrp="1"/>
          </p:cNvSpPr>
          <p:nvPr>
            <p:ph type="title"/>
          </p:nvPr>
        </p:nvSpPr>
        <p:spPr>
          <a:xfrm>
            <a:off x="1967992" y="802970"/>
            <a:ext cx="5208015" cy="636905"/>
          </a:xfrm>
          <a:prstGeom prst="rect">
            <a:avLst/>
          </a:prstGeom>
        </p:spPr>
        <p:txBody>
          <a:bodyPr wrap="square" lIns="0" tIns="0" rIns="0" bIns="0">
            <a:spAutoFit/>
          </a:bodyPr>
          <a:lstStyle>
            <a:lvl1pPr>
              <a:defRPr sz="4000" b="1" i="0">
                <a:solidFill>
                  <a:schemeClr val="tx1"/>
                </a:solidFill>
                <a:latin typeface="Arial"/>
                <a:cs typeface="Arial"/>
              </a:defRPr>
            </a:lvl1pPr>
          </a:lstStyle>
          <a:p>
            <a:endParaRPr/>
          </a:p>
        </p:txBody>
      </p:sp>
      <p:sp>
        <p:nvSpPr>
          <p:cNvPr id="3" name="Holder 3"/>
          <p:cNvSpPr>
            <a:spLocks noGrp="1"/>
          </p:cNvSpPr>
          <p:nvPr>
            <p:ph type="body" idx="1"/>
          </p:nvPr>
        </p:nvSpPr>
        <p:spPr>
          <a:xfrm>
            <a:off x="717550" y="1430616"/>
            <a:ext cx="5143500" cy="25603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12/15/2022</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21" Type="http://schemas.openxmlformats.org/officeDocument/2006/relationships/image" Target="../media/image23.png"/><Relationship Id="rId34" Type="http://schemas.openxmlformats.org/officeDocument/2006/relationships/image" Target="../media/image36.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35.png"/><Relationship Id="rId38" Type="http://schemas.openxmlformats.org/officeDocument/2006/relationships/image" Target="../media/image40.pn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0.png"/><Relationship Id="rId36" Type="http://schemas.openxmlformats.org/officeDocument/2006/relationships/image" Target="../media/image38.png"/><Relationship Id="rId10" Type="http://schemas.openxmlformats.org/officeDocument/2006/relationships/image" Target="../media/image12.png"/><Relationship Id="rId19" Type="http://schemas.openxmlformats.org/officeDocument/2006/relationships/image" Target="../media/image21.png"/><Relationship Id="rId31" Type="http://schemas.openxmlformats.org/officeDocument/2006/relationships/image" Target="../media/image33.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png"/><Relationship Id="rId30" Type="http://schemas.openxmlformats.org/officeDocument/2006/relationships/image" Target="../media/image32.png"/><Relationship Id="rId35" Type="http://schemas.openxmlformats.org/officeDocument/2006/relationships/image" Target="../media/image37.png"/><Relationship Id="rId8" Type="http://schemas.openxmlformats.org/officeDocument/2006/relationships/image" Target="../media/image10.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3" Type="http://schemas.openxmlformats.org/officeDocument/2006/relationships/image" Target="../media/image46.png"/><Relationship Id="rId18" Type="http://schemas.openxmlformats.org/officeDocument/2006/relationships/image" Target="../media/image20.png"/><Relationship Id="rId26" Type="http://schemas.openxmlformats.org/officeDocument/2006/relationships/image" Target="../media/image50.png"/><Relationship Id="rId21" Type="http://schemas.openxmlformats.org/officeDocument/2006/relationships/image" Target="../media/image23.png"/><Relationship Id="rId34" Type="http://schemas.openxmlformats.org/officeDocument/2006/relationships/image" Target="../media/image36.png"/><Relationship Id="rId7" Type="http://schemas.openxmlformats.org/officeDocument/2006/relationships/image" Target="../media/image44.png"/><Relationship Id="rId12" Type="http://schemas.openxmlformats.org/officeDocument/2006/relationships/image" Target="../media/image45.pn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55.png"/><Relationship Id="rId38" Type="http://schemas.openxmlformats.org/officeDocument/2006/relationships/image" Target="../media/image57.pn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13.png"/><Relationship Id="rId24" Type="http://schemas.openxmlformats.org/officeDocument/2006/relationships/image" Target="../media/image26.png"/><Relationship Id="rId32" Type="http://schemas.openxmlformats.org/officeDocument/2006/relationships/image" Target="../media/image54.png"/><Relationship Id="rId37" Type="http://schemas.openxmlformats.org/officeDocument/2006/relationships/image" Target="../media/image56.png"/><Relationship Id="rId5" Type="http://schemas.openxmlformats.org/officeDocument/2006/relationships/image" Target="../media/image42.png"/><Relationship Id="rId15" Type="http://schemas.openxmlformats.org/officeDocument/2006/relationships/image" Target="../media/image48.png"/><Relationship Id="rId23" Type="http://schemas.openxmlformats.org/officeDocument/2006/relationships/image" Target="../media/image49.png"/><Relationship Id="rId28" Type="http://schemas.openxmlformats.org/officeDocument/2006/relationships/image" Target="../media/image52.png"/><Relationship Id="rId36" Type="http://schemas.openxmlformats.org/officeDocument/2006/relationships/image" Target="../media/image38.png"/><Relationship Id="rId10" Type="http://schemas.openxmlformats.org/officeDocument/2006/relationships/image" Target="../media/image12.png"/><Relationship Id="rId19" Type="http://schemas.openxmlformats.org/officeDocument/2006/relationships/image" Target="../media/image21.png"/><Relationship Id="rId31" Type="http://schemas.openxmlformats.org/officeDocument/2006/relationships/image" Target="../media/image33.png"/><Relationship Id="rId4" Type="http://schemas.openxmlformats.org/officeDocument/2006/relationships/image" Target="../media/image41.png"/><Relationship Id="rId9" Type="http://schemas.openxmlformats.org/officeDocument/2006/relationships/image" Target="../media/image11.png"/><Relationship Id="rId14" Type="http://schemas.openxmlformats.org/officeDocument/2006/relationships/image" Target="../media/image47.png"/><Relationship Id="rId22" Type="http://schemas.openxmlformats.org/officeDocument/2006/relationships/image" Target="../media/image24.png"/><Relationship Id="rId27" Type="http://schemas.openxmlformats.org/officeDocument/2006/relationships/image" Target="../media/image51.png"/><Relationship Id="rId30" Type="http://schemas.openxmlformats.org/officeDocument/2006/relationships/image" Target="../media/image32.png"/><Relationship Id="rId35" Type="http://schemas.openxmlformats.org/officeDocument/2006/relationships/image" Target="../media/image37.png"/><Relationship Id="rId8" Type="http://schemas.openxmlformats.org/officeDocument/2006/relationships/image" Target="../media/image10.png"/><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3" Type="http://schemas.openxmlformats.org/officeDocument/2006/relationships/image" Target="../media/image27.png"/><Relationship Id="rId18" Type="http://schemas.openxmlformats.org/officeDocument/2006/relationships/image" Target="../media/image20.png"/><Relationship Id="rId26" Type="http://schemas.openxmlformats.org/officeDocument/2006/relationships/image" Target="../media/image67.png"/><Relationship Id="rId21" Type="http://schemas.openxmlformats.org/officeDocument/2006/relationships/image" Target="../media/image23.png"/><Relationship Id="rId34" Type="http://schemas.openxmlformats.org/officeDocument/2006/relationships/image" Target="../media/image36.png"/><Relationship Id="rId7" Type="http://schemas.openxmlformats.org/officeDocument/2006/relationships/image" Target="../media/image9.png"/><Relationship Id="rId12" Type="http://schemas.openxmlformats.org/officeDocument/2006/relationships/image" Target="../media/image62.png"/><Relationship Id="rId17" Type="http://schemas.openxmlformats.org/officeDocument/2006/relationships/image" Target="../media/image19.png"/><Relationship Id="rId25" Type="http://schemas.openxmlformats.org/officeDocument/2006/relationships/image" Target="../media/image66.png"/><Relationship Id="rId33" Type="http://schemas.openxmlformats.org/officeDocument/2006/relationships/image" Target="../media/image72.png"/><Relationship Id="rId38" Type="http://schemas.openxmlformats.org/officeDocument/2006/relationships/image" Target="../media/image76.png"/><Relationship Id="rId2" Type="http://schemas.openxmlformats.org/officeDocument/2006/relationships/image" Target="../media/image4.png"/><Relationship Id="rId16" Type="http://schemas.openxmlformats.org/officeDocument/2006/relationships/image" Target="../media/image64.png"/><Relationship Id="rId20" Type="http://schemas.openxmlformats.org/officeDocument/2006/relationships/image" Target="../media/image22.png"/><Relationship Id="rId29"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13.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75.png"/><Relationship Id="rId5" Type="http://schemas.openxmlformats.org/officeDocument/2006/relationships/image" Target="../media/image59.png"/><Relationship Id="rId15" Type="http://schemas.openxmlformats.org/officeDocument/2006/relationships/image" Target="../media/image17.png"/><Relationship Id="rId23" Type="http://schemas.openxmlformats.org/officeDocument/2006/relationships/image" Target="../media/image65.png"/><Relationship Id="rId28" Type="http://schemas.openxmlformats.org/officeDocument/2006/relationships/image" Target="../media/image68.png"/><Relationship Id="rId36" Type="http://schemas.openxmlformats.org/officeDocument/2006/relationships/image" Target="../media/image74.png"/><Relationship Id="rId10" Type="http://schemas.openxmlformats.org/officeDocument/2006/relationships/image" Target="../media/image12.png"/><Relationship Id="rId19" Type="http://schemas.openxmlformats.org/officeDocument/2006/relationships/image" Target="../media/image21.png"/><Relationship Id="rId31" Type="http://schemas.openxmlformats.org/officeDocument/2006/relationships/image" Target="../media/image71.png"/><Relationship Id="rId4" Type="http://schemas.openxmlformats.org/officeDocument/2006/relationships/image" Target="../media/image58.png"/><Relationship Id="rId9" Type="http://schemas.openxmlformats.org/officeDocument/2006/relationships/image" Target="../media/image11.png"/><Relationship Id="rId14" Type="http://schemas.openxmlformats.org/officeDocument/2006/relationships/image" Target="../media/image63.png"/><Relationship Id="rId22" Type="http://schemas.openxmlformats.org/officeDocument/2006/relationships/image" Target="../media/image24.png"/><Relationship Id="rId27" Type="http://schemas.openxmlformats.org/officeDocument/2006/relationships/image" Target="../media/image51.png"/><Relationship Id="rId30" Type="http://schemas.openxmlformats.org/officeDocument/2006/relationships/image" Target="../media/image70.png"/><Relationship Id="rId35" Type="http://schemas.openxmlformats.org/officeDocument/2006/relationships/image" Target="../media/image73.png"/><Relationship Id="rId8" Type="http://schemas.openxmlformats.org/officeDocument/2006/relationships/image" Target="../media/image61.png"/><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24.xml.rels><?xml version="1.0" encoding="UTF-8" standalone="yes"?>
<Relationships xmlns="http://schemas.openxmlformats.org/package/2006/relationships"><Relationship Id="rId13" Type="http://schemas.openxmlformats.org/officeDocument/2006/relationships/image" Target="../media/image98.png"/><Relationship Id="rId18" Type="http://schemas.openxmlformats.org/officeDocument/2006/relationships/image" Target="../media/image103.png"/><Relationship Id="rId26" Type="http://schemas.openxmlformats.org/officeDocument/2006/relationships/image" Target="../media/image111.png"/><Relationship Id="rId39" Type="http://schemas.openxmlformats.org/officeDocument/2006/relationships/image" Target="../media/image84.png"/><Relationship Id="rId21" Type="http://schemas.openxmlformats.org/officeDocument/2006/relationships/image" Target="../media/image106.png"/><Relationship Id="rId34" Type="http://schemas.openxmlformats.org/officeDocument/2006/relationships/image" Target="../media/image119.png"/><Relationship Id="rId7" Type="http://schemas.openxmlformats.org/officeDocument/2006/relationships/image" Target="../media/image92.png"/><Relationship Id="rId2" Type="http://schemas.openxmlformats.org/officeDocument/2006/relationships/image" Target="../media/image87.png"/><Relationship Id="rId16" Type="http://schemas.openxmlformats.org/officeDocument/2006/relationships/image" Target="../media/image101.png"/><Relationship Id="rId20" Type="http://schemas.openxmlformats.org/officeDocument/2006/relationships/image" Target="../media/image105.png"/><Relationship Id="rId29" Type="http://schemas.openxmlformats.org/officeDocument/2006/relationships/image" Target="../media/image114.png"/><Relationship Id="rId41"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1.png"/><Relationship Id="rId11" Type="http://schemas.openxmlformats.org/officeDocument/2006/relationships/image" Target="../media/image96.png"/><Relationship Id="rId24" Type="http://schemas.openxmlformats.org/officeDocument/2006/relationships/image" Target="../media/image109.png"/><Relationship Id="rId32" Type="http://schemas.openxmlformats.org/officeDocument/2006/relationships/image" Target="../media/image117.png"/><Relationship Id="rId37" Type="http://schemas.openxmlformats.org/officeDocument/2006/relationships/image" Target="../media/image82.png"/><Relationship Id="rId40" Type="http://schemas.openxmlformats.org/officeDocument/2006/relationships/image" Target="../media/image85.png"/><Relationship Id="rId5" Type="http://schemas.openxmlformats.org/officeDocument/2006/relationships/image" Target="../media/image90.png"/><Relationship Id="rId15" Type="http://schemas.openxmlformats.org/officeDocument/2006/relationships/image" Target="../media/image100.png"/><Relationship Id="rId23" Type="http://schemas.openxmlformats.org/officeDocument/2006/relationships/image" Target="../media/image108.png"/><Relationship Id="rId28" Type="http://schemas.openxmlformats.org/officeDocument/2006/relationships/image" Target="../media/image113.png"/><Relationship Id="rId36" Type="http://schemas.openxmlformats.org/officeDocument/2006/relationships/image" Target="../media/image121.png"/><Relationship Id="rId10" Type="http://schemas.openxmlformats.org/officeDocument/2006/relationships/image" Target="../media/image95.png"/><Relationship Id="rId19" Type="http://schemas.openxmlformats.org/officeDocument/2006/relationships/image" Target="../media/image104.png"/><Relationship Id="rId31" Type="http://schemas.openxmlformats.org/officeDocument/2006/relationships/image" Target="../media/image116.png"/><Relationship Id="rId4" Type="http://schemas.openxmlformats.org/officeDocument/2006/relationships/image" Target="../media/image89.png"/><Relationship Id="rId9" Type="http://schemas.openxmlformats.org/officeDocument/2006/relationships/image" Target="../media/image94.png"/><Relationship Id="rId14" Type="http://schemas.openxmlformats.org/officeDocument/2006/relationships/image" Target="../media/image99.png"/><Relationship Id="rId22" Type="http://schemas.openxmlformats.org/officeDocument/2006/relationships/image" Target="../media/image107.png"/><Relationship Id="rId27" Type="http://schemas.openxmlformats.org/officeDocument/2006/relationships/image" Target="../media/image112.png"/><Relationship Id="rId30" Type="http://schemas.openxmlformats.org/officeDocument/2006/relationships/image" Target="../media/image115.png"/><Relationship Id="rId35" Type="http://schemas.openxmlformats.org/officeDocument/2006/relationships/image" Target="../media/image120.png"/><Relationship Id="rId8" Type="http://schemas.openxmlformats.org/officeDocument/2006/relationships/image" Target="../media/image93.png"/><Relationship Id="rId3" Type="http://schemas.openxmlformats.org/officeDocument/2006/relationships/image" Target="../media/image88.png"/><Relationship Id="rId12" Type="http://schemas.openxmlformats.org/officeDocument/2006/relationships/image" Target="../media/image97.png"/><Relationship Id="rId17" Type="http://schemas.openxmlformats.org/officeDocument/2006/relationships/image" Target="../media/image102.png"/><Relationship Id="rId25" Type="http://schemas.openxmlformats.org/officeDocument/2006/relationships/image" Target="../media/image110.png"/><Relationship Id="rId33" Type="http://schemas.openxmlformats.org/officeDocument/2006/relationships/image" Target="../media/image118.png"/><Relationship Id="rId38" Type="http://schemas.openxmlformats.org/officeDocument/2006/relationships/image" Target="../media/image8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18135"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30" dirty="0">
                <a:solidFill>
                  <a:srgbClr val="3333CC"/>
                </a:solidFill>
                <a:latin typeface="Arial"/>
                <a:cs typeface="Arial"/>
              </a:rPr>
              <a:t> </a:t>
            </a:r>
            <a:r>
              <a:rPr sz="900" b="1" spc="5" dirty="0">
                <a:solidFill>
                  <a:srgbClr val="3333CC"/>
                </a:solidFill>
                <a:latin typeface="Arial"/>
                <a:cs typeface="Arial"/>
              </a:rPr>
              <a:t>1</a:t>
            </a:r>
            <a:endParaRPr sz="900">
              <a:latin typeface="Arial"/>
              <a:cs typeface="Arial"/>
            </a:endParaRPr>
          </a:p>
        </p:txBody>
      </p:sp>
      <p:grpSp>
        <p:nvGrpSpPr>
          <p:cNvPr id="4" name="object 4"/>
          <p:cNvGrpSpPr/>
          <p:nvPr/>
        </p:nvGrpSpPr>
        <p:grpSpPr>
          <a:xfrm>
            <a:off x="12191" y="6437376"/>
            <a:ext cx="1628139" cy="411480"/>
            <a:chOff x="12191" y="6437376"/>
            <a:chExt cx="1628139" cy="411480"/>
          </a:xfrm>
        </p:grpSpPr>
        <p:sp>
          <p:nvSpPr>
            <p:cNvPr id="5" name="object 5"/>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6" name="object 6"/>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7" name="object 7"/>
          <p:cNvGrpSpPr/>
          <p:nvPr/>
        </p:nvGrpSpPr>
        <p:grpSpPr>
          <a:xfrm>
            <a:off x="7491983" y="6437376"/>
            <a:ext cx="1630680" cy="411480"/>
            <a:chOff x="7491983" y="6437376"/>
            <a:chExt cx="1630680" cy="411480"/>
          </a:xfrm>
        </p:grpSpPr>
        <p:sp>
          <p:nvSpPr>
            <p:cNvPr id="8" name="object 8"/>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9" name="object 9"/>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
        <p:nvSpPr>
          <p:cNvPr id="14" name="object 14"/>
          <p:cNvSpPr txBox="1"/>
          <p:nvPr/>
        </p:nvSpPr>
        <p:spPr>
          <a:xfrm>
            <a:off x="1645201" y="1524000"/>
            <a:ext cx="5817235" cy="1180260"/>
          </a:xfrm>
          <a:prstGeom prst="rect">
            <a:avLst/>
          </a:prstGeom>
        </p:spPr>
        <p:txBody>
          <a:bodyPr vert="horz" wrap="square" lIns="0" tIns="11430" rIns="0" bIns="0" rtlCol="0">
            <a:spAutoFit/>
          </a:bodyPr>
          <a:lstStyle/>
          <a:p>
            <a:pPr marL="7620" algn="ctr">
              <a:lnSpc>
                <a:spcPts val="3910"/>
              </a:lnSpc>
            </a:pPr>
            <a:endParaRPr sz="4800" dirty="0">
              <a:latin typeface="Times New Roman"/>
              <a:cs typeface="Times New Roman"/>
            </a:endParaRPr>
          </a:p>
          <a:p>
            <a:pPr marL="6350" algn="ctr">
              <a:lnSpc>
                <a:spcPts val="4870"/>
              </a:lnSpc>
            </a:pPr>
            <a:r>
              <a:rPr sz="6600" b="1" i="1" dirty="0">
                <a:solidFill>
                  <a:schemeClr val="accent4">
                    <a:lumMod val="50000"/>
                  </a:schemeClr>
                </a:solidFill>
                <a:latin typeface="Times New Roman"/>
                <a:cs typeface="Times New Roman"/>
              </a:rPr>
              <a:t>“</a:t>
            </a:r>
            <a:r>
              <a:rPr sz="6600" b="1" i="1" dirty="0">
                <a:solidFill>
                  <a:schemeClr val="accent4">
                    <a:lumMod val="50000"/>
                  </a:schemeClr>
                </a:solidFill>
                <a:latin typeface="Arial"/>
                <a:cs typeface="Arial"/>
              </a:rPr>
              <a:t>Scheduling</a:t>
            </a:r>
            <a:r>
              <a:rPr sz="6600" b="1" i="1" dirty="0">
                <a:solidFill>
                  <a:schemeClr val="accent4">
                    <a:lumMod val="50000"/>
                  </a:schemeClr>
                </a:solidFill>
                <a:latin typeface="Times New Roman"/>
                <a:cs typeface="Times New Roman"/>
              </a:rPr>
              <a:t>”</a:t>
            </a:r>
            <a:endParaRPr lang="en-US" sz="6600" b="1" i="1" dirty="0">
              <a:solidFill>
                <a:schemeClr val="accent4">
                  <a:lumMod val="50000"/>
                </a:schemeClr>
              </a:solidFill>
              <a:latin typeface="Times New Roman"/>
              <a:cs typeface="Times New Roman"/>
            </a:endParaRPr>
          </a:p>
        </p:txBody>
      </p:sp>
      <p:sp>
        <p:nvSpPr>
          <p:cNvPr id="15" name="TextBox 14"/>
          <p:cNvSpPr txBox="1"/>
          <p:nvPr/>
        </p:nvSpPr>
        <p:spPr>
          <a:xfrm>
            <a:off x="609600" y="4267200"/>
            <a:ext cx="7848600" cy="1569660"/>
          </a:xfrm>
          <a:prstGeom prst="rect">
            <a:avLst/>
          </a:prstGeom>
          <a:noFill/>
        </p:spPr>
        <p:txBody>
          <a:bodyPr wrap="square" rtlCol="0">
            <a:spAutoFit/>
          </a:bodyPr>
          <a:lstStyle/>
          <a:p>
            <a:r>
              <a:rPr lang="en-US" sz="2400" b="1" i="1" dirty="0" err="1">
                <a:solidFill>
                  <a:schemeClr val="accent4">
                    <a:lumMod val="50000"/>
                  </a:schemeClr>
                </a:solidFill>
                <a:effectLst>
                  <a:outerShdw blurRad="38100" dist="38100" dir="2700000" algn="tl">
                    <a:srgbClr val="000000">
                      <a:alpha val="43137"/>
                    </a:srgbClr>
                  </a:outerShdw>
                </a:effectLst>
              </a:rPr>
              <a:t>Sadia</a:t>
            </a:r>
            <a:r>
              <a:rPr lang="en-US" sz="2400" b="1" i="1" dirty="0">
                <a:solidFill>
                  <a:schemeClr val="accent4">
                    <a:lumMod val="50000"/>
                  </a:schemeClr>
                </a:solidFill>
                <a:effectLst>
                  <a:outerShdw blurRad="38100" dist="38100" dir="2700000" algn="tl">
                    <a:srgbClr val="000000">
                      <a:alpha val="43137"/>
                    </a:srgbClr>
                  </a:outerShdw>
                </a:effectLst>
              </a:rPr>
              <a:t> Hasanat</a:t>
            </a:r>
          </a:p>
          <a:p>
            <a:r>
              <a:rPr lang="en-US" sz="2400" i="1" dirty="0">
                <a:solidFill>
                  <a:schemeClr val="accent4">
                    <a:lumMod val="50000"/>
                  </a:schemeClr>
                </a:solidFill>
                <a:effectLst>
                  <a:outerShdw blurRad="38100" dist="38100" dir="2700000" algn="tl">
                    <a:srgbClr val="000000">
                      <a:alpha val="43137"/>
                    </a:srgbClr>
                  </a:outerShdw>
                </a:effectLst>
              </a:rPr>
              <a:t>Lecturer</a:t>
            </a:r>
          </a:p>
          <a:p>
            <a:r>
              <a:rPr lang="en-US" sz="2400" i="1" dirty="0">
                <a:solidFill>
                  <a:schemeClr val="accent4">
                    <a:lumMod val="50000"/>
                  </a:schemeClr>
                </a:solidFill>
                <a:effectLst>
                  <a:outerShdw blurRad="38100" dist="38100" dir="2700000" algn="tl">
                    <a:srgbClr val="000000">
                      <a:alpha val="43137"/>
                    </a:srgbClr>
                  </a:outerShdw>
                </a:effectLst>
              </a:rPr>
              <a:t>Department of Mechanical and Production Engineering</a:t>
            </a:r>
          </a:p>
          <a:p>
            <a:r>
              <a:rPr lang="en-US" sz="2400" i="1" dirty="0" err="1">
                <a:solidFill>
                  <a:schemeClr val="accent4">
                    <a:lumMod val="50000"/>
                  </a:schemeClr>
                </a:solidFill>
                <a:effectLst>
                  <a:outerShdw blurRad="38100" dist="38100" dir="2700000" algn="tl">
                    <a:srgbClr val="000000">
                      <a:alpha val="43137"/>
                    </a:srgbClr>
                  </a:outerShdw>
                </a:effectLst>
              </a:rPr>
              <a:t>Ahsanullah</a:t>
            </a:r>
            <a:r>
              <a:rPr lang="en-US" sz="2400" i="1" dirty="0">
                <a:solidFill>
                  <a:schemeClr val="accent4">
                    <a:lumMod val="50000"/>
                  </a:schemeClr>
                </a:solidFill>
                <a:effectLst>
                  <a:outerShdw blurRad="38100" dist="38100" dir="2700000" algn="tl">
                    <a:srgbClr val="000000">
                      <a:alpha val="43137"/>
                    </a:srgbClr>
                  </a:outerShdw>
                </a:effectLst>
              </a:rPr>
              <a:t> University of Science and Technology</a:t>
            </a:r>
          </a:p>
        </p:txBody>
      </p:sp>
      <p:sp>
        <p:nvSpPr>
          <p:cNvPr id="16" name="Rectangle 15"/>
          <p:cNvSpPr/>
          <p:nvPr/>
        </p:nvSpPr>
        <p:spPr>
          <a:xfrm>
            <a:off x="2286000" y="2705725"/>
            <a:ext cx="4572000" cy="1200329"/>
          </a:xfrm>
          <a:prstGeom prst="rect">
            <a:avLst/>
          </a:prstGeom>
        </p:spPr>
        <p:txBody>
          <a:bodyPr>
            <a:spAutoFit/>
          </a:bodyPr>
          <a:lstStyle/>
          <a:p>
            <a:endParaRPr lang="en-US" sz="3600" b="0" i="0" u="none" strike="noStrike" baseline="0" dirty="0">
              <a:solidFill>
                <a:srgbClr val="000000"/>
              </a:solidFill>
              <a:latin typeface="Trebuchet MS" panose="020B0603020202020204" pitchFamily="34" charset="0"/>
            </a:endParaRPr>
          </a:p>
          <a:p>
            <a:r>
              <a:rPr lang="en-US" sz="3600" b="0" i="0" u="none" strike="noStrike" baseline="0" dirty="0">
                <a:solidFill>
                  <a:srgbClr val="000000"/>
                </a:solidFill>
                <a:latin typeface="Trebuchet MS" panose="020B0603020202020204" pitchFamily="34" charset="0"/>
              </a:rPr>
              <a:t> </a:t>
            </a:r>
          </a:p>
        </p:txBody>
      </p:sp>
      <p:sp>
        <p:nvSpPr>
          <p:cNvPr id="17" name="TextBox 16"/>
          <p:cNvSpPr txBox="1"/>
          <p:nvPr/>
        </p:nvSpPr>
        <p:spPr>
          <a:xfrm>
            <a:off x="16763" y="-1694"/>
            <a:ext cx="4322381" cy="338554"/>
          </a:xfrm>
          <a:prstGeom prst="rect">
            <a:avLst/>
          </a:prstGeom>
          <a:noFill/>
        </p:spPr>
        <p:txBody>
          <a:bodyPr wrap="square" rtlCol="0">
            <a:spAutoFit/>
          </a:bodyPr>
          <a:lstStyle/>
          <a:p>
            <a:r>
              <a:rPr lang="en-US" sz="1600" i="1" dirty="0">
                <a:solidFill>
                  <a:schemeClr val="accent4">
                    <a:lumMod val="50000"/>
                  </a:schemeClr>
                </a:solidFill>
              </a:rPr>
              <a:t>IPE 4111: Industrial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18135"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30" dirty="0">
                <a:solidFill>
                  <a:srgbClr val="3333CC"/>
                </a:solidFill>
                <a:latin typeface="Arial"/>
                <a:cs typeface="Arial"/>
              </a:rPr>
              <a:t> </a:t>
            </a:r>
            <a:r>
              <a:rPr sz="900" b="1" spc="5" dirty="0">
                <a:solidFill>
                  <a:srgbClr val="3333CC"/>
                </a:solidFill>
                <a:latin typeface="Arial"/>
                <a:cs typeface="Arial"/>
              </a:rPr>
              <a:t>2</a:t>
            </a:r>
            <a:endParaRPr sz="900">
              <a:latin typeface="Arial"/>
              <a:cs typeface="Arial"/>
            </a:endParaRPr>
          </a:p>
        </p:txBody>
      </p:sp>
      <p:grpSp>
        <p:nvGrpSpPr>
          <p:cNvPr id="5" name="object 5"/>
          <p:cNvGrpSpPr/>
          <p:nvPr/>
        </p:nvGrpSpPr>
        <p:grpSpPr>
          <a:xfrm>
            <a:off x="12191" y="6437376"/>
            <a:ext cx="1628139" cy="411480"/>
            <a:chOff x="12191" y="6437376"/>
            <a:chExt cx="1628139" cy="411480"/>
          </a:xfrm>
        </p:grpSpPr>
        <p:sp>
          <p:nvSpPr>
            <p:cNvPr id="6" name="object 6"/>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7" name="object 7"/>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8" name="object 8"/>
          <p:cNvGrpSpPr/>
          <p:nvPr/>
        </p:nvGrpSpPr>
        <p:grpSpPr>
          <a:xfrm>
            <a:off x="7491983" y="6437376"/>
            <a:ext cx="1630680" cy="411480"/>
            <a:chOff x="7491983" y="6437376"/>
            <a:chExt cx="1630680" cy="411480"/>
          </a:xfrm>
        </p:grpSpPr>
        <p:sp>
          <p:nvSpPr>
            <p:cNvPr id="9" name="object 9"/>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0" name="object 10"/>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
        <p:nvSpPr>
          <p:cNvPr id="11" name="object 11"/>
          <p:cNvSpPr txBox="1">
            <a:spLocks noGrp="1"/>
          </p:cNvSpPr>
          <p:nvPr>
            <p:ph type="title"/>
          </p:nvPr>
        </p:nvSpPr>
        <p:spPr>
          <a:xfrm>
            <a:off x="763904" y="457200"/>
            <a:ext cx="7772400" cy="909223"/>
          </a:xfrm>
          <a:prstGeom prst="rect">
            <a:avLst/>
          </a:prstGeom>
          <a:solidFill>
            <a:srgbClr val="F7FAFF"/>
          </a:solidFill>
          <a:ln w="9144">
            <a:solidFill>
              <a:srgbClr val="000000"/>
            </a:solidFill>
          </a:ln>
        </p:spPr>
        <p:txBody>
          <a:bodyPr vert="horz" wrap="square" lIns="0" tIns="168910" rIns="0" bIns="0" rtlCol="0">
            <a:spAutoFit/>
          </a:bodyPr>
          <a:lstStyle/>
          <a:p>
            <a:pPr algn="ctr">
              <a:lnSpc>
                <a:spcPct val="100000"/>
              </a:lnSpc>
              <a:spcBef>
                <a:spcPts val="1330"/>
              </a:spcBef>
            </a:pPr>
            <a:r>
              <a:rPr lang="en-US" sz="4800" spc="-5" dirty="0"/>
              <a:t>Learning Outcome</a:t>
            </a:r>
            <a:endParaRPr sz="4800" dirty="0"/>
          </a:p>
        </p:txBody>
      </p:sp>
      <p:sp>
        <p:nvSpPr>
          <p:cNvPr id="12" name="TextBox 11"/>
          <p:cNvSpPr txBox="1"/>
          <p:nvPr/>
        </p:nvSpPr>
        <p:spPr>
          <a:xfrm>
            <a:off x="626971" y="1559953"/>
            <a:ext cx="7756844" cy="5078313"/>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US" sz="2400" dirty="0"/>
              <a:t>At the end of this lecture the students should be able to explain scheduling, priority rules of scheduling</a:t>
            </a:r>
          </a:p>
          <a:p>
            <a:pPr marL="285750" indent="-285750">
              <a:lnSpc>
                <a:spcPct val="150000"/>
              </a:lnSpc>
              <a:buFont typeface="Wingdings" panose="05000000000000000000" pitchFamily="2" charset="2"/>
              <a:buChar char="v"/>
            </a:pPr>
            <a:r>
              <a:rPr lang="en-US" sz="2400" dirty="0"/>
              <a:t>At the end of this lecture the students should be able to describe types of scheduling</a:t>
            </a:r>
          </a:p>
          <a:p>
            <a:pPr marL="285750" indent="-285750">
              <a:lnSpc>
                <a:spcPct val="150000"/>
              </a:lnSpc>
              <a:buFont typeface="Wingdings" panose="05000000000000000000" pitchFamily="2" charset="2"/>
              <a:buChar char="v"/>
            </a:pPr>
            <a:r>
              <a:rPr lang="en-US" sz="2400" dirty="0"/>
              <a:t>At the end of this lecture the students should be able to calculate different priority rules of scheduling</a:t>
            </a:r>
          </a:p>
          <a:p>
            <a:pPr marL="285750" indent="-285750">
              <a:lnSpc>
                <a:spcPct val="150000"/>
              </a:lnSpc>
              <a:buFont typeface="Wingdings" panose="05000000000000000000" pitchFamily="2" charset="2"/>
              <a:buChar char="v"/>
            </a:pPr>
            <a:r>
              <a:rPr lang="en-US" sz="2400" dirty="0"/>
              <a:t>At the end of this lecture the students should be able to solve Johnson’s Rule</a:t>
            </a:r>
          </a:p>
          <a:p>
            <a:pPr marL="285750" indent="-285750">
              <a:lnSpc>
                <a:spcPct val="150000"/>
              </a:lnSpc>
              <a:buFont typeface="Wingdings" panose="05000000000000000000" pitchFamily="2" charset="2"/>
              <a:buChar char="v"/>
            </a:pP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18135"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30" dirty="0">
                <a:solidFill>
                  <a:srgbClr val="3333CC"/>
                </a:solidFill>
                <a:latin typeface="Arial"/>
                <a:cs typeface="Arial"/>
              </a:rPr>
              <a:t> </a:t>
            </a:r>
            <a:r>
              <a:rPr sz="900" b="1" spc="5" dirty="0">
                <a:solidFill>
                  <a:srgbClr val="3333CC"/>
                </a:solidFill>
                <a:latin typeface="Arial"/>
                <a:cs typeface="Arial"/>
              </a:rPr>
              <a:t>4</a:t>
            </a:r>
            <a:endParaRPr sz="900">
              <a:latin typeface="Arial"/>
              <a:cs typeface="Arial"/>
            </a:endParaRPr>
          </a:p>
        </p:txBody>
      </p:sp>
      <p:sp>
        <p:nvSpPr>
          <p:cNvPr id="4" name="object 4"/>
          <p:cNvSpPr txBox="1">
            <a:spLocks noGrp="1"/>
          </p:cNvSpPr>
          <p:nvPr>
            <p:ph type="title"/>
          </p:nvPr>
        </p:nvSpPr>
        <p:spPr>
          <a:xfrm>
            <a:off x="687323" y="586740"/>
            <a:ext cx="7772400" cy="763029"/>
          </a:xfrm>
          <a:prstGeom prst="rect">
            <a:avLst/>
          </a:prstGeom>
          <a:solidFill>
            <a:srgbClr val="F7FAFF"/>
          </a:solidFill>
          <a:ln w="9144">
            <a:solidFill>
              <a:srgbClr val="000000"/>
            </a:solidFill>
          </a:ln>
        </p:spPr>
        <p:txBody>
          <a:bodyPr vert="horz" wrap="square" lIns="0" tIns="85090" rIns="0" bIns="0" rtlCol="0">
            <a:spAutoFit/>
          </a:bodyPr>
          <a:lstStyle/>
          <a:p>
            <a:pPr algn="ctr">
              <a:lnSpc>
                <a:spcPct val="100000"/>
              </a:lnSpc>
              <a:spcBef>
                <a:spcPts val="670"/>
              </a:spcBef>
            </a:pPr>
            <a:r>
              <a:rPr sz="4400" spc="-5" dirty="0"/>
              <a:t>Scheduling</a:t>
            </a:r>
            <a:endParaRPr sz="4400" dirty="0"/>
          </a:p>
        </p:txBody>
      </p:sp>
      <p:sp>
        <p:nvSpPr>
          <p:cNvPr id="5" name="object 5"/>
          <p:cNvSpPr txBox="1"/>
          <p:nvPr/>
        </p:nvSpPr>
        <p:spPr>
          <a:xfrm>
            <a:off x="1158810" y="2133600"/>
            <a:ext cx="6829425" cy="2376933"/>
          </a:xfrm>
          <a:prstGeom prst="rect">
            <a:avLst/>
          </a:prstGeom>
        </p:spPr>
        <p:txBody>
          <a:bodyPr vert="horz" wrap="square" lIns="0" tIns="159385" rIns="0" bIns="0" rtlCol="0">
            <a:spAutoFit/>
          </a:bodyPr>
          <a:lstStyle/>
          <a:p>
            <a:pPr algn="ctr"/>
            <a:r>
              <a:rPr lang="en-US" sz="3600" b="1" dirty="0"/>
              <a:t>Scheduling </a:t>
            </a:r>
            <a:r>
              <a:rPr lang="en-US" sz="3600" dirty="0"/>
              <a:t>means</a:t>
            </a:r>
            <a:r>
              <a:rPr lang="en-US" sz="3600" b="1" dirty="0"/>
              <a:t> </a:t>
            </a:r>
            <a:r>
              <a:rPr lang="en-US" sz="3600" dirty="0"/>
              <a:t>Establishing the</a:t>
            </a:r>
          </a:p>
          <a:p>
            <a:pPr algn="ctr"/>
            <a:r>
              <a:rPr lang="en-US" sz="3600" dirty="0"/>
              <a:t>timing of the use of equipment,</a:t>
            </a:r>
          </a:p>
          <a:p>
            <a:pPr algn="ctr"/>
            <a:r>
              <a:rPr lang="en-US" sz="3600" dirty="0"/>
              <a:t>facilities, and human activities in</a:t>
            </a:r>
          </a:p>
          <a:p>
            <a:pPr algn="ctr"/>
            <a:r>
              <a:rPr lang="en-US" sz="3600" dirty="0"/>
              <a:t>an organization</a:t>
            </a:r>
            <a:endParaRPr sz="3600" dirty="0">
              <a:latin typeface="Arial"/>
              <a:cs typeface="Arial"/>
            </a:endParaRPr>
          </a:p>
        </p:txBody>
      </p:sp>
      <p:grpSp>
        <p:nvGrpSpPr>
          <p:cNvPr id="6" name="object 6"/>
          <p:cNvGrpSpPr/>
          <p:nvPr/>
        </p:nvGrpSpPr>
        <p:grpSpPr>
          <a:xfrm>
            <a:off x="12191" y="6437376"/>
            <a:ext cx="1628139" cy="411480"/>
            <a:chOff x="12191" y="6437376"/>
            <a:chExt cx="1628139" cy="411480"/>
          </a:xfrm>
        </p:grpSpPr>
        <p:sp>
          <p:nvSpPr>
            <p:cNvPr id="7" name="object 7"/>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8" name="object 8"/>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9" name="object 9"/>
          <p:cNvGrpSpPr/>
          <p:nvPr/>
        </p:nvGrpSpPr>
        <p:grpSpPr>
          <a:xfrm>
            <a:off x="7491983" y="6437376"/>
            <a:ext cx="1630680" cy="411480"/>
            <a:chOff x="7491983" y="6437376"/>
            <a:chExt cx="1630680" cy="411480"/>
          </a:xfrm>
        </p:grpSpPr>
        <p:sp>
          <p:nvSpPr>
            <p:cNvPr id="10" name="object 10"/>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1" name="object 11"/>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p:cNvSpPr txBox="1">
            <a:spLocks/>
          </p:cNvSpPr>
          <p:nvPr/>
        </p:nvSpPr>
        <p:spPr>
          <a:xfrm>
            <a:off x="687323" y="586740"/>
            <a:ext cx="7772400" cy="763029"/>
          </a:xfrm>
          <a:prstGeom prst="rect">
            <a:avLst/>
          </a:prstGeom>
          <a:solidFill>
            <a:srgbClr val="F7FAFF"/>
          </a:solidFill>
          <a:ln w="9144">
            <a:solidFill>
              <a:srgbClr val="000000"/>
            </a:solidFill>
          </a:ln>
        </p:spPr>
        <p:txBody>
          <a:bodyPr vert="horz" wrap="square" lIns="0" tIns="85090" rIns="0" bIns="0" rtlCol="0">
            <a:spAutoFit/>
          </a:bodyPr>
          <a:lstStyle>
            <a:lvl1pPr>
              <a:defRPr>
                <a:latin typeface="+mj-lt"/>
                <a:ea typeface="+mj-ea"/>
                <a:cs typeface="+mj-cs"/>
              </a:defRPr>
            </a:lvl1pPr>
          </a:lstStyle>
          <a:p>
            <a:pPr algn="ctr">
              <a:spcBef>
                <a:spcPts val="670"/>
              </a:spcBef>
            </a:pPr>
            <a:r>
              <a:rPr lang="en-US" sz="4400" kern="0" spc="-5" dirty="0">
                <a:solidFill>
                  <a:sysClr val="windowText" lastClr="000000"/>
                </a:solidFill>
              </a:rPr>
              <a:t>Type of Scheduling</a:t>
            </a:r>
            <a:endParaRPr lang="en-US" sz="4400" kern="0" dirty="0">
              <a:solidFill>
                <a:sysClr val="windowText" lastClr="000000"/>
              </a:solidFill>
            </a:endParaRPr>
          </a:p>
        </p:txBody>
      </p:sp>
      <p:sp>
        <p:nvSpPr>
          <p:cNvPr id="3" name="Rectangle 2"/>
          <p:cNvSpPr/>
          <p:nvPr/>
        </p:nvSpPr>
        <p:spPr>
          <a:xfrm>
            <a:off x="687323" y="2327851"/>
            <a:ext cx="4572000" cy="1015663"/>
          </a:xfrm>
          <a:prstGeom prst="rect">
            <a:avLst/>
          </a:prstGeom>
        </p:spPr>
        <p:txBody>
          <a:bodyPr>
            <a:spAutoFit/>
          </a:bodyPr>
          <a:lstStyle/>
          <a:p>
            <a:r>
              <a:rPr lang="en-US" sz="2000" dirty="0"/>
              <a:t>A work location in which a number of general purpose work stations exist and are used to perform a variety of jobs </a:t>
            </a:r>
          </a:p>
        </p:txBody>
      </p:sp>
      <p:sp>
        <p:nvSpPr>
          <p:cNvPr id="4" name="Rectangle 3"/>
          <p:cNvSpPr/>
          <p:nvPr/>
        </p:nvSpPr>
        <p:spPr>
          <a:xfrm>
            <a:off x="3887723" y="5117100"/>
            <a:ext cx="4572000" cy="1323439"/>
          </a:xfrm>
          <a:prstGeom prst="rect">
            <a:avLst/>
          </a:prstGeom>
        </p:spPr>
        <p:txBody>
          <a:bodyPr>
            <a:spAutoFit/>
          </a:bodyPr>
          <a:lstStyle/>
          <a:p>
            <a:r>
              <a:rPr lang="en-US" sz="2000" dirty="0">
                <a:solidFill>
                  <a:srgbClr val="202124"/>
                </a:solidFill>
              </a:rPr>
              <a:t>Flow-shop scheduling is a special case of job-shop scheduling where there is strict order of all operations to be performed on all jobs</a:t>
            </a:r>
            <a:endParaRPr lang="en-US" sz="2000" dirty="0"/>
          </a:p>
        </p:txBody>
      </p:sp>
      <p:pic>
        <p:nvPicPr>
          <p:cNvPr id="5" name="Picture 4"/>
          <p:cNvPicPr>
            <a:picLocks noChangeAspect="1"/>
          </p:cNvPicPr>
          <p:nvPr/>
        </p:nvPicPr>
        <p:blipFill rotWithShape="1">
          <a:blip r:embed="rId3"/>
          <a:srcRect l="4515" t="2941" r="1840" b="6863"/>
          <a:stretch/>
        </p:blipFill>
        <p:spPr>
          <a:xfrm>
            <a:off x="687323" y="4748748"/>
            <a:ext cx="2667001" cy="1752600"/>
          </a:xfrm>
          <a:prstGeom prst="rect">
            <a:avLst/>
          </a:prstGeom>
        </p:spPr>
      </p:pic>
      <p:pic>
        <p:nvPicPr>
          <p:cNvPr id="6" name="Picture 5"/>
          <p:cNvPicPr>
            <a:picLocks noChangeAspect="1"/>
          </p:cNvPicPr>
          <p:nvPr/>
        </p:nvPicPr>
        <p:blipFill rotWithShape="1">
          <a:blip r:embed="rId4"/>
          <a:srcRect l="1840" t="3171" r="4514" b="3171"/>
          <a:stretch/>
        </p:blipFill>
        <p:spPr>
          <a:xfrm>
            <a:off x="5526022" y="1802503"/>
            <a:ext cx="2667001" cy="1828800"/>
          </a:xfrm>
          <a:prstGeom prst="rect">
            <a:avLst/>
          </a:prstGeom>
        </p:spPr>
      </p:pic>
      <p:sp>
        <p:nvSpPr>
          <p:cNvPr id="7" name="Rectangle 6"/>
          <p:cNvSpPr/>
          <p:nvPr/>
        </p:nvSpPr>
        <p:spPr>
          <a:xfrm>
            <a:off x="4783679" y="4580093"/>
            <a:ext cx="3427541" cy="769441"/>
          </a:xfrm>
          <a:prstGeom prst="rect">
            <a:avLst/>
          </a:prstGeom>
        </p:spPr>
        <p:txBody>
          <a:bodyPr wrap="none">
            <a:spAutoFit/>
          </a:bodyPr>
          <a:lstStyle/>
          <a:p>
            <a:r>
              <a:rPr lang="en-US" sz="2400" b="1" dirty="0">
                <a:solidFill>
                  <a:srgbClr val="FF4040"/>
                </a:solidFill>
                <a:latin typeface="TimesNewRomanPS-Bold"/>
              </a:rPr>
              <a:t>Flow-shop scheduling</a:t>
            </a:r>
            <a:endParaRPr lang="en-US" sz="2400" dirty="0"/>
          </a:p>
          <a:p>
            <a:endParaRPr lang="en-US" sz="2000" dirty="0"/>
          </a:p>
        </p:txBody>
      </p:sp>
      <p:sp>
        <p:nvSpPr>
          <p:cNvPr id="8" name="Rectangle 7"/>
          <p:cNvSpPr/>
          <p:nvPr/>
        </p:nvSpPr>
        <p:spPr>
          <a:xfrm>
            <a:off x="687323" y="1802503"/>
            <a:ext cx="3275256" cy="461665"/>
          </a:xfrm>
          <a:prstGeom prst="rect">
            <a:avLst/>
          </a:prstGeom>
        </p:spPr>
        <p:txBody>
          <a:bodyPr wrap="none">
            <a:spAutoFit/>
          </a:bodyPr>
          <a:lstStyle/>
          <a:p>
            <a:r>
              <a:rPr lang="en-US" sz="2400" b="1" dirty="0">
                <a:solidFill>
                  <a:srgbClr val="FF4040"/>
                </a:solidFill>
                <a:latin typeface="TimesNewRomanPS-Bold"/>
              </a:rPr>
              <a:t>Job-shop scheduling</a:t>
            </a:r>
            <a:endParaRPr lang="en-US" sz="2400" dirty="0"/>
          </a:p>
        </p:txBody>
      </p:sp>
    </p:spTree>
    <p:extLst>
      <p:ext uri="{BB962C8B-B14F-4D97-AF65-F5344CB8AC3E}">
        <p14:creationId xmlns:p14="http://schemas.microsoft.com/office/powerpoint/2010/main" val="2267753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21</a:t>
            </a:r>
            <a:endParaRPr sz="900">
              <a:latin typeface="Arial"/>
              <a:cs typeface="Arial"/>
            </a:endParaRPr>
          </a:p>
        </p:txBody>
      </p:sp>
      <p:sp>
        <p:nvSpPr>
          <p:cNvPr id="4" name="object 4"/>
          <p:cNvSpPr txBox="1">
            <a:spLocks noGrp="1"/>
          </p:cNvSpPr>
          <p:nvPr>
            <p:ph type="title"/>
          </p:nvPr>
        </p:nvSpPr>
        <p:spPr>
          <a:xfrm>
            <a:off x="687323" y="477012"/>
            <a:ext cx="7772400" cy="927100"/>
          </a:xfrm>
          <a:prstGeom prst="rect">
            <a:avLst/>
          </a:prstGeom>
          <a:solidFill>
            <a:srgbClr val="F7FAFF"/>
          </a:solidFill>
          <a:ln w="9144">
            <a:solidFill>
              <a:srgbClr val="000000"/>
            </a:solidFill>
          </a:ln>
        </p:spPr>
        <p:txBody>
          <a:bodyPr vert="horz" wrap="square" lIns="0" tIns="44450" rIns="0" bIns="0" rtlCol="0">
            <a:spAutoFit/>
          </a:bodyPr>
          <a:lstStyle/>
          <a:p>
            <a:pPr algn="ctr">
              <a:lnSpc>
                <a:spcPct val="100000"/>
              </a:lnSpc>
              <a:spcBef>
                <a:spcPts val="350"/>
              </a:spcBef>
            </a:pPr>
            <a:r>
              <a:rPr sz="4400" spc="-5" dirty="0"/>
              <a:t>Sequencing</a:t>
            </a:r>
            <a:r>
              <a:rPr sz="4400" spc="20" dirty="0"/>
              <a:t> </a:t>
            </a:r>
            <a:r>
              <a:rPr sz="4400" spc="-5" dirty="0"/>
              <a:t>Jobs</a:t>
            </a:r>
            <a:endParaRPr sz="4400"/>
          </a:p>
        </p:txBody>
      </p:sp>
      <p:sp>
        <p:nvSpPr>
          <p:cNvPr id="5" name="object 5"/>
          <p:cNvSpPr txBox="1"/>
          <p:nvPr/>
        </p:nvSpPr>
        <p:spPr>
          <a:xfrm>
            <a:off x="696569" y="1776475"/>
            <a:ext cx="7754620" cy="4278735"/>
          </a:xfrm>
          <a:prstGeom prst="rect">
            <a:avLst/>
          </a:prstGeom>
        </p:spPr>
        <p:txBody>
          <a:bodyPr vert="horz" wrap="square" lIns="0" tIns="66675" rIns="0" bIns="0" rtlCol="0">
            <a:spAutoFit/>
          </a:bodyPr>
          <a:lstStyle/>
          <a:p>
            <a:pPr marL="494030" marR="5080" indent="-481965">
              <a:lnSpc>
                <a:spcPts val="3460"/>
              </a:lnSpc>
              <a:spcBef>
                <a:spcPts val="525"/>
              </a:spcBef>
              <a:buFont typeface="Wingdings"/>
              <a:buChar char=""/>
              <a:tabLst>
                <a:tab pos="494665" algn="l"/>
              </a:tabLst>
            </a:pPr>
            <a:r>
              <a:rPr sz="3200" dirty="0">
                <a:latin typeface="Arial"/>
                <a:cs typeface="Arial"/>
              </a:rPr>
              <a:t>Specifies </a:t>
            </a:r>
            <a:r>
              <a:rPr sz="3200" spc="-5" dirty="0">
                <a:latin typeface="Arial"/>
                <a:cs typeface="Arial"/>
              </a:rPr>
              <a:t>the </a:t>
            </a:r>
            <a:r>
              <a:rPr sz="3200" spc="-15" dirty="0">
                <a:latin typeface="Arial"/>
                <a:cs typeface="Arial"/>
              </a:rPr>
              <a:t>order </a:t>
            </a:r>
            <a:r>
              <a:rPr sz="3200" dirty="0">
                <a:latin typeface="Arial"/>
                <a:cs typeface="Arial"/>
              </a:rPr>
              <a:t>in </a:t>
            </a:r>
            <a:r>
              <a:rPr sz="3200" spc="-10" dirty="0">
                <a:latin typeface="Arial"/>
                <a:cs typeface="Arial"/>
              </a:rPr>
              <a:t>which </a:t>
            </a:r>
            <a:r>
              <a:rPr sz="3200" spc="-5" dirty="0">
                <a:latin typeface="Arial"/>
                <a:cs typeface="Arial"/>
              </a:rPr>
              <a:t>jobs should  be </a:t>
            </a:r>
            <a:r>
              <a:rPr sz="3200" spc="-10" dirty="0">
                <a:latin typeface="Arial"/>
                <a:cs typeface="Arial"/>
              </a:rPr>
              <a:t>performed </a:t>
            </a:r>
            <a:r>
              <a:rPr sz="3200" spc="-5" dirty="0">
                <a:latin typeface="Arial"/>
                <a:cs typeface="Arial"/>
              </a:rPr>
              <a:t>at </a:t>
            </a:r>
            <a:r>
              <a:rPr sz="3200" spc="-15" dirty="0">
                <a:latin typeface="Arial"/>
                <a:cs typeface="Arial"/>
              </a:rPr>
              <a:t>work</a:t>
            </a:r>
            <a:r>
              <a:rPr sz="3200" spc="35" dirty="0">
                <a:latin typeface="Arial"/>
                <a:cs typeface="Arial"/>
              </a:rPr>
              <a:t> </a:t>
            </a:r>
            <a:r>
              <a:rPr sz="3200" spc="-5" dirty="0">
                <a:latin typeface="Arial"/>
                <a:cs typeface="Arial"/>
              </a:rPr>
              <a:t>centers</a:t>
            </a:r>
            <a:endParaRPr sz="3200" dirty="0">
              <a:latin typeface="Arial"/>
              <a:cs typeface="Arial"/>
            </a:endParaRPr>
          </a:p>
          <a:p>
            <a:pPr marL="494030" marR="6350" indent="-481965">
              <a:lnSpc>
                <a:spcPts val="3460"/>
              </a:lnSpc>
              <a:spcBef>
                <a:spcPts val="1530"/>
              </a:spcBef>
              <a:buFont typeface="Wingdings"/>
              <a:buChar char=""/>
              <a:tabLst>
                <a:tab pos="494665" algn="l"/>
                <a:tab pos="1993900" algn="l"/>
                <a:tab pos="3112770" algn="l"/>
                <a:tab pos="3936365" algn="l"/>
                <a:tab pos="5055235" algn="l"/>
                <a:tab pos="5631815" algn="l"/>
                <a:tab pos="7378700" algn="l"/>
              </a:tabLst>
            </a:pPr>
            <a:r>
              <a:rPr sz="3200" spc="-5" dirty="0">
                <a:latin typeface="Arial"/>
                <a:cs typeface="Arial"/>
              </a:rPr>
              <a:t>Pr</a:t>
            </a:r>
            <a:r>
              <a:rPr sz="3200" spc="5" dirty="0">
                <a:latin typeface="Arial"/>
                <a:cs typeface="Arial"/>
              </a:rPr>
              <a:t>i</a:t>
            </a:r>
            <a:r>
              <a:rPr sz="3200" spc="-5" dirty="0">
                <a:latin typeface="Arial"/>
                <a:cs typeface="Arial"/>
              </a:rPr>
              <a:t>or</a:t>
            </a:r>
            <a:r>
              <a:rPr sz="3200" dirty="0">
                <a:latin typeface="Arial"/>
                <a:cs typeface="Arial"/>
              </a:rPr>
              <a:t>i</a:t>
            </a:r>
            <a:r>
              <a:rPr sz="3200" spc="15" dirty="0">
                <a:latin typeface="Arial"/>
                <a:cs typeface="Arial"/>
              </a:rPr>
              <a:t>t</a:t>
            </a:r>
            <a:r>
              <a:rPr sz="3200" spc="-5" dirty="0">
                <a:latin typeface="Arial"/>
                <a:cs typeface="Arial"/>
              </a:rPr>
              <a:t>y</a:t>
            </a:r>
            <a:r>
              <a:rPr sz="3200" dirty="0">
                <a:latin typeface="Arial"/>
                <a:cs typeface="Arial"/>
              </a:rPr>
              <a:t>	</a:t>
            </a:r>
            <a:r>
              <a:rPr sz="3200" spc="-5" dirty="0">
                <a:latin typeface="Arial"/>
                <a:cs typeface="Arial"/>
              </a:rPr>
              <a:t>rules</a:t>
            </a:r>
            <a:r>
              <a:rPr sz="3200" dirty="0">
                <a:latin typeface="Arial"/>
                <a:cs typeface="Arial"/>
              </a:rPr>
              <a:t>	</a:t>
            </a:r>
            <a:r>
              <a:rPr sz="3200" spc="-5" dirty="0">
                <a:latin typeface="Arial"/>
                <a:cs typeface="Arial"/>
              </a:rPr>
              <a:t>are</a:t>
            </a:r>
            <a:r>
              <a:rPr sz="3200" dirty="0">
                <a:latin typeface="Arial"/>
                <a:cs typeface="Arial"/>
              </a:rPr>
              <a:t>	</a:t>
            </a:r>
            <a:r>
              <a:rPr sz="3200" spc="-5" dirty="0">
                <a:latin typeface="Arial"/>
                <a:cs typeface="Arial"/>
              </a:rPr>
              <a:t>u</a:t>
            </a:r>
            <a:r>
              <a:rPr sz="3200" spc="5" dirty="0">
                <a:latin typeface="Arial"/>
                <a:cs typeface="Arial"/>
              </a:rPr>
              <a:t>s</a:t>
            </a:r>
            <a:r>
              <a:rPr sz="3200" spc="-5" dirty="0">
                <a:latin typeface="Arial"/>
                <a:cs typeface="Arial"/>
              </a:rPr>
              <a:t>ed</a:t>
            </a:r>
            <a:r>
              <a:rPr sz="3200" dirty="0">
                <a:latin typeface="Arial"/>
                <a:cs typeface="Arial"/>
              </a:rPr>
              <a:t>	</a:t>
            </a:r>
            <a:r>
              <a:rPr sz="3200" spc="-5" dirty="0">
                <a:latin typeface="Arial"/>
                <a:cs typeface="Arial"/>
              </a:rPr>
              <a:t>to</a:t>
            </a:r>
            <a:r>
              <a:rPr sz="3200" dirty="0">
                <a:latin typeface="Arial"/>
                <a:cs typeface="Arial"/>
              </a:rPr>
              <a:t>	</a:t>
            </a:r>
            <a:r>
              <a:rPr sz="3200" spc="-5" dirty="0">
                <a:latin typeface="Arial"/>
                <a:cs typeface="Arial"/>
              </a:rPr>
              <a:t>d</a:t>
            </a:r>
            <a:r>
              <a:rPr sz="3200" spc="-20" dirty="0">
                <a:latin typeface="Arial"/>
                <a:cs typeface="Arial"/>
              </a:rPr>
              <a:t>i</a:t>
            </a:r>
            <a:r>
              <a:rPr sz="3200" dirty="0">
                <a:latin typeface="Arial"/>
                <a:cs typeface="Arial"/>
              </a:rPr>
              <a:t>s</a:t>
            </a:r>
            <a:r>
              <a:rPr sz="3200" spc="-35" dirty="0">
                <a:latin typeface="Arial"/>
                <a:cs typeface="Arial"/>
              </a:rPr>
              <a:t>p</a:t>
            </a:r>
            <a:r>
              <a:rPr sz="3200" spc="-5" dirty="0">
                <a:latin typeface="Arial"/>
                <a:cs typeface="Arial"/>
              </a:rPr>
              <a:t>at</a:t>
            </a:r>
            <a:r>
              <a:rPr sz="3200" dirty="0">
                <a:latin typeface="Arial"/>
                <a:cs typeface="Arial"/>
              </a:rPr>
              <a:t>c</a:t>
            </a:r>
            <a:r>
              <a:rPr sz="3200" spc="-5" dirty="0">
                <a:latin typeface="Arial"/>
                <a:cs typeface="Arial"/>
              </a:rPr>
              <a:t>h</a:t>
            </a:r>
            <a:r>
              <a:rPr sz="3200" dirty="0">
                <a:latin typeface="Arial"/>
                <a:cs typeface="Arial"/>
              </a:rPr>
              <a:t>	</a:t>
            </a:r>
            <a:r>
              <a:rPr sz="3200" spc="-10" dirty="0">
                <a:latin typeface="Arial"/>
                <a:cs typeface="Arial"/>
              </a:rPr>
              <a:t>or  </a:t>
            </a:r>
            <a:r>
              <a:rPr sz="3200" spc="-5" dirty="0">
                <a:latin typeface="Arial"/>
                <a:cs typeface="Arial"/>
              </a:rPr>
              <a:t>sequence</a:t>
            </a:r>
            <a:r>
              <a:rPr sz="3200" spc="-30" dirty="0">
                <a:latin typeface="Arial"/>
                <a:cs typeface="Arial"/>
              </a:rPr>
              <a:t> </a:t>
            </a:r>
            <a:r>
              <a:rPr sz="3200" spc="-5" dirty="0">
                <a:latin typeface="Arial"/>
                <a:cs typeface="Arial"/>
              </a:rPr>
              <a:t>jobs</a:t>
            </a:r>
            <a:endParaRPr sz="3200" dirty="0">
              <a:latin typeface="Arial"/>
              <a:cs typeface="Arial"/>
            </a:endParaRPr>
          </a:p>
          <a:p>
            <a:pPr marL="1067435" lvl="1" indent="-381635">
              <a:lnSpc>
                <a:spcPct val="100000"/>
              </a:lnSpc>
              <a:spcBef>
                <a:spcPts val="944"/>
              </a:spcBef>
              <a:buFont typeface="Wingdings"/>
              <a:buChar char=""/>
              <a:tabLst>
                <a:tab pos="1068070" algn="l"/>
              </a:tabLst>
            </a:pPr>
            <a:r>
              <a:rPr sz="2800" spc="-5" dirty="0">
                <a:latin typeface="Arial"/>
                <a:cs typeface="Arial"/>
              </a:rPr>
              <a:t>FCFS: </a:t>
            </a:r>
            <a:r>
              <a:rPr sz="2800" dirty="0">
                <a:latin typeface="Arial"/>
                <a:cs typeface="Arial"/>
              </a:rPr>
              <a:t>First come, </a:t>
            </a:r>
            <a:r>
              <a:rPr sz="2800" spc="5" dirty="0">
                <a:latin typeface="Arial"/>
                <a:cs typeface="Arial"/>
              </a:rPr>
              <a:t>first</a:t>
            </a:r>
            <a:r>
              <a:rPr sz="2800" spc="-100" dirty="0">
                <a:latin typeface="Arial"/>
                <a:cs typeface="Arial"/>
              </a:rPr>
              <a:t> </a:t>
            </a:r>
            <a:r>
              <a:rPr sz="2800" spc="-5" dirty="0">
                <a:latin typeface="Arial"/>
                <a:cs typeface="Arial"/>
              </a:rPr>
              <a:t>served</a:t>
            </a:r>
            <a:endParaRPr sz="2800" dirty="0">
              <a:latin typeface="Arial"/>
              <a:cs typeface="Arial"/>
            </a:endParaRPr>
          </a:p>
          <a:p>
            <a:pPr marL="1067435" lvl="1" indent="-381635">
              <a:lnSpc>
                <a:spcPct val="100000"/>
              </a:lnSpc>
              <a:spcBef>
                <a:spcPts val="1015"/>
              </a:spcBef>
              <a:buFont typeface="Wingdings"/>
              <a:buChar char=""/>
              <a:tabLst>
                <a:tab pos="1068070" algn="l"/>
              </a:tabLst>
            </a:pPr>
            <a:r>
              <a:rPr sz="2800" spc="-80" dirty="0">
                <a:latin typeface="Arial"/>
                <a:cs typeface="Arial"/>
              </a:rPr>
              <a:t>SPT: </a:t>
            </a:r>
            <a:r>
              <a:rPr sz="2800" spc="5" dirty="0">
                <a:latin typeface="Arial"/>
                <a:cs typeface="Arial"/>
              </a:rPr>
              <a:t>Shortest processing</a:t>
            </a:r>
            <a:r>
              <a:rPr sz="2800" spc="-65" dirty="0">
                <a:latin typeface="Arial"/>
                <a:cs typeface="Arial"/>
              </a:rPr>
              <a:t> </a:t>
            </a:r>
            <a:r>
              <a:rPr sz="2800" dirty="0">
                <a:latin typeface="Arial"/>
                <a:cs typeface="Arial"/>
              </a:rPr>
              <a:t>time</a:t>
            </a:r>
          </a:p>
          <a:p>
            <a:pPr marL="1067435" lvl="1" indent="-381635">
              <a:lnSpc>
                <a:spcPct val="100000"/>
              </a:lnSpc>
              <a:spcBef>
                <a:spcPts val="1005"/>
              </a:spcBef>
              <a:buFont typeface="Wingdings"/>
              <a:buChar char=""/>
              <a:tabLst>
                <a:tab pos="1068070" algn="l"/>
              </a:tabLst>
            </a:pPr>
            <a:r>
              <a:rPr sz="2800" spc="-5" dirty="0">
                <a:latin typeface="Arial"/>
                <a:cs typeface="Arial"/>
              </a:rPr>
              <a:t>EDD: </a:t>
            </a:r>
            <a:r>
              <a:rPr sz="2800" dirty="0">
                <a:latin typeface="Arial"/>
                <a:cs typeface="Arial"/>
              </a:rPr>
              <a:t>Earliest </a:t>
            </a:r>
            <a:r>
              <a:rPr sz="2800" spc="5" dirty="0">
                <a:latin typeface="Arial"/>
                <a:cs typeface="Arial"/>
              </a:rPr>
              <a:t>due</a:t>
            </a:r>
            <a:r>
              <a:rPr sz="2800" spc="-50" dirty="0">
                <a:latin typeface="Arial"/>
                <a:cs typeface="Arial"/>
              </a:rPr>
              <a:t> </a:t>
            </a:r>
            <a:r>
              <a:rPr sz="2800" dirty="0">
                <a:latin typeface="Arial"/>
                <a:cs typeface="Arial"/>
              </a:rPr>
              <a:t>date</a:t>
            </a:r>
          </a:p>
          <a:p>
            <a:pPr marL="1067435" lvl="1" indent="-381635">
              <a:lnSpc>
                <a:spcPct val="100000"/>
              </a:lnSpc>
              <a:spcBef>
                <a:spcPts val="1010"/>
              </a:spcBef>
              <a:buFont typeface="Wingdings"/>
              <a:buChar char=""/>
              <a:tabLst>
                <a:tab pos="1068070" algn="l"/>
              </a:tabLst>
            </a:pPr>
            <a:r>
              <a:rPr sz="2800" spc="-80" dirty="0">
                <a:latin typeface="Arial"/>
                <a:cs typeface="Arial"/>
              </a:rPr>
              <a:t>LPT: </a:t>
            </a:r>
            <a:r>
              <a:rPr sz="2800" dirty="0">
                <a:latin typeface="Arial"/>
                <a:cs typeface="Arial"/>
              </a:rPr>
              <a:t>Longest </a:t>
            </a:r>
            <a:r>
              <a:rPr sz="2800" spc="5" dirty="0">
                <a:latin typeface="Arial"/>
                <a:cs typeface="Arial"/>
              </a:rPr>
              <a:t>processing </a:t>
            </a:r>
            <a:r>
              <a:rPr sz="2800" dirty="0">
                <a:latin typeface="Arial"/>
                <a:cs typeface="Arial"/>
              </a:rPr>
              <a:t>time</a:t>
            </a:r>
          </a:p>
        </p:txBody>
      </p:sp>
      <p:grpSp>
        <p:nvGrpSpPr>
          <p:cNvPr id="6" name="object 6"/>
          <p:cNvGrpSpPr/>
          <p:nvPr/>
        </p:nvGrpSpPr>
        <p:grpSpPr>
          <a:xfrm>
            <a:off x="12191" y="6595871"/>
            <a:ext cx="1628139" cy="253365"/>
            <a:chOff x="12191" y="6595871"/>
            <a:chExt cx="1628139" cy="253365"/>
          </a:xfrm>
        </p:grpSpPr>
        <p:sp>
          <p:nvSpPr>
            <p:cNvPr id="7" name="object 7"/>
            <p:cNvSpPr/>
            <p:nvPr/>
          </p:nvSpPr>
          <p:spPr>
            <a:xfrm>
              <a:off x="16763" y="6600443"/>
              <a:ext cx="1618615" cy="243840"/>
            </a:xfrm>
            <a:custGeom>
              <a:avLst/>
              <a:gdLst/>
              <a:ahLst/>
              <a:cxnLst/>
              <a:rect l="l" t="t" r="r" b="b"/>
              <a:pathLst>
                <a:path w="1618614" h="243840">
                  <a:moveTo>
                    <a:pt x="1618488" y="0"/>
                  </a:moveTo>
                  <a:lnTo>
                    <a:pt x="0" y="0"/>
                  </a:lnTo>
                  <a:lnTo>
                    <a:pt x="0" y="243839"/>
                  </a:lnTo>
                  <a:lnTo>
                    <a:pt x="1618488" y="243839"/>
                  </a:lnTo>
                  <a:lnTo>
                    <a:pt x="1618488" y="0"/>
                  </a:lnTo>
                  <a:close/>
                </a:path>
              </a:pathLst>
            </a:custGeom>
            <a:solidFill>
              <a:srgbClr val="F7FAFF"/>
            </a:solidFill>
          </p:spPr>
          <p:txBody>
            <a:bodyPr wrap="square" lIns="0" tIns="0" rIns="0" bIns="0" rtlCol="0"/>
            <a:lstStyle/>
            <a:p>
              <a:endParaRPr/>
            </a:p>
          </p:txBody>
        </p:sp>
        <p:sp>
          <p:nvSpPr>
            <p:cNvPr id="8" name="object 8"/>
            <p:cNvSpPr/>
            <p:nvPr/>
          </p:nvSpPr>
          <p:spPr>
            <a:xfrm>
              <a:off x="16763" y="6600443"/>
              <a:ext cx="1618615" cy="243840"/>
            </a:xfrm>
            <a:custGeom>
              <a:avLst/>
              <a:gdLst/>
              <a:ahLst/>
              <a:cxnLst/>
              <a:rect l="l" t="t" r="r" b="b"/>
              <a:pathLst>
                <a:path w="1618614" h="243840">
                  <a:moveTo>
                    <a:pt x="0" y="243839"/>
                  </a:moveTo>
                  <a:lnTo>
                    <a:pt x="1618488" y="243839"/>
                  </a:lnTo>
                  <a:lnTo>
                    <a:pt x="1618488" y="0"/>
                  </a:lnTo>
                  <a:lnTo>
                    <a:pt x="0" y="0"/>
                  </a:lnTo>
                  <a:lnTo>
                    <a:pt x="0" y="243839"/>
                  </a:lnTo>
                  <a:close/>
                </a:path>
              </a:pathLst>
            </a:custGeom>
            <a:ln w="9143">
              <a:solidFill>
                <a:srgbClr val="F7FAFF"/>
              </a:solidFill>
            </a:ln>
          </p:spPr>
          <p:txBody>
            <a:bodyPr wrap="square" lIns="0" tIns="0" rIns="0" bIns="0" rtlCol="0"/>
            <a:lstStyle/>
            <a:p>
              <a:endParaRPr/>
            </a:p>
          </p:txBody>
        </p:sp>
      </p:grpSp>
      <p:grpSp>
        <p:nvGrpSpPr>
          <p:cNvPr id="9" name="object 9"/>
          <p:cNvGrpSpPr/>
          <p:nvPr/>
        </p:nvGrpSpPr>
        <p:grpSpPr>
          <a:xfrm>
            <a:off x="7491983" y="6437376"/>
            <a:ext cx="1630680" cy="411480"/>
            <a:chOff x="7491983" y="6437376"/>
            <a:chExt cx="1630680" cy="411480"/>
          </a:xfrm>
        </p:grpSpPr>
        <p:sp>
          <p:nvSpPr>
            <p:cNvPr id="10" name="object 10"/>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1" name="object 11"/>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22</a:t>
            </a:r>
            <a:endParaRPr sz="900">
              <a:latin typeface="Arial"/>
              <a:cs typeface="Arial"/>
            </a:endParaRPr>
          </a:p>
        </p:txBody>
      </p:sp>
      <p:sp>
        <p:nvSpPr>
          <p:cNvPr id="15" name="object 15"/>
          <p:cNvSpPr txBox="1"/>
          <p:nvPr/>
        </p:nvSpPr>
        <p:spPr>
          <a:xfrm>
            <a:off x="1101915" y="1305010"/>
            <a:ext cx="6976871" cy="5051125"/>
          </a:xfrm>
          <a:prstGeom prst="rect">
            <a:avLst/>
          </a:prstGeom>
        </p:spPr>
        <p:txBody>
          <a:bodyPr vert="horz" wrap="square" lIns="0" tIns="104139" rIns="0" bIns="0" rtlCol="0">
            <a:spAutoFit/>
          </a:bodyPr>
          <a:lstStyle/>
          <a:p>
            <a:pPr marL="12700">
              <a:lnSpc>
                <a:spcPct val="100000"/>
              </a:lnSpc>
              <a:spcBef>
                <a:spcPts val="819"/>
              </a:spcBef>
            </a:pPr>
            <a:r>
              <a:rPr sz="2400" b="1" i="1" spc="-10" dirty="0">
                <a:solidFill>
                  <a:srgbClr val="003399"/>
                </a:solidFill>
                <a:latin typeface="Times New Roman"/>
                <a:cs typeface="Times New Roman"/>
              </a:rPr>
              <a:t>First </a:t>
            </a:r>
            <a:r>
              <a:rPr sz="2400" b="1" i="1" dirty="0">
                <a:solidFill>
                  <a:srgbClr val="003399"/>
                </a:solidFill>
                <a:latin typeface="Times New Roman"/>
                <a:cs typeface="Times New Roman"/>
              </a:rPr>
              <a:t>come, </a:t>
            </a:r>
            <a:r>
              <a:rPr sz="2400" b="1" i="1" spc="-10" dirty="0">
                <a:solidFill>
                  <a:srgbClr val="003399"/>
                </a:solidFill>
                <a:latin typeface="Times New Roman"/>
                <a:cs typeface="Times New Roman"/>
              </a:rPr>
              <a:t>first</a:t>
            </a:r>
            <a:r>
              <a:rPr sz="2400" b="1" i="1" spc="-20" dirty="0">
                <a:solidFill>
                  <a:srgbClr val="003399"/>
                </a:solidFill>
                <a:latin typeface="Times New Roman"/>
                <a:cs typeface="Times New Roman"/>
              </a:rPr>
              <a:t> </a:t>
            </a:r>
            <a:r>
              <a:rPr sz="2400" b="1" i="1" spc="-5" dirty="0">
                <a:solidFill>
                  <a:srgbClr val="003399"/>
                </a:solidFill>
                <a:latin typeface="Times New Roman"/>
                <a:cs typeface="Times New Roman"/>
              </a:rPr>
              <a:t>served</a:t>
            </a:r>
            <a:endParaRPr sz="2400" dirty="0">
              <a:latin typeface="Times New Roman"/>
              <a:cs typeface="Times New Roman"/>
            </a:endParaRPr>
          </a:p>
          <a:p>
            <a:pPr marL="12700" marR="301625">
              <a:lnSpc>
                <a:spcPts val="3120"/>
              </a:lnSpc>
              <a:spcBef>
                <a:spcPts val="225"/>
              </a:spcBef>
            </a:pPr>
            <a:r>
              <a:rPr sz="2400" b="1" i="1" spc="-5" dirty="0">
                <a:latin typeface="Times New Roman"/>
                <a:cs typeface="Times New Roman"/>
              </a:rPr>
              <a:t>The </a:t>
            </a:r>
            <a:r>
              <a:rPr sz="2400" b="1" i="1" spc="-10" dirty="0">
                <a:latin typeface="Times New Roman"/>
                <a:cs typeface="Times New Roman"/>
              </a:rPr>
              <a:t>first </a:t>
            </a:r>
            <a:r>
              <a:rPr sz="2400" b="1" i="1" spc="-5" dirty="0">
                <a:latin typeface="Times New Roman"/>
                <a:cs typeface="Times New Roman"/>
              </a:rPr>
              <a:t>job to arrive </a:t>
            </a:r>
            <a:r>
              <a:rPr sz="2400" b="1" i="1" dirty="0">
                <a:latin typeface="Times New Roman"/>
                <a:cs typeface="Times New Roman"/>
              </a:rPr>
              <a:t>at </a:t>
            </a:r>
            <a:r>
              <a:rPr sz="2400" b="1" i="1" spc="-5" dirty="0">
                <a:latin typeface="Times New Roman"/>
                <a:cs typeface="Times New Roman"/>
              </a:rPr>
              <a:t>a </a:t>
            </a:r>
            <a:r>
              <a:rPr sz="2400" b="1" i="1" spc="-10" dirty="0">
                <a:latin typeface="Times New Roman"/>
                <a:cs typeface="Times New Roman"/>
              </a:rPr>
              <a:t>work </a:t>
            </a:r>
            <a:r>
              <a:rPr sz="2400" b="1" i="1" spc="-5" dirty="0">
                <a:latin typeface="Times New Roman"/>
                <a:cs typeface="Times New Roman"/>
              </a:rPr>
              <a:t>center is processed </a:t>
            </a:r>
            <a:r>
              <a:rPr sz="2400" b="1" i="1" spc="-10" dirty="0">
                <a:latin typeface="Times New Roman"/>
                <a:cs typeface="Times New Roman"/>
              </a:rPr>
              <a:t>first  </a:t>
            </a:r>
            <a:endParaRPr lang="en-US" sz="2400" b="1" i="1" spc="-10" dirty="0">
              <a:latin typeface="Times New Roman"/>
              <a:cs typeface="Times New Roman"/>
            </a:endParaRPr>
          </a:p>
          <a:p>
            <a:pPr marL="12700" marR="301625">
              <a:lnSpc>
                <a:spcPts val="3120"/>
              </a:lnSpc>
              <a:spcBef>
                <a:spcPts val="225"/>
              </a:spcBef>
            </a:pPr>
            <a:r>
              <a:rPr sz="2400" b="1" i="1" spc="-10" dirty="0">
                <a:solidFill>
                  <a:srgbClr val="003399"/>
                </a:solidFill>
                <a:latin typeface="Times New Roman"/>
                <a:cs typeface="Times New Roman"/>
              </a:rPr>
              <a:t>Earliest </a:t>
            </a:r>
            <a:r>
              <a:rPr sz="2400" b="1" i="1" spc="-5" dirty="0">
                <a:solidFill>
                  <a:srgbClr val="003399"/>
                </a:solidFill>
                <a:latin typeface="Times New Roman"/>
                <a:cs typeface="Times New Roman"/>
              </a:rPr>
              <a:t>due</a:t>
            </a:r>
            <a:r>
              <a:rPr sz="2400" b="1" i="1" spc="5" dirty="0">
                <a:solidFill>
                  <a:srgbClr val="003399"/>
                </a:solidFill>
                <a:latin typeface="Times New Roman"/>
                <a:cs typeface="Times New Roman"/>
              </a:rPr>
              <a:t> </a:t>
            </a:r>
            <a:r>
              <a:rPr sz="2400" b="1" i="1" dirty="0">
                <a:solidFill>
                  <a:srgbClr val="003399"/>
                </a:solidFill>
                <a:latin typeface="Times New Roman"/>
                <a:cs typeface="Times New Roman"/>
              </a:rPr>
              <a:t>date</a:t>
            </a:r>
            <a:endParaRPr sz="2400" dirty="0">
              <a:latin typeface="Times New Roman"/>
              <a:cs typeface="Times New Roman"/>
            </a:endParaRPr>
          </a:p>
          <a:p>
            <a:pPr marL="12700">
              <a:lnSpc>
                <a:spcPct val="100000"/>
              </a:lnSpc>
              <a:spcBef>
                <a:spcPts val="495"/>
              </a:spcBef>
            </a:pPr>
            <a:r>
              <a:rPr sz="2400" b="1" i="1" spc="-5" dirty="0">
                <a:latin typeface="Times New Roman"/>
                <a:cs typeface="Times New Roman"/>
              </a:rPr>
              <a:t>The job </a:t>
            </a:r>
            <a:r>
              <a:rPr sz="2400" b="1" i="1" spc="-10" dirty="0">
                <a:latin typeface="Times New Roman"/>
                <a:cs typeface="Times New Roman"/>
              </a:rPr>
              <a:t>with the </a:t>
            </a:r>
            <a:r>
              <a:rPr sz="2400" b="1" i="1" spc="-5" dirty="0">
                <a:latin typeface="Times New Roman"/>
                <a:cs typeface="Times New Roman"/>
              </a:rPr>
              <a:t>earliest </a:t>
            </a:r>
            <a:r>
              <a:rPr sz="2400" b="1" i="1" dirty="0">
                <a:latin typeface="Times New Roman"/>
                <a:cs typeface="Times New Roman"/>
              </a:rPr>
              <a:t>due date </a:t>
            </a:r>
            <a:r>
              <a:rPr sz="2400" b="1" i="1" spc="-5" dirty="0">
                <a:latin typeface="Times New Roman"/>
                <a:cs typeface="Times New Roman"/>
              </a:rPr>
              <a:t>is processed</a:t>
            </a:r>
            <a:r>
              <a:rPr sz="2400" b="1" i="1" dirty="0">
                <a:latin typeface="Times New Roman"/>
                <a:cs typeface="Times New Roman"/>
              </a:rPr>
              <a:t> </a:t>
            </a:r>
            <a:r>
              <a:rPr sz="2400" b="1" i="1" spc="-5" dirty="0">
                <a:latin typeface="Times New Roman"/>
                <a:cs typeface="Times New Roman"/>
              </a:rPr>
              <a:t>first</a:t>
            </a:r>
            <a:endParaRPr sz="2400" dirty="0">
              <a:latin typeface="Times New Roman"/>
              <a:cs typeface="Times New Roman"/>
            </a:endParaRPr>
          </a:p>
          <a:p>
            <a:pPr marL="12700">
              <a:lnSpc>
                <a:spcPct val="100000"/>
              </a:lnSpc>
              <a:spcBef>
                <a:spcPts val="1205"/>
              </a:spcBef>
            </a:pPr>
            <a:r>
              <a:rPr sz="2400" b="1" i="1" spc="-5" dirty="0">
                <a:solidFill>
                  <a:srgbClr val="003399"/>
                </a:solidFill>
                <a:latin typeface="Times New Roman"/>
                <a:cs typeface="Times New Roman"/>
              </a:rPr>
              <a:t>Shortest processing</a:t>
            </a:r>
            <a:r>
              <a:rPr sz="2400" b="1" i="1" spc="25" dirty="0">
                <a:solidFill>
                  <a:srgbClr val="003399"/>
                </a:solidFill>
                <a:latin typeface="Times New Roman"/>
                <a:cs typeface="Times New Roman"/>
              </a:rPr>
              <a:t> </a:t>
            </a:r>
            <a:r>
              <a:rPr sz="2400" b="1" i="1" dirty="0">
                <a:solidFill>
                  <a:srgbClr val="003399"/>
                </a:solidFill>
                <a:latin typeface="Times New Roman"/>
                <a:cs typeface="Times New Roman"/>
              </a:rPr>
              <a:t>time</a:t>
            </a:r>
            <a:endParaRPr sz="2400" dirty="0">
              <a:latin typeface="Times New Roman"/>
              <a:cs typeface="Times New Roman"/>
            </a:endParaRPr>
          </a:p>
          <a:p>
            <a:pPr marL="12700">
              <a:lnSpc>
                <a:spcPct val="100000"/>
              </a:lnSpc>
              <a:spcBef>
                <a:spcPts val="960"/>
              </a:spcBef>
            </a:pPr>
            <a:r>
              <a:rPr sz="2400" b="1" i="1" spc="-5" dirty="0">
                <a:latin typeface="Times New Roman"/>
                <a:cs typeface="Times New Roman"/>
              </a:rPr>
              <a:t>The job </a:t>
            </a:r>
            <a:r>
              <a:rPr sz="2400" b="1" i="1" spc="-10" dirty="0">
                <a:latin typeface="Times New Roman"/>
                <a:cs typeface="Times New Roman"/>
              </a:rPr>
              <a:t>with </a:t>
            </a:r>
            <a:r>
              <a:rPr sz="2400" b="1" i="1" spc="-5" dirty="0">
                <a:latin typeface="Times New Roman"/>
                <a:cs typeface="Times New Roman"/>
              </a:rPr>
              <a:t>the shortest processing </a:t>
            </a:r>
            <a:r>
              <a:rPr sz="2400" b="1" i="1" dirty="0">
                <a:latin typeface="Times New Roman"/>
                <a:cs typeface="Times New Roman"/>
              </a:rPr>
              <a:t>time </a:t>
            </a:r>
            <a:r>
              <a:rPr sz="2400" b="1" i="1" spc="-5" dirty="0">
                <a:latin typeface="Times New Roman"/>
                <a:cs typeface="Times New Roman"/>
              </a:rPr>
              <a:t>is processed</a:t>
            </a:r>
            <a:r>
              <a:rPr sz="2400" b="1" i="1" spc="20" dirty="0">
                <a:latin typeface="Times New Roman"/>
                <a:cs typeface="Times New Roman"/>
              </a:rPr>
              <a:t> </a:t>
            </a:r>
            <a:r>
              <a:rPr sz="2400" b="1" i="1" spc="-10" dirty="0">
                <a:latin typeface="Times New Roman"/>
                <a:cs typeface="Times New Roman"/>
              </a:rPr>
              <a:t>first</a:t>
            </a:r>
            <a:endParaRPr sz="2400" dirty="0">
              <a:latin typeface="Times New Roman"/>
              <a:cs typeface="Times New Roman"/>
            </a:endParaRPr>
          </a:p>
          <a:p>
            <a:pPr marL="12700">
              <a:lnSpc>
                <a:spcPct val="100000"/>
              </a:lnSpc>
              <a:spcBef>
                <a:spcPts val="1200"/>
              </a:spcBef>
            </a:pPr>
            <a:r>
              <a:rPr sz="2400" b="1" i="1" spc="-5" dirty="0">
                <a:solidFill>
                  <a:srgbClr val="003399"/>
                </a:solidFill>
                <a:latin typeface="Times New Roman"/>
                <a:cs typeface="Times New Roman"/>
              </a:rPr>
              <a:t>Longest processing</a:t>
            </a:r>
            <a:r>
              <a:rPr sz="2400" b="1" i="1" dirty="0">
                <a:solidFill>
                  <a:srgbClr val="003399"/>
                </a:solidFill>
                <a:latin typeface="Times New Roman"/>
                <a:cs typeface="Times New Roman"/>
              </a:rPr>
              <a:t> </a:t>
            </a:r>
            <a:r>
              <a:rPr sz="2400" b="1" i="1" spc="5" dirty="0">
                <a:solidFill>
                  <a:srgbClr val="003399"/>
                </a:solidFill>
                <a:latin typeface="Times New Roman"/>
                <a:cs typeface="Times New Roman"/>
              </a:rPr>
              <a:t>time</a:t>
            </a:r>
            <a:endParaRPr sz="2400" dirty="0">
              <a:latin typeface="Times New Roman"/>
              <a:cs typeface="Times New Roman"/>
            </a:endParaRPr>
          </a:p>
          <a:p>
            <a:pPr marL="12700" marR="75565">
              <a:lnSpc>
                <a:spcPct val="130100"/>
              </a:lnSpc>
              <a:spcBef>
                <a:spcPts val="244"/>
              </a:spcBef>
            </a:pPr>
            <a:r>
              <a:rPr sz="2400" b="1" i="1" spc="-5" dirty="0">
                <a:latin typeface="Times New Roman"/>
                <a:cs typeface="Times New Roman"/>
              </a:rPr>
              <a:t>The job </a:t>
            </a:r>
            <a:r>
              <a:rPr sz="2400" b="1" i="1" spc="-10" dirty="0">
                <a:latin typeface="Times New Roman"/>
                <a:cs typeface="Times New Roman"/>
              </a:rPr>
              <a:t>with </a:t>
            </a:r>
            <a:r>
              <a:rPr sz="2400" b="1" i="1" spc="-5" dirty="0">
                <a:latin typeface="Times New Roman"/>
                <a:cs typeface="Times New Roman"/>
              </a:rPr>
              <a:t>the longest processing </a:t>
            </a:r>
            <a:r>
              <a:rPr sz="2400" b="1" i="1" dirty="0">
                <a:latin typeface="Times New Roman"/>
                <a:cs typeface="Times New Roman"/>
              </a:rPr>
              <a:t>time </a:t>
            </a:r>
            <a:r>
              <a:rPr sz="2400" b="1" i="1" spc="-5" dirty="0">
                <a:latin typeface="Times New Roman"/>
                <a:cs typeface="Times New Roman"/>
              </a:rPr>
              <a:t>is processed </a:t>
            </a:r>
            <a:r>
              <a:rPr sz="2400" b="1" i="1" spc="-10" dirty="0">
                <a:latin typeface="Times New Roman"/>
                <a:cs typeface="Times New Roman"/>
              </a:rPr>
              <a:t>first</a:t>
            </a:r>
            <a:endParaRPr sz="2400" dirty="0">
              <a:latin typeface="Times New Roman"/>
              <a:cs typeface="Times New Roman"/>
            </a:endParaRPr>
          </a:p>
        </p:txBody>
      </p:sp>
      <p:sp>
        <p:nvSpPr>
          <p:cNvPr id="21" name="object 21"/>
          <p:cNvSpPr/>
          <p:nvPr/>
        </p:nvSpPr>
        <p:spPr>
          <a:xfrm>
            <a:off x="481583" y="204215"/>
            <a:ext cx="8247888" cy="1014983"/>
          </a:xfrm>
          <a:prstGeom prst="rect">
            <a:avLst/>
          </a:prstGeom>
          <a:blipFill>
            <a:blip r:embed="rId2" cstate="print"/>
            <a:stretch>
              <a:fillRect/>
            </a:stretch>
          </a:blipFill>
        </p:spPr>
        <p:txBody>
          <a:bodyPr wrap="square" lIns="0" tIns="0" rIns="0" bIns="0" rtlCol="0"/>
          <a:lstStyle/>
          <a:p>
            <a:endParaRPr/>
          </a:p>
        </p:txBody>
      </p:sp>
      <p:sp>
        <p:nvSpPr>
          <p:cNvPr id="22" name="object 22"/>
          <p:cNvSpPr txBox="1">
            <a:spLocks noGrp="1"/>
          </p:cNvSpPr>
          <p:nvPr>
            <p:ph type="title"/>
          </p:nvPr>
        </p:nvSpPr>
        <p:spPr>
          <a:xfrm>
            <a:off x="504444" y="220979"/>
            <a:ext cx="8171815" cy="927100"/>
          </a:xfrm>
          <a:prstGeom prst="rect">
            <a:avLst/>
          </a:prstGeom>
          <a:solidFill>
            <a:srgbClr val="F7FAFF"/>
          </a:solidFill>
          <a:ln w="9144">
            <a:solidFill>
              <a:srgbClr val="000000"/>
            </a:solidFill>
          </a:ln>
        </p:spPr>
        <p:txBody>
          <a:bodyPr vert="horz" wrap="square" lIns="0" tIns="120650" rIns="0" bIns="0" rtlCol="0">
            <a:spAutoFit/>
          </a:bodyPr>
          <a:lstStyle/>
          <a:p>
            <a:pPr marL="261620">
              <a:lnSpc>
                <a:spcPct val="100000"/>
              </a:lnSpc>
              <a:spcBef>
                <a:spcPts val="950"/>
              </a:spcBef>
            </a:pPr>
            <a:r>
              <a:rPr sz="3600" i="1" dirty="0">
                <a:latin typeface="Arial"/>
                <a:cs typeface="Arial"/>
              </a:rPr>
              <a:t>Priority </a:t>
            </a:r>
            <a:r>
              <a:rPr sz="3600" i="1" spc="-5" dirty="0">
                <a:latin typeface="Arial"/>
                <a:cs typeface="Arial"/>
              </a:rPr>
              <a:t>Rules </a:t>
            </a:r>
            <a:r>
              <a:rPr sz="3600" i="1" dirty="0">
                <a:latin typeface="Arial"/>
                <a:cs typeface="Arial"/>
              </a:rPr>
              <a:t>for </a:t>
            </a:r>
            <a:r>
              <a:rPr sz="3600" i="1" spc="-5" dirty="0">
                <a:latin typeface="Arial"/>
                <a:cs typeface="Arial"/>
              </a:rPr>
              <a:t>Dispatching</a:t>
            </a:r>
            <a:r>
              <a:rPr sz="3600" i="1" spc="-60" dirty="0">
                <a:latin typeface="Arial"/>
                <a:cs typeface="Arial"/>
              </a:rPr>
              <a:t> </a:t>
            </a:r>
            <a:r>
              <a:rPr sz="3600" i="1" spc="-5" dirty="0">
                <a:latin typeface="Arial"/>
                <a:cs typeface="Arial"/>
              </a:rPr>
              <a:t>Jobs</a:t>
            </a:r>
            <a:endParaRPr sz="3600">
              <a:latin typeface="Arial"/>
              <a:cs typeface="Arial"/>
            </a:endParaRPr>
          </a:p>
        </p:txBody>
      </p:sp>
      <p:grpSp>
        <p:nvGrpSpPr>
          <p:cNvPr id="23" name="object 23"/>
          <p:cNvGrpSpPr/>
          <p:nvPr/>
        </p:nvGrpSpPr>
        <p:grpSpPr>
          <a:xfrm>
            <a:off x="12191" y="6437376"/>
            <a:ext cx="1628139" cy="411480"/>
            <a:chOff x="12191" y="6437376"/>
            <a:chExt cx="1628139" cy="411480"/>
          </a:xfrm>
        </p:grpSpPr>
        <p:sp>
          <p:nvSpPr>
            <p:cNvPr id="24" name="object 24"/>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25" name="object 25"/>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26" name="object 26"/>
          <p:cNvGrpSpPr/>
          <p:nvPr/>
        </p:nvGrpSpPr>
        <p:grpSpPr>
          <a:xfrm>
            <a:off x="7495955" y="6435174"/>
            <a:ext cx="1630680" cy="411480"/>
            <a:chOff x="7491983" y="6437376"/>
            <a:chExt cx="1630680" cy="411480"/>
          </a:xfrm>
        </p:grpSpPr>
        <p:sp>
          <p:nvSpPr>
            <p:cNvPr id="27" name="object 27"/>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28" name="object 28"/>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23</a:t>
            </a:r>
            <a:endParaRPr sz="900">
              <a:latin typeface="Arial"/>
              <a:cs typeface="Arial"/>
            </a:endParaRPr>
          </a:p>
        </p:txBody>
      </p:sp>
      <p:grpSp>
        <p:nvGrpSpPr>
          <p:cNvPr id="4" name="object 4"/>
          <p:cNvGrpSpPr/>
          <p:nvPr/>
        </p:nvGrpSpPr>
        <p:grpSpPr>
          <a:xfrm>
            <a:off x="1155191" y="4776215"/>
            <a:ext cx="1524635" cy="843915"/>
            <a:chOff x="1155191" y="4776215"/>
            <a:chExt cx="1524635" cy="843915"/>
          </a:xfrm>
        </p:grpSpPr>
        <p:sp>
          <p:nvSpPr>
            <p:cNvPr id="5" name="object 5"/>
            <p:cNvSpPr/>
            <p:nvPr/>
          </p:nvSpPr>
          <p:spPr>
            <a:xfrm>
              <a:off x="1155191" y="5202935"/>
              <a:ext cx="1524635" cy="417195"/>
            </a:xfrm>
            <a:custGeom>
              <a:avLst/>
              <a:gdLst/>
              <a:ahLst/>
              <a:cxnLst/>
              <a:rect l="l" t="t" r="r" b="b"/>
              <a:pathLst>
                <a:path w="1524635" h="417195">
                  <a:moveTo>
                    <a:pt x="0" y="416725"/>
                  </a:moveTo>
                  <a:lnTo>
                    <a:pt x="1524508" y="416725"/>
                  </a:lnTo>
                  <a:lnTo>
                    <a:pt x="1524508" y="0"/>
                  </a:lnTo>
                  <a:lnTo>
                    <a:pt x="0" y="0"/>
                  </a:lnTo>
                  <a:lnTo>
                    <a:pt x="0" y="416725"/>
                  </a:lnTo>
                  <a:close/>
                </a:path>
              </a:pathLst>
            </a:custGeom>
            <a:solidFill>
              <a:srgbClr val="FFD980"/>
            </a:solidFill>
          </p:spPr>
          <p:txBody>
            <a:bodyPr wrap="square" lIns="0" tIns="0" rIns="0" bIns="0" rtlCol="0"/>
            <a:lstStyle/>
            <a:p>
              <a:endParaRPr/>
            </a:p>
          </p:txBody>
        </p:sp>
        <p:sp>
          <p:nvSpPr>
            <p:cNvPr id="6" name="object 6"/>
            <p:cNvSpPr/>
            <p:nvPr/>
          </p:nvSpPr>
          <p:spPr>
            <a:xfrm>
              <a:off x="1155191" y="4776215"/>
              <a:ext cx="1524635" cy="399415"/>
            </a:xfrm>
            <a:custGeom>
              <a:avLst/>
              <a:gdLst/>
              <a:ahLst/>
              <a:cxnLst/>
              <a:rect l="l" t="t" r="r" b="b"/>
              <a:pathLst>
                <a:path w="1524635" h="399414">
                  <a:moveTo>
                    <a:pt x="0" y="398906"/>
                  </a:moveTo>
                  <a:lnTo>
                    <a:pt x="1524508" y="398906"/>
                  </a:lnTo>
                  <a:lnTo>
                    <a:pt x="1524508" y="0"/>
                  </a:lnTo>
                  <a:lnTo>
                    <a:pt x="0" y="0"/>
                  </a:lnTo>
                  <a:lnTo>
                    <a:pt x="0" y="398906"/>
                  </a:lnTo>
                  <a:close/>
                </a:path>
              </a:pathLst>
            </a:custGeom>
            <a:solidFill>
              <a:srgbClr val="99CCFF"/>
            </a:solidFill>
          </p:spPr>
          <p:txBody>
            <a:bodyPr wrap="square" lIns="0" tIns="0" rIns="0" bIns="0" rtlCol="0"/>
            <a:lstStyle/>
            <a:p>
              <a:endParaRPr/>
            </a:p>
          </p:txBody>
        </p:sp>
      </p:grpSp>
      <p:grpSp>
        <p:nvGrpSpPr>
          <p:cNvPr id="7" name="object 7"/>
          <p:cNvGrpSpPr/>
          <p:nvPr/>
        </p:nvGrpSpPr>
        <p:grpSpPr>
          <a:xfrm>
            <a:off x="1143000" y="3911256"/>
            <a:ext cx="6858000" cy="1708785"/>
            <a:chOff x="1143000" y="3911256"/>
            <a:chExt cx="6858000" cy="1708785"/>
          </a:xfrm>
        </p:grpSpPr>
        <p:sp>
          <p:nvSpPr>
            <p:cNvPr id="8" name="object 8"/>
            <p:cNvSpPr/>
            <p:nvPr/>
          </p:nvSpPr>
          <p:spPr>
            <a:xfrm>
              <a:off x="1155191" y="3913631"/>
              <a:ext cx="6833870" cy="420370"/>
            </a:xfrm>
            <a:custGeom>
              <a:avLst/>
              <a:gdLst/>
              <a:ahLst/>
              <a:cxnLst/>
              <a:rect l="l" t="t" r="r" b="b"/>
              <a:pathLst>
                <a:path w="6833870" h="420370">
                  <a:moveTo>
                    <a:pt x="0" y="420027"/>
                  </a:moveTo>
                  <a:lnTo>
                    <a:pt x="6833616" y="420027"/>
                  </a:lnTo>
                  <a:lnTo>
                    <a:pt x="6833616" y="0"/>
                  </a:lnTo>
                  <a:lnTo>
                    <a:pt x="0" y="0"/>
                  </a:lnTo>
                  <a:lnTo>
                    <a:pt x="0" y="420027"/>
                  </a:lnTo>
                  <a:close/>
                </a:path>
              </a:pathLst>
            </a:custGeom>
            <a:solidFill>
              <a:srgbClr val="A4DF00"/>
            </a:solidFill>
          </p:spPr>
          <p:txBody>
            <a:bodyPr wrap="square" lIns="0" tIns="0" rIns="0" bIns="0" rtlCol="0"/>
            <a:lstStyle/>
            <a:p>
              <a:endParaRPr/>
            </a:p>
          </p:txBody>
        </p:sp>
        <p:sp>
          <p:nvSpPr>
            <p:cNvPr id="9" name="object 9"/>
            <p:cNvSpPr/>
            <p:nvPr/>
          </p:nvSpPr>
          <p:spPr>
            <a:xfrm>
              <a:off x="1155191" y="4340351"/>
              <a:ext cx="1524635" cy="414020"/>
            </a:xfrm>
            <a:custGeom>
              <a:avLst/>
              <a:gdLst/>
              <a:ahLst/>
              <a:cxnLst/>
              <a:rect l="l" t="t" r="r" b="b"/>
              <a:pathLst>
                <a:path w="1524635" h="414020">
                  <a:moveTo>
                    <a:pt x="0" y="414020"/>
                  </a:moveTo>
                  <a:lnTo>
                    <a:pt x="1524508" y="414020"/>
                  </a:lnTo>
                  <a:lnTo>
                    <a:pt x="1524508" y="0"/>
                  </a:lnTo>
                  <a:lnTo>
                    <a:pt x="0" y="0"/>
                  </a:lnTo>
                  <a:lnTo>
                    <a:pt x="0" y="414020"/>
                  </a:lnTo>
                  <a:close/>
                </a:path>
              </a:pathLst>
            </a:custGeom>
            <a:solidFill>
              <a:srgbClr val="F400F4"/>
            </a:solidFill>
          </p:spPr>
          <p:txBody>
            <a:bodyPr wrap="square" lIns="0" tIns="0" rIns="0" bIns="0" rtlCol="0"/>
            <a:lstStyle/>
            <a:p>
              <a:endParaRPr/>
            </a:p>
          </p:txBody>
        </p:sp>
        <p:sp>
          <p:nvSpPr>
            <p:cNvPr id="10" name="object 10"/>
            <p:cNvSpPr/>
            <p:nvPr/>
          </p:nvSpPr>
          <p:spPr>
            <a:xfrm>
              <a:off x="1143000" y="3911256"/>
              <a:ext cx="6858000" cy="1708785"/>
            </a:xfrm>
            <a:custGeom>
              <a:avLst/>
              <a:gdLst/>
              <a:ahLst/>
              <a:cxnLst/>
              <a:rect l="l" t="t" r="r" b="b"/>
              <a:pathLst>
                <a:path w="6858000" h="1708785">
                  <a:moveTo>
                    <a:pt x="1536700" y="843153"/>
                  </a:moveTo>
                  <a:lnTo>
                    <a:pt x="0" y="843153"/>
                  </a:lnTo>
                  <a:lnTo>
                    <a:pt x="0" y="1263815"/>
                  </a:lnTo>
                  <a:lnTo>
                    <a:pt x="0" y="1708404"/>
                  </a:lnTo>
                  <a:lnTo>
                    <a:pt x="1536700" y="1708404"/>
                  </a:lnTo>
                  <a:lnTo>
                    <a:pt x="1536700" y="1263865"/>
                  </a:lnTo>
                  <a:lnTo>
                    <a:pt x="1536700" y="843153"/>
                  </a:lnTo>
                  <a:close/>
                </a:path>
                <a:path w="6858000" h="1708785">
                  <a:moveTo>
                    <a:pt x="1536700" y="422402"/>
                  </a:moveTo>
                  <a:lnTo>
                    <a:pt x="0" y="422402"/>
                  </a:lnTo>
                  <a:lnTo>
                    <a:pt x="0" y="843114"/>
                  </a:lnTo>
                  <a:lnTo>
                    <a:pt x="1536700" y="843114"/>
                  </a:lnTo>
                  <a:lnTo>
                    <a:pt x="1536700" y="422402"/>
                  </a:lnTo>
                  <a:close/>
                </a:path>
                <a:path w="6858000" h="1708785">
                  <a:moveTo>
                    <a:pt x="6858000" y="0"/>
                  </a:moveTo>
                  <a:lnTo>
                    <a:pt x="4902200" y="0"/>
                  </a:lnTo>
                  <a:lnTo>
                    <a:pt x="1536700" y="0"/>
                  </a:lnTo>
                  <a:lnTo>
                    <a:pt x="0" y="0"/>
                  </a:lnTo>
                  <a:lnTo>
                    <a:pt x="0" y="422363"/>
                  </a:lnTo>
                  <a:lnTo>
                    <a:pt x="1536700" y="422363"/>
                  </a:lnTo>
                  <a:lnTo>
                    <a:pt x="4902200" y="422363"/>
                  </a:lnTo>
                  <a:lnTo>
                    <a:pt x="6858000" y="422363"/>
                  </a:lnTo>
                  <a:lnTo>
                    <a:pt x="6858000" y="0"/>
                  </a:lnTo>
                  <a:close/>
                </a:path>
              </a:pathLst>
            </a:custGeom>
            <a:solidFill>
              <a:srgbClr val="F7FAFF"/>
            </a:solidFill>
          </p:spPr>
          <p:txBody>
            <a:bodyPr wrap="square" lIns="0" tIns="0" rIns="0" bIns="0" rtlCol="0"/>
            <a:lstStyle/>
            <a:p>
              <a:endParaRPr/>
            </a:p>
          </p:txBody>
        </p:sp>
      </p:grpSp>
      <p:sp>
        <p:nvSpPr>
          <p:cNvPr id="11" name="object 11"/>
          <p:cNvSpPr txBox="1">
            <a:spLocks noGrp="1"/>
          </p:cNvSpPr>
          <p:nvPr>
            <p:ph type="title"/>
          </p:nvPr>
        </p:nvSpPr>
        <p:spPr>
          <a:xfrm>
            <a:off x="687323" y="510540"/>
            <a:ext cx="7772400" cy="927100"/>
          </a:xfrm>
          <a:prstGeom prst="rect">
            <a:avLst/>
          </a:prstGeom>
          <a:solidFill>
            <a:srgbClr val="F7FAFF"/>
          </a:solidFill>
          <a:ln w="9144">
            <a:solidFill>
              <a:srgbClr val="000000"/>
            </a:solidFill>
          </a:ln>
        </p:spPr>
        <p:txBody>
          <a:bodyPr vert="horz" wrap="square" lIns="0" tIns="42545" rIns="0" bIns="0" rtlCol="0">
            <a:spAutoFit/>
          </a:bodyPr>
          <a:lstStyle/>
          <a:p>
            <a:pPr algn="ctr">
              <a:lnSpc>
                <a:spcPct val="100000"/>
              </a:lnSpc>
              <a:spcBef>
                <a:spcPts val="335"/>
              </a:spcBef>
            </a:pPr>
            <a:r>
              <a:rPr sz="4400" spc="-5" dirty="0"/>
              <a:t>Sequencing</a:t>
            </a:r>
            <a:r>
              <a:rPr sz="4400" spc="20" dirty="0"/>
              <a:t> </a:t>
            </a:r>
            <a:r>
              <a:rPr sz="4400" spc="-5" dirty="0"/>
              <a:t>Example</a:t>
            </a:r>
            <a:endParaRPr sz="4400"/>
          </a:p>
        </p:txBody>
      </p:sp>
      <p:graphicFrame>
        <p:nvGraphicFramePr>
          <p:cNvPr id="12" name="object 12"/>
          <p:cNvGraphicFramePr>
            <a:graphicFrameLocks noGrp="1"/>
          </p:cNvGraphicFramePr>
          <p:nvPr/>
        </p:nvGraphicFramePr>
        <p:xfrm>
          <a:off x="1155191" y="2862347"/>
          <a:ext cx="6834504" cy="3129446"/>
        </p:xfrm>
        <a:graphic>
          <a:graphicData uri="http://schemas.openxmlformats.org/drawingml/2006/table">
            <a:tbl>
              <a:tblPr firstRow="1" bandRow="1">
                <a:tableStyleId>{2D5ABB26-0587-4C30-8999-92F81FD0307C}</a:tableStyleId>
              </a:tblPr>
              <a:tblGrid>
                <a:gridCol w="1524635">
                  <a:extLst>
                    <a:ext uri="{9D8B030D-6E8A-4147-A177-3AD203B41FA5}">
                      <a16:colId xmlns:a16="http://schemas.microsoft.com/office/drawing/2014/main" val="20000"/>
                    </a:ext>
                  </a:extLst>
                </a:gridCol>
                <a:gridCol w="3501390">
                  <a:extLst>
                    <a:ext uri="{9D8B030D-6E8A-4147-A177-3AD203B41FA5}">
                      <a16:colId xmlns:a16="http://schemas.microsoft.com/office/drawing/2014/main" val="20001"/>
                    </a:ext>
                  </a:extLst>
                </a:gridCol>
                <a:gridCol w="1808479">
                  <a:extLst>
                    <a:ext uri="{9D8B030D-6E8A-4147-A177-3AD203B41FA5}">
                      <a16:colId xmlns:a16="http://schemas.microsoft.com/office/drawing/2014/main" val="20002"/>
                    </a:ext>
                  </a:extLst>
                </a:gridCol>
              </a:tblGrid>
              <a:tr h="1048998">
                <a:tc>
                  <a:txBody>
                    <a:bodyPr/>
                    <a:lstStyle/>
                    <a:p>
                      <a:pPr>
                        <a:lnSpc>
                          <a:spcPct val="100000"/>
                        </a:lnSpc>
                      </a:pPr>
                      <a:endParaRPr sz="2700">
                        <a:latin typeface="Times New Roman"/>
                        <a:cs typeface="Times New Roman"/>
                      </a:endParaRPr>
                    </a:p>
                    <a:p>
                      <a:pPr marR="4445" algn="ctr">
                        <a:lnSpc>
                          <a:spcPct val="100000"/>
                        </a:lnSpc>
                        <a:spcBef>
                          <a:spcPts val="1855"/>
                        </a:spcBef>
                      </a:pPr>
                      <a:r>
                        <a:rPr sz="2400" i="1" dirty="0">
                          <a:latin typeface="Arial"/>
                          <a:cs typeface="Arial"/>
                        </a:rPr>
                        <a:t>Job</a:t>
                      </a:r>
                      <a:endParaRPr sz="2400">
                        <a:latin typeface="Arial"/>
                        <a:cs typeface="Arial"/>
                      </a:endParaRPr>
                    </a:p>
                  </a:txBody>
                  <a:tcPr marL="0" marR="0" marT="0" marB="0">
                    <a:lnB w="38100">
                      <a:solidFill>
                        <a:srgbClr val="000000"/>
                      </a:solidFill>
                      <a:prstDash val="solid"/>
                    </a:lnB>
                    <a:solidFill>
                      <a:srgbClr val="F7FAFF"/>
                    </a:solidFill>
                  </a:tcPr>
                </a:tc>
                <a:tc>
                  <a:txBody>
                    <a:bodyPr/>
                    <a:lstStyle/>
                    <a:p>
                      <a:pPr marR="125730" algn="ctr">
                        <a:lnSpc>
                          <a:spcPts val="2510"/>
                        </a:lnSpc>
                      </a:pPr>
                      <a:r>
                        <a:rPr sz="2400" i="1" dirty="0">
                          <a:latin typeface="Arial"/>
                          <a:cs typeface="Arial"/>
                        </a:rPr>
                        <a:t>Job </a:t>
                      </a:r>
                      <a:r>
                        <a:rPr sz="2400" i="1" spc="5" dirty="0">
                          <a:latin typeface="Arial"/>
                          <a:cs typeface="Arial"/>
                        </a:rPr>
                        <a:t>Work</a:t>
                      </a:r>
                      <a:r>
                        <a:rPr sz="2400" i="1" spc="-75" dirty="0">
                          <a:latin typeface="Arial"/>
                          <a:cs typeface="Arial"/>
                        </a:rPr>
                        <a:t> </a:t>
                      </a:r>
                      <a:r>
                        <a:rPr sz="2400" i="1" spc="-5" dirty="0">
                          <a:latin typeface="Arial"/>
                          <a:cs typeface="Arial"/>
                        </a:rPr>
                        <a:t>(Processing)</a:t>
                      </a:r>
                      <a:endParaRPr sz="2400">
                        <a:latin typeface="Arial"/>
                        <a:cs typeface="Arial"/>
                      </a:endParaRPr>
                    </a:p>
                    <a:p>
                      <a:pPr marL="1236345" marR="1358900" indent="-2540" algn="ctr">
                        <a:lnSpc>
                          <a:spcPts val="2590"/>
                        </a:lnSpc>
                        <a:spcBef>
                          <a:spcPts val="185"/>
                        </a:spcBef>
                      </a:pPr>
                      <a:r>
                        <a:rPr sz="2400" i="1" spc="-20" dirty="0">
                          <a:latin typeface="Arial"/>
                          <a:cs typeface="Arial"/>
                        </a:rPr>
                        <a:t>Time  </a:t>
                      </a:r>
                      <a:r>
                        <a:rPr sz="2400" i="1" spc="-10" dirty="0">
                          <a:latin typeface="Arial"/>
                          <a:cs typeface="Arial"/>
                        </a:rPr>
                        <a:t>(</a:t>
                      </a:r>
                      <a:r>
                        <a:rPr sz="2400" i="1" dirty="0">
                          <a:latin typeface="Arial"/>
                          <a:cs typeface="Arial"/>
                        </a:rPr>
                        <a:t>Days)</a:t>
                      </a:r>
                      <a:endParaRPr sz="2400">
                        <a:latin typeface="Arial"/>
                        <a:cs typeface="Arial"/>
                      </a:endParaRPr>
                    </a:p>
                  </a:txBody>
                  <a:tcPr marL="0" marR="0" marT="0" marB="0">
                    <a:lnB w="38100">
                      <a:solidFill>
                        <a:srgbClr val="000000"/>
                      </a:solidFill>
                      <a:prstDash val="solid"/>
                    </a:lnB>
                    <a:solidFill>
                      <a:srgbClr val="F7FAFF"/>
                    </a:solidFill>
                  </a:tcPr>
                </a:tc>
                <a:tc>
                  <a:txBody>
                    <a:bodyPr/>
                    <a:lstStyle/>
                    <a:p>
                      <a:pPr marL="275590" marR="389255" algn="ctr">
                        <a:lnSpc>
                          <a:spcPct val="90000"/>
                        </a:lnSpc>
                        <a:spcBef>
                          <a:spcPts val="60"/>
                        </a:spcBef>
                      </a:pPr>
                      <a:r>
                        <a:rPr sz="2400" i="1" dirty="0">
                          <a:latin typeface="Arial"/>
                          <a:cs typeface="Arial"/>
                        </a:rPr>
                        <a:t>Job</a:t>
                      </a:r>
                      <a:r>
                        <a:rPr sz="2400" i="1" spc="-105" dirty="0">
                          <a:latin typeface="Arial"/>
                          <a:cs typeface="Arial"/>
                        </a:rPr>
                        <a:t> </a:t>
                      </a:r>
                      <a:r>
                        <a:rPr sz="2400" i="1" dirty="0">
                          <a:latin typeface="Arial"/>
                          <a:cs typeface="Arial"/>
                        </a:rPr>
                        <a:t>Due  Date  </a:t>
                      </a:r>
                      <a:r>
                        <a:rPr sz="2400" i="1" spc="-5" dirty="0">
                          <a:latin typeface="Arial"/>
                          <a:cs typeface="Arial"/>
                        </a:rPr>
                        <a:t>(Days)</a:t>
                      </a:r>
                      <a:endParaRPr sz="2400">
                        <a:latin typeface="Arial"/>
                        <a:cs typeface="Arial"/>
                      </a:endParaRPr>
                    </a:p>
                  </a:txBody>
                  <a:tcPr marL="0" marR="0" marT="7620" marB="0">
                    <a:lnB w="38100">
                      <a:solidFill>
                        <a:srgbClr val="000000"/>
                      </a:solidFill>
                      <a:prstDash val="solid"/>
                    </a:lnB>
                    <a:solidFill>
                      <a:srgbClr val="F7FAFF"/>
                    </a:solidFill>
                  </a:tcPr>
                </a:tc>
                <a:extLst>
                  <a:ext uri="{0D108BD9-81ED-4DB2-BD59-A6C34878D82A}">
                    <a16:rowId xmlns:a16="http://schemas.microsoft.com/office/drawing/2014/main" val="10000"/>
                  </a:ext>
                </a:extLst>
              </a:tr>
              <a:tr h="425659">
                <a:tc>
                  <a:txBody>
                    <a:bodyPr/>
                    <a:lstStyle/>
                    <a:p>
                      <a:pPr marR="6350" algn="ctr">
                        <a:lnSpc>
                          <a:spcPct val="100000"/>
                        </a:lnSpc>
                        <a:spcBef>
                          <a:spcPts val="15"/>
                        </a:spcBef>
                      </a:pPr>
                      <a:r>
                        <a:rPr sz="2400" i="1" dirty="0">
                          <a:latin typeface="Arial"/>
                          <a:cs typeface="Arial"/>
                        </a:rPr>
                        <a:t>A</a:t>
                      </a:r>
                      <a:endParaRPr sz="2400">
                        <a:latin typeface="Arial"/>
                        <a:cs typeface="Arial"/>
                      </a:endParaRPr>
                    </a:p>
                  </a:txBody>
                  <a:tcPr marL="0" marR="0" marT="1905" marB="0">
                    <a:lnT w="38100">
                      <a:solidFill>
                        <a:srgbClr val="000000"/>
                      </a:solidFill>
                      <a:prstDash val="solid"/>
                    </a:lnT>
                    <a:lnB w="9525">
                      <a:solidFill>
                        <a:srgbClr val="A4DF00"/>
                      </a:solidFill>
                      <a:prstDash val="solid"/>
                    </a:lnB>
                  </a:tcPr>
                </a:tc>
                <a:tc>
                  <a:txBody>
                    <a:bodyPr/>
                    <a:lstStyle/>
                    <a:p>
                      <a:pPr marL="1598930">
                        <a:lnSpc>
                          <a:spcPct val="100000"/>
                        </a:lnSpc>
                        <a:spcBef>
                          <a:spcPts val="15"/>
                        </a:spcBef>
                      </a:pPr>
                      <a:r>
                        <a:rPr sz="2400" dirty="0">
                          <a:latin typeface="Arial"/>
                          <a:cs typeface="Arial"/>
                        </a:rPr>
                        <a:t>6</a:t>
                      </a:r>
                      <a:endParaRPr sz="2400">
                        <a:latin typeface="Arial"/>
                        <a:cs typeface="Arial"/>
                      </a:endParaRPr>
                    </a:p>
                  </a:txBody>
                  <a:tcPr marL="0" marR="0" marT="1905" marB="0">
                    <a:lnT w="38100">
                      <a:solidFill>
                        <a:srgbClr val="000000"/>
                      </a:solidFill>
                      <a:prstDash val="solid"/>
                    </a:lnT>
                  </a:tcPr>
                </a:tc>
                <a:tc>
                  <a:txBody>
                    <a:bodyPr/>
                    <a:lstStyle/>
                    <a:p>
                      <a:pPr marR="788670" algn="r">
                        <a:lnSpc>
                          <a:spcPct val="100000"/>
                        </a:lnSpc>
                        <a:spcBef>
                          <a:spcPts val="15"/>
                        </a:spcBef>
                      </a:pPr>
                      <a:r>
                        <a:rPr sz="2400" dirty="0">
                          <a:latin typeface="Arial"/>
                          <a:cs typeface="Arial"/>
                        </a:rPr>
                        <a:t>8</a:t>
                      </a:r>
                      <a:endParaRPr sz="2400">
                        <a:latin typeface="Arial"/>
                        <a:cs typeface="Arial"/>
                      </a:endParaRPr>
                    </a:p>
                  </a:txBody>
                  <a:tcPr marL="0" marR="0" marT="1905" marB="0">
                    <a:lnT w="38100">
                      <a:solidFill>
                        <a:srgbClr val="000000"/>
                      </a:solidFill>
                      <a:prstDash val="solid"/>
                    </a:lnT>
                    <a:solidFill>
                      <a:srgbClr val="A4DF00"/>
                    </a:solidFill>
                  </a:tcPr>
                </a:tc>
                <a:extLst>
                  <a:ext uri="{0D108BD9-81ED-4DB2-BD59-A6C34878D82A}">
                    <a16:rowId xmlns:a16="http://schemas.microsoft.com/office/drawing/2014/main" val="10001"/>
                  </a:ext>
                </a:extLst>
              </a:tr>
              <a:tr h="428288">
                <a:tc>
                  <a:txBody>
                    <a:bodyPr/>
                    <a:lstStyle/>
                    <a:p>
                      <a:pPr marR="5715" algn="ctr">
                        <a:lnSpc>
                          <a:spcPts val="2870"/>
                        </a:lnSpc>
                      </a:pPr>
                      <a:r>
                        <a:rPr sz="2400" i="1" dirty="0">
                          <a:latin typeface="Arial"/>
                          <a:cs typeface="Arial"/>
                        </a:rPr>
                        <a:t>B</a:t>
                      </a:r>
                      <a:endParaRPr sz="2400">
                        <a:latin typeface="Arial"/>
                        <a:cs typeface="Arial"/>
                      </a:endParaRPr>
                    </a:p>
                  </a:txBody>
                  <a:tcPr marL="0" marR="0" marT="0" marB="0">
                    <a:lnT w="9525">
                      <a:solidFill>
                        <a:srgbClr val="A4DF00"/>
                      </a:solidFill>
                      <a:prstDash val="solid"/>
                    </a:lnT>
                    <a:lnB w="28575">
                      <a:solidFill>
                        <a:srgbClr val="FFFFFF"/>
                      </a:solidFill>
                      <a:prstDash val="solid"/>
                    </a:lnB>
                  </a:tcPr>
                </a:tc>
                <a:tc>
                  <a:txBody>
                    <a:bodyPr/>
                    <a:lstStyle/>
                    <a:p>
                      <a:pPr marL="1598930">
                        <a:lnSpc>
                          <a:spcPts val="2870"/>
                        </a:lnSpc>
                      </a:pPr>
                      <a:r>
                        <a:rPr sz="2400" dirty="0">
                          <a:latin typeface="Arial"/>
                          <a:cs typeface="Arial"/>
                        </a:rPr>
                        <a:t>2</a:t>
                      </a:r>
                      <a:endParaRPr sz="2400">
                        <a:latin typeface="Arial"/>
                        <a:cs typeface="Arial"/>
                      </a:endParaRPr>
                    </a:p>
                  </a:txBody>
                  <a:tcPr marL="0" marR="0" marT="0" marB="0">
                    <a:solidFill>
                      <a:srgbClr val="F7FAFF"/>
                    </a:solidFill>
                  </a:tcPr>
                </a:tc>
                <a:tc>
                  <a:txBody>
                    <a:bodyPr/>
                    <a:lstStyle/>
                    <a:p>
                      <a:pPr marR="788670" algn="r">
                        <a:lnSpc>
                          <a:spcPts val="2870"/>
                        </a:lnSpc>
                      </a:pPr>
                      <a:r>
                        <a:rPr sz="2400" dirty="0">
                          <a:latin typeface="Arial"/>
                          <a:cs typeface="Arial"/>
                        </a:rPr>
                        <a:t>6</a:t>
                      </a:r>
                      <a:endParaRPr sz="2400">
                        <a:latin typeface="Arial"/>
                        <a:cs typeface="Arial"/>
                      </a:endParaRPr>
                    </a:p>
                  </a:txBody>
                  <a:tcPr marL="0" marR="0" marT="0" marB="0">
                    <a:solidFill>
                      <a:srgbClr val="F7FAFF"/>
                    </a:solidFill>
                  </a:tcPr>
                </a:tc>
                <a:extLst>
                  <a:ext uri="{0D108BD9-81ED-4DB2-BD59-A6C34878D82A}">
                    <a16:rowId xmlns:a16="http://schemas.microsoft.com/office/drawing/2014/main" val="10002"/>
                  </a:ext>
                </a:extLst>
              </a:tr>
              <a:tr h="423735">
                <a:tc>
                  <a:txBody>
                    <a:bodyPr/>
                    <a:lstStyle/>
                    <a:p>
                      <a:pPr marR="1905" algn="ctr">
                        <a:lnSpc>
                          <a:spcPts val="2810"/>
                        </a:lnSpc>
                      </a:pPr>
                      <a:r>
                        <a:rPr sz="2400" i="1" dirty="0">
                          <a:latin typeface="Arial"/>
                          <a:cs typeface="Arial"/>
                        </a:rPr>
                        <a:t>C</a:t>
                      </a:r>
                      <a:endParaRPr sz="2400">
                        <a:latin typeface="Arial"/>
                        <a:cs typeface="Arial"/>
                      </a:endParaRPr>
                    </a:p>
                  </a:txBody>
                  <a:tcPr marL="0" marR="0" marT="0" marB="0">
                    <a:lnT w="28575">
                      <a:solidFill>
                        <a:srgbClr val="FFFFFF"/>
                      </a:solidFill>
                      <a:prstDash val="solid"/>
                    </a:lnT>
                    <a:lnB w="28575">
                      <a:solidFill>
                        <a:srgbClr val="FFFFFF"/>
                      </a:solidFill>
                      <a:prstDash val="solid"/>
                    </a:lnB>
                  </a:tcPr>
                </a:tc>
                <a:tc>
                  <a:txBody>
                    <a:bodyPr/>
                    <a:lstStyle/>
                    <a:p>
                      <a:pPr marL="1598930">
                        <a:lnSpc>
                          <a:spcPts val="2810"/>
                        </a:lnSpc>
                      </a:pPr>
                      <a:r>
                        <a:rPr sz="2400" dirty="0">
                          <a:latin typeface="Arial"/>
                          <a:cs typeface="Arial"/>
                        </a:rPr>
                        <a:t>8</a:t>
                      </a:r>
                      <a:endParaRPr sz="2400">
                        <a:latin typeface="Arial"/>
                        <a:cs typeface="Arial"/>
                      </a:endParaRPr>
                    </a:p>
                  </a:txBody>
                  <a:tcPr marL="0" marR="0" marT="0" marB="0">
                    <a:solidFill>
                      <a:srgbClr val="F7FAFF"/>
                    </a:solidFill>
                  </a:tcPr>
                </a:tc>
                <a:tc>
                  <a:txBody>
                    <a:bodyPr/>
                    <a:lstStyle/>
                    <a:p>
                      <a:pPr marR="787400" algn="r">
                        <a:lnSpc>
                          <a:spcPts val="2810"/>
                        </a:lnSpc>
                      </a:pPr>
                      <a:r>
                        <a:rPr sz="2400" spc="5" dirty="0">
                          <a:latin typeface="Arial"/>
                          <a:cs typeface="Arial"/>
                        </a:rPr>
                        <a:t>18</a:t>
                      </a:r>
                      <a:endParaRPr sz="2400">
                        <a:latin typeface="Arial"/>
                        <a:cs typeface="Arial"/>
                      </a:endParaRPr>
                    </a:p>
                  </a:txBody>
                  <a:tcPr marL="0" marR="0" marT="0" marB="0">
                    <a:solidFill>
                      <a:srgbClr val="F7FAFF"/>
                    </a:solidFill>
                  </a:tcPr>
                </a:tc>
                <a:extLst>
                  <a:ext uri="{0D108BD9-81ED-4DB2-BD59-A6C34878D82A}">
                    <a16:rowId xmlns:a16="http://schemas.microsoft.com/office/drawing/2014/main" val="10003"/>
                  </a:ext>
                </a:extLst>
              </a:tr>
              <a:tr h="430631">
                <a:tc>
                  <a:txBody>
                    <a:bodyPr/>
                    <a:lstStyle/>
                    <a:p>
                      <a:pPr marR="1905" algn="ctr">
                        <a:lnSpc>
                          <a:spcPts val="2790"/>
                        </a:lnSpc>
                      </a:pPr>
                      <a:r>
                        <a:rPr sz="2400" i="1" dirty="0">
                          <a:latin typeface="Arial"/>
                          <a:cs typeface="Arial"/>
                        </a:rPr>
                        <a:t>D</a:t>
                      </a:r>
                      <a:endParaRPr sz="2400">
                        <a:latin typeface="Arial"/>
                        <a:cs typeface="Arial"/>
                      </a:endParaRPr>
                    </a:p>
                  </a:txBody>
                  <a:tcPr marL="0" marR="0" marT="0" marB="0">
                    <a:lnT w="28575">
                      <a:solidFill>
                        <a:srgbClr val="FFFFFF"/>
                      </a:solidFill>
                      <a:prstDash val="solid"/>
                    </a:lnT>
                  </a:tcPr>
                </a:tc>
                <a:tc>
                  <a:txBody>
                    <a:bodyPr/>
                    <a:lstStyle/>
                    <a:p>
                      <a:pPr marL="1598930">
                        <a:lnSpc>
                          <a:spcPts val="2790"/>
                        </a:lnSpc>
                      </a:pPr>
                      <a:r>
                        <a:rPr sz="2400" dirty="0">
                          <a:latin typeface="Arial"/>
                          <a:cs typeface="Arial"/>
                        </a:rPr>
                        <a:t>3</a:t>
                      </a:r>
                      <a:endParaRPr sz="2400">
                        <a:latin typeface="Arial"/>
                        <a:cs typeface="Arial"/>
                      </a:endParaRPr>
                    </a:p>
                  </a:txBody>
                  <a:tcPr marL="0" marR="0" marT="0" marB="0">
                    <a:solidFill>
                      <a:srgbClr val="F7FAFF"/>
                    </a:solidFill>
                  </a:tcPr>
                </a:tc>
                <a:tc>
                  <a:txBody>
                    <a:bodyPr/>
                    <a:lstStyle/>
                    <a:p>
                      <a:pPr marR="787400" algn="r">
                        <a:lnSpc>
                          <a:spcPts val="2790"/>
                        </a:lnSpc>
                      </a:pPr>
                      <a:r>
                        <a:rPr sz="2400" spc="5" dirty="0">
                          <a:latin typeface="Arial"/>
                          <a:cs typeface="Arial"/>
                        </a:rPr>
                        <a:t>15</a:t>
                      </a:r>
                      <a:endParaRPr sz="2400">
                        <a:latin typeface="Arial"/>
                        <a:cs typeface="Arial"/>
                      </a:endParaRPr>
                    </a:p>
                  </a:txBody>
                  <a:tcPr marL="0" marR="0" marT="0" marB="0">
                    <a:solidFill>
                      <a:srgbClr val="F7FAFF"/>
                    </a:solidFill>
                  </a:tcPr>
                </a:tc>
                <a:extLst>
                  <a:ext uri="{0D108BD9-81ED-4DB2-BD59-A6C34878D82A}">
                    <a16:rowId xmlns:a16="http://schemas.microsoft.com/office/drawing/2014/main" val="10004"/>
                  </a:ext>
                </a:extLst>
              </a:tr>
              <a:tr h="372135">
                <a:tc>
                  <a:txBody>
                    <a:bodyPr/>
                    <a:lstStyle/>
                    <a:p>
                      <a:pPr marR="5715" algn="ctr">
                        <a:lnSpc>
                          <a:spcPts val="2810"/>
                        </a:lnSpc>
                        <a:spcBef>
                          <a:spcPts val="20"/>
                        </a:spcBef>
                      </a:pPr>
                      <a:r>
                        <a:rPr sz="2400" i="1" dirty="0">
                          <a:latin typeface="Arial"/>
                          <a:cs typeface="Arial"/>
                        </a:rPr>
                        <a:t>E</a:t>
                      </a:r>
                      <a:endParaRPr sz="2400">
                        <a:latin typeface="Arial"/>
                        <a:cs typeface="Arial"/>
                      </a:endParaRPr>
                    </a:p>
                  </a:txBody>
                  <a:tcPr marL="0" marR="0" marT="2540" marB="0">
                    <a:solidFill>
                      <a:srgbClr val="F7FAFF"/>
                    </a:solidFill>
                  </a:tcPr>
                </a:tc>
                <a:tc>
                  <a:txBody>
                    <a:bodyPr/>
                    <a:lstStyle/>
                    <a:p>
                      <a:pPr marL="1598930">
                        <a:lnSpc>
                          <a:spcPts val="2810"/>
                        </a:lnSpc>
                        <a:spcBef>
                          <a:spcPts val="20"/>
                        </a:spcBef>
                      </a:pPr>
                      <a:r>
                        <a:rPr sz="2400" dirty="0">
                          <a:latin typeface="Arial"/>
                          <a:cs typeface="Arial"/>
                        </a:rPr>
                        <a:t>9</a:t>
                      </a:r>
                      <a:endParaRPr sz="2400">
                        <a:latin typeface="Arial"/>
                        <a:cs typeface="Arial"/>
                      </a:endParaRPr>
                    </a:p>
                  </a:txBody>
                  <a:tcPr marL="0" marR="0" marT="2540" marB="0">
                    <a:solidFill>
                      <a:srgbClr val="F7FAFF"/>
                    </a:solidFill>
                  </a:tcPr>
                </a:tc>
                <a:tc>
                  <a:txBody>
                    <a:bodyPr/>
                    <a:lstStyle/>
                    <a:p>
                      <a:pPr marR="787400" algn="r">
                        <a:lnSpc>
                          <a:spcPts val="2810"/>
                        </a:lnSpc>
                        <a:spcBef>
                          <a:spcPts val="20"/>
                        </a:spcBef>
                      </a:pPr>
                      <a:r>
                        <a:rPr sz="2400" spc="5" dirty="0">
                          <a:latin typeface="Arial"/>
                          <a:cs typeface="Arial"/>
                        </a:rPr>
                        <a:t>23</a:t>
                      </a:r>
                      <a:endParaRPr sz="2400">
                        <a:latin typeface="Arial"/>
                        <a:cs typeface="Arial"/>
                      </a:endParaRPr>
                    </a:p>
                  </a:txBody>
                  <a:tcPr marL="0" marR="0" marT="2540" marB="0">
                    <a:solidFill>
                      <a:srgbClr val="F7FAFF"/>
                    </a:solidFill>
                  </a:tcPr>
                </a:tc>
                <a:extLst>
                  <a:ext uri="{0D108BD9-81ED-4DB2-BD59-A6C34878D82A}">
                    <a16:rowId xmlns:a16="http://schemas.microsoft.com/office/drawing/2014/main" val="10005"/>
                  </a:ext>
                </a:extLst>
              </a:tr>
            </a:tbl>
          </a:graphicData>
        </a:graphic>
      </p:graphicFrame>
      <p:sp>
        <p:nvSpPr>
          <p:cNvPr id="13" name="object 13"/>
          <p:cNvSpPr txBox="1"/>
          <p:nvPr/>
        </p:nvSpPr>
        <p:spPr>
          <a:xfrm>
            <a:off x="1063244" y="1682623"/>
            <a:ext cx="6711950" cy="837565"/>
          </a:xfrm>
          <a:prstGeom prst="rect">
            <a:avLst/>
          </a:prstGeom>
        </p:spPr>
        <p:txBody>
          <a:bodyPr vert="horz" wrap="square" lIns="0" tIns="62230" rIns="0" bIns="0" rtlCol="0">
            <a:spAutoFit/>
          </a:bodyPr>
          <a:lstStyle/>
          <a:p>
            <a:pPr marL="12700" marR="5080">
              <a:lnSpc>
                <a:spcPts val="3020"/>
              </a:lnSpc>
              <a:spcBef>
                <a:spcPts val="490"/>
              </a:spcBef>
            </a:pPr>
            <a:r>
              <a:rPr sz="2800" dirty="0">
                <a:latin typeface="Arial"/>
                <a:cs typeface="Arial"/>
              </a:rPr>
              <a:t>Apply </a:t>
            </a:r>
            <a:r>
              <a:rPr sz="2800" spc="5" dirty="0">
                <a:latin typeface="Arial"/>
                <a:cs typeface="Arial"/>
              </a:rPr>
              <a:t>the </a:t>
            </a:r>
            <a:r>
              <a:rPr sz="2800" dirty="0">
                <a:latin typeface="Arial"/>
                <a:cs typeface="Arial"/>
              </a:rPr>
              <a:t>four popular </a:t>
            </a:r>
            <a:r>
              <a:rPr sz="2800" spc="5" dirty="0">
                <a:latin typeface="Arial"/>
                <a:cs typeface="Arial"/>
              </a:rPr>
              <a:t>sequencing </a:t>
            </a:r>
            <a:r>
              <a:rPr sz="2800" dirty="0">
                <a:latin typeface="Arial"/>
                <a:cs typeface="Arial"/>
              </a:rPr>
              <a:t>rules </a:t>
            </a:r>
            <a:r>
              <a:rPr sz="2800" spc="5" dirty="0">
                <a:latin typeface="Arial"/>
                <a:cs typeface="Arial"/>
              </a:rPr>
              <a:t>to  these </a:t>
            </a:r>
            <a:r>
              <a:rPr sz="2800" spc="-5" dirty="0">
                <a:latin typeface="Arial"/>
                <a:cs typeface="Arial"/>
              </a:rPr>
              <a:t>five</a:t>
            </a:r>
            <a:r>
              <a:rPr sz="2800" spc="-35" dirty="0">
                <a:latin typeface="Arial"/>
                <a:cs typeface="Arial"/>
              </a:rPr>
              <a:t> </a:t>
            </a:r>
            <a:r>
              <a:rPr sz="2800" dirty="0">
                <a:latin typeface="Arial"/>
                <a:cs typeface="Arial"/>
              </a:rPr>
              <a:t>jobs</a:t>
            </a:r>
            <a:endParaRPr sz="2800">
              <a:latin typeface="Arial"/>
              <a:cs typeface="Arial"/>
            </a:endParaRPr>
          </a:p>
        </p:txBody>
      </p:sp>
      <p:grpSp>
        <p:nvGrpSpPr>
          <p:cNvPr id="14" name="object 14"/>
          <p:cNvGrpSpPr/>
          <p:nvPr/>
        </p:nvGrpSpPr>
        <p:grpSpPr>
          <a:xfrm>
            <a:off x="12191" y="6437376"/>
            <a:ext cx="1628139" cy="411480"/>
            <a:chOff x="12191" y="6437376"/>
            <a:chExt cx="1628139" cy="411480"/>
          </a:xfrm>
        </p:grpSpPr>
        <p:sp>
          <p:nvSpPr>
            <p:cNvPr id="15" name="object 15"/>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16" name="object 16"/>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17" name="object 17"/>
          <p:cNvGrpSpPr/>
          <p:nvPr/>
        </p:nvGrpSpPr>
        <p:grpSpPr>
          <a:xfrm>
            <a:off x="7491983" y="6437376"/>
            <a:ext cx="1630680" cy="411480"/>
            <a:chOff x="7491983" y="6437376"/>
            <a:chExt cx="1630680" cy="411480"/>
          </a:xfrm>
        </p:grpSpPr>
        <p:sp>
          <p:nvSpPr>
            <p:cNvPr id="18" name="object 18"/>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9" name="object 19"/>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24</a:t>
            </a:r>
            <a:endParaRPr sz="900">
              <a:latin typeface="Arial"/>
              <a:cs typeface="Arial"/>
            </a:endParaRPr>
          </a:p>
        </p:txBody>
      </p:sp>
      <p:grpSp>
        <p:nvGrpSpPr>
          <p:cNvPr id="4" name="object 4"/>
          <p:cNvGrpSpPr/>
          <p:nvPr/>
        </p:nvGrpSpPr>
        <p:grpSpPr>
          <a:xfrm>
            <a:off x="685800" y="3314700"/>
            <a:ext cx="7772400" cy="2222500"/>
            <a:chOff x="685800" y="3314700"/>
            <a:chExt cx="7772400" cy="2222500"/>
          </a:xfrm>
        </p:grpSpPr>
        <p:sp>
          <p:nvSpPr>
            <p:cNvPr id="5" name="object 5"/>
            <p:cNvSpPr/>
            <p:nvPr/>
          </p:nvSpPr>
          <p:spPr>
            <a:xfrm>
              <a:off x="719328" y="3316223"/>
              <a:ext cx="7736205" cy="455930"/>
            </a:xfrm>
            <a:custGeom>
              <a:avLst/>
              <a:gdLst/>
              <a:ahLst/>
              <a:cxnLst/>
              <a:rect l="l" t="t" r="r" b="b"/>
              <a:pathLst>
                <a:path w="7736205" h="455929">
                  <a:moveTo>
                    <a:pt x="0" y="455675"/>
                  </a:moveTo>
                  <a:lnTo>
                    <a:pt x="7735824" y="455675"/>
                  </a:lnTo>
                  <a:lnTo>
                    <a:pt x="7735824" y="0"/>
                  </a:lnTo>
                  <a:lnTo>
                    <a:pt x="0" y="0"/>
                  </a:lnTo>
                  <a:lnTo>
                    <a:pt x="0" y="455675"/>
                  </a:lnTo>
                  <a:close/>
                </a:path>
              </a:pathLst>
            </a:custGeom>
            <a:solidFill>
              <a:srgbClr val="A4DF00"/>
            </a:solidFill>
          </p:spPr>
          <p:txBody>
            <a:bodyPr wrap="square" lIns="0" tIns="0" rIns="0" bIns="0" rtlCol="0"/>
            <a:lstStyle/>
            <a:p>
              <a:endParaRPr/>
            </a:p>
          </p:txBody>
        </p:sp>
        <p:sp>
          <p:nvSpPr>
            <p:cNvPr id="6" name="object 6"/>
            <p:cNvSpPr/>
            <p:nvPr/>
          </p:nvSpPr>
          <p:spPr>
            <a:xfrm>
              <a:off x="685800" y="3314699"/>
              <a:ext cx="7772400" cy="2222500"/>
            </a:xfrm>
            <a:custGeom>
              <a:avLst/>
              <a:gdLst/>
              <a:ahLst/>
              <a:cxnLst/>
              <a:rect l="l" t="t" r="r" b="b"/>
              <a:pathLst>
                <a:path w="7772400" h="2222500">
                  <a:moveTo>
                    <a:pt x="7772400" y="0"/>
                  </a:moveTo>
                  <a:lnTo>
                    <a:pt x="7772400" y="0"/>
                  </a:lnTo>
                  <a:lnTo>
                    <a:pt x="0" y="0"/>
                  </a:lnTo>
                  <a:lnTo>
                    <a:pt x="0" y="457200"/>
                  </a:lnTo>
                  <a:lnTo>
                    <a:pt x="0" y="901700"/>
                  </a:lnTo>
                  <a:lnTo>
                    <a:pt x="0" y="1346200"/>
                  </a:lnTo>
                  <a:lnTo>
                    <a:pt x="0" y="1765300"/>
                  </a:lnTo>
                  <a:lnTo>
                    <a:pt x="0" y="2222500"/>
                  </a:lnTo>
                  <a:lnTo>
                    <a:pt x="1600200" y="2222500"/>
                  </a:lnTo>
                  <a:lnTo>
                    <a:pt x="1600200" y="1765300"/>
                  </a:lnTo>
                  <a:lnTo>
                    <a:pt x="1600200" y="1346200"/>
                  </a:lnTo>
                  <a:lnTo>
                    <a:pt x="1600200" y="901700"/>
                  </a:lnTo>
                  <a:lnTo>
                    <a:pt x="1600200" y="457200"/>
                  </a:lnTo>
                  <a:lnTo>
                    <a:pt x="3810000" y="457200"/>
                  </a:lnTo>
                  <a:lnTo>
                    <a:pt x="4851400" y="457200"/>
                  </a:lnTo>
                  <a:lnTo>
                    <a:pt x="6286500" y="457200"/>
                  </a:lnTo>
                  <a:lnTo>
                    <a:pt x="7772400" y="457200"/>
                  </a:lnTo>
                  <a:lnTo>
                    <a:pt x="7772400" y="0"/>
                  </a:lnTo>
                  <a:close/>
                </a:path>
              </a:pathLst>
            </a:custGeom>
            <a:solidFill>
              <a:srgbClr val="F7FAFF"/>
            </a:solidFill>
          </p:spPr>
          <p:txBody>
            <a:bodyPr wrap="square" lIns="0" tIns="0" rIns="0" bIns="0" rtlCol="0"/>
            <a:lstStyle/>
            <a:p>
              <a:endParaRPr/>
            </a:p>
          </p:txBody>
        </p:sp>
      </p:grpSp>
      <p:sp>
        <p:nvSpPr>
          <p:cNvPr id="7" name="object 7"/>
          <p:cNvSpPr txBox="1">
            <a:spLocks noGrp="1"/>
          </p:cNvSpPr>
          <p:nvPr>
            <p:ph type="title"/>
          </p:nvPr>
        </p:nvSpPr>
        <p:spPr>
          <a:xfrm>
            <a:off x="687323" y="510540"/>
            <a:ext cx="7772400" cy="927100"/>
          </a:xfrm>
          <a:prstGeom prst="rect">
            <a:avLst/>
          </a:prstGeom>
          <a:solidFill>
            <a:srgbClr val="F7FAFF"/>
          </a:solidFill>
          <a:ln w="9144">
            <a:solidFill>
              <a:srgbClr val="000000"/>
            </a:solidFill>
          </a:ln>
        </p:spPr>
        <p:txBody>
          <a:bodyPr vert="horz" wrap="square" lIns="0" tIns="42545" rIns="0" bIns="0" rtlCol="0">
            <a:spAutoFit/>
          </a:bodyPr>
          <a:lstStyle/>
          <a:p>
            <a:pPr algn="ctr">
              <a:lnSpc>
                <a:spcPct val="100000"/>
              </a:lnSpc>
              <a:spcBef>
                <a:spcPts val="335"/>
              </a:spcBef>
            </a:pPr>
            <a:r>
              <a:rPr sz="4400" spc="-5" dirty="0"/>
              <a:t>Sequencing</a:t>
            </a:r>
            <a:r>
              <a:rPr sz="4400" spc="20" dirty="0"/>
              <a:t> </a:t>
            </a:r>
            <a:r>
              <a:rPr sz="4400" spc="-5" dirty="0"/>
              <a:t>Example</a:t>
            </a:r>
            <a:endParaRPr sz="4400"/>
          </a:p>
        </p:txBody>
      </p:sp>
      <p:graphicFrame>
        <p:nvGraphicFramePr>
          <p:cNvPr id="8" name="object 8"/>
          <p:cNvGraphicFramePr>
            <a:graphicFrameLocks noGrp="1"/>
          </p:cNvGraphicFramePr>
          <p:nvPr/>
        </p:nvGraphicFramePr>
        <p:xfrm>
          <a:off x="719327" y="2434678"/>
          <a:ext cx="7738108" cy="3460422"/>
        </p:xfrm>
        <a:graphic>
          <a:graphicData uri="http://schemas.openxmlformats.org/drawingml/2006/table">
            <a:tbl>
              <a:tblPr firstRow="1" bandRow="1">
                <a:tableStyleId>{2D5ABB26-0587-4C30-8999-92F81FD0307C}</a:tableStyleId>
              </a:tblPr>
              <a:tblGrid>
                <a:gridCol w="1566545">
                  <a:extLst>
                    <a:ext uri="{9D8B030D-6E8A-4147-A177-3AD203B41FA5}">
                      <a16:colId xmlns:a16="http://schemas.microsoft.com/office/drawing/2014/main" val="20000"/>
                    </a:ext>
                  </a:extLst>
                </a:gridCol>
                <a:gridCol w="2134235">
                  <a:extLst>
                    <a:ext uri="{9D8B030D-6E8A-4147-A177-3AD203B41FA5}">
                      <a16:colId xmlns:a16="http://schemas.microsoft.com/office/drawing/2014/main" val="20001"/>
                    </a:ext>
                  </a:extLst>
                </a:gridCol>
                <a:gridCol w="1119504">
                  <a:extLst>
                    <a:ext uri="{9D8B030D-6E8A-4147-A177-3AD203B41FA5}">
                      <a16:colId xmlns:a16="http://schemas.microsoft.com/office/drawing/2014/main" val="20002"/>
                    </a:ext>
                  </a:extLst>
                </a:gridCol>
                <a:gridCol w="1424304">
                  <a:extLst>
                    <a:ext uri="{9D8B030D-6E8A-4147-A177-3AD203B41FA5}">
                      <a16:colId xmlns:a16="http://schemas.microsoft.com/office/drawing/2014/main" val="20003"/>
                    </a:ext>
                  </a:extLst>
                </a:gridCol>
                <a:gridCol w="1493520">
                  <a:extLst>
                    <a:ext uri="{9D8B030D-6E8A-4147-A177-3AD203B41FA5}">
                      <a16:colId xmlns:a16="http://schemas.microsoft.com/office/drawing/2014/main" val="20004"/>
                    </a:ext>
                  </a:extLst>
                </a:gridCol>
              </a:tblGrid>
              <a:tr h="880021">
                <a:tc>
                  <a:txBody>
                    <a:bodyPr/>
                    <a:lstStyle/>
                    <a:p>
                      <a:pPr marR="25400" algn="ctr">
                        <a:lnSpc>
                          <a:spcPts val="2280"/>
                        </a:lnSpc>
                        <a:spcBef>
                          <a:spcPts val="1960"/>
                        </a:spcBef>
                      </a:pPr>
                      <a:r>
                        <a:rPr sz="2000" i="1" spc="-5" dirty="0">
                          <a:latin typeface="Arial"/>
                          <a:cs typeface="Arial"/>
                        </a:rPr>
                        <a:t>Job</a:t>
                      </a:r>
                      <a:endParaRPr sz="2000" dirty="0">
                        <a:latin typeface="Arial"/>
                        <a:cs typeface="Arial"/>
                      </a:endParaRPr>
                    </a:p>
                    <a:p>
                      <a:pPr marR="23495" algn="ctr">
                        <a:lnSpc>
                          <a:spcPts val="2280"/>
                        </a:lnSpc>
                      </a:pPr>
                      <a:r>
                        <a:rPr sz="2000" i="1" spc="-10" dirty="0">
                          <a:latin typeface="Arial"/>
                          <a:cs typeface="Arial"/>
                        </a:rPr>
                        <a:t>Sequence</a:t>
                      </a:r>
                      <a:endParaRPr sz="2000" dirty="0">
                        <a:latin typeface="Arial"/>
                        <a:cs typeface="Arial"/>
                      </a:endParaRPr>
                    </a:p>
                  </a:txBody>
                  <a:tcPr marL="0" marR="0" marT="248920" marB="0">
                    <a:lnB w="38100">
                      <a:solidFill>
                        <a:srgbClr val="000000"/>
                      </a:solidFill>
                      <a:prstDash val="solid"/>
                    </a:lnB>
                    <a:solidFill>
                      <a:srgbClr val="F7FAFF"/>
                    </a:solidFill>
                  </a:tcPr>
                </a:tc>
                <a:tc>
                  <a:txBody>
                    <a:bodyPr/>
                    <a:lstStyle/>
                    <a:p>
                      <a:pPr marL="394335" marR="310515" indent="635" algn="ctr">
                        <a:lnSpc>
                          <a:spcPts val="2160"/>
                        </a:lnSpc>
                        <a:spcBef>
                          <a:spcPts val="75"/>
                        </a:spcBef>
                      </a:pPr>
                      <a:r>
                        <a:rPr sz="2000" i="1" spc="-5" dirty="0">
                          <a:latin typeface="Arial"/>
                          <a:cs typeface="Arial"/>
                        </a:rPr>
                        <a:t>Job </a:t>
                      </a:r>
                      <a:r>
                        <a:rPr sz="2000" i="1" spc="5" dirty="0">
                          <a:latin typeface="Arial"/>
                          <a:cs typeface="Arial"/>
                        </a:rPr>
                        <a:t>Work  (</a:t>
                      </a:r>
                      <a:r>
                        <a:rPr sz="2000" i="1" spc="-10" dirty="0">
                          <a:latin typeface="Arial"/>
                          <a:cs typeface="Arial"/>
                        </a:rPr>
                        <a:t>P</a:t>
                      </a:r>
                      <a:r>
                        <a:rPr sz="2000" i="1" spc="5" dirty="0">
                          <a:latin typeface="Arial"/>
                          <a:cs typeface="Arial"/>
                        </a:rPr>
                        <a:t>r</a:t>
                      </a:r>
                      <a:r>
                        <a:rPr sz="2000" i="1" dirty="0">
                          <a:latin typeface="Arial"/>
                          <a:cs typeface="Arial"/>
                        </a:rPr>
                        <a:t>oce</a:t>
                      </a:r>
                      <a:r>
                        <a:rPr sz="2000" i="1" spc="10" dirty="0">
                          <a:latin typeface="Arial"/>
                          <a:cs typeface="Arial"/>
                        </a:rPr>
                        <a:t>s</a:t>
                      </a:r>
                      <a:r>
                        <a:rPr sz="2000" i="1" spc="5" dirty="0">
                          <a:latin typeface="Arial"/>
                          <a:cs typeface="Arial"/>
                        </a:rPr>
                        <a:t>s</a:t>
                      </a:r>
                      <a:r>
                        <a:rPr sz="2000" i="1" spc="-10" dirty="0">
                          <a:latin typeface="Arial"/>
                          <a:cs typeface="Arial"/>
                        </a:rPr>
                        <a:t>i</a:t>
                      </a:r>
                      <a:r>
                        <a:rPr sz="2000" i="1" dirty="0">
                          <a:latin typeface="Arial"/>
                          <a:cs typeface="Arial"/>
                        </a:rPr>
                        <a:t>n</a:t>
                      </a:r>
                      <a:r>
                        <a:rPr sz="2000" i="1" spc="-10" dirty="0">
                          <a:latin typeface="Arial"/>
                          <a:cs typeface="Arial"/>
                        </a:rPr>
                        <a:t>g</a:t>
                      </a:r>
                      <a:r>
                        <a:rPr sz="2000" i="1" dirty="0">
                          <a:latin typeface="Arial"/>
                          <a:cs typeface="Arial"/>
                        </a:rPr>
                        <a:t>)  </a:t>
                      </a:r>
                      <a:r>
                        <a:rPr sz="2000" i="1" spc="-15" dirty="0">
                          <a:latin typeface="Arial"/>
                          <a:cs typeface="Arial"/>
                        </a:rPr>
                        <a:t>Time</a:t>
                      </a:r>
                      <a:endParaRPr sz="2000" dirty="0">
                        <a:latin typeface="Arial"/>
                        <a:cs typeface="Arial"/>
                      </a:endParaRPr>
                    </a:p>
                  </a:txBody>
                  <a:tcPr marL="0" marR="0" marT="9525" marB="0">
                    <a:lnB w="38100">
                      <a:solidFill>
                        <a:srgbClr val="000000"/>
                      </a:solidFill>
                      <a:prstDash val="solid"/>
                    </a:lnB>
                    <a:solidFill>
                      <a:srgbClr val="F7FAFF"/>
                    </a:solidFill>
                  </a:tcPr>
                </a:tc>
                <a:tc>
                  <a:txBody>
                    <a:bodyPr/>
                    <a:lstStyle/>
                    <a:p>
                      <a:pPr marL="330200">
                        <a:lnSpc>
                          <a:spcPts val="2280"/>
                        </a:lnSpc>
                        <a:spcBef>
                          <a:spcPts val="1960"/>
                        </a:spcBef>
                      </a:pPr>
                      <a:r>
                        <a:rPr sz="2000" i="1" spc="-10" dirty="0">
                          <a:latin typeface="Arial"/>
                          <a:cs typeface="Arial"/>
                        </a:rPr>
                        <a:t>Flow</a:t>
                      </a:r>
                      <a:endParaRPr sz="2000">
                        <a:latin typeface="Arial"/>
                        <a:cs typeface="Arial"/>
                      </a:endParaRPr>
                    </a:p>
                    <a:p>
                      <a:pPr marL="318135">
                        <a:lnSpc>
                          <a:spcPts val="2280"/>
                        </a:lnSpc>
                      </a:pPr>
                      <a:r>
                        <a:rPr sz="2000" i="1" spc="-15" dirty="0">
                          <a:latin typeface="Arial"/>
                          <a:cs typeface="Arial"/>
                        </a:rPr>
                        <a:t>Time</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3810" algn="ctr">
                        <a:lnSpc>
                          <a:spcPts val="2280"/>
                        </a:lnSpc>
                        <a:spcBef>
                          <a:spcPts val="1960"/>
                        </a:spcBef>
                      </a:pPr>
                      <a:r>
                        <a:rPr sz="2000" i="1" spc="-5" dirty="0">
                          <a:latin typeface="Arial"/>
                          <a:cs typeface="Arial"/>
                        </a:rPr>
                        <a:t>Job</a:t>
                      </a:r>
                      <a:r>
                        <a:rPr sz="2000" i="1" spc="-30" dirty="0">
                          <a:latin typeface="Arial"/>
                          <a:cs typeface="Arial"/>
                        </a:rPr>
                        <a:t> </a:t>
                      </a:r>
                      <a:r>
                        <a:rPr sz="2000" i="1" spc="-5" dirty="0">
                          <a:latin typeface="Arial"/>
                          <a:cs typeface="Arial"/>
                        </a:rPr>
                        <a:t>Due</a:t>
                      </a:r>
                      <a:endParaRPr sz="2000">
                        <a:latin typeface="Arial"/>
                        <a:cs typeface="Arial"/>
                      </a:endParaRPr>
                    </a:p>
                    <a:p>
                      <a:pPr marL="3810" algn="ctr">
                        <a:lnSpc>
                          <a:spcPts val="2280"/>
                        </a:lnSpc>
                      </a:pPr>
                      <a:r>
                        <a:rPr sz="2000" i="1" spc="-5" dirty="0">
                          <a:latin typeface="Arial"/>
                          <a:cs typeface="Arial"/>
                        </a:rPr>
                        <a:t>Date</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8255" algn="ctr">
                        <a:lnSpc>
                          <a:spcPts val="2280"/>
                        </a:lnSpc>
                        <a:spcBef>
                          <a:spcPts val="1960"/>
                        </a:spcBef>
                      </a:pPr>
                      <a:r>
                        <a:rPr sz="2000" i="1" spc="-5" dirty="0">
                          <a:latin typeface="Arial"/>
                          <a:cs typeface="Arial"/>
                        </a:rPr>
                        <a:t>Job</a:t>
                      </a:r>
                      <a:endParaRPr sz="2000">
                        <a:latin typeface="Arial"/>
                        <a:cs typeface="Arial"/>
                      </a:endParaRPr>
                    </a:p>
                    <a:p>
                      <a:pPr marL="9525" algn="ctr">
                        <a:lnSpc>
                          <a:spcPts val="2280"/>
                        </a:lnSpc>
                      </a:pPr>
                      <a:r>
                        <a:rPr sz="2000" i="1" spc="-5" dirty="0">
                          <a:latin typeface="Arial"/>
                          <a:cs typeface="Arial"/>
                        </a:rPr>
                        <a:t>Lateness</a:t>
                      </a:r>
                      <a:endParaRPr sz="2000">
                        <a:latin typeface="Arial"/>
                        <a:cs typeface="Arial"/>
                      </a:endParaRPr>
                    </a:p>
                  </a:txBody>
                  <a:tcPr marL="0" marR="0" marT="248920" marB="0">
                    <a:lnB w="38100">
                      <a:solidFill>
                        <a:srgbClr val="000000"/>
                      </a:solidFill>
                      <a:prstDash val="solid"/>
                    </a:lnB>
                    <a:solidFill>
                      <a:srgbClr val="F7FAFF"/>
                    </a:solidFill>
                  </a:tcPr>
                </a:tc>
                <a:extLst>
                  <a:ext uri="{0D108BD9-81ED-4DB2-BD59-A6C34878D82A}">
                    <a16:rowId xmlns:a16="http://schemas.microsoft.com/office/drawing/2014/main" val="10000"/>
                  </a:ext>
                </a:extLst>
              </a:tr>
              <a:tr h="461010">
                <a:tc>
                  <a:txBody>
                    <a:bodyPr/>
                    <a:lstStyle/>
                    <a:p>
                      <a:pPr marL="683895">
                        <a:lnSpc>
                          <a:spcPct val="100000"/>
                        </a:lnSpc>
                        <a:spcBef>
                          <a:spcPts val="434"/>
                        </a:spcBef>
                      </a:pPr>
                      <a:r>
                        <a:rPr sz="2000" i="1" dirty="0">
                          <a:latin typeface="Arial"/>
                          <a:cs typeface="Arial"/>
                        </a:rPr>
                        <a:t>A</a:t>
                      </a:r>
                      <a:endParaRPr sz="2000">
                        <a:latin typeface="Arial"/>
                        <a:cs typeface="Arial"/>
                      </a:endParaRPr>
                    </a:p>
                  </a:txBody>
                  <a:tcPr marL="0" marR="0" marT="55244" marB="0">
                    <a:lnT w="38100">
                      <a:solidFill>
                        <a:srgbClr val="000000"/>
                      </a:solidFill>
                      <a:prstDash val="solid"/>
                    </a:lnT>
                    <a:solidFill>
                      <a:srgbClr val="A4DF00"/>
                    </a:solidFill>
                  </a:tcPr>
                </a:tc>
                <a:tc>
                  <a:txBody>
                    <a:bodyPr/>
                    <a:lstStyle/>
                    <a:p>
                      <a:pPr marR="890269" algn="r">
                        <a:lnSpc>
                          <a:spcPct val="100000"/>
                        </a:lnSpc>
                        <a:spcBef>
                          <a:spcPts val="434"/>
                        </a:spcBef>
                      </a:pPr>
                      <a:r>
                        <a:rPr sz="2000" dirty="0">
                          <a:latin typeface="Arial"/>
                          <a:cs typeface="Arial"/>
                        </a:rPr>
                        <a:t>6</a:t>
                      </a:r>
                      <a:endParaRPr sz="2000">
                        <a:latin typeface="Arial"/>
                        <a:cs typeface="Arial"/>
                      </a:endParaRPr>
                    </a:p>
                  </a:txBody>
                  <a:tcPr marL="0" marR="0" marT="55244" marB="0">
                    <a:lnT w="38100">
                      <a:solidFill>
                        <a:srgbClr val="000000"/>
                      </a:solidFill>
                      <a:prstDash val="solid"/>
                    </a:lnT>
                    <a:solidFill>
                      <a:srgbClr val="A4DF00"/>
                    </a:solidFill>
                  </a:tcPr>
                </a:tc>
                <a:tc>
                  <a:txBody>
                    <a:bodyPr/>
                    <a:lstStyle/>
                    <a:p>
                      <a:pPr marR="370205" algn="r">
                        <a:lnSpc>
                          <a:spcPct val="100000"/>
                        </a:lnSpc>
                        <a:spcBef>
                          <a:spcPts val="434"/>
                        </a:spcBef>
                      </a:pPr>
                      <a:r>
                        <a:rPr sz="2000" dirty="0">
                          <a:latin typeface="Arial"/>
                          <a:cs typeface="Arial"/>
                        </a:rPr>
                        <a:t>6</a:t>
                      </a:r>
                      <a:endParaRPr sz="2000">
                        <a:latin typeface="Arial"/>
                        <a:cs typeface="Arial"/>
                      </a:endParaRPr>
                    </a:p>
                  </a:txBody>
                  <a:tcPr marL="0" marR="0" marT="55244" marB="0">
                    <a:lnT w="38100">
                      <a:solidFill>
                        <a:srgbClr val="000000"/>
                      </a:solidFill>
                      <a:prstDash val="solid"/>
                    </a:lnT>
                  </a:tcPr>
                </a:tc>
                <a:tc>
                  <a:txBody>
                    <a:bodyPr/>
                    <a:lstStyle/>
                    <a:p>
                      <a:pPr marR="563880" algn="r">
                        <a:lnSpc>
                          <a:spcPct val="100000"/>
                        </a:lnSpc>
                        <a:spcBef>
                          <a:spcPts val="434"/>
                        </a:spcBef>
                      </a:pPr>
                      <a:r>
                        <a:rPr sz="2000" dirty="0">
                          <a:latin typeface="Arial"/>
                          <a:cs typeface="Arial"/>
                        </a:rPr>
                        <a:t>8</a:t>
                      </a:r>
                      <a:endParaRPr sz="2000">
                        <a:latin typeface="Arial"/>
                        <a:cs typeface="Arial"/>
                      </a:endParaRPr>
                    </a:p>
                  </a:txBody>
                  <a:tcPr marL="0" marR="0" marT="55244" marB="0">
                    <a:lnT w="38100">
                      <a:solidFill>
                        <a:srgbClr val="000000"/>
                      </a:solidFill>
                      <a:prstDash val="solid"/>
                    </a:lnT>
                  </a:tcPr>
                </a:tc>
                <a:tc>
                  <a:txBody>
                    <a:bodyPr/>
                    <a:lstStyle/>
                    <a:p>
                      <a:pPr marR="521970" algn="r">
                        <a:lnSpc>
                          <a:spcPct val="100000"/>
                        </a:lnSpc>
                        <a:spcBef>
                          <a:spcPts val="434"/>
                        </a:spcBef>
                      </a:pPr>
                      <a:r>
                        <a:rPr sz="2000" dirty="0">
                          <a:latin typeface="Arial"/>
                          <a:cs typeface="Arial"/>
                        </a:rPr>
                        <a:t>0</a:t>
                      </a:r>
                      <a:endParaRPr sz="2000">
                        <a:latin typeface="Arial"/>
                        <a:cs typeface="Arial"/>
                      </a:endParaRPr>
                    </a:p>
                  </a:txBody>
                  <a:tcPr marL="0" marR="0" marT="55244" marB="0">
                    <a:lnT w="38100">
                      <a:solidFill>
                        <a:srgbClr val="000000"/>
                      </a:solidFill>
                      <a:prstDash val="solid"/>
                    </a:lnT>
                  </a:tcPr>
                </a:tc>
                <a:extLst>
                  <a:ext uri="{0D108BD9-81ED-4DB2-BD59-A6C34878D82A}">
                    <a16:rowId xmlns:a16="http://schemas.microsoft.com/office/drawing/2014/main" val="10001"/>
                  </a:ext>
                </a:extLst>
              </a:tr>
              <a:tr h="443229">
                <a:tc>
                  <a:txBody>
                    <a:bodyPr/>
                    <a:lstStyle/>
                    <a:p>
                      <a:pPr marL="683895">
                        <a:lnSpc>
                          <a:spcPct val="100000"/>
                        </a:lnSpc>
                        <a:spcBef>
                          <a:spcPts val="355"/>
                        </a:spcBef>
                      </a:pPr>
                      <a:r>
                        <a:rPr sz="2000" i="1" dirty="0">
                          <a:latin typeface="Arial"/>
                          <a:cs typeface="Arial"/>
                        </a:rPr>
                        <a:t>B</a:t>
                      </a:r>
                      <a:endParaRPr sz="2000">
                        <a:latin typeface="Arial"/>
                        <a:cs typeface="Arial"/>
                      </a:endParaRPr>
                    </a:p>
                  </a:txBody>
                  <a:tcPr marL="0" marR="0" marT="45085" marB="0">
                    <a:lnB w="6350">
                      <a:solidFill>
                        <a:srgbClr val="FFFFFF"/>
                      </a:solidFill>
                      <a:prstDash val="solid"/>
                    </a:lnB>
                    <a:solidFill>
                      <a:srgbClr val="F400F4"/>
                    </a:solidFill>
                  </a:tcPr>
                </a:tc>
                <a:tc>
                  <a:txBody>
                    <a:bodyPr/>
                    <a:lstStyle/>
                    <a:p>
                      <a:pPr marR="890269" algn="r">
                        <a:lnSpc>
                          <a:spcPct val="100000"/>
                        </a:lnSpc>
                        <a:spcBef>
                          <a:spcPts val="355"/>
                        </a:spcBef>
                      </a:pPr>
                      <a:r>
                        <a:rPr sz="2000" dirty="0">
                          <a:latin typeface="Arial"/>
                          <a:cs typeface="Arial"/>
                        </a:rPr>
                        <a:t>2</a:t>
                      </a:r>
                      <a:endParaRPr sz="2000">
                        <a:latin typeface="Arial"/>
                        <a:cs typeface="Arial"/>
                      </a:endParaRPr>
                    </a:p>
                  </a:txBody>
                  <a:tcPr marL="0" marR="0" marT="45085" marB="0">
                    <a:solidFill>
                      <a:srgbClr val="F7FAFF"/>
                    </a:solidFill>
                  </a:tcPr>
                </a:tc>
                <a:tc>
                  <a:txBody>
                    <a:bodyPr/>
                    <a:lstStyle/>
                    <a:p>
                      <a:pPr marR="370205" algn="r">
                        <a:lnSpc>
                          <a:spcPct val="100000"/>
                        </a:lnSpc>
                        <a:spcBef>
                          <a:spcPts val="355"/>
                        </a:spcBef>
                      </a:pPr>
                      <a:r>
                        <a:rPr sz="2000" dirty="0">
                          <a:latin typeface="Arial"/>
                          <a:cs typeface="Arial"/>
                        </a:rPr>
                        <a:t>8</a:t>
                      </a:r>
                      <a:endParaRPr sz="2000">
                        <a:latin typeface="Arial"/>
                        <a:cs typeface="Arial"/>
                      </a:endParaRPr>
                    </a:p>
                  </a:txBody>
                  <a:tcPr marL="0" marR="0" marT="45085" marB="0">
                    <a:solidFill>
                      <a:srgbClr val="F7FAFF"/>
                    </a:solidFill>
                  </a:tcPr>
                </a:tc>
                <a:tc>
                  <a:txBody>
                    <a:bodyPr/>
                    <a:lstStyle/>
                    <a:p>
                      <a:pPr marR="563880" algn="r">
                        <a:lnSpc>
                          <a:spcPct val="100000"/>
                        </a:lnSpc>
                        <a:spcBef>
                          <a:spcPts val="355"/>
                        </a:spcBef>
                      </a:pPr>
                      <a:r>
                        <a:rPr sz="2000" dirty="0">
                          <a:latin typeface="Arial"/>
                          <a:cs typeface="Arial"/>
                        </a:rPr>
                        <a:t>6</a:t>
                      </a:r>
                      <a:endParaRPr sz="2000">
                        <a:latin typeface="Arial"/>
                        <a:cs typeface="Arial"/>
                      </a:endParaRPr>
                    </a:p>
                  </a:txBody>
                  <a:tcPr marL="0" marR="0" marT="45085" marB="0">
                    <a:solidFill>
                      <a:srgbClr val="F7FAFF"/>
                    </a:solidFill>
                  </a:tcPr>
                </a:tc>
                <a:tc>
                  <a:txBody>
                    <a:bodyPr/>
                    <a:lstStyle/>
                    <a:p>
                      <a:pPr marR="521970" algn="r">
                        <a:lnSpc>
                          <a:spcPct val="100000"/>
                        </a:lnSpc>
                        <a:spcBef>
                          <a:spcPts val="355"/>
                        </a:spcBef>
                      </a:pPr>
                      <a:r>
                        <a:rPr sz="2000" dirty="0">
                          <a:latin typeface="Arial"/>
                          <a:cs typeface="Arial"/>
                        </a:rPr>
                        <a:t>2</a:t>
                      </a:r>
                      <a:endParaRPr sz="2000">
                        <a:latin typeface="Arial"/>
                        <a:cs typeface="Arial"/>
                      </a:endParaRPr>
                    </a:p>
                  </a:txBody>
                  <a:tcPr marL="0" marR="0" marT="45085" marB="0">
                    <a:solidFill>
                      <a:srgbClr val="F7FAFF"/>
                    </a:solidFill>
                  </a:tcPr>
                </a:tc>
                <a:extLst>
                  <a:ext uri="{0D108BD9-81ED-4DB2-BD59-A6C34878D82A}">
                    <a16:rowId xmlns:a16="http://schemas.microsoft.com/office/drawing/2014/main" val="10002"/>
                  </a:ext>
                </a:extLst>
              </a:tr>
              <a:tr h="444754">
                <a:tc>
                  <a:txBody>
                    <a:bodyPr/>
                    <a:lstStyle/>
                    <a:p>
                      <a:pPr marL="674370">
                        <a:lnSpc>
                          <a:spcPct val="100000"/>
                        </a:lnSpc>
                        <a:spcBef>
                          <a:spcPts val="370"/>
                        </a:spcBef>
                      </a:pPr>
                      <a:r>
                        <a:rPr sz="2000" i="1" dirty="0">
                          <a:latin typeface="Arial"/>
                          <a:cs typeface="Arial"/>
                        </a:rPr>
                        <a:t>C</a:t>
                      </a:r>
                      <a:endParaRPr sz="2000">
                        <a:latin typeface="Arial"/>
                        <a:cs typeface="Arial"/>
                      </a:endParaRPr>
                    </a:p>
                  </a:txBody>
                  <a:tcPr marL="0" marR="0" marT="46990" marB="0">
                    <a:lnT w="6350">
                      <a:solidFill>
                        <a:srgbClr val="FFFFFF"/>
                      </a:solidFill>
                      <a:prstDash val="solid"/>
                    </a:lnT>
                    <a:lnB w="6350">
                      <a:solidFill>
                        <a:srgbClr val="FFFFFF"/>
                      </a:solidFill>
                      <a:prstDash val="solid"/>
                    </a:lnB>
                    <a:solidFill>
                      <a:srgbClr val="99CCFF"/>
                    </a:solidFill>
                  </a:tcPr>
                </a:tc>
                <a:tc>
                  <a:txBody>
                    <a:bodyPr/>
                    <a:lstStyle/>
                    <a:p>
                      <a:pPr marR="890269" algn="r">
                        <a:lnSpc>
                          <a:spcPct val="100000"/>
                        </a:lnSpc>
                        <a:spcBef>
                          <a:spcPts val="370"/>
                        </a:spcBef>
                      </a:pPr>
                      <a:r>
                        <a:rPr sz="2000" dirty="0">
                          <a:latin typeface="Arial"/>
                          <a:cs typeface="Arial"/>
                        </a:rPr>
                        <a:t>8</a:t>
                      </a:r>
                      <a:endParaRPr sz="2000">
                        <a:latin typeface="Arial"/>
                        <a:cs typeface="Arial"/>
                      </a:endParaRPr>
                    </a:p>
                  </a:txBody>
                  <a:tcPr marL="0" marR="0" marT="46990" marB="0">
                    <a:solidFill>
                      <a:srgbClr val="F7FAFF"/>
                    </a:solidFill>
                  </a:tcPr>
                </a:tc>
                <a:tc>
                  <a:txBody>
                    <a:bodyPr/>
                    <a:lstStyle/>
                    <a:p>
                      <a:pPr marR="370840" algn="r">
                        <a:lnSpc>
                          <a:spcPct val="100000"/>
                        </a:lnSpc>
                        <a:spcBef>
                          <a:spcPts val="370"/>
                        </a:spcBef>
                      </a:pPr>
                      <a:r>
                        <a:rPr sz="2000" spc="-5" dirty="0">
                          <a:latin typeface="Arial"/>
                          <a:cs typeface="Arial"/>
                        </a:rPr>
                        <a:t>16</a:t>
                      </a:r>
                      <a:endParaRPr sz="2000">
                        <a:latin typeface="Arial"/>
                        <a:cs typeface="Arial"/>
                      </a:endParaRPr>
                    </a:p>
                  </a:txBody>
                  <a:tcPr marL="0" marR="0" marT="46990" marB="0">
                    <a:solidFill>
                      <a:srgbClr val="F7FAFF"/>
                    </a:solidFill>
                  </a:tcPr>
                </a:tc>
                <a:tc>
                  <a:txBody>
                    <a:bodyPr/>
                    <a:lstStyle/>
                    <a:p>
                      <a:pPr marR="564515" algn="r">
                        <a:lnSpc>
                          <a:spcPct val="100000"/>
                        </a:lnSpc>
                        <a:spcBef>
                          <a:spcPts val="370"/>
                        </a:spcBef>
                      </a:pPr>
                      <a:r>
                        <a:rPr sz="2000" spc="-5" dirty="0">
                          <a:latin typeface="Arial"/>
                          <a:cs typeface="Arial"/>
                        </a:rPr>
                        <a:t>18</a:t>
                      </a:r>
                      <a:endParaRPr sz="2000">
                        <a:latin typeface="Arial"/>
                        <a:cs typeface="Arial"/>
                      </a:endParaRPr>
                    </a:p>
                  </a:txBody>
                  <a:tcPr marL="0" marR="0" marT="46990" marB="0">
                    <a:solidFill>
                      <a:srgbClr val="F7FAFF"/>
                    </a:solidFill>
                  </a:tcPr>
                </a:tc>
                <a:tc>
                  <a:txBody>
                    <a:bodyPr/>
                    <a:lstStyle/>
                    <a:p>
                      <a:pPr marR="521970" algn="r">
                        <a:lnSpc>
                          <a:spcPct val="100000"/>
                        </a:lnSpc>
                        <a:spcBef>
                          <a:spcPts val="370"/>
                        </a:spcBef>
                      </a:pPr>
                      <a:r>
                        <a:rPr sz="2000" dirty="0">
                          <a:latin typeface="Arial"/>
                          <a:cs typeface="Arial"/>
                        </a:rPr>
                        <a:t>0</a:t>
                      </a:r>
                      <a:endParaRPr sz="2000">
                        <a:latin typeface="Arial"/>
                        <a:cs typeface="Arial"/>
                      </a:endParaRPr>
                    </a:p>
                  </a:txBody>
                  <a:tcPr marL="0" marR="0" marT="46990" marB="0">
                    <a:solidFill>
                      <a:srgbClr val="F7FAFF"/>
                    </a:solidFill>
                  </a:tcPr>
                </a:tc>
                <a:extLst>
                  <a:ext uri="{0D108BD9-81ED-4DB2-BD59-A6C34878D82A}">
                    <a16:rowId xmlns:a16="http://schemas.microsoft.com/office/drawing/2014/main" val="10003"/>
                  </a:ext>
                </a:extLst>
              </a:tr>
              <a:tr h="432054">
                <a:tc>
                  <a:txBody>
                    <a:bodyPr/>
                    <a:lstStyle/>
                    <a:p>
                      <a:pPr marL="674370">
                        <a:lnSpc>
                          <a:spcPct val="100000"/>
                        </a:lnSpc>
                        <a:spcBef>
                          <a:spcPts val="270"/>
                        </a:spcBef>
                      </a:pPr>
                      <a:r>
                        <a:rPr sz="2000" i="1" dirty="0">
                          <a:latin typeface="Arial"/>
                          <a:cs typeface="Arial"/>
                        </a:rPr>
                        <a:t>D</a:t>
                      </a:r>
                      <a:endParaRPr sz="2000">
                        <a:latin typeface="Arial"/>
                        <a:cs typeface="Arial"/>
                      </a:endParaRPr>
                    </a:p>
                  </a:txBody>
                  <a:tcPr marL="0" marR="0" marT="34290" marB="0">
                    <a:lnT w="6350">
                      <a:solidFill>
                        <a:srgbClr val="FFFFFF"/>
                      </a:solidFill>
                      <a:prstDash val="solid"/>
                    </a:lnT>
                    <a:lnB w="38100">
                      <a:solidFill>
                        <a:srgbClr val="FFFFFF"/>
                      </a:solidFill>
                      <a:prstDash val="solid"/>
                    </a:lnB>
                    <a:solidFill>
                      <a:srgbClr val="FFD980"/>
                    </a:solidFill>
                  </a:tcPr>
                </a:tc>
                <a:tc>
                  <a:txBody>
                    <a:bodyPr/>
                    <a:lstStyle/>
                    <a:p>
                      <a:pPr marR="890269" algn="r">
                        <a:lnSpc>
                          <a:spcPct val="100000"/>
                        </a:lnSpc>
                        <a:spcBef>
                          <a:spcPts val="270"/>
                        </a:spcBef>
                      </a:pPr>
                      <a:r>
                        <a:rPr sz="2000" dirty="0">
                          <a:latin typeface="Arial"/>
                          <a:cs typeface="Arial"/>
                        </a:rPr>
                        <a:t>3</a:t>
                      </a:r>
                      <a:endParaRPr sz="2000">
                        <a:latin typeface="Arial"/>
                        <a:cs typeface="Arial"/>
                      </a:endParaRPr>
                    </a:p>
                  </a:txBody>
                  <a:tcPr marL="0" marR="0" marT="34290" marB="0">
                    <a:solidFill>
                      <a:srgbClr val="F7FAFF"/>
                    </a:solidFill>
                  </a:tcPr>
                </a:tc>
                <a:tc>
                  <a:txBody>
                    <a:bodyPr/>
                    <a:lstStyle/>
                    <a:p>
                      <a:pPr marR="370840" algn="r">
                        <a:lnSpc>
                          <a:spcPct val="100000"/>
                        </a:lnSpc>
                        <a:spcBef>
                          <a:spcPts val="270"/>
                        </a:spcBef>
                      </a:pPr>
                      <a:r>
                        <a:rPr sz="2000" spc="-5" dirty="0">
                          <a:latin typeface="Arial"/>
                          <a:cs typeface="Arial"/>
                        </a:rPr>
                        <a:t>19</a:t>
                      </a:r>
                      <a:endParaRPr sz="2000">
                        <a:latin typeface="Arial"/>
                        <a:cs typeface="Arial"/>
                      </a:endParaRPr>
                    </a:p>
                  </a:txBody>
                  <a:tcPr marL="0" marR="0" marT="34290" marB="0">
                    <a:solidFill>
                      <a:srgbClr val="F7FAFF"/>
                    </a:solidFill>
                  </a:tcPr>
                </a:tc>
                <a:tc>
                  <a:txBody>
                    <a:bodyPr/>
                    <a:lstStyle/>
                    <a:p>
                      <a:pPr marR="564515" algn="r">
                        <a:lnSpc>
                          <a:spcPct val="100000"/>
                        </a:lnSpc>
                        <a:spcBef>
                          <a:spcPts val="270"/>
                        </a:spcBef>
                      </a:pPr>
                      <a:r>
                        <a:rPr sz="2000" spc="-5" dirty="0">
                          <a:latin typeface="Arial"/>
                          <a:cs typeface="Arial"/>
                        </a:rPr>
                        <a:t>15</a:t>
                      </a:r>
                      <a:endParaRPr sz="2000">
                        <a:latin typeface="Arial"/>
                        <a:cs typeface="Arial"/>
                      </a:endParaRPr>
                    </a:p>
                  </a:txBody>
                  <a:tcPr marL="0" marR="0" marT="34290" marB="0">
                    <a:solidFill>
                      <a:srgbClr val="F7FAFF"/>
                    </a:solidFill>
                  </a:tcPr>
                </a:tc>
                <a:tc>
                  <a:txBody>
                    <a:bodyPr/>
                    <a:lstStyle/>
                    <a:p>
                      <a:pPr marR="521970" algn="r">
                        <a:lnSpc>
                          <a:spcPct val="100000"/>
                        </a:lnSpc>
                        <a:spcBef>
                          <a:spcPts val="270"/>
                        </a:spcBef>
                      </a:pPr>
                      <a:r>
                        <a:rPr sz="2000" dirty="0">
                          <a:latin typeface="Arial"/>
                          <a:cs typeface="Arial"/>
                        </a:rPr>
                        <a:t>4</a:t>
                      </a:r>
                      <a:endParaRPr sz="2000">
                        <a:latin typeface="Arial"/>
                        <a:cs typeface="Arial"/>
                      </a:endParaRPr>
                    </a:p>
                  </a:txBody>
                  <a:tcPr marL="0" marR="0" marT="34290" marB="0">
                    <a:solidFill>
                      <a:srgbClr val="F7FAFF"/>
                    </a:solidFill>
                  </a:tcPr>
                </a:tc>
                <a:extLst>
                  <a:ext uri="{0D108BD9-81ED-4DB2-BD59-A6C34878D82A}">
                    <a16:rowId xmlns:a16="http://schemas.microsoft.com/office/drawing/2014/main" val="10004"/>
                  </a:ext>
                </a:extLst>
              </a:tr>
              <a:tr h="443960">
                <a:tc>
                  <a:txBody>
                    <a:bodyPr/>
                    <a:lstStyle/>
                    <a:p>
                      <a:pPr marL="683895">
                        <a:lnSpc>
                          <a:spcPct val="100000"/>
                        </a:lnSpc>
                        <a:spcBef>
                          <a:spcPts val="320"/>
                        </a:spcBef>
                      </a:pPr>
                      <a:r>
                        <a:rPr sz="2000" i="1" dirty="0">
                          <a:latin typeface="Arial"/>
                          <a:cs typeface="Arial"/>
                        </a:rPr>
                        <a:t>E</a:t>
                      </a:r>
                      <a:endParaRPr sz="2000">
                        <a:latin typeface="Arial"/>
                        <a:cs typeface="Arial"/>
                      </a:endParaRPr>
                    </a:p>
                  </a:txBody>
                  <a:tcPr marL="0" marR="0" marT="40640" marB="0">
                    <a:lnT w="38100">
                      <a:solidFill>
                        <a:srgbClr val="FFFFFF"/>
                      </a:solidFill>
                      <a:prstDash val="solid"/>
                    </a:lnT>
                    <a:solidFill>
                      <a:srgbClr val="808080"/>
                    </a:solidFill>
                  </a:tcPr>
                </a:tc>
                <a:tc>
                  <a:txBody>
                    <a:bodyPr/>
                    <a:lstStyle/>
                    <a:p>
                      <a:pPr marR="890269" algn="r">
                        <a:lnSpc>
                          <a:spcPct val="100000"/>
                        </a:lnSpc>
                        <a:spcBef>
                          <a:spcPts val="320"/>
                        </a:spcBef>
                      </a:pPr>
                      <a:r>
                        <a:rPr sz="2000" dirty="0">
                          <a:latin typeface="Arial"/>
                          <a:cs typeface="Arial"/>
                        </a:rPr>
                        <a:t>9</a:t>
                      </a:r>
                      <a:endParaRPr sz="2000">
                        <a:latin typeface="Arial"/>
                        <a:cs typeface="Arial"/>
                      </a:endParaRPr>
                    </a:p>
                  </a:txBody>
                  <a:tcPr marL="0" marR="0" marT="40640" marB="0">
                    <a:lnB w="38100">
                      <a:solidFill>
                        <a:srgbClr val="000000"/>
                      </a:solidFill>
                      <a:prstDash val="solid"/>
                    </a:lnB>
                    <a:solidFill>
                      <a:srgbClr val="F7FAFF"/>
                    </a:solidFill>
                  </a:tcPr>
                </a:tc>
                <a:tc>
                  <a:txBody>
                    <a:bodyPr/>
                    <a:lstStyle/>
                    <a:p>
                      <a:pPr marR="370840" algn="r">
                        <a:lnSpc>
                          <a:spcPct val="100000"/>
                        </a:lnSpc>
                        <a:spcBef>
                          <a:spcPts val="320"/>
                        </a:spcBef>
                      </a:pPr>
                      <a:r>
                        <a:rPr sz="2000" spc="-5" dirty="0">
                          <a:latin typeface="Arial"/>
                          <a:cs typeface="Arial"/>
                        </a:rPr>
                        <a:t>28</a:t>
                      </a:r>
                      <a:endParaRPr sz="2000">
                        <a:latin typeface="Arial"/>
                        <a:cs typeface="Arial"/>
                      </a:endParaRPr>
                    </a:p>
                  </a:txBody>
                  <a:tcPr marL="0" marR="0" marT="40640" marB="0">
                    <a:lnB w="38100">
                      <a:solidFill>
                        <a:srgbClr val="000000"/>
                      </a:solidFill>
                      <a:prstDash val="solid"/>
                    </a:lnB>
                    <a:solidFill>
                      <a:srgbClr val="F7FAFF"/>
                    </a:solidFill>
                  </a:tcPr>
                </a:tc>
                <a:tc>
                  <a:txBody>
                    <a:bodyPr/>
                    <a:lstStyle/>
                    <a:p>
                      <a:pPr marR="564515" algn="r">
                        <a:lnSpc>
                          <a:spcPct val="100000"/>
                        </a:lnSpc>
                        <a:spcBef>
                          <a:spcPts val="320"/>
                        </a:spcBef>
                      </a:pPr>
                      <a:r>
                        <a:rPr sz="2000" spc="-5" dirty="0">
                          <a:latin typeface="Arial"/>
                          <a:cs typeface="Arial"/>
                        </a:rPr>
                        <a:t>23</a:t>
                      </a:r>
                      <a:endParaRPr sz="2000">
                        <a:latin typeface="Arial"/>
                        <a:cs typeface="Arial"/>
                      </a:endParaRPr>
                    </a:p>
                  </a:txBody>
                  <a:tcPr marL="0" marR="0" marT="40640" marB="0">
                    <a:lnB w="28575">
                      <a:solidFill>
                        <a:srgbClr val="808080"/>
                      </a:solidFill>
                      <a:prstDash val="solid"/>
                    </a:lnB>
                    <a:solidFill>
                      <a:srgbClr val="F7FAFF"/>
                    </a:solidFill>
                  </a:tcPr>
                </a:tc>
                <a:tc>
                  <a:txBody>
                    <a:bodyPr/>
                    <a:lstStyle/>
                    <a:p>
                      <a:pPr marR="521970" algn="r">
                        <a:lnSpc>
                          <a:spcPct val="100000"/>
                        </a:lnSpc>
                        <a:spcBef>
                          <a:spcPts val="320"/>
                        </a:spcBef>
                      </a:pPr>
                      <a:r>
                        <a:rPr sz="2000" dirty="0">
                          <a:latin typeface="Arial"/>
                          <a:cs typeface="Arial"/>
                        </a:rPr>
                        <a:t>5</a:t>
                      </a:r>
                      <a:endParaRPr sz="2000">
                        <a:latin typeface="Arial"/>
                        <a:cs typeface="Arial"/>
                      </a:endParaRPr>
                    </a:p>
                  </a:txBody>
                  <a:tcPr marL="0" marR="0" marT="40640" marB="0">
                    <a:lnB w="38100">
                      <a:solidFill>
                        <a:srgbClr val="000000"/>
                      </a:solidFill>
                      <a:prstDash val="solid"/>
                    </a:lnB>
                    <a:solidFill>
                      <a:srgbClr val="F7FAFF"/>
                    </a:solidFill>
                  </a:tcPr>
                </a:tc>
                <a:extLst>
                  <a:ext uri="{0D108BD9-81ED-4DB2-BD59-A6C34878D82A}">
                    <a16:rowId xmlns:a16="http://schemas.microsoft.com/office/drawing/2014/main" val="10005"/>
                  </a:ext>
                </a:extLst>
              </a:tr>
              <a:tr h="355394">
                <a:tc>
                  <a:txBody>
                    <a:bodyPr/>
                    <a:lstStyle/>
                    <a:p>
                      <a:pPr>
                        <a:lnSpc>
                          <a:spcPct val="100000"/>
                        </a:lnSpc>
                      </a:pPr>
                      <a:endParaRPr sz="2200">
                        <a:latin typeface="Times New Roman"/>
                        <a:cs typeface="Times New Roman"/>
                      </a:endParaRPr>
                    </a:p>
                  </a:txBody>
                  <a:tcPr marL="0" marR="0" marT="0" marB="0">
                    <a:solidFill>
                      <a:srgbClr val="F7FAFF"/>
                    </a:solidFill>
                  </a:tcPr>
                </a:tc>
                <a:tc>
                  <a:txBody>
                    <a:bodyPr/>
                    <a:lstStyle/>
                    <a:p>
                      <a:pPr marR="890905" algn="r">
                        <a:lnSpc>
                          <a:spcPts val="2320"/>
                        </a:lnSpc>
                        <a:spcBef>
                          <a:spcPts val="375"/>
                        </a:spcBef>
                      </a:pPr>
                      <a:r>
                        <a:rPr sz="2000" spc="-5" dirty="0">
                          <a:latin typeface="Arial"/>
                          <a:cs typeface="Arial"/>
                        </a:rPr>
                        <a:t>28</a:t>
                      </a:r>
                      <a:endParaRPr sz="2000">
                        <a:latin typeface="Arial"/>
                        <a:cs typeface="Arial"/>
                      </a:endParaRPr>
                    </a:p>
                  </a:txBody>
                  <a:tcPr marL="0" marR="0" marT="47625" marB="0">
                    <a:lnT w="38100">
                      <a:solidFill>
                        <a:srgbClr val="000000"/>
                      </a:solidFill>
                      <a:prstDash val="solid"/>
                    </a:lnT>
                    <a:solidFill>
                      <a:srgbClr val="F7FAFF"/>
                    </a:solidFill>
                  </a:tcPr>
                </a:tc>
                <a:tc>
                  <a:txBody>
                    <a:bodyPr/>
                    <a:lstStyle/>
                    <a:p>
                      <a:pPr marR="370840" algn="r">
                        <a:lnSpc>
                          <a:spcPts val="2320"/>
                        </a:lnSpc>
                        <a:spcBef>
                          <a:spcPts val="375"/>
                        </a:spcBef>
                      </a:pPr>
                      <a:r>
                        <a:rPr sz="2000" spc="-5" dirty="0">
                          <a:latin typeface="Arial"/>
                          <a:cs typeface="Arial"/>
                        </a:rPr>
                        <a:t>77</a:t>
                      </a:r>
                      <a:endParaRPr sz="2000">
                        <a:latin typeface="Arial"/>
                        <a:cs typeface="Arial"/>
                      </a:endParaRPr>
                    </a:p>
                  </a:txBody>
                  <a:tcPr marL="0" marR="0" marT="47625" marB="0">
                    <a:lnT w="38100">
                      <a:solidFill>
                        <a:srgbClr val="000000"/>
                      </a:solidFill>
                      <a:prstDash val="solid"/>
                    </a:lnT>
                    <a:solidFill>
                      <a:srgbClr val="F7FAFF"/>
                    </a:solidFill>
                  </a:tcPr>
                </a:tc>
                <a:tc>
                  <a:txBody>
                    <a:bodyPr/>
                    <a:lstStyle/>
                    <a:p>
                      <a:pPr>
                        <a:lnSpc>
                          <a:spcPct val="100000"/>
                        </a:lnSpc>
                      </a:pPr>
                      <a:endParaRPr sz="2200">
                        <a:latin typeface="Times New Roman"/>
                        <a:cs typeface="Times New Roman"/>
                      </a:endParaRPr>
                    </a:p>
                  </a:txBody>
                  <a:tcPr marL="0" marR="0" marT="0" marB="0">
                    <a:lnT w="28575">
                      <a:solidFill>
                        <a:srgbClr val="808080"/>
                      </a:solidFill>
                      <a:prstDash val="solid"/>
                    </a:lnT>
                    <a:solidFill>
                      <a:srgbClr val="F7FAFF"/>
                    </a:solidFill>
                  </a:tcPr>
                </a:tc>
                <a:tc>
                  <a:txBody>
                    <a:bodyPr/>
                    <a:lstStyle/>
                    <a:p>
                      <a:pPr marR="541020" algn="r">
                        <a:lnSpc>
                          <a:spcPts val="2320"/>
                        </a:lnSpc>
                        <a:spcBef>
                          <a:spcPts val="375"/>
                        </a:spcBef>
                      </a:pPr>
                      <a:r>
                        <a:rPr sz="2000" spc="-150" dirty="0">
                          <a:latin typeface="Arial"/>
                          <a:cs typeface="Arial"/>
                        </a:rPr>
                        <a:t>11</a:t>
                      </a:r>
                      <a:endParaRPr sz="2000" dirty="0">
                        <a:latin typeface="Arial"/>
                        <a:cs typeface="Arial"/>
                      </a:endParaRPr>
                    </a:p>
                  </a:txBody>
                  <a:tcPr marL="0" marR="0" marT="47625" marB="0">
                    <a:lnT w="38100">
                      <a:solidFill>
                        <a:srgbClr val="000000"/>
                      </a:solidFill>
                      <a:prstDash val="solid"/>
                    </a:lnT>
                    <a:solidFill>
                      <a:srgbClr val="F7FAFF"/>
                    </a:solidFill>
                  </a:tcPr>
                </a:tc>
                <a:extLst>
                  <a:ext uri="{0D108BD9-81ED-4DB2-BD59-A6C34878D82A}">
                    <a16:rowId xmlns:a16="http://schemas.microsoft.com/office/drawing/2014/main" val="10006"/>
                  </a:ext>
                </a:extLst>
              </a:tr>
            </a:tbl>
          </a:graphicData>
        </a:graphic>
      </p:graphicFrame>
      <p:sp>
        <p:nvSpPr>
          <p:cNvPr id="9" name="object 9"/>
          <p:cNvSpPr txBox="1"/>
          <p:nvPr/>
        </p:nvSpPr>
        <p:spPr>
          <a:xfrm>
            <a:off x="736193" y="1610994"/>
            <a:ext cx="4538345" cy="453390"/>
          </a:xfrm>
          <a:prstGeom prst="rect">
            <a:avLst/>
          </a:prstGeom>
        </p:spPr>
        <p:txBody>
          <a:bodyPr vert="horz" wrap="square" lIns="0" tIns="13335" rIns="0" bIns="0" rtlCol="0">
            <a:spAutoFit/>
          </a:bodyPr>
          <a:lstStyle/>
          <a:p>
            <a:pPr marL="12700">
              <a:lnSpc>
                <a:spcPct val="100000"/>
              </a:lnSpc>
              <a:spcBef>
                <a:spcPts val="105"/>
              </a:spcBef>
            </a:pPr>
            <a:r>
              <a:rPr sz="2800" spc="-5" dirty="0">
                <a:latin typeface="Arial"/>
                <a:cs typeface="Arial"/>
              </a:rPr>
              <a:t>FCFS: </a:t>
            </a:r>
            <a:r>
              <a:rPr sz="2800" dirty="0">
                <a:latin typeface="Arial"/>
                <a:cs typeface="Arial"/>
              </a:rPr>
              <a:t>Sequence</a:t>
            </a:r>
            <a:r>
              <a:rPr sz="2800" spc="-204" dirty="0">
                <a:latin typeface="Arial"/>
                <a:cs typeface="Arial"/>
              </a:rPr>
              <a:t> </a:t>
            </a:r>
            <a:r>
              <a:rPr sz="2800" dirty="0">
                <a:latin typeface="Arial"/>
                <a:cs typeface="Arial"/>
              </a:rPr>
              <a:t>A-B-C-D-E</a:t>
            </a:r>
          </a:p>
        </p:txBody>
      </p:sp>
      <p:grpSp>
        <p:nvGrpSpPr>
          <p:cNvPr id="10" name="object 10"/>
          <p:cNvGrpSpPr/>
          <p:nvPr/>
        </p:nvGrpSpPr>
        <p:grpSpPr>
          <a:xfrm>
            <a:off x="12191" y="6437376"/>
            <a:ext cx="1628139" cy="411480"/>
            <a:chOff x="12191" y="6437376"/>
            <a:chExt cx="1628139" cy="411480"/>
          </a:xfrm>
        </p:grpSpPr>
        <p:sp>
          <p:nvSpPr>
            <p:cNvPr id="11" name="object 11"/>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12" name="object 12"/>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13" name="object 13"/>
          <p:cNvGrpSpPr/>
          <p:nvPr/>
        </p:nvGrpSpPr>
        <p:grpSpPr>
          <a:xfrm>
            <a:off x="7491983" y="6437376"/>
            <a:ext cx="1630680" cy="411480"/>
            <a:chOff x="7491983" y="6437376"/>
            <a:chExt cx="1630680" cy="411480"/>
          </a:xfrm>
        </p:grpSpPr>
        <p:sp>
          <p:nvSpPr>
            <p:cNvPr id="14" name="object 14"/>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5" name="object 15"/>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p:cNvSpPr txBox="1">
            <a:spLocks/>
          </p:cNvSpPr>
          <p:nvPr/>
        </p:nvSpPr>
        <p:spPr>
          <a:xfrm>
            <a:off x="687323" y="510540"/>
            <a:ext cx="7772400" cy="927100"/>
          </a:xfrm>
          <a:prstGeom prst="rect">
            <a:avLst/>
          </a:prstGeom>
          <a:solidFill>
            <a:srgbClr val="F7FAFF"/>
          </a:solidFill>
          <a:ln w="9144">
            <a:solidFill>
              <a:srgbClr val="000000"/>
            </a:solidFill>
          </a:ln>
        </p:spPr>
        <p:txBody>
          <a:bodyPr vert="horz" wrap="square" lIns="0" tIns="42545" rIns="0" bIns="0" rtlCol="0">
            <a:spAutoFit/>
          </a:bodyPr>
          <a:lstStyle>
            <a:lvl1pPr>
              <a:defRPr>
                <a:latin typeface="+mj-lt"/>
                <a:ea typeface="+mj-ea"/>
                <a:cs typeface="+mj-cs"/>
              </a:defRPr>
            </a:lvl1pPr>
          </a:lstStyle>
          <a:p>
            <a:pPr algn="ctr">
              <a:spcBef>
                <a:spcPts val="335"/>
              </a:spcBef>
            </a:pPr>
            <a:r>
              <a:rPr lang="en-US" sz="4400" kern="0" spc="-5">
                <a:solidFill>
                  <a:sysClr val="windowText" lastClr="000000"/>
                </a:solidFill>
              </a:rPr>
              <a:t>Sequencing</a:t>
            </a:r>
            <a:r>
              <a:rPr lang="en-US" sz="4400" kern="0" spc="20">
                <a:solidFill>
                  <a:sysClr val="windowText" lastClr="000000"/>
                </a:solidFill>
              </a:rPr>
              <a:t> </a:t>
            </a:r>
            <a:r>
              <a:rPr lang="en-US" sz="4400" kern="0" spc="-5">
                <a:solidFill>
                  <a:sysClr val="windowText" lastClr="000000"/>
                </a:solidFill>
              </a:rPr>
              <a:t>Example</a:t>
            </a:r>
            <a:endParaRPr lang="en-US" sz="4400" kern="0" dirty="0">
              <a:solidFill>
                <a:sysClr val="windowText" lastClr="000000"/>
              </a:solidFill>
            </a:endParaRPr>
          </a:p>
        </p:txBody>
      </p:sp>
      <p:sp>
        <p:nvSpPr>
          <p:cNvPr id="4" name="object 9"/>
          <p:cNvSpPr txBox="1"/>
          <p:nvPr/>
        </p:nvSpPr>
        <p:spPr>
          <a:xfrm>
            <a:off x="736193" y="1610994"/>
            <a:ext cx="4538345" cy="453390"/>
          </a:xfrm>
          <a:prstGeom prst="rect">
            <a:avLst/>
          </a:prstGeom>
        </p:spPr>
        <p:txBody>
          <a:bodyPr vert="horz" wrap="square" lIns="0" tIns="13335" rIns="0" bIns="0" rtlCol="0">
            <a:spAutoFit/>
          </a:bodyPr>
          <a:lstStyle/>
          <a:p>
            <a:pPr marL="12700">
              <a:lnSpc>
                <a:spcPct val="100000"/>
              </a:lnSpc>
              <a:spcBef>
                <a:spcPts val="105"/>
              </a:spcBef>
            </a:pPr>
            <a:r>
              <a:rPr sz="2800" spc="-5" dirty="0">
                <a:latin typeface="Arial"/>
                <a:cs typeface="Arial"/>
              </a:rPr>
              <a:t>FCFS: </a:t>
            </a:r>
            <a:r>
              <a:rPr sz="2800" dirty="0">
                <a:latin typeface="Arial"/>
                <a:cs typeface="Arial"/>
              </a:rPr>
              <a:t>Sequence</a:t>
            </a:r>
            <a:r>
              <a:rPr sz="2800" spc="-204" dirty="0">
                <a:latin typeface="Arial"/>
                <a:cs typeface="Arial"/>
              </a:rPr>
              <a:t> </a:t>
            </a:r>
            <a:r>
              <a:rPr sz="2800" dirty="0">
                <a:latin typeface="Arial"/>
                <a:cs typeface="Arial"/>
              </a:rPr>
              <a:t>A-B-C-D-E</a:t>
            </a:r>
          </a:p>
        </p:txBody>
      </p:sp>
      <p:grpSp>
        <p:nvGrpSpPr>
          <p:cNvPr id="6" name="object 47"/>
          <p:cNvGrpSpPr/>
          <p:nvPr/>
        </p:nvGrpSpPr>
        <p:grpSpPr>
          <a:xfrm>
            <a:off x="341185" y="2456497"/>
            <a:ext cx="8467725" cy="3438525"/>
            <a:chOff x="341185" y="2456497"/>
            <a:chExt cx="8467725" cy="3438525"/>
          </a:xfrm>
        </p:grpSpPr>
        <p:sp>
          <p:nvSpPr>
            <p:cNvPr id="7" name="object 48"/>
            <p:cNvSpPr/>
            <p:nvPr/>
          </p:nvSpPr>
          <p:spPr>
            <a:xfrm>
              <a:off x="345947" y="2461260"/>
              <a:ext cx="8458200" cy="3429000"/>
            </a:xfrm>
            <a:custGeom>
              <a:avLst/>
              <a:gdLst/>
              <a:ahLst/>
              <a:cxnLst/>
              <a:rect l="l" t="t" r="r" b="b"/>
              <a:pathLst>
                <a:path w="8458200" h="3429000">
                  <a:moveTo>
                    <a:pt x="8458200" y="0"/>
                  </a:moveTo>
                  <a:lnTo>
                    <a:pt x="0" y="0"/>
                  </a:lnTo>
                  <a:lnTo>
                    <a:pt x="0" y="3429000"/>
                  </a:lnTo>
                  <a:lnTo>
                    <a:pt x="8458200" y="3429000"/>
                  </a:lnTo>
                  <a:lnTo>
                    <a:pt x="8458200" y="0"/>
                  </a:lnTo>
                  <a:close/>
                </a:path>
              </a:pathLst>
            </a:custGeom>
            <a:solidFill>
              <a:srgbClr val="99CCFF"/>
            </a:solidFill>
          </p:spPr>
          <p:txBody>
            <a:bodyPr wrap="square" lIns="0" tIns="0" rIns="0" bIns="0" rtlCol="0"/>
            <a:lstStyle/>
            <a:p>
              <a:endParaRPr/>
            </a:p>
          </p:txBody>
        </p:sp>
        <p:sp>
          <p:nvSpPr>
            <p:cNvPr id="8" name="object 49"/>
            <p:cNvSpPr/>
            <p:nvPr/>
          </p:nvSpPr>
          <p:spPr>
            <a:xfrm>
              <a:off x="345947" y="2461260"/>
              <a:ext cx="8458200" cy="3429000"/>
            </a:xfrm>
            <a:custGeom>
              <a:avLst/>
              <a:gdLst/>
              <a:ahLst/>
              <a:cxnLst/>
              <a:rect l="l" t="t" r="r" b="b"/>
              <a:pathLst>
                <a:path w="8458200" h="3429000">
                  <a:moveTo>
                    <a:pt x="0" y="3429000"/>
                  </a:moveTo>
                  <a:lnTo>
                    <a:pt x="8458200" y="3429000"/>
                  </a:lnTo>
                  <a:lnTo>
                    <a:pt x="8458200" y="0"/>
                  </a:lnTo>
                  <a:lnTo>
                    <a:pt x="0" y="0"/>
                  </a:lnTo>
                  <a:lnTo>
                    <a:pt x="0" y="3429000"/>
                  </a:lnTo>
                  <a:close/>
                </a:path>
              </a:pathLst>
            </a:custGeom>
            <a:ln w="9144">
              <a:solidFill>
                <a:srgbClr val="000000"/>
              </a:solidFill>
            </a:ln>
          </p:spPr>
          <p:txBody>
            <a:bodyPr wrap="square" lIns="0" tIns="0" rIns="0" bIns="0" rtlCol="0"/>
            <a:lstStyle/>
            <a:p>
              <a:endParaRPr/>
            </a:p>
          </p:txBody>
        </p:sp>
      </p:grpSp>
      <p:sp>
        <p:nvSpPr>
          <p:cNvPr id="10" name="object 50"/>
          <p:cNvSpPr txBox="1"/>
          <p:nvPr/>
        </p:nvSpPr>
        <p:spPr>
          <a:xfrm>
            <a:off x="553516" y="2816098"/>
            <a:ext cx="8037830" cy="329565"/>
          </a:xfrm>
          <a:prstGeom prst="rect">
            <a:avLst/>
          </a:prstGeom>
        </p:spPr>
        <p:txBody>
          <a:bodyPr vert="horz" wrap="square" lIns="0" tIns="11430" rIns="0" bIns="0" rtlCol="0">
            <a:spAutoFit/>
          </a:bodyPr>
          <a:lstStyle/>
          <a:p>
            <a:pPr marL="38100">
              <a:lnSpc>
                <a:spcPct val="100000"/>
              </a:lnSpc>
              <a:spcBef>
                <a:spcPts val="90"/>
              </a:spcBef>
            </a:pPr>
            <a:r>
              <a:rPr lang="en-US" sz="2000" b="1" i="1" spc="-10" dirty="0">
                <a:latin typeface="Arial"/>
                <a:cs typeface="Arial"/>
              </a:rPr>
              <a:t>  </a:t>
            </a:r>
            <a:r>
              <a:rPr sz="2000" b="1" i="1" spc="-10" dirty="0">
                <a:latin typeface="Arial"/>
                <a:cs typeface="Arial"/>
              </a:rPr>
              <a:t>Average </a:t>
            </a:r>
            <a:r>
              <a:rPr sz="2000" b="1" i="1" spc="-5" dirty="0">
                <a:latin typeface="Arial"/>
                <a:cs typeface="Arial"/>
              </a:rPr>
              <a:t>completion time </a:t>
            </a:r>
            <a:r>
              <a:rPr sz="2000" b="1" spc="-5" dirty="0">
                <a:latin typeface="Arial"/>
                <a:cs typeface="Arial"/>
              </a:rPr>
              <a:t>= </a:t>
            </a:r>
            <a:r>
              <a:rPr sz="2700" b="1" i="1" baseline="44753" dirty="0">
                <a:latin typeface="Arial"/>
                <a:cs typeface="Arial"/>
              </a:rPr>
              <a:t>Sum of total flow time </a:t>
            </a:r>
            <a:r>
              <a:rPr sz="2000" b="1" spc="-5" dirty="0">
                <a:latin typeface="Arial"/>
                <a:cs typeface="Arial"/>
              </a:rPr>
              <a:t>=</a:t>
            </a:r>
            <a:endParaRPr sz="2000" dirty="0">
              <a:latin typeface="Arial"/>
              <a:cs typeface="Arial"/>
            </a:endParaRPr>
          </a:p>
        </p:txBody>
      </p:sp>
      <p:sp>
        <p:nvSpPr>
          <p:cNvPr id="11" name="object 51"/>
          <p:cNvSpPr txBox="1"/>
          <p:nvPr/>
        </p:nvSpPr>
        <p:spPr>
          <a:xfrm>
            <a:off x="4269994" y="2960623"/>
            <a:ext cx="1702435" cy="299720"/>
          </a:xfrm>
          <a:prstGeom prst="rect">
            <a:avLst/>
          </a:prstGeom>
        </p:spPr>
        <p:txBody>
          <a:bodyPr vert="horz" wrap="square" lIns="0" tIns="12700" rIns="0" bIns="0" rtlCol="0">
            <a:spAutoFit/>
          </a:bodyPr>
          <a:lstStyle/>
          <a:p>
            <a:pPr marL="12700">
              <a:lnSpc>
                <a:spcPct val="100000"/>
              </a:lnSpc>
              <a:spcBef>
                <a:spcPts val="100"/>
              </a:spcBef>
            </a:pPr>
            <a:r>
              <a:rPr sz="1800" b="1" i="1" dirty="0">
                <a:latin typeface="Arial"/>
                <a:cs typeface="Arial"/>
              </a:rPr>
              <a:t>Number of</a:t>
            </a:r>
            <a:r>
              <a:rPr sz="1800" b="1" i="1" spc="-100" dirty="0">
                <a:latin typeface="Arial"/>
                <a:cs typeface="Arial"/>
              </a:rPr>
              <a:t> </a:t>
            </a:r>
            <a:r>
              <a:rPr sz="1800" b="1" i="1" dirty="0">
                <a:latin typeface="Arial"/>
                <a:cs typeface="Arial"/>
              </a:rPr>
              <a:t>jobs</a:t>
            </a:r>
            <a:endParaRPr sz="1800" dirty="0">
              <a:latin typeface="Arial"/>
              <a:cs typeface="Arial"/>
            </a:endParaRPr>
          </a:p>
        </p:txBody>
      </p:sp>
      <p:cxnSp>
        <p:nvCxnSpPr>
          <p:cNvPr id="5" name="Straight Connector 4"/>
          <p:cNvCxnSpPr/>
          <p:nvPr/>
        </p:nvCxnSpPr>
        <p:spPr>
          <a:xfrm>
            <a:off x="3962400" y="2960623"/>
            <a:ext cx="2209800" cy="0"/>
          </a:xfrm>
          <a:prstGeom prst="line">
            <a:avLst/>
          </a:prstGeom>
        </p:spPr>
        <p:style>
          <a:lnRef idx="3">
            <a:schemeClr val="dk1"/>
          </a:lnRef>
          <a:fillRef idx="0">
            <a:schemeClr val="dk1"/>
          </a:fillRef>
          <a:effectRef idx="2">
            <a:schemeClr val="dk1"/>
          </a:effectRef>
          <a:fontRef idx="minor">
            <a:schemeClr val="tx1"/>
          </a:fontRef>
        </p:style>
      </p:cxnSp>
      <p:sp>
        <p:nvSpPr>
          <p:cNvPr id="13" name="object 54"/>
          <p:cNvSpPr txBox="1"/>
          <p:nvPr/>
        </p:nvSpPr>
        <p:spPr>
          <a:xfrm>
            <a:off x="968713" y="3542539"/>
            <a:ext cx="7473950" cy="1013098"/>
          </a:xfrm>
          <a:prstGeom prst="rect">
            <a:avLst/>
          </a:prstGeom>
        </p:spPr>
        <p:txBody>
          <a:bodyPr vert="horz" wrap="square" lIns="0" tIns="12700" rIns="0" bIns="0" rtlCol="0">
            <a:spAutoFit/>
          </a:bodyPr>
          <a:lstStyle/>
          <a:p>
            <a:pPr marR="372110" algn="ctr">
              <a:lnSpc>
                <a:spcPts val="1795"/>
              </a:lnSpc>
              <a:spcBef>
                <a:spcPts val="100"/>
              </a:spcBef>
            </a:pPr>
            <a:r>
              <a:rPr lang="en-US" sz="1800" b="1" i="1" spc="-15" dirty="0">
                <a:latin typeface="Arial"/>
                <a:cs typeface="Arial"/>
              </a:rPr>
              <a:t>                             </a:t>
            </a:r>
            <a:r>
              <a:rPr sz="1800" b="1" i="1" spc="-15" dirty="0">
                <a:latin typeface="Arial"/>
                <a:cs typeface="Arial"/>
              </a:rPr>
              <a:t>Total </a:t>
            </a:r>
            <a:r>
              <a:rPr sz="1800" b="1" i="1" dirty="0">
                <a:latin typeface="Arial"/>
                <a:cs typeface="Arial"/>
              </a:rPr>
              <a:t>job </a:t>
            </a:r>
            <a:r>
              <a:rPr sz="1800" b="1" i="1" spc="-5" dirty="0">
                <a:latin typeface="Arial"/>
                <a:cs typeface="Arial"/>
              </a:rPr>
              <a:t>work</a:t>
            </a:r>
            <a:r>
              <a:rPr sz="1800" b="1" i="1" spc="-20" dirty="0">
                <a:latin typeface="Arial"/>
                <a:cs typeface="Arial"/>
              </a:rPr>
              <a:t> </a:t>
            </a:r>
            <a:r>
              <a:rPr sz="1800" b="1" i="1" dirty="0">
                <a:latin typeface="Arial"/>
                <a:cs typeface="Arial"/>
              </a:rPr>
              <a:t>time</a:t>
            </a:r>
            <a:endParaRPr sz="1800" dirty="0">
              <a:latin typeface="Arial"/>
              <a:cs typeface="Arial"/>
            </a:endParaRPr>
          </a:p>
          <a:p>
            <a:pPr marL="62865" algn="ctr">
              <a:lnSpc>
                <a:spcPts val="2035"/>
              </a:lnSpc>
            </a:pPr>
            <a:r>
              <a:rPr sz="2000" b="1" i="1" spc="-5" dirty="0">
                <a:latin typeface="Arial"/>
                <a:cs typeface="Arial"/>
              </a:rPr>
              <a:t>Utilization </a:t>
            </a:r>
            <a:r>
              <a:rPr sz="2000" b="1" spc="-5" dirty="0">
                <a:latin typeface="Arial"/>
                <a:cs typeface="Arial"/>
              </a:rPr>
              <a:t>= </a:t>
            </a:r>
            <a:r>
              <a:rPr sz="2700" b="1" i="1" baseline="-23148" dirty="0">
                <a:latin typeface="Arial"/>
                <a:cs typeface="Arial"/>
              </a:rPr>
              <a:t>Sum of total flow time </a:t>
            </a:r>
            <a:r>
              <a:rPr sz="2000" b="1" spc="-5" dirty="0">
                <a:latin typeface="Arial"/>
                <a:cs typeface="Arial"/>
              </a:rPr>
              <a:t>= </a:t>
            </a:r>
            <a:r>
              <a:rPr lang="en-US" sz="2000" b="1" spc="-5" dirty="0">
                <a:latin typeface="Arial"/>
                <a:cs typeface="Arial"/>
              </a:rPr>
              <a:t>                                  </a:t>
            </a:r>
          </a:p>
          <a:p>
            <a:pPr marL="62865" algn="ctr">
              <a:lnSpc>
                <a:spcPts val="2035"/>
              </a:lnSpc>
            </a:pPr>
            <a:endParaRPr lang="en-US" sz="2000" b="1" i="1" spc="-5" baseline="-5555" dirty="0">
              <a:latin typeface="Arial"/>
              <a:cs typeface="Arial"/>
            </a:endParaRPr>
          </a:p>
          <a:p>
            <a:pPr marL="62865" algn="ctr">
              <a:lnSpc>
                <a:spcPts val="2035"/>
              </a:lnSpc>
            </a:pPr>
            <a:r>
              <a:rPr lang="en-US" sz="3000" b="1" spc="-7" dirty="0">
                <a:latin typeface="Arial"/>
                <a:cs typeface="Arial"/>
              </a:rPr>
              <a:t>                   </a:t>
            </a:r>
            <a:r>
              <a:rPr sz="3000" b="1" spc="-7" baseline="-38888" dirty="0">
                <a:latin typeface="Arial"/>
                <a:cs typeface="Arial"/>
              </a:rPr>
              <a:t>=</a:t>
            </a:r>
            <a:r>
              <a:rPr sz="2000" b="1" u="heavy" spc="-5" dirty="0">
                <a:uFill>
                  <a:solidFill>
                    <a:srgbClr val="000000"/>
                  </a:solidFill>
                </a:uFill>
                <a:latin typeface="Arial"/>
                <a:cs typeface="Arial"/>
              </a:rPr>
              <a:t> </a:t>
            </a:r>
            <a:r>
              <a:rPr sz="1800" b="1" i="1" u="heavy" dirty="0">
                <a:uFill>
                  <a:solidFill>
                    <a:srgbClr val="000000"/>
                  </a:solidFill>
                </a:uFill>
                <a:latin typeface="Arial"/>
                <a:cs typeface="Arial"/>
              </a:rPr>
              <a:t>Sum of total flow time</a:t>
            </a:r>
            <a:r>
              <a:rPr sz="1800" b="1" i="1" dirty="0">
                <a:latin typeface="Arial"/>
                <a:cs typeface="Arial"/>
              </a:rPr>
              <a:t> </a:t>
            </a:r>
            <a:r>
              <a:rPr sz="3000" b="1" spc="-7" baseline="-38888" dirty="0">
                <a:latin typeface="Arial"/>
                <a:cs typeface="Arial"/>
              </a:rPr>
              <a:t>=</a:t>
            </a:r>
            <a:endParaRPr sz="3000" baseline="-38888" dirty="0">
              <a:latin typeface="Arial"/>
              <a:cs typeface="Arial"/>
            </a:endParaRPr>
          </a:p>
        </p:txBody>
      </p:sp>
      <p:cxnSp>
        <p:nvCxnSpPr>
          <p:cNvPr id="14" name="Straight Connector 13"/>
          <p:cNvCxnSpPr/>
          <p:nvPr/>
        </p:nvCxnSpPr>
        <p:spPr>
          <a:xfrm>
            <a:off x="4350088" y="3810000"/>
            <a:ext cx="2209800" cy="0"/>
          </a:xfrm>
          <a:prstGeom prst="line">
            <a:avLst/>
          </a:prstGeom>
        </p:spPr>
        <p:style>
          <a:lnRef idx="3">
            <a:schemeClr val="dk1"/>
          </a:lnRef>
          <a:fillRef idx="0">
            <a:schemeClr val="dk1"/>
          </a:fillRef>
          <a:effectRef idx="2">
            <a:schemeClr val="dk1"/>
          </a:effectRef>
          <a:fontRef idx="minor">
            <a:schemeClr val="tx1"/>
          </a:fontRef>
        </p:style>
      </p:cxnSp>
      <p:sp>
        <p:nvSpPr>
          <p:cNvPr id="15" name="object 55"/>
          <p:cNvSpPr txBox="1"/>
          <p:nvPr/>
        </p:nvSpPr>
        <p:spPr>
          <a:xfrm>
            <a:off x="4724400" y="4502524"/>
            <a:ext cx="2099310" cy="299720"/>
          </a:xfrm>
          <a:prstGeom prst="rect">
            <a:avLst/>
          </a:prstGeom>
        </p:spPr>
        <p:txBody>
          <a:bodyPr vert="horz" wrap="square" lIns="0" tIns="12700" rIns="0" bIns="0" rtlCol="0">
            <a:spAutoFit/>
          </a:bodyPr>
          <a:lstStyle/>
          <a:p>
            <a:pPr marL="12700">
              <a:lnSpc>
                <a:spcPct val="100000"/>
              </a:lnSpc>
              <a:spcBef>
                <a:spcPts val="100"/>
              </a:spcBef>
            </a:pPr>
            <a:r>
              <a:rPr sz="1800" b="1" i="1" spc="-15" dirty="0">
                <a:latin typeface="Arial"/>
                <a:cs typeface="Arial"/>
              </a:rPr>
              <a:t>Total </a:t>
            </a:r>
            <a:r>
              <a:rPr sz="1800" b="1" i="1" dirty="0">
                <a:latin typeface="Arial"/>
                <a:cs typeface="Arial"/>
              </a:rPr>
              <a:t>job </a:t>
            </a:r>
            <a:r>
              <a:rPr sz="1800" b="1" i="1" spc="-5" dirty="0">
                <a:latin typeface="Arial"/>
                <a:cs typeface="Arial"/>
              </a:rPr>
              <a:t>work</a:t>
            </a:r>
            <a:r>
              <a:rPr sz="1800" b="1" i="1" spc="-75" dirty="0">
                <a:latin typeface="Arial"/>
                <a:cs typeface="Arial"/>
              </a:rPr>
              <a:t> </a:t>
            </a:r>
            <a:r>
              <a:rPr sz="1800" b="1" i="1" dirty="0">
                <a:latin typeface="Arial"/>
                <a:cs typeface="Arial"/>
              </a:rPr>
              <a:t>time</a:t>
            </a:r>
            <a:endParaRPr sz="1800" dirty="0">
              <a:latin typeface="Arial"/>
              <a:cs typeface="Arial"/>
            </a:endParaRPr>
          </a:p>
        </p:txBody>
      </p:sp>
      <p:sp>
        <p:nvSpPr>
          <p:cNvPr id="16" name="object 56"/>
          <p:cNvSpPr txBox="1"/>
          <p:nvPr/>
        </p:nvSpPr>
        <p:spPr>
          <a:xfrm>
            <a:off x="968713" y="5058166"/>
            <a:ext cx="2783840" cy="329565"/>
          </a:xfrm>
          <a:prstGeom prst="rect">
            <a:avLst/>
          </a:prstGeom>
        </p:spPr>
        <p:txBody>
          <a:bodyPr vert="horz" wrap="square" lIns="0" tIns="12065" rIns="0" bIns="0" rtlCol="0">
            <a:spAutoFit/>
          </a:bodyPr>
          <a:lstStyle/>
          <a:p>
            <a:pPr marL="12700">
              <a:lnSpc>
                <a:spcPct val="100000"/>
              </a:lnSpc>
              <a:spcBef>
                <a:spcPts val="95"/>
              </a:spcBef>
            </a:pPr>
            <a:r>
              <a:rPr sz="2000" b="1" i="1" spc="-5" dirty="0">
                <a:latin typeface="Arial"/>
                <a:cs typeface="Arial"/>
              </a:rPr>
              <a:t>Average job lateness</a:t>
            </a:r>
            <a:r>
              <a:rPr sz="2000" b="1" i="1" spc="-20" dirty="0">
                <a:latin typeface="Arial"/>
                <a:cs typeface="Arial"/>
              </a:rPr>
              <a:t> </a:t>
            </a:r>
            <a:r>
              <a:rPr sz="2000" b="1" spc="-5" dirty="0">
                <a:latin typeface="Arial"/>
                <a:cs typeface="Arial"/>
              </a:rPr>
              <a:t>=</a:t>
            </a:r>
            <a:endParaRPr sz="2000" dirty="0">
              <a:latin typeface="Arial"/>
              <a:cs typeface="Arial"/>
            </a:endParaRPr>
          </a:p>
        </p:txBody>
      </p:sp>
      <p:sp>
        <p:nvSpPr>
          <p:cNvPr id="17" name="object 58"/>
          <p:cNvSpPr txBox="1"/>
          <p:nvPr/>
        </p:nvSpPr>
        <p:spPr>
          <a:xfrm>
            <a:off x="4016311" y="4896654"/>
            <a:ext cx="1702435" cy="629920"/>
          </a:xfrm>
          <a:prstGeom prst="rect">
            <a:avLst/>
          </a:prstGeom>
        </p:spPr>
        <p:txBody>
          <a:bodyPr vert="horz" wrap="square" lIns="0" tIns="40640" rIns="0" bIns="0" rtlCol="0">
            <a:spAutoFit/>
          </a:bodyPr>
          <a:lstStyle/>
          <a:p>
            <a:pPr marL="57785">
              <a:lnSpc>
                <a:spcPct val="100000"/>
              </a:lnSpc>
              <a:spcBef>
                <a:spcPts val="320"/>
              </a:spcBef>
            </a:pPr>
            <a:r>
              <a:rPr sz="1800" b="1" i="1" spc="-15" dirty="0">
                <a:latin typeface="Arial"/>
                <a:cs typeface="Arial"/>
              </a:rPr>
              <a:t>Total </a:t>
            </a:r>
            <a:r>
              <a:rPr sz="1800" b="1" i="1" dirty="0">
                <a:latin typeface="Arial"/>
                <a:cs typeface="Arial"/>
              </a:rPr>
              <a:t>late</a:t>
            </a:r>
            <a:r>
              <a:rPr sz="1800" b="1" i="1" spc="-70" dirty="0">
                <a:latin typeface="Arial"/>
                <a:cs typeface="Arial"/>
              </a:rPr>
              <a:t> </a:t>
            </a:r>
            <a:r>
              <a:rPr sz="1800" b="1" i="1" dirty="0">
                <a:latin typeface="Arial"/>
                <a:cs typeface="Arial"/>
              </a:rPr>
              <a:t>days</a:t>
            </a:r>
            <a:endParaRPr sz="1800" dirty="0">
              <a:latin typeface="Arial"/>
              <a:cs typeface="Arial"/>
            </a:endParaRPr>
          </a:p>
          <a:p>
            <a:pPr marL="12700">
              <a:lnSpc>
                <a:spcPct val="100000"/>
              </a:lnSpc>
              <a:spcBef>
                <a:spcPts val="215"/>
              </a:spcBef>
            </a:pPr>
            <a:r>
              <a:rPr sz="1800" b="1" i="1" dirty="0">
                <a:latin typeface="Arial"/>
                <a:cs typeface="Arial"/>
              </a:rPr>
              <a:t>Number of</a:t>
            </a:r>
            <a:r>
              <a:rPr sz="1800" b="1" i="1" spc="-100" dirty="0">
                <a:latin typeface="Arial"/>
                <a:cs typeface="Arial"/>
              </a:rPr>
              <a:t> </a:t>
            </a:r>
            <a:r>
              <a:rPr sz="1800" b="1" i="1" dirty="0">
                <a:latin typeface="Arial"/>
                <a:cs typeface="Arial"/>
              </a:rPr>
              <a:t>jobs</a:t>
            </a:r>
            <a:endParaRPr sz="1800" dirty="0">
              <a:latin typeface="Arial"/>
              <a:cs typeface="Arial"/>
            </a:endParaRPr>
          </a:p>
        </p:txBody>
      </p:sp>
      <p:cxnSp>
        <p:nvCxnSpPr>
          <p:cNvPr id="18" name="Straight Connector 17"/>
          <p:cNvCxnSpPr/>
          <p:nvPr/>
        </p:nvCxnSpPr>
        <p:spPr>
          <a:xfrm>
            <a:off x="3762629" y="5242743"/>
            <a:ext cx="2209800" cy="0"/>
          </a:xfrm>
          <a:prstGeom prst="line">
            <a:avLst/>
          </a:prstGeom>
        </p:spPr>
        <p:style>
          <a:lnRef idx="3">
            <a:schemeClr val="dk1"/>
          </a:lnRef>
          <a:fillRef idx="0">
            <a:schemeClr val="dk1"/>
          </a:fillRef>
          <a:effectRef idx="2">
            <a:schemeClr val="dk1"/>
          </a:effectRef>
          <a:fontRef idx="minor">
            <a:schemeClr val="tx1"/>
          </a:fontRef>
        </p:style>
      </p:cxnSp>
      <p:sp>
        <p:nvSpPr>
          <p:cNvPr id="9" name="Rectangle 8"/>
          <p:cNvSpPr/>
          <p:nvPr/>
        </p:nvSpPr>
        <p:spPr>
          <a:xfrm>
            <a:off x="6007685" y="5077522"/>
            <a:ext cx="333105" cy="400110"/>
          </a:xfrm>
          <a:prstGeom prst="rect">
            <a:avLst/>
          </a:prstGeom>
        </p:spPr>
        <p:txBody>
          <a:bodyPr wrap="none">
            <a:spAutoFit/>
          </a:bodyPr>
          <a:lstStyle/>
          <a:p>
            <a:r>
              <a:rPr lang="en-US" sz="2000" b="1" spc="-5" dirty="0">
                <a:latin typeface="Arial"/>
                <a:cs typeface="Arial"/>
              </a:rPr>
              <a:t>=</a:t>
            </a:r>
            <a:endParaRPr lang="en-US" sz="2000" dirty="0"/>
          </a:p>
        </p:txBody>
      </p:sp>
      <p:sp>
        <p:nvSpPr>
          <p:cNvPr id="3" name="TextBox 2"/>
          <p:cNvSpPr txBox="1"/>
          <p:nvPr/>
        </p:nvSpPr>
        <p:spPr>
          <a:xfrm>
            <a:off x="1808650" y="4175760"/>
            <a:ext cx="2593594" cy="810478"/>
          </a:xfrm>
          <a:prstGeom prst="rect">
            <a:avLst/>
          </a:prstGeom>
          <a:noFill/>
        </p:spPr>
        <p:txBody>
          <a:bodyPr wrap="square" rtlCol="0">
            <a:spAutoFit/>
          </a:bodyPr>
          <a:lstStyle/>
          <a:p>
            <a:pPr algn="ctr"/>
            <a:r>
              <a:rPr lang="en-US" sz="2800" b="1" i="1" spc="-15" baseline="-5555" dirty="0">
                <a:latin typeface="Arial"/>
                <a:cs typeface="Arial"/>
              </a:rPr>
              <a:t>Average </a:t>
            </a:r>
            <a:r>
              <a:rPr lang="en-US" sz="2800" b="1" i="1" spc="-7" baseline="-5555" dirty="0">
                <a:latin typeface="Arial"/>
                <a:cs typeface="Arial"/>
              </a:rPr>
              <a:t>number of jobs in the system</a:t>
            </a:r>
            <a:endParaRPr lang="en-US" sz="2800" dirty="0"/>
          </a:p>
        </p:txBody>
      </p:sp>
    </p:spTree>
    <p:extLst>
      <p:ext uri="{BB962C8B-B14F-4D97-AF65-F5344CB8AC3E}">
        <p14:creationId xmlns:p14="http://schemas.microsoft.com/office/powerpoint/2010/main" val="135609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25</a:t>
            </a:r>
            <a:endParaRPr sz="900">
              <a:latin typeface="Arial"/>
              <a:cs typeface="Arial"/>
            </a:endParaRPr>
          </a:p>
        </p:txBody>
      </p:sp>
      <p:sp>
        <p:nvSpPr>
          <p:cNvPr id="4" name="object 4"/>
          <p:cNvSpPr txBox="1">
            <a:spLocks noGrp="1"/>
          </p:cNvSpPr>
          <p:nvPr>
            <p:ph type="title"/>
          </p:nvPr>
        </p:nvSpPr>
        <p:spPr>
          <a:xfrm>
            <a:off x="687323" y="510540"/>
            <a:ext cx="7772400" cy="927100"/>
          </a:xfrm>
          <a:prstGeom prst="rect">
            <a:avLst/>
          </a:prstGeom>
          <a:solidFill>
            <a:srgbClr val="F7FAFF"/>
          </a:solidFill>
          <a:ln w="9144">
            <a:solidFill>
              <a:srgbClr val="000000"/>
            </a:solidFill>
          </a:ln>
        </p:spPr>
        <p:txBody>
          <a:bodyPr vert="horz" wrap="square" lIns="0" tIns="42545" rIns="0" bIns="0" rtlCol="0">
            <a:spAutoFit/>
          </a:bodyPr>
          <a:lstStyle/>
          <a:p>
            <a:pPr algn="ctr">
              <a:lnSpc>
                <a:spcPct val="100000"/>
              </a:lnSpc>
              <a:spcBef>
                <a:spcPts val="335"/>
              </a:spcBef>
            </a:pPr>
            <a:r>
              <a:rPr sz="4400" spc="-5" dirty="0"/>
              <a:t>Sequencing</a:t>
            </a:r>
            <a:r>
              <a:rPr sz="4400" spc="20" dirty="0"/>
              <a:t> </a:t>
            </a:r>
            <a:r>
              <a:rPr sz="4400" spc="-5" dirty="0"/>
              <a:t>Example</a:t>
            </a:r>
            <a:endParaRPr sz="4400" dirty="0"/>
          </a:p>
        </p:txBody>
      </p:sp>
      <p:sp>
        <p:nvSpPr>
          <p:cNvPr id="5" name="object 5"/>
          <p:cNvSpPr txBox="1"/>
          <p:nvPr/>
        </p:nvSpPr>
        <p:spPr>
          <a:xfrm>
            <a:off x="887882" y="2434678"/>
            <a:ext cx="7376795" cy="3460750"/>
          </a:xfrm>
          <a:prstGeom prst="rect">
            <a:avLst/>
          </a:prstGeom>
        </p:spPr>
        <p:txBody>
          <a:bodyPr vert="horz" wrap="square" lIns="0" tIns="0" rIns="0" bIns="0" rtlCol="0">
            <a:spAutoFit/>
          </a:bodyPr>
          <a:lstStyle/>
          <a:p>
            <a:pPr marR="2360295" algn="ctr">
              <a:lnSpc>
                <a:spcPts val="2085"/>
              </a:lnSpc>
            </a:pPr>
            <a:r>
              <a:rPr sz="2000" b="1" i="1" spc="-5" dirty="0">
                <a:latin typeface="Arial"/>
                <a:cs typeface="Arial"/>
              </a:rPr>
              <a:t>Job</a:t>
            </a:r>
            <a:r>
              <a:rPr sz="2000" b="1" i="1" dirty="0">
                <a:latin typeface="Arial"/>
                <a:cs typeface="Arial"/>
              </a:rPr>
              <a:t> </a:t>
            </a:r>
            <a:r>
              <a:rPr sz="2000" b="1" i="1" spc="-20" dirty="0">
                <a:latin typeface="Arial"/>
                <a:cs typeface="Arial"/>
              </a:rPr>
              <a:t>Work</a:t>
            </a:r>
            <a:endParaRPr sz="2000">
              <a:latin typeface="Arial"/>
              <a:cs typeface="Arial"/>
            </a:endParaRPr>
          </a:p>
          <a:p>
            <a:pPr marL="48260" algn="ctr">
              <a:lnSpc>
                <a:spcPts val="2160"/>
              </a:lnSpc>
              <a:tabLst>
                <a:tab pos="1414145" algn="l"/>
                <a:tab pos="3515360" algn="l"/>
                <a:tab pos="4544695" algn="l"/>
                <a:tab pos="6278880" algn="l"/>
              </a:tabLst>
            </a:pPr>
            <a:r>
              <a:rPr sz="2000" b="1" i="1" spc="-5" dirty="0">
                <a:latin typeface="Arial"/>
                <a:cs typeface="Arial"/>
              </a:rPr>
              <a:t>Job	</a:t>
            </a:r>
            <a:r>
              <a:rPr sz="2000" b="1" i="1" spc="-10" dirty="0">
                <a:latin typeface="Arial"/>
                <a:cs typeface="Arial"/>
              </a:rPr>
              <a:t>(Processing)	</a:t>
            </a:r>
            <a:r>
              <a:rPr sz="2000" b="1" i="1" spc="-5" dirty="0">
                <a:latin typeface="Arial"/>
                <a:cs typeface="Arial"/>
              </a:rPr>
              <a:t>Flow	Job Due	Job</a:t>
            </a:r>
            <a:endParaRPr sz="2000">
              <a:latin typeface="Arial"/>
              <a:cs typeface="Arial"/>
            </a:endParaRPr>
          </a:p>
          <a:p>
            <a:pPr algn="ctr">
              <a:lnSpc>
                <a:spcPts val="2280"/>
              </a:lnSpc>
              <a:tabLst>
                <a:tab pos="2210435" algn="l"/>
                <a:tab pos="3835400" algn="l"/>
                <a:tab pos="5093970" algn="l"/>
                <a:tab pos="6278880" algn="l"/>
              </a:tabLst>
            </a:pPr>
            <a:r>
              <a:rPr sz="2000" b="1" i="1" spc="-20" dirty="0">
                <a:latin typeface="Arial"/>
                <a:cs typeface="Arial"/>
              </a:rPr>
              <a:t>S</a:t>
            </a:r>
            <a:r>
              <a:rPr sz="2000" b="1" i="1" spc="-5" dirty="0">
                <a:latin typeface="Arial"/>
                <a:cs typeface="Arial"/>
              </a:rPr>
              <a:t>eq</a:t>
            </a:r>
            <a:r>
              <a:rPr sz="2000" b="1" i="1" dirty="0">
                <a:latin typeface="Arial"/>
                <a:cs typeface="Arial"/>
              </a:rPr>
              <a:t>u</a:t>
            </a:r>
            <a:r>
              <a:rPr sz="2000" b="1" i="1" spc="-5" dirty="0">
                <a:latin typeface="Arial"/>
                <a:cs typeface="Arial"/>
              </a:rPr>
              <a:t>ence</a:t>
            </a:r>
            <a:r>
              <a:rPr sz="2000" b="1" i="1" dirty="0">
                <a:latin typeface="Arial"/>
                <a:cs typeface="Arial"/>
              </a:rPr>
              <a:t>	</a:t>
            </a:r>
            <a:r>
              <a:rPr sz="2000" b="1" i="1" spc="-50" dirty="0">
                <a:latin typeface="Arial"/>
                <a:cs typeface="Arial"/>
              </a:rPr>
              <a:t>T</a:t>
            </a:r>
            <a:r>
              <a:rPr sz="2000" b="1" i="1" spc="-5" dirty="0">
                <a:latin typeface="Arial"/>
                <a:cs typeface="Arial"/>
              </a:rPr>
              <a:t>ime</a:t>
            </a:r>
            <a:r>
              <a:rPr sz="2000" b="1" i="1" dirty="0">
                <a:latin typeface="Arial"/>
                <a:cs typeface="Arial"/>
              </a:rPr>
              <a:t>	</a:t>
            </a:r>
            <a:r>
              <a:rPr sz="2000" b="1" i="1" spc="-50" dirty="0">
                <a:latin typeface="Arial"/>
                <a:cs typeface="Arial"/>
              </a:rPr>
              <a:t>T</a:t>
            </a:r>
            <a:r>
              <a:rPr sz="2000" b="1" i="1" spc="-5" dirty="0">
                <a:latin typeface="Arial"/>
                <a:cs typeface="Arial"/>
              </a:rPr>
              <a:t>ime</a:t>
            </a:r>
            <a:r>
              <a:rPr sz="2000" b="1" i="1" dirty="0">
                <a:latin typeface="Arial"/>
                <a:cs typeface="Arial"/>
              </a:rPr>
              <a:t>	</a:t>
            </a:r>
            <a:r>
              <a:rPr sz="2000" b="1" i="1" spc="-5" dirty="0">
                <a:latin typeface="Arial"/>
                <a:cs typeface="Arial"/>
              </a:rPr>
              <a:t>Date</a:t>
            </a:r>
            <a:r>
              <a:rPr sz="2000" b="1" i="1" dirty="0">
                <a:latin typeface="Arial"/>
                <a:cs typeface="Arial"/>
              </a:rPr>
              <a:t>	</a:t>
            </a:r>
            <a:r>
              <a:rPr sz="2000" b="1" i="1" spc="-5" dirty="0">
                <a:latin typeface="Arial"/>
                <a:cs typeface="Arial"/>
              </a:rPr>
              <a:t>Latene</a:t>
            </a:r>
            <a:r>
              <a:rPr sz="2000" b="1" i="1" spc="-15" dirty="0">
                <a:latin typeface="Arial"/>
                <a:cs typeface="Arial"/>
              </a:rPr>
              <a:t>s</a:t>
            </a:r>
            <a:r>
              <a:rPr sz="2000" b="1" i="1" spc="-5" dirty="0">
                <a:latin typeface="Arial"/>
                <a:cs typeface="Arial"/>
              </a:rPr>
              <a:t>s</a:t>
            </a:r>
            <a:endParaRPr sz="2000">
              <a:latin typeface="Arial"/>
              <a:cs typeface="Arial"/>
            </a:endParaRPr>
          </a:p>
          <a:p>
            <a:pPr marR="326390" algn="r">
              <a:lnSpc>
                <a:spcPct val="100000"/>
              </a:lnSpc>
              <a:spcBef>
                <a:spcPts val="840"/>
              </a:spcBef>
              <a:tabLst>
                <a:tab pos="1986914" algn="l"/>
                <a:tab pos="3627120" algn="l"/>
                <a:tab pos="4858385" algn="l"/>
                <a:tab pos="6394450" algn="l"/>
              </a:tabLst>
            </a:pPr>
            <a:r>
              <a:rPr sz="2000" b="1" i="1" spc="-5" dirty="0">
                <a:latin typeface="Arial"/>
                <a:cs typeface="Arial"/>
              </a:rPr>
              <a:t>A	</a:t>
            </a:r>
            <a:r>
              <a:rPr sz="2000" b="1" spc="-5" dirty="0">
                <a:latin typeface="Arial"/>
                <a:cs typeface="Arial"/>
              </a:rPr>
              <a:t>6	6	8	0</a:t>
            </a:r>
            <a:endParaRPr sz="2000">
              <a:latin typeface="Arial"/>
              <a:cs typeface="Arial"/>
            </a:endParaRPr>
          </a:p>
          <a:p>
            <a:pPr marR="326390" algn="r">
              <a:lnSpc>
                <a:spcPct val="100000"/>
              </a:lnSpc>
              <a:spcBef>
                <a:spcPts val="1150"/>
              </a:spcBef>
              <a:tabLst>
                <a:tab pos="1986914" algn="l"/>
                <a:tab pos="3627120" algn="l"/>
                <a:tab pos="4858385" algn="l"/>
                <a:tab pos="6394450" algn="l"/>
              </a:tabLst>
            </a:pPr>
            <a:r>
              <a:rPr sz="2000" b="1" i="1" spc="-5" dirty="0">
                <a:latin typeface="Arial"/>
                <a:cs typeface="Arial"/>
              </a:rPr>
              <a:t>B	</a:t>
            </a:r>
            <a:r>
              <a:rPr sz="2000" b="1" spc="-5" dirty="0">
                <a:latin typeface="Arial"/>
                <a:cs typeface="Arial"/>
              </a:rPr>
              <a:t>2	8	6	2</a:t>
            </a:r>
            <a:endParaRPr sz="2000">
              <a:latin typeface="Arial"/>
              <a:cs typeface="Arial"/>
            </a:endParaRPr>
          </a:p>
          <a:p>
            <a:pPr marR="326390" algn="r">
              <a:lnSpc>
                <a:spcPct val="100000"/>
              </a:lnSpc>
              <a:spcBef>
                <a:spcPts val="1105"/>
              </a:spcBef>
              <a:tabLst>
                <a:tab pos="1986914" algn="l"/>
                <a:tab pos="3486785" algn="l"/>
                <a:tab pos="4718050" algn="l"/>
                <a:tab pos="6394450" algn="l"/>
              </a:tabLst>
            </a:pPr>
            <a:r>
              <a:rPr sz="2000" b="1" i="1" spc="-5" dirty="0">
                <a:latin typeface="Arial"/>
                <a:cs typeface="Arial"/>
              </a:rPr>
              <a:t>C	</a:t>
            </a:r>
            <a:r>
              <a:rPr sz="2000" b="1" spc="-5" dirty="0">
                <a:latin typeface="Arial"/>
                <a:cs typeface="Arial"/>
              </a:rPr>
              <a:t>8	</a:t>
            </a:r>
            <a:r>
              <a:rPr sz="2000" b="1" spc="-10" dirty="0">
                <a:latin typeface="Arial"/>
                <a:cs typeface="Arial"/>
              </a:rPr>
              <a:t>1</a:t>
            </a:r>
            <a:r>
              <a:rPr sz="2000" b="1" spc="-5" dirty="0">
                <a:latin typeface="Arial"/>
                <a:cs typeface="Arial"/>
              </a:rPr>
              <a:t>6</a:t>
            </a:r>
            <a:r>
              <a:rPr sz="2000" b="1" dirty="0">
                <a:latin typeface="Arial"/>
                <a:cs typeface="Arial"/>
              </a:rPr>
              <a:t>	</a:t>
            </a:r>
            <a:r>
              <a:rPr sz="2000" b="1" spc="-10" dirty="0">
                <a:latin typeface="Arial"/>
                <a:cs typeface="Arial"/>
              </a:rPr>
              <a:t>1</a:t>
            </a:r>
            <a:r>
              <a:rPr sz="2000" b="1" spc="-5" dirty="0">
                <a:latin typeface="Arial"/>
                <a:cs typeface="Arial"/>
              </a:rPr>
              <a:t>8</a:t>
            </a:r>
            <a:r>
              <a:rPr sz="2000" b="1" dirty="0">
                <a:latin typeface="Arial"/>
                <a:cs typeface="Arial"/>
              </a:rPr>
              <a:t>	</a:t>
            </a:r>
            <a:r>
              <a:rPr sz="2000" b="1" spc="-5" dirty="0">
                <a:latin typeface="Arial"/>
                <a:cs typeface="Arial"/>
              </a:rPr>
              <a:t>0</a:t>
            </a:r>
            <a:endParaRPr sz="2000">
              <a:latin typeface="Arial"/>
              <a:cs typeface="Arial"/>
            </a:endParaRPr>
          </a:p>
          <a:p>
            <a:pPr marR="327025" algn="r">
              <a:lnSpc>
                <a:spcPct val="100000"/>
              </a:lnSpc>
              <a:spcBef>
                <a:spcPts val="1000"/>
              </a:spcBef>
              <a:tabLst>
                <a:tab pos="1986914" algn="l"/>
                <a:tab pos="3486785" algn="l"/>
                <a:tab pos="4718050" algn="l"/>
                <a:tab pos="6394450" algn="l"/>
              </a:tabLst>
            </a:pPr>
            <a:r>
              <a:rPr sz="2000" b="1" i="1" spc="-10" dirty="0">
                <a:latin typeface="Arial"/>
                <a:cs typeface="Arial"/>
              </a:rPr>
              <a:t>D	</a:t>
            </a:r>
            <a:r>
              <a:rPr sz="2000" b="1" spc="-5" dirty="0">
                <a:latin typeface="Arial"/>
                <a:cs typeface="Arial"/>
              </a:rPr>
              <a:t>3	</a:t>
            </a:r>
            <a:r>
              <a:rPr sz="2000" b="1" spc="-10" dirty="0">
                <a:latin typeface="Arial"/>
                <a:cs typeface="Arial"/>
              </a:rPr>
              <a:t>1</a:t>
            </a:r>
            <a:r>
              <a:rPr sz="2000" b="1" spc="-5" dirty="0">
                <a:latin typeface="Arial"/>
                <a:cs typeface="Arial"/>
              </a:rPr>
              <a:t>9</a:t>
            </a:r>
            <a:r>
              <a:rPr sz="2000" b="1" dirty="0">
                <a:latin typeface="Arial"/>
                <a:cs typeface="Arial"/>
              </a:rPr>
              <a:t>	</a:t>
            </a:r>
            <a:r>
              <a:rPr sz="2000" b="1" spc="-10" dirty="0">
                <a:latin typeface="Arial"/>
                <a:cs typeface="Arial"/>
              </a:rPr>
              <a:t>1</a:t>
            </a:r>
            <a:r>
              <a:rPr sz="2000" b="1" spc="-5" dirty="0">
                <a:latin typeface="Arial"/>
                <a:cs typeface="Arial"/>
              </a:rPr>
              <a:t>5</a:t>
            </a:r>
            <a:r>
              <a:rPr sz="2000" b="1" dirty="0">
                <a:latin typeface="Arial"/>
                <a:cs typeface="Arial"/>
              </a:rPr>
              <a:t>	</a:t>
            </a:r>
            <a:r>
              <a:rPr sz="2000" b="1" spc="-5" dirty="0">
                <a:latin typeface="Arial"/>
                <a:cs typeface="Arial"/>
              </a:rPr>
              <a:t>4</a:t>
            </a:r>
            <a:endParaRPr sz="2000">
              <a:latin typeface="Arial"/>
              <a:cs typeface="Arial"/>
            </a:endParaRPr>
          </a:p>
          <a:p>
            <a:pPr marR="327025" algn="r">
              <a:lnSpc>
                <a:spcPct val="100000"/>
              </a:lnSpc>
              <a:spcBef>
                <a:spcPts val="1050"/>
              </a:spcBef>
              <a:tabLst>
                <a:tab pos="1978025" algn="l"/>
                <a:tab pos="3477895" algn="l"/>
                <a:tab pos="4708525" algn="l"/>
                <a:tab pos="6384925" algn="l"/>
              </a:tabLst>
            </a:pPr>
            <a:r>
              <a:rPr sz="2000" b="1" i="1" spc="-10" dirty="0">
                <a:latin typeface="Arial"/>
                <a:cs typeface="Arial"/>
              </a:rPr>
              <a:t>E	</a:t>
            </a:r>
            <a:r>
              <a:rPr sz="2000" b="1" spc="-5" dirty="0">
                <a:latin typeface="Arial"/>
                <a:cs typeface="Arial"/>
              </a:rPr>
              <a:t>9	</a:t>
            </a:r>
            <a:r>
              <a:rPr sz="2000" b="1" spc="-10" dirty="0">
                <a:latin typeface="Arial"/>
                <a:cs typeface="Arial"/>
              </a:rPr>
              <a:t>2</a:t>
            </a:r>
            <a:r>
              <a:rPr sz="2000" b="1" spc="-5" dirty="0">
                <a:latin typeface="Arial"/>
                <a:cs typeface="Arial"/>
              </a:rPr>
              <a:t>8</a:t>
            </a:r>
            <a:r>
              <a:rPr sz="2000" b="1" dirty="0">
                <a:latin typeface="Arial"/>
                <a:cs typeface="Arial"/>
              </a:rPr>
              <a:t>	</a:t>
            </a:r>
            <a:r>
              <a:rPr sz="2000" b="1" spc="-10" dirty="0">
                <a:latin typeface="Arial"/>
                <a:cs typeface="Arial"/>
              </a:rPr>
              <a:t>2</a:t>
            </a:r>
            <a:r>
              <a:rPr sz="2000" b="1" spc="-5" dirty="0">
                <a:latin typeface="Arial"/>
                <a:cs typeface="Arial"/>
              </a:rPr>
              <a:t>3</a:t>
            </a:r>
            <a:r>
              <a:rPr sz="2000" b="1" dirty="0">
                <a:latin typeface="Arial"/>
                <a:cs typeface="Arial"/>
              </a:rPr>
              <a:t>	</a:t>
            </a:r>
            <a:r>
              <a:rPr sz="2000" b="1" spc="-5" dirty="0">
                <a:latin typeface="Arial"/>
                <a:cs typeface="Arial"/>
              </a:rPr>
              <a:t>5</a:t>
            </a:r>
            <a:endParaRPr sz="2000">
              <a:latin typeface="Arial"/>
              <a:cs typeface="Arial"/>
            </a:endParaRPr>
          </a:p>
          <a:p>
            <a:pPr marR="342265" algn="r">
              <a:lnSpc>
                <a:spcPct val="100000"/>
              </a:lnSpc>
              <a:spcBef>
                <a:spcPts val="1155"/>
              </a:spcBef>
              <a:tabLst>
                <a:tab pos="1640205" algn="l"/>
                <a:tab pos="4422140" algn="l"/>
              </a:tabLst>
            </a:pPr>
            <a:r>
              <a:rPr sz="2000" b="1" spc="-10" dirty="0">
                <a:latin typeface="Arial"/>
                <a:cs typeface="Arial"/>
              </a:rPr>
              <a:t>2</a:t>
            </a:r>
            <a:r>
              <a:rPr sz="2000" b="1" spc="-5" dirty="0">
                <a:latin typeface="Arial"/>
                <a:cs typeface="Arial"/>
              </a:rPr>
              <a:t>8</a:t>
            </a:r>
            <a:r>
              <a:rPr sz="2000" b="1" dirty="0">
                <a:latin typeface="Arial"/>
                <a:cs typeface="Arial"/>
              </a:rPr>
              <a:t>	</a:t>
            </a:r>
            <a:r>
              <a:rPr sz="2000" b="1" spc="-10" dirty="0">
                <a:latin typeface="Arial"/>
                <a:cs typeface="Arial"/>
              </a:rPr>
              <a:t>7</a:t>
            </a:r>
            <a:r>
              <a:rPr sz="2000" b="1" spc="-5" dirty="0">
                <a:latin typeface="Arial"/>
                <a:cs typeface="Arial"/>
              </a:rPr>
              <a:t>7</a:t>
            </a:r>
            <a:r>
              <a:rPr sz="2000" b="1" dirty="0">
                <a:latin typeface="Arial"/>
                <a:cs typeface="Arial"/>
              </a:rPr>
              <a:t>	</a:t>
            </a:r>
            <a:r>
              <a:rPr sz="2000" b="1" spc="-130" dirty="0">
                <a:latin typeface="Arial"/>
                <a:cs typeface="Arial"/>
              </a:rPr>
              <a:t>11</a:t>
            </a:r>
            <a:endParaRPr sz="2000">
              <a:latin typeface="Arial"/>
              <a:cs typeface="Arial"/>
            </a:endParaRPr>
          </a:p>
        </p:txBody>
      </p:sp>
      <p:grpSp>
        <p:nvGrpSpPr>
          <p:cNvPr id="6" name="object 6"/>
          <p:cNvGrpSpPr/>
          <p:nvPr/>
        </p:nvGrpSpPr>
        <p:grpSpPr>
          <a:xfrm>
            <a:off x="725423" y="2328672"/>
            <a:ext cx="7720965" cy="3752215"/>
            <a:chOff x="725423" y="2328672"/>
            <a:chExt cx="7720965" cy="3752215"/>
          </a:xfrm>
        </p:grpSpPr>
        <p:sp>
          <p:nvSpPr>
            <p:cNvPr id="7" name="object 7"/>
            <p:cNvSpPr/>
            <p:nvPr/>
          </p:nvSpPr>
          <p:spPr>
            <a:xfrm>
              <a:off x="1097279" y="2602992"/>
              <a:ext cx="868680" cy="576072"/>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725423" y="2877312"/>
              <a:ext cx="1542288" cy="576072"/>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1231391" y="3288791"/>
              <a:ext cx="530352" cy="576072"/>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1231391" y="3739896"/>
              <a:ext cx="530352" cy="576071"/>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1231391" y="4184904"/>
              <a:ext cx="530352" cy="576072"/>
            </a:xfrm>
            <a:prstGeom prst="rect">
              <a:avLst/>
            </a:prstGeom>
            <a:blipFill>
              <a:blip r:embed="rId6" cstate="print"/>
              <a:stretch>
                <a:fillRect/>
              </a:stretch>
            </a:blipFill>
          </p:spPr>
          <p:txBody>
            <a:bodyPr wrap="square" lIns="0" tIns="0" rIns="0" bIns="0" rtlCol="0"/>
            <a:lstStyle/>
            <a:p>
              <a:endParaRPr/>
            </a:p>
          </p:txBody>
        </p:sp>
        <p:sp>
          <p:nvSpPr>
            <p:cNvPr id="12" name="object 12"/>
            <p:cNvSpPr/>
            <p:nvPr/>
          </p:nvSpPr>
          <p:spPr>
            <a:xfrm>
              <a:off x="1231391" y="4617720"/>
              <a:ext cx="530352" cy="576071"/>
            </a:xfrm>
            <a:prstGeom prst="rect">
              <a:avLst/>
            </a:prstGeom>
            <a:blipFill>
              <a:blip r:embed="rId7" cstate="print"/>
              <a:stretch>
                <a:fillRect/>
              </a:stretch>
            </a:blipFill>
          </p:spPr>
          <p:txBody>
            <a:bodyPr wrap="square" lIns="0" tIns="0" rIns="0" bIns="0" rtlCol="0"/>
            <a:lstStyle/>
            <a:p>
              <a:endParaRPr/>
            </a:p>
          </p:txBody>
        </p:sp>
        <p:sp>
          <p:nvSpPr>
            <p:cNvPr id="13" name="object 13"/>
            <p:cNvSpPr/>
            <p:nvPr/>
          </p:nvSpPr>
          <p:spPr>
            <a:xfrm>
              <a:off x="1240536" y="5053583"/>
              <a:ext cx="515112" cy="576071"/>
            </a:xfrm>
            <a:prstGeom prst="rect">
              <a:avLst/>
            </a:prstGeom>
            <a:blipFill>
              <a:blip r:embed="rId8" cstate="print"/>
              <a:stretch>
                <a:fillRect/>
              </a:stretch>
            </a:blipFill>
          </p:spPr>
          <p:txBody>
            <a:bodyPr wrap="square" lIns="0" tIns="0" rIns="0" bIns="0" rtlCol="0"/>
            <a:lstStyle/>
            <a:p>
              <a:endParaRPr/>
            </a:p>
          </p:txBody>
        </p:sp>
        <p:sp>
          <p:nvSpPr>
            <p:cNvPr id="14" name="object 14"/>
            <p:cNvSpPr/>
            <p:nvPr/>
          </p:nvSpPr>
          <p:spPr>
            <a:xfrm>
              <a:off x="2654807" y="2328672"/>
              <a:ext cx="1569720" cy="576072"/>
            </a:xfrm>
            <a:prstGeom prst="rect">
              <a:avLst/>
            </a:prstGeom>
            <a:blipFill>
              <a:blip r:embed="rId9" cstate="print"/>
              <a:stretch>
                <a:fillRect/>
              </a:stretch>
            </a:blipFill>
          </p:spPr>
          <p:txBody>
            <a:bodyPr wrap="square" lIns="0" tIns="0" rIns="0" bIns="0" rtlCol="0"/>
            <a:lstStyle/>
            <a:p>
              <a:endParaRPr/>
            </a:p>
          </p:txBody>
        </p:sp>
        <p:sp>
          <p:nvSpPr>
            <p:cNvPr id="15" name="object 15"/>
            <p:cNvSpPr/>
            <p:nvPr/>
          </p:nvSpPr>
          <p:spPr>
            <a:xfrm>
              <a:off x="2462784" y="2602992"/>
              <a:ext cx="1956816" cy="576072"/>
            </a:xfrm>
            <a:prstGeom prst="rect">
              <a:avLst/>
            </a:prstGeom>
            <a:blipFill>
              <a:blip r:embed="rId10" cstate="print"/>
              <a:stretch>
                <a:fillRect/>
              </a:stretch>
            </a:blipFill>
          </p:spPr>
          <p:txBody>
            <a:bodyPr wrap="square" lIns="0" tIns="0" rIns="0" bIns="0" rtlCol="0"/>
            <a:lstStyle/>
            <a:p>
              <a:endParaRPr/>
            </a:p>
          </p:txBody>
        </p:sp>
        <p:sp>
          <p:nvSpPr>
            <p:cNvPr id="16" name="object 16"/>
            <p:cNvSpPr/>
            <p:nvPr/>
          </p:nvSpPr>
          <p:spPr>
            <a:xfrm>
              <a:off x="2935223" y="2877312"/>
              <a:ext cx="932688" cy="576072"/>
            </a:xfrm>
            <a:prstGeom prst="rect">
              <a:avLst/>
            </a:prstGeom>
            <a:blipFill>
              <a:blip r:embed="rId11" cstate="print"/>
              <a:stretch>
                <a:fillRect/>
              </a:stretch>
            </a:blipFill>
          </p:spPr>
          <p:txBody>
            <a:bodyPr wrap="square" lIns="0" tIns="0" rIns="0" bIns="0" rtlCol="0"/>
            <a:lstStyle/>
            <a:p>
              <a:endParaRPr/>
            </a:p>
          </p:txBody>
        </p:sp>
        <p:sp>
          <p:nvSpPr>
            <p:cNvPr id="17" name="object 17"/>
            <p:cNvSpPr/>
            <p:nvPr/>
          </p:nvSpPr>
          <p:spPr>
            <a:xfrm>
              <a:off x="3218688" y="3288791"/>
              <a:ext cx="487679" cy="576072"/>
            </a:xfrm>
            <a:prstGeom prst="rect">
              <a:avLst/>
            </a:prstGeom>
            <a:blipFill>
              <a:blip r:embed="rId12" cstate="print"/>
              <a:stretch>
                <a:fillRect/>
              </a:stretch>
            </a:blipFill>
          </p:spPr>
          <p:txBody>
            <a:bodyPr wrap="square" lIns="0" tIns="0" rIns="0" bIns="0" rtlCol="0"/>
            <a:lstStyle/>
            <a:p>
              <a:endParaRPr/>
            </a:p>
          </p:txBody>
        </p:sp>
        <p:sp>
          <p:nvSpPr>
            <p:cNvPr id="18" name="object 18"/>
            <p:cNvSpPr/>
            <p:nvPr/>
          </p:nvSpPr>
          <p:spPr>
            <a:xfrm>
              <a:off x="3218688" y="3739896"/>
              <a:ext cx="487679" cy="576071"/>
            </a:xfrm>
            <a:prstGeom prst="rect">
              <a:avLst/>
            </a:prstGeom>
            <a:blipFill>
              <a:blip r:embed="rId13" cstate="print"/>
              <a:stretch>
                <a:fillRect/>
              </a:stretch>
            </a:blipFill>
          </p:spPr>
          <p:txBody>
            <a:bodyPr wrap="square" lIns="0" tIns="0" rIns="0" bIns="0" rtlCol="0"/>
            <a:lstStyle/>
            <a:p>
              <a:endParaRPr/>
            </a:p>
          </p:txBody>
        </p:sp>
        <p:sp>
          <p:nvSpPr>
            <p:cNvPr id="19" name="object 19"/>
            <p:cNvSpPr/>
            <p:nvPr/>
          </p:nvSpPr>
          <p:spPr>
            <a:xfrm>
              <a:off x="3218688" y="4184904"/>
              <a:ext cx="487679" cy="576072"/>
            </a:xfrm>
            <a:prstGeom prst="rect">
              <a:avLst/>
            </a:prstGeom>
            <a:blipFill>
              <a:blip r:embed="rId14" cstate="print"/>
              <a:stretch>
                <a:fillRect/>
              </a:stretch>
            </a:blipFill>
          </p:spPr>
          <p:txBody>
            <a:bodyPr wrap="square" lIns="0" tIns="0" rIns="0" bIns="0" rtlCol="0"/>
            <a:lstStyle/>
            <a:p>
              <a:endParaRPr/>
            </a:p>
          </p:txBody>
        </p:sp>
        <p:sp>
          <p:nvSpPr>
            <p:cNvPr id="20" name="object 20"/>
            <p:cNvSpPr/>
            <p:nvPr/>
          </p:nvSpPr>
          <p:spPr>
            <a:xfrm>
              <a:off x="3218688" y="4617720"/>
              <a:ext cx="487679" cy="576071"/>
            </a:xfrm>
            <a:prstGeom prst="rect">
              <a:avLst/>
            </a:prstGeom>
            <a:blipFill>
              <a:blip r:embed="rId15" cstate="print"/>
              <a:stretch>
                <a:fillRect/>
              </a:stretch>
            </a:blipFill>
          </p:spPr>
          <p:txBody>
            <a:bodyPr wrap="square" lIns="0" tIns="0" rIns="0" bIns="0" rtlCol="0"/>
            <a:lstStyle/>
            <a:p>
              <a:endParaRPr/>
            </a:p>
          </p:txBody>
        </p:sp>
        <p:sp>
          <p:nvSpPr>
            <p:cNvPr id="21" name="object 21"/>
            <p:cNvSpPr/>
            <p:nvPr/>
          </p:nvSpPr>
          <p:spPr>
            <a:xfrm>
              <a:off x="3218688" y="5053583"/>
              <a:ext cx="487679" cy="576071"/>
            </a:xfrm>
            <a:prstGeom prst="rect">
              <a:avLst/>
            </a:prstGeom>
            <a:blipFill>
              <a:blip r:embed="rId16" cstate="print"/>
              <a:stretch>
                <a:fillRect/>
              </a:stretch>
            </a:blipFill>
          </p:spPr>
          <p:txBody>
            <a:bodyPr wrap="square" lIns="0" tIns="0" rIns="0" bIns="0" rtlCol="0"/>
            <a:lstStyle/>
            <a:p>
              <a:endParaRPr/>
            </a:p>
          </p:txBody>
        </p:sp>
        <p:sp>
          <p:nvSpPr>
            <p:cNvPr id="22" name="object 22"/>
            <p:cNvSpPr/>
            <p:nvPr/>
          </p:nvSpPr>
          <p:spPr>
            <a:xfrm>
              <a:off x="3078479" y="5504688"/>
              <a:ext cx="627888" cy="576072"/>
            </a:xfrm>
            <a:prstGeom prst="rect">
              <a:avLst/>
            </a:prstGeom>
            <a:blipFill>
              <a:blip r:embed="rId17" cstate="print"/>
              <a:stretch>
                <a:fillRect/>
              </a:stretch>
            </a:blipFill>
          </p:spPr>
          <p:txBody>
            <a:bodyPr wrap="square" lIns="0" tIns="0" rIns="0" bIns="0" rtlCol="0"/>
            <a:lstStyle/>
            <a:p>
              <a:endParaRPr/>
            </a:p>
          </p:txBody>
        </p:sp>
        <p:sp>
          <p:nvSpPr>
            <p:cNvPr id="23" name="object 23"/>
            <p:cNvSpPr/>
            <p:nvPr/>
          </p:nvSpPr>
          <p:spPr>
            <a:xfrm>
              <a:off x="4562856" y="2602992"/>
              <a:ext cx="996696" cy="576072"/>
            </a:xfrm>
            <a:prstGeom prst="rect">
              <a:avLst/>
            </a:prstGeom>
            <a:blipFill>
              <a:blip r:embed="rId18" cstate="print"/>
              <a:stretch>
                <a:fillRect/>
              </a:stretch>
            </a:blipFill>
          </p:spPr>
          <p:txBody>
            <a:bodyPr wrap="square" lIns="0" tIns="0" rIns="0" bIns="0" rtlCol="0"/>
            <a:lstStyle/>
            <a:p>
              <a:endParaRPr/>
            </a:p>
          </p:txBody>
        </p:sp>
        <p:sp>
          <p:nvSpPr>
            <p:cNvPr id="24" name="object 24"/>
            <p:cNvSpPr/>
            <p:nvPr/>
          </p:nvSpPr>
          <p:spPr>
            <a:xfrm>
              <a:off x="4559808" y="2877312"/>
              <a:ext cx="932688" cy="576072"/>
            </a:xfrm>
            <a:prstGeom prst="rect">
              <a:avLst/>
            </a:prstGeom>
            <a:blipFill>
              <a:blip r:embed="rId11" cstate="print"/>
              <a:stretch>
                <a:fillRect/>
              </a:stretch>
            </a:blipFill>
          </p:spPr>
          <p:txBody>
            <a:bodyPr wrap="square" lIns="0" tIns="0" rIns="0" bIns="0" rtlCol="0"/>
            <a:lstStyle/>
            <a:p>
              <a:endParaRPr/>
            </a:p>
          </p:txBody>
        </p:sp>
        <p:sp>
          <p:nvSpPr>
            <p:cNvPr id="25" name="object 25"/>
            <p:cNvSpPr/>
            <p:nvPr/>
          </p:nvSpPr>
          <p:spPr>
            <a:xfrm>
              <a:off x="5593079" y="2602992"/>
              <a:ext cx="1420368" cy="576072"/>
            </a:xfrm>
            <a:prstGeom prst="rect">
              <a:avLst/>
            </a:prstGeom>
            <a:blipFill>
              <a:blip r:embed="rId19" cstate="print"/>
              <a:stretch>
                <a:fillRect/>
              </a:stretch>
            </a:blipFill>
          </p:spPr>
          <p:txBody>
            <a:bodyPr wrap="square" lIns="0" tIns="0" rIns="0" bIns="0" rtlCol="0"/>
            <a:lstStyle/>
            <a:p>
              <a:endParaRPr/>
            </a:p>
          </p:txBody>
        </p:sp>
        <p:sp>
          <p:nvSpPr>
            <p:cNvPr id="26" name="object 26"/>
            <p:cNvSpPr/>
            <p:nvPr/>
          </p:nvSpPr>
          <p:spPr>
            <a:xfrm>
              <a:off x="5818632" y="2877312"/>
              <a:ext cx="896112" cy="576072"/>
            </a:xfrm>
            <a:prstGeom prst="rect">
              <a:avLst/>
            </a:prstGeom>
            <a:blipFill>
              <a:blip r:embed="rId20" cstate="print"/>
              <a:stretch>
                <a:fillRect/>
              </a:stretch>
            </a:blipFill>
          </p:spPr>
          <p:txBody>
            <a:bodyPr wrap="square" lIns="0" tIns="0" rIns="0" bIns="0" rtlCol="0"/>
            <a:lstStyle/>
            <a:p>
              <a:endParaRPr/>
            </a:p>
          </p:txBody>
        </p:sp>
        <p:sp>
          <p:nvSpPr>
            <p:cNvPr id="27" name="object 27"/>
            <p:cNvSpPr/>
            <p:nvPr/>
          </p:nvSpPr>
          <p:spPr>
            <a:xfrm>
              <a:off x="7324343" y="2602992"/>
              <a:ext cx="868679" cy="576072"/>
            </a:xfrm>
            <a:prstGeom prst="rect">
              <a:avLst/>
            </a:prstGeom>
            <a:blipFill>
              <a:blip r:embed="rId21" cstate="print"/>
              <a:stretch>
                <a:fillRect/>
              </a:stretch>
            </a:blipFill>
          </p:spPr>
          <p:txBody>
            <a:bodyPr wrap="square" lIns="0" tIns="0" rIns="0" bIns="0" rtlCol="0"/>
            <a:lstStyle/>
            <a:p>
              <a:endParaRPr/>
            </a:p>
          </p:txBody>
        </p:sp>
        <p:sp>
          <p:nvSpPr>
            <p:cNvPr id="28" name="object 28"/>
            <p:cNvSpPr/>
            <p:nvPr/>
          </p:nvSpPr>
          <p:spPr>
            <a:xfrm>
              <a:off x="7001256" y="2877312"/>
              <a:ext cx="1444752" cy="576072"/>
            </a:xfrm>
            <a:prstGeom prst="rect">
              <a:avLst/>
            </a:prstGeom>
            <a:blipFill>
              <a:blip r:embed="rId22" cstate="print"/>
              <a:stretch>
                <a:fillRect/>
              </a:stretch>
            </a:blipFill>
          </p:spPr>
          <p:txBody>
            <a:bodyPr wrap="square" lIns="0" tIns="0" rIns="0" bIns="0" rtlCol="0"/>
            <a:lstStyle/>
            <a:p>
              <a:endParaRPr/>
            </a:p>
          </p:txBody>
        </p:sp>
        <p:sp>
          <p:nvSpPr>
            <p:cNvPr id="29" name="object 29"/>
            <p:cNvSpPr/>
            <p:nvPr/>
          </p:nvSpPr>
          <p:spPr>
            <a:xfrm>
              <a:off x="4858512" y="3288791"/>
              <a:ext cx="487679" cy="576072"/>
            </a:xfrm>
            <a:prstGeom prst="rect">
              <a:avLst/>
            </a:prstGeom>
            <a:blipFill>
              <a:blip r:embed="rId12" cstate="print"/>
              <a:stretch>
                <a:fillRect/>
              </a:stretch>
            </a:blipFill>
          </p:spPr>
          <p:txBody>
            <a:bodyPr wrap="square" lIns="0" tIns="0" rIns="0" bIns="0" rtlCol="0"/>
            <a:lstStyle/>
            <a:p>
              <a:endParaRPr/>
            </a:p>
          </p:txBody>
        </p:sp>
        <p:sp>
          <p:nvSpPr>
            <p:cNvPr id="30" name="object 30"/>
            <p:cNvSpPr/>
            <p:nvPr/>
          </p:nvSpPr>
          <p:spPr>
            <a:xfrm>
              <a:off x="6086856" y="3288791"/>
              <a:ext cx="487679" cy="576072"/>
            </a:xfrm>
            <a:prstGeom prst="rect">
              <a:avLst/>
            </a:prstGeom>
            <a:blipFill>
              <a:blip r:embed="rId23" cstate="print"/>
              <a:stretch>
                <a:fillRect/>
              </a:stretch>
            </a:blipFill>
          </p:spPr>
          <p:txBody>
            <a:bodyPr wrap="square" lIns="0" tIns="0" rIns="0" bIns="0" rtlCol="0"/>
            <a:lstStyle/>
            <a:p>
              <a:endParaRPr/>
            </a:p>
          </p:txBody>
        </p:sp>
        <p:sp>
          <p:nvSpPr>
            <p:cNvPr id="31" name="object 31"/>
            <p:cNvSpPr/>
            <p:nvPr/>
          </p:nvSpPr>
          <p:spPr>
            <a:xfrm>
              <a:off x="7623047" y="3288791"/>
              <a:ext cx="487679" cy="576072"/>
            </a:xfrm>
            <a:prstGeom prst="rect">
              <a:avLst/>
            </a:prstGeom>
            <a:blipFill>
              <a:blip r:embed="rId24" cstate="print"/>
              <a:stretch>
                <a:fillRect/>
              </a:stretch>
            </a:blipFill>
          </p:spPr>
          <p:txBody>
            <a:bodyPr wrap="square" lIns="0" tIns="0" rIns="0" bIns="0" rtlCol="0"/>
            <a:lstStyle/>
            <a:p>
              <a:endParaRPr/>
            </a:p>
          </p:txBody>
        </p:sp>
        <p:sp>
          <p:nvSpPr>
            <p:cNvPr id="32" name="object 32"/>
            <p:cNvSpPr/>
            <p:nvPr/>
          </p:nvSpPr>
          <p:spPr>
            <a:xfrm>
              <a:off x="4858512" y="3739896"/>
              <a:ext cx="487679" cy="576071"/>
            </a:xfrm>
            <a:prstGeom prst="rect">
              <a:avLst/>
            </a:prstGeom>
            <a:blipFill>
              <a:blip r:embed="rId25" cstate="print"/>
              <a:stretch>
                <a:fillRect/>
              </a:stretch>
            </a:blipFill>
          </p:spPr>
          <p:txBody>
            <a:bodyPr wrap="square" lIns="0" tIns="0" rIns="0" bIns="0" rtlCol="0"/>
            <a:lstStyle/>
            <a:p>
              <a:endParaRPr/>
            </a:p>
          </p:txBody>
        </p:sp>
        <p:sp>
          <p:nvSpPr>
            <p:cNvPr id="33" name="object 33"/>
            <p:cNvSpPr/>
            <p:nvPr/>
          </p:nvSpPr>
          <p:spPr>
            <a:xfrm>
              <a:off x="6086856" y="3739896"/>
              <a:ext cx="487679" cy="576071"/>
            </a:xfrm>
            <a:prstGeom prst="rect">
              <a:avLst/>
            </a:prstGeom>
            <a:blipFill>
              <a:blip r:embed="rId26" cstate="print"/>
              <a:stretch>
                <a:fillRect/>
              </a:stretch>
            </a:blipFill>
          </p:spPr>
          <p:txBody>
            <a:bodyPr wrap="square" lIns="0" tIns="0" rIns="0" bIns="0" rtlCol="0"/>
            <a:lstStyle/>
            <a:p>
              <a:endParaRPr/>
            </a:p>
          </p:txBody>
        </p:sp>
        <p:sp>
          <p:nvSpPr>
            <p:cNvPr id="34" name="object 34"/>
            <p:cNvSpPr/>
            <p:nvPr/>
          </p:nvSpPr>
          <p:spPr>
            <a:xfrm>
              <a:off x="7623047" y="3739896"/>
              <a:ext cx="487679" cy="576071"/>
            </a:xfrm>
            <a:prstGeom prst="rect">
              <a:avLst/>
            </a:prstGeom>
            <a:blipFill>
              <a:blip r:embed="rId27" cstate="print"/>
              <a:stretch>
                <a:fillRect/>
              </a:stretch>
            </a:blipFill>
          </p:spPr>
          <p:txBody>
            <a:bodyPr wrap="square" lIns="0" tIns="0" rIns="0" bIns="0" rtlCol="0"/>
            <a:lstStyle/>
            <a:p>
              <a:endParaRPr/>
            </a:p>
          </p:txBody>
        </p:sp>
        <p:sp>
          <p:nvSpPr>
            <p:cNvPr id="35" name="object 35"/>
            <p:cNvSpPr/>
            <p:nvPr/>
          </p:nvSpPr>
          <p:spPr>
            <a:xfrm>
              <a:off x="4718303" y="4184904"/>
              <a:ext cx="627888" cy="576072"/>
            </a:xfrm>
            <a:prstGeom prst="rect">
              <a:avLst/>
            </a:prstGeom>
            <a:blipFill>
              <a:blip r:embed="rId28" cstate="print"/>
              <a:stretch>
                <a:fillRect/>
              </a:stretch>
            </a:blipFill>
          </p:spPr>
          <p:txBody>
            <a:bodyPr wrap="square" lIns="0" tIns="0" rIns="0" bIns="0" rtlCol="0"/>
            <a:lstStyle/>
            <a:p>
              <a:endParaRPr/>
            </a:p>
          </p:txBody>
        </p:sp>
        <p:sp>
          <p:nvSpPr>
            <p:cNvPr id="36" name="object 36"/>
            <p:cNvSpPr/>
            <p:nvPr/>
          </p:nvSpPr>
          <p:spPr>
            <a:xfrm>
              <a:off x="5946647" y="4184904"/>
              <a:ext cx="627888" cy="576072"/>
            </a:xfrm>
            <a:prstGeom prst="rect">
              <a:avLst/>
            </a:prstGeom>
            <a:blipFill>
              <a:blip r:embed="rId29" cstate="print"/>
              <a:stretch>
                <a:fillRect/>
              </a:stretch>
            </a:blipFill>
          </p:spPr>
          <p:txBody>
            <a:bodyPr wrap="square" lIns="0" tIns="0" rIns="0" bIns="0" rtlCol="0"/>
            <a:lstStyle/>
            <a:p>
              <a:endParaRPr/>
            </a:p>
          </p:txBody>
        </p:sp>
        <p:sp>
          <p:nvSpPr>
            <p:cNvPr id="37" name="object 37"/>
            <p:cNvSpPr/>
            <p:nvPr/>
          </p:nvSpPr>
          <p:spPr>
            <a:xfrm>
              <a:off x="7623047" y="4184904"/>
              <a:ext cx="487679" cy="576072"/>
            </a:xfrm>
            <a:prstGeom prst="rect">
              <a:avLst/>
            </a:prstGeom>
            <a:blipFill>
              <a:blip r:embed="rId30" cstate="print"/>
              <a:stretch>
                <a:fillRect/>
              </a:stretch>
            </a:blipFill>
          </p:spPr>
          <p:txBody>
            <a:bodyPr wrap="square" lIns="0" tIns="0" rIns="0" bIns="0" rtlCol="0"/>
            <a:lstStyle/>
            <a:p>
              <a:endParaRPr/>
            </a:p>
          </p:txBody>
        </p:sp>
        <p:sp>
          <p:nvSpPr>
            <p:cNvPr id="38" name="object 38"/>
            <p:cNvSpPr/>
            <p:nvPr/>
          </p:nvSpPr>
          <p:spPr>
            <a:xfrm>
              <a:off x="4718303" y="4617720"/>
              <a:ext cx="627888" cy="576071"/>
            </a:xfrm>
            <a:prstGeom prst="rect">
              <a:avLst/>
            </a:prstGeom>
            <a:blipFill>
              <a:blip r:embed="rId31" cstate="print"/>
              <a:stretch>
                <a:fillRect/>
              </a:stretch>
            </a:blipFill>
          </p:spPr>
          <p:txBody>
            <a:bodyPr wrap="square" lIns="0" tIns="0" rIns="0" bIns="0" rtlCol="0"/>
            <a:lstStyle/>
            <a:p>
              <a:endParaRPr/>
            </a:p>
          </p:txBody>
        </p:sp>
        <p:sp>
          <p:nvSpPr>
            <p:cNvPr id="39" name="object 39"/>
            <p:cNvSpPr/>
            <p:nvPr/>
          </p:nvSpPr>
          <p:spPr>
            <a:xfrm>
              <a:off x="5946647" y="4617720"/>
              <a:ext cx="627888" cy="576071"/>
            </a:xfrm>
            <a:prstGeom prst="rect">
              <a:avLst/>
            </a:prstGeom>
            <a:blipFill>
              <a:blip r:embed="rId32" cstate="print"/>
              <a:stretch>
                <a:fillRect/>
              </a:stretch>
            </a:blipFill>
          </p:spPr>
          <p:txBody>
            <a:bodyPr wrap="square" lIns="0" tIns="0" rIns="0" bIns="0" rtlCol="0"/>
            <a:lstStyle/>
            <a:p>
              <a:endParaRPr/>
            </a:p>
          </p:txBody>
        </p:sp>
        <p:sp>
          <p:nvSpPr>
            <p:cNvPr id="40" name="object 40"/>
            <p:cNvSpPr/>
            <p:nvPr/>
          </p:nvSpPr>
          <p:spPr>
            <a:xfrm>
              <a:off x="7623047" y="4617720"/>
              <a:ext cx="487679" cy="576071"/>
            </a:xfrm>
            <a:prstGeom prst="rect">
              <a:avLst/>
            </a:prstGeom>
            <a:blipFill>
              <a:blip r:embed="rId33" cstate="print"/>
              <a:stretch>
                <a:fillRect/>
              </a:stretch>
            </a:blipFill>
          </p:spPr>
          <p:txBody>
            <a:bodyPr wrap="square" lIns="0" tIns="0" rIns="0" bIns="0" rtlCol="0"/>
            <a:lstStyle/>
            <a:p>
              <a:endParaRPr/>
            </a:p>
          </p:txBody>
        </p:sp>
        <p:sp>
          <p:nvSpPr>
            <p:cNvPr id="41" name="object 41"/>
            <p:cNvSpPr/>
            <p:nvPr/>
          </p:nvSpPr>
          <p:spPr>
            <a:xfrm>
              <a:off x="4718303" y="5053583"/>
              <a:ext cx="627888" cy="576071"/>
            </a:xfrm>
            <a:prstGeom prst="rect">
              <a:avLst/>
            </a:prstGeom>
            <a:blipFill>
              <a:blip r:embed="rId34" cstate="print"/>
              <a:stretch>
                <a:fillRect/>
              </a:stretch>
            </a:blipFill>
          </p:spPr>
          <p:txBody>
            <a:bodyPr wrap="square" lIns="0" tIns="0" rIns="0" bIns="0" rtlCol="0"/>
            <a:lstStyle/>
            <a:p>
              <a:endParaRPr/>
            </a:p>
          </p:txBody>
        </p:sp>
        <p:sp>
          <p:nvSpPr>
            <p:cNvPr id="42" name="object 42"/>
            <p:cNvSpPr/>
            <p:nvPr/>
          </p:nvSpPr>
          <p:spPr>
            <a:xfrm>
              <a:off x="5946647" y="5053583"/>
              <a:ext cx="627888" cy="576071"/>
            </a:xfrm>
            <a:prstGeom prst="rect">
              <a:avLst/>
            </a:prstGeom>
            <a:blipFill>
              <a:blip r:embed="rId35" cstate="print"/>
              <a:stretch>
                <a:fillRect/>
              </a:stretch>
            </a:blipFill>
          </p:spPr>
          <p:txBody>
            <a:bodyPr wrap="square" lIns="0" tIns="0" rIns="0" bIns="0" rtlCol="0"/>
            <a:lstStyle/>
            <a:p>
              <a:endParaRPr/>
            </a:p>
          </p:txBody>
        </p:sp>
        <p:sp>
          <p:nvSpPr>
            <p:cNvPr id="43" name="object 43"/>
            <p:cNvSpPr/>
            <p:nvPr/>
          </p:nvSpPr>
          <p:spPr>
            <a:xfrm>
              <a:off x="7623047" y="5053583"/>
              <a:ext cx="487679" cy="576071"/>
            </a:xfrm>
            <a:prstGeom prst="rect">
              <a:avLst/>
            </a:prstGeom>
            <a:blipFill>
              <a:blip r:embed="rId36" cstate="print"/>
              <a:stretch>
                <a:fillRect/>
              </a:stretch>
            </a:blipFill>
          </p:spPr>
          <p:txBody>
            <a:bodyPr wrap="square" lIns="0" tIns="0" rIns="0" bIns="0" rtlCol="0"/>
            <a:lstStyle/>
            <a:p>
              <a:endParaRPr/>
            </a:p>
          </p:txBody>
        </p:sp>
        <p:sp>
          <p:nvSpPr>
            <p:cNvPr id="44" name="object 44"/>
            <p:cNvSpPr/>
            <p:nvPr/>
          </p:nvSpPr>
          <p:spPr>
            <a:xfrm>
              <a:off x="4718303" y="5504688"/>
              <a:ext cx="627888" cy="576072"/>
            </a:xfrm>
            <a:prstGeom prst="rect">
              <a:avLst/>
            </a:prstGeom>
            <a:blipFill>
              <a:blip r:embed="rId37" cstate="print"/>
              <a:stretch>
                <a:fillRect/>
              </a:stretch>
            </a:blipFill>
          </p:spPr>
          <p:txBody>
            <a:bodyPr wrap="square" lIns="0" tIns="0" rIns="0" bIns="0" rtlCol="0"/>
            <a:lstStyle/>
            <a:p>
              <a:endParaRPr/>
            </a:p>
          </p:txBody>
        </p:sp>
        <p:sp>
          <p:nvSpPr>
            <p:cNvPr id="45" name="object 45"/>
            <p:cNvSpPr/>
            <p:nvPr/>
          </p:nvSpPr>
          <p:spPr>
            <a:xfrm>
              <a:off x="7498080" y="5504688"/>
              <a:ext cx="612648" cy="576072"/>
            </a:xfrm>
            <a:prstGeom prst="rect">
              <a:avLst/>
            </a:prstGeom>
            <a:blipFill>
              <a:blip r:embed="rId38" cstate="print"/>
              <a:stretch>
                <a:fillRect/>
              </a:stretch>
            </a:blipFill>
          </p:spPr>
          <p:txBody>
            <a:bodyPr wrap="square" lIns="0" tIns="0" rIns="0" bIns="0" rtlCol="0"/>
            <a:lstStyle/>
            <a:p>
              <a:endParaRPr/>
            </a:p>
          </p:txBody>
        </p:sp>
      </p:grpSp>
      <p:sp>
        <p:nvSpPr>
          <p:cNvPr id="46" name="object 46"/>
          <p:cNvSpPr txBox="1"/>
          <p:nvPr/>
        </p:nvSpPr>
        <p:spPr>
          <a:xfrm>
            <a:off x="736193" y="1610994"/>
            <a:ext cx="4538345" cy="453390"/>
          </a:xfrm>
          <a:prstGeom prst="rect">
            <a:avLst/>
          </a:prstGeom>
        </p:spPr>
        <p:txBody>
          <a:bodyPr vert="horz" wrap="square" lIns="0" tIns="13335" rIns="0" bIns="0" rtlCol="0">
            <a:spAutoFit/>
          </a:bodyPr>
          <a:lstStyle/>
          <a:p>
            <a:pPr marL="12700">
              <a:lnSpc>
                <a:spcPct val="100000"/>
              </a:lnSpc>
              <a:spcBef>
                <a:spcPts val="105"/>
              </a:spcBef>
            </a:pPr>
            <a:r>
              <a:rPr sz="2800" spc="-5" dirty="0">
                <a:latin typeface="Arial"/>
                <a:cs typeface="Arial"/>
              </a:rPr>
              <a:t>FCFS: </a:t>
            </a:r>
            <a:r>
              <a:rPr sz="2800" dirty="0">
                <a:latin typeface="Arial"/>
                <a:cs typeface="Arial"/>
              </a:rPr>
              <a:t>Sequence</a:t>
            </a:r>
            <a:r>
              <a:rPr sz="2800" spc="-204" dirty="0">
                <a:latin typeface="Arial"/>
                <a:cs typeface="Arial"/>
              </a:rPr>
              <a:t> </a:t>
            </a:r>
            <a:r>
              <a:rPr sz="2800" dirty="0">
                <a:latin typeface="Arial"/>
                <a:cs typeface="Arial"/>
              </a:rPr>
              <a:t>A-B-C-D-E</a:t>
            </a:r>
            <a:endParaRPr sz="2800">
              <a:latin typeface="Arial"/>
              <a:cs typeface="Arial"/>
            </a:endParaRPr>
          </a:p>
        </p:txBody>
      </p:sp>
      <p:grpSp>
        <p:nvGrpSpPr>
          <p:cNvPr id="47" name="object 47"/>
          <p:cNvGrpSpPr/>
          <p:nvPr/>
        </p:nvGrpSpPr>
        <p:grpSpPr>
          <a:xfrm>
            <a:off x="341185" y="2456497"/>
            <a:ext cx="8467725" cy="3438525"/>
            <a:chOff x="341185" y="2456497"/>
            <a:chExt cx="8467725" cy="3438525"/>
          </a:xfrm>
        </p:grpSpPr>
        <p:sp>
          <p:nvSpPr>
            <p:cNvPr id="48" name="object 48"/>
            <p:cNvSpPr/>
            <p:nvPr/>
          </p:nvSpPr>
          <p:spPr>
            <a:xfrm>
              <a:off x="345947" y="2461260"/>
              <a:ext cx="8458200" cy="3429000"/>
            </a:xfrm>
            <a:custGeom>
              <a:avLst/>
              <a:gdLst/>
              <a:ahLst/>
              <a:cxnLst/>
              <a:rect l="l" t="t" r="r" b="b"/>
              <a:pathLst>
                <a:path w="8458200" h="3429000">
                  <a:moveTo>
                    <a:pt x="8458200" y="0"/>
                  </a:moveTo>
                  <a:lnTo>
                    <a:pt x="0" y="0"/>
                  </a:lnTo>
                  <a:lnTo>
                    <a:pt x="0" y="3429000"/>
                  </a:lnTo>
                  <a:lnTo>
                    <a:pt x="8458200" y="3429000"/>
                  </a:lnTo>
                  <a:lnTo>
                    <a:pt x="8458200" y="0"/>
                  </a:lnTo>
                  <a:close/>
                </a:path>
              </a:pathLst>
            </a:custGeom>
            <a:solidFill>
              <a:srgbClr val="99CCFF"/>
            </a:solidFill>
          </p:spPr>
          <p:txBody>
            <a:bodyPr wrap="square" lIns="0" tIns="0" rIns="0" bIns="0" rtlCol="0"/>
            <a:lstStyle/>
            <a:p>
              <a:endParaRPr/>
            </a:p>
          </p:txBody>
        </p:sp>
        <p:sp>
          <p:nvSpPr>
            <p:cNvPr id="49" name="object 49"/>
            <p:cNvSpPr/>
            <p:nvPr/>
          </p:nvSpPr>
          <p:spPr>
            <a:xfrm>
              <a:off x="345947" y="2461260"/>
              <a:ext cx="8458200" cy="3429000"/>
            </a:xfrm>
            <a:custGeom>
              <a:avLst/>
              <a:gdLst/>
              <a:ahLst/>
              <a:cxnLst/>
              <a:rect l="l" t="t" r="r" b="b"/>
              <a:pathLst>
                <a:path w="8458200" h="3429000">
                  <a:moveTo>
                    <a:pt x="0" y="3429000"/>
                  </a:moveTo>
                  <a:lnTo>
                    <a:pt x="8458200" y="3429000"/>
                  </a:lnTo>
                  <a:lnTo>
                    <a:pt x="8458200" y="0"/>
                  </a:lnTo>
                  <a:lnTo>
                    <a:pt x="0" y="0"/>
                  </a:lnTo>
                  <a:lnTo>
                    <a:pt x="0" y="3429000"/>
                  </a:lnTo>
                  <a:close/>
                </a:path>
              </a:pathLst>
            </a:custGeom>
            <a:ln w="9144">
              <a:solidFill>
                <a:srgbClr val="000000"/>
              </a:solidFill>
            </a:ln>
          </p:spPr>
          <p:txBody>
            <a:bodyPr wrap="square" lIns="0" tIns="0" rIns="0" bIns="0" rtlCol="0"/>
            <a:lstStyle/>
            <a:p>
              <a:endParaRPr/>
            </a:p>
          </p:txBody>
        </p:sp>
      </p:grpSp>
      <p:sp>
        <p:nvSpPr>
          <p:cNvPr id="50" name="object 50"/>
          <p:cNvSpPr txBox="1"/>
          <p:nvPr/>
        </p:nvSpPr>
        <p:spPr>
          <a:xfrm>
            <a:off x="553516" y="2816098"/>
            <a:ext cx="8037830" cy="329565"/>
          </a:xfrm>
          <a:prstGeom prst="rect">
            <a:avLst/>
          </a:prstGeom>
        </p:spPr>
        <p:txBody>
          <a:bodyPr vert="horz" wrap="square" lIns="0" tIns="11430" rIns="0" bIns="0" rtlCol="0">
            <a:spAutoFit/>
          </a:bodyPr>
          <a:lstStyle/>
          <a:p>
            <a:pPr marL="38100">
              <a:lnSpc>
                <a:spcPct val="100000"/>
              </a:lnSpc>
              <a:spcBef>
                <a:spcPts val="90"/>
              </a:spcBef>
            </a:pPr>
            <a:r>
              <a:rPr sz="2000" b="1" i="1" spc="-10" dirty="0">
                <a:latin typeface="Arial"/>
                <a:cs typeface="Arial"/>
              </a:rPr>
              <a:t>Average </a:t>
            </a:r>
            <a:r>
              <a:rPr sz="2000" b="1" i="1" spc="-5" dirty="0">
                <a:latin typeface="Arial"/>
                <a:cs typeface="Arial"/>
              </a:rPr>
              <a:t>completion time </a:t>
            </a:r>
            <a:r>
              <a:rPr sz="2000" b="1" spc="-5" dirty="0">
                <a:latin typeface="Arial"/>
                <a:cs typeface="Arial"/>
              </a:rPr>
              <a:t>= </a:t>
            </a:r>
            <a:r>
              <a:rPr sz="2700" b="1" i="1" baseline="44753" dirty="0">
                <a:latin typeface="Arial"/>
                <a:cs typeface="Arial"/>
              </a:rPr>
              <a:t>Sum of total flow time </a:t>
            </a:r>
            <a:r>
              <a:rPr sz="2000" b="1" spc="-5" dirty="0">
                <a:latin typeface="Arial"/>
                <a:cs typeface="Arial"/>
              </a:rPr>
              <a:t>= </a:t>
            </a:r>
            <a:r>
              <a:rPr sz="2000" b="1" spc="-10" dirty="0">
                <a:latin typeface="Arial"/>
                <a:cs typeface="Arial"/>
              </a:rPr>
              <a:t>77/5 </a:t>
            </a:r>
            <a:r>
              <a:rPr sz="2000" b="1" spc="-5" dirty="0">
                <a:latin typeface="Arial"/>
                <a:cs typeface="Arial"/>
              </a:rPr>
              <a:t>= </a:t>
            </a:r>
            <a:r>
              <a:rPr sz="2000" b="1" spc="-10" dirty="0">
                <a:latin typeface="Arial"/>
                <a:cs typeface="Arial"/>
              </a:rPr>
              <a:t>15.4</a:t>
            </a:r>
            <a:r>
              <a:rPr sz="2000" b="1" spc="165" dirty="0">
                <a:latin typeface="Arial"/>
                <a:cs typeface="Arial"/>
              </a:rPr>
              <a:t> </a:t>
            </a:r>
            <a:r>
              <a:rPr sz="2000" b="1" i="1" spc="-10" dirty="0">
                <a:latin typeface="Arial"/>
                <a:cs typeface="Arial"/>
              </a:rPr>
              <a:t>days</a:t>
            </a:r>
            <a:endParaRPr sz="2000" dirty="0">
              <a:latin typeface="Arial"/>
              <a:cs typeface="Arial"/>
            </a:endParaRPr>
          </a:p>
        </p:txBody>
      </p:sp>
      <p:sp>
        <p:nvSpPr>
          <p:cNvPr id="51" name="object 51"/>
          <p:cNvSpPr txBox="1"/>
          <p:nvPr/>
        </p:nvSpPr>
        <p:spPr>
          <a:xfrm>
            <a:off x="4269994" y="2960623"/>
            <a:ext cx="1702435" cy="299720"/>
          </a:xfrm>
          <a:prstGeom prst="rect">
            <a:avLst/>
          </a:prstGeom>
        </p:spPr>
        <p:txBody>
          <a:bodyPr vert="horz" wrap="square" lIns="0" tIns="12700" rIns="0" bIns="0" rtlCol="0">
            <a:spAutoFit/>
          </a:bodyPr>
          <a:lstStyle/>
          <a:p>
            <a:pPr marL="12700">
              <a:lnSpc>
                <a:spcPct val="100000"/>
              </a:lnSpc>
              <a:spcBef>
                <a:spcPts val="100"/>
              </a:spcBef>
            </a:pPr>
            <a:r>
              <a:rPr sz="1800" b="1" i="1" dirty="0">
                <a:latin typeface="Arial"/>
                <a:cs typeface="Arial"/>
              </a:rPr>
              <a:t>Number of</a:t>
            </a:r>
            <a:r>
              <a:rPr sz="1800" b="1" i="1" spc="-100" dirty="0">
                <a:latin typeface="Arial"/>
                <a:cs typeface="Arial"/>
              </a:rPr>
              <a:t> </a:t>
            </a:r>
            <a:r>
              <a:rPr sz="1800" b="1" i="1" dirty="0">
                <a:latin typeface="Arial"/>
                <a:cs typeface="Arial"/>
              </a:rPr>
              <a:t>jobs</a:t>
            </a:r>
            <a:endParaRPr sz="1800" dirty="0">
              <a:latin typeface="Arial"/>
              <a:cs typeface="Arial"/>
            </a:endParaRPr>
          </a:p>
        </p:txBody>
      </p:sp>
      <p:sp>
        <p:nvSpPr>
          <p:cNvPr id="52" name="object 52"/>
          <p:cNvSpPr/>
          <p:nvPr/>
        </p:nvSpPr>
        <p:spPr>
          <a:xfrm>
            <a:off x="3162300" y="2994660"/>
            <a:ext cx="3161030" cy="814069"/>
          </a:xfrm>
          <a:custGeom>
            <a:avLst/>
            <a:gdLst/>
            <a:ahLst/>
            <a:cxnLst/>
            <a:rect l="l" t="t" r="r" b="b"/>
            <a:pathLst>
              <a:path w="3161029" h="814070">
                <a:moveTo>
                  <a:pt x="3160776" y="0"/>
                </a:moveTo>
                <a:lnTo>
                  <a:pt x="771144" y="0"/>
                </a:lnTo>
              </a:path>
              <a:path w="3161029" h="814070">
                <a:moveTo>
                  <a:pt x="0" y="813815"/>
                </a:moveTo>
                <a:lnTo>
                  <a:pt x="2395728" y="813815"/>
                </a:lnTo>
              </a:path>
            </a:pathLst>
          </a:custGeom>
          <a:ln w="27432">
            <a:solidFill>
              <a:srgbClr val="000000"/>
            </a:solidFill>
          </a:ln>
        </p:spPr>
        <p:txBody>
          <a:bodyPr wrap="square" lIns="0" tIns="0" rIns="0" bIns="0" rtlCol="0"/>
          <a:lstStyle/>
          <a:p>
            <a:endParaRPr/>
          </a:p>
        </p:txBody>
      </p:sp>
      <p:sp>
        <p:nvSpPr>
          <p:cNvPr id="53" name="object 53"/>
          <p:cNvSpPr txBox="1"/>
          <p:nvPr/>
        </p:nvSpPr>
        <p:spPr>
          <a:xfrm>
            <a:off x="856894" y="4525213"/>
            <a:ext cx="2234565" cy="329565"/>
          </a:xfrm>
          <a:prstGeom prst="rect">
            <a:avLst/>
          </a:prstGeom>
        </p:spPr>
        <p:txBody>
          <a:bodyPr vert="horz" wrap="square" lIns="0" tIns="12065" rIns="0" bIns="0" rtlCol="0">
            <a:spAutoFit/>
          </a:bodyPr>
          <a:lstStyle/>
          <a:p>
            <a:pPr marL="12700">
              <a:lnSpc>
                <a:spcPct val="100000"/>
              </a:lnSpc>
              <a:spcBef>
                <a:spcPts val="95"/>
              </a:spcBef>
            </a:pPr>
            <a:r>
              <a:rPr sz="2000" b="1" i="1" spc="-5" dirty="0">
                <a:latin typeface="Arial"/>
                <a:cs typeface="Arial"/>
              </a:rPr>
              <a:t>jobs in the</a:t>
            </a:r>
            <a:r>
              <a:rPr sz="2000" b="1" i="1" spc="-55" dirty="0">
                <a:latin typeface="Arial"/>
                <a:cs typeface="Arial"/>
              </a:rPr>
              <a:t> </a:t>
            </a:r>
            <a:r>
              <a:rPr sz="2000" b="1" i="1" spc="-10" dirty="0">
                <a:latin typeface="Arial"/>
                <a:cs typeface="Arial"/>
              </a:rPr>
              <a:t>system</a:t>
            </a:r>
            <a:endParaRPr sz="2000">
              <a:latin typeface="Arial"/>
              <a:cs typeface="Arial"/>
            </a:endParaRPr>
          </a:p>
        </p:txBody>
      </p:sp>
      <p:sp>
        <p:nvSpPr>
          <p:cNvPr id="54" name="object 54"/>
          <p:cNvSpPr txBox="1"/>
          <p:nvPr/>
        </p:nvSpPr>
        <p:spPr>
          <a:xfrm>
            <a:off x="861443" y="3489426"/>
            <a:ext cx="7473950" cy="1109980"/>
          </a:xfrm>
          <a:prstGeom prst="rect">
            <a:avLst/>
          </a:prstGeom>
        </p:spPr>
        <p:txBody>
          <a:bodyPr vert="horz" wrap="square" lIns="0" tIns="12700" rIns="0" bIns="0" rtlCol="0">
            <a:spAutoFit/>
          </a:bodyPr>
          <a:lstStyle/>
          <a:p>
            <a:pPr marR="372110" algn="ctr">
              <a:lnSpc>
                <a:spcPts val="1795"/>
              </a:lnSpc>
              <a:spcBef>
                <a:spcPts val="100"/>
              </a:spcBef>
            </a:pPr>
            <a:r>
              <a:rPr sz="1800" b="1" i="1" spc="-15" dirty="0">
                <a:latin typeface="Arial"/>
                <a:cs typeface="Arial"/>
              </a:rPr>
              <a:t>Total </a:t>
            </a:r>
            <a:r>
              <a:rPr sz="1800" b="1" i="1" dirty="0">
                <a:latin typeface="Arial"/>
                <a:cs typeface="Arial"/>
              </a:rPr>
              <a:t>job </a:t>
            </a:r>
            <a:r>
              <a:rPr sz="1800" b="1" i="1" spc="-5" dirty="0">
                <a:latin typeface="Arial"/>
                <a:cs typeface="Arial"/>
              </a:rPr>
              <a:t>work</a:t>
            </a:r>
            <a:r>
              <a:rPr sz="1800" b="1" i="1" spc="-20" dirty="0">
                <a:latin typeface="Arial"/>
                <a:cs typeface="Arial"/>
              </a:rPr>
              <a:t> </a:t>
            </a:r>
            <a:r>
              <a:rPr sz="1800" b="1" i="1" dirty="0">
                <a:latin typeface="Arial"/>
                <a:cs typeface="Arial"/>
              </a:rPr>
              <a:t>time</a:t>
            </a:r>
            <a:endParaRPr sz="1800" dirty="0">
              <a:latin typeface="Arial"/>
              <a:cs typeface="Arial"/>
            </a:endParaRPr>
          </a:p>
          <a:p>
            <a:pPr marL="62865" algn="ctr">
              <a:lnSpc>
                <a:spcPts val="2035"/>
              </a:lnSpc>
            </a:pPr>
            <a:r>
              <a:rPr sz="2000" b="1" i="1" spc="-5" dirty="0">
                <a:latin typeface="Arial"/>
                <a:cs typeface="Arial"/>
              </a:rPr>
              <a:t>Utilization </a:t>
            </a:r>
            <a:r>
              <a:rPr sz="2000" b="1" spc="-5" dirty="0">
                <a:latin typeface="Arial"/>
                <a:cs typeface="Arial"/>
              </a:rPr>
              <a:t>= </a:t>
            </a:r>
            <a:r>
              <a:rPr sz="2700" b="1" i="1" baseline="-23148" dirty="0">
                <a:latin typeface="Arial"/>
                <a:cs typeface="Arial"/>
              </a:rPr>
              <a:t>Sum of total flow time </a:t>
            </a:r>
            <a:r>
              <a:rPr sz="2000" b="1" spc="-5" dirty="0">
                <a:latin typeface="Arial"/>
                <a:cs typeface="Arial"/>
              </a:rPr>
              <a:t>= </a:t>
            </a:r>
            <a:r>
              <a:rPr sz="2000" b="1" spc="-10" dirty="0">
                <a:latin typeface="Arial"/>
                <a:cs typeface="Arial"/>
              </a:rPr>
              <a:t>28/77 </a:t>
            </a:r>
            <a:r>
              <a:rPr sz="2000" b="1" spc="-5" dirty="0">
                <a:latin typeface="Arial"/>
                <a:cs typeface="Arial"/>
              </a:rPr>
              <a:t>=</a:t>
            </a:r>
            <a:r>
              <a:rPr sz="2000" b="1" spc="45" dirty="0">
                <a:latin typeface="Arial"/>
                <a:cs typeface="Arial"/>
              </a:rPr>
              <a:t> </a:t>
            </a:r>
            <a:r>
              <a:rPr sz="2000" b="1" spc="-10" dirty="0">
                <a:latin typeface="Arial"/>
                <a:cs typeface="Arial"/>
              </a:rPr>
              <a:t>36.4%</a:t>
            </a:r>
            <a:endParaRPr sz="2000" dirty="0">
              <a:latin typeface="Arial"/>
              <a:cs typeface="Arial"/>
            </a:endParaRPr>
          </a:p>
          <a:p>
            <a:pPr algn="ctr">
              <a:lnSpc>
                <a:spcPct val="100000"/>
              </a:lnSpc>
              <a:spcBef>
                <a:spcPts val="2305"/>
              </a:spcBef>
            </a:pPr>
            <a:r>
              <a:rPr sz="3000" b="1" i="1" spc="-15" baseline="-5555" dirty="0">
                <a:latin typeface="Arial"/>
                <a:cs typeface="Arial"/>
              </a:rPr>
              <a:t>Average </a:t>
            </a:r>
            <a:r>
              <a:rPr sz="3000" b="1" i="1" spc="-7" baseline="-5555" dirty="0">
                <a:latin typeface="Arial"/>
                <a:cs typeface="Arial"/>
              </a:rPr>
              <a:t>number of </a:t>
            </a:r>
            <a:r>
              <a:rPr sz="3000" b="1" spc="-7" baseline="-38888" dirty="0">
                <a:latin typeface="Arial"/>
                <a:cs typeface="Arial"/>
              </a:rPr>
              <a:t>=</a:t>
            </a:r>
            <a:r>
              <a:rPr sz="2000" b="1" u="heavy" spc="-5" dirty="0">
                <a:uFill>
                  <a:solidFill>
                    <a:srgbClr val="000000"/>
                  </a:solidFill>
                </a:uFill>
                <a:latin typeface="Arial"/>
                <a:cs typeface="Arial"/>
              </a:rPr>
              <a:t> </a:t>
            </a:r>
            <a:r>
              <a:rPr sz="1800" b="1" i="1" u="heavy" dirty="0">
                <a:uFill>
                  <a:solidFill>
                    <a:srgbClr val="000000"/>
                  </a:solidFill>
                </a:uFill>
                <a:latin typeface="Arial"/>
                <a:cs typeface="Arial"/>
              </a:rPr>
              <a:t>Sum of total flow time</a:t>
            </a:r>
            <a:r>
              <a:rPr sz="1800" b="1" i="1" dirty="0">
                <a:latin typeface="Arial"/>
                <a:cs typeface="Arial"/>
              </a:rPr>
              <a:t> </a:t>
            </a:r>
            <a:r>
              <a:rPr sz="3000" b="1" spc="-7" baseline="-38888" dirty="0">
                <a:latin typeface="Arial"/>
                <a:cs typeface="Arial"/>
              </a:rPr>
              <a:t>= 77/28 = 2.75</a:t>
            </a:r>
            <a:r>
              <a:rPr sz="3000" b="1" spc="-337" baseline="-38888" dirty="0">
                <a:latin typeface="Arial"/>
                <a:cs typeface="Arial"/>
              </a:rPr>
              <a:t> </a:t>
            </a:r>
            <a:r>
              <a:rPr sz="3000" b="1" i="1" spc="-7" baseline="-38888" dirty="0">
                <a:latin typeface="Arial"/>
                <a:cs typeface="Arial"/>
              </a:rPr>
              <a:t>jobs</a:t>
            </a:r>
            <a:endParaRPr sz="3000" baseline="-38888" dirty="0">
              <a:latin typeface="Arial"/>
              <a:cs typeface="Arial"/>
            </a:endParaRPr>
          </a:p>
        </p:txBody>
      </p:sp>
      <p:sp>
        <p:nvSpPr>
          <p:cNvPr id="55" name="object 55"/>
          <p:cNvSpPr txBox="1"/>
          <p:nvPr/>
        </p:nvSpPr>
        <p:spPr>
          <a:xfrm>
            <a:off x="3684523" y="4569332"/>
            <a:ext cx="2099310" cy="299720"/>
          </a:xfrm>
          <a:prstGeom prst="rect">
            <a:avLst/>
          </a:prstGeom>
        </p:spPr>
        <p:txBody>
          <a:bodyPr vert="horz" wrap="square" lIns="0" tIns="12700" rIns="0" bIns="0" rtlCol="0">
            <a:spAutoFit/>
          </a:bodyPr>
          <a:lstStyle/>
          <a:p>
            <a:pPr marL="12700">
              <a:lnSpc>
                <a:spcPct val="100000"/>
              </a:lnSpc>
              <a:spcBef>
                <a:spcPts val="100"/>
              </a:spcBef>
            </a:pPr>
            <a:r>
              <a:rPr sz="1800" b="1" i="1" spc="-15" dirty="0">
                <a:latin typeface="Arial"/>
                <a:cs typeface="Arial"/>
              </a:rPr>
              <a:t>Total </a:t>
            </a:r>
            <a:r>
              <a:rPr sz="1800" b="1" i="1" dirty="0">
                <a:latin typeface="Arial"/>
                <a:cs typeface="Arial"/>
              </a:rPr>
              <a:t>job </a:t>
            </a:r>
            <a:r>
              <a:rPr sz="1800" b="1" i="1" spc="-5" dirty="0">
                <a:latin typeface="Arial"/>
                <a:cs typeface="Arial"/>
              </a:rPr>
              <a:t>work</a:t>
            </a:r>
            <a:r>
              <a:rPr sz="1800" b="1" i="1" spc="-75" dirty="0">
                <a:latin typeface="Arial"/>
                <a:cs typeface="Arial"/>
              </a:rPr>
              <a:t> </a:t>
            </a:r>
            <a:r>
              <a:rPr sz="1800" b="1" i="1" dirty="0">
                <a:latin typeface="Arial"/>
                <a:cs typeface="Arial"/>
              </a:rPr>
              <a:t>time</a:t>
            </a:r>
            <a:endParaRPr sz="1800" dirty="0">
              <a:latin typeface="Arial"/>
              <a:cs typeface="Arial"/>
            </a:endParaRPr>
          </a:p>
        </p:txBody>
      </p:sp>
      <p:sp>
        <p:nvSpPr>
          <p:cNvPr id="56" name="object 56"/>
          <p:cNvSpPr txBox="1"/>
          <p:nvPr/>
        </p:nvSpPr>
        <p:spPr>
          <a:xfrm>
            <a:off x="1145844" y="5255209"/>
            <a:ext cx="2783840" cy="329565"/>
          </a:xfrm>
          <a:prstGeom prst="rect">
            <a:avLst/>
          </a:prstGeom>
        </p:spPr>
        <p:txBody>
          <a:bodyPr vert="horz" wrap="square" lIns="0" tIns="12065" rIns="0" bIns="0" rtlCol="0">
            <a:spAutoFit/>
          </a:bodyPr>
          <a:lstStyle/>
          <a:p>
            <a:pPr marL="12700">
              <a:lnSpc>
                <a:spcPct val="100000"/>
              </a:lnSpc>
              <a:spcBef>
                <a:spcPts val="95"/>
              </a:spcBef>
            </a:pPr>
            <a:r>
              <a:rPr sz="2000" b="1" i="1" spc="-5" dirty="0">
                <a:latin typeface="Arial"/>
                <a:cs typeface="Arial"/>
              </a:rPr>
              <a:t>Average job lateness</a:t>
            </a:r>
            <a:r>
              <a:rPr sz="2000" b="1" i="1" spc="-20" dirty="0">
                <a:latin typeface="Arial"/>
                <a:cs typeface="Arial"/>
              </a:rPr>
              <a:t> </a:t>
            </a:r>
            <a:r>
              <a:rPr sz="2000" b="1" spc="-5" dirty="0">
                <a:latin typeface="Arial"/>
                <a:cs typeface="Arial"/>
              </a:rPr>
              <a:t>=</a:t>
            </a:r>
            <a:endParaRPr sz="2000" dirty="0">
              <a:latin typeface="Arial"/>
              <a:cs typeface="Arial"/>
            </a:endParaRPr>
          </a:p>
        </p:txBody>
      </p:sp>
      <p:sp>
        <p:nvSpPr>
          <p:cNvPr id="57" name="object 57"/>
          <p:cNvSpPr txBox="1"/>
          <p:nvPr/>
        </p:nvSpPr>
        <p:spPr>
          <a:xfrm>
            <a:off x="5929114" y="5255209"/>
            <a:ext cx="2012950" cy="329565"/>
          </a:xfrm>
          <a:prstGeom prst="rect">
            <a:avLst/>
          </a:prstGeom>
        </p:spPr>
        <p:txBody>
          <a:bodyPr vert="horz" wrap="square" lIns="0" tIns="12065" rIns="0" bIns="0" rtlCol="0">
            <a:spAutoFit/>
          </a:bodyPr>
          <a:lstStyle/>
          <a:p>
            <a:pPr marL="12700">
              <a:lnSpc>
                <a:spcPct val="100000"/>
              </a:lnSpc>
              <a:spcBef>
                <a:spcPts val="95"/>
              </a:spcBef>
            </a:pPr>
            <a:r>
              <a:rPr sz="2000" b="1" spc="-5" dirty="0">
                <a:latin typeface="Arial"/>
                <a:cs typeface="Arial"/>
              </a:rPr>
              <a:t>= </a:t>
            </a:r>
            <a:r>
              <a:rPr sz="2000" b="1" spc="-40" dirty="0">
                <a:latin typeface="Arial"/>
                <a:cs typeface="Arial"/>
              </a:rPr>
              <a:t>11/5 </a:t>
            </a:r>
            <a:r>
              <a:rPr sz="2000" b="1" spc="-5" dirty="0">
                <a:latin typeface="Arial"/>
                <a:cs typeface="Arial"/>
              </a:rPr>
              <a:t>= </a:t>
            </a:r>
            <a:r>
              <a:rPr sz="2000" b="1" spc="-10" dirty="0">
                <a:latin typeface="Arial"/>
                <a:cs typeface="Arial"/>
              </a:rPr>
              <a:t>2.2</a:t>
            </a:r>
            <a:r>
              <a:rPr sz="2000" b="1" spc="10" dirty="0">
                <a:latin typeface="Arial"/>
                <a:cs typeface="Arial"/>
              </a:rPr>
              <a:t> </a:t>
            </a:r>
            <a:r>
              <a:rPr sz="2000" b="1" i="1" spc="-5" dirty="0">
                <a:latin typeface="Arial"/>
                <a:cs typeface="Arial"/>
              </a:rPr>
              <a:t>days</a:t>
            </a:r>
            <a:endParaRPr sz="2000" dirty="0">
              <a:latin typeface="Arial"/>
              <a:cs typeface="Arial"/>
            </a:endParaRPr>
          </a:p>
        </p:txBody>
      </p:sp>
      <p:sp>
        <p:nvSpPr>
          <p:cNvPr id="58" name="object 58"/>
          <p:cNvSpPr txBox="1"/>
          <p:nvPr/>
        </p:nvSpPr>
        <p:spPr>
          <a:xfrm>
            <a:off x="4098797" y="5044667"/>
            <a:ext cx="1702435" cy="629920"/>
          </a:xfrm>
          <a:prstGeom prst="rect">
            <a:avLst/>
          </a:prstGeom>
        </p:spPr>
        <p:txBody>
          <a:bodyPr vert="horz" wrap="square" lIns="0" tIns="40640" rIns="0" bIns="0" rtlCol="0">
            <a:spAutoFit/>
          </a:bodyPr>
          <a:lstStyle/>
          <a:p>
            <a:pPr marL="57785">
              <a:lnSpc>
                <a:spcPct val="100000"/>
              </a:lnSpc>
              <a:spcBef>
                <a:spcPts val="320"/>
              </a:spcBef>
            </a:pPr>
            <a:r>
              <a:rPr sz="1800" b="1" i="1" spc="-15" dirty="0">
                <a:latin typeface="Arial"/>
                <a:cs typeface="Arial"/>
              </a:rPr>
              <a:t>Total </a:t>
            </a:r>
            <a:r>
              <a:rPr sz="1800" b="1" i="1" dirty="0">
                <a:latin typeface="Arial"/>
                <a:cs typeface="Arial"/>
              </a:rPr>
              <a:t>late</a:t>
            </a:r>
            <a:r>
              <a:rPr sz="1800" b="1" i="1" spc="-70" dirty="0">
                <a:latin typeface="Arial"/>
                <a:cs typeface="Arial"/>
              </a:rPr>
              <a:t> </a:t>
            </a:r>
            <a:r>
              <a:rPr sz="1800" b="1" i="1" dirty="0">
                <a:latin typeface="Arial"/>
                <a:cs typeface="Arial"/>
              </a:rPr>
              <a:t>days</a:t>
            </a:r>
            <a:endParaRPr sz="1800" dirty="0">
              <a:latin typeface="Arial"/>
              <a:cs typeface="Arial"/>
            </a:endParaRPr>
          </a:p>
          <a:p>
            <a:pPr marL="12700">
              <a:lnSpc>
                <a:spcPct val="100000"/>
              </a:lnSpc>
              <a:spcBef>
                <a:spcPts val="215"/>
              </a:spcBef>
            </a:pPr>
            <a:r>
              <a:rPr sz="1800" b="1" i="1" dirty="0">
                <a:latin typeface="Arial"/>
                <a:cs typeface="Arial"/>
              </a:rPr>
              <a:t>Number of</a:t>
            </a:r>
            <a:r>
              <a:rPr sz="1800" b="1" i="1" spc="-100" dirty="0">
                <a:latin typeface="Arial"/>
                <a:cs typeface="Arial"/>
              </a:rPr>
              <a:t> </a:t>
            </a:r>
            <a:r>
              <a:rPr sz="1800" b="1" i="1" dirty="0">
                <a:latin typeface="Arial"/>
                <a:cs typeface="Arial"/>
              </a:rPr>
              <a:t>jobs</a:t>
            </a:r>
            <a:endParaRPr sz="1800" dirty="0">
              <a:latin typeface="Arial"/>
              <a:cs typeface="Arial"/>
            </a:endParaRPr>
          </a:p>
        </p:txBody>
      </p:sp>
      <p:sp>
        <p:nvSpPr>
          <p:cNvPr id="59" name="object 59"/>
          <p:cNvSpPr/>
          <p:nvPr/>
        </p:nvSpPr>
        <p:spPr>
          <a:xfrm>
            <a:off x="4046220" y="5420867"/>
            <a:ext cx="1807845" cy="0"/>
          </a:xfrm>
          <a:custGeom>
            <a:avLst/>
            <a:gdLst/>
            <a:ahLst/>
            <a:cxnLst/>
            <a:rect l="l" t="t" r="r" b="b"/>
            <a:pathLst>
              <a:path w="1807845">
                <a:moveTo>
                  <a:pt x="0" y="0"/>
                </a:moveTo>
                <a:lnTo>
                  <a:pt x="1807464" y="0"/>
                </a:lnTo>
              </a:path>
            </a:pathLst>
          </a:custGeom>
          <a:ln w="27432">
            <a:solidFill>
              <a:srgbClr val="000000"/>
            </a:solidFill>
          </a:ln>
        </p:spPr>
        <p:txBody>
          <a:bodyPr wrap="square" lIns="0" tIns="0" rIns="0" bIns="0" rtlCol="0"/>
          <a:lstStyle/>
          <a:p>
            <a:endParaRPr/>
          </a:p>
        </p:txBody>
      </p:sp>
      <p:grpSp>
        <p:nvGrpSpPr>
          <p:cNvPr id="60" name="object 60"/>
          <p:cNvGrpSpPr/>
          <p:nvPr/>
        </p:nvGrpSpPr>
        <p:grpSpPr>
          <a:xfrm>
            <a:off x="12191" y="6437376"/>
            <a:ext cx="1628139" cy="411480"/>
            <a:chOff x="12191" y="6437376"/>
            <a:chExt cx="1628139" cy="411480"/>
          </a:xfrm>
        </p:grpSpPr>
        <p:sp>
          <p:nvSpPr>
            <p:cNvPr id="61" name="object 61"/>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62" name="object 62"/>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63" name="object 63"/>
          <p:cNvGrpSpPr/>
          <p:nvPr/>
        </p:nvGrpSpPr>
        <p:grpSpPr>
          <a:xfrm>
            <a:off x="7491983" y="6437376"/>
            <a:ext cx="1630680" cy="411480"/>
            <a:chOff x="7491983" y="6437376"/>
            <a:chExt cx="1630680" cy="411480"/>
          </a:xfrm>
        </p:grpSpPr>
        <p:sp>
          <p:nvSpPr>
            <p:cNvPr id="64" name="object 64"/>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65" name="object 65"/>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26</a:t>
            </a:r>
            <a:endParaRPr sz="900">
              <a:latin typeface="Arial"/>
              <a:cs typeface="Arial"/>
            </a:endParaRPr>
          </a:p>
        </p:txBody>
      </p:sp>
      <p:sp>
        <p:nvSpPr>
          <p:cNvPr id="4" name="object 4"/>
          <p:cNvSpPr/>
          <p:nvPr/>
        </p:nvSpPr>
        <p:spPr>
          <a:xfrm>
            <a:off x="704087" y="4672584"/>
            <a:ext cx="1582420" cy="407670"/>
          </a:xfrm>
          <a:custGeom>
            <a:avLst/>
            <a:gdLst/>
            <a:ahLst/>
            <a:cxnLst/>
            <a:rect l="l" t="t" r="r" b="b"/>
            <a:pathLst>
              <a:path w="1582420" h="407670">
                <a:moveTo>
                  <a:pt x="0" y="407416"/>
                </a:moveTo>
                <a:lnTo>
                  <a:pt x="1581912" y="407416"/>
                </a:lnTo>
                <a:lnTo>
                  <a:pt x="1581912" y="0"/>
                </a:lnTo>
                <a:lnTo>
                  <a:pt x="0" y="0"/>
                </a:lnTo>
                <a:lnTo>
                  <a:pt x="0" y="407416"/>
                </a:lnTo>
                <a:close/>
              </a:path>
            </a:pathLst>
          </a:custGeom>
          <a:solidFill>
            <a:srgbClr val="99CCFF"/>
          </a:solidFill>
        </p:spPr>
        <p:txBody>
          <a:bodyPr wrap="square" lIns="0" tIns="0" rIns="0" bIns="0" rtlCol="0"/>
          <a:lstStyle/>
          <a:p>
            <a:endParaRPr/>
          </a:p>
        </p:txBody>
      </p:sp>
      <p:grpSp>
        <p:nvGrpSpPr>
          <p:cNvPr id="5" name="object 5"/>
          <p:cNvGrpSpPr/>
          <p:nvPr/>
        </p:nvGrpSpPr>
        <p:grpSpPr>
          <a:xfrm>
            <a:off x="685800" y="3314700"/>
            <a:ext cx="1600200" cy="457200"/>
            <a:chOff x="685800" y="3314700"/>
            <a:chExt cx="1600200" cy="457200"/>
          </a:xfrm>
        </p:grpSpPr>
        <p:sp>
          <p:nvSpPr>
            <p:cNvPr id="6" name="object 6"/>
            <p:cNvSpPr/>
            <p:nvPr/>
          </p:nvSpPr>
          <p:spPr>
            <a:xfrm>
              <a:off x="704088" y="3328416"/>
              <a:ext cx="1582420" cy="443865"/>
            </a:xfrm>
            <a:custGeom>
              <a:avLst/>
              <a:gdLst/>
              <a:ahLst/>
              <a:cxnLst/>
              <a:rect l="l" t="t" r="r" b="b"/>
              <a:pathLst>
                <a:path w="1582420" h="443864">
                  <a:moveTo>
                    <a:pt x="0" y="443484"/>
                  </a:moveTo>
                  <a:lnTo>
                    <a:pt x="1581912" y="443484"/>
                  </a:lnTo>
                  <a:lnTo>
                    <a:pt x="1581912" y="0"/>
                  </a:lnTo>
                  <a:lnTo>
                    <a:pt x="0" y="0"/>
                  </a:lnTo>
                  <a:lnTo>
                    <a:pt x="0" y="443484"/>
                  </a:lnTo>
                  <a:close/>
                </a:path>
              </a:pathLst>
            </a:custGeom>
            <a:solidFill>
              <a:srgbClr val="F400F4"/>
            </a:solidFill>
          </p:spPr>
          <p:txBody>
            <a:bodyPr wrap="square" lIns="0" tIns="0" rIns="0" bIns="0" rtlCol="0"/>
            <a:lstStyle/>
            <a:p>
              <a:endParaRPr/>
            </a:p>
          </p:txBody>
        </p:sp>
        <p:sp>
          <p:nvSpPr>
            <p:cNvPr id="7" name="object 7"/>
            <p:cNvSpPr/>
            <p:nvPr/>
          </p:nvSpPr>
          <p:spPr>
            <a:xfrm>
              <a:off x="685800" y="3314700"/>
              <a:ext cx="1600200" cy="457200"/>
            </a:xfrm>
            <a:custGeom>
              <a:avLst/>
              <a:gdLst/>
              <a:ahLst/>
              <a:cxnLst/>
              <a:rect l="l" t="t" r="r" b="b"/>
              <a:pathLst>
                <a:path w="1600200" h="457200">
                  <a:moveTo>
                    <a:pt x="1600200" y="0"/>
                  </a:moveTo>
                  <a:lnTo>
                    <a:pt x="0" y="0"/>
                  </a:lnTo>
                  <a:lnTo>
                    <a:pt x="0" y="457200"/>
                  </a:lnTo>
                  <a:lnTo>
                    <a:pt x="1600200" y="457200"/>
                  </a:lnTo>
                  <a:lnTo>
                    <a:pt x="1600200" y="0"/>
                  </a:lnTo>
                  <a:close/>
                </a:path>
              </a:pathLst>
            </a:custGeom>
            <a:solidFill>
              <a:srgbClr val="F7FAFF"/>
            </a:solidFill>
          </p:spPr>
          <p:txBody>
            <a:bodyPr wrap="square" lIns="0" tIns="0" rIns="0" bIns="0" rtlCol="0"/>
            <a:lstStyle/>
            <a:p>
              <a:endParaRPr/>
            </a:p>
          </p:txBody>
        </p:sp>
      </p:grpSp>
      <p:sp>
        <p:nvSpPr>
          <p:cNvPr id="8" name="object 8"/>
          <p:cNvSpPr txBox="1">
            <a:spLocks noGrp="1"/>
          </p:cNvSpPr>
          <p:nvPr>
            <p:ph type="title"/>
          </p:nvPr>
        </p:nvSpPr>
        <p:spPr>
          <a:xfrm>
            <a:off x="687323" y="510540"/>
            <a:ext cx="7772400" cy="927100"/>
          </a:xfrm>
          <a:prstGeom prst="rect">
            <a:avLst/>
          </a:prstGeom>
          <a:solidFill>
            <a:srgbClr val="F7FAFF"/>
          </a:solidFill>
          <a:ln w="9144">
            <a:solidFill>
              <a:srgbClr val="000000"/>
            </a:solidFill>
          </a:ln>
        </p:spPr>
        <p:txBody>
          <a:bodyPr vert="horz" wrap="square" lIns="0" tIns="42545" rIns="0" bIns="0" rtlCol="0">
            <a:spAutoFit/>
          </a:bodyPr>
          <a:lstStyle/>
          <a:p>
            <a:pPr algn="ctr">
              <a:lnSpc>
                <a:spcPct val="100000"/>
              </a:lnSpc>
              <a:spcBef>
                <a:spcPts val="335"/>
              </a:spcBef>
            </a:pPr>
            <a:r>
              <a:rPr sz="4400" spc="-5" dirty="0"/>
              <a:t>Sequencing</a:t>
            </a:r>
            <a:r>
              <a:rPr sz="4400" spc="20" dirty="0"/>
              <a:t> </a:t>
            </a:r>
            <a:r>
              <a:rPr sz="4400" spc="-5" dirty="0"/>
              <a:t>Example</a:t>
            </a:r>
            <a:endParaRPr sz="4400"/>
          </a:p>
        </p:txBody>
      </p:sp>
      <p:sp>
        <p:nvSpPr>
          <p:cNvPr id="9" name="object 9"/>
          <p:cNvSpPr/>
          <p:nvPr/>
        </p:nvSpPr>
        <p:spPr>
          <a:xfrm>
            <a:off x="685800" y="4660900"/>
            <a:ext cx="1600200" cy="876300"/>
          </a:xfrm>
          <a:custGeom>
            <a:avLst/>
            <a:gdLst/>
            <a:ahLst/>
            <a:cxnLst/>
            <a:rect l="l" t="t" r="r" b="b"/>
            <a:pathLst>
              <a:path w="1600200" h="876300">
                <a:moveTo>
                  <a:pt x="1600200" y="0"/>
                </a:moveTo>
                <a:lnTo>
                  <a:pt x="0" y="0"/>
                </a:lnTo>
                <a:lnTo>
                  <a:pt x="0" y="419100"/>
                </a:lnTo>
                <a:lnTo>
                  <a:pt x="0" y="876300"/>
                </a:lnTo>
                <a:lnTo>
                  <a:pt x="1600200" y="876300"/>
                </a:lnTo>
                <a:lnTo>
                  <a:pt x="1600200" y="419100"/>
                </a:lnTo>
                <a:lnTo>
                  <a:pt x="1600200" y="0"/>
                </a:lnTo>
                <a:close/>
              </a:path>
            </a:pathLst>
          </a:custGeom>
          <a:solidFill>
            <a:srgbClr val="F7FAFF"/>
          </a:solidFill>
        </p:spPr>
        <p:txBody>
          <a:bodyPr wrap="square" lIns="0" tIns="0" rIns="0" bIns="0" rtlCol="0"/>
          <a:lstStyle/>
          <a:p>
            <a:endParaRPr/>
          </a:p>
        </p:txBody>
      </p:sp>
      <p:graphicFrame>
        <p:nvGraphicFramePr>
          <p:cNvPr id="10" name="object 10"/>
          <p:cNvGraphicFramePr>
            <a:graphicFrameLocks noGrp="1"/>
          </p:cNvGraphicFramePr>
          <p:nvPr/>
        </p:nvGraphicFramePr>
        <p:xfrm>
          <a:off x="704087" y="2434678"/>
          <a:ext cx="7753348" cy="3460420"/>
        </p:xfrm>
        <a:graphic>
          <a:graphicData uri="http://schemas.openxmlformats.org/drawingml/2006/table">
            <a:tbl>
              <a:tblPr firstRow="1" bandRow="1">
                <a:tableStyleId>{2D5ABB26-0587-4C30-8999-92F81FD0307C}</a:tableStyleId>
              </a:tblPr>
              <a:tblGrid>
                <a:gridCol w="1581785">
                  <a:extLst>
                    <a:ext uri="{9D8B030D-6E8A-4147-A177-3AD203B41FA5}">
                      <a16:colId xmlns:a16="http://schemas.microsoft.com/office/drawing/2014/main" val="20000"/>
                    </a:ext>
                  </a:extLst>
                </a:gridCol>
                <a:gridCol w="2134235">
                  <a:extLst>
                    <a:ext uri="{9D8B030D-6E8A-4147-A177-3AD203B41FA5}">
                      <a16:colId xmlns:a16="http://schemas.microsoft.com/office/drawing/2014/main" val="20001"/>
                    </a:ext>
                  </a:extLst>
                </a:gridCol>
                <a:gridCol w="1119504">
                  <a:extLst>
                    <a:ext uri="{9D8B030D-6E8A-4147-A177-3AD203B41FA5}">
                      <a16:colId xmlns:a16="http://schemas.microsoft.com/office/drawing/2014/main" val="20002"/>
                    </a:ext>
                  </a:extLst>
                </a:gridCol>
                <a:gridCol w="1424304">
                  <a:extLst>
                    <a:ext uri="{9D8B030D-6E8A-4147-A177-3AD203B41FA5}">
                      <a16:colId xmlns:a16="http://schemas.microsoft.com/office/drawing/2014/main" val="20003"/>
                    </a:ext>
                  </a:extLst>
                </a:gridCol>
                <a:gridCol w="1493520">
                  <a:extLst>
                    <a:ext uri="{9D8B030D-6E8A-4147-A177-3AD203B41FA5}">
                      <a16:colId xmlns:a16="http://schemas.microsoft.com/office/drawing/2014/main" val="20004"/>
                    </a:ext>
                  </a:extLst>
                </a:gridCol>
              </a:tblGrid>
              <a:tr h="880021">
                <a:tc>
                  <a:txBody>
                    <a:bodyPr/>
                    <a:lstStyle/>
                    <a:p>
                      <a:pPr marR="10160" algn="ctr">
                        <a:lnSpc>
                          <a:spcPts val="2280"/>
                        </a:lnSpc>
                        <a:spcBef>
                          <a:spcPts val="1960"/>
                        </a:spcBef>
                      </a:pPr>
                      <a:r>
                        <a:rPr sz="2000" i="1" spc="-5" dirty="0">
                          <a:latin typeface="Arial"/>
                          <a:cs typeface="Arial"/>
                        </a:rPr>
                        <a:t>Job</a:t>
                      </a:r>
                      <a:endParaRPr sz="2000">
                        <a:latin typeface="Arial"/>
                        <a:cs typeface="Arial"/>
                      </a:endParaRPr>
                    </a:p>
                    <a:p>
                      <a:pPr marR="8255" algn="ctr">
                        <a:lnSpc>
                          <a:spcPts val="2280"/>
                        </a:lnSpc>
                      </a:pPr>
                      <a:r>
                        <a:rPr sz="2000" i="1" spc="-10" dirty="0">
                          <a:latin typeface="Arial"/>
                          <a:cs typeface="Arial"/>
                        </a:rPr>
                        <a:t>Sequence</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394335" marR="310515" indent="635" algn="ctr">
                        <a:lnSpc>
                          <a:spcPts val="2160"/>
                        </a:lnSpc>
                        <a:spcBef>
                          <a:spcPts val="75"/>
                        </a:spcBef>
                      </a:pPr>
                      <a:r>
                        <a:rPr sz="2000" i="1" spc="-5" dirty="0">
                          <a:latin typeface="Arial"/>
                          <a:cs typeface="Arial"/>
                        </a:rPr>
                        <a:t>Job </a:t>
                      </a:r>
                      <a:r>
                        <a:rPr sz="2000" i="1" spc="5" dirty="0">
                          <a:latin typeface="Arial"/>
                          <a:cs typeface="Arial"/>
                        </a:rPr>
                        <a:t>Work  (</a:t>
                      </a:r>
                      <a:r>
                        <a:rPr sz="2000" i="1" spc="-10" dirty="0">
                          <a:latin typeface="Arial"/>
                          <a:cs typeface="Arial"/>
                        </a:rPr>
                        <a:t>P</a:t>
                      </a:r>
                      <a:r>
                        <a:rPr sz="2000" i="1" spc="5" dirty="0">
                          <a:latin typeface="Arial"/>
                          <a:cs typeface="Arial"/>
                        </a:rPr>
                        <a:t>r</a:t>
                      </a:r>
                      <a:r>
                        <a:rPr sz="2000" i="1" dirty="0">
                          <a:latin typeface="Arial"/>
                          <a:cs typeface="Arial"/>
                        </a:rPr>
                        <a:t>oce</a:t>
                      </a:r>
                      <a:r>
                        <a:rPr sz="2000" i="1" spc="10" dirty="0">
                          <a:latin typeface="Arial"/>
                          <a:cs typeface="Arial"/>
                        </a:rPr>
                        <a:t>s</a:t>
                      </a:r>
                      <a:r>
                        <a:rPr sz="2000" i="1" spc="5" dirty="0">
                          <a:latin typeface="Arial"/>
                          <a:cs typeface="Arial"/>
                        </a:rPr>
                        <a:t>s</a:t>
                      </a:r>
                      <a:r>
                        <a:rPr sz="2000" i="1" spc="-10" dirty="0">
                          <a:latin typeface="Arial"/>
                          <a:cs typeface="Arial"/>
                        </a:rPr>
                        <a:t>i</a:t>
                      </a:r>
                      <a:r>
                        <a:rPr sz="2000" i="1" dirty="0">
                          <a:latin typeface="Arial"/>
                          <a:cs typeface="Arial"/>
                        </a:rPr>
                        <a:t>n</a:t>
                      </a:r>
                      <a:r>
                        <a:rPr sz="2000" i="1" spc="-10" dirty="0">
                          <a:latin typeface="Arial"/>
                          <a:cs typeface="Arial"/>
                        </a:rPr>
                        <a:t>g</a:t>
                      </a:r>
                      <a:r>
                        <a:rPr sz="2000" i="1" dirty="0">
                          <a:latin typeface="Arial"/>
                          <a:cs typeface="Arial"/>
                        </a:rPr>
                        <a:t>)  </a:t>
                      </a:r>
                      <a:r>
                        <a:rPr sz="2000" i="1" spc="-15" dirty="0">
                          <a:latin typeface="Arial"/>
                          <a:cs typeface="Arial"/>
                        </a:rPr>
                        <a:t>Time</a:t>
                      </a:r>
                      <a:endParaRPr sz="2000">
                        <a:latin typeface="Arial"/>
                        <a:cs typeface="Arial"/>
                      </a:endParaRPr>
                    </a:p>
                  </a:txBody>
                  <a:tcPr marL="0" marR="0" marT="9525" marB="0">
                    <a:lnB w="38100">
                      <a:solidFill>
                        <a:srgbClr val="000000"/>
                      </a:solidFill>
                      <a:prstDash val="solid"/>
                    </a:lnB>
                    <a:solidFill>
                      <a:srgbClr val="F7FAFF"/>
                    </a:solidFill>
                  </a:tcPr>
                </a:tc>
                <a:tc>
                  <a:txBody>
                    <a:bodyPr/>
                    <a:lstStyle/>
                    <a:p>
                      <a:pPr marL="330200">
                        <a:lnSpc>
                          <a:spcPts val="2280"/>
                        </a:lnSpc>
                        <a:spcBef>
                          <a:spcPts val="1960"/>
                        </a:spcBef>
                      </a:pPr>
                      <a:r>
                        <a:rPr sz="2000" i="1" spc="-10" dirty="0">
                          <a:latin typeface="Arial"/>
                          <a:cs typeface="Arial"/>
                        </a:rPr>
                        <a:t>Flow</a:t>
                      </a:r>
                      <a:endParaRPr sz="2000">
                        <a:latin typeface="Arial"/>
                        <a:cs typeface="Arial"/>
                      </a:endParaRPr>
                    </a:p>
                    <a:p>
                      <a:pPr marL="318135">
                        <a:lnSpc>
                          <a:spcPts val="2280"/>
                        </a:lnSpc>
                      </a:pPr>
                      <a:r>
                        <a:rPr sz="2000" i="1" spc="-15" dirty="0">
                          <a:latin typeface="Arial"/>
                          <a:cs typeface="Arial"/>
                        </a:rPr>
                        <a:t>Time</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3810" algn="ctr">
                        <a:lnSpc>
                          <a:spcPts val="2280"/>
                        </a:lnSpc>
                        <a:spcBef>
                          <a:spcPts val="1960"/>
                        </a:spcBef>
                      </a:pPr>
                      <a:r>
                        <a:rPr sz="2000" i="1" spc="-5" dirty="0">
                          <a:latin typeface="Arial"/>
                          <a:cs typeface="Arial"/>
                        </a:rPr>
                        <a:t>Job</a:t>
                      </a:r>
                      <a:r>
                        <a:rPr sz="2000" i="1" spc="-30" dirty="0">
                          <a:latin typeface="Arial"/>
                          <a:cs typeface="Arial"/>
                        </a:rPr>
                        <a:t> </a:t>
                      </a:r>
                      <a:r>
                        <a:rPr sz="2000" i="1" spc="-5" dirty="0">
                          <a:latin typeface="Arial"/>
                          <a:cs typeface="Arial"/>
                        </a:rPr>
                        <a:t>Due</a:t>
                      </a:r>
                      <a:endParaRPr sz="2000">
                        <a:latin typeface="Arial"/>
                        <a:cs typeface="Arial"/>
                      </a:endParaRPr>
                    </a:p>
                    <a:p>
                      <a:pPr marL="3810" algn="ctr">
                        <a:lnSpc>
                          <a:spcPts val="2280"/>
                        </a:lnSpc>
                      </a:pPr>
                      <a:r>
                        <a:rPr sz="2000" i="1" spc="-5" dirty="0">
                          <a:latin typeface="Arial"/>
                          <a:cs typeface="Arial"/>
                        </a:rPr>
                        <a:t>Date</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8255" algn="ctr">
                        <a:lnSpc>
                          <a:spcPts val="2280"/>
                        </a:lnSpc>
                        <a:spcBef>
                          <a:spcPts val="1960"/>
                        </a:spcBef>
                      </a:pPr>
                      <a:r>
                        <a:rPr sz="2000" i="1" spc="-5" dirty="0">
                          <a:latin typeface="Arial"/>
                          <a:cs typeface="Arial"/>
                        </a:rPr>
                        <a:t>Job</a:t>
                      </a:r>
                      <a:endParaRPr sz="2000">
                        <a:latin typeface="Arial"/>
                        <a:cs typeface="Arial"/>
                      </a:endParaRPr>
                    </a:p>
                    <a:p>
                      <a:pPr marL="9525" algn="ctr">
                        <a:lnSpc>
                          <a:spcPts val="2280"/>
                        </a:lnSpc>
                      </a:pPr>
                      <a:r>
                        <a:rPr sz="2000" i="1" spc="-5" dirty="0">
                          <a:latin typeface="Arial"/>
                          <a:cs typeface="Arial"/>
                        </a:rPr>
                        <a:t>Lateness</a:t>
                      </a:r>
                      <a:endParaRPr sz="2000">
                        <a:latin typeface="Arial"/>
                        <a:cs typeface="Arial"/>
                      </a:endParaRPr>
                    </a:p>
                  </a:txBody>
                  <a:tcPr marL="0" marR="0" marT="248920" marB="0">
                    <a:lnB w="38100">
                      <a:solidFill>
                        <a:srgbClr val="000000"/>
                      </a:solidFill>
                      <a:prstDash val="solid"/>
                    </a:lnB>
                    <a:solidFill>
                      <a:srgbClr val="F7FAFF"/>
                    </a:solidFill>
                  </a:tcPr>
                </a:tc>
                <a:extLst>
                  <a:ext uri="{0D108BD9-81ED-4DB2-BD59-A6C34878D82A}">
                    <a16:rowId xmlns:a16="http://schemas.microsoft.com/office/drawing/2014/main" val="10000"/>
                  </a:ext>
                </a:extLst>
              </a:tr>
              <a:tr h="457199">
                <a:tc>
                  <a:txBody>
                    <a:bodyPr/>
                    <a:lstStyle/>
                    <a:p>
                      <a:pPr marL="699135">
                        <a:lnSpc>
                          <a:spcPct val="100000"/>
                        </a:lnSpc>
                        <a:spcBef>
                          <a:spcPts val="434"/>
                        </a:spcBef>
                      </a:pPr>
                      <a:r>
                        <a:rPr sz="2000" i="1" dirty="0">
                          <a:latin typeface="Arial"/>
                          <a:cs typeface="Arial"/>
                        </a:rPr>
                        <a:t>B</a:t>
                      </a:r>
                      <a:endParaRPr sz="2000">
                        <a:latin typeface="Arial"/>
                        <a:cs typeface="Arial"/>
                      </a:endParaRPr>
                    </a:p>
                  </a:txBody>
                  <a:tcPr marL="0" marR="0" marT="55244" marB="0">
                    <a:lnT w="38100">
                      <a:solidFill>
                        <a:srgbClr val="000000"/>
                      </a:solidFill>
                      <a:prstDash val="solid"/>
                    </a:lnT>
                  </a:tcPr>
                </a:tc>
                <a:tc>
                  <a:txBody>
                    <a:bodyPr/>
                    <a:lstStyle/>
                    <a:p>
                      <a:pPr marR="890269" algn="r">
                        <a:lnSpc>
                          <a:spcPct val="100000"/>
                        </a:lnSpc>
                        <a:spcBef>
                          <a:spcPts val="434"/>
                        </a:spcBef>
                      </a:pPr>
                      <a:r>
                        <a:rPr sz="2000" dirty="0">
                          <a:latin typeface="Arial"/>
                          <a:cs typeface="Arial"/>
                        </a:rPr>
                        <a:t>2</a:t>
                      </a:r>
                      <a:endParaRPr sz="2000">
                        <a:latin typeface="Arial"/>
                        <a:cs typeface="Arial"/>
                      </a:endParaRPr>
                    </a:p>
                  </a:txBody>
                  <a:tcPr marL="0" marR="0" marT="55244" marB="0">
                    <a:lnT w="38100">
                      <a:solidFill>
                        <a:srgbClr val="000000"/>
                      </a:solidFill>
                      <a:prstDash val="solid"/>
                    </a:lnT>
                    <a:solidFill>
                      <a:srgbClr val="F7FAFF"/>
                    </a:solidFill>
                  </a:tcPr>
                </a:tc>
                <a:tc>
                  <a:txBody>
                    <a:bodyPr/>
                    <a:lstStyle/>
                    <a:p>
                      <a:pPr marR="370205" algn="r">
                        <a:lnSpc>
                          <a:spcPct val="100000"/>
                        </a:lnSpc>
                        <a:spcBef>
                          <a:spcPts val="434"/>
                        </a:spcBef>
                      </a:pPr>
                      <a:r>
                        <a:rPr sz="2000" dirty="0">
                          <a:latin typeface="Arial"/>
                          <a:cs typeface="Arial"/>
                        </a:rPr>
                        <a:t>2</a:t>
                      </a:r>
                      <a:endParaRPr sz="2000">
                        <a:latin typeface="Arial"/>
                        <a:cs typeface="Arial"/>
                      </a:endParaRPr>
                    </a:p>
                  </a:txBody>
                  <a:tcPr marL="0" marR="0" marT="55244" marB="0">
                    <a:lnT w="38100">
                      <a:solidFill>
                        <a:srgbClr val="000000"/>
                      </a:solidFill>
                      <a:prstDash val="solid"/>
                    </a:lnT>
                    <a:solidFill>
                      <a:srgbClr val="F7FAFF"/>
                    </a:solidFill>
                  </a:tcPr>
                </a:tc>
                <a:tc>
                  <a:txBody>
                    <a:bodyPr/>
                    <a:lstStyle/>
                    <a:p>
                      <a:pPr marR="563880" algn="r">
                        <a:lnSpc>
                          <a:spcPct val="100000"/>
                        </a:lnSpc>
                        <a:spcBef>
                          <a:spcPts val="434"/>
                        </a:spcBef>
                      </a:pPr>
                      <a:r>
                        <a:rPr sz="2000" dirty="0">
                          <a:latin typeface="Arial"/>
                          <a:cs typeface="Arial"/>
                        </a:rPr>
                        <a:t>6</a:t>
                      </a:r>
                      <a:endParaRPr sz="2000">
                        <a:latin typeface="Arial"/>
                        <a:cs typeface="Arial"/>
                      </a:endParaRPr>
                    </a:p>
                  </a:txBody>
                  <a:tcPr marL="0" marR="0" marT="55244" marB="0">
                    <a:lnT w="38100">
                      <a:solidFill>
                        <a:srgbClr val="000000"/>
                      </a:solidFill>
                      <a:prstDash val="solid"/>
                    </a:lnT>
                    <a:solidFill>
                      <a:srgbClr val="F7FAFF"/>
                    </a:solidFill>
                  </a:tcPr>
                </a:tc>
                <a:tc>
                  <a:txBody>
                    <a:bodyPr/>
                    <a:lstStyle/>
                    <a:p>
                      <a:pPr marR="521970" algn="r">
                        <a:lnSpc>
                          <a:spcPct val="100000"/>
                        </a:lnSpc>
                        <a:spcBef>
                          <a:spcPts val="434"/>
                        </a:spcBef>
                      </a:pPr>
                      <a:r>
                        <a:rPr sz="2000" dirty="0">
                          <a:latin typeface="Arial"/>
                          <a:cs typeface="Arial"/>
                        </a:rPr>
                        <a:t>0</a:t>
                      </a:r>
                      <a:endParaRPr sz="2000">
                        <a:latin typeface="Arial"/>
                        <a:cs typeface="Arial"/>
                      </a:endParaRPr>
                    </a:p>
                  </a:txBody>
                  <a:tcPr marL="0" marR="0" marT="55244" marB="0">
                    <a:lnT w="38100">
                      <a:solidFill>
                        <a:srgbClr val="000000"/>
                      </a:solidFill>
                      <a:prstDash val="solid"/>
                    </a:lnT>
                    <a:solidFill>
                      <a:srgbClr val="F7FAFF"/>
                    </a:solidFill>
                  </a:tcPr>
                </a:tc>
                <a:extLst>
                  <a:ext uri="{0D108BD9-81ED-4DB2-BD59-A6C34878D82A}">
                    <a16:rowId xmlns:a16="http://schemas.microsoft.com/office/drawing/2014/main" val="10001"/>
                  </a:ext>
                </a:extLst>
              </a:tr>
              <a:tr h="440944">
                <a:tc>
                  <a:txBody>
                    <a:bodyPr/>
                    <a:lstStyle/>
                    <a:p>
                      <a:pPr marL="689610">
                        <a:lnSpc>
                          <a:spcPct val="100000"/>
                        </a:lnSpc>
                        <a:spcBef>
                          <a:spcPts val="385"/>
                        </a:spcBef>
                      </a:pPr>
                      <a:r>
                        <a:rPr sz="2000" i="1" dirty="0">
                          <a:latin typeface="Arial"/>
                          <a:cs typeface="Arial"/>
                        </a:rPr>
                        <a:t>D</a:t>
                      </a:r>
                      <a:endParaRPr sz="2000">
                        <a:latin typeface="Arial"/>
                        <a:cs typeface="Arial"/>
                      </a:endParaRPr>
                    </a:p>
                  </a:txBody>
                  <a:tcPr marL="0" marR="0" marT="48895" marB="0">
                    <a:lnB w="9525">
                      <a:solidFill>
                        <a:srgbClr val="A4DF00"/>
                      </a:solidFill>
                      <a:prstDash val="solid"/>
                    </a:lnB>
                    <a:solidFill>
                      <a:srgbClr val="F7FAFF"/>
                    </a:solidFill>
                  </a:tcPr>
                </a:tc>
                <a:tc>
                  <a:txBody>
                    <a:bodyPr/>
                    <a:lstStyle/>
                    <a:p>
                      <a:pPr marR="890269" algn="r">
                        <a:lnSpc>
                          <a:spcPct val="100000"/>
                        </a:lnSpc>
                        <a:spcBef>
                          <a:spcPts val="385"/>
                        </a:spcBef>
                      </a:pPr>
                      <a:r>
                        <a:rPr sz="2000" dirty="0">
                          <a:latin typeface="Arial"/>
                          <a:cs typeface="Arial"/>
                        </a:rPr>
                        <a:t>3</a:t>
                      </a:r>
                      <a:endParaRPr sz="2000">
                        <a:latin typeface="Arial"/>
                        <a:cs typeface="Arial"/>
                      </a:endParaRPr>
                    </a:p>
                  </a:txBody>
                  <a:tcPr marL="0" marR="0" marT="48895" marB="0">
                    <a:solidFill>
                      <a:srgbClr val="F7FAFF"/>
                    </a:solidFill>
                  </a:tcPr>
                </a:tc>
                <a:tc>
                  <a:txBody>
                    <a:bodyPr/>
                    <a:lstStyle/>
                    <a:p>
                      <a:pPr marR="370205" algn="r">
                        <a:lnSpc>
                          <a:spcPct val="100000"/>
                        </a:lnSpc>
                        <a:spcBef>
                          <a:spcPts val="385"/>
                        </a:spcBef>
                      </a:pPr>
                      <a:r>
                        <a:rPr sz="2000" dirty="0">
                          <a:latin typeface="Arial"/>
                          <a:cs typeface="Arial"/>
                        </a:rPr>
                        <a:t>5</a:t>
                      </a:r>
                      <a:endParaRPr sz="2000">
                        <a:latin typeface="Arial"/>
                        <a:cs typeface="Arial"/>
                      </a:endParaRPr>
                    </a:p>
                  </a:txBody>
                  <a:tcPr marL="0" marR="0" marT="48895" marB="0">
                    <a:solidFill>
                      <a:srgbClr val="F7FAFF"/>
                    </a:solidFill>
                  </a:tcPr>
                </a:tc>
                <a:tc>
                  <a:txBody>
                    <a:bodyPr/>
                    <a:lstStyle/>
                    <a:p>
                      <a:pPr marR="564515" algn="r">
                        <a:lnSpc>
                          <a:spcPct val="100000"/>
                        </a:lnSpc>
                        <a:spcBef>
                          <a:spcPts val="385"/>
                        </a:spcBef>
                      </a:pPr>
                      <a:r>
                        <a:rPr sz="2000" spc="-5" dirty="0">
                          <a:latin typeface="Arial"/>
                          <a:cs typeface="Arial"/>
                        </a:rPr>
                        <a:t>15</a:t>
                      </a:r>
                      <a:endParaRPr sz="2000">
                        <a:latin typeface="Arial"/>
                        <a:cs typeface="Arial"/>
                      </a:endParaRPr>
                    </a:p>
                  </a:txBody>
                  <a:tcPr marL="0" marR="0" marT="48895" marB="0">
                    <a:solidFill>
                      <a:srgbClr val="F7FAFF"/>
                    </a:solidFill>
                  </a:tcPr>
                </a:tc>
                <a:tc>
                  <a:txBody>
                    <a:bodyPr/>
                    <a:lstStyle/>
                    <a:p>
                      <a:pPr marR="521970" algn="r">
                        <a:lnSpc>
                          <a:spcPct val="100000"/>
                        </a:lnSpc>
                        <a:spcBef>
                          <a:spcPts val="385"/>
                        </a:spcBef>
                      </a:pPr>
                      <a:r>
                        <a:rPr sz="2000" dirty="0">
                          <a:latin typeface="Arial"/>
                          <a:cs typeface="Arial"/>
                        </a:rPr>
                        <a:t>0</a:t>
                      </a:r>
                      <a:endParaRPr sz="2000">
                        <a:latin typeface="Arial"/>
                        <a:cs typeface="Arial"/>
                      </a:endParaRPr>
                    </a:p>
                  </a:txBody>
                  <a:tcPr marL="0" marR="0" marT="48895" marB="0">
                    <a:solidFill>
                      <a:srgbClr val="F7FAFF"/>
                    </a:solidFill>
                  </a:tcPr>
                </a:tc>
                <a:extLst>
                  <a:ext uri="{0D108BD9-81ED-4DB2-BD59-A6C34878D82A}">
                    <a16:rowId xmlns:a16="http://schemas.microsoft.com/office/drawing/2014/main" val="10002"/>
                  </a:ext>
                </a:extLst>
              </a:tr>
              <a:tr h="453897">
                <a:tc>
                  <a:txBody>
                    <a:bodyPr/>
                    <a:lstStyle/>
                    <a:p>
                      <a:pPr marL="699135">
                        <a:lnSpc>
                          <a:spcPct val="100000"/>
                        </a:lnSpc>
                        <a:spcBef>
                          <a:spcPts val="415"/>
                        </a:spcBef>
                      </a:pPr>
                      <a:r>
                        <a:rPr sz="2000" i="1" dirty="0">
                          <a:latin typeface="Arial"/>
                          <a:cs typeface="Arial"/>
                        </a:rPr>
                        <a:t>A</a:t>
                      </a:r>
                      <a:endParaRPr sz="2000">
                        <a:latin typeface="Arial"/>
                        <a:cs typeface="Arial"/>
                      </a:endParaRPr>
                    </a:p>
                  </a:txBody>
                  <a:tcPr marL="0" marR="0" marT="52705" marB="0">
                    <a:lnT w="9525">
                      <a:solidFill>
                        <a:srgbClr val="A4DF00"/>
                      </a:solidFill>
                      <a:prstDash val="solid"/>
                    </a:lnT>
                    <a:lnB w="12700">
                      <a:solidFill>
                        <a:srgbClr val="A4DF00"/>
                      </a:solidFill>
                      <a:prstDash val="solid"/>
                    </a:lnB>
                    <a:solidFill>
                      <a:srgbClr val="F7FAFF"/>
                    </a:solidFill>
                  </a:tcPr>
                </a:tc>
                <a:tc>
                  <a:txBody>
                    <a:bodyPr/>
                    <a:lstStyle/>
                    <a:p>
                      <a:pPr marR="890269" algn="r">
                        <a:lnSpc>
                          <a:spcPct val="100000"/>
                        </a:lnSpc>
                        <a:spcBef>
                          <a:spcPts val="415"/>
                        </a:spcBef>
                      </a:pPr>
                      <a:r>
                        <a:rPr sz="2000" dirty="0">
                          <a:latin typeface="Arial"/>
                          <a:cs typeface="Arial"/>
                        </a:rPr>
                        <a:t>6</a:t>
                      </a:r>
                      <a:endParaRPr sz="2000">
                        <a:latin typeface="Arial"/>
                        <a:cs typeface="Arial"/>
                      </a:endParaRPr>
                    </a:p>
                  </a:txBody>
                  <a:tcPr marL="0" marR="0" marT="52705" marB="0">
                    <a:solidFill>
                      <a:srgbClr val="F7FAFF"/>
                    </a:solidFill>
                  </a:tcPr>
                </a:tc>
                <a:tc>
                  <a:txBody>
                    <a:bodyPr/>
                    <a:lstStyle/>
                    <a:p>
                      <a:pPr marR="388620" algn="r">
                        <a:lnSpc>
                          <a:spcPct val="100000"/>
                        </a:lnSpc>
                        <a:spcBef>
                          <a:spcPts val="415"/>
                        </a:spcBef>
                      </a:pPr>
                      <a:r>
                        <a:rPr sz="2000" spc="-150" dirty="0">
                          <a:latin typeface="Arial"/>
                          <a:cs typeface="Arial"/>
                        </a:rPr>
                        <a:t>11</a:t>
                      </a:r>
                      <a:endParaRPr sz="2000">
                        <a:latin typeface="Arial"/>
                        <a:cs typeface="Arial"/>
                      </a:endParaRPr>
                    </a:p>
                  </a:txBody>
                  <a:tcPr marL="0" marR="0" marT="52705" marB="0">
                    <a:solidFill>
                      <a:srgbClr val="F7FAFF"/>
                    </a:solidFill>
                  </a:tcPr>
                </a:tc>
                <a:tc>
                  <a:txBody>
                    <a:bodyPr/>
                    <a:lstStyle/>
                    <a:p>
                      <a:pPr marR="563880" algn="r">
                        <a:lnSpc>
                          <a:spcPct val="100000"/>
                        </a:lnSpc>
                        <a:spcBef>
                          <a:spcPts val="415"/>
                        </a:spcBef>
                      </a:pPr>
                      <a:r>
                        <a:rPr sz="2000" dirty="0">
                          <a:latin typeface="Arial"/>
                          <a:cs typeface="Arial"/>
                        </a:rPr>
                        <a:t>8</a:t>
                      </a:r>
                      <a:endParaRPr sz="2000">
                        <a:latin typeface="Arial"/>
                        <a:cs typeface="Arial"/>
                      </a:endParaRPr>
                    </a:p>
                  </a:txBody>
                  <a:tcPr marL="0" marR="0" marT="52705" marB="0">
                    <a:solidFill>
                      <a:srgbClr val="F7FAFF"/>
                    </a:solidFill>
                  </a:tcPr>
                </a:tc>
                <a:tc>
                  <a:txBody>
                    <a:bodyPr/>
                    <a:lstStyle/>
                    <a:p>
                      <a:pPr marR="521970" algn="r">
                        <a:lnSpc>
                          <a:spcPct val="100000"/>
                        </a:lnSpc>
                        <a:spcBef>
                          <a:spcPts val="415"/>
                        </a:spcBef>
                      </a:pPr>
                      <a:r>
                        <a:rPr sz="2000" dirty="0">
                          <a:latin typeface="Arial"/>
                          <a:cs typeface="Arial"/>
                        </a:rPr>
                        <a:t>3</a:t>
                      </a:r>
                      <a:endParaRPr sz="2000">
                        <a:latin typeface="Arial"/>
                        <a:cs typeface="Arial"/>
                      </a:endParaRPr>
                    </a:p>
                  </a:txBody>
                  <a:tcPr marL="0" marR="0" marT="52705" marB="0">
                    <a:solidFill>
                      <a:srgbClr val="F7FAFF"/>
                    </a:solidFill>
                  </a:tcPr>
                </a:tc>
                <a:extLst>
                  <a:ext uri="{0D108BD9-81ED-4DB2-BD59-A6C34878D82A}">
                    <a16:rowId xmlns:a16="http://schemas.microsoft.com/office/drawing/2014/main" val="10003"/>
                  </a:ext>
                </a:extLst>
              </a:tr>
              <a:tr h="447802">
                <a:tc>
                  <a:txBody>
                    <a:bodyPr/>
                    <a:lstStyle/>
                    <a:p>
                      <a:pPr marL="689610">
                        <a:lnSpc>
                          <a:spcPct val="100000"/>
                        </a:lnSpc>
                        <a:spcBef>
                          <a:spcPts val="245"/>
                        </a:spcBef>
                      </a:pPr>
                      <a:r>
                        <a:rPr sz="2000" i="1" dirty="0">
                          <a:latin typeface="Arial"/>
                          <a:cs typeface="Arial"/>
                        </a:rPr>
                        <a:t>C</a:t>
                      </a:r>
                      <a:endParaRPr sz="2000">
                        <a:latin typeface="Arial"/>
                        <a:cs typeface="Arial"/>
                      </a:endParaRPr>
                    </a:p>
                  </a:txBody>
                  <a:tcPr marL="0" marR="0" marT="31115" marB="0">
                    <a:lnT w="12700">
                      <a:solidFill>
                        <a:srgbClr val="A4DF00"/>
                      </a:solidFill>
                      <a:prstDash val="solid"/>
                    </a:lnT>
                  </a:tcPr>
                </a:tc>
                <a:tc>
                  <a:txBody>
                    <a:bodyPr/>
                    <a:lstStyle/>
                    <a:p>
                      <a:pPr marR="890269" algn="r">
                        <a:lnSpc>
                          <a:spcPct val="100000"/>
                        </a:lnSpc>
                        <a:spcBef>
                          <a:spcPts val="245"/>
                        </a:spcBef>
                      </a:pPr>
                      <a:r>
                        <a:rPr sz="2000" dirty="0">
                          <a:latin typeface="Arial"/>
                          <a:cs typeface="Arial"/>
                        </a:rPr>
                        <a:t>8</a:t>
                      </a:r>
                      <a:endParaRPr sz="2000">
                        <a:latin typeface="Arial"/>
                        <a:cs typeface="Arial"/>
                      </a:endParaRPr>
                    </a:p>
                  </a:txBody>
                  <a:tcPr marL="0" marR="0" marT="31115" marB="0">
                    <a:solidFill>
                      <a:srgbClr val="F7FAFF"/>
                    </a:solidFill>
                  </a:tcPr>
                </a:tc>
                <a:tc>
                  <a:txBody>
                    <a:bodyPr/>
                    <a:lstStyle/>
                    <a:p>
                      <a:pPr marR="370840" algn="r">
                        <a:lnSpc>
                          <a:spcPct val="100000"/>
                        </a:lnSpc>
                        <a:spcBef>
                          <a:spcPts val="245"/>
                        </a:spcBef>
                      </a:pPr>
                      <a:r>
                        <a:rPr sz="2000" spc="-5" dirty="0">
                          <a:latin typeface="Arial"/>
                          <a:cs typeface="Arial"/>
                        </a:rPr>
                        <a:t>19</a:t>
                      </a:r>
                      <a:endParaRPr sz="2000">
                        <a:latin typeface="Arial"/>
                        <a:cs typeface="Arial"/>
                      </a:endParaRPr>
                    </a:p>
                  </a:txBody>
                  <a:tcPr marL="0" marR="0" marT="31115" marB="0">
                    <a:solidFill>
                      <a:srgbClr val="F7FAFF"/>
                    </a:solidFill>
                  </a:tcPr>
                </a:tc>
                <a:tc>
                  <a:txBody>
                    <a:bodyPr/>
                    <a:lstStyle/>
                    <a:p>
                      <a:pPr marR="564515" algn="r">
                        <a:lnSpc>
                          <a:spcPct val="100000"/>
                        </a:lnSpc>
                        <a:spcBef>
                          <a:spcPts val="245"/>
                        </a:spcBef>
                      </a:pPr>
                      <a:r>
                        <a:rPr sz="2000" spc="-5" dirty="0">
                          <a:latin typeface="Arial"/>
                          <a:cs typeface="Arial"/>
                        </a:rPr>
                        <a:t>18</a:t>
                      </a:r>
                      <a:endParaRPr sz="2000">
                        <a:latin typeface="Arial"/>
                        <a:cs typeface="Arial"/>
                      </a:endParaRPr>
                    </a:p>
                  </a:txBody>
                  <a:tcPr marL="0" marR="0" marT="31115" marB="0">
                    <a:solidFill>
                      <a:srgbClr val="F7FAFF"/>
                    </a:solidFill>
                  </a:tcPr>
                </a:tc>
                <a:tc>
                  <a:txBody>
                    <a:bodyPr/>
                    <a:lstStyle/>
                    <a:p>
                      <a:pPr marR="521970" algn="r">
                        <a:lnSpc>
                          <a:spcPct val="100000"/>
                        </a:lnSpc>
                        <a:spcBef>
                          <a:spcPts val="245"/>
                        </a:spcBef>
                      </a:pPr>
                      <a:r>
                        <a:rPr sz="2000" dirty="0">
                          <a:latin typeface="Arial"/>
                          <a:cs typeface="Arial"/>
                        </a:rPr>
                        <a:t>1</a:t>
                      </a:r>
                      <a:endParaRPr sz="2000">
                        <a:latin typeface="Arial"/>
                        <a:cs typeface="Arial"/>
                      </a:endParaRPr>
                    </a:p>
                  </a:txBody>
                  <a:tcPr marL="0" marR="0" marT="31115" marB="0">
                    <a:solidFill>
                      <a:srgbClr val="F7FAFF"/>
                    </a:solidFill>
                  </a:tcPr>
                </a:tc>
                <a:extLst>
                  <a:ext uri="{0D108BD9-81ED-4DB2-BD59-A6C34878D82A}">
                    <a16:rowId xmlns:a16="http://schemas.microsoft.com/office/drawing/2014/main" val="10004"/>
                  </a:ext>
                </a:extLst>
              </a:tr>
              <a:tr h="432307">
                <a:tc>
                  <a:txBody>
                    <a:bodyPr/>
                    <a:lstStyle/>
                    <a:p>
                      <a:pPr marL="699135">
                        <a:lnSpc>
                          <a:spcPct val="100000"/>
                        </a:lnSpc>
                        <a:spcBef>
                          <a:spcPts val="170"/>
                        </a:spcBef>
                      </a:pPr>
                      <a:r>
                        <a:rPr sz="2000" i="1" dirty="0">
                          <a:latin typeface="Arial"/>
                          <a:cs typeface="Arial"/>
                        </a:rPr>
                        <a:t>E</a:t>
                      </a:r>
                      <a:endParaRPr sz="2000">
                        <a:latin typeface="Arial"/>
                        <a:cs typeface="Arial"/>
                      </a:endParaRPr>
                    </a:p>
                  </a:txBody>
                  <a:tcPr marL="0" marR="0" marT="21590" marB="0">
                    <a:solidFill>
                      <a:srgbClr val="808080"/>
                    </a:solidFill>
                  </a:tcPr>
                </a:tc>
                <a:tc>
                  <a:txBody>
                    <a:bodyPr/>
                    <a:lstStyle/>
                    <a:p>
                      <a:pPr marR="890269" algn="r">
                        <a:lnSpc>
                          <a:spcPct val="100000"/>
                        </a:lnSpc>
                        <a:spcBef>
                          <a:spcPts val="170"/>
                        </a:spcBef>
                      </a:pPr>
                      <a:r>
                        <a:rPr sz="2000" dirty="0">
                          <a:latin typeface="Arial"/>
                          <a:cs typeface="Arial"/>
                        </a:rPr>
                        <a:t>9</a:t>
                      </a:r>
                      <a:endParaRPr sz="2000">
                        <a:latin typeface="Arial"/>
                        <a:cs typeface="Arial"/>
                      </a:endParaRPr>
                    </a:p>
                  </a:txBody>
                  <a:tcPr marL="0" marR="0" marT="21590" marB="0">
                    <a:lnB w="38100">
                      <a:solidFill>
                        <a:srgbClr val="000000"/>
                      </a:solidFill>
                      <a:prstDash val="solid"/>
                    </a:lnB>
                    <a:solidFill>
                      <a:srgbClr val="F7FAFF"/>
                    </a:solidFill>
                  </a:tcPr>
                </a:tc>
                <a:tc>
                  <a:txBody>
                    <a:bodyPr/>
                    <a:lstStyle/>
                    <a:p>
                      <a:pPr marR="370840" algn="r">
                        <a:lnSpc>
                          <a:spcPct val="100000"/>
                        </a:lnSpc>
                        <a:spcBef>
                          <a:spcPts val="170"/>
                        </a:spcBef>
                      </a:pPr>
                      <a:r>
                        <a:rPr sz="2000" spc="-5" dirty="0">
                          <a:latin typeface="Arial"/>
                          <a:cs typeface="Arial"/>
                        </a:rPr>
                        <a:t>28</a:t>
                      </a:r>
                      <a:endParaRPr sz="2000">
                        <a:latin typeface="Arial"/>
                        <a:cs typeface="Arial"/>
                      </a:endParaRPr>
                    </a:p>
                  </a:txBody>
                  <a:tcPr marL="0" marR="0" marT="21590" marB="0">
                    <a:lnB w="38100">
                      <a:solidFill>
                        <a:srgbClr val="000000"/>
                      </a:solidFill>
                      <a:prstDash val="solid"/>
                    </a:lnB>
                    <a:solidFill>
                      <a:srgbClr val="F7FAFF"/>
                    </a:solidFill>
                  </a:tcPr>
                </a:tc>
                <a:tc>
                  <a:txBody>
                    <a:bodyPr/>
                    <a:lstStyle/>
                    <a:p>
                      <a:pPr marR="564515" algn="r">
                        <a:lnSpc>
                          <a:spcPct val="100000"/>
                        </a:lnSpc>
                        <a:spcBef>
                          <a:spcPts val="170"/>
                        </a:spcBef>
                      </a:pPr>
                      <a:r>
                        <a:rPr sz="2000" spc="-5" dirty="0">
                          <a:latin typeface="Arial"/>
                          <a:cs typeface="Arial"/>
                        </a:rPr>
                        <a:t>23</a:t>
                      </a:r>
                      <a:endParaRPr sz="2000">
                        <a:latin typeface="Arial"/>
                        <a:cs typeface="Arial"/>
                      </a:endParaRPr>
                    </a:p>
                  </a:txBody>
                  <a:tcPr marL="0" marR="0" marT="21590" marB="0">
                    <a:lnB w="28575">
                      <a:solidFill>
                        <a:srgbClr val="808080"/>
                      </a:solidFill>
                      <a:prstDash val="solid"/>
                    </a:lnB>
                    <a:solidFill>
                      <a:srgbClr val="F7FAFF"/>
                    </a:solidFill>
                  </a:tcPr>
                </a:tc>
                <a:tc>
                  <a:txBody>
                    <a:bodyPr/>
                    <a:lstStyle/>
                    <a:p>
                      <a:pPr marR="521970" algn="r">
                        <a:lnSpc>
                          <a:spcPct val="100000"/>
                        </a:lnSpc>
                        <a:spcBef>
                          <a:spcPts val="170"/>
                        </a:spcBef>
                      </a:pPr>
                      <a:r>
                        <a:rPr sz="2000" dirty="0">
                          <a:latin typeface="Arial"/>
                          <a:cs typeface="Arial"/>
                        </a:rPr>
                        <a:t>5</a:t>
                      </a:r>
                      <a:endParaRPr sz="2000">
                        <a:latin typeface="Arial"/>
                        <a:cs typeface="Arial"/>
                      </a:endParaRPr>
                    </a:p>
                  </a:txBody>
                  <a:tcPr marL="0" marR="0" marT="21590" marB="0">
                    <a:lnB w="38100">
                      <a:solidFill>
                        <a:srgbClr val="000000"/>
                      </a:solidFill>
                      <a:prstDash val="solid"/>
                    </a:lnB>
                    <a:solidFill>
                      <a:srgbClr val="F7FAFF"/>
                    </a:solidFill>
                  </a:tcPr>
                </a:tc>
                <a:extLst>
                  <a:ext uri="{0D108BD9-81ED-4DB2-BD59-A6C34878D82A}">
                    <a16:rowId xmlns:a16="http://schemas.microsoft.com/office/drawing/2014/main" val="10005"/>
                  </a:ext>
                </a:extLst>
              </a:tr>
              <a:tr h="348250">
                <a:tc>
                  <a:txBody>
                    <a:bodyPr/>
                    <a:lstStyle/>
                    <a:p>
                      <a:pPr>
                        <a:lnSpc>
                          <a:spcPct val="100000"/>
                        </a:lnSpc>
                      </a:pPr>
                      <a:endParaRPr sz="2200">
                        <a:latin typeface="Times New Roman"/>
                        <a:cs typeface="Times New Roman"/>
                      </a:endParaRPr>
                    </a:p>
                  </a:txBody>
                  <a:tcPr marL="0" marR="0" marT="0" marB="0">
                    <a:solidFill>
                      <a:srgbClr val="F7FAFF"/>
                    </a:solidFill>
                  </a:tcPr>
                </a:tc>
                <a:tc>
                  <a:txBody>
                    <a:bodyPr/>
                    <a:lstStyle/>
                    <a:p>
                      <a:pPr marR="890905" algn="r">
                        <a:lnSpc>
                          <a:spcPts val="2320"/>
                        </a:lnSpc>
                        <a:spcBef>
                          <a:spcPts val="320"/>
                        </a:spcBef>
                      </a:pPr>
                      <a:r>
                        <a:rPr sz="2000" spc="-5" dirty="0">
                          <a:latin typeface="Arial"/>
                          <a:cs typeface="Arial"/>
                        </a:rPr>
                        <a:t>28</a:t>
                      </a:r>
                      <a:endParaRPr sz="2000">
                        <a:latin typeface="Arial"/>
                        <a:cs typeface="Arial"/>
                      </a:endParaRPr>
                    </a:p>
                  </a:txBody>
                  <a:tcPr marL="0" marR="0" marT="40640" marB="0">
                    <a:lnT w="38100">
                      <a:solidFill>
                        <a:srgbClr val="000000"/>
                      </a:solidFill>
                      <a:prstDash val="solid"/>
                    </a:lnT>
                    <a:solidFill>
                      <a:srgbClr val="F7FAFF"/>
                    </a:solidFill>
                  </a:tcPr>
                </a:tc>
                <a:tc>
                  <a:txBody>
                    <a:bodyPr/>
                    <a:lstStyle/>
                    <a:p>
                      <a:pPr marR="370840" algn="r">
                        <a:lnSpc>
                          <a:spcPts val="2320"/>
                        </a:lnSpc>
                        <a:spcBef>
                          <a:spcPts val="320"/>
                        </a:spcBef>
                      </a:pPr>
                      <a:r>
                        <a:rPr sz="2000" spc="-5" dirty="0">
                          <a:latin typeface="Arial"/>
                          <a:cs typeface="Arial"/>
                        </a:rPr>
                        <a:t>65</a:t>
                      </a:r>
                      <a:endParaRPr sz="2000">
                        <a:latin typeface="Arial"/>
                        <a:cs typeface="Arial"/>
                      </a:endParaRPr>
                    </a:p>
                  </a:txBody>
                  <a:tcPr marL="0" marR="0" marT="40640" marB="0">
                    <a:lnT w="38100">
                      <a:solidFill>
                        <a:srgbClr val="000000"/>
                      </a:solidFill>
                      <a:prstDash val="solid"/>
                    </a:lnT>
                    <a:solidFill>
                      <a:srgbClr val="F7FAFF"/>
                    </a:solidFill>
                  </a:tcPr>
                </a:tc>
                <a:tc>
                  <a:txBody>
                    <a:bodyPr/>
                    <a:lstStyle/>
                    <a:p>
                      <a:pPr>
                        <a:lnSpc>
                          <a:spcPct val="100000"/>
                        </a:lnSpc>
                      </a:pPr>
                      <a:endParaRPr sz="2200">
                        <a:latin typeface="Times New Roman"/>
                        <a:cs typeface="Times New Roman"/>
                      </a:endParaRPr>
                    </a:p>
                  </a:txBody>
                  <a:tcPr marL="0" marR="0" marT="0" marB="0">
                    <a:lnT w="28575">
                      <a:solidFill>
                        <a:srgbClr val="808080"/>
                      </a:solidFill>
                      <a:prstDash val="solid"/>
                    </a:lnT>
                    <a:solidFill>
                      <a:srgbClr val="F7FAFF"/>
                    </a:solidFill>
                  </a:tcPr>
                </a:tc>
                <a:tc>
                  <a:txBody>
                    <a:bodyPr/>
                    <a:lstStyle/>
                    <a:p>
                      <a:pPr marR="521970" algn="r">
                        <a:lnSpc>
                          <a:spcPts val="2320"/>
                        </a:lnSpc>
                        <a:spcBef>
                          <a:spcPts val="320"/>
                        </a:spcBef>
                      </a:pPr>
                      <a:r>
                        <a:rPr sz="2000" dirty="0">
                          <a:latin typeface="Arial"/>
                          <a:cs typeface="Arial"/>
                        </a:rPr>
                        <a:t>9</a:t>
                      </a:r>
                      <a:endParaRPr sz="2000">
                        <a:latin typeface="Arial"/>
                        <a:cs typeface="Arial"/>
                      </a:endParaRPr>
                    </a:p>
                  </a:txBody>
                  <a:tcPr marL="0" marR="0" marT="40640" marB="0">
                    <a:lnT w="38100">
                      <a:solidFill>
                        <a:srgbClr val="000000"/>
                      </a:solidFill>
                      <a:prstDash val="solid"/>
                    </a:lnT>
                    <a:solidFill>
                      <a:srgbClr val="F7FAFF"/>
                    </a:solidFill>
                  </a:tcPr>
                </a:tc>
                <a:extLst>
                  <a:ext uri="{0D108BD9-81ED-4DB2-BD59-A6C34878D82A}">
                    <a16:rowId xmlns:a16="http://schemas.microsoft.com/office/drawing/2014/main" val="10006"/>
                  </a:ext>
                </a:extLst>
              </a:tr>
            </a:tbl>
          </a:graphicData>
        </a:graphic>
      </p:graphicFrame>
      <p:sp>
        <p:nvSpPr>
          <p:cNvPr id="11" name="object 11"/>
          <p:cNvSpPr txBox="1"/>
          <p:nvPr/>
        </p:nvSpPr>
        <p:spPr>
          <a:xfrm>
            <a:off x="736193" y="1610994"/>
            <a:ext cx="4279265" cy="453390"/>
          </a:xfrm>
          <a:prstGeom prst="rect">
            <a:avLst/>
          </a:prstGeom>
        </p:spPr>
        <p:txBody>
          <a:bodyPr vert="horz" wrap="square" lIns="0" tIns="13335" rIns="0" bIns="0" rtlCol="0">
            <a:spAutoFit/>
          </a:bodyPr>
          <a:lstStyle/>
          <a:p>
            <a:pPr marL="12700">
              <a:lnSpc>
                <a:spcPct val="100000"/>
              </a:lnSpc>
              <a:spcBef>
                <a:spcPts val="105"/>
              </a:spcBef>
            </a:pPr>
            <a:r>
              <a:rPr sz="2800" spc="-80" dirty="0">
                <a:latin typeface="Arial"/>
                <a:cs typeface="Arial"/>
              </a:rPr>
              <a:t>SPT: </a:t>
            </a:r>
            <a:r>
              <a:rPr sz="2800" dirty="0">
                <a:latin typeface="Arial"/>
                <a:cs typeface="Arial"/>
              </a:rPr>
              <a:t>Sequence B-D-A-C-E</a:t>
            </a:r>
            <a:endParaRPr sz="2800">
              <a:latin typeface="Arial"/>
              <a:cs typeface="Arial"/>
            </a:endParaRPr>
          </a:p>
        </p:txBody>
      </p:sp>
      <p:grpSp>
        <p:nvGrpSpPr>
          <p:cNvPr id="12" name="object 12"/>
          <p:cNvGrpSpPr/>
          <p:nvPr/>
        </p:nvGrpSpPr>
        <p:grpSpPr>
          <a:xfrm>
            <a:off x="12191" y="6437376"/>
            <a:ext cx="1628139" cy="411480"/>
            <a:chOff x="12191" y="6437376"/>
            <a:chExt cx="1628139" cy="411480"/>
          </a:xfrm>
        </p:grpSpPr>
        <p:sp>
          <p:nvSpPr>
            <p:cNvPr id="13" name="object 13"/>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14" name="object 14"/>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15" name="object 15"/>
          <p:cNvGrpSpPr/>
          <p:nvPr/>
        </p:nvGrpSpPr>
        <p:grpSpPr>
          <a:xfrm>
            <a:off x="7491983" y="6437376"/>
            <a:ext cx="1630680" cy="411480"/>
            <a:chOff x="7491983" y="6437376"/>
            <a:chExt cx="1630680" cy="411480"/>
          </a:xfrm>
        </p:grpSpPr>
        <p:sp>
          <p:nvSpPr>
            <p:cNvPr id="16" name="object 16"/>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7" name="object 17"/>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27</a:t>
            </a:r>
            <a:endParaRPr sz="900">
              <a:latin typeface="Arial"/>
              <a:cs typeface="Arial"/>
            </a:endParaRPr>
          </a:p>
        </p:txBody>
      </p:sp>
      <p:sp>
        <p:nvSpPr>
          <p:cNvPr id="4" name="object 4"/>
          <p:cNvSpPr txBox="1">
            <a:spLocks noGrp="1"/>
          </p:cNvSpPr>
          <p:nvPr>
            <p:ph type="title"/>
          </p:nvPr>
        </p:nvSpPr>
        <p:spPr>
          <a:xfrm>
            <a:off x="687323" y="510540"/>
            <a:ext cx="7772400" cy="927100"/>
          </a:xfrm>
          <a:prstGeom prst="rect">
            <a:avLst/>
          </a:prstGeom>
          <a:solidFill>
            <a:srgbClr val="F7FAFF"/>
          </a:solidFill>
          <a:ln w="9144">
            <a:solidFill>
              <a:srgbClr val="000000"/>
            </a:solidFill>
          </a:ln>
        </p:spPr>
        <p:txBody>
          <a:bodyPr vert="horz" wrap="square" lIns="0" tIns="42545" rIns="0" bIns="0" rtlCol="0">
            <a:spAutoFit/>
          </a:bodyPr>
          <a:lstStyle/>
          <a:p>
            <a:pPr algn="ctr">
              <a:lnSpc>
                <a:spcPct val="100000"/>
              </a:lnSpc>
              <a:spcBef>
                <a:spcPts val="335"/>
              </a:spcBef>
            </a:pPr>
            <a:r>
              <a:rPr sz="4400" spc="-5" dirty="0"/>
              <a:t>Sequencing</a:t>
            </a:r>
            <a:r>
              <a:rPr sz="4400" spc="20" dirty="0"/>
              <a:t> </a:t>
            </a:r>
            <a:r>
              <a:rPr sz="4400" spc="-5" dirty="0"/>
              <a:t>Example</a:t>
            </a:r>
            <a:endParaRPr sz="4400"/>
          </a:p>
        </p:txBody>
      </p:sp>
      <p:sp>
        <p:nvSpPr>
          <p:cNvPr id="5" name="object 5"/>
          <p:cNvSpPr txBox="1"/>
          <p:nvPr/>
        </p:nvSpPr>
        <p:spPr>
          <a:xfrm>
            <a:off x="918362" y="2434678"/>
            <a:ext cx="7312659" cy="3460750"/>
          </a:xfrm>
          <a:prstGeom prst="rect">
            <a:avLst/>
          </a:prstGeom>
        </p:spPr>
        <p:txBody>
          <a:bodyPr vert="horz" wrap="square" lIns="0" tIns="0" rIns="0" bIns="0" rtlCol="0">
            <a:spAutoFit/>
          </a:bodyPr>
          <a:lstStyle/>
          <a:p>
            <a:pPr marR="2357120" algn="ctr">
              <a:lnSpc>
                <a:spcPts val="2085"/>
              </a:lnSpc>
            </a:pPr>
            <a:r>
              <a:rPr sz="2000" i="1" spc="-5" dirty="0">
                <a:latin typeface="Arial"/>
                <a:cs typeface="Arial"/>
              </a:rPr>
              <a:t>Job</a:t>
            </a:r>
            <a:r>
              <a:rPr sz="2000" i="1" spc="-10" dirty="0">
                <a:latin typeface="Arial"/>
                <a:cs typeface="Arial"/>
              </a:rPr>
              <a:t> </a:t>
            </a:r>
            <a:r>
              <a:rPr sz="2000" i="1" spc="5" dirty="0">
                <a:latin typeface="Arial"/>
                <a:cs typeface="Arial"/>
              </a:rPr>
              <a:t>Work</a:t>
            </a:r>
            <a:endParaRPr sz="2000">
              <a:latin typeface="Arial"/>
              <a:cs typeface="Arial"/>
            </a:endParaRPr>
          </a:p>
          <a:p>
            <a:pPr marL="53340" algn="ctr">
              <a:lnSpc>
                <a:spcPts val="2160"/>
              </a:lnSpc>
              <a:tabLst>
                <a:tab pos="1452880" algn="l"/>
                <a:tab pos="3522979" algn="l"/>
                <a:tab pos="4555490" algn="l"/>
                <a:tab pos="6283960" algn="l"/>
              </a:tabLst>
            </a:pPr>
            <a:r>
              <a:rPr sz="2000" i="1" spc="-5" dirty="0">
                <a:latin typeface="Arial"/>
                <a:cs typeface="Arial"/>
              </a:rPr>
              <a:t>Job	(Processing)	</a:t>
            </a:r>
            <a:r>
              <a:rPr sz="2000" i="1" spc="-10" dirty="0">
                <a:latin typeface="Arial"/>
                <a:cs typeface="Arial"/>
              </a:rPr>
              <a:t>Flow	</a:t>
            </a:r>
            <a:r>
              <a:rPr sz="2000" i="1" spc="-5" dirty="0">
                <a:latin typeface="Arial"/>
                <a:cs typeface="Arial"/>
              </a:rPr>
              <a:t>Job</a:t>
            </a:r>
            <a:r>
              <a:rPr sz="2000" i="1" spc="-10" dirty="0">
                <a:latin typeface="Arial"/>
                <a:cs typeface="Arial"/>
              </a:rPr>
              <a:t> </a:t>
            </a:r>
            <a:r>
              <a:rPr sz="2000" i="1" spc="-5" dirty="0">
                <a:latin typeface="Arial"/>
                <a:cs typeface="Arial"/>
              </a:rPr>
              <a:t>Due	Job</a:t>
            </a:r>
            <a:endParaRPr sz="2000">
              <a:latin typeface="Arial"/>
              <a:cs typeface="Arial"/>
            </a:endParaRPr>
          </a:p>
          <a:p>
            <a:pPr algn="ctr">
              <a:lnSpc>
                <a:spcPts val="2280"/>
              </a:lnSpc>
              <a:tabLst>
                <a:tab pos="2195195" algn="l"/>
                <a:tab pos="3820160" algn="l"/>
                <a:tab pos="5069205" algn="l"/>
                <a:tab pos="6285230" algn="l"/>
              </a:tabLst>
            </a:pPr>
            <a:r>
              <a:rPr sz="2000" i="1" spc="-20" dirty="0">
                <a:latin typeface="Arial"/>
                <a:cs typeface="Arial"/>
              </a:rPr>
              <a:t>S</a:t>
            </a:r>
            <a:r>
              <a:rPr sz="2000" i="1" spc="-5" dirty="0">
                <a:latin typeface="Arial"/>
                <a:cs typeface="Arial"/>
              </a:rPr>
              <a:t>e</a:t>
            </a:r>
            <a:r>
              <a:rPr sz="2000" i="1" spc="-15" dirty="0">
                <a:latin typeface="Arial"/>
                <a:cs typeface="Arial"/>
              </a:rPr>
              <a:t>q</a:t>
            </a:r>
            <a:r>
              <a:rPr sz="2000" i="1" spc="-5" dirty="0">
                <a:latin typeface="Arial"/>
                <a:cs typeface="Arial"/>
              </a:rPr>
              <a:t>u</a:t>
            </a:r>
            <a:r>
              <a:rPr sz="2000" i="1" spc="-15" dirty="0">
                <a:latin typeface="Arial"/>
                <a:cs typeface="Arial"/>
              </a:rPr>
              <a:t>e</a:t>
            </a:r>
            <a:r>
              <a:rPr sz="2000" i="1" spc="-5" dirty="0">
                <a:latin typeface="Arial"/>
                <a:cs typeface="Arial"/>
              </a:rPr>
              <a:t>n</a:t>
            </a:r>
            <a:r>
              <a:rPr sz="2000" i="1" dirty="0">
                <a:latin typeface="Arial"/>
                <a:cs typeface="Arial"/>
              </a:rPr>
              <a:t>c</a:t>
            </a:r>
            <a:r>
              <a:rPr sz="2000" i="1" spc="-5" dirty="0">
                <a:latin typeface="Arial"/>
                <a:cs typeface="Arial"/>
              </a:rPr>
              <a:t>e</a:t>
            </a:r>
            <a:r>
              <a:rPr sz="2000" i="1" dirty="0">
                <a:latin typeface="Arial"/>
                <a:cs typeface="Arial"/>
              </a:rPr>
              <a:t>	</a:t>
            </a:r>
            <a:r>
              <a:rPr sz="2000" i="1" spc="-25" dirty="0">
                <a:latin typeface="Arial"/>
                <a:cs typeface="Arial"/>
              </a:rPr>
              <a:t>T</a:t>
            </a:r>
            <a:r>
              <a:rPr sz="2000" i="1" spc="-15" dirty="0">
                <a:latin typeface="Arial"/>
                <a:cs typeface="Arial"/>
              </a:rPr>
              <a:t>i</a:t>
            </a:r>
            <a:r>
              <a:rPr sz="2000" i="1" spc="-10" dirty="0">
                <a:latin typeface="Arial"/>
                <a:cs typeface="Arial"/>
              </a:rPr>
              <a:t>me</a:t>
            </a:r>
            <a:r>
              <a:rPr sz="2000" i="1" dirty="0">
                <a:latin typeface="Arial"/>
                <a:cs typeface="Arial"/>
              </a:rPr>
              <a:t>	</a:t>
            </a:r>
            <a:r>
              <a:rPr sz="2000" i="1" spc="-25" dirty="0">
                <a:latin typeface="Arial"/>
                <a:cs typeface="Arial"/>
              </a:rPr>
              <a:t>T</a:t>
            </a:r>
            <a:r>
              <a:rPr sz="2000" i="1" spc="-15" dirty="0">
                <a:latin typeface="Arial"/>
                <a:cs typeface="Arial"/>
              </a:rPr>
              <a:t>i</a:t>
            </a:r>
            <a:r>
              <a:rPr sz="2000" i="1" spc="-10" dirty="0">
                <a:latin typeface="Arial"/>
                <a:cs typeface="Arial"/>
              </a:rPr>
              <a:t>me</a:t>
            </a:r>
            <a:r>
              <a:rPr sz="2000" i="1" dirty="0">
                <a:latin typeface="Arial"/>
                <a:cs typeface="Arial"/>
              </a:rPr>
              <a:t>	</a:t>
            </a:r>
            <a:r>
              <a:rPr sz="2000" i="1" spc="-5" dirty="0">
                <a:latin typeface="Arial"/>
                <a:cs typeface="Arial"/>
              </a:rPr>
              <a:t>Date</a:t>
            </a:r>
            <a:r>
              <a:rPr sz="2000" i="1" dirty="0">
                <a:latin typeface="Arial"/>
                <a:cs typeface="Arial"/>
              </a:rPr>
              <a:t>	</a:t>
            </a:r>
            <a:r>
              <a:rPr sz="2000" i="1" spc="-5" dirty="0">
                <a:latin typeface="Arial"/>
                <a:cs typeface="Arial"/>
              </a:rPr>
              <a:t>Late</a:t>
            </a:r>
            <a:r>
              <a:rPr sz="2000" i="1" spc="-15" dirty="0">
                <a:latin typeface="Arial"/>
                <a:cs typeface="Arial"/>
              </a:rPr>
              <a:t>n</a:t>
            </a:r>
            <a:r>
              <a:rPr sz="2000" i="1" spc="-5" dirty="0">
                <a:latin typeface="Arial"/>
                <a:cs typeface="Arial"/>
              </a:rPr>
              <a:t>e</a:t>
            </a:r>
            <a:r>
              <a:rPr sz="2000" i="1" dirty="0">
                <a:latin typeface="Arial"/>
                <a:cs typeface="Arial"/>
              </a:rPr>
              <a:t>s</a:t>
            </a:r>
            <a:r>
              <a:rPr sz="2000" i="1" spc="-5" dirty="0">
                <a:latin typeface="Arial"/>
                <a:cs typeface="Arial"/>
              </a:rPr>
              <a:t>s</a:t>
            </a:r>
            <a:endParaRPr sz="2000">
              <a:latin typeface="Arial"/>
              <a:cs typeface="Arial"/>
            </a:endParaRPr>
          </a:p>
          <a:p>
            <a:pPr marR="293370" algn="r">
              <a:lnSpc>
                <a:spcPct val="100000"/>
              </a:lnSpc>
              <a:spcBef>
                <a:spcPts val="840"/>
              </a:spcBef>
              <a:tabLst>
                <a:tab pos="1978025" algn="l"/>
                <a:tab pos="3618229" algn="l"/>
                <a:tab pos="4848860" algn="l"/>
                <a:tab pos="6384925" algn="l"/>
              </a:tabLst>
            </a:pPr>
            <a:r>
              <a:rPr sz="2000" i="1" spc="-5" dirty="0">
                <a:latin typeface="Arial"/>
                <a:cs typeface="Arial"/>
              </a:rPr>
              <a:t>B	</a:t>
            </a:r>
            <a:r>
              <a:rPr sz="2000" spc="-5" dirty="0">
                <a:latin typeface="Arial"/>
                <a:cs typeface="Arial"/>
              </a:rPr>
              <a:t>2	2	6	0</a:t>
            </a:r>
            <a:endParaRPr sz="2000">
              <a:latin typeface="Arial"/>
              <a:cs typeface="Arial"/>
            </a:endParaRPr>
          </a:p>
          <a:p>
            <a:pPr marR="293370" algn="r">
              <a:lnSpc>
                <a:spcPct val="100000"/>
              </a:lnSpc>
              <a:spcBef>
                <a:spcPts val="1150"/>
              </a:spcBef>
              <a:tabLst>
                <a:tab pos="1986914" algn="l"/>
                <a:tab pos="3627120" algn="l"/>
                <a:tab pos="4718050" algn="l"/>
                <a:tab pos="6394450" algn="l"/>
              </a:tabLst>
            </a:pPr>
            <a:r>
              <a:rPr sz="2000" i="1" spc="-5" dirty="0">
                <a:latin typeface="Arial"/>
                <a:cs typeface="Arial"/>
              </a:rPr>
              <a:t>D	</a:t>
            </a:r>
            <a:r>
              <a:rPr sz="2000" spc="-5" dirty="0">
                <a:latin typeface="Arial"/>
                <a:cs typeface="Arial"/>
              </a:rPr>
              <a:t>3	5	</a:t>
            </a:r>
            <a:r>
              <a:rPr sz="2000" spc="-10" dirty="0">
                <a:latin typeface="Arial"/>
                <a:cs typeface="Arial"/>
              </a:rPr>
              <a:t>1</a:t>
            </a:r>
            <a:r>
              <a:rPr sz="2000" spc="-5" dirty="0">
                <a:latin typeface="Arial"/>
                <a:cs typeface="Arial"/>
              </a:rPr>
              <a:t>5</a:t>
            </a:r>
            <a:r>
              <a:rPr sz="2000" dirty="0">
                <a:latin typeface="Arial"/>
                <a:cs typeface="Arial"/>
              </a:rPr>
              <a:t>	</a:t>
            </a:r>
            <a:r>
              <a:rPr sz="2000" spc="-5" dirty="0">
                <a:latin typeface="Arial"/>
                <a:cs typeface="Arial"/>
              </a:rPr>
              <a:t>0</a:t>
            </a:r>
            <a:endParaRPr sz="2000">
              <a:latin typeface="Arial"/>
              <a:cs typeface="Arial"/>
            </a:endParaRPr>
          </a:p>
          <a:p>
            <a:pPr marR="293370" algn="r">
              <a:lnSpc>
                <a:spcPct val="100000"/>
              </a:lnSpc>
              <a:spcBef>
                <a:spcPts val="1105"/>
              </a:spcBef>
              <a:tabLst>
                <a:tab pos="1978025" algn="l"/>
                <a:tab pos="3496310" algn="l"/>
                <a:tab pos="4848860" algn="l"/>
                <a:tab pos="6384925" algn="l"/>
              </a:tabLst>
            </a:pPr>
            <a:r>
              <a:rPr sz="2000" i="1" spc="-5" dirty="0">
                <a:latin typeface="Arial"/>
                <a:cs typeface="Arial"/>
              </a:rPr>
              <a:t>A	</a:t>
            </a:r>
            <a:r>
              <a:rPr sz="2000" spc="-5" dirty="0">
                <a:latin typeface="Arial"/>
                <a:cs typeface="Arial"/>
              </a:rPr>
              <a:t>6	</a:t>
            </a:r>
            <a:r>
              <a:rPr sz="2000" spc="-155" dirty="0">
                <a:latin typeface="Arial"/>
                <a:cs typeface="Arial"/>
              </a:rPr>
              <a:t>1</a:t>
            </a:r>
            <a:r>
              <a:rPr sz="2000" spc="-5" dirty="0">
                <a:latin typeface="Arial"/>
                <a:cs typeface="Arial"/>
              </a:rPr>
              <a:t>1</a:t>
            </a:r>
            <a:r>
              <a:rPr sz="2000" dirty="0">
                <a:latin typeface="Arial"/>
                <a:cs typeface="Arial"/>
              </a:rPr>
              <a:t>	</a:t>
            </a:r>
            <a:r>
              <a:rPr sz="2000" spc="-5" dirty="0">
                <a:latin typeface="Arial"/>
                <a:cs typeface="Arial"/>
              </a:rPr>
              <a:t>8</a:t>
            </a:r>
            <a:r>
              <a:rPr sz="2000" dirty="0">
                <a:latin typeface="Arial"/>
                <a:cs typeface="Arial"/>
              </a:rPr>
              <a:t>	</a:t>
            </a:r>
            <a:r>
              <a:rPr sz="2000" spc="-5" dirty="0">
                <a:latin typeface="Arial"/>
                <a:cs typeface="Arial"/>
              </a:rPr>
              <a:t>3</a:t>
            </a:r>
            <a:endParaRPr sz="2000">
              <a:latin typeface="Arial"/>
              <a:cs typeface="Arial"/>
            </a:endParaRPr>
          </a:p>
          <a:p>
            <a:pPr marR="293370" algn="r">
              <a:lnSpc>
                <a:spcPct val="100000"/>
              </a:lnSpc>
              <a:spcBef>
                <a:spcPts val="1000"/>
              </a:spcBef>
              <a:tabLst>
                <a:tab pos="1986914" algn="l"/>
                <a:tab pos="3486785" algn="l"/>
                <a:tab pos="4718050" algn="l"/>
                <a:tab pos="6394450" algn="l"/>
              </a:tabLst>
            </a:pPr>
            <a:r>
              <a:rPr sz="2000" i="1" spc="-10" dirty="0">
                <a:latin typeface="Arial"/>
                <a:cs typeface="Arial"/>
              </a:rPr>
              <a:t>C	</a:t>
            </a:r>
            <a:r>
              <a:rPr sz="2000" spc="-5" dirty="0">
                <a:latin typeface="Arial"/>
                <a:cs typeface="Arial"/>
              </a:rPr>
              <a:t>8	</a:t>
            </a:r>
            <a:r>
              <a:rPr sz="2000" spc="-10" dirty="0">
                <a:latin typeface="Arial"/>
                <a:cs typeface="Arial"/>
              </a:rPr>
              <a:t>1</a:t>
            </a:r>
            <a:r>
              <a:rPr sz="2000" spc="-5" dirty="0">
                <a:latin typeface="Arial"/>
                <a:cs typeface="Arial"/>
              </a:rPr>
              <a:t>9</a:t>
            </a:r>
            <a:r>
              <a:rPr sz="2000" dirty="0">
                <a:latin typeface="Arial"/>
                <a:cs typeface="Arial"/>
              </a:rPr>
              <a:t>	</a:t>
            </a:r>
            <a:r>
              <a:rPr sz="2000" spc="-10" dirty="0">
                <a:latin typeface="Arial"/>
                <a:cs typeface="Arial"/>
              </a:rPr>
              <a:t>1</a:t>
            </a:r>
            <a:r>
              <a:rPr sz="2000" spc="-5" dirty="0">
                <a:latin typeface="Arial"/>
                <a:cs typeface="Arial"/>
              </a:rPr>
              <a:t>8</a:t>
            </a:r>
            <a:r>
              <a:rPr sz="2000" dirty="0">
                <a:latin typeface="Arial"/>
                <a:cs typeface="Arial"/>
              </a:rPr>
              <a:t>	</a:t>
            </a:r>
            <a:r>
              <a:rPr sz="2000" spc="-5" dirty="0">
                <a:latin typeface="Arial"/>
                <a:cs typeface="Arial"/>
              </a:rPr>
              <a:t>1</a:t>
            </a:r>
            <a:endParaRPr sz="2000">
              <a:latin typeface="Arial"/>
              <a:cs typeface="Arial"/>
            </a:endParaRPr>
          </a:p>
          <a:p>
            <a:pPr marR="293370" algn="r">
              <a:lnSpc>
                <a:spcPct val="100000"/>
              </a:lnSpc>
              <a:spcBef>
                <a:spcPts val="1050"/>
              </a:spcBef>
              <a:tabLst>
                <a:tab pos="1978025" algn="l"/>
                <a:tab pos="3477895" algn="l"/>
                <a:tab pos="4708525" algn="l"/>
                <a:tab pos="6384925" algn="l"/>
              </a:tabLst>
            </a:pPr>
            <a:r>
              <a:rPr sz="2000" i="1" spc="-10" dirty="0">
                <a:latin typeface="Arial"/>
                <a:cs typeface="Arial"/>
              </a:rPr>
              <a:t>E	</a:t>
            </a:r>
            <a:r>
              <a:rPr sz="2000" spc="-5" dirty="0">
                <a:latin typeface="Arial"/>
                <a:cs typeface="Arial"/>
              </a:rPr>
              <a:t>9	</a:t>
            </a:r>
            <a:r>
              <a:rPr sz="2000" spc="-10" dirty="0">
                <a:latin typeface="Arial"/>
                <a:cs typeface="Arial"/>
              </a:rPr>
              <a:t>2</a:t>
            </a:r>
            <a:r>
              <a:rPr sz="2000" spc="-5" dirty="0">
                <a:latin typeface="Arial"/>
                <a:cs typeface="Arial"/>
              </a:rPr>
              <a:t>8</a:t>
            </a:r>
            <a:r>
              <a:rPr sz="2000" dirty="0">
                <a:latin typeface="Arial"/>
                <a:cs typeface="Arial"/>
              </a:rPr>
              <a:t>	</a:t>
            </a:r>
            <a:r>
              <a:rPr sz="2000" spc="-10" dirty="0">
                <a:latin typeface="Arial"/>
                <a:cs typeface="Arial"/>
              </a:rPr>
              <a:t>2</a:t>
            </a:r>
            <a:r>
              <a:rPr sz="2000" spc="-5" dirty="0">
                <a:latin typeface="Arial"/>
                <a:cs typeface="Arial"/>
              </a:rPr>
              <a:t>3</a:t>
            </a:r>
            <a:r>
              <a:rPr sz="2000" dirty="0">
                <a:latin typeface="Arial"/>
                <a:cs typeface="Arial"/>
              </a:rPr>
              <a:t>	</a:t>
            </a:r>
            <a:r>
              <a:rPr sz="2000" spc="-5" dirty="0">
                <a:latin typeface="Arial"/>
                <a:cs typeface="Arial"/>
              </a:rPr>
              <a:t>5</a:t>
            </a:r>
            <a:endParaRPr sz="2000">
              <a:latin typeface="Arial"/>
              <a:cs typeface="Arial"/>
            </a:endParaRPr>
          </a:p>
          <a:p>
            <a:pPr marR="293370" algn="r">
              <a:lnSpc>
                <a:spcPct val="100000"/>
              </a:lnSpc>
              <a:spcBef>
                <a:spcPts val="1155"/>
              </a:spcBef>
              <a:tabLst>
                <a:tab pos="1640205" algn="l"/>
                <a:tab pos="4547235" algn="l"/>
              </a:tabLst>
            </a:pPr>
            <a:r>
              <a:rPr sz="2000" spc="-10" dirty="0">
                <a:latin typeface="Arial"/>
                <a:cs typeface="Arial"/>
              </a:rPr>
              <a:t>2</a:t>
            </a:r>
            <a:r>
              <a:rPr sz="2000" spc="-5" dirty="0">
                <a:latin typeface="Arial"/>
                <a:cs typeface="Arial"/>
              </a:rPr>
              <a:t>8</a:t>
            </a:r>
            <a:r>
              <a:rPr sz="2000" dirty="0">
                <a:latin typeface="Arial"/>
                <a:cs typeface="Arial"/>
              </a:rPr>
              <a:t>	</a:t>
            </a:r>
            <a:r>
              <a:rPr sz="2000" spc="-10" dirty="0">
                <a:latin typeface="Arial"/>
                <a:cs typeface="Arial"/>
              </a:rPr>
              <a:t>6</a:t>
            </a:r>
            <a:r>
              <a:rPr sz="2000" spc="-5" dirty="0">
                <a:latin typeface="Arial"/>
                <a:cs typeface="Arial"/>
              </a:rPr>
              <a:t>5</a:t>
            </a:r>
            <a:r>
              <a:rPr sz="2000" dirty="0">
                <a:latin typeface="Arial"/>
                <a:cs typeface="Arial"/>
              </a:rPr>
              <a:t>	</a:t>
            </a:r>
            <a:r>
              <a:rPr sz="2000" spc="-5" dirty="0">
                <a:latin typeface="Arial"/>
                <a:cs typeface="Arial"/>
              </a:rPr>
              <a:t>9</a:t>
            </a:r>
            <a:endParaRPr sz="2000">
              <a:latin typeface="Arial"/>
              <a:cs typeface="Arial"/>
            </a:endParaRPr>
          </a:p>
        </p:txBody>
      </p:sp>
      <p:sp>
        <p:nvSpPr>
          <p:cNvPr id="6" name="object 6"/>
          <p:cNvSpPr txBox="1"/>
          <p:nvPr/>
        </p:nvSpPr>
        <p:spPr>
          <a:xfrm>
            <a:off x="736193" y="1610994"/>
            <a:ext cx="4279265" cy="453390"/>
          </a:xfrm>
          <a:prstGeom prst="rect">
            <a:avLst/>
          </a:prstGeom>
        </p:spPr>
        <p:txBody>
          <a:bodyPr vert="horz" wrap="square" lIns="0" tIns="13335" rIns="0" bIns="0" rtlCol="0">
            <a:spAutoFit/>
          </a:bodyPr>
          <a:lstStyle/>
          <a:p>
            <a:pPr marL="12700">
              <a:lnSpc>
                <a:spcPct val="100000"/>
              </a:lnSpc>
              <a:spcBef>
                <a:spcPts val="105"/>
              </a:spcBef>
            </a:pPr>
            <a:r>
              <a:rPr sz="2800" spc="-80" dirty="0">
                <a:latin typeface="Arial"/>
                <a:cs typeface="Arial"/>
              </a:rPr>
              <a:t>SPT: </a:t>
            </a:r>
            <a:r>
              <a:rPr sz="2800" dirty="0">
                <a:latin typeface="Arial"/>
                <a:cs typeface="Arial"/>
              </a:rPr>
              <a:t>Sequence B-D-A-C-E</a:t>
            </a:r>
            <a:endParaRPr sz="2800">
              <a:latin typeface="Arial"/>
              <a:cs typeface="Arial"/>
            </a:endParaRPr>
          </a:p>
        </p:txBody>
      </p:sp>
      <p:grpSp>
        <p:nvGrpSpPr>
          <p:cNvPr id="7" name="object 7"/>
          <p:cNvGrpSpPr/>
          <p:nvPr/>
        </p:nvGrpSpPr>
        <p:grpSpPr>
          <a:xfrm>
            <a:off x="341185" y="2456497"/>
            <a:ext cx="8467725" cy="3438525"/>
            <a:chOff x="341185" y="2456497"/>
            <a:chExt cx="8467725" cy="3438525"/>
          </a:xfrm>
        </p:grpSpPr>
        <p:sp>
          <p:nvSpPr>
            <p:cNvPr id="8" name="object 8"/>
            <p:cNvSpPr/>
            <p:nvPr/>
          </p:nvSpPr>
          <p:spPr>
            <a:xfrm>
              <a:off x="345947" y="2461260"/>
              <a:ext cx="8458200" cy="3429000"/>
            </a:xfrm>
            <a:custGeom>
              <a:avLst/>
              <a:gdLst/>
              <a:ahLst/>
              <a:cxnLst/>
              <a:rect l="l" t="t" r="r" b="b"/>
              <a:pathLst>
                <a:path w="8458200" h="3429000">
                  <a:moveTo>
                    <a:pt x="8458200" y="0"/>
                  </a:moveTo>
                  <a:lnTo>
                    <a:pt x="0" y="0"/>
                  </a:lnTo>
                  <a:lnTo>
                    <a:pt x="0" y="3429000"/>
                  </a:lnTo>
                  <a:lnTo>
                    <a:pt x="8458200" y="3429000"/>
                  </a:lnTo>
                  <a:lnTo>
                    <a:pt x="8458200" y="0"/>
                  </a:lnTo>
                  <a:close/>
                </a:path>
              </a:pathLst>
            </a:custGeom>
            <a:solidFill>
              <a:srgbClr val="99CCFF"/>
            </a:solidFill>
          </p:spPr>
          <p:txBody>
            <a:bodyPr wrap="square" lIns="0" tIns="0" rIns="0" bIns="0" rtlCol="0"/>
            <a:lstStyle/>
            <a:p>
              <a:endParaRPr/>
            </a:p>
          </p:txBody>
        </p:sp>
        <p:sp>
          <p:nvSpPr>
            <p:cNvPr id="9" name="object 9"/>
            <p:cNvSpPr/>
            <p:nvPr/>
          </p:nvSpPr>
          <p:spPr>
            <a:xfrm>
              <a:off x="345947" y="2461260"/>
              <a:ext cx="8458200" cy="3429000"/>
            </a:xfrm>
            <a:custGeom>
              <a:avLst/>
              <a:gdLst/>
              <a:ahLst/>
              <a:cxnLst/>
              <a:rect l="l" t="t" r="r" b="b"/>
              <a:pathLst>
                <a:path w="8458200" h="3429000">
                  <a:moveTo>
                    <a:pt x="0" y="3429000"/>
                  </a:moveTo>
                  <a:lnTo>
                    <a:pt x="8458200" y="3429000"/>
                  </a:lnTo>
                  <a:lnTo>
                    <a:pt x="8458200" y="0"/>
                  </a:lnTo>
                  <a:lnTo>
                    <a:pt x="0" y="0"/>
                  </a:lnTo>
                  <a:lnTo>
                    <a:pt x="0" y="3429000"/>
                  </a:lnTo>
                  <a:close/>
                </a:path>
              </a:pathLst>
            </a:custGeom>
            <a:ln w="9144">
              <a:solidFill>
                <a:srgbClr val="000000"/>
              </a:solidFill>
            </a:ln>
          </p:spPr>
          <p:txBody>
            <a:bodyPr wrap="square" lIns="0" tIns="0" rIns="0" bIns="0" rtlCol="0"/>
            <a:lstStyle/>
            <a:p>
              <a:endParaRPr/>
            </a:p>
          </p:txBody>
        </p:sp>
      </p:grpSp>
      <p:sp>
        <p:nvSpPr>
          <p:cNvPr id="10" name="object 10"/>
          <p:cNvSpPr txBox="1"/>
          <p:nvPr/>
        </p:nvSpPr>
        <p:spPr>
          <a:xfrm>
            <a:off x="639470" y="2816098"/>
            <a:ext cx="7827009" cy="329565"/>
          </a:xfrm>
          <a:prstGeom prst="rect">
            <a:avLst/>
          </a:prstGeom>
        </p:spPr>
        <p:txBody>
          <a:bodyPr vert="horz" wrap="square" lIns="0" tIns="11430" rIns="0" bIns="0" rtlCol="0">
            <a:spAutoFit/>
          </a:bodyPr>
          <a:lstStyle/>
          <a:p>
            <a:pPr marL="38100">
              <a:lnSpc>
                <a:spcPct val="100000"/>
              </a:lnSpc>
              <a:spcBef>
                <a:spcPts val="90"/>
              </a:spcBef>
            </a:pPr>
            <a:r>
              <a:rPr sz="2000" b="1" i="1" spc="-10" dirty="0">
                <a:latin typeface="Arial"/>
                <a:cs typeface="Arial"/>
              </a:rPr>
              <a:t>Average </a:t>
            </a:r>
            <a:r>
              <a:rPr sz="2000" b="1" i="1" spc="-5" dirty="0">
                <a:latin typeface="Arial"/>
                <a:cs typeface="Arial"/>
              </a:rPr>
              <a:t>completion time </a:t>
            </a:r>
            <a:r>
              <a:rPr sz="2000" b="1" spc="-5" dirty="0">
                <a:latin typeface="Arial"/>
                <a:cs typeface="Arial"/>
              </a:rPr>
              <a:t>= </a:t>
            </a:r>
            <a:r>
              <a:rPr sz="2700" b="1" i="1" baseline="44753" dirty="0">
                <a:latin typeface="Arial"/>
                <a:cs typeface="Arial"/>
              </a:rPr>
              <a:t>Sum of total flow time </a:t>
            </a:r>
            <a:r>
              <a:rPr sz="2000" b="1" spc="-5" dirty="0">
                <a:latin typeface="Arial"/>
                <a:cs typeface="Arial"/>
              </a:rPr>
              <a:t>= </a:t>
            </a:r>
            <a:r>
              <a:rPr sz="2000" b="1" spc="-10" dirty="0">
                <a:latin typeface="Arial"/>
                <a:cs typeface="Arial"/>
              </a:rPr>
              <a:t>65/5 </a:t>
            </a:r>
            <a:r>
              <a:rPr sz="2000" b="1" spc="-5" dirty="0">
                <a:latin typeface="Arial"/>
                <a:cs typeface="Arial"/>
              </a:rPr>
              <a:t>= 13</a:t>
            </a:r>
            <a:r>
              <a:rPr sz="2000" b="1" spc="145" dirty="0">
                <a:latin typeface="Arial"/>
                <a:cs typeface="Arial"/>
              </a:rPr>
              <a:t> </a:t>
            </a:r>
            <a:r>
              <a:rPr sz="2000" b="1" i="1" spc="-10" dirty="0">
                <a:latin typeface="Arial"/>
                <a:cs typeface="Arial"/>
              </a:rPr>
              <a:t>days</a:t>
            </a:r>
            <a:endParaRPr sz="2000">
              <a:latin typeface="Arial"/>
              <a:cs typeface="Arial"/>
            </a:endParaRPr>
          </a:p>
        </p:txBody>
      </p:sp>
      <p:sp>
        <p:nvSpPr>
          <p:cNvPr id="11" name="object 11"/>
          <p:cNvSpPr txBox="1"/>
          <p:nvPr/>
        </p:nvSpPr>
        <p:spPr>
          <a:xfrm>
            <a:off x="4355719" y="2960623"/>
            <a:ext cx="1706245" cy="299720"/>
          </a:xfrm>
          <a:prstGeom prst="rect">
            <a:avLst/>
          </a:prstGeom>
        </p:spPr>
        <p:txBody>
          <a:bodyPr vert="horz" wrap="square" lIns="0" tIns="12700" rIns="0" bIns="0" rtlCol="0">
            <a:spAutoFit/>
          </a:bodyPr>
          <a:lstStyle/>
          <a:p>
            <a:pPr marL="12700">
              <a:lnSpc>
                <a:spcPct val="100000"/>
              </a:lnSpc>
              <a:spcBef>
                <a:spcPts val="100"/>
              </a:spcBef>
            </a:pPr>
            <a:r>
              <a:rPr sz="1800" b="1" i="1" dirty="0">
                <a:latin typeface="Arial"/>
                <a:cs typeface="Arial"/>
              </a:rPr>
              <a:t>Number of</a:t>
            </a:r>
            <a:r>
              <a:rPr sz="1800" b="1" i="1" spc="-80" dirty="0">
                <a:latin typeface="Arial"/>
                <a:cs typeface="Arial"/>
              </a:rPr>
              <a:t> </a:t>
            </a:r>
            <a:r>
              <a:rPr sz="1800" b="1" i="1" dirty="0">
                <a:latin typeface="Arial"/>
                <a:cs typeface="Arial"/>
              </a:rPr>
              <a:t>jobs</a:t>
            </a:r>
            <a:endParaRPr sz="1800">
              <a:latin typeface="Arial"/>
              <a:cs typeface="Arial"/>
            </a:endParaRPr>
          </a:p>
        </p:txBody>
      </p:sp>
      <p:sp>
        <p:nvSpPr>
          <p:cNvPr id="12" name="object 12"/>
          <p:cNvSpPr/>
          <p:nvPr/>
        </p:nvSpPr>
        <p:spPr>
          <a:xfrm>
            <a:off x="3162300" y="2994660"/>
            <a:ext cx="3249295" cy="814069"/>
          </a:xfrm>
          <a:custGeom>
            <a:avLst/>
            <a:gdLst/>
            <a:ahLst/>
            <a:cxnLst/>
            <a:rect l="l" t="t" r="r" b="b"/>
            <a:pathLst>
              <a:path w="3249295" h="814070">
                <a:moveTo>
                  <a:pt x="3249167" y="0"/>
                </a:moveTo>
                <a:lnTo>
                  <a:pt x="856488" y="0"/>
                </a:lnTo>
              </a:path>
              <a:path w="3249295" h="814070">
                <a:moveTo>
                  <a:pt x="0" y="813815"/>
                </a:moveTo>
                <a:lnTo>
                  <a:pt x="2395728" y="813815"/>
                </a:lnTo>
              </a:path>
            </a:pathLst>
          </a:custGeom>
          <a:ln w="27432">
            <a:solidFill>
              <a:srgbClr val="000000"/>
            </a:solidFill>
          </a:ln>
        </p:spPr>
        <p:txBody>
          <a:bodyPr wrap="square" lIns="0" tIns="0" rIns="0" bIns="0" rtlCol="0"/>
          <a:lstStyle/>
          <a:p>
            <a:endParaRPr/>
          </a:p>
        </p:txBody>
      </p:sp>
      <p:sp>
        <p:nvSpPr>
          <p:cNvPr id="13" name="object 13"/>
          <p:cNvSpPr txBox="1"/>
          <p:nvPr/>
        </p:nvSpPr>
        <p:spPr>
          <a:xfrm>
            <a:off x="856894" y="4525213"/>
            <a:ext cx="2234565" cy="329565"/>
          </a:xfrm>
          <a:prstGeom prst="rect">
            <a:avLst/>
          </a:prstGeom>
        </p:spPr>
        <p:txBody>
          <a:bodyPr vert="horz" wrap="square" lIns="0" tIns="12065" rIns="0" bIns="0" rtlCol="0">
            <a:spAutoFit/>
          </a:bodyPr>
          <a:lstStyle/>
          <a:p>
            <a:pPr marL="12700">
              <a:lnSpc>
                <a:spcPct val="100000"/>
              </a:lnSpc>
              <a:spcBef>
                <a:spcPts val="95"/>
              </a:spcBef>
            </a:pPr>
            <a:r>
              <a:rPr sz="2000" b="1" i="1" spc="-5" dirty="0">
                <a:latin typeface="Arial"/>
                <a:cs typeface="Arial"/>
              </a:rPr>
              <a:t>jobs in the</a:t>
            </a:r>
            <a:r>
              <a:rPr sz="2000" b="1" i="1" spc="-55" dirty="0">
                <a:latin typeface="Arial"/>
                <a:cs typeface="Arial"/>
              </a:rPr>
              <a:t> </a:t>
            </a:r>
            <a:r>
              <a:rPr sz="2000" b="1" i="1" spc="-10" dirty="0">
                <a:latin typeface="Arial"/>
                <a:cs typeface="Arial"/>
              </a:rPr>
              <a:t>system</a:t>
            </a:r>
            <a:endParaRPr sz="2000">
              <a:latin typeface="Arial"/>
              <a:cs typeface="Arial"/>
            </a:endParaRPr>
          </a:p>
        </p:txBody>
      </p:sp>
      <p:sp>
        <p:nvSpPr>
          <p:cNvPr id="14" name="object 14"/>
          <p:cNvSpPr txBox="1"/>
          <p:nvPr/>
        </p:nvSpPr>
        <p:spPr>
          <a:xfrm>
            <a:off x="818794" y="3462273"/>
            <a:ext cx="7473950" cy="1109980"/>
          </a:xfrm>
          <a:prstGeom prst="rect">
            <a:avLst/>
          </a:prstGeom>
        </p:spPr>
        <p:txBody>
          <a:bodyPr vert="horz" wrap="square" lIns="0" tIns="12700" rIns="0" bIns="0" rtlCol="0">
            <a:spAutoFit/>
          </a:bodyPr>
          <a:lstStyle/>
          <a:p>
            <a:pPr marR="372110" algn="ctr">
              <a:lnSpc>
                <a:spcPts val="1795"/>
              </a:lnSpc>
              <a:spcBef>
                <a:spcPts val="100"/>
              </a:spcBef>
            </a:pPr>
            <a:r>
              <a:rPr sz="1800" b="1" i="1" spc="-15" dirty="0">
                <a:latin typeface="Arial"/>
                <a:cs typeface="Arial"/>
              </a:rPr>
              <a:t>Total </a:t>
            </a:r>
            <a:r>
              <a:rPr sz="1800" b="1" i="1" dirty="0">
                <a:latin typeface="Arial"/>
                <a:cs typeface="Arial"/>
              </a:rPr>
              <a:t>job </a:t>
            </a:r>
            <a:r>
              <a:rPr sz="1800" b="1" i="1" spc="-5" dirty="0">
                <a:latin typeface="Arial"/>
                <a:cs typeface="Arial"/>
              </a:rPr>
              <a:t>work</a:t>
            </a:r>
            <a:r>
              <a:rPr sz="1800" b="1" i="1" spc="-20" dirty="0">
                <a:latin typeface="Arial"/>
                <a:cs typeface="Arial"/>
              </a:rPr>
              <a:t> </a:t>
            </a:r>
            <a:r>
              <a:rPr sz="1800" b="1" i="1" dirty="0">
                <a:latin typeface="Arial"/>
                <a:cs typeface="Arial"/>
              </a:rPr>
              <a:t>time</a:t>
            </a:r>
            <a:endParaRPr sz="1800">
              <a:latin typeface="Arial"/>
              <a:cs typeface="Arial"/>
            </a:endParaRPr>
          </a:p>
          <a:p>
            <a:pPr marL="62865" algn="ctr">
              <a:lnSpc>
                <a:spcPts val="2035"/>
              </a:lnSpc>
            </a:pPr>
            <a:r>
              <a:rPr sz="2000" b="1" i="1" spc="-5" dirty="0">
                <a:latin typeface="Arial"/>
                <a:cs typeface="Arial"/>
              </a:rPr>
              <a:t>Utilization </a:t>
            </a:r>
            <a:r>
              <a:rPr sz="2000" b="1" spc="-5" dirty="0">
                <a:latin typeface="Arial"/>
                <a:cs typeface="Arial"/>
              </a:rPr>
              <a:t>= </a:t>
            </a:r>
            <a:r>
              <a:rPr sz="2700" b="1" i="1" baseline="-23148" dirty="0">
                <a:latin typeface="Arial"/>
                <a:cs typeface="Arial"/>
              </a:rPr>
              <a:t>Sum of total flow time </a:t>
            </a:r>
            <a:r>
              <a:rPr sz="2000" b="1" spc="-5" dirty="0">
                <a:latin typeface="Arial"/>
                <a:cs typeface="Arial"/>
              </a:rPr>
              <a:t>= </a:t>
            </a:r>
            <a:r>
              <a:rPr sz="2000" b="1" spc="-10" dirty="0">
                <a:latin typeface="Arial"/>
                <a:cs typeface="Arial"/>
              </a:rPr>
              <a:t>28/65 </a:t>
            </a:r>
            <a:r>
              <a:rPr sz="2000" b="1" spc="-5" dirty="0">
                <a:latin typeface="Arial"/>
                <a:cs typeface="Arial"/>
              </a:rPr>
              <a:t>=</a:t>
            </a:r>
            <a:r>
              <a:rPr sz="2000" b="1" spc="45" dirty="0">
                <a:latin typeface="Arial"/>
                <a:cs typeface="Arial"/>
              </a:rPr>
              <a:t> </a:t>
            </a:r>
            <a:r>
              <a:rPr sz="2000" b="1" spc="-10" dirty="0">
                <a:latin typeface="Arial"/>
                <a:cs typeface="Arial"/>
              </a:rPr>
              <a:t>43.1%</a:t>
            </a:r>
            <a:endParaRPr sz="2000">
              <a:latin typeface="Arial"/>
              <a:cs typeface="Arial"/>
            </a:endParaRPr>
          </a:p>
          <a:p>
            <a:pPr algn="ctr">
              <a:lnSpc>
                <a:spcPct val="100000"/>
              </a:lnSpc>
              <a:spcBef>
                <a:spcPts val="2305"/>
              </a:spcBef>
            </a:pPr>
            <a:r>
              <a:rPr sz="3000" b="1" i="1" spc="-15" baseline="-5555" dirty="0">
                <a:latin typeface="Arial"/>
                <a:cs typeface="Arial"/>
              </a:rPr>
              <a:t>Average </a:t>
            </a:r>
            <a:r>
              <a:rPr sz="3000" b="1" i="1" spc="-7" baseline="-5555" dirty="0">
                <a:latin typeface="Arial"/>
                <a:cs typeface="Arial"/>
              </a:rPr>
              <a:t>number of </a:t>
            </a:r>
            <a:r>
              <a:rPr sz="3000" b="1" spc="-7" baseline="-38888" dirty="0">
                <a:latin typeface="Arial"/>
                <a:cs typeface="Arial"/>
              </a:rPr>
              <a:t>=</a:t>
            </a:r>
            <a:r>
              <a:rPr sz="2000" b="1" u="heavy" spc="-5" dirty="0">
                <a:uFill>
                  <a:solidFill>
                    <a:srgbClr val="000000"/>
                  </a:solidFill>
                </a:uFill>
                <a:latin typeface="Arial"/>
                <a:cs typeface="Arial"/>
              </a:rPr>
              <a:t> </a:t>
            </a:r>
            <a:r>
              <a:rPr sz="1800" b="1" i="1" u="heavy" dirty="0">
                <a:uFill>
                  <a:solidFill>
                    <a:srgbClr val="000000"/>
                  </a:solidFill>
                </a:uFill>
                <a:latin typeface="Arial"/>
                <a:cs typeface="Arial"/>
              </a:rPr>
              <a:t>Sum of total flow time</a:t>
            </a:r>
            <a:r>
              <a:rPr sz="1800" b="1" i="1" dirty="0">
                <a:latin typeface="Arial"/>
                <a:cs typeface="Arial"/>
              </a:rPr>
              <a:t> </a:t>
            </a:r>
            <a:r>
              <a:rPr sz="3000" b="1" spc="-7" baseline="-38888" dirty="0">
                <a:latin typeface="Arial"/>
                <a:cs typeface="Arial"/>
              </a:rPr>
              <a:t>= 65/28 = 2.32</a:t>
            </a:r>
            <a:r>
              <a:rPr sz="3000" b="1" spc="-337" baseline="-38888" dirty="0">
                <a:latin typeface="Arial"/>
                <a:cs typeface="Arial"/>
              </a:rPr>
              <a:t> </a:t>
            </a:r>
            <a:r>
              <a:rPr sz="3000" b="1" i="1" spc="-7" baseline="-38888" dirty="0">
                <a:latin typeface="Arial"/>
                <a:cs typeface="Arial"/>
              </a:rPr>
              <a:t>jobs</a:t>
            </a:r>
            <a:endParaRPr sz="3000" baseline="-38888">
              <a:latin typeface="Arial"/>
              <a:cs typeface="Arial"/>
            </a:endParaRPr>
          </a:p>
        </p:txBody>
      </p:sp>
      <p:sp>
        <p:nvSpPr>
          <p:cNvPr id="15" name="object 15"/>
          <p:cNvSpPr txBox="1"/>
          <p:nvPr/>
        </p:nvSpPr>
        <p:spPr>
          <a:xfrm>
            <a:off x="3684523" y="4569332"/>
            <a:ext cx="2099310" cy="299720"/>
          </a:xfrm>
          <a:prstGeom prst="rect">
            <a:avLst/>
          </a:prstGeom>
        </p:spPr>
        <p:txBody>
          <a:bodyPr vert="horz" wrap="square" lIns="0" tIns="12700" rIns="0" bIns="0" rtlCol="0">
            <a:spAutoFit/>
          </a:bodyPr>
          <a:lstStyle/>
          <a:p>
            <a:pPr marL="12700">
              <a:lnSpc>
                <a:spcPct val="100000"/>
              </a:lnSpc>
              <a:spcBef>
                <a:spcPts val="100"/>
              </a:spcBef>
            </a:pPr>
            <a:r>
              <a:rPr sz="1800" b="1" i="1" spc="-15" dirty="0">
                <a:latin typeface="Arial"/>
                <a:cs typeface="Arial"/>
              </a:rPr>
              <a:t>Total </a:t>
            </a:r>
            <a:r>
              <a:rPr sz="1800" b="1" i="1" dirty="0">
                <a:latin typeface="Arial"/>
                <a:cs typeface="Arial"/>
              </a:rPr>
              <a:t>job </a:t>
            </a:r>
            <a:r>
              <a:rPr sz="1800" b="1" i="1" spc="-5" dirty="0">
                <a:latin typeface="Arial"/>
                <a:cs typeface="Arial"/>
              </a:rPr>
              <a:t>work</a:t>
            </a:r>
            <a:r>
              <a:rPr sz="1800" b="1" i="1" spc="-75" dirty="0">
                <a:latin typeface="Arial"/>
                <a:cs typeface="Arial"/>
              </a:rPr>
              <a:t> </a:t>
            </a:r>
            <a:r>
              <a:rPr sz="1800" b="1" i="1" dirty="0">
                <a:latin typeface="Arial"/>
                <a:cs typeface="Arial"/>
              </a:rPr>
              <a:t>time</a:t>
            </a:r>
            <a:endParaRPr sz="1800">
              <a:latin typeface="Arial"/>
              <a:cs typeface="Arial"/>
            </a:endParaRPr>
          </a:p>
        </p:txBody>
      </p:sp>
      <p:sp>
        <p:nvSpPr>
          <p:cNvPr id="16" name="object 16"/>
          <p:cNvSpPr txBox="1"/>
          <p:nvPr/>
        </p:nvSpPr>
        <p:spPr>
          <a:xfrm>
            <a:off x="1217472" y="5255209"/>
            <a:ext cx="2783840" cy="329565"/>
          </a:xfrm>
          <a:prstGeom prst="rect">
            <a:avLst/>
          </a:prstGeom>
        </p:spPr>
        <p:txBody>
          <a:bodyPr vert="horz" wrap="square" lIns="0" tIns="12065" rIns="0" bIns="0" rtlCol="0">
            <a:spAutoFit/>
          </a:bodyPr>
          <a:lstStyle/>
          <a:p>
            <a:pPr marL="12700">
              <a:lnSpc>
                <a:spcPct val="100000"/>
              </a:lnSpc>
              <a:spcBef>
                <a:spcPts val="95"/>
              </a:spcBef>
            </a:pPr>
            <a:r>
              <a:rPr sz="2000" b="1" i="1" spc="-10" dirty="0">
                <a:latin typeface="Arial"/>
                <a:cs typeface="Arial"/>
              </a:rPr>
              <a:t>Average </a:t>
            </a:r>
            <a:r>
              <a:rPr sz="2000" b="1" i="1" spc="-5" dirty="0">
                <a:latin typeface="Arial"/>
                <a:cs typeface="Arial"/>
              </a:rPr>
              <a:t>job lateness</a:t>
            </a:r>
            <a:r>
              <a:rPr sz="2000" b="1" i="1" spc="15" dirty="0">
                <a:latin typeface="Arial"/>
                <a:cs typeface="Arial"/>
              </a:rPr>
              <a:t> </a:t>
            </a:r>
            <a:r>
              <a:rPr sz="2000" b="1" spc="-5" dirty="0">
                <a:latin typeface="Arial"/>
                <a:cs typeface="Arial"/>
              </a:rPr>
              <a:t>=</a:t>
            </a:r>
            <a:endParaRPr sz="2000">
              <a:latin typeface="Arial"/>
              <a:cs typeface="Arial"/>
            </a:endParaRPr>
          </a:p>
        </p:txBody>
      </p:sp>
      <p:sp>
        <p:nvSpPr>
          <p:cNvPr id="17" name="object 17"/>
          <p:cNvSpPr txBox="1"/>
          <p:nvPr/>
        </p:nvSpPr>
        <p:spPr>
          <a:xfrm>
            <a:off x="6000741" y="5255209"/>
            <a:ext cx="1884045" cy="329565"/>
          </a:xfrm>
          <a:prstGeom prst="rect">
            <a:avLst/>
          </a:prstGeom>
        </p:spPr>
        <p:txBody>
          <a:bodyPr vert="horz" wrap="square" lIns="0" tIns="12065" rIns="0" bIns="0" rtlCol="0">
            <a:spAutoFit/>
          </a:bodyPr>
          <a:lstStyle/>
          <a:p>
            <a:pPr marL="12700">
              <a:lnSpc>
                <a:spcPct val="100000"/>
              </a:lnSpc>
              <a:spcBef>
                <a:spcPts val="95"/>
              </a:spcBef>
            </a:pPr>
            <a:r>
              <a:rPr sz="2000" b="1" spc="-5" dirty="0">
                <a:latin typeface="Arial"/>
                <a:cs typeface="Arial"/>
              </a:rPr>
              <a:t>= </a:t>
            </a:r>
            <a:r>
              <a:rPr sz="2000" b="1" spc="-10" dirty="0">
                <a:latin typeface="Arial"/>
                <a:cs typeface="Arial"/>
              </a:rPr>
              <a:t>9/5 </a:t>
            </a:r>
            <a:r>
              <a:rPr sz="2000" b="1" spc="-5" dirty="0">
                <a:latin typeface="Arial"/>
                <a:cs typeface="Arial"/>
              </a:rPr>
              <a:t>= </a:t>
            </a:r>
            <a:r>
              <a:rPr sz="2000" b="1" spc="-10" dirty="0">
                <a:latin typeface="Arial"/>
                <a:cs typeface="Arial"/>
              </a:rPr>
              <a:t>1.8</a:t>
            </a:r>
            <a:r>
              <a:rPr sz="2000" b="1" spc="-40" dirty="0">
                <a:latin typeface="Arial"/>
                <a:cs typeface="Arial"/>
              </a:rPr>
              <a:t> </a:t>
            </a:r>
            <a:r>
              <a:rPr sz="2000" b="1" i="1" spc="-5" dirty="0">
                <a:latin typeface="Arial"/>
                <a:cs typeface="Arial"/>
              </a:rPr>
              <a:t>days</a:t>
            </a:r>
            <a:endParaRPr sz="2000">
              <a:latin typeface="Arial"/>
              <a:cs typeface="Arial"/>
            </a:endParaRPr>
          </a:p>
        </p:txBody>
      </p:sp>
      <p:sp>
        <p:nvSpPr>
          <p:cNvPr id="18" name="object 18"/>
          <p:cNvSpPr txBox="1"/>
          <p:nvPr/>
        </p:nvSpPr>
        <p:spPr>
          <a:xfrm>
            <a:off x="4170426" y="5044667"/>
            <a:ext cx="1702435" cy="629920"/>
          </a:xfrm>
          <a:prstGeom prst="rect">
            <a:avLst/>
          </a:prstGeom>
        </p:spPr>
        <p:txBody>
          <a:bodyPr vert="horz" wrap="square" lIns="0" tIns="40640" rIns="0" bIns="0" rtlCol="0">
            <a:spAutoFit/>
          </a:bodyPr>
          <a:lstStyle/>
          <a:p>
            <a:pPr marL="58419">
              <a:lnSpc>
                <a:spcPct val="100000"/>
              </a:lnSpc>
              <a:spcBef>
                <a:spcPts val="320"/>
              </a:spcBef>
            </a:pPr>
            <a:r>
              <a:rPr sz="1800" b="1" i="1" spc="-15" dirty="0">
                <a:latin typeface="Arial"/>
                <a:cs typeface="Arial"/>
              </a:rPr>
              <a:t>Total </a:t>
            </a:r>
            <a:r>
              <a:rPr sz="1800" b="1" i="1" dirty="0">
                <a:latin typeface="Arial"/>
                <a:cs typeface="Arial"/>
              </a:rPr>
              <a:t>late</a:t>
            </a:r>
            <a:r>
              <a:rPr sz="1800" b="1" i="1" spc="-70" dirty="0">
                <a:latin typeface="Arial"/>
                <a:cs typeface="Arial"/>
              </a:rPr>
              <a:t> </a:t>
            </a:r>
            <a:r>
              <a:rPr sz="1800" b="1" i="1" dirty="0">
                <a:latin typeface="Arial"/>
                <a:cs typeface="Arial"/>
              </a:rPr>
              <a:t>days</a:t>
            </a:r>
            <a:endParaRPr sz="1800">
              <a:latin typeface="Arial"/>
              <a:cs typeface="Arial"/>
            </a:endParaRPr>
          </a:p>
          <a:p>
            <a:pPr marL="12700">
              <a:lnSpc>
                <a:spcPct val="100000"/>
              </a:lnSpc>
              <a:spcBef>
                <a:spcPts val="215"/>
              </a:spcBef>
            </a:pPr>
            <a:r>
              <a:rPr sz="1800" b="1" i="1" dirty="0">
                <a:latin typeface="Arial"/>
                <a:cs typeface="Arial"/>
              </a:rPr>
              <a:t>Number of</a:t>
            </a:r>
            <a:r>
              <a:rPr sz="1800" b="1" i="1" spc="-100" dirty="0">
                <a:latin typeface="Arial"/>
                <a:cs typeface="Arial"/>
              </a:rPr>
              <a:t> </a:t>
            </a:r>
            <a:r>
              <a:rPr sz="1800" b="1" i="1" dirty="0">
                <a:latin typeface="Arial"/>
                <a:cs typeface="Arial"/>
              </a:rPr>
              <a:t>jobs</a:t>
            </a:r>
            <a:endParaRPr sz="1800">
              <a:latin typeface="Arial"/>
              <a:cs typeface="Arial"/>
            </a:endParaRPr>
          </a:p>
        </p:txBody>
      </p:sp>
      <p:sp>
        <p:nvSpPr>
          <p:cNvPr id="19" name="object 19"/>
          <p:cNvSpPr/>
          <p:nvPr/>
        </p:nvSpPr>
        <p:spPr>
          <a:xfrm>
            <a:off x="4119371" y="5420867"/>
            <a:ext cx="1807845" cy="0"/>
          </a:xfrm>
          <a:custGeom>
            <a:avLst/>
            <a:gdLst/>
            <a:ahLst/>
            <a:cxnLst/>
            <a:rect l="l" t="t" r="r" b="b"/>
            <a:pathLst>
              <a:path w="1807845">
                <a:moveTo>
                  <a:pt x="0" y="0"/>
                </a:moveTo>
                <a:lnTo>
                  <a:pt x="1807464" y="0"/>
                </a:lnTo>
              </a:path>
            </a:pathLst>
          </a:custGeom>
          <a:ln w="27432">
            <a:solidFill>
              <a:srgbClr val="000000"/>
            </a:solidFill>
          </a:ln>
        </p:spPr>
        <p:txBody>
          <a:bodyPr wrap="square" lIns="0" tIns="0" rIns="0" bIns="0" rtlCol="0"/>
          <a:lstStyle/>
          <a:p>
            <a:endParaRPr/>
          </a:p>
        </p:txBody>
      </p:sp>
      <p:grpSp>
        <p:nvGrpSpPr>
          <p:cNvPr id="20" name="object 20"/>
          <p:cNvGrpSpPr/>
          <p:nvPr/>
        </p:nvGrpSpPr>
        <p:grpSpPr>
          <a:xfrm>
            <a:off x="12191" y="6437376"/>
            <a:ext cx="1628139" cy="411480"/>
            <a:chOff x="12191" y="6437376"/>
            <a:chExt cx="1628139" cy="411480"/>
          </a:xfrm>
        </p:grpSpPr>
        <p:sp>
          <p:nvSpPr>
            <p:cNvPr id="21" name="object 21"/>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22" name="object 22"/>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23" name="object 23"/>
          <p:cNvGrpSpPr/>
          <p:nvPr/>
        </p:nvGrpSpPr>
        <p:grpSpPr>
          <a:xfrm>
            <a:off x="7491983" y="6437376"/>
            <a:ext cx="1630680" cy="411480"/>
            <a:chOff x="7491983" y="6437376"/>
            <a:chExt cx="1630680" cy="411480"/>
          </a:xfrm>
        </p:grpSpPr>
        <p:sp>
          <p:nvSpPr>
            <p:cNvPr id="24" name="object 24"/>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25" name="object 25"/>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28</a:t>
            </a:r>
            <a:endParaRPr sz="900">
              <a:latin typeface="Arial"/>
              <a:cs typeface="Arial"/>
            </a:endParaRPr>
          </a:p>
        </p:txBody>
      </p:sp>
      <p:sp>
        <p:nvSpPr>
          <p:cNvPr id="4" name="object 4"/>
          <p:cNvSpPr/>
          <p:nvPr/>
        </p:nvSpPr>
        <p:spPr>
          <a:xfrm>
            <a:off x="704087" y="4660900"/>
            <a:ext cx="7748270" cy="419100"/>
          </a:xfrm>
          <a:custGeom>
            <a:avLst/>
            <a:gdLst/>
            <a:ahLst/>
            <a:cxnLst/>
            <a:rect l="l" t="t" r="r" b="b"/>
            <a:pathLst>
              <a:path w="7748270" h="419100">
                <a:moveTo>
                  <a:pt x="0" y="419100"/>
                </a:moveTo>
                <a:lnTo>
                  <a:pt x="7748015" y="419100"/>
                </a:lnTo>
                <a:lnTo>
                  <a:pt x="7748015" y="0"/>
                </a:lnTo>
                <a:lnTo>
                  <a:pt x="0" y="0"/>
                </a:lnTo>
                <a:lnTo>
                  <a:pt x="0" y="419100"/>
                </a:lnTo>
                <a:close/>
              </a:path>
            </a:pathLst>
          </a:custGeom>
          <a:solidFill>
            <a:srgbClr val="99CCFF"/>
          </a:solidFill>
        </p:spPr>
        <p:txBody>
          <a:bodyPr wrap="square" lIns="0" tIns="0" rIns="0" bIns="0" rtlCol="0"/>
          <a:lstStyle/>
          <a:p>
            <a:endParaRPr/>
          </a:p>
        </p:txBody>
      </p:sp>
      <p:grpSp>
        <p:nvGrpSpPr>
          <p:cNvPr id="5" name="object 5"/>
          <p:cNvGrpSpPr/>
          <p:nvPr/>
        </p:nvGrpSpPr>
        <p:grpSpPr>
          <a:xfrm>
            <a:off x="685800" y="3314700"/>
            <a:ext cx="1600200" cy="2222500"/>
            <a:chOff x="685800" y="3314700"/>
            <a:chExt cx="1600200" cy="2222500"/>
          </a:xfrm>
        </p:grpSpPr>
        <p:sp>
          <p:nvSpPr>
            <p:cNvPr id="6" name="object 6"/>
            <p:cNvSpPr/>
            <p:nvPr/>
          </p:nvSpPr>
          <p:spPr>
            <a:xfrm>
              <a:off x="704088" y="3791712"/>
              <a:ext cx="1582420" cy="424815"/>
            </a:xfrm>
            <a:custGeom>
              <a:avLst/>
              <a:gdLst/>
              <a:ahLst/>
              <a:cxnLst/>
              <a:rect l="l" t="t" r="r" b="b"/>
              <a:pathLst>
                <a:path w="1582420" h="424814">
                  <a:moveTo>
                    <a:pt x="0" y="424688"/>
                  </a:moveTo>
                  <a:lnTo>
                    <a:pt x="1581912" y="424688"/>
                  </a:lnTo>
                  <a:lnTo>
                    <a:pt x="1581912" y="0"/>
                  </a:lnTo>
                  <a:lnTo>
                    <a:pt x="0" y="0"/>
                  </a:lnTo>
                  <a:lnTo>
                    <a:pt x="0" y="424688"/>
                  </a:lnTo>
                  <a:close/>
                </a:path>
              </a:pathLst>
            </a:custGeom>
            <a:solidFill>
              <a:srgbClr val="A4DF00"/>
            </a:solidFill>
          </p:spPr>
          <p:txBody>
            <a:bodyPr wrap="square" lIns="0" tIns="0" rIns="0" bIns="0" rtlCol="0"/>
            <a:lstStyle/>
            <a:p>
              <a:endParaRPr/>
            </a:p>
          </p:txBody>
        </p:sp>
        <p:sp>
          <p:nvSpPr>
            <p:cNvPr id="7" name="object 7"/>
            <p:cNvSpPr/>
            <p:nvPr/>
          </p:nvSpPr>
          <p:spPr>
            <a:xfrm>
              <a:off x="704088" y="3328416"/>
              <a:ext cx="1582420" cy="443865"/>
            </a:xfrm>
            <a:custGeom>
              <a:avLst/>
              <a:gdLst/>
              <a:ahLst/>
              <a:cxnLst/>
              <a:rect l="l" t="t" r="r" b="b"/>
              <a:pathLst>
                <a:path w="1582420" h="443864">
                  <a:moveTo>
                    <a:pt x="0" y="443484"/>
                  </a:moveTo>
                  <a:lnTo>
                    <a:pt x="1581912" y="443484"/>
                  </a:lnTo>
                  <a:lnTo>
                    <a:pt x="1581912" y="0"/>
                  </a:lnTo>
                  <a:lnTo>
                    <a:pt x="0" y="0"/>
                  </a:lnTo>
                  <a:lnTo>
                    <a:pt x="0" y="443484"/>
                  </a:lnTo>
                  <a:close/>
                </a:path>
              </a:pathLst>
            </a:custGeom>
            <a:solidFill>
              <a:srgbClr val="F400F4"/>
            </a:solidFill>
          </p:spPr>
          <p:txBody>
            <a:bodyPr wrap="square" lIns="0" tIns="0" rIns="0" bIns="0" rtlCol="0"/>
            <a:lstStyle/>
            <a:p>
              <a:endParaRPr/>
            </a:p>
          </p:txBody>
        </p:sp>
        <p:sp>
          <p:nvSpPr>
            <p:cNvPr id="8" name="object 8"/>
            <p:cNvSpPr/>
            <p:nvPr/>
          </p:nvSpPr>
          <p:spPr>
            <a:xfrm>
              <a:off x="685800" y="3314699"/>
              <a:ext cx="1600200" cy="2222500"/>
            </a:xfrm>
            <a:custGeom>
              <a:avLst/>
              <a:gdLst/>
              <a:ahLst/>
              <a:cxnLst/>
              <a:rect l="l" t="t" r="r" b="b"/>
              <a:pathLst>
                <a:path w="1600200" h="2222500">
                  <a:moveTo>
                    <a:pt x="1600200" y="0"/>
                  </a:moveTo>
                  <a:lnTo>
                    <a:pt x="0" y="0"/>
                  </a:lnTo>
                  <a:lnTo>
                    <a:pt x="0" y="457200"/>
                  </a:lnTo>
                  <a:lnTo>
                    <a:pt x="0" y="901700"/>
                  </a:lnTo>
                  <a:lnTo>
                    <a:pt x="0" y="1346200"/>
                  </a:lnTo>
                  <a:lnTo>
                    <a:pt x="0" y="1765300"/>
                  </a:lnTo>
                  <a:lnTo>
                    <a:pt x="0" y="2222500"/>
                  </a:lnTo>
                  <a:lnTo>
                    <a:pt x="1600200" y="2222500"/>
                  </a:lnTo>
                  <a:lnTo>
                    <a:pt x="1600200" y="1765300"/>
                  </a:lnTo>
                  <a:lnTo>
                    <a:pt x="1600200" y="1346200"/>
                  </a:lnTo>
                  <a:lnTo>
                    <a:pt x="1600200" y="901700"/>
                  </a:lnTo>
                  <a:lnTo>
                    <a:pt x="1600200" y="457200"/>
                  </a:lnTo>
                  <a:lnTo>
                    <a:pt x="1600200" y="0"/>
                  </a:lnTo>
                  <a:close/>
                </a:path>
              </a:pathLst>
            </a:custGeom>
            <a:solidFill>
              <a:srgbClr val="F7FAFF"/>
            </a:solidFill>
          </p:spPr>
          <p:txBody>
            <a:bodyPr wrap="square" lIns="0" tIns="0" rIns="0" bIns="0" rtlCol="0"/>
            <a:lstStyle/>
            <a:p>
              <a:endParaRPr/>
            </a:p>
          </p:txBody>
        </p:sp>
      </p:grpSp>
      <p:sp>
        <p:nvSpPr>
          <p:cNvPr id="9" name="object 9"/>
          <p:cNvSpPr txBox="1">
            <a:spLocks noGrp="1"/>
          </p:cNvSpPr>
          <p:nvPr>
            <p:ph type="title"/>
          </p:nvPr>
        </p:nvSpPr>
        <p:spPr>
          <a:xfrm>
            <a:off x="687323" y="510540"/>
            <a:ext cx="7772400" cy="927100"/>
          </a:xfrm>
          <a:prstGeom prst="rect">
            <a:avLst/>
          </a:prstGeom>
          <a:solidFill>
            <a:srgbClr val="F7FAFF"/>
          </a:solidFill>
          <a:ln w="9144">
            <a:solidFill>
              <a:srgbClr val="000000"/>
            </a:solidFill>
          </a:ln>
        </p:spPr>
        <p:txBody>
          <a:bodyPr vert="horz" wrap="square" lIns="0" tIns="42545" rIns="0" bIns="0" rtlCol="0">
            <a:spAutoFit/>
          </a:bodyPr>
          <a:lstStyle/>
          <a:p>
            <a:pPr algn="ctr">
              <a:lnSpc>
                <a:spcPct val="100000"/>
              </a:lnSpc>
              <a:spcBef>
                <a:spcPts val="335"/>
              </a:spcBef>
            </a:pPr>
            <a:r>
              <a:rPr sz="4400" spc="-5" dirty="0"/>
              <a:t>Sequencing</a:t>
            </a:r>
            <a:r>
              <a:rPr sz="4400" spc="20" dirty="0"/>
              <a:t> </a:t>
            </a:r>
            <a:r>
              <a:rPr sz="4400" spc="-5" dirty="0"/>
              <a:t>Example</a:t>
            </a:r>
            <a:endParaRPr sz="4400"/>
          </a:p>
        </p:txBody>
      </p:sp>
      <p:graphicFrame>
        <p:nvGraphicFramePr>
          <p:cNvPr id="10" name="object 10"/>
          <p:cNvGraphicFramePr>
            <a:graphicFrameLocks noGrp="1"/>
          </p:cNvGraphicFramePr>
          <p:nvPr/>
        </p:nvGraphicFramePr>
        <p:xfrm>
          <a:off x="704087" y="2434678"/>
          <a:ext cx="7753983" cy="3460422"/>
        </p:xfrm>
        <a:graphic>
          <a:graphicData uri="http://schemas.openxmlformats.org/drawingml/2006/table">
            <a:tbl>
              <a:tblPr firstRow="1" bandRow="1">
                <a:tableStyleId>{2D5ABB26-0587-4C30-8999-92F81FD0307C}</a:tableStyleId>
              </a:tblPr>
              <a:tblGrid>
                <a:gridCol w="1581785">
                  <a:extLst>
                    <a:ext uri="{9D8B030D-6E8A-4147-A177-3AD203B41FA5}">
                      <a16:colId xmlns:a16="http://schemas.microsoft.com/office/drawing/2014/main" val="20000"/>
                    </a:ext>
                  </a:extLst>
                </a:gridCol>
                <a:gridCol w="2154554">
                  <a:extLst>
                    <a:ext uri="{9D8B030D-6E8A-4147-A177-3AD203B41FA5}">
                      <a16:colId xmlns:a16="http://schemas.microsoft.com/office/drawing/2014/main" val="20001"/>
                    </a:ext>
                  </a:extLst>
                </a:gridCol>
                <a:gridCol w="1096644">
                  <a:extLst>
                    <a:ext uri="{9D8B030D-6E8A-4147-A177-3AD203B41FA5}">
                      <a16:colId xmlns:a16="http://schemas.microsoft.com/office/drawing/2014/main" val="20002"/>
                    </a:ext>
                  </a:extLst>
                </a:gridCol>
                <a:gridCol w="1435100">
                  <a:extLst>
                    <a:ext uri="{9D8B030D-6E8A-4147-A177-3AD203B41FA5}">
                      <a16:colId xmlns:a16="http://schemas.microsoft.com/office/drawing/2014/main" val="20003"/>
                    </a:ext>
                  </a:extLst>
                </a:gridCol>
                <a:gridCol w="1485900">
                  <a:extLst>
                    <a:ext uri="{9D8B030D-6E8A-4147-A177-3AD203B41FA5}">
                      <a16:colId xmlns:a16="http://schemas.microsoft.com/office/drawing/2014/main" val="20004"/>
                    </a:ext>
                  </a:extLst>
                </a:gridCol>
              </a:tblGrid>
              <a:tr h="880021">
                <a:tc>
                  <a:txBody>
                    <a:bodyPr/>
                    <a:lstStyle/>
                    <a:p>
                      <a:pPr marR="12065" algn="ctr">
                        <a:lnSpc>
                          <a:spcPts val="2280"/>
                        </a:lnSpc>
                        <a:spcBef>
                          <a:spcPts val="1960"/>
                        </a:spcBef>
                      </a:pPr>
                      <a:r>
                        <a:rPr sz="2000" b="1" i="1" spc="-5" dirty="0">
                          <a:latin typeface="Arial"/>
                          <a:cs typeface="Arial"/>
                        </a:rPr>
                        <a:t>Job</a:t>
                      </a:r>
                      <a:endParaRPr sz="2000">
                        <a:latin typeface="Arial"/>
                        <a:cs typeface="Arial"/>
                      </a:endParaRPr>
                    </a:p>
                    <a:p>
                      <a:pPr marR="11430" algn="ctr">
                        <a:lnSpc>
                          <a:spcPts val="2280"/>
                        </a:lnSpc>
                      </a:pPr>
                      <a:r>
                        <a:rPr sz="2000" b="1" i="1" spc="-10" dirty="0">
                          <a:latin typeface="Arial"/>
                          <a:cs typeface="Arial"/>
                        </a:rPr>
                        <a:t>Sequence</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339725" marR="275590" indent="635" algn="ctr">
                        <a:lnSpc>
                          <a:spcPts val="2160"/>
                        </a:lnSpc>
                        <a:spcBef>
                          <a:spcPts val="75"/>
                        </a:spcBef>
                      </a:pPr>
                      <a:r>
                        <a:rPr sz="2000" b="1" i="1" spc="-5" dirty="0">
                          <a:latin typeface="Arial"/>
                          <a:cs typeface="Arial"/>
                        </a:rPr>
                        <a:t>Job </a:t>
                      </a:r>
                      <a:r>
                        <a:rPr sz="2000" b="1" i="1" spc="-20" dirty="0">
                          <a:latin typeface="Arial"/>
                          <a:cs typeface="Arial"/>
                        </a:rPr>
                        <a:t>Work  </a:t>
                      </a:r>
                      <a:r>
                        <a:rPr sz="2000" b="1" i="1" spc="5" dirty="0">
                          <a:latin typeface="Arial"/>
                          <a:cs typeface="Arial"/>
                        </a:rPr>
                        <a:t>(</a:t>
                      </a:r>
                      <a:r>
                        <a:rPr sz="2000" b="1" i="1" spc="-10" dirty="0">
                          <a:latin typeface="Arial"/>
                          <a:cs typeface="Arial"/>
                        </a:rPr>
                        <a:t>Pr</a:t>
                      </a:r>
                      <a:r>
                        <a:rPr sz="2000" b="1" i="1" dirty="0">
                          <a:latin typeface="Arial"/>
                          <a:cs typeface="Arial"/>
                        </a:rPr>
                        <a:t>oce</a:t>
                      </a:r>
                      <a:r>
                        <a:rPr sz="2000" b="1" i="1" spc="-10" dirty="0">
                          <a:latin typeface="Arial"/>
                          <a:cs typeface="Arial"/>
                        </a:rPr>
                        <a:t>s</a:t>
                      </a:r>
                      <a:r>
                        <a:rPr sz="2000" b="1" i="1" dirty="0">
                          <a:latin typeface="Arial"/>
                          <a:cs typeface="Arial"/>
                        </a:rPr>
                        <a:t>s</a:t>
                      </a:r>
                      <a:r>
                        <a:rPr sz="2000" b="1" i="1" spc="-10" dirty="0">
                          <a:latin typeface="Arial"/>
                          <a:cs typeface="Arial"/>
                        </a:rPr>
                        <a:t>i</a:t>
                      </a:r>
                      <a:r>
                        <a:rPr sz="2000" b="1" i="1" dirty="0">
                          <a:latin typeface="Arial"/>
                          <a:cs typeface="Arial"/>
                        </a:rPr>
                        <a:t>n</a:t>
                      </a:r>
                      <a:r>
                        <a:rPr sz="2000" b="1" i="1" spc="5" dirty="0">
                          <a:latin typeface="Arial"/>
                          <a:cs typeface="Arial"/>
                        </a:rPr>
                        <a:t>g</a:t>
                      </a:r>
                      <a:r>
                        <a:rPr sz="2000" b="1" i="1" dirty="0">
                          <a:latin typeface="Arial"/>
                          <a:cs typeface="Arial"/>
                        </a:rPr>
                        <a:t>)  </a:t>
                      </a:r>
                      <a:r>
                        <a:rPr sz="2000" b="1" i="1" spc="-20" dirty="0">
                          <a:latin typeface="Arial"/>
                          <a:cs typeface="Arial"/>
                        </a:rPr>
                        <a:t>Time</a:t>
                      </a:r>
                      <a:endParaRPr sz="2000">
                        <a:latin typeface="Arial"/>
                        <a:cs typeface="Arial"/>
                      </a:endParaRPr>
                    </a:p>
                  </a:txBody>
                  <a:tcPr marL="0" marR="0" marT="9525" marB="0">
                    <a:lnB w="38100">
                      <a:solidFill>
                        <a:srgbClr val="000000"/>
                      </a:solidFill>
                      <a:prstDash val="solid"/>
                    </a:lnB>
                    <a:solidFill>
                      <a:srgbClr val="F7FAFF"/>
                    </a:solidFill>
                  </a:tcPr>
                </a:tc>
                <a:tc>
                  <a:txBody>
                    <a:bodyPr/>
                    <a:lstStyle/>
                    <a:p>
                      <a:pPr marL="285750">
                        <a:lnSpc>
                          <a:spcPts val="2280"/>
                        </a:lnSpc>
                        <a:spcBef>
                          <a:spcPts val="1960"/>
                        </a:spcBef>
                      </a:pPr>
                      <a:r>
                        <a:rPr sz="2000" b="1" i="1" spc="-5" dirty="0">
                          <a:latin typeface="Arial"/>
                          <a:cs typeface="Arial"/>
                        </a:rPr>
                        <a:t>Flow</a:t>
                      </a:r>
                      <a:endParaRPr sz="2000">
                        <a:latin typeface="Arial"/>
                        <a:cs typeface="Arial"/>
                      </a:endParaRPr>
                    </a:p>
                    <a:p>
                      <a:pPr marL="283210">
                        <a:lnSpc>
                          <a:spcPts val="2280"/>
                        </a:lnSpc>
                      </a:pPr>
                      <a:r>
                        <a:rPr sz="2000" b="1" i="1" spc="-20" dirty="0">
                          <a:latin typeface="Arial"/>
                          <a:cs typeface="Arial"/>
                        </a:rPr>
                        <a:t>Time</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2540" algn="ctr">
                        <a:lnSpc>
                          <a:spcPts val="2280"/>
                        </a:lnSpc>
                        <a:spcBef>
                          <a:spcPts val="1960"/>
                        </a:spcBef>
                      </a:pPr>
                      <a:r>
                        <a:rPr sz="2000" b="1" i="1" spc="-5" dirty="0">
                          <a:latin typeface="Arial"/>
                          <a:cs typeface="Arial"/>
                        </a:rPr>
                        <a:t>Job</a:t>
                      </a:r>
                      <a:r>
                        <a:rPr sz="2000" b="1" i="1" spc="-30" dirty="0">
                          <a:latin typeface="Arial"/>
                          <a:cs typeface="Arial"/>
                        </a:rPr>
                        <a:t> </a:t>
                      </a:r>
                      <a:r>
                        <a:rPr sz="2000" b="1" i="1" spc="-5" dirty="0">
                          <a:latin typeface="Arial"/>
                          <a:cs typeface="Arial"/>
                        </a:rPr>
                        <a:t>Due</a:t>
                      </a:r>
                      <a:endParaRPr sz="2000">
                        <a:latin typeface="Arial"/>
                        <a:cs typeface="Arial"/>
                      </a:endParaRPr>
                    </a:p>
                    <a:p>
                      <a:pPr marL="2540" algn="ctr">
                        <a:lnSpc>
                          <a:spcPts val="2280"/>
                        </a:lnSpc>
                      </a:pPr>
                      <a:r>
                        <a:rPr sz="2000" b="1" i="1" spc="-5" dirty="0">
                          <a:latin typeface="Arial"/>
                          <a:cs typeface="Arial"/>
                        </a:rPr>
                        <a:t>Date</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635" algn="ctr">
                        <a:lnSpc>
                          <a:spcPts val="2280"/>
                        </a:lnSpc>
                        <a:spcBef>
                          <a:spcPts val="1960"/>
                        </a:spcBef>
                      </a:pPr>
                      <a:r>
                        <a:rPr sz="2000" b="1" i="1" spc="-5" dirty="0">
                          <a:latin typeface="Arial"/>
                          <a:cs typeface="Arial"/>
                        </a:rPr>
                        <a:t>Job</a:t>
                      </a:r>
                      <a:endParaRPr sz="2000">
                        <a:latin typeface="Arial"/>
                        <a:cs typeface="Arial"/>
                      </a:endParaRPr>
                    </a:p>
                    <a:p>
                      <a:pPr marL="635" algn="ctr">
                        <a:lnSpc>
                          <a:spcPts val="2280"/>
                        </a:lnSpc>
                      </a:pPr>
                      <a:r>
                        <a:rPr sz="2000" b="1" i="1" spc="-10" dirty="0">
                          <a:latin typeface="Arial"/>
                          <a:cs typeface="Arial"/>
                        </a:rPr>
                        <a:t>Lateness</a:t>
                      </a:r>
                      <a:endParaRPr sz="2000">
                        <a:latin typeface="Arial"/>
                        <a:cs typeface="Arial"/>
                      </a:endParaRPr>
                    </a:p>
                  </a:txBody>
                  <a:tcPr marL="0" marR="0" marT="248920" marB="0">
                    <a:lnB w="38100">
                      <a:solidFill>
                        <a:srgbClr val="000000"/>
                      </a:solidFill>
                      <a:prstDash val="solid"/>
                    </a:lnB>
                    <a:solidFill>
                      <a:srgbClr val="F7FAFF"/>
                    </a:solidFill>
                  </a:tcPr>
                </a:tc>
                <a:extLst>
                  <a:ext uri="{0D108BD9-81ED-4DB2-BD59-A6C34878D82A}">
                    <a16:rowId xmlns:a16="http://schemas.microsoft.com/office/drawing/2014/main" val="10000"/>
                  </a:ext>
                </a:extLst>
              </a:tr>
              <a:tr h="477012">
                <a:tc>
                  <a:txBody>
                    <a:bodyPr/>
                    <a:lstStyle/>
                    <a:p>
                      <a:pPr marL="689610">
                        <a:lnSpc>
                          <a:spcPct val="100000"/>
                        </a:lnSpc>
                        <a:spcBef>
                          <a:spcPts val="434"/>
                        </a:spcBef>
                      </a:pPr>
                      <a:r>
                        <a:rPr sz="2000" b="1" i="1" dirty="0">
                          <a:latin typeface="Arial"/>
                          <a:cs typeface="Arial"/>
                        </a:rPr>
                        <a:t>B</a:t>
                      </a:r>
                      <a:endParaRPr sz="2000">
                        <a:latin typeface="Arial"/>
                        <a:cs typeface="Arial"/>
                      </a:endParaRPr>
                    </a:p>
                  </a:txBody>
                  <a:tcPr marL="0" marR="0" marT="55244" marB="0">
                    <a:lnT w="38100">
                      <a:solidFill>
                        <a:srgbClr val="000000"/>
                      </a:solidFill>
                      <a:prstDash val="solid"/>
                    </a:lnT>
                  </a:tcPr>
                </a:tc>
                <a:tc>
                  <a:txBody>
                    <a:bodyPr/>
                    <a:lstStyle/>
                    <a:p>
                      <a:pPr marR="909955" algn="r">
                        <a:lnSpc>
                          <a:spcPct val="100000"/>
                        </a:lnSpc>
                        <a:spcBef>
                          <a:spcPts val="434"/>
                        </a:spcBef>
                      </a:pPr>
                      <a:r>
                        <a:rPr sz="2000" b="1" dirty="0">
                          <a:latin typeface="Arial"/>
                          <a:cs typeface="Arial"/>
                        </a:rPr>
                        <a:t>2</a:t>
                      </a:r>
                      <a:endParaRPr sz="2000">
                        <a:latin typeface="Arial"/>
                        <a:cs typeface="Arial"/>
                      </a:endParaRPr>
                    </a:p>
                  </a:txBody>
                  <a:tcPr marL="0" marR="0" marT="55244" marB="0">
                    <a:lnT w="38100">
                      <a:solidFill>
                        <a:srgbClr val="000000"/>
                      </a:solidFill>
                      <a:prstDash val="solid"/>
                    </a:lnT>
                    <a:solidFill>
                      <a:srgbClr val="F7FAFF"/>
                    </a:solidFill>
                  </a:tcPr>
                </a:tc>
                <a:tc>
                  <a:txBody>
                    <a:bodyPr/>
                    <a:lstStyle/>
                    <a:p>
                      <a:pPr marR="366395" algn="r">
                        <a:lnSpc>
                          <a:spcPct val="100000"/>
                        </a:lnSpc>
                        <a:spcBef>
                          <a:spcPts val="434"/>
                        </a:spcBef>
                      </a:pPr>
                      <a:r>
                        <a:rPr sz="2000" b="1" dirty="0">
                          <a:latin typeface="Arial"/>
                          <a:cs typeface="Arial"/>
                        </a:rPr>
                        <a:t>2</a:t>
                      </a:r>
                      <a:endParaRPr sz="2000">
                        <a:latin typeface="Arial"/>
                        <a:cs typeface="Arial"/>
                      </a:endParaRPr>
                    </a:p>
                  </a:txBody>
                  <a:tcPr marL="0" marR="0" marT="55244" marB="0">
                    <a:lnT w="38100">
                      <a:solidFill>
                        <a:srgbClr val="000000"/>
                      </a:solidFill>
                      <a:prstDash val="solid"/>
                    </a:lnT>
                    <a:solidFill>
                      <a:srgbClr val="F7FAFF"/>
                    </a:solidFill>
                  </a:tcPr>
                </a:tc>
                <a:tc>
                  <a:txBody>
                    <a:bodyPr/>
                    <a:lstStyle/>
                    <a:p>
                      <a:pPr marR="570865" algn="r">
                        <a:lnSpc>
                          <a:spcPct val="100000"/>
                        </a:lnSpc>
                        <a:spcBef>
                          <a:spcPts val="434"/>
                        </a:spcBef>
                      </a:pPr>
                      <a:r>
                        <a:rPr sz="2000" b="1" dirty="0">
                          <a:latin typeface="Arial"/>
                          <a:cs typeface="Arial"/>
                        </a:rPr>
                        <a:t>6</a:t>
                      </a:r>
                      <a:endParaRPr sz="2000">
                        <a:latin typeface="Arial"/>
                        <a:cs typeface="Arial"/>
                      </a:endParaRPr>
                    </a:p>
                  </a:txBody>
                  <a:tcPr marL="0" marR="0" marT="55244" marB="0">
                    <a:lnT w="38100">
                      <a:solidFill>
                        <a:srgbClr val="000000"/>
                      </a:solidFill>
                      <a:prstDash val="solid"/>
                    </a:lnT>
                    <a:solidFill>
                      <a:srgbClr val="F7FAFF"/>
                    </a:solidFill>
                  </a:tcPr>
                </a:tc>
                <a:tc>
                  <a:txBody>
                    <a:bodyPr/>
                    <a:lstStyle/>
                    <a:p>
                      <a:pPr marR="520700" algn="r">
                        <a:lnSpc>
                          <a:spcPct val="100000"/>
                        </a:lnSpc>
                        <a:spcBef>
                          <a:spcPts val="434"/>
                        </a:spcBef>
                      </a:pPr>
                      <a:r>
                        <a:rPr sz="2000" b="1" dirty="0">
                          <a:latin typeface="Arial"/>
                          <a:cs typeface="Arial"/>
                        </a:rPr>
                        <a:t>0</a:t>
                      </a:r>
                      <a:endParaRPr sz="2000">
                        <a:latin typeface="Arial"/>
                        <a:cs typeface="Arial"/>
                      </a:endParaRPr>
                    </a:p>
                  </a:txBody>
                  <a:tcPr marL="0" marR="0" marT="55244" marB="0">
                    <a:lnT w="38100">
                      <a:solidFill>
                        <a:srgbClr val="000000"/>
                      </a:solidFill>
                      <a:prstDash val="solid"/>
                    </a:lnT>
                    <a:solidFill>
                      <a:srgbClr val="F7FAFF"/>
                    </a:solidFill>
                  </a:tcPr>
                </a:tc>
                <a:extLst>
                  <a:ext uri="{0D108BD9-81ED-4DB2-BD59-A6C34878D82A}">
                    <a16:rowId xmlns:a16="http://schemas.microsoft.com/office/drawing/2014/main" val="10001"/>
                  </a:ext>
                </a:extLst>
              </a:tr>
              <a:tr h="424688">
                <a:tc>
                  <a:txBody>
                    <a:bodyPr/>
                    <a:lstStyle/>
                    <a:p>
                      <a:pPr marL="689610">
                        <a:lnSpc>
                          <a:spcPct val="100000"/>
                        </a:lnSpc>
                        <a:spcBef>
                          <a:spcPts val="229"/>
                        </a:spcBef>
                      </a:pPr>
                      <a:r>
                        <a:rPr sz="2000" b="1" i="1" dirty="0">
                          <a:latin typeface="Arial"/>
                          <a:cs typeface="Arial"/>
                        </a:rPr>
                        <a:t>A</a:t>
                      </a:r>
                      <a:endParaRPr sz="2000">
                        <a:latin typeface="Arial"/>
                        <a:cs typeface="Arial"/>
                      </a:endParaRPr>
                    </a:p>
                  </a:txBody>
                  <a:tcPr marL="0" marR="0" marT="29209" marB="0"/>
                </a:tc>
                <a:tc>
                  <a:txBody>
                    <a:bodyPr/>
                    <a:lstStyle/>
                    <a:p>
                      <a:pPr marR="909955" algn="r">
                        <a:lnSpc>
                          <a:spcPct val="100000"/>
                        </a:lnSpc>
                        <a:spcBef>
                          <a:spcPts val="229"/>
                        </a:spcBef>
                      </a:pPr>
                      <a:r>
                        <a:rPr sz="2000" b="1" dirty="0">
                          <a:latin typeface="Arial"/>
                          <a:cs typeface="Arial"/>
                        </a:rPr>
                        <a:t>6</a:t>
                      </a:r>
                      <a:endParaRPr sz="2000">
                        <a:latin typeface="Arial"/>
                        <a:cs typeface="Arial"/>
                      </a:endParaRPr>
                    </a:p>
                  </a:txBody>
                  <a:tcPr marL="0" marR="0" marT="29209" marB="0">
                    <a:solidFill>
                      <a:srgbClr val="F7FAFF"/>
                    </a:solidFill>
                  </a:tcPr>
                </a:tc>
                <a:tc>
                  <a:txBody>
                    <a:bodyPr/>
                    <a:lstStyle/>
                    <a:p>
                      <a:pPr marR="366395" algn="r">
                        <a:lnSpc>
                          <a:spcPct val="100000"/>
                        </a:lnSpc>
                        <a:spcBef>
                          <a:spcPts val="229"/>
                        </a:spcBef>
                      </a:pPr>
                      <a:r>
                        <a:rPr sz="2000" b="1" dirty="0">
                          <a:latin typeface="Arial"/>
                          <a:cs typeface="Arial"/>
                        </a:rPr>
                        <a:t>8</a:t>
                      </a:r>
                      <a:endParaRPr sz="2000">
                        <a:latin typeface="Arial"/>
                        <a:cs typeface="Arial"/>
                      </a:endParaRPr>
                    </a:p>
                  </a:txBody>
                  <a:tcPr marL="0" marR="0" marT="29209" marB="0">
                    <a:solidFill>
                      <a:srgbClr val="F7FAFF"/>
                    </a:solidFill>
                  </a:tcPr>
                </a:tc>
                <a:tc>
                  <a:txBody>
                    <a:bodyPr/>
                    <a:lstStyle/>
                    <a:p>
                      <a:pPr marR="570865" algn="r">
                        <a:lnSpc>
                          <a:spcPct val="100000"/>
                        </a:lnSpc>
                        <a:spcBef>
                          <a:spcPts val="229"/>
                        </a:spcBef>
                      </a:pPr>
                      <a:r>
                        <a:rPr sz="2000" b="1" dirty="0">
                          <a:latin typeface="Arial"/>
                          <a:cs typeface="Arial"/>
                        </a:rPr>
                        <a:t>8</a:t>
                      </a:r>
                      <a:endParaRPr sz="2000">
                        <a:latin typeface="Arial"/>
                        <a:cs typeface="Arial"/>
                      </a:endParaRPr>
                    </a:p>
                  </a:txBody>
                  <a:tcPr marL="0" marR="0" marT="29209" marB="0">
                    <a:solidFill>
                      <a:srgbClr val="F7FAFF"/>
                    </a:solidFill>
                  </a:tcPr>
                </a:tc>
                <a:tc>
                  <a:txBody>
                    <a:bodyPr/>
                    <a:lstStyle/>
                    <a:p>
                      <a:pPr marR="520700" algn="r">
                        <a:lnSpc>
                          <a:spcPct val="100000"/>
                        </a:lnSpc>
                        <a:spcBef>
                          <a:spcPts val="229"/>
                        </a:spcBef>
                      </a:pPr>
                      <a:r>
                        <a:rPr sz="2000" b="1" dirty="0">
                          <a:latin typeface="Arial"/>
                          <a:cs typeface="Arial"/>
                        </a:rPr>
                        <a:t>0</a:t>
                      </a:r>
                      <a:endParaRPr sz="2000">
                        <a:latin typeface="Arial"/>
                        <a:cs typeface="Arial"/>
                      </a:endParaRPr>
                    </a:p>
                  </a:txBody>
                  <a:tcPr marL="0" marR="0" marT="29209" marB="0">
                    <a:solidFill>
                      <a:srgbClr val="F7FAFF"/>
                    </a:solidFill>
                  </a:tcPr>
                </a:tc>
                <a:extLst>
                  <a:ext uri="{0D108BD9-81ED-4DB2-BD59-A6C34878D82A}">
                    <a16:rowId xmlns:a16="http://schemas.microsoft.com/office/drawing/2014/main" val="10002"/>
                  </a:ext>
                </a:extLst>
              </a:tr>
              <a:tr h="435101">
                <a:tc>
                  <a:txBody>
                    <a:bodyPr/>
                    <a:lstStyle/>
                    <a:p>
                      <a:pPr marL="689610">
                        <a:lnSpc>
                          <a:spcPct val="100000"/>
                        </a:lnSpc>
                        <a:spcBef>
                          <a:spcPts val="390"/>
                        </a:spcBef>
                      </a:pPr>
                      <a:r>
                        <a:rPr sz="2000" b="1" i="1" dirty="0">
                          <a:latin typeface="Arial"/>
                          <a:cs typeface="Arial"/>
                        </a:rPr>
                        <a:t>D</a:t>
                      </a:r>
                      <a:endParaRPr sz="2000">
                        <a:latin typeface="Arial"/>
                        <a:cs typeface="Arial"/>
                      </a:endParaRPr>
                    </a:p>
                  </a:txBody>
                  <a:tcPr marL="0" marR="0" marT="49530" marB="0">
                    <a:lnB w="19050">
                      <a:solidFill>
                        <a:srgbClr val="99CCFF"/>
                      </a:solidFill>
                      <a:prstDash val="solid"/>
                    </a:lnB>
                    <a:solidFill>
                      <a:srgbClr val="F7FAFF"/>
                    </a:solidFill>
                  </a:tcPr>
                </a:tc>
                <a:tc>
                  <a:txBody>
                    <a:bodyPr/>
                    <a:lstStyle/>
                    <a:p>
                      <a:pPr marR="909955" algn="r">
                        <a:lnSpc>
                          <a:spcPct val="100000"/>
                        </a:lnSpc>
                        <a:spcBef>
                          <a:spcPts val="390"/>
                        </a:spcBef>
                      </a:pPr>
                      <a:r>
                        <a:rPr sz="2000" b="1" dirty="0">
                          <a:latin typeface="Arial"/>
                          <a:cs typeface="Arial"/>
                        </a:rPr>
                        <a:t>3</a:t>
                      </a:r>
                      <a:endParaRPr sz="2000">
                        <a:latin typeface="Arial"/>
                        <a:cs typeface="Arial"/>
                      </a:endParaRPr>
                    </a:p>
                  </a:txBody>
                  <a:tcPr marL="0" marR="0" marT="49530" marB="0">
                    <a:solidFill>
                      <a:srgbClr val="F7FAFF"/>
                    </a:solidFill>
                  </a:tcPr>
                </a:tc>
                <a:tc>
                  <a:txBody>
                    <a:bodyPr/>
                    <a:lstStyle/>
                    <a:p>
                      <a:pPr marR="382270" algn="r">
                        <a:lnSpc>
                          <a:spcPct val="100000"/>
                        </a:lnSpc>
                        <a:spcBef>
                          <a:spcPts val="390"/>
                        </a:spcBef>
                      </a:pPr>
                      <a:r>
                        <a:rPr sz="2000" b="1" spc="-125" dirty="0">
                          <a:latin typeface="Arial"/>
                          <a:cs typeface="Arial"/>
                        </a:rPr>
                        <a:t>11</a:t>
                      </a:r>
                      <a:endParaRPr sz="2000">
                        <a:latin typeface="Arial"/>
                        <a:cs typeface="Arial"/>
                      </a:endParaRPr>
                    </a:p>
                  </a:txBody>
                  <a:tcPr marL="0" marR="0" marT="49530" marB="0">
                    <a:solidFill>
                      <a:srgbClr val="F7FAFF"/>
                    </a:solidFill>
                  </a:tcPr>
                </a:tc>
                <a:tc>
                  <a:txBody>
                    <a:bodyPr/>
                    <a:lstStyle/>
                    <a:p>
                      <a:pPr marR="571500" algn="r">
                        <a:lnSpc>
                          <a:spcPct val="100000"/>
                        </a:lnSpc>
                        <a:spcBef>
                          <a:spcPts val="390"/>
                        </a:spcBef>
                      </a:pPr>
                      <a:r>
                        <a:rPr sz="2000" b="1" spc="-5" dirty="0">
                          <a:latin typeface="Arial"/>
                          <a:cs typeface="Arial"/>
                        </a:rPr>
                        <a:t>15</a:t>
                      </a:r>
                      <a:endParaRPr sz="2000">
                        <a:latin typeface="Arial"/>
                        <a:cs typeface="Arial"/>
                      </a:endParaRPr>
                    </a:p>
                  </a:txBody>
                  <a:tcPr marL="0" marR="0" marT="49530" marB="0">
                    <a:solidFill>
                      <a:srgbClr val="F7FAFF"/>
                    </a:solidFill>
                  </a:tcPr>
                </a:tc>
                <a:tc>
                  <a:txBody>
                    <a:bodyPr/>
                    <a:lstStyle/>
                    <a:p>
                      <a:pPr marR="520700" algn="r">
                        <a:lnSpc>
                          <a:spcPct val="100000"/>
                        </a:lnSpc>
                        <a:spcBef>
                          <a:spcPts val="390"/>
                        </a:spcBef>
                      </a:pPr>
                      <a:r>
                        <a:rPr sz="2000" b="1" dirty="0">
                          <a:latin typeface="Arial"/>
                          <a:cs typeface="Arial"/>
                        </a:rPr>
                        <a:t>0</a:t>
                      </a:r>
                      <a:endParaRPr sz="2000">
                        <a:latin typeface="Arial"/>
                        <a:cs typeface="Arial"/>
                      </a:endParaRPr>
                    </a:p>
                  </a:txBody>
                  <a:tcPr marL="0" marR="0" marT="49530" marB="0">
                    <a:solidFill>
                      <a:srgbClr val="F7FAFF"/>
                    </a:solidFill>
                  </a:tcPr>
                </a:tc>
                <a:extLst>
                  <a:ext uri="{0D108BD9-81ED-4DB2-BD59-A6C34878D82A}">
                    <a16:rowId xmlns:a16="http://schemas.microsoft.com/office/drawing/2014/main" val="10003"/>
                  </a:ext>
                </a:extLst>
              </a:tr>
              <a:tr h="441198">
                <a:tc>
                  <a:txBody>
                    <a:bodyPr/>
                    <a:lstStyle/>
                    <a:p>
                      <a:pPr marL="689610">
                        <a:lnSpc>
                          <a:spcPct val="100000"/>
                        </a:lnSpc>
                        <a:spcBef>
                          <a:spcPts val="365"/>
                        </a:spcBef>
                      </a:pPr>
                      <a:r>
                        <a:rPr sz="2000" b="1" i="1" dirty="0">
                          <a:latin typeface="Arial"/>
                          <a:cs typeface="Arial"/>
                        </a:rPr>
                        <a:t>C</a:t>
                      </a:r>
                      <a:endParaRPr sz="2000">
                        <a:latin typeface="Arial"/>
                        <a:cs typeface="Arial"/>
                      </a:endParaRPr>
                    </a:p>
                  </a:txBody>
                  <a:tcPr marL="0" marR="0" marT="46355" marB="0">
                    <a:lnT w="19050">
                      <a:solidFill>
                        <a:srgbClr val="99CCFF"/>
                      </a:solidFill>
                      <a:prstDash val="solid"/>
                    </a:lnT>
                    <a:lnB w="28575">
                      <a:solidFill>
                        <a:srgbClr val="99CCFF"/>
                      </a:solidFill>
                      <a:prstDash val="solid"/>
                    </a:lnB>
                  </a:tcPr>
                </a:tc>
                <a:tc>
                  <a:txBody>
                    <a:bodyPr/>
                    <a:lstStyle/>
                    <a:p>
                      <a:pPr marR="910590" algn="r">
                        <a:lnSpc>
                          <a:spcPct val="100000"/>
                        </a:lnSpc>
                        <a:spcBef>
                          <a:spcPts val="365"/>
                        </a:spcBef>
                      </a:pPr>
                      <a:r>
                        <a:rPr sz="2000" b="1" dirty="0">
                          <a:latin typeface="Arial"/>
                          <a:cs typeface="Arial"/>
                        </a:rPr>
                        <a:t>8</a:t>
                      </a:r>
                      <a:endParaRPr sz="2000">
                        <a:latin typeface="Arial"/>
                        <a:cs typeface="Arial"/>
                      </a:endParaRPr>
                    </a:p>
                  </a:txBody>
                  <a:tcPr marL="0" marR="0" marT="46355" marB="0">
                    <a:solidFill>
                      <a:srgbClr val="F7FAFF"/>
                    </a:solidFill>
                  </a:tcPr>
                </a:tc>
                <a:tc>
                  <a:txBody>
                    <a:bodyPr/>
                    <a:lstStyle/>
                    <a:p>
                      <a:pPr marR="367030" algn="r">
                        <a:lnSpc>
                          <a:spcPct val="100000"/>
                        </a:lnSpc>
                        <a:spcBef>
                          <a:spcPts val="365"/>
                        </a:spcBef>
                      </a:pPr>
                      <a:r>
                        <a:rPr sz="2000" b="1" spc="-5" dirty="0">
                          <a:latin typeface="Arial"/>
                          <a:cs typeface="Arial"/>
                        </a:rPr>
                        <a:t>19</a:t>
                      </a:r>
                      <a:endParaRPr sz="2000">
                        <a:latin typeface="Arial"/>
                        <a:cs typeface="Arial"/>
                      </a:endParaRPr>
                    </a:p>
                  </a:txBody>
                  <a:tcPr marL="0" marR="0" marT="46355" marB="0">
                    <a:solidFill>
                      <a:srgbClr val="F7FAFF"/>
                    </a:solidFill>
                  </a:tcPr>
                </a:tc>
                <a:tc>
                  <a:txBody>
                    <a:bodyPr/>
                    <a:lstStyle/>
                    <a:p>
                      <a:pPr marR="571500" algn="r">
                        <a:lnSpc>
                          <a:spcPct val="100000"/>
                        </a:lnSpc>
                        <a:spcBef>
                          <a:spcPts val="365"/>
                        </a:spcBef>
                      </a:pPr>
                      <a:r>
                        <a:rPr sz="2000" b="1" spc="-5" dirty="0">
                          <a:latin typeface="Arial"/>
                          <a:cs typeface="Arial"/>
                        </a:rPr>
                        <a:t>18</a:t>
                      </a:r>
                      <a:endParaRPr sz="2000">
                        <a:latin typeface="Arial"/>
                        <a:cs typeface="Arial"/>
                      </a:endParaRPr>
                    </a:p>
                  </a:txBody>
                  <a:tcPr marL="0" marR="0" marT="46355" marB="0">
                    <a:solidFill>
                      <a:srgbClr val="F7FAFF"/>
                    </a:solidFill>
                  </a:tcPr>
                </a:tc>
                <a:tc>
                  <a:txBody>
                    <a:bodyPr/>
                    <a:lstStyle/>
                    <a:p>
                      <a:pPr marR="520700" algn="r">
                        <a:lnSpc>
                          <a:spcPct val="100000"/>
                        </a:lnSpc>
                        <a:spcBef>
                          <a:spcPts val="365"/>
                        </a:spcBef>
                      </a:pPr>
                      <a:r>
                        <a:rPr sz="2000" b="1" dirty="0">
                          <a:latin typeface="Arial"/>
                          <a:cs typeface="Arial"/>
                        </a:rPr>
                        <a:t>1</a:t>
                      </a:r>
                      <a:endParaRPr sz="2000">
                        <a:latin typeface="Arial"/>
                        <a:cs typeface="Arial"/>
                      </a:endParaRPr>
                    </a:p>
                  </a:txBody>
                  <a:tcPr marL="0" marR="0" marT="46355" marB="0">
                    <a:solidFill>
                      <a:srgbClr val="F7FAFF"/>
                    </a:solidFill>
                  </a:tcPr>
                </a:tc>
                <a:extLst>
                  <a:ext uri="{0D108BD9-81ED-4DB2-BD59-A6C34878D82A}">
                    <a16:rowId xmlns:a16="http://schemas.microsoft.com/office/drawing/2014/main" val="10004"/>
                  </a:ext>
                </a:extLst>
              </a:tr>
              <a:tr h="444500">
                <a:tc>
                  <a:txBody>
                    <a:bodyPr/>
                    <a:lstStyle/>
                    <a:p>
                      <a:pPr marL="699135">
                        <a:lnSpc>
                          <a:spcPct val="100000"/>
                        </a:lnSpc>
                        <a:spcBef>
                          <a:spcPts val="345"/>
                        </a:spcBef>
                      </a:pPr>
                      <a:r>
                        <a:rPr sz="2000" b="1" i="1" dirty="0">
                          <a:latin typeface="Arial"/>
                          <a:cs typeface="Arial"/>
                        </a:rPr>
                        <a:t>E</a:t>
                      </a:r>
                      <a:endParaRPr sz="2000">
                        <a:latin typeface="Arial"/>
                        <a:cs typeface="Arial"/>
                      </a:endParaRPr>
                    </a:p>
                  </a:txBody>
                  <a:tcPr marL="0" marR="0" marT="43815" marB="0">
                    <a:lnT w="28575">
                      <a:solidFill>
                        <a:srgbClr val="99CCFF"/>
                      </a:solidFill>
                      <a:prstDash val="solid"/>
                    </a:lnT>
                    <a:solidFill>
                      <a:srgbClr val="F7FAFF"/>
                    </a:solidFill>
                  </a:tcPr>
                </a:tc>
                <a:tc>
                  <a:txBody>
                    <a:bodyPr/>
                    <a:lstStyle/>
                    <a:p>
                      <a:pPr marR="910590" algn="r">
                        <a:lnSpc>
                          <a:spcPct val="100000"/>
                        </a:lnSpc>
                        <a:spcBef>
                          <a:spcPts val="345"/>
                        </a:spcBef>
                      </a:pPr>
                      <a:r>
                        <a:rPr sz="2000" b="1" dirty="0">
                          <a:latin typeface="Arial"/>
                          <a:cs typeface="Arial"/>
                        </a:rPr>
                        <a:t>9</a:t>
                      </a:r>
                      <a:endParaRPr sz="2000">
                        <a:latin typeface="Arial"/>
                        <a:cs typeface="Arial"/>
                      </a:endParaRPr>
                    </a:p>
                  </a:txBody>
                  <a:tcPr marL="0" marR="0" marT="43815" marB="0">
                    <a:lnB w="28575">
                      <a:solidFill>
                        <a:srgbClr val="000000"/>
                      </a:solidFill>
                      <a:prstDash val="solid"/>
                    </a:lnB>
                    <a:solidFill>
                      <a:srgbClr val="F7FAFF"/>
                    </a:solidFill>
                  </a:tcPr>
                </a:tc>
                <a:tc>
                  <a:txBody>
                    <a:bodyPr/>
                    <a:lstStyle/>
                    <a:p>
                      <a:pPr marR="367030" algn="r">
                        <a:lnSpc>
                          <a:spcPct val="100000"/>
                        </a:lnSpc>
                        <a:spcBef>
                          <a:spcPts val="345"/>
                        </a:spcBef>
                      </a:pPr>
                      <a:r>
                        <a:rPr sz="2000" b="1" spc="-5" dirty="0">
                          <a:latin typeface="Arial"/>
                          <a:cs typeface="Arial"/>
                        </a:rPr>
                        <a:t>28</a:t>
                      </a:r>
                      <a:endParaRPr sz="2000">
                        <a:latin typeface="Arial"/>
                        <a:cs typeface="Arial"/>
                      </a:endParaRPr>
                    </a:p>
                  </a:txBody>
                  <a:tcPr marL="0" marR="0" marT="43815" marB="0">
                    <a:lnB w="28575">
                      <a:solidFill>
                        <a:srgbClr val="000000"/>
                      </a:solidFill>
                      <a:prstDash val="solid"/>
                    </a:lnB>
                    <a:solidFill>
                      <a:srgbClr val="F7FAFF"/>
                    </a:solidFill>
                  </a:tcPr>
                </a:tc>
                <a:tc>
                  <a:txBody>
                    <a:bodyPr/>
                    <a:lstStyle/>
                    <a:p>
                      <a:pPr marR="571500" algn="r">
                        <a:lnSpc>
                          <a:spcPct val="100000"/>
                        </a:lnSpc>
                        <a:spcBef>
                          <a:spcPts val="345"/>
                        </a:spcBef>
                      </a:pPr>
                      <a:r>
                        <a:rPr sz="2000" b="1" spc="-5" dirty="0">
                          <a:latin typeface="Arial"/>
                          <a:cs typeface="Arial"/>
                        </a:rPr>
                        <a:t>23</a:t>
                      </a:r>
                      <a:endParaRPr sz="2000">
                        <a:latin typeface="Arial"/>
                        <a:cs typeface="Arial"/>
                      </a:endParaRPr>
                    </a:p>
                  </a:txBody>
                  <a:tcPr marL="0" marR="0" marT="43815" marB="0">
                    <a:solidFill>
                      <a:srgbClr val="F7FAFF"/>
                    </a:solidFill>
                  </a:tcPr>
                </a:tc>
                <a:tc>
                  <a:txBody>
                    <a:bodyPr/>
                    <a:lstStyle/>
                    <a:p>
                      <a:pPr marR="520700" algn="r">
                        <a:lnSpc>
                          <a:spcPct val="100000"/>
                        </a:lnSpc>
                        <a:spcBef>
                          <a:spcPts val="345"/>
                        </a:spcBef>
                      </a:pPr>
                      <a:r>
                        <a:rPr sz="2000" b="1" dirty="0">
                          <a:latin typeface="Arial"/>
                          <a:cs typeface="Arial"/>
                        </a:rPr>
                        <a:t>5</a:t>
                      </a:r>
                      <a:endParaRPr sz="2000">
                        <a:latin typeface="Arial"/>
                        <a:cs typeface="Arial"/>
                      </a:endParaRPr>
                    </a:p>
                  </a:txBody>
                  <a:tcPr marL="0" marR="0" marT="43815" marB="0">
                    <a:lnB w="28575">
                      <a:solidFill>
                        <a:srgbClr val="000000"/>
                      </a:solidFill>
                      <a:prstDash val="solid"/>
                    </a:lnB>
                    <a:solidFill>
                      <a:srgbClr val="F7FAFF"/>
                    </a:solidFill>
                  </a:tcPr>
                </a:tc>
                <a:extLst>
                  <a:ext uri="{0D108BD9-81ED-4DB2-BD59-A6C34878D82A}">
                    <a16:rowId xmlns:a16="http://schemas.microsoft.com/office/drawing/2014/main" val="10005"/>
                  </a:ext>
                </a:extLst>
              </a:tr>
              <a:tr h="357902">
                <a:tc>
                  <a:txBody>
                    <a:bodyPr/>
                    <a:lstStyle/>
                    <a:p>
                      <a:pPr>
                        <a:lnSpc>
                          <a:spcPct val="100000"/>
                        </a:lnSpc>
                      </a:pPr>
                      <a:endParaRPr sz="2200">
                        <a:latin typeface="Times New Roman"/>
                        <a:cs typeface="Times New Roman"/>
                      </a:endParaRPr>
                    </a:p>
                  </a:txBody>
                  <a:tcPr marL="0" marR="0" marT="0" marB="0">
                    <a:solidFill>
                      <a:srgbClr val="F7FAFF"/>
                    </a:solidFill>
                  </a:tcPr>
                </a:tc>
                <a:tc>
                  <a:txBody>
                    <a:bodyPr/>
                    <a:lstStyle/>
                    <a:p>
                      <a:pPr marR="910590" algn="r">
                        <a:lnSpc>
                          <a:spcPts val="2320"/>
                        </a:lnSpc>
                        <a:spcBef>
                          <a:spcPts val="395"/>
                        </a:spcBef>
                      </a:pPr>
                      <a:r>
                        <a:rPr sz="2000" b="1" spc="-5" dirty="0">
                          <a:latin typeface="Arial"/>
                          <a:cs typeface="Arial"/>
                        </a:rPr>
                        <a:t>28</a:t>
                      </a:r>
                      <a:endParaRPr sz="2000">
                        <a:latin typeface="Arial"/>
                        <a:cs typeface="Arial"/>
                      </a:endParaRPr>
                    </a:p>
                  </a:txBody>
                  <a:tcPr marL="0" marR="0" marT="50165" marB="0">
                    <a:lnT w="28575">
                      <a:solidFill>
                        <a:srgbClr val="000000"/>
                      </a:solidFill>
                      <a:prstDash val="solid"/>
                    </a:lnT>
                    <a:solidFill>
                      <a:srgbClr val="F7FAFF"/>
                    </a:solidFill>
                  </a:tcPr>
                </a:tc>
                <a:tc>
                  <a:txBody>
                    <a:bodyPr/>
                    <a:lstStyle/>
                    <a:p>
                      <a:pPr marR="367030" algn="r">
                        <a:lnSpc>
                          <a:spcPts val="2320"/>
                        </a:lnSpc>
                        <a:spcBef>
                          <a:spcPts val="395"/>
                        </a:spcBef>
                      </a:pPr>
                      <a:r>
                        <a:rPr sz="2000" b="1" spc="-5" dirty="0">
                          <a:latin typeface="Arial"/>
                          <a:cs typeface="Arial"/>
                        </a:rPr>
                        <a:t>68</a:t>
                      </a:r>
                      <a:endParaRPr sz="2000">
                        <a:latin typeface="Arial"/>
                        <a:cs typeface="Arial"/>
                      </a:endParaRPr>
                    </a:p>
                  </a:txBody>
                  <a:tcPr marL="0" marR="0" marT="50165" marB="0">
                    <a:lnT w="28575">
                      <a:solidFill>
                        <a:srgbClr val="000000"/>
                      </a:solidFill>
                      <a:prstDash val="solid"/>
                    </a:lnT>
                    <a:solidFill>
                      <a:srgbClr val="F7FAFF"/>
                    </a:solidFill>
                  </a:tcPr>
                </a:tc>
                <a:tc>
                  <a:txBody>
                    <a:bodyPr/>
                    <a:lstStyle/>
                    <a:p>
                      <a:pPr>
                        <a:lnSpc>
                          <a:spcPct val="100000"/>
                        </a:lnSpc>
                      </a:pPr>
                      <a:endParaRPr sz="2200">
                        <a:latin typeface="Times New Roman"/>
                        <a:cs typeface="Times New Roman"/>
                      </a:endParaRPr>
                    </a:p>
                  </a:txBody>
                  <a:tcPr marL="0" marR="0" marT="0" marB="0">
                    <a:solidFill>
                      <a:srgbClr val="F7FAFF"/>
                    </a:solidFill>
                  </a:tcPr>
                </a:tc>
                <a:tc>
                  <a:txBody>
                    <a:bodyPr/>
                    <a:lstStyle/>
                    <a:p>
                      <a:pPr marR="520700" algn="r">
                        <a:lnSpc>
                          <a:spcPts val="2320"/>
                        </a:lnSpc>
                        <a:spcBef>
                          <a:spcPts val="395"/>
                        </a:spcBef>
                      </a:pPr>
                      <a:r>
                        <a:rPr sz="2000" b="1" dirty="0">
                          <a:latin typeface="Arial"/>
                          <a:cs typeface="Arial"/>
                        </a:rPr>
                        <a:t>6</a:t>
                      </a:r>
                      <a:endParaRPr sz="2000">
                        <a:latin typeface="Arial"/>
                        <a:cs typeface="Arial"/>
                      </a:endParaRPr>
                    </a:p>
                  </a:txBody>
                  <a:tcPr marL="0" marR="0" marT="50165" marB="0">
                    <a:lnT w="28575">
                      <a:solidFill>
                        <a:srgbClr val="000000"/>
                      </a:solidFill>
                      <a:prstDash val="solid"/>
                    </a:lnT>
                    <a:solidFill>
                      <a:srgbClr val="F7FAFF"/>
                    </a:solidFill>
                  </a:tcPr>
                </a:tc>
                <a:extLst>
                  <a:ext uri="{0D108BD9-81ED-4DB2-BD59-A6C34878D82A}">
                    <a16:rowId xmlns:a16="http://schemas.microsoft.com/office/drawing/2014/main" val="10006"/>
                  </a:ext>
                </a:extLst>
              </a:tr>
            </a:tbl>
          </a:graphicData>
        </a:graphic>
      </p:graphicFrame>
      <p:sp>
        <p:nvSpPr>
          <p:cNvPr id="11" name="object 11"/>
          <p:cNvSpPr txBox="1"/>
          <p:nvPr/>
        </p:nvSpPr>
        <p:spPr>
          <a:xfrm>
            <a:off x="736193" y="1610994"/>
            <a:ext cx="4504690" cy="453390"/>
          </a:xfrm>
          <a:prstGeom prst="rect">
            <a:avLst/>
          </a:prstGeom>
        </p:spPr>
        <p:txBody>
          <a:bodyPr vert="horz" wrap="square" lIns="0" tIns="13335" rIns="0" bIns="0" rtlCol="0">
            <a:spAutoFit/>
          </a:bodyPr>
          <a:lstStyle/>
          <a:p>
            <a:pPr marL="12700">
              <a:lnSpc>
                <a:spcPct val="100000"/>
              </a:lnSpc>
              <a:spcBef>
                <a:spcPts val="105"/>
              </a:spcBef>
            </a:pPr>
            <a:r>
              <a:rPr sz="2800" b="1" spc="-5" dirty="0">
                <a:latin typeface="Arial"/>
                <a:cs typeface="Arial"/>
              </a:rPr>
              <a:t>EDD: Sequence</a:t>
            </a:r>
            <a:r>
              <a:rPr sz="2800" b="1" spc="-25" dirty="0">
                <a:latin typeface="Arial"/>
                <a:cs typeface="Arial"/>
              </a:rPr>
              <a:t> </a:t>
            </a:r>
            <a:r>
              <a:rPr sz="2800" b="1" spc="-10" dirty="0">
                <a:latin typeface="Arial"/>
                <a:cs typeface="Arial"/>
              </a:rPr>
              <a:t>B-A-D-C-E</a:t>
            </a:r>
            <a:endParaRPr sz="2800">
              <a:latin typeface="Arial"/>
              <a:cs typeface="Arial"/>
            </a:endParaRPr>
          </a:p>
        </p:txBody>
      </p:sp>
      <p:grpSp>
        <p:nvGrpSpPr>
          <p:cNvPr id="12" name="object 12"/>
          <p:cNvGrpSpPr/>
          <p:nvPr/>
        </p:nvGrpSpPr>
        <p:grpSpPr>
          <a:xfrm>
            <a:off x="12191" y="6437376"/>
            <a:ext cx="1628139" cy="411480"/>
            <a:chOff x="12191" y="6437376"/>
            <a:chExt cx="1628139" cy="411480"/>
          </a:xfrm>
        </p:grpSpPr>
        <p:sp>
          <p:nvSpPr>
            <p:cNvPr id="13" name="object 13"/>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14" name="object 14"/>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15" name="object 15"/>
          <p:cNvGrpSpPr/>
          <p:nvPr/>
        </p:nvGrpSpPr>
        <p:grpSpPr>
          <a:xfrm>
            <a:off x="7491983" y="6437376"/>
            <a:ext cx="1630680" cy="411480"/>
            <a:chOff x="7491983" y="6437376"/>
            <a:chExt cx="1630680" cy="411480"/>
          </a:xfrm>
        </p:grpSpPr>
        <p:sp>
          <p:nvSpPr>
            <p:cNvPr id="16" name="object 16"/>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7" name="object 17"/>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29</a:t>
            </a:r>
            <a:endParaRPr sz="900">
              <a:latin typeface="Arial"/>
              <a:cs typeface="Arial"/>
            </a:endParaRPr>
          </a:p>
        </p:txBody>
      </p:sp>
      <p:sp>
        <p:nvSpPr>
          <p:cNvPr id="4" name="object 4"/>
          <p:cNvSpPr txBox="1">
            <a:spLocks noGrp="1"/>
          </p:cNvSpPr>
          <p:nvPr>
            <p:ph type="title"/>
          </p:nvPr>
        </p:nvSpPr>
        <p:spPr>
          <a:xfrm>
            <a:off x="687323" y="510540"/>
            <a:ext cx="7772400" cy="927100"/>
          </a:xfrm>
          <a:prstGeom prst="rect">
            <a:avLst/>
          </a:prstGeom>
          <a:solidFill>
            <a:srgbClr val="F7FAFF"/>
          </a:solidFill>
          <a:ln w="9144">
            <a:solidFill>
              <a:srgbClr val="000000"/>
            </a:solidFill>
          </a:ln>
        </p:spPr>
        <p:txBody>
          <a:bodyPr vert="horz" wrap="square" lIns="0" tIns="42545" rIns="0" bIns="0" rtlCol="0">
            <a:spAutoFit/>
          </a:bodyPr>
          <a:lstStyle/>
          <a:p>
            <a:pPr algn="ctr">
              <a:lnSpc>
                <a:spcPct val="100000"/>
              </a:lnSpc>
              <a:spcBef>
                <a:spcPts val="335"/>
              </a:spcBef>
            </a:pPr>
            <a:r>
              <a:rPr sz="4400" spc="-5" dirty="0"/>
              <a:t>Sequencing</a:t>
            </a:r>
            <a:r>
              <a:rPr sz="4400" spc="20" dirty="0"/>
              <a:t> </a:t>
            </a:r>
            <a:r>
              <a:rPr sz="4400" spc="-5" dirty="0"/>
              <a:t>Example</a:t>
            </a:r>
            <a:endParaRPr sz="4400"/>
          </a:p>
        </p:txBody>
      </p:sp>
      <p:sp>
        <p:nvSpPr>
          <p:cNvPr id="5" name="object 5"/>
          <p:cNvSpPr txBox="1"/>
          <p:nvPr/>
        </p:nvSpPr>
        <p:spPr>
          <a:xfrm>
            <a:off x="887882" y="2434678"/>
            <a:ext cx="7376795" cy="3460750"/>
          </a:xfrm>
          <a:prstGeom prst="rect">
            <a:avLst/>
          </a:prstGeom>
        </p:spPr>
        <p:txBody>
          <a:bodyPr vert="horz" wrap="square" lIns="0" tIns="0" rIns="0" bIns="0" rtlCol="0">
            <a:spAutoFit/>
          </a:bodyPr>
          <a:lstStyle/>
          <a:p>
            <a:pPr marR="2360295" algn="ctr">
              <a:lnSpc>
                <a:spcPts val="2085"/>
              </a:lnSpc>
            </a:pPr>
            <a:r>
              <a:rPr sz="2000" b="1" i="1" spc="-5" dirty="0">
                <a:latin typeface="Arial"/>
                <a:cs typeface="Arial"/>
              </a:rPr>
              <a:t>Job</a:t>
            </a:r>
            <a:r>
              <a:rPr sz="2000" b="1" i="1" dirty="0">
                <a:latin typeface="Arial"/>
                <a:cs typeface="Arial"/>
              </a:rPr>
              <a:t> </a:t>
            </a:r>
            <a:r>
              <a:rPr sz="2000" b="1" i="1" spc="-20" dirty="0">
                <a:latin typeface="Arial"/>
                <a:cs typeface="Arial"/>
              </a:rPr>
              <a:t>Work</a:t>
            </a:r>
            <a:endParaRPr sz="2000">
              <a:latin typeface="Arial"/>
              <a:cs typeface="Arial"/>
            </a:endParaRPr>
          </a:p>
          <a:p>
            <a:pPr marL="48260" algn="ctr">
              <a:lnSpc>
                <a:spcPts val="2160"/>
              </a:lnSpc>
              <a:tabLst>
                <a:tab pos="1414145" algn="l"/>
                <a:tab pos="3515360" algn="l"/>
                <a:tab pos="4544695" algn="l"/>
                <a:tab pos="6278880" algn="l"/>
              </a:tabLst>
            </a:pPr>
            <a:r>
              <a:rPr sz="2000" b="1" i="1" spc="-5" dirty="0">
                <a:latin typeface="Arial"/>
                <a:cs typeface="Arial"/>
              </a:rPr>
              <a:t>Job	</a:t>
            </a:r>
            <a:r>
              <a:rPr sz="2000" b="1" i="1" spc="-10" dirty="0">
                <a:latin typeface="Arial"/>
                <a:cs typeface="Arial"/>
              </a:rPr>
              <a:t>(Processing)	</a:t>
            </a:r>
            <a:r>
              <a:rPr sz="2000" b="1" i="1" spc="-5" dirty="0">
                <a:latin typeface="Arial"/>
                <a:cs typeface="Arial"/>
              </a:rPr>
              <a:t>Flow	Job Due	Job</a:t>
            </a:r>
            <a:endParaRPr sz="2000">
              <a:latin typeface="Arial"/>
              <a:cs typeface="Arial"/>
            </a:endParaRPr>
          </a:p>
          <a:p>
            <a:pPr algn="ctr">
              <a:lnSpc>
                <a:spcPts val="2280"/>
              </a:lnSpc>
              <a:tabLst>
                <a:tab pos="2210435" algn="l"/>
                <a:tab pos="3835400" algn="l"/>
                <a:tab pos="5093970" algn="l"/>
                <a:tab pos="6278880" algn="l"/>
              </a:tabLst>
            </a:pPr>
            <a:r>
              <a:rPr sz="2000" b="1" i="1" spc="-20" dirty="0">
                <a:latin typeface="Arial"/>
                <a:cs typeface="Arial"/>
              </a:rPr>
              <a:t>S</a:t>
            </a:r>
            <a:r>
              <a:rPr sz="2000" b="1" i="1" spc="-5" dirty="0">
                <a:latin typeface="Arial"/>
                <a:cs typeface="Arial"/>
              </a:rPr>
              <a:t>eq</a:t>
            </a:r>
            <a:r>
              <a:rPr sz="2000" b="1" i="1" dirty="0">
                <a:latin typeface="Arial"/>
                <a:cs typeface="Arial"/>
              </a:rPr>
              <a:t>u</a:t>
            </a:r>
            <a:r>
              <a:rPr sz="2000" b="1" i="1" spc="-5" dirty="0">
                <a:latin typeface="Arial"/>
                <a:cs typeface="Arial"/>
              </a:rPr>
              <a:t>ence</a:t>
            </a:r>
            <a:r>
              <a:rPr sz="2000" b="1" i="1" dirty="0">
                <a:latin typeface="Arial"/>
                <a:cs typeface="Arial"/>
              </a:rPr>
              <a:t>	</a:t>
            </a:r>
            <a:r>
              <a:rPr sz="2000" b="1" i="1" spc="-50" dirty="0">
                <a:latin typeface="Arial"/>
                <a:cs typeface="Arial"/>
              </a:rPr>
              <a:t>T</a:t>
            </a:r>
            <a:r>
              <a:rPr sz="2000" b="1" i="1" spc="-5" dirty="0">
                <a:latin typeface="Arial"/>
                <a:cs typeface="Arial"/>
              </a:rPr>
              <a:t>ime</a:t>
            </a:r>
            <a:r>
              <a:rPr sz="2000" b="1" i="1" dirty="0">
                <a:latin typeface="Arial"/>
                <a:cs typeface="Arial"/>
              </a:rPr>
              <a:t>	</a:t>
            </a:r>
            <a:r>
              <a:rPr sz="2000" b="1" i="1" spc="-50" dirty="0">
                <a:latin typeface="Arial"/>
                <a:cs typeface="Arial"/>
              </a:rPr>
              <a:t>T</a:t>
            </a:r>
            <a:r>
              <a:rPr sz="2000" b="1" i="1" spc="-5" dirty="0">
                <a:latin typeface="Arial"/>
                <a:cs typeface="Arial"/>
              </a:rPr>
              <a:t>ime</a:t>
            </a:r>
            <a:r>
              <a:rPr sz="2000" b="1" i="1" dirty="0">
                <a:latin typeface="Arial"/>
                <a:cs typeface="Arial"/>
              </a:rPr>
              <a:t>	</a:t>
            </a:r>
            <a:r>
              <a:rPr sz="2000" b="1" i="1" spc="-5" dirty="0">
                <a:latin typeface="Arial"/>
                <a:cs typeface="Arial"/>
              </a:rPr>
              <a:t>Date</a:t>
            </a:r>
            <a:r>
              <a:rPr sz="2000" b="1" i="1" dirty="0">
                <a:latin typeface="Arial"/>
                <a:cs typeface="Arial"/>
              </a:rPr>
              <a:t>	</a:t>
            </a:r>
            <a:r>
              <a:rPr sz="2000" b="1" i="1" spc="-5" dirty="0">
                <a:latin typeface="Arial"/>
                <a:cs typeface="Arial"/>
              </a:rPr>
              <a:t>Latene</a:t>
            </a:r>
            <a:r>
              <a:rPr sz="2000" b="1" i="1" spc="-15" dirty="0">
                <a:latin typeface="Arial"/>
                <a:cs typeface="Arial"/>
              </a:rPr>
              <a:t>s</a:t>
            </a:r>
            <a:r>
              <a:rPr sz="2000" b="1" i="1" spc="-5" dirty="0">
                <a:latin typeface="Arial"/>
                <a:cs typeface="Arial"/>
              </a:rPr>
              <a:t>s</a:t>
            </a:r>
            <a:endParaRPr sz="2000">
              <a:latin typeface="Arial"/>
              <a:cs typeface="Arial"/>
            </a:endParaRPr>
          </a:p>
          <a:p>
            <a:pPr marR="326390" algn="r">
              <a:lnSpc>
                <a:spcPct val="100000"/>
              </a:lnSpc>
              <a:spcBef>
                <a:spcPts val="840"/>
              </a:spcBef>
              <a:tabLst>
                <a:tab pos="1986914" algn="l"/>
                <a:tab pos="3627120" algn="l"/>
                <a:tab pos="4858385" algn="l"/>
                <a:tab pos="6394450" algn="l"/>
              </a:tabLst>
            </a:pPr>
            <a:r>
              <a:rPr sz="2000" b="1" i="1" spc="-5" dirty="0">
                <a:latin typeface="Arial"/>
                <a:cs typeface="Arial"/>
              </a:rPr>
              <a:t>B	</a:t>
            </a:r>
            <a:r>
              <a:rPr sz="2000" b="1" spc="-5" dirty="0">
                <a:latin typeface="Arial"/>
                <a:cs typeface="Arial"/>
              </a:rPr>
              <a:t>2	2	6	0</a:t>
            </a:r>
            <a:endParaRPr sz="2000">
              <a:latin typeface="Arial"/>
              <a:cs typeface="Arial"/>
            </a:endParaRPr>
          </a:p>
          <a:p>
            <a:pPr marR="326390" algn="r">
              <a:lnSpc>
                <a:spcPct val="100000"/>
              </a:lnSpc>
              <a:spcBef>
                <a:spcPts val="1150"/>
              </a:spcBef>
              <a:tabLst>
                <a:tab pos="1986914" algn="l"/>
                <a:tab pos="3627120" algn="l"/>
                <a:tab pos="4858385" algn="l"/>
                <a:tab pos="6394450" algn="l"/>
              </a:tabLst>
            </a:pPr>
            <a:r>
              <a:rPr sz="2000" b="1" i="1" spc="-5" dirty="0">
                <a:latin typeface="Arial"/>
                <a:cs typeface="Arial"/>
              </a:rPr>
              <a:t>A	</a:t>
            </a:r>
            <a:r>
              <a:rPr sz="2000" b="1" spc="-5" dirty="0">
                <a:latin typeface="Arial"/>
                <a:cs typeface="Arial"/>
              </a:rPr>
              <a:t>6	8	8	0</a:t>
            </a:r>
            <a:endParaRPr sz="2000">
              <a:latin typeface="Arial"/>
              <a:cs typeface="Arial"/>
            </a:endParaRPr>
          </a:p>
          <a:p>
            <a:pPr marR="326390" algn="r">
              <a:lnSpc>
                <a:spcPct val="100000"/>
              </a:lnSpc>
              <a:spcBef>
                <a:spcPts val="1105"/>
              </a:spcBef>
              <a:tabLst>
                <a:tab pos="1986914" algn="l"/>
                <a:tab pos="3502025" algn="l"/>
                <a:tab pos="4718050" algn="l"/>
                <a:tab pos="6394450" algn="l"/>
              </a:tabLst>
            </a:pPr>
            <a:r>
              <a:rPr sz="2000" b="1" i="1" spc="-5" dirty="0">
                <a:latin typeface="Arial"/>
                <a:cs typeface="Arial"/>
              </a:rPr>
              <a:t>D	</a:t>
            </a:r>
            <a:r>
              <a:rPr sz="2000" b="1" spc="-5" dirty="0">
                <a:latin typeface="Arial"/>
                <a:cs typeface="Arial"/>
              </a:rPr>
              <a:t>3	</a:t>
            </a:r>
            <a:r>
              <a:rPr sz="2000" b="1" spc="-130" dirty="0">
                <a:latin typeface="Arial"/>
                <a:cs typeface="Arial"/>
              </a:rPr>
              <a:t>1</a:t>
            </a:r>
            <a:r>
              <a:rPr sz="2000" b="1" spc="-5" dirty="0">
                <a:latin typeface="Arial"/>
                <a:cs typeface="Arial"/>
              </a:rPr>
              <a:t>1</a:t>
            </a:r>
            <a:r>
              <a:rPr sz="2000" b="1" dirty="0">
                <a:latin typeface="Arial"/>
                <a:cs typeface="Arial"/>
              </a:rPr>
              <a:t>	</a:t>
            </a:r>
            <a:r>
              <a:rPr sz="2000" b="1" spc="-10" dirty="0">
                <a:latin typeface="Arial"/>
                <a:cs typeface="Arial"/>
              </a:rPr>
              <a:t>1</a:t>
            </a:r>
            <a:r>
              <a:rPr sz="2000" b="1" spc="-5" dirty="0">
                <a:latin typeface="Arial"/>
                <a:cs typeface="Arial"/>
              </a:rPr>
              <a:t>5</a:t>
            </a:r>
            <a:r>
              <a:rPr sz="2000" b="1" dirty="0">
                <a:latin typeface="Arial"/>
                <a:cs typeface="Arial"/>
              </a:rPr>
              <a:t>	</a:t>
            </a:r>
            <a:r>
              <a:rPr sz="2000" b="1" spc="-5" dirty="0">
                <a:latin typeface="Arial"/>
                <a:cs typeface="Arial"/>
              </a:rPr>
              <a:t>0</a:t>
            </a:r>
            <a:endParaRPr sz="2000">
              <a:latin typeface="Arial"/>
              <a:cs typeface="Arial"/>
            </a:endParaRPr>
          </a:p>
          <a:p>
            <a:pPr marR="327025" algn="r">
              <a:lnSpc>
                <a:spcPct val="100000"/>
              </a:lnSpc>
              <a:spcBef>
                <a:spcPts val="1000"/>
              </a:spcBef>
              <a:tabLst>
                <a:tab pos="1986914" algn="l"/>
                <a:tab pos="3486785" algn="l"/>
                <a:tab pos="4718050" algn="l"/>
                <a:tab pos="6394450" algn="l"/>
              </a:tabLst>
            </a:pPr>
            <a:r>
              <a:rPr sz="2000" b="1" i="1" spc="-10" dirty="0">
                <a:latin typeface="Arial"/>
                <a:cs typeface="Arial"/>
              </a:rPr>
              <a:t>C	</a:t>
            </a:r>
            <a:r>
              <a:rPr sz="2000" b="1" spc="-5" dirty="0">
                <a:latin typeface="Arial"/>
                <a:cs typeface="Arial"/>
              </a:rPr>
              <a:t>8	</a:t>
            </a:r>
            <a:r>
              <a:rPr sz="2000" b="1" spc="-10" dirty="0">
                <a:latin typeface="Arial"/>
                <a:cs typeface="Arial"/>
              </a:rPr>
              <a:t>1</a:t>
            </a:r>
            <a:r>
              <a:rPr sz="2000" b="1" spc="-5" dirty="0">
                <a:latin typeface="Arial"/>
                <a:cs typeface="Arial"/>
              </a:rPr>
              <a:t>9</a:t>
            </a:r>
            <a:r>
              <a:rPr sz="2000" b="1" dirty="0">
                <a:latin typeface="Arial"/>
                <a:cs typeface="Arial"/>
              </a:rPr>
              <a:t>	</a:t>
            </a:r>
            <a:r>
              <a:rPr sz="2000" b="1" spc="-10" dirty="0">
                <a:latin typeface="Arial"/>
                <a:cs typeface="Arial"/>
              </a:rPr>
              <a:t>1</a:t>
            </a:r>
            <a:r>
              <a:rPr sz="2000" b="1" spc="-5" dirty="0">
                <a:latin typeface="Arial"/>
                <a:cs typeface="Arial"/>
              </a:rPr>
              <a:t>8</a:t>
            </a:r>
            <a:r>
              <a:rPr sz="2000" b="1" dirty="0">
                <a:latin typeface="Arial"/>
                <a:cs typeface="Arial"/>
              </a:rPr>
              <a:t>	</a:t>
            </a:r>
            <a:r>
              <a:rPr sz="2000" b="1" spc="-5" dirty="0">
                <a:latin typeface="Arial"/>
                <a:cs typeface="Arial"/>
              </a:rPr>
              <a:t>1</a:t>
            </a:r>
            <a:endParaRPr sz="2000">
              <a:latin typeface="Arial"/>
              <a:cs typeface="Arial"/>
            </a:endParaRPr>
          </a:p>
          <a:p>
            <a:pPr marR="327025" algn="r">
              <a:lnSpc>
                <a:spcPct val="100000"/>
              </a:lnSpc>
              <a:spcBef>
                <a:spcPts val="1050"/>
              </a:spcBef>
              <a:tabLst>
                <a:tab pos="1978025" algn="l"/>
                <a:tab pos="3477895" algn="l"/>
                <a:tab pos="4708525" algn="l"/>
                <a:tab pos="6384925" algn="l"/>
              </a:tabLst>
            </a:pPr>
            <a:r>
              <a:rPr sz="2000" b="1" i="1" spc="-10" dirty="0">
                <a:latin typeface="Arial"/>
                <a:cs typeface="Arial"/>
              </a:rPr>
              <a:t>E	</a:t>
            </a:r>
            <a:r>
              <a:rPr sz="2000" b="1" spc="-5" dirty="0">
                <a:latin typeface="Arial"/>
                <a:cs typeface="Arial"/>
              </a:rPr>
              <a:t>9	</a:t>
            </a:r>
            <a:r>
              <a:rPr sz="2000" b="1" spc="-10" dirty="0">
                <a:latin typeface="Arial"/>
                <a:cs typeface="Arial"/>
              </a:rPr>
              <a:t>2</a:t>
            </a:r>
            <a:r>
              <a:rPr sz="2000" b="1" spc="-5" dirty="0">
                <a:latin typeface="Arial"/>
                <a:cs typeface="Arial"/>
              </a:rPr>
              <a:t>8</a:t>
            </a:r>
            <a:r>
              <a:rPr sz="2000" b="1" dirty="0">
                <a:latin typeface="Arial"/>
                <a:cs typeface="Arial"/>
              </a:rPr>
              <a:t>	</a:t>
            </a:r>
            <a:r>
              <a:rPr sz="2000" b="1" spc="-10" dirty="0">
                <a:latin typeface="Arial"/>
                <a:cs typeface="Arial"/>
              </a:rPr>
              <a:t>2</a:t>
            </a:r>
            <a:r>
              <a:rPr sz="2000" b="1" spc="-5" dirty="0">
                <a:latin typeface="Arial"/>
                <a:cs typeface="Arial"/>
              </a:rPr>
              <a:t>3</a:t>
            </a:r>
            <a:r>
              <a:rPr sz="2000" b="1" dirty="0">
                <a:latin typeface="Arial"/>
                <a:cs typeface="Arial"/>
              </a:rPr>
              <a:t>	</a:t>
            </a:r>
            <a:r>
              <a:rPr sz="2000" b="1" spc="-5" dirty="0">
                <a:latin typeface="Arial"/>
                <a:cs typeface="Arial"/>
              </a:rPr>
              <a:t>5</a:t>
            </a:r>
            <a:endParaRPr sz="2000">
              <a:latin typeface="Arial"/>
              <a:cs typeface="Arial"/>
            </a:endParaRPr>
          </a:p>
          <a:p>
            <a:pPr marR="327025" algn="r">
              <a:lnSpc>
                <a:spcPct val="100000"/>
              </a:lnSpc>
              <a:spcBef>
                <a:spcPts val="1155"/>
              </a:spcBef>
              <a:tabLst>
                <a:tab pos="1640205" algn="l"/>
                <a:tab pos="4547235" algn="l"/>
              </a:tabLst>
            </a:pPr>
            <a:r>
              <a:rPr sz="2000" b="1" spc="-10" dirty="0">
                <a:latin typeface="Arial"/>
                <a:cs typeface="Arial"/>
              </a:rPr>
              <a:t>2</a:t>
            </a:r>
            <a:r>
              <a:rPr sz="2000" b="1" spc="-5" dirty="0">
                <a:latin typeface="Arial"/>
                <a:cs typeface="Arial"/>
              </a:rPr>
              <a:t>8</a:t>
            </a:r>
            <a:r>
              <a:rPr sz="2000" b="1" dirty="0">
                <a:latin typeface="Arial"/>
                <a:cs typeface="Arial"/>
              </a:rPr>
              <a:t>	</a:t>
            </a:r>
            <a:r>
              <a:rPr sz="2000" b="1" spc="-10" dirty="0">
                <a:latin typeface="Arial"/>
                <a:cs typeface="Arial"/>
              </a:rPr>
              <a:t>6</a:t>
            </a:r>
            <a:r>
              <a:rPr sz="2000" b="1" spc="-5" dirty="0">
                <a:latin typeface="Arial"/>
                <a:cs typeface="Arial"/>
              </a:rPr>
              <a:t>8</a:t>
            </a:r>
            <a:r>
              <a:rPr sz="2000" b="1" dirty="0">
                <a:latin typeface="Arial"/>
                <a:cs typeface="Arial"/>
              </a:rPr>
              <a:t>	</a:t>
            </a:r>
            <a:r>
              <a:rPr sz="2000" b="1" spc="-5" dirty="0">
                <a:latin typeface="Arial"/>
                <a:cs typeface="Arial"/>
              </a:rPr>
              <a:t>6</a:t>
            </a:r>
            <a:endParaRPr sz="2000">
              <a:latin typeface="Arial"/>
              <a:cs typeface="Arial"/>
            </a:endParaRPr>
          </a:p>
        </p:txBody>
      </p:sp>
      <p:grpSp>
        <p:nvGrpSpPr>
          <p:cNvPr id="6" name="object 6"/>
          <p:cNvGrpSpPr/>
          <p:nvPr/>
        </p:nvGrpSpPr>
        <p:grpSpPr>
          <a:xfrm>
            <a:off x="725423" y="2328672"/>
            <a:ext cx="7720965" cy="3752215"/>
            <a:chOff x="725423" y="2328672"/>
            <a:chExt cx="7720965" cy="3752215"/>
          </a:xfrm>
        </p:grpSpPr>
        <p:sp>
          <p:nvSpPr>
            <p:cNvPr id="7" name="object 7"/>
            <p:cNvSpPr/>
            <p:nvPr/>
          </p:nvSpPr>
          <p:spPr>
            <a:xfrm>
              <a:off x="1097279" y="2602992"/>
              <a:ext cx="868680" cy="576072"/>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725423" y="2877312"/>
              <a:ext cx="1542288" cy="576072"/>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1231391" y="3288791"/>
              <a:ext cx="530352" cy="576072"/>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1231391" y="3739896"/>
              <a:ext cx="530352" cy="576071"/>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1231391" y="4184904"/>
              <a:ext cx="530352" cy="576072"/>
            </a:xfrm>
            <a:prstGeom prst="rect">
              <a:avLst/>
            </a:prstGeom>
            <a:blipFill>
              <a:blip r:embed="rId6" cstate="print"/>
              <a:stretch>
                <a:fillRect/>
              </a:stretch>
            </a:blipFill>
          </p:spPr>
          <p:txBody>
            <a:bodyPr wrap="square" lIns="0" tIns="0" rIns="0" bIns="0" rtlCol="0"/>
            <a:lstStyle/>
            <a:p>
              <a:endParaRPr/>
            </a:p>
          </p:txBody>
        </p:sp>
        <p:sp>
          <p:nvSpPr>
            <p:cNvPr id="12" name="object 12"/>
            <p:cNvSpPr/>
            <p:nvPr/>
          </p:nvSpPr>
          <p:spPr>
            <a:xfrm>
              <a:off x="1231391" y="4617720"/>
              <a:ext cx="530352" cy="576071"/>
            </a:xfrm>
            <a:prstGeom prst="rect">
              <a:avLst/>
            </a:prstGeom>
            <a:blipFill>
              <a:blip r:embed="rId7" cstate="print"/>
              <a:stretch>
                <a:fillRect/>
              </a:stretch>
            </a:blipFill>
          </p:spPr>
          <p:txBody>
            <a:bodyPr wrap="square" lIns="0" tIns="0" rIns="0" bIns="0" rtlCol="0"/>
            <a:lstStyle/>
            <a:p>
              <a:endParaRPr/>
            </a:p>
          </p:txBody>
        </p:sp>
        <p:sp>
          <p:nvSpPr>
            <p:cNvPr id="13" name="object 13"/>
            <p:cNvSpPr/>
            <p:nvPr/>
          </p:nvSpPr>
          <p:spPr>
            <a:xfrm>
              <a:off x="1240536" y="5053583"/>
              <a:ext cx="515112" cy="576071"/>
            </a:xfrm>
            <a:prstGeom prst="rect">
              <a:avLst/>
            </a:prstGeom>
            <a:blipFill>
              <a:blip r:embed="rId8" cstate="print"/>
              <a:stretch>
                <a:fillRect/>
              </a:stretch>
            </a:blipFill>
          </p:spPr>
          <p:txBody>
            <a:bodyPr wrap="square" lIns="0" tIns="0" rIns="0" bIns="0" rtlCol="0"/>
            <a:lstStyle/>
            <a:p>
              <a:endParaRPr/>
            </a:p>
          </p:txBody>
        </p:sp>
        <p:sp>
          <p:nvSpPr>
            <p:cNvPr id="14" name="object 14"/>
            <p:cNvSpPr/>
            <p:nvPr/>
          </p:nvSpPr>
          <p:spPr>
            <a:xfrm>
              <a:off x="2654807" y="2328672"/>
              <a:ext cx="1569720" cy="576072"/>
            </a:xfrm>
            <a:prstGeom prst="rect">
              <a:avLst/>
            </a:prstGeom>
            <a:blipFill>
              <a:blip r:embed="rId9" cstate="print"/>
              <a:stretch>
                <a:fillRect/>
              </a:stretch>
            </a:blipFill>
          </p:spPr>
          <p:txBody>
            <a:bodyPr wrap="square" lIns="0" tIns="0" rIns="0" bIns="0" rtlCol="0"/>
            <a:lstStyle/>
            <a:p>
              <a:endParaRPr/>
            </a:p>
          </p:txBody>
        </p:sp>
        <p:sp>
          <p:nvSpPr>
            <p:cNvPr id="15" name="object 15"/>
            <p:cNvSpPr/>
            <p:nvPr/>
          </p:nvSpPr>
          <p:spPr>
            <a:xfrm>
              <a:off x="2462784" y="2602992"/>
              <a:ext cx="1956816" cy="576072"/>
            </a:xfrm>
            <a:prstGeom prst="rect">
              <a:avLst/>
            </a:prstGeom>
            <a:blipFill>
              <a:blip r:embed="rId10" cstate="print"/>
              <a:stretch>
                <a:fillRect/>
              </a:stretch>
            </a:blipFill>
          </p:spPr>
          <p:txBody>
            <a:bodyPr wrap="square" lIns="0" tIns="0" rIns="0" bIns="0" rtlCol="0"/>
            <a:lstStyle/>
            <a:p>
              <a:endParaRPr/>
            </a:p>
          </p:txBody>
        </p:sp>
        <p:sp>
          <p:nvSpPr>
            <p:cNvPr id="16" name="object 16"/>
            <p:cNvSpPr/>
            <p:nvPr/>
          </p:nvSpPr>
          <p:spPr>
            <a:xfrm>
              <a:off x="2935223" y="2877312"/>
              <a:ext cx="932688" cy="576072"/>
            </a:xfrm>
            <a:prstGeom prst="rect">
              <a:avLst/>
            </a:prstGeom>
            <a:blipFill>
              <a:blip r:embed="rId11" cstate="print"/>
              <a:stretch>
                <a:fillRect/>
              </a:stretch>
            </a:blipFill>
          </p:spPr>
          <p:txBody>
            <a:bodyPr wrap="square" lIns="0" tIns="0" rIns="0" bIns="0" rtlCol="0"/>
            <a:lstStyle/>
            <a:p>
              <a:endParaRPr/>
            </a:p>
          </p:txBody>
        </p:sp>
        <p:sp>
          <p:nvSpPr>
            <p:cNvPr id="17" name="object 17"/>
            <p:cNvSpPr/>
            <p:nvPr/>
          </p:nvSpPr>
          <p:spPr>
            <a:xfrm>
              <a:off x="3218688" y="3288791"/>
              <a:ext cx="487679" cy="576072"/>
            </a:xfrm>
            <a:prstGeom prst="rect">
              <a:avLst/>
            </a:prstGeom>
            <a:blipFill>
              <a:blip r:embed="rId12" cstate="print"/>
              <a:stretch>
                <a:fillRect/>
              </a:stretch>
            </a:blipFill>
          </p:spPr>
          <p:txBody>
            <a:bodyPr wrap="square" lIns="0" tIns="0" rIns="0" bIns="0" rtlCol="0"/>
            <a:lstStyle/>
            <a:p>
              <a:endParaRPr/>
            </a:p>
          </p:txBody>
        </p:sp>
        <p:sp>
          <p:nvSpPr>
            <p:cNvPr id="18" name="object 18"/>
            <p:cNvSpPr/>
            <p:nvPr/>
          </p:nvSpPr>
          <p:spPr>
            <a:xfrm>
              <a:off x="3218688" y="3739896"/>
              <a:ext cx="487679" cy="576071"/>
            </a:xfrm>
            <a:prstGeom prst="rect">
              <a:avLst/>
            </a:prstGeom>
            <a:blipFill>
              <a:blip r:embed="rId13" cstate="print"/>
              <a:stretch>
                <a:fillRect/>
              </a:stretch>
            </a:blipFill>
          </p:spPr>
          <p:txBody>
            <a:bodyPr wrap="square" lIns="0" tIns="0" rIns="0" bIns="0" rtlCol="0"/>
            <a:lstStyle/>
            <a:p>
              <a:endParaRPr/>
            </a:p>
          </p:txBody>
        </p:sp>
        <p:sp>
          <p:nvSpPr>
            <p:cNvPr id="19" name="object 19"/>
            <p:cNvSpPr/>
            <p:nvPr/>
          </p:nvSpPr>
          <p:spPr>
            <a:xfrm>
              <a:off x="3218688" y="4184904"/>
              <a:ext cx="487679" cy="576072"/>
            </a:xfrm>
            <a:prstGeom prst="rect">
              <a:avLst/>
            </a:prstGeom>
            <a:blipFill>
              <a:blip r:embed="rId14" cstate="print"/>
              <a:stretch>
                <a:fillRect/>
              </a:stretch>
            </a:blipFill>
          </p:spPr>
          <p:txBody>
            <a:bodyPr wrap="square" lIns="0" tIns="0" rIns="0" bIns="0" rtlCol="0"/>
            <a:lstStyle/>
            <a:p>
              <a:endParaRPr/>
            </a:p>
          </p:txBody>
        </p:sp>
        <p:sp>
          <p:nvSpPr>
            <p:cNvPr id="20" name="object 20"/>
            <p:cNvSpPr/>
            <p:nvPr/>
          </p:nvSpPr>
          <p:spPr>
            <a:xfrm>
              <a:off x="3218688" y="4617720"/>
              <a:ext cx="487679" cy="576071"/>
            </a:xfrm>
            <a:prstGeom prst="rect">
              <a:avLst/>
            </a:prstGeom>
            <a:blipFill>
              <a:blip r:embed="rId15" cstate="print"/>
              <a:stretch>
                <a:fillRect/>
              </a:stretch>
            </a:blipFill>
          </p:spPr>
          <p:txBody>
            <a:bodyPr wrap="square" lIns="0" tIns="0" rIns="0" bIns="0" rtlCol="0"/>
            <a:lstStyle/>
            <a:p>
              <a:endParaRPr/>
            </a:p>
          </p:txBody>
        </p:sp>
        <p:sp>
          <p:nvSpPr>
            <p:cNvPr id="21" name="object 21"/>
            <p:cNvSpPr/>
            <p:nvPr/>
          </p:nvSpPr>
          <p:spPr>
            <a:xfrm>
              <a:off x="3218688" y="5053583"/>
              <a:ext cx="487679" cy="576071"/>
            </a:xfrm>
            <a:prstGeom prst="rect">
              <a:avLst/>
            </a:prstGeom>
            <a:blipFill>
              <a:blip r:embed="rId16" cstate="print"/>
              <a:stretch>
                <a:fillRect/>
              </a:stretch>
            </a:blipFill>
          </p:spPr>
          <p:txBody>
            <a:bodyPr wrap="square" lIns="0" tIns="0" rIns="0" bIns="0" rtlCol="0"/>
            <a:lstStyle/>
            <a:p>
              <a:endParaRPr/>
            </a:p>
          </p:txBody>
        </p:sp>
        <p:sp>
          <p:nvSpPr>
            <p:cNvPr id="22" name="object 22"/>
            <p:cNvSpPr/>
            <p:nvPr/>
          </p:nvSpPr>
          <p:spPr>
            <a:xfrm>
              <a:off x="3078479" y="5504688"/>
              <a:ext cx="627888" cy="576072"/>
            </a:xfrm>
            <a:prstGeom prst="rect">
              <a:avLst/>
            </a:prstGeom>
            <a:blipFill>
              <a:blip r:embed="rId17" cstate="print"/>
              <a:stretch>
                <a:fillRect/>
              </a:stretch>
            </a:blipFill>
          </p:spPr>
          <p:txBody>
            <a:bodyPr wrap="square" lIns="0" tIns="0" rIns="0" bIns="0" rtlCol="0"/>
            <a:lstStyle/>
            <a:p>
              <a:endParaRPr/>
            </a:p>
          </p:txBody>
        </p:sp>
        <p:sp>
          <p:nvSpPr>
            <p:cNvPr id="23" name="object 23"/>
            <p:cNvSpPr/>
            <p:nvPr/>
          </p:nvSpPr>
          <p:spPr>
            <a:xfrm>
              <a:off x="4562856" y="2602992"/>
              <a:ext cx="996696" cy="576072"/>
            </a:xfrm>
            <a:prstGeom prst="rect">
              <a:avLst/>
            </a:prstGeom>
            <a:blipFill>
              <a:blip r:embed="rId18" cstate="print"/>
              <a:stretch>
                <a:fillRect/>
              </a:stretch>
            </a:blipFill>
          </p:spPr>
          <p:txBody>
            <a:bodyPr wrap="square" lIns="0" tIns="0" rIns="0" bIns="0" rtlCol="0"/>
            <a:lstStyle/>
            <a:p>
              <a:endParaRPr/>
            </a:p>
          </p:txBody>
        </p:sp>
        <p:sp>
          <p:nvSpPr>
            <p:cNvPr id="24" name="object 24"/>
            <p:cNvSpPr/>
            <p:nvPr/>
          </p:nvSpPr>
          <p:spPr>
            <a:xfrm>
              <a:off x="4559808" y="2877312"/>
              <a:ext cx="932688" cy="576072"/>
            </a:xfrm>
            <a:prstGeom prst="rect">
              <a:avLst/>
            </a:prstGeom>
            <a:blipFill>
              <a:blip r:embed="rId11" cstate="print"/>
              <a:stretch>
                <a:fillRect/>
              </a:stretch>
            </a:blipFill>
          </p:spPr>
          <p:txBody>
            <a:bodyPr wrap="square" lIns="0" tIns="0" rIns="0" bIns="0" rtlCol="0"/>
            <a:lstStyle/>
            <a:p>
              <a:endParaRPr/>
            </a:p>
          </p:txBody>
        </p:sp>
        <p:sp>
          <p:nvSpPr>
            <p:cNvPr id="25" name="object 25"/>
            <p:cNvSpPr/>
            <p:nvPr/>
          </p:nvSpPr>
          <p:spPr>
            <a:xfrm>
              <a:off x="5593079" y="2602992"/>
              <a:ext cx="1420368" cy="576072"/>
            </a:xfrm>
            <a:prstGeom prst="rect">
              <a:avLst/>
            </a:prstGeom>
            <a:blipFill>
              <a:blip r:embed="rId19" cstate="print"/>
              <a:stretch>
                <a:fillRect/>
              </a:stretch>
            </a:blipFill>
          </p:spPr>
          <p:txBody>
            <a:bodyPr wrap="square" lIns="0" tIns="0" rIns="0" bIns="0" rtlCol="0"/>
            <a:lstStyle/>
            <a:p>
              <a:endParaRPr/>
            </a:p>
          </p:txBody>
        </p:sp>
        <p:sp>
          <p:nvSpPr>
            <p:cNvPr id="26" name="object 26"/>
            <p:cNvSpPr/>
            <p:nvPr/>
          </p:nvSpPr>
          <p:spPr>
            <a:xfrm>
              <a:off x="5818632" y="2877312"/>
              <a:ext cx="896112" cy="576072"/>
            </a:xfrm>
            <a:prstGeom prst="rect">
              <a:avLst/>
            </a:prstGeom>
            <a:blipFill>
              <a:blip r:embed="rId20" cstate="print"/>
              <a:stretch>
                <a:fillRect/>
              </a:stretch>
            </a:blipFill>
          </p:spPr>
          <p:txBody>
            <a:bodyPr wrap="square" lIns="0" tIns="0" rIns="0" bIns="0" rtlCol="0"/>
            <a:lstStyle/>
            <a:p>
              <a:endParaRPr/>
            </a:p>
          </p:txBody>
        </p:sp>
        <p:sp>
          <p:nvSpPr>
            <p:cNvPr id="27" name="object 27"/>
            <p:cNvSpPr/>
            <p:nvPr/>
          </p:nvSpPr>
          <p:spPr>
            <a:xfrm>
              <a:off x="7324343" y="2602992"/>
              <a:ext cx="868679" cy="576072"/>
            </a:xfrm>
            <a:prstGeom prst="rect">
              <a:avLst/>
            </a:prstGeom>
            <a:blipFill>
              <a:blip r:embed="rId21" cstate="print"/>
              <a:stretch>
                <a:fillRect/>
              </a:stretch>
            </a:blipFill>
          </p:spPr>
          <p:txBody>
            <a:bodyPr wrap="square" lIns="0" tIns="0" rIns="0" bIns="0" rtlCol="0"/>
            <a:lstStyle/>
            <a:p>
              <a:endParaRPr/>
            </a:p>
          </p:txBody>
        </p:sp>
        <p:sp>
          <p:nvSpPr>
            <p:cNvPr id="28" name="object 28"/>
            <p:cNvSpPr/>
            <p:nvPr/>
          </p:nvSpPr>
          <p:spPr>
            <a:xfrm>
              <a:off x="7001256" y="2877312"/>
              <a:ext cx="1444752" cy="576072"/>
            </a:xfrm>
            <a:prstGeom prst="rect">
              <a:avLst/>
            </a:prstGeom>
            <a:blipFill>
              <a:blip r:embed="rId22" cstate="print"/>
              <a:stretch>
                <a:fillRect/>
              </a:stretch>
            </a:blipFill>
          </p:spPr>
          <p:txBody>
            <a:bodyPr wrap="square" lIns="0" tIns="0" rIns="0" bIns="0" rtlCol="0"/>
            <a:lstStyle/>
            <a:p>
              <a:endParaRPr/>
            </a:p>
          </p:txBody>
        </p:sp>
        <p:sp>
          <p:nvSpPr>
            <p:cNvPr id="29" name="object 29"/>
            <p:cNvSpPr/>
            <p:nvPr/>
          </p:nvSpPr>
          <p:spPr>
            <a:xfrm>
              <a:off x="4858512" y="3288791"/>
              <a:ext cx="487679" cy="576072"/>
            </a:xfrm>
            <a:prstGeom prst="rect">
              <a:avLst/>
            </a:prstGeom>
            <a:blipFill>
              <a:blip r:embed="rId12" cstate="print"/>
              <a:stretch>
                <a:fillRect/>
              </a:stretch>
            </a:blipFill>
          </p:spPr>
          <p:txBody>
            <a:bodyPr wrap="square" lIns="0" tIns="0" rIns="0" bIns="0" rtlCol="0"/>
            <a:lstStyle/>
            <a:p>
              <a:endParaRPr/>
            </a:p>
          </p:txBody>
        </p:sp>
        <p:sp>
          <p:nvSpPr>
            <p:cNvPr id="30" name="object 30"/>
            <p:cNvSpPr/>
            <p:nvPr/>
          </p:nvSpPr>
          <p:spPr>
            <a:xfrm>
              <a:off x="6086856" y="3288791"/>
              <a:ext cx="487679" cy="576072"/>
            </a:xfrm>
            <a:prstGeom prst="rect">
              <a:avLst/>
            </a:prstGeom>
            <a:blipFill>
              <a:blip r:embed="rId23" cstate="print"/>
              <a:stretch>
                <a:fillRect/>
              </a:stretch>
            </a:blipFill>
          </p:spPr>
          <p:txBody>
            <a:bodyPr wrap="square" lIns="0" tIns="0" rIns="0" bIns="0" rtlCol="0"/>
            <a:lstStyle/>
            <a:p>
              <a:endParaRPr/>
            </a:p>
          </p:txBody>
        </p:sp>
        <p:sp>
          <p:nvSpPr>
            <p:cNvPr id="31" name="object 31"/>
            <p:cNvSpPr/>
            <p:nvPr/>
          </p:nvSpPr>
          <p:spPr>
            <a:xfrm>
              <a:off x="7623047" y="3288791"/>
              <a:ext cx="487679" cy="576072"/>
            </a:xfrm>
            <a:prstGeom prst="rect">
              <a:avLst/>
            </a:prstGeom>
            <a:blipFill>
              <a:blip r:embed="rId24" cstate="print"/>
              <a:stretch>
                <a:fillRect/>
              </a:stretch>
            </a:blipFill>
          </p:spPr>
          <p:txBody>
            <a:bodyPr wrap="square" lIns="0" tIns="0" rIns="0" bIns="0" rtlCol="0"/>
            <a:lstStyle/>
            <a:p>
              <a:endParaRPr/>
            </a:p>
          </p:txBody>
        </p:sp>
        <p:sp>
          <p:nvSpPr>
            <p:cNvPr id="32" name="object 32"/>
            <p:cNvSpPr/>
            <p:nvPr/>
          </p:nvSpPr>
          <p:spPr>
            <a:xfrm>
              <a:off x="4858512" y="3739896"/>
              <a:ext cx="487679" cy="576071"/>
            </a:xfrm>
            <a:prstGeom prst="rect">
              <a:avLst/>
            </a:prstGeom>
            <a:blipFill>
              <a:blip r:embed="rId25" cstate="print"/>
              <a:stretch>
                <a:fillRect/>
              </a:stretch>
            </a:blipFill>
          </p:spPr>
          <p:txBody>
            <a:bodyPr wrap="square" lIns="0" tIns="0" rIns="0" bIns="0" rtlCol="0"/>
            <a:lstStyle/>
            <a:p>
              <a:endParaRPr/>
            </a:p>
          </p:txBody>
        </p:sp>
        <p:sp>
          <p:nvSpPr>
            <p:cNvPr id="33" name="object 33"/>
            <p:cNvSpPr/>
            <p:nvPr/>
          </p:nvSpPr>
          <p:spPr>
            <a:xfrm>
              <a:off x="6086856" y="3739896"/>
              <a:ext cx="487679" cy="576071"/>
            </a:xfrm>
            <a:prstGeom prst="rect">
              <a:avLst/>
            </a:prstGeom>
            <a:blipFill>
              <a:blip r:embed="rId26" cstate="print"/>
              <a:stretch>
                <a:fillRect/>
              </a:stretch>
            </a:blipFill>
          </p:spPr>
          <p:txBody>
            <a:bodyPr wrap="square" lIns="0" tIns="0" rIns="0" bIns="0" rtlCol="0"/>
            <a:lstStyle/>
            <a:p>
              <a:endParaRPr/>
            </a:p>
          </p:txBody>
        </p:sp>
        <p:sp>
          <p:nvSpPr>
            <p:cNvPr id="34" name="object 34"/>
            <p:cNvSpPr/>
            <p:nvPr/>
          </p:nvSpPr>
          <p:spPr>
            <a:xfrm>
              <a:off x="7623047" y="3739896"/>
              <a:ext cx="487679" cy="576071"/>
            </a:xfrm>
            <a:prstGeom prst="rect">
              <a:avLst/>
            </a:prstGeom>
            <a:blipFill>
              <a:blip r:embed="rId27" cstate="print"/>
              <a:stretch>
                <a:fillRect/>
              </a:stretch>
            </a:blipFill>
          </p:spPr>
          <p:txBody>
            <a:bodyPr wrap="square" lIns="0" tIns="0" rIns="0" bIns="0" rtlCol="0"/>
            <a:lstStyle/>
            <a:p>
              <a:endParaRPr/>
            </a:p>
          </p:txBody>
        </p:sp>
        <p:sp>
          <p:nvSpPr>
            <p:cNvPr id="35" name="object 35"/>
            <p:cNvSpPr/>
            <p:nvPr/>
          </p:nvSpPr>
          <p:spPr>
            <a:xfrm>
              <a:off x="4733544" y="4184904"/>
              <a:ext cx="612648" cy="576072"/>
            </a:xfrm>
            <a:prstGeom prst="rect">
              <a:avLst/>
            </a:prstGeom>
            <a:blipFill>
              <a:blip r:embed="rId28" cstate="print"/>
              <a:stretch>
                <a:fillRect/>
              </a:stretch>
            </a:blipFill>
          </p:spPr>
          <p:txBody>
            <a:bodyPr wrap="square" lIns="0" tIns="0" rIns="0" bIns="0" rtlCol="0"/>
            <a:lstStyle/>
            <a:p>
              <a:endParaRPr/>
            </a:p>
          </p:txBody>
        </p:sp>
        <p:sp>
          <p:nvSpPr>
            <p:cNvPr id="36" name="object 36"/>
            <p:cNvSpPr/>
            <p:nvPr/>
          </p:nvSpPr>
          <p:spPr>
            <a:xfrm>
              <a:off x="5946647" y="4184904"/>
              <a:ext cx="627888" cy="576072"/>
            </a:xfrm>
            <a:prstGeom prst="rect">
              <a:avLst/>
            </a:prstGeom>
            <a:blipFill>
              <a:blip r:embed="rId29" cstate="print"/>
              <a:stretch>
                <a:fillRect/>
              </a:stretch>
            </a:blipFill>
          </p:spPr>
          <p:txBody>
            <a:bodyPr wrap="square" lIns="0" tIns="0" rIns="0" bIns="0" rtlCol="0"/>
            <a:lstStyle/>
            <a:p>
              <a:endParaRPr/>
            </a:p>
          </p:txBody>
        </p:sp>
        <p:sp>
          <p:nvSpPr>
            <p:cNvPr id="37" name="object 37"/>
            <p:cNvSpPr/>
            <p:nvPr/>
          </p:nvSpPr>
          <p:spPr>
            <a:xfrm>
              <a:off x="7623047" y="4184904"/>
              <a:ext cx="487679" cy="576072"/>
            </a:xfrm>
            <a:prstGeom prst="rect">
              <a:avLst/>
            </a:prstGeom>
            <a:blipFill>
              <a:blip r:embed="rId30" cstate="print"/>
              <a:stretch>
                <a:fillRect/>
              </a:stretch>
            </a:blipFill>
          </p:spPr>
          <p:txBody>
            <a:bodyPr wrap="square" lIns="0" tIns="0" rIns="0" bIns="0" rtlCol="0"/>
            <a:lstStyle/>
            <a:p>
              <a:endParaRPr/>
            </a:p>
          </p:txBody>
        </p:sp>
        <p:sp>
          <p:nvSpPr>
            <p:cNvPr id="38" name="object 38"/>
            <p:cNvSpPr/>
            <p:nvPr/>
          </p:nvSpPr>
          <p:spPr>
            <a:xfrm>
              <a:off x="4718303" y="4617720"/>
              <a:ext cx="627888" cy="576071"/>
            </a:xfrm>
            <a:prstGeom prst="rect">
              <a:avLst/>
            </a:prstGeom>
            <a:blipFill>
              <a:blip r:embed="rId31" cstate="print"/>
              <a:stretch>
                <a:fillRect/>
              </a:stretch>
            </a:blipFill>
          </p:spPr>
          <p:txBody>
            <a:bodyPr wrap="square" lIns="0" tIns="0" rIns="0" bIns="0" rtlCol="0"/>
            <a:lstStyle/>
            <a:p>
              <a:endParaRPr/>
            </a:p>
          </p:txBody>
        </p:sp>
        <p:sp>
          <p:nvSpPr>
            <p:cNvPr id="39" name="object 39"/>
            <p:cNvSpPr/>
            <p:nvPr/>
          </p:nvSpPr>
          <p:spPr>
            <a:xfrm>
              <a:off x="5946647" y="4617720"/>
              <a:ext cx="627888" cy="576071"/>
            </a:xfrm>
            <a:prstGeom prst="rect">
              <a:avLst/>
            </a:prstGeom>
            <a:blipFill>
              <a:blip r:embed="rId32" cstate="print"/>
              <a:stretch>
                <a:fillRect/>
              </a:stretch>
            </a:blipFill>
          </p:spPr>
          <p:txBody>
            <a:bodyPr wrap="square" lIns="0" tIns="0" rIns="0" bIns="0" rtlCol="0"/>
            <a:lstStyle/>
            <a:p>
              <a:endParaRPr/>
            </a:p>
          </p:txBody>
        </p:sp>
        <p:sp>
          <p:nvSpPr>
            <p:cNvPr id="40" name="object 40"/>
            <p:cNvSpPr/>
            <p:nvPr/>
          </p:nvSpPr>
          <p:spPr>
            <a:xfrm>
              <a:off x="7623047" y="4617720"/>
              <a:ext cx="487679" cy="576071"/>
            </a:xfrm>
            <a:prstGeom prst="rect">
              <a:avLst/>
            </a:prstGeom>
            <a:blipFill>
              <a:blip r:embed="rId33" cstate="print"/>
              <a:stretch>
                <a:fillRect/>
              </a:stretch>
            </a:blipFill>
          </p:spPr>
          <p:txBody>
            <a:bodyPr wrap="square" lIns="0" tIns="0" rIns="0" bIns="0" rtlCol="0"/>
            <a:lstStyle/>
            <a:p>
              <a:endParaRPr/>
            </a:p>
          </p:txBody>
        </p:sp>
        <p:sp>
          <p:nvSpPr>
            <p:cNvPr id="41" name="object 41"/>
            <p:cNvSpPr/>
            <p:nvPr/>
          </p:nvSpPr>
          <p:spPr>
            <a:xfrm>
              <a:off x="4718303" y="5053583"/>
              <a:ext cx="627888" cy="576071"/>
            </a:xfrm>
            <a:prstGeom prst="rect">
              <a:avLst/>
            </a:prstGeom>
            <a:blipFill>
              <a:blip r:embed="rId34" cstate="print"/>
              <a:stretch>
                <a:fillRect/>
              </a:stretch>
            </a:blipFill>
          </p:spPr>
          <p:txBody>
            <a:bodyPr wrap="square" lIns="0" tIns="0" rIns="0" bIns="0" rtlCol="0"/>
            <a:lstStyle/>
            <a:p>
              <a:endParaRPr/>
            </a:p>
          </p:txBody>
        </p:sp>
        <p:sp>
          <p:nvSpPr>
            <p:cNvPr id="42" name="object 42"/>
            <p:cNvSpPr/>
            <p:nvPr/>
          </p:nvSpPr>
          <p:spPr>
            <a:xfrm>
              <a:off x="5946647" y="5053583"/>
              <a:ext cx="627888" cy="576071"/>
            </a:xfrm>
            <a:prstGeom prst="rect">
              <a:avLst/>
            </a:prstGeom>
            <a:blipFill>
              <a:blip r:embed="rId35" cstate="print"/>
              <a:stretch>
                <a:fillRect/>
              </a:stretch>
            </a:blipFill>
          </p:spPr>
          <p:txBody>
            <a:bodyPr wrap="square" lIns="0" tIns="0" rIns="0" bIns="0" rtlCol="0"/>
            <a:lstStyle/>
            <a:p>
              <a:endParaRPr/>
            </a:p>
          </p:txBody>
        </p:sp>
        <p:sp>
          <p:nvSpPr>
            <p:cNvPr id="43" name="object 43"/>
            <p:cNvSpPr/>
            <p:nvPr/>
          </p:nvSpPr>
          <p:spPr>
            <a:xfrm>
              <a:off x="7623047" y="5053583"/>
              <a:ext cx="487679" cy="576071"/>
            </a:xfrm>
            <a:prstGeom prst="rect">
              <a:avLst/>
            </a:prstGeom>
            <a:blipFill>
              <a:blip r:embed="rId36" cstate="print"/>
              <a:stretch>
                <a:fillRect/>
              </a:stretch>
            </a:blipFill>
          </p:spPr>
          <p:txBody>
            <a:bodyPr wrap="square" lIns="0" tIns="0" rIns="0" bIns="0" rtlCol="0"/>
            <a:lstStyle/>
            <a:p>
              <a:endParaRPr/>
            </a:p>
          </p:txBody>
        </p:sp>
        <p:sp>
          <p:nvSpPr>
            <p:cNvPr id="44" name="object 44"/>
            <p:cNvSpPr/>
            <p:nvPr/>
          </p:nvSpPr>
          <p:spPr>
            <a:xfrm>
              <a:off x="4718303" y="5504688"/>
              <a:ext cx="627888" cy="576072"/>
            </a:xfrm>
            <a:prstGeom prst="rect">
              <a:avLst/>
            </a:prstGeom>
            <a:blipFill>
              <a:blip r:embed="rId37" cstate="print"/>
              <a:stretch>
                <a:fillRect/>
              </a:stretch>
            </a:blipFill>
          </p:spPr>
          <p:txBody>
            <a:bodyPr wrap="square" lIns="0" tIns="0" rIns="0" bIns="0" rtlCol="0"/>
            <a:lstStyle/>
            <a:p>
              <a:endParaRPr/>
            </a:p>
          </p:txBody>
        </p:sp>
        <p:sp>
          <p:nvSpPr>
            <p:cNvPr id="45" name="object 45"/>
            <p:cNvSpPr/>
            <p:nvPr/>
          </p:nvSpPr>
          <p:spPr>
            <a:xfrm>
              <a:off x="7623047" y="5504688"/>
              <a:ext cx="487679" cy="576072"/>
            </a:xfrm>
            <a:prstGeom prst="rect">
              <a:avLst/>
            </a:prstGeom>
            <a:blipFill>
              <a:blip r:embed="rId38" cstate="print"/>
              <a:stretch>
                <a:fillRect/>
              </a:stretch>
            </a:blipFill>
          </p:spPr>
          <p:txBody>
            <a:bodyPr wrap="square" lIns="0" tIns="0" rIns="0" bIns="0" rtlCol="0"/>
            <a:lstStyle/>
            <a:p>
              <a:endParaRPr/>
            </a:p>
          </p:txBody>
        </p:sp>
      </p:grpSp>
      <p:sp>
        <p:nvSpPr>
          <p:cNvPr id="46" name="object 46"/>
          <p:cNvSpPr txBox="1"/>
          <p:nvPr/>
        </p:nvSpPr>
        <p:spPr>
          <a:xfrm>
            <a:off x="736193" y="1610994"/>
            <a:ext cx="4380230" cy="453390"/>
          </a:xfrm>
          <a:prstGeom prst="rect">
            <a:avLst/>
          </a:prstGeom>
        </p:spPr>
        <p:txBody>
          <a:bodyPr vert="horz" wrap="square" lIns="0" tIns="13335" rIns="0" bIns="0" rtlCol="0">
            <a:spAutoFit/>
          </a:bodyPr>
          <a:lstStyle/>
          <a:p>
            <a:pPr marL="12700">
              <a:lnSpc>
                <a:spcPct val="100000"/>
              </a:lnSpc>
              <a:spcBef>
                <a:spcPts val="105"/>
              </a:spcBef>
            </a:pPr>
            <a:r>
              <a:rPr sz="2800" spc="-5" dirty="0">
                <a:latin typeface="Arial"/>
                <a:cs typeface="Arial"/>
              </a:rPr>
              <a:t>EDD: </a:t>
            </a:r>
            <a:r>
              <a:rPr sz="2800" dirty="0">
                <a:latin typeface="Arial"/>
                <a:cs typeface="Arial"/>
              </a:rPr>
              <a:t>Sequence</a:t>
            </a:r>
            <a:r>
              <a:rPr sz="2800" spc="-55" dirty="0">
                <a:latin typeface="Arial"/>
                <a:cs typeface="Arial"/>
              </a:rPr>
              <a:t> </a:t>
            </a:r>
            <a:r>
              <a:rPr sz="2800" dirty="0">
                <a:latin typeface="Arial"/>
                <a:cs typeface="Arial"/>
              </a:rPr>
              <a:t>B-A-D-C-E</a:t>
            </a:r>
            <a:endParaRPr sz="2800">
              <a:latin typeface="Arial"/>
              <a:cs typeface="Arial"/>
            </a:endParaRPr>
          </a:p>
        </p:txBody>
      </p:sp>
      <p:grpSp>
        <p:nvGrpSpPr>
          <p:cNvPr id="47" name="object 47"/>
          <p:cNvGrpSpPr/>
          <p:nvPr/>
        </p:nvGrpSpPr>
        <p:grpSpPr>
          <a:xfrm>
            <a:off x="341185" y="2456497"/>
            <a:ext cx="8467725" cy="3438525"/>
            <a:chOff x="341185" y="2456497"/>
            <a:chExt cx="8467725" cy="3438525"/>
          </a:xfrm>
        </p:grpSpPr>
        <p:sp>
          <p:nvSpPr>
            <p:cNvPr id="48" name="object 48"/>
            <p:cNvSpPr/>
            <p:nvPr/>
          </p:nvSpPr>
          <p:spPr>
            <a:xfrm>
              <a:off x="345947" y="2461260"/>
              <a:ext cx="8458200" cy="3429000"/>
            </a:xfrm>
            <a:custGeom>
              <a:avLst/>
              <a:gdLst/>
              <a:ahLst/>
              <a:cxnLst/>
              <a:rect l="l" t="t" r="r" b="b"/>
              <a:pathLst>
                <a:path w="8458200" h="3429000">
                  <a:moveTo>
                    <a:pt x="8458200" y="0"/>
                  </a:moveTo>
                  <a:lnTo>
                    <a:pt x="0" y="0"/>
                  </a:lnTo>
                  <a:lnTo>
                    <a:pt x="0" y="3429000"/>
                  </a:lnTo>
                  <a:lnTo>
                    <a:pt x="8458200" y="3429000"/>
                  </a:lnTo>
                  <a:lnTo>
                    <a:pt x="8458200" y="0"/>
                  </a:lnTo>
                  <a:close/>
                </a:path>
              </a:pathLst>
            </a:custGeom>
            <a:solidFill>
              <a:srgbClr val="99CCFF"/>
            </a:solidFill>
          </p:spPr>
          <p:txBody>
            <a:bodyPr wrap="square" lIns="0" tIns="0" rIns="0" bIns="0" rtlCol="0"/>
            <a:lstStyle/>
            <a:p>
              <a:endParaRPr/>
            </a:p>
          </p:txBody>
        </p:sp>
        <p:sp>
          <p:nvSpPr>
            <p:cNvPr id="49" name="object 49"/>
            <p:cNvSpPr/>
            <p:nvPr/>
          </p:nvSpPr>
          <p:spPr>
            <a:xfrm>
              <a:off x="345947" y="2461260"/>
              <a:ext cx="8458200" cy="3429000"/>
            </a:xfrm>
            <a:custGeom>
              <a:avLst/>
              <a:gdLst/>
              <a:ahLst/>
              <a:cxnLst/>
              <a:rect l="l" t="t" r="r" b="b"/>
              <a:pathLst>
                <a:path w="8458200" h="3429000">
                  <a:moveTo>
                    <a:pt x="0" y="3429000"/>
                  </a:moveTo>
                  <a:lnTo>
                    <a:pt x="8458200" y="3429000"/>
                  </a:lnTo>
                  <a:lnTo>
                    <a:pt x="8458200" y="0"/>
                  </a:lnTo>
                  <a:lnTo>
                    <a:pt x="0" y="0"/>
                  </a:lnTo>
                  <a:lnTo>
                    <a:pt x="0" y="3429000"/>
                  </a:lnTo>
                  <a:close/>
                </a:path>
              </a:pathLst>
            </a:custGeom>
            <a:ln w="9144">
              <a:solidFill>
                <a:srgbClr val="000000"/>
              </a:solidFill>
            </a:ln>
          </p:spPr>
          <p:txBody>
            <a:bodyPr wrap="square" lIns="0" tIns="0" rIns="0" bIns="0" rtlCol="0"/>
            <a:lstStyle/>
            <a:p>
              <a:endParaRPr/>
            </a:p>
          </p:txBody>
        </p:sp>
      </p:grpSp>
      <p:sp>
        <p:nvSpPr>
          <p:cNvPr id="50" name="object 50"/>
          <p:cNvSpPr txBox="1"/>
          <p:nvPr/>
        </p:nvSpPr>
        <p:spPr>
          <a:xfrm>
            <a:off x="553516" y="2816098"/>
            <a:ext cx="8037830" cy="329565"/>
          </a:xfrm>
          <a:prstGeom prst="rect">
            <a:avLst/>
          </a:prstGeom>
        </p:spPr>
        <p:txBody>
          <a:bodyPr vert="horz" wrap="square" lIns="0" tIns="11430" rIns="0" bIns="0" rtlCol="0">
            <a:spAutoFit/>
          </a:bodyPr>
          <a:lstStyle/>
          <a:p>
            <a:pPr marL="38100">
              <a:lnSpc>
                <a:spcPct val="100000"/>
              </a:lnSpc>
              <a:spcBef>
                <a:spcPts val="90"/>
              </a:spcBef>
            </a:pPr>
            <a:r>
              <a:rPr sz="2000" b="1" i="1" spc="-10" dirty="0">
                <a:latin typeface="Arial"/>
                <a:cs typeface="Arial"/>
              </a:rPr>
              <a:t>Average </a:t>
            </a:r>
            <a:r>
              <a:rPr sz="2000" b="1" i="1" spc="-5" dirty="0">
                <a:latin typeface="Arial"/>
                <a:cs typeface="Arial"/>
              </a:rPr>
              <a:t>completion time </a:t>
            </a:r>
            <a:r>
              <a:rPr sz="2000" b="1" spc="-5" dirty="0">
                <a:latin typeface="Arial"/>
                <a:cs typeface="Arial"/>
              </a:rPr>
              <a:t>= </a:t>
            </a:r>
            <a:r>
              <a:rPr sz="2700" b="1" i="1" baseline="44753" dirty="0">
                <a:latin typeface="Arial"/>
                <a:cs typeface="Arial"/>
              </a:rPr>
              <a:t>Sum of total flow time </a:t>
            </a:r>
            <a:r>
              <a:rPr sz="2000" b="1" spc="-5" dirty="0">
                <a:latin typeface="Arial"/>
                <a:cs typeface="Arial"/>
              </a:rPr>
              <a:t>= </a:t>
            </a:r>
            <a:r>
              <a:rPr sz="2000" b="1" spc="-10" dirty="0">
                <a:latin typeface="Arial"/>
                <a:cs typeface="Arial"/>
              </a:rPr>
              <a:t>68/5 </a:t>
            </a:r>
            <a:r>
              <a:rPr sz="2000" b="1" spc="-5" dirty="0">
                <a:latin typeface="Arial"/>
                <a:cs typeface="Arial"/>
              </a:rPr>
              <a:t>= </a:t>
            </a:r>
            <a:r>
              <a:rPr sz="2000" b="1" spc="-10" dirty="0">
                <a:latin typeface="Arial"/>
                <a:cs typeface="Arial"/>
              </a:rPr>
              <a:t>13.6</a:t>
            </a:r>
            <a:r>
              <a:rPr sz="2000" b="1" spc="165" dirty="0">
                <a:latin typeface="Arial"/>
                <a:cs typeface="Arial"/>
              </a:rPr>
              <a:t> </a:t>
            </a:r>
            <a:r>
              <a:rPr sz="2000" b="1" i="1" spc="-10" dirty="0">
                <a:latin typeface="Arial"/>
                <a:cs typeface="Arial"/>
              </a:rPr>
              <a:t>days</a:t>
            </a:r>
            <a:endParaRPr sz="2000">
              <a:latin typeface="Arial"/>
              <a:cs typeface="Arial"/>
            </a:endParaRPr>
          </a:p>
        </p:txBody>
      </p:sp>
      <p:sp>
        <p:nvSpPr>
          <p:cNvPr id="51" name="object 51"/>
          <p:cNvSpPr txBox="1"/>
          <p:nvPr/>
        </p:nvSpPr>
        <p:spPr>
          <a:xfrm>
            <a:off x="4269994" y="2960623"/>
            <a:ext cx="1702435" cy="299720"/>
          </a:xfrm>
          <a:prstGeom prst="rect">
            <a:avLst/>
          </a:prstGeom>
        </p:spPr>
        <p:txBody>
          <a:bodyPr vert="horz" wrap="square" lIns="0" tIns="12700" rIns="0" bIns="0" rtlCol="0">
            <a:spAutoFit/>
          </a:bodyPr>
          <a:lstStyle/>
          <a:p>
            <a:pPr marL="12700">
              <a:lnSpc>
                <a:spcPct val="100000"/>
              </a:lnSpc>
              <a:spcBef>
                <a:spcPts val="100"/>
              </a:spcBef>
            </a:pPr>
            <a:r>
              <a:rPr sz="1800" b="1" i="1" dirty="0">
                <a:latin typeface="Arial"/>
                <a:cs typeface="Arial"/>
              </a:rPr>
              <a:t>Number of</a:t>
            </a:r>
            <a:r>
              <a:rPr sz="1800" b="1" i="1" spc="-100" dirty="0">
                <a:latin typeface="Arial"/>
                <a:cs typeface="Arial"/>
              </a:rPr>
              <a:t> </a:t>
            </a:r>
            <a:r>
              <a:rPr sz="1800" b="1" i="1" dirty="0">
                <a:latin typeface="Arial"/>
                <a:cs typeface="Arial"/>
              </a:rPr>
              <a:t>jobs</a:t>
            </a:r>
            <a:endParaRPr sz="1800">
              <a:latin typeface="Arial"/>
              <a:cs typeface="Arial"/>
            </a:endParaRPr>
          </a:p>
        </p:txBody>
      </p:sp>
      <p:sp>
        <p:nvSpPr>
          <p:cNvPr id="52" name="object 52"/>
          <p:cNvSpPr/>
          <p:nvPr/>
        </p:nvSpPr>
        <p:spPr>
          <a:xfrm>
            <a:off x="3162300" y="2994660"/>
            <a:ext cx="3161030" cy="814069"/>
          </a:xfrm>
          <a:custGeom>
            <a:avLst/>
            <a:gdLst/>
            <a:ahLst/>
            <a:cxnLst/>
            <a:rect l="l" t="t" r="r" b="b"/>
            <a:pathLst>
              <a:path w="3161029" h="814070">
                <a:moveTo>
                  <a:pt x="3160776" y="0"/>
                </a:moveTo>
                <a:lnTo>
                  <a:pt x="771144" y="0"/>
                </a:lnTo>
              </a:path>
              <a:path w="3161029" h="814070">
                <a:moveTo>
                  <a:pt x="0" y="813815"/>
                </a:moveTo>
                <a:lnTo>
                  <a:pt x="2395728" y="813815"/>
                </a:lnTo>
              </a:path>
            </a:pathLst>
          </a:custGeom>
          <a:ln w="27432">
            <a:solidFill>
              <a:srgbClr val="000000"/>
            </a:solidFill>
          </a:ln>
        </p:spPr>
        <p:txBody>
          <a:bodyPr wrap="square" lIns="0" tIns="0" rIns="0" bIns="0" rtlCol="0"/>
          <a:lstStyle/>
          <a:p>
            <a:endParaRPr/>
          </a:p>
        </p:txBody>
      </p:sp>
      <p:sp>
        <p:nvSpPr>
          <p:cNvPr id="53" name="object 53"/>
          <p:cNvSpPr txBox="1"/>
          <p:nvPr/>
        </p:nvSpPr>
        <p:spPr>
          <a:xfrm>
            <a:off x="856894" y="4525213"/>
            <a:ext cx="2234565" cy="329565"/>
          </a:xfrm>
          <a:prstGeom prst="rect">
            <a:avLst/>
          </a:prstGeom>
        </p:spPr>
        <p:txBody>
          <a:bodyPr vert="horz" wrap="square" lIns="0" tIns="12065" rIns="0" bIns="0" rtlCol="0">
            <a:spAutoFit/>
          </a:bodyPr>
          <a:lstStyle/>
          <a:p>
            <a:pPr marL="12700">
              <a:lnSpc>
                <a:spcPct val="100000"/>
              </a:lnSpc>
              <a:spcBef>
                <a:spcPts val="95"/>
              </a:spcBef>
            </a:pPr>
            <a:r>
              <a:rPr sz="2000" b="1" i="1" spc="-5" dirty="0">
                <a:latin typeface="Arial"/>
                <a:cs typeface="Arial"/>
              </a:rPr>
              <a:t>jobs in the</a:t>
            </a:r>
            <a:r>
              <a:rPr sz="2000" b="1" i="1" spc="-55" dirty="0">
                <a:latin typeface="Arial"/>
                <a:cs typeface="Arial"/>
              </a:rPr>
              <a:t> </a:t>
            </a:r>
            <a:r>
              <a:rPr sz="2000" b="1" i="1" spc="-10" dirty="0">
                <a:latin typeface="Arial"/>
                <a:cs typeface="Arial"/>
              </a:rPr>
              <a:t>system</a:t>
            </a:r>
            <a:endParaRPr sz="2000">
              <a:latin typeface="Arial"/>
              <a:cs typeface="Arial"/>
            </a:endParaRPr>
          </a:p>
        </p:txBody>
      </p:sp>
      <p:sp>
        <p:nvSpPr>
          <p:cNvPr id="54" name="object 54"/>
          <p:cNvSpPr txBox="1"/>
          <p:nvPr/>
        </p:nvSpPr>
        <p:spPr>
          <a:xfrm>
            <a:off x="818794" y="3462273"/>
            <a:ext cx="7473950" cy="1109980"/>
          </a:xfrm>
          <a:prstGeom prst="rect">
            <a:avLst/>
          </a:prstGeom>
        </p:spPr>
        <p:txBody>
          <a:bodyPr vert="horz" wrap="square" lIns="0" tIns="12700" rIns="0" bIns="0" rtlCol="0">
            <a:spAutoFit/>
          </a:bodyPr>
          <a:lstStyle/>
          <a:p>
            <a:pPr marR="372110" algn="ctr">
              <a:lnSpc>
                <a:spcPts val="1795"/>
              </a:lnSpc>
              <a:spcBef>
                <a:spcPts val="100"/>
              </a:spcBef>
            </a:pPr>
            <a:r>
              <a:rPr sz="1800" b="1" i="1" spc="-15" dirty="0">
                <a:latin typeface="Arial"/>
                <a:cs typeface="Arial"/>
              </a:rPr>
              <a:t>Total </a:t>
            </a:r>
            <a:r>
              <a:rPr sz="1800" b="1" i="1" dirty="0">
                <a:latin typeface="Arial"/>
                <a:cs typeface="Arial"/>
              </a:rPr>
              <a:t>job </a:t>
            </a:r>
            <a:r>
              <a:rPr sz="1800" b="1" i="1" spc="-5" dirty="0">
                <a:latin typeface="Arial"/>
                <a:cs typeface="Arial"/>
              </a:rPr>
              <a:t>work</a:t>
            </a:r>
            <a:r>
              <a:rPr sz="1800" b="1" i="1" spc="-20" dirty="0">
                <a:latin typeface="Arial"/>
                <a:cs typeface="Arial"/>
              </a:rPr>
              <a:t> </a:t>
            </a:r>
            <a:r>
              <a:rPr sz="1800" b="1" i="1" dirty="0">
                <a:latin typeface="Arial"/>
                <a:cs typeface="Arial"/>
              </a:rPr>
              <a:t>time</a:t>
            </a:r>
            <a:endParaRPr sz="1800">
              <a:latin typeface="Arial"/>
              <a:cs typeface="Arial"/>
            </a:endParaRPr>
          </a:p>
          <a:p>
            <a:pPr marL="62865" algn="ctr">
              <a:lnSpc>
                <a:spcPts val="2035"/>
              </a:lnSpc>
            </a:pPr>
            <a:r>
              <a:rPr sz="2000" b="1" i="1" spc="-5" dirty="0">
                <a:latin typeface="Arial"/>
                <a:cs typeface="Arial"/>
              </a:rPr>
              <a:t>Utilization </a:t>
            </a:r>
            <a:r>
              <a:rPr sz="2000" b="1" spc="-5" dirty="0">
                <a:latin typeface="Arial"/>
                <a:cs typeface="Arial"/>
              </a:rPr>
              <a:t>= </a:t>
            </a:r>
            <a:r>
              <a:rPr sz="2700" b="1" i="1" baseline="-23148" dirty="0">
                <a:latin typeface="Arial"/>
                <a:cs typeface="Arial"/>
              </a:rPr>
              <a:t>Sum of total flow time </a:t>
            </a:r>
            <a:r>
              <a:rPr sz="2000" b="1" spc="-5" dirty="0">
                <a:latin typeface="Arial"/>
                <a:cs typeface="Arial"/>
              </a:rPr>
              <a:t>= </a:t>
            </a:r>
            <a:r>
              <a:rPr sz="2000" b="1" spc="-10" dirty="0">
                <a:latin typeface="Arial"/>
                <a:cs typeface="Arial"/>
              </a:rPr>
              <a:t>28/68 </a:t>
            </a:r>
            <a:r>
              <a:rPr sz="2000" b="1" spc="-5" dirty="0">
                <a:latin typeface="Arial"/>
                <a:cs typeface="Arial"/>
              </a:rPr>
              <a:t>=</a:t>
            </a:r>
            <a:r>
              <a:rPr sz="2000" b="1" spc="45" dirty="0">
                <a:latin typeface="Arial"/>
                <a:cs typeface="Arial"/>
              </a:rPr>
              <a:t> </a:t>
            </a:r>
            <a:r>
              <a:rPr sz="2000" b="1" spc="-10" dirty="0">
                <a:latin typeface="Arial"/>
                <a:cs typeface="Arial"/>
              </a:rPr>
              <a:t>41.2%</a:t>
            </a:r>
            <a:endParaRPr sz="2000">
              <a:latin typeface="Arial"/>
              <a:cs typeface="Arial"/>
            </a:endParaRPr>
          </a:p>
          <a:p>
            <a:pPr algn="ctr">
              <a:lnSpc>
                <a:spcPct val="100000"/>
              </a:lnSpc>
              <a:spcBef>
                <a:spcPts val="2305"/>
              </a:spcBef>
            </a:pPr>
            <a:r>
              <a:rPr sz="3000" b="1" i="1" spc="-15" baseline="-5555" dirty="0">
                <a:latin typeface="Arial"/>
                <a:cs typeface="Arial"/>
              </a:rPr>
              <a:t>Average </a:t>
            </a:r>
            <a:r>
              <a:rPr sz="3000" b="1" i="1" spc="-7" baseline="-5555" dirty="0">
                <a:latin typeface="Arial"/>
                <a:cs typeface="Arial"/>
              </a:rPr>
              <a:t>number of </a:t>
            </a:r>
            <a:r>
              <a:rPr sz="3000" b="1" spc="-7" baseline="-38888" dirty="0">
                <a:latin typeface="Arial"/>
                <a:cs typeface="Arial"/>
              </a:rPr>
              <a:t>=</a:t>
            </a:r>
            <a:r>
              <a:rPr sz="2000" b="1" u="heavy" spc="-5" dirty="0">
                <a:uFill>
                  <a:solidFill>
                    <a:srgbClr val="000000"/>
                  </a:solidFill>
                </a:uFill>
                <a:latin typeface="Arial"/>
                <a:cs typeface="Arial"/>
              </a:rPr>
              <a:t> </a:t>
            </a:r>
            <a:r>
              <a:rPr sz="1800" b="1" i="1" u="heavy" dirty="0">
                <a:uFill>
                  <a:solidFill>
                    <a:srgbClr val="000000"/>
                  </a:solidFill>
                </a:uFill>
                <a:latin typeface="Arial"/>
                <a:cs typeface="Arial"/>
              </a:rPr>
              <a:t>Sum of total flow time</a:t>
            </a:r>
            <a:r>
              <a:rPr sz="1800" b="1" i="1" dirty="0">
                <a:latin typeface="Arial"/>
                <a:cs typeface="Arial"/>
              </a:rPr>
              <a:t> </a:t>
            </a:r>
            <a:r>
              <a:rPr sz="3000" b="1" spc="-7" baseline="-38888" dirty="0">
                <a:latin typeface="Arial"/>
                <a:cs typeface="Arial"/>
              </a:rPr>
              <a:t>= 68/28 = 2.43</a:t>
            </a:r>
            <a:r>
              <a:rPr sz="3000" b="1" spc="-337" baseline="-38888" dirty="0">
                <a:latin typeface="Arial"/>
                <a:cs typeface="Arial"/>
              </a:rPr>
              <a:t> </a:t>
            </a:r>
            <a:r>
              <a:rPr sz="3000" b="1" i="1" spc="-7" baseline="-38888" dirty="0">
                <a:latin typeface="Arial"/>
                <a:cs typeface="Arial"/>
              </a:rPr>
              <a:t>jobs</a:t>
            </a:r>
            <a:endParaRPr sz="3000" baseline="-38888">
              <a:latin typeface="Arial"/>
              <a:cs typeface="Arial"/>
            </a:endParaRPr>
          </a:p>
        </p:txBody>
      </p:sp>
      <p:sp>
        <p:nvSpPr>
          <p:cNvPr id="55" name="object 55"/>
          <p:cNvSpPr txBox="1"/>
          <p:nvPr/>
        </p:nvSpPr>
        <p:spPr>
          <a:xfrm>
            <a:off x="3684523" y="4569332"/>
            <a:ext cx="2099310" cy="299720"/>
          </a:xfrm>
          <a:prstGeom prst="rect">
            <a:avLst/>
          </a:prstGeom>
        </p:spPr>
        <p:txBody>
          <a:bodyPr vert="horz" wrap="square" lIns="0" tIns="12700" rIns="0" bIns="0" rtlCol="0">
            <a:spAutoFit/>
          </a:bodyPr>
          <a:lstStyle/>
          <a:p>
            <a:pPr marL="12700">
              <a:lnSpc>
                <a:spcPct val="100000"/>
              </a:lnSpc>
              <a:spcBef>
                <a:spcPts val="100"/>
              </a:spcBef>
            </a:pPr>
            <a:r>
              <a:rPr sz="1800" b="1" i="1" spc="-15" dirty="0">
                <a:latin typeface="Arial"/>
                <a:cs typeface="Arial"/>
              </a:rPr>
              <a:t>Total </a:t>
            </a:r>
            <a:r>
              <a:rPr sz="1800" b="1" i="1" dirty="0">
                <a:latin typeface="Arial"/>
                <a:cs typeface="Arial"/>
              </a:rPr>
              <a:t>job </a:t>
            </a:r>
            <a:r>
              <a:rPr sz="1800" b="1" i="1" spc="-5" dirty="0">
                <a:latin typeface="Arial"/>
                <a:cs typeface="Arial"/>
              </a:rPr>
              <a:t>work</a:t>
            </a:r>
            <a:r>
              <a:rPr sz="1800" b="1" i="1" spc="-75" dirty="0">
                <a:latin typeface="Arial"/>
                <a:cs typeface="Arial"/>
              </a:rPr>
              <a:t> </a:t>
            </a:r>
            <a:r>
              <a:rPr sz="1800" b="1" i="1" dirty="0">
                <a:latin typeface="Arial"/>
                <a:cs typeface="Arial"/>
              </a:rPr>
              <a:t>time</a:t>
            </a:r>
            <a:endParaRPr sz="1800">
              <a:latin typeface="Arial"/>
              <a:cs typeface="Arial"/>
            </a:endParaRPr>
          </a:p>
        </p:txBody>
      </p:sp>
      <p:sp>
        <p:nvSpPr>
          <p:cNvPr id="56" name="object 56"/>
          <p:cNvSpPr txBox="1"/>
          <p:nvPr/>
        </p:nvSpPr>
        <p:spPr>
          <a:xfrm>
            <a:off x="1217472" y="5255209"/>
            <a:ext cx="2783840" cy="329565"/>
          </a:xfrm>
          <a:prstGeom prst="rect">
            <a:avLst/>
          </a:prstGeom>
        </p:spPr>
        <p:txBody>
          <a:bodyPr vert="horz" wrap="square" lIns="0" tIns="12065" rIns="0" bIns="0" rtlCol="0">
            <a:spAutoFit/>
          </a:bodyPr>
          <a:lstStyle/>
          <a:p>
            <a:pPr marL="12700">
              <a:lnSpc>
                <a:spcPct val="100000"/>
              </a:lnSpc>
              <a:spcBef>
                <a:spcPts val="95"/>
              </a:spcBef>
            </a:pPr>
            <a:r>
              <a:rPr sz="2000" b="1" i="1" spc="-10" dirty="0">
                <a:latin typeface="Arial"/>
                <a:cs typeface="Arial"/>
              </a:rPr>
              <a:t>Average </a:t>
            </a:r>
            <a:r>
              <a:rPr sz="2000" b="1" i="1" spc="-5" dirty="0">
                <a:latin typeface="Arial"/>
                <a:cs typeface="Arial"/>
              </a:rPr>
              <a:t>job lateness</a:t>
            </a:r>
            <a:r>
              <a:rPr sz="2000" b="1" i="1" spc="15" dirty="0">
                <a:latin typeface="Arial"/>
                <a:cs typeface="Arial"/>
              </a:rPr>
              <a:t> </a:t>
            </a:r>
            <a:r>
              <a:rPr sz="2000" b="1" spc="-5" dirty="0">
                <a:latin typeface="Arial"/>
                <a:cs typeface="Arial"/>
              </a:rPr>
              <a:t>=</a:t>
            </a:r>
            <a:endParaRPr sz="2000">
              <a:latin typeface="Arial"/>
              <a:cs typeface="Arial"/>
            </a:endParaRPr>
          </a:p>
        </p:txBody>
      </p:sp>
      <p:sp>
        <p:nvSpPr>
          <p:cNvPr id="57" name="object 57"/>
          <p:cNvSpPr txBox="1"/>
          <p:nvPr/>
        </p:nvSpPr>
        <p:spPr>
          <a:xfrm>
            <a:off x="6000741" y="5255209"/>
            <a:ext cx="1884045" cy="329565"/>
          </a:xfrm>
          <a:prstGeom prst="rect">
            <a:avLst/>
          </a:prstGeom>
        </p:spPr>
        <p:txBody>
          <a:bodyPr vert="horz" wrap="square" lIns="0" tIns="12065" rIns="0" bIns="0" rtlCol="0">
            <a:spAutoFit/>
          </a:bodyPr>
          <a:lstStyle/>
          <a:p>
            <a:pPr marL="12700">
              <a:lnSpc>
                <a:spcPct val="100000"/>
              </a:lnSpc>
              <a:spcBef>
                <a:spcPts val="95"/>
              </a:spcBef>
            </a:pPr>
            <a:r>
              <a:rPr sz="2000" b="1" spc="-5" dirty="0">
                <a:latin typeface="Arial"/>
                <a:cs typeface="Arial"/>
              </a:rPr>
              <a:t>= </a:t>
            </a:r>
            <a:r>
              <a:rPr sz="2000" b="1" spc="-10" dirty="0">
                <a:latin typeface="Arial"/>
                <a:cs typeface="Arial"/>
              </a:rPr>
              <a:t>6/5 </a:t>
            </a:r>
            <a:r>
              <a:rPr sz="2000" b="1" spc="-5" dirty="0">
                <a:latin typeface="Arial"/>
                <a:cs typeface="Arial"/>
              </a:rPr>
              <a:t>= </a:t>
            </a:r>
            <a:r>
              <a:rPr sz="2000" b="1" spc="-10" dirty="0">
                <a:latin typeface="Arial"/>
                <a:cs typeface="Arial"/>
              </a:rPr>
              <a:t>1.2</a:t>
            </a:r>
            <a:r>
              <a:rPr sz="2000" b="1" spc="-40" dirty="0">
                <a:latin typeface="Arial"/>
                <a:cs typeface="Arial"/>
              </a:rPr>
              <a:t> </a:t>
            </a:r>
            <a:r>
              <a:rPr sz="2000" b="1" i="1" spc="-5" dirty="0">
                <a:latin typeface="Arial"/>
                <a:cs typeface="Arial"/>
              </a:rPr>
              <a:t>days</a:t>
            </a:r>
            <a:endParaRPr sz="2000">
              <a:latin typeface="Arial"/>
              <a:cs typeface="Arial"/>
            </a:endParaRPr>
          </a:p>
        </p:txBody>
      </p:sp>
      <p:sp>
        <p:nvSpPr>
          <p:cNvPr id="58" name="object 58"/>
          <p:cNvSpPr txBox="1"/>
          <p:nvPr/>
        </p:nvSpPr>
        <p:spPr>
          <a:xfrm>
            <a:off x="4170426" y="5044667"/>
            <a:ext cx="1702435" cy="629920"/>
          </a:xfrm>
          <a:prstGeom prst="rect">
            <a:avLst/>
          </a:prstGeom>
        </p:spPr>
        <p:txBody>
          <a:bodyPr vert="horz" wrap="square" lIns="0" tIns="40640" rIns="0" bIns="0" rtlCol="0">
            <a:spAutoFit/>
          </a:bodyPr>
          <a:lstStyle/>
          <a:p>
            <a:pPr marL="58419">
              <a:lnSpc>
                <a:spcPct val="100000"/>
              </a:lnSpc>
              <a:spcBef>
                <a:spcPts val="320"/>
              </a:spcBef>
            </a:pPr>
            <a:r>
              <a:rPr sz="1800" b="1" i="1" spc="-15" dirty="0">
                <a:latin typeface="Arial"/>
                <a:cs typeface="Arial"/>
              </a:rPr>
              <a:t>Total </a:t>
            </a:r>
            <a:r>
              <a:rPr sz="1800" b="1" i="1" dirty="0">
                <a:latin typeface="Arial"/>
                <a:cs typeface="Arial"/>
              </a:rPr>
              <a:t>late</a:t>
            </a:r>
            <a:r>
              <a:rPr sz="1800" b="1" i="1" spc="-70" dirty="0">
                <a:latin typeface="Arial"/>
                <a:cs typeface="Arial"/>
              </a:rPr>
              <a:t> </a:t>
            </a:r>
            <a:r>
              <a:rPr sz="1800" b="1" i="1" dirty="0">
                <a:latin typeface="Arial"/>
                <a:cs typeface="Arial"/>
              </a:rPr>
              <a:t>days</a:t>
            </a:r>
            <a:endParaRPr sz="1800">
              <a:latin typeface="Arial"/>
              <a:cs typeface="Arial"/>
            </a:endParaRPr>
          </a:p>
          <a:p>
            <a:pPr marL="12700">
              <a:lnSpc>
                <a:spcPct val="100000"/>
              </a:lnSpc>
              <a:spcBef>
                <a:spcPts val="215"/>
              </a:spcBef>
            </a:pPr>
            <a:r>
              <a:rPr sz="1800" b="1" i="1" dirty="0">
                <a:latin typeface="Arial"/>
                <a:cs typeface="Arial"/>
              </a:rPr>
              <a:t>Number of</a:t>
            </a:r>
            <a:r>
              <a:rPr sz="1800" b="1" i="1" spc="-100" dirty="0">
                <a:latin typeface="Arial"/>
                <a:cs typeface="Arial"/>
              </a:rPr>
              <a:t> </a:t>
            </a:r>
            <a:r>
              <a:rPr sz="1800" b="1" i="1" dirty="0">
                <a:latin typeface="Arial"/>
                <a:cs typeface="Arial"/>
              </a:rPr>
              <a:t>jobs</a:t>
            </a:r>
            <a:endParaRPr sz="1800">
              <a:latin typeface="Arial"/>
              <a:cs typeface="Arial"/>
            </a:endParaRPr>
          </a:p>
        </p:txBody>
      </p:sp>
      <p:sp>
        <p:nvSpPr>
          <p:cNvPr id="59" name="object 59"/>
          <p:cNvSpPr/>
          <p:nvPr/>
        </p:nvSpPr>
        <p:spPr>
          <a:xfrm>
            <a:off x="4119371" y="5420867"/>
            <a:ext cx="1807845" cy="0"/>
          </a:xfrm>
          <a:custGeom>
            <a:avLst/>
            <a:gdLst/>
            <a:ahLst/>
            <a:cxnLst/>
            <a:rect l="l" t="t" r="r" b="b"/>
            <a:pathLst>
              <a:path w="1807845">
                <a:moveTo>
                  <a:pt x="0" y="0"/>
                </a:moveTo>
                <a:lnTo>
                  <a:pt x="1807464" y="0"/>
                </a:lnTo>
              </a:path>
            </a:pathLst>
          </a:custGeom>
          <a:ln w="27432">
            <a:solidFill>
              <a:srgbClr val="000000"/>
            </a:solidFill>
          </a:ln>
        </p:spPr>
        <p:txBody>
          <a:bodyPr wrap="square" lIns="0" tIns="0" rIns="0" bIns="0" rtlCol="0"/>
          <a:lstStyle/>
          <a:p>
            <a:endParaRPr/>
          </a:p>
        </p:txBody>
      </p:sp>
      <p:grpSp>
        <p:nvGrpSpPr>
          <p:cNvPr id="60" name="object 60"/>
          <p:cNvGrpSpPr/>
          <p:nvPr/>
        </p:nvGrpSpPr>
        <p:grpSpPr>
          <a:xfrm>
            <a:off x="12191" y="6437376"/>
            <a:ext cx="1628139" cy="411480"/>
            <a:chOff x="12191" y="6437376"/>
            <a:chExt cx="1628139" cy="411480"/>
          </a:xfrm>
        </p:grpSpPr>
        <p:sp>
          <p:nvSpPr>
            <p:cNvPr id="61" name="object 61"/>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62" name="object 62"/>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63" name="object 63"/>
          <p:cNvGrpSpPr/>
          <p:nvPr/>
        </p:nvGrpSpPr>
        <p:grpSpPr>
          <a:xfrm>
            <a:off x="7491983" y="6437376"/>
            <a:ext cx="1630680" cy="411480"/>
            <a:chOff x="7491983" y="6437376"/>
            <a:chExt cx="1630680" cy="411480"/>
          </a:xfrm>
        </p:grpSpPr>
        <p:sp>
          <p:nvSpPr>
            <p:cNvPr id="64" name="object 64"/>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65" name="object 65"/>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30</a:t>
            </a:r>
            <a:endParaRPr sz="900">
              <a:latin typeface="Arial"/>
              <a:cs typeface="Arial"/>
            </a:endParaRPr>
          </a:p>
        </p:txBody>
      </p:sp>
      <p:grpSp>
        <p:nvGrpSpPr>
          <p:cNvPr id="4" name="object 4"/>
          <p:cNvGrpSpPr/>
          <p:nvPr/>
        </p:nvGrpSpPr>
        <p:grpSpPr>
          <a:xfrm>
            <a:off x="685800" y="3771900"/>
            <a:ext cx="7766684" cy="889000"/>
            <a:chOff x="685800" y="3771900"/>
            <a:chExt cx="7766684" cy="889000"/>
          </a:xfrm>
        </p:grpSpPr>
        <p:sp>
          <p:nvSpPr>
            <p:cNvPr id="5" name="object 5"/>
            <p:cNvSpPr/>
            <p:nvPr/>
          </p:nvSpPr>
          <p:spPr>
            <a:xfrm>
              <a:off x="704088" y="4216400"/>
              <a:ext cx="7748270" cy="444500"/>
            </a:xfrm>
            <a:custGeom>
              <a:avLst/>
              <a:gdLst/>
              <a:ahLst/>
              <a:cxnLst/>
              <a:rect l="l" t="t" r="r" b="b"/>
              <a:pathLst>
                <a:path w="7748270" h="444500">
                  <a:moveTo>
                    <a:pt x="0" y="444500"/>
                  </a:moveTo>
                  <a:lnTo>
                    <a:pt x="7748015" y="444500"/>
                  </a:lnTo>
                  <a:lnTo>
                    <a:pt x="7748015" y="0"/>
                  </a:lnTo>
                  <a:lnTo>
                    <a:pt x="0" y="0"/>
                  </a:lnTo>
                  <a:lnTo>
                    <a:pt x="0" y="444500"/>
                  </a:lnTo>
                  <a:close/>
                </a:path>
              </a:pathLst>
            </a:custGeom>
            <a:solidFill>
              <a:srgbClr val="A4DF00"/>
            </a:solidFill>
          </p:spPr>
          <p:txBody>
            <a:bodyPr wrap="square" lIns="0" tIns="0" rIns="0" bIns="0" rtlCol="0"/>
            <a:lstStyle/>
            <a:p>
              <a:endParaRPr/>
            </a:p>
          </p:txBody>
        </p:sp>
        <p:sp>
          <p:nvSpPr>
            <p:cNvPr id="6" name="object 6"/>
            <p:cNvSpPr/>
            <p:nvPr/>
          </p:nvSpPr>
          <p:spPr>
            <a:xfrm>
              <a:off x="685800" y="3771899"/>
              <a:ext cx="1600200" cy="889000"/>
            </a:xfrm>
            <a:custGeom>
              <a:avLst/>
              <a:gdLst/>
              <a:ahLst/>
              <a:cxnLst/>
              <a:rect l="l" t="t" r="r" b="b"/>
              <a:pathLst>
                <a:path w="1600200" h="889000">
                  <a:moveTo>
                    <a:pt x="1600200" y="0"/>
                  </a:moveTo>
                  <a:lnTo>
                    <a:pt x="0" y="0"/>
                  </a:lnTo>
                  <a:lnTo>
                    <a:pt x="0" y="444500"/>
                  </a:lnTo>
                  <a:lnTo>
                    <a:pt x="0" y="889000"/>
                  </a:lnTo>
                  <a:lnTo>
                    <a:pt x="1600200" y="889000"/>
                  </a:lnTo>
                  <a:lnTo>
                    <a:pt x="1600200" y="444500"/>
                  </a:lnTo>
                  <a:lnTo>
                    <a:pt x="1600200" y="0"/>
                  </a:lnTo>
                  <a:close/>
                </a:path>
              </a:pathLst>
            </a:custGeom>
            <a:solidFill>
              <a:srgbClr val="F7FAFF"/>
            </a:solidFill>
          </p:spPr>
          <p:txBody>
            <a:bodyPr wrap="square" lIns="0" tIns="0" rIns="0" bIns="0" rtlCol="0"/>
            <a:lstStyle/>
            <a:p>
              <a:endParaRPr/>
            </a:p>
          </p:txBody>
        </p:sp>
      </p:grpSp>
      <p:sp>
        <p:nvSpPr>
          <p:cNvPr id="7" name="object 7"/>
          <p:cNvSpPr txBox="1">
            <a:spLocks noGrp="1"/>
          </p:cNvSpPr>
          <p:nvPr>
            <p:ph type="title"/>
          </p:nvPr>
        </p:nvSpPr>
        <p:spPr>
          <a:xfrm>
            <a:off x="687323" y="510540"/>
            <a:ext cx="7772400" cy="927100"/>
          </a:xfrm>
          <a:prstGeom prst="rect">
            <a:avLst/>
          </a:prstGeom>
          <a:solidFill>
            <a:srgbClr val="F7FAFF"/>
          </a:solidFill>
          <a:ln w="9144">
            <a:solidFill>
              <a:srgbClr val="000000"/>
            </a:solidFill>
          </a:ln>
        </p:spPr>
        <p:txBody>
          <a:bodyPr vert="horz" wrap="square" lIns="0" tIns="42545" rIns="0" bIns="0" rtlCol="0">
            <a:spAutoFit/>
          </a:bodyPr>
          <a:lstStyle/>
          <a:p>
            <a:pPr algn="ctr">
              <a:lnSpc>
                <a:spcPct val="100000"/>
              </a:lnSpc>
              <a:spcBef>
                <a:spcPts val="335"/>
              </a:spcBef>
            </a:pPr>
            <a:r>
              <a:rPr sz="4400" spc="-5" dirty="0"/>
              <a:t>Sequencing</a:t>
            </a:r>
            <a:r>
              <a:rPr sz="4400" spc="20" dirty="0"/>
              <a:t> </a:t>
            </a:r>
            <a:r>
              <a:rPr sz="4400" spc="-5" dirty="0"/>
              <a:t>Example</a:t>
            </a:r>
            <a:endParaRPr sz="4400"/>
          </a:p>
        </p:txBody>
      </p:sp>
      <p:sp>
        <p:nvSpPr>
          <p:cNvPr id="8" name="object 8"/>
          <p:cNvSpPr/>
          <p:nvPr/>
        </p:nvSpPr>
        <p:spPr>
          <a:xfrm>
            <a:off x="685800" y="5080000"/>
            <a:ext cx="6286500" cy="457200"/>
          </a:xfrm>
          <a:custGeom>
            <a:avLst/>
            <a:gdLst/>
            <a:ahLst/>
            <a:cxnLst/>
            <a:rect l="l" t="t" r="r" b="b"/>
            <a:pathLst>
              <a:path w="6286500" h="457200">
                <a:moveTo>
                  <a:pt x="6286500" y="0"/>
                </a:moveTo>
                <a:lnTo>
                  <a:pt x="4851400" y="0"/>
                </a:lnTo>
                <a:lnTo>
                  <a:pt x="3810000" y="0"/>
                </a:lnTo>
                <a:lnTo>
                  <a:pt x="1600200" y="0"/>
                </a:lnTo>
                <a:lnTo>
                  <a:pt x="0" y="0"/>
                </a:lnTo>
                <a:lnTo>
                  <a:pt x="0" y="457200"/>
                </a:lnTo>
                <a:lnTo>
                  <a:pt x="1600200" y="457200"/>
                </a:lnTo>
                <a:lnTo>
                  <a:pt x="3810000" y="457200"/>
                </a:lnTo>
                <a:lnTo>
                  <a:pt x="4851400" y="457200"/>
                </a:lnTo>
                <a:lnTo>
                  <a:pt x="6286500" y="457200"/>
                </a:lnTo>
                <a:lnTo>
                  <a:pt x="6286500" y="0"/>
                </a:lnTo>
                <a:close/>
              </a:path>
            </a:pathLst>
          </a:custGeom>
          <a:solidFill>
            <a:srgbClr val="F7FAFF"/>
          </a:solidFill>
        </p:spPr>
        <p:txBody>
          <a:bodyPr wrap="square" lIns="0" tIns="0" rIns="0" bIns="0" rtlCol="0"/>
          <a:lstStyle/>
          <a:p>
            <a:endParaRPr/>
          </a:p>
        </p:txBody>
      </p:sp>
      <p:graphicFrame>
        <p:nvGraphicFramePr>
          <p:cNvPr id="9" name="object 9"/>
          <p:cNvGraphicFramePr>
            <a:graphicFrameLocks noGrp="1"/>
          </p:cNvGraphicFramePr>
          <p:nvPr/>
        </p:nvGraphicFramePr>
        <p:xfrm>
          <a:off x="701801" y="2434678"/>
          <a:ext cx="7758428" cy="3460420"/>
        </p:xfrm>
        <a:graphic>
          <a:graphicData uri="http://schemas.openxmlformats.org/drawingml/2006/table">
            <a:tbl>
              <a:tblPr firstRow="1" bandRow="1">
                <a:tableStyleId>{2D5ABB26-0587-4C30-8999-92F81FD0307C}</a:tableStyleId>
              </a:tblPr>
              <a:tblGrid>
                <a:gridCol w="1584325">
                  <a:extLst>
                    <a:ext uri="{9D8B030D-6E8A-4147-A177-3AD203B41FA5}">
                      <a16:colId xmlns:a16="http://schemas.microsoft.com/office/drawing/2014/main" val="20000"/>
                    </a:ext>
                  </a:extLst>
                </a:gridCol>
                <a:gridCol w="2134870">
                  <a:extLst>
                    <a:ext uri="{9D8B030D-6E8A-4147-A177-3AD203B41FA5}">
                      <a16:colId xmlns:a16="http://schemas.microsoft.com/office/drawing/2014/main" val="20001"/>
                    </a:ext>
                  </a:extLst>
                </a:gridCol>
                <a:gridCol w="1116964">
                  <a:extLst>
                    <a:ext uri="{9D8B030D-6E8A-4147-A177-3AD203B41FA5}">
                      <a16:colId xmlns:a16="http://schemas.microsoft.com/office/drawing/2014/main" val="20002"/>
                    </a:ext>
                  </a:extLst>
                </a:gridCol>
                <a:gridCol w="1435735">
                  <a:extLst>
                    <a:ext uri="{9D8B030D-6E8A-4147-A177-3AD203B41FA5}">
                      <a16:colId xmlns:a16="http://schemas.microsoft.com/office/drawing/2014/main" val="20003"/>
                    </a:ext>
                  </a:extLst>
                </a:gridCol>
                <a:gridCol w="1486534">
                  <a:extLst>
                    <a:ext uri="{9D8B030D-6E8A-4147-A177-3AD203B41FA5}">
                      <a16:colId xmlns:a16="http://schemas.microsoft.com/office/drawing/2014/main" val="20004"/>
                    </a:ext>
                  </a:extLst>
                </a:gridCol>
              </a:tblGrid>
              <a:tr h="880021">
                <a:tc>
                  <a:txBody>
                    <a:bodyPr/>
                    <a:lstStyle/>
                    <a:p>
                      <a:pPr marR="7620" algn="ctr">
                        <a:lnSpc>
                          <a:spcPts val="2280"/>
                        </a:lnSpc>
                        <a:spcBef>
                          <a:spcPts val="1960"/>
                        </a:spcBef>
                      </a:pPr>
                      <a:r>
                        <a:rPr sz="2000" i="1" spc="-5" dirty="0">
                          <a:latin typeface="Arial"/>
                          <a:cs typeface="Arial"/>
                        </a:rPr>
                        <a:t>Job</a:t>
                      </a:r>
                      <a:endParaRPr sz="2000">
                        <a:latin typeface="Arial"/>
                        <a:cs typeface="Arial"/>
                      </a:endParaRPr>
                    </a:p>
                    <a:p>
                      <a:pPr marR="6350" algn="ctr">
                        <a:lnSpc>
                          <a:spcPts val="2280"/>
                        </a:lnSpc>
                      </a:pPr>
                      <a:r>
                        <a:rPr sz="2000" i="1" spc="-10" dirty="0">
                          <a:latin typeface="Arial"/>
                          <a:cs typeface="Arial"/>
                        </a:rPr>
                        <a:t>Sequence</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394335" marR="310515" indent="635" algn="ctr">
                        <a:lnSpc>
                          <a:spcPts val="2160"/>
                        </a:lnSpc>
                        <a:spcBef>
                          <a:spcPts val="75"/>
                        </a:spcBef>
                      </a:pPr>
                      <a:r>
                        <a:rPr sz="2000" i="1" spc="-5" dirty="0">
                          <a:latin typeface="Arial"/>
                          <a:cs typeface="Arial"/>
                        </a:rPr>
                        <a:t>Job </a:t>
                      </a:r>
                      <a:r>
                        <a:rPr sz="2000" i="1" spc="5" dirty="0">
                          <a:latin typeface="Arial"/>
                          <a:cs typeface="Arial"/>
                        </a:rPr>
                        <a:t>Work  (</a:t>
                      </a:r>
                      <a:r>
                        <a:rPr sz="2000" i="1" spc="-10" dirty="0">
                          <a:latin typeface="Arial"/>
                          <a:cs typeface="Arial"/>
                        </a:rPr>
                        <a:t>P</a:t>
                      </a:r>
                      <a:r>
                        <a:rPr sz="2000" i="1" spc="5" dirty="0">
                          <a:latin typeface="Arial"/>
                          <a:cs typeface="Arial"/>
                        </a:rPr>
                        <a:t>r</a:t>
                      </a:r>
                      <a:r>
                        <a:rPr sz="2000" i="1" dirty="0">
                          <a:latin typeface="Arial"/>
                          <a:cs typeface="Arial"/>
                        </a:rPr>
                        <a:t>oce</a:t>
                      </a:r>
                      <a:r>
                        <a:rPr sz="2000" i="1" spc="10" dirty="0">
                          <a:latin typeface="Arial"/>
                          <a:cs typeface="Arial"/>
                        </a:rPr>
                        <a:t>s</a:t>
                      </a:r>
                      <a:r>
                        <a:rPr sz="2000" i="1" spc="5" dirty="0">
                          <a:latin typeface="Arial"/>
                          <a:cs typeface="Arial"/>
                        </a:rPr>
                        <a:t>s</a:t>
                      </a:r>
                      <a:r>
                        <a:rPr sz="2000" i="1" spc="-10" dirty="0">
                          <a:latin typeface="Arial"/>
                          <a:cs typeface="Arial"/>
                        </a:rPr>
                        <a:t>i</a:t>
                      </a:r>
                      <a:r>
                        <a:rPr sz="2000" i="1" dirty="0">
                          <a:latin typeface="Arial"/>
                          <a:cs typeface="Arial"/>
                        </a:rPr>
                        <a:t>n</a:t>
                      </a:r>
                      <a:r>
                        <a:rPr sz="2000" i="1" spc="-10" dirty="0">
                          <a:latin typeface="Arial"/>
                          <a:cs typeface="Arial"/>
                        </a:rPr>
                        <a:t>g</a:t>
                      </a:r>
                      <a:r>
                        <a:rPr sz="2000" i="1" dirty="0">
                          <a:latin typeface="Arial"/>
                          <a:cs typeface="Arial"/>
                        </a:rPr>
                        <a:t>)  </a:t>
                      </a:r>
                      <a:r>
                        <a:rPr sz="2000" i="1" spc="-15" dirty="0">
                          <a:latin typeface="Arial"/>
                          <a:cs typeface="Arial"/>
                        </a:rPr>
                        <a:t>Time</a:t>
                      </a:r>
                      <a:endParaRPr sz="2000">
                        <a:latin typeface="Arial"/>
                        <a:cs typeface="Arial"/>
                      </a:endParaRPr>
                    </a:p>
                  </a:txBody>
                  <a:tcPr marL="0" marR="0" marT="9525" marB="0">
                    <a:lnB w="38100">
                      <a:solidFill>
                        <a:srgbClr val="000000"/>
                      </a:solidFill>
                      <a:prstDash val="solid"/>
                    </a:lnB>
                    <a:solidFill>
                      <a:srgbClr val="F7FAFF"/>
                    </a:solidFill>
                  </a:tcPr>
                </a:tc>
                <a:tc>
                  <a:txBody>
                    <a:bodyPr/>
                    <a:lstStyle/>
                    <a:p>
                      <a:pPr marL="330200">
                        <a:lnSpc>
                          <a:spcPts val="2280"/>
                        </a:lnSpc>
                        <a:spcBef>
                          <a:spcPts val="1960"/>
                        </a:spcBef>
                      </a:pPr>
                      <a:r>
                        <a:rPr sz="2000" i="1" spc="-10" dirty="0">
                          <a:latin typeface="Arial"/>
                          <a:cs typeface="Arial"/>
                        </a:rPr>
                        <a:t>Flow</a:t>
                      </a:r>
                      <a:endParaRPr sz="2000">
                        <a:latin typeface="Arial"/>
                        <a:cs typeface="Arial"/>
                      </a:endParaRPr>
                    </a:p>
                    <a:p>
                      <a:pPr marL="318135">
                        <a:lnSpc>
                          <a:spcPts val="2280"/>
                        </a:lnSpc>
                      </a:pPr>
                      <a:r>
                        <a:rPr sz="2000" i="1" spc="-15" dirty="0">
                          <a:latin typeface="Arial"/>
                          <a:cs typeface="Arial"/>
                        </a:rPr>
                        <a:t>Time</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635" algn="ctr">
                        <a:lnSpc>
                          <a:spcPts val="2280"/>
                        </a:lnSpc>
                        <a:spcBef>
                          <a:spcPts val="1960"/>
                        </a:spcBef>
                      </a:pPr>
                      <a:r>
                        <a:rPr sz="2000" i="1" spc="-5" dirty="0">
                          <a:latin typeface="Arial"/>
                          <a:cs typeface="Arial"/>
                        </a:rPr>
                        <a:t>Job</a:t>
                      </a:r>
                      <a:r>
                        <a:rPr sz="2000" i="1" spc="-30" dirty="0">
                          <a:latin typeface="Arial"/>
                          <a:cs typeface="Arial"/>
                        </a:rPr>
                        <a:t> </a:t>
                      </a:r>
                      <a:r>
                        <a:rPr sz="2000" i="1" spc="-5" dirty="0">
                          <a:latin typeface="Arial"/>
                          <a:cs typeface="Arial"/>
                        </a:rPr>
                        <a:t>Due</a:t>
                      </a:r>
                      <a:endParaRPr sz="2000">
                        <a:latin typeface="Arial"/>
                        <a:cs typeface="Arial"/>
                      </a:endParaRPr>
                    </a:p>
                    <a:p>
                      <a:pPr marL="635" algn="ctr">
                        <a:lnSpc>
                          <a:spcPts val="2280"/>
                        </a:lnSpc>
                      </a:pPr>
                      <a:r>
                        <a:rPr sz="2000" i="1" spc="-5" dirty="0">
                          <a:latin typeface="Arial"/>
                          <a:cs typeface="Arial"/>
                        </a:rPr>
                        <a:t>Date</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2540" algn="ctr">
                        <a:lnSpc>
                          <a:spcPts val="2280"/>
                        </a:lnSpc>
                        <a:spcBef>
                          <a:spcPts val="1960"/>
                        </a:spcBef>
                      </a:pPr>
                      <a:r>
                        <a:rPr sz="2000" i="1" spc="-5" dirty="0">
                          <a:latin typeface="Arial"/>
                          <a:cs typeface="Arial"/>
                        </a:rPr>
                        <a:t>Job</a:t>
                      </a:r>
                      <a:endParaRPr sz="2000">
                        <a:latin typeface="Arial"/>
                        <a:cs typeface="Arial"/>
                      </a:endParaRPr>
                    </a:p>
                    <a:p>
                      <a:pPr marL="3810" algn="ctr">
                        <a:lnSpc>
                          <a:spcPts val="2280"/>
                        </a:lnSpc>
                      </a:pPr>
                      <a:r>
                        <a:rPr sz="2000" i="1" spc="-5" dirty="0">
                          <a:latin typeface="Arial"/>
                          <a:cs typeface="Arial"/>
                        </a:rPr>
                        <a:t>Lateness</a:t>
                      </a:r>
                      <a:endParaRPr sz="2000">
                        <a:latin typeface="Arial"/>
                        <a:cs typeface="Arial"/>
                      </a:endParaRPr>
                    </a:p>
                  </a:txBody>
                  <a:tcPr marL="0" marR="0" marT="248920" marB="0">
                    <a:lnB w="38100">
                      <a:solidFill>
                        <a:srgbClr val="000000"/>
                      </a:solidFill>
                      <a:prstDash val="solid"/>
                    </a:lnB>
                    <a:solidFill>
                      <a:srgbClr val="F7FAFF"/>
                    </a:solidFill>
                  </a:tcPr>
                </a:tc>
                <a:extLst>
                  <a:ext uri="{0D108BD9-81ED-4DB2-BD59-A6C34878D82A}">
                    <a16:rowId xmlns:a16="http://schemas.microsoft.com/office/drawing/2014/main" val="10000"/>
                  </a:ext>
                </a:extLst>
              </a:tr>
              <a:tr h="447113">
                <a:tc>
                  <a:txBody>
                    <a:bodyPr/>
                    <a:lstStyle/>
                    <a:p>
                      <a:pPr marL="701040">
                        <a:lnSpc>
                          <a:spcPct val="100000"/>
                        </a:lnSpc>
                        <a:spcBef>
                          <a:spcPts val="434"/>
                        </a:spcBef>
                      </a:pPr>
                      <a:r>
                        <a:rPr sz="2000" i="1" dirty="0">
                          <a:latin typeface="Arial"/>
                          <a:cs typeface="Arial"/>
                        </a:rPr>
                        <a:t>E</a:t>
                      </a:r>
                      <a:endParaRPr sz="2000">
                        <a:latin typeface="Arial"/>
                        <a:cs typeface="Arial"/>
                      </a:endParaRPr>
                    </a:p>
                  </a:txBody>
                  <a:tcPr marL="0" marR="0" marT="55244" marB="0">
                    <a:lnT w="38100">
                      <a:solidFill>
                        <a:srgbClr val="000000"/>
                      </a:solidFill>
                      <a:prstDash val="solid"/>
                    </a:lnT>
                    <a:solidFill>
                      <a:srgbClr val="F7FAFF"/>
                    </a:solidFill>
                  </a:tcPr>
                </a:tc>
                <a:tc>
                  <a:txBody>
                    <a:bodyPr/>
                    <a:lstStyle/>
                    <a:p>
                      <a:pPr marR="890269" algn="r">
                        <a:lnSpc>
                          <a:spcPct val="100000"/>
                        </a:lnSpc>
                        <a:spcBef>
                          <a:spcPts val="434"/>
                        </a:spcBef>
                      </a:pPr>
                      <a:r>
                        <a:rPr sz="2000" dirty="0">
                          <a:latin typeface="Arial"/>
                          <a:cs typeface="Arial"/>
                        </a:rPr>
                        <a:t>9</a:t>
                      </a:r>
                      <a:endParaRPr sz="2000">
                        <a:latin typeface="Arial"/>
                        <a:cs typeface="Arial"/>
                      </a:endParaRPr>
                    </a:p>
                  </a:txBody>
                  <a:tcPr marL="0" marR="0" marT="55244" marB="0">
                    <a:lnT w="38100">
                      <a:solidFill>
                        <a:srgbClr val="000000"/>
                      </a:solidFill>
                      <a:prstDash val="solid"/>
                    </a:lnT>
                    <a:solidFill>
                      <a:srgbClr val="F7FAFF"/>
                    </a:solidFill>
                  </a:tcPr>
                </a:tc>
                <a:tc>
                  <a:txBody>
                    <a:bodyPr/>
                    <a:lstStyle/>
                    <a:p>
                      <a:pPr marR="366395" algn="r">
                        <a:lnSpc>
                          <a:spcPct val="100000"/>
                        </a:lnSpc>
                        <a:spcBef>
                          <a:spcPts val="434"/>
                        </a:spcBef>
                      </a:pPr>
                      <a:r>
                        <a:rPr sz="2000" dirty="0">
                          <a:latin typeface="Arial"/>
                          <a:cs typeface="Arial"/>
                        </a:rPr>
                        <a:t>9</a:t>
                      </a:r>
                      <a:endParaRPr sz="2000">
                        <a:latin typeface="Arial"/>
                        <a:cs typeface="Arial"/>
                      </a:endParaRPr>
                    </a:p>
                  </a:txBody>
                  <a:tcPr marL="0" marR="0" marT="55244" marB="0">
                    <a:lnT w="38100">
                      <a:solidFill>
                        <a:srgbClr val="000000"/>
                      </a:solidFill>
                      <a:prstDash val="solid"/>
                    </a:lnT>
                    <a:solidFill>
                      <a:srgbClr val="F7FAFF"/>
                    </a:solidFill>
                  </a:tcPr>
                </a:tc>
                <a:tc>
                  <a:txBody>
                    <a:bodyPr/>
                    <a:lstStyle/>
                    <a:p>
                      <a:pPr marR="571500" algn="r">
                        <a:lnSpc>
                          <a:spcPct val="100000"/>
                        </a:lnSpc>
                        <a:spcBef>
                          <a:spcPts val="434"/>
                        </a:spcBef>
                      </a:pPr>
                      <a:r>
                        <a:rPr sz="2000" spc="-5" dirty="0">
                          <a:latin typeface="Arial"/>
                          <a:cs typeface="Arial"/>
                        </a:rPr>
                        <a:t>23</a:t>
                      </a:r>
                      <a:endParaRPr sz="2000">
                        <a:latin typeface="Arial"/>
                        <a:cs typeface="Arial"/>
                      </a:endParaRPr>
                    </a:p>
                  </a:txBody>
                  <a:tcPr marL="0" marR="0" marT="55244" marB="0">
                    <a:lnT w="38100">
                      <a:solidFill>
                        <a:srgbClr val="000000"/>
                      </a:solidFill>
                      <a:prstDash val="solid"/>
                    </a:lnT>
                    <a:solidFill>
                      <a:srgbClr val="F7FAFF"/>
                    </a:solidFill>
                  </a:tcPr>
                </a:tc>
                <a:tc>
                  <a:txBody>
                    <a:bodyPr/>
                    <a:lstStyle/>
                    <a:p>
                      <a:pPr marR="520700" algn="r">
                        <a:lnSpc>
                          <a:spcPct val="100000"/>
                        </a:lnSpc>
                        <a:spcBef>
                          <a:spcPts val="434"/>
                        </a:spcBef>
                      </a:pPr>
                      <a:r>
                        <a:rPr sz="2000" dirty="0">
                          <a:latin typeface="Arial"/>
                          <a:cs typeface="Arial"/>
                        </a:rPr>
                        <a:t>0</a:t>
                      </a:r>
                      <a:endParaRPr sz="2000">
                        <a:latin typeface="Arial"/>
                        <a:cs typeface="Arial"/>
                      </a:endParaRPr>
                    </a:p>
                  </a:txBody>
                  <a:tcPr marL="0" marR="0" marT="55244" marB="0">
                    <a:lnT w="38100">
                      <a:solidFill>
                        <a:srgbClr val="000000"/>
                      </a:solidFill>
                      <a:prstDash val="solid"/>
                    </a:lnT>
                    <a:solidFill>
                      <a:srgbClr val="F7FAFF"/>
                    </a:solidFill>
                  </a:tcPr>
                </a:tc>
                <a:extLst>
                  <a:ext uri="{0D108BD9-81ED-4DB2-BD59-A6C34878D82A}">
                    <a16:rowId xmlns:a16="http://schemas.microsoft.com/office/drawing/2014/main" val="10001"/>
                  </a:ext>
                </a:extLst>
              </a:tr>
              <a:tr h="447982">
                <a:tc>
                  <a:txBody>
                    <a:bodyPr/>
                    <a:lstStyle/>
                    <a:p>
                      <a:pPr marL="692150">
                        <a:lnSpc>
                          <a:spcPct val="100000"/>
                        </a:lnSpc>
                        <a:spcBef>
                          <a:spcPts val="465"/>
                        </a:spcBef>
                      </a:pPr>
                      <a:r>
                        <a:rPr sz="2000" i="1" dirty="0">
                          <a:latin typeface="Arial"/>
                          <a:cs typeface="Arial"/>
                        </a:rPr>
                        <a:t>C</a:t>
                      </a:r>
                      <a:endParaRPr sz="2000">
                        <a:latin typeface="Arial"/>
                        <a:cs typeface="Arial"/>
                      </a:endParaRPr>
                    </a:p>
                  </a:txBody>
                  <a:tcPr marL="0" marR="0" marT="59055" marB="0">
                    <a:lnB w="19050">
                      <a:solidFill>
                        <a:srgbClr val="A4DF00"/>
                      </a:solidFill>
                      <a:prstDash val="solid"/>
                    </a:lnB>
                    <a:solidFill>
                      <a:srgbClr val="F7FAFF"/>
                    </a:solidFill>
                  </a:tcPr>
                </a:tc>
                <a:tc>
                  <a:txBody>
                    <a:bodyPr/>
                    <a:lstStyle/>
                    <a:p>
                      <a:pPr marR="890269" algn="r">
                        <a:lnSpc>
                          <a:spcPct val="100000"/>
                        </a:lnSpc>
                        <a:spcBef>
                          <a:spcPts val="465"/>
                        </a:spcBef>
                      </a:pPr>
                      <a:r>
                        <a:rPr sz="2000" dirty="0">
                          <a:latin typeface="Arial"/>
                          <a:cs typeface="Arial"/>
                        </a:rPr>
                        <a:t>8</a:t>
                      </a:r>
                      <a:endParaRPr sz="2000">
                        <a:latin typeface="Arial"/>
                        <a:cs typeface="Arial"/>
                      </a:endParaRPr>
                    </a:p>
                  </a:txBody>
                  <a:tcPr marL="0" marR="0" marT="59055" marB="0">
                    <a:solidFill>
                      <a:srgbClr val="F7FAFF"/>
                    </a:solidFill>
                  </a:tcPr>
                </a:tc>
                <a:tc>
                  <a:txBody>
                    <a:bodyPr/>
                    <a:lstStyle/>
                    <a:p>
                      <a:pPr marR="367030" algn="r">
                        <a:lnSpc>
                          <a:spcPct val="100000"/>
                        </a:lnSpc>
                        <a:spcBef>
                          <a:spcPts val="465"/>
                        </a:spcBef>
                      </a:pPr>
                      <a:r>
                        <a:rPr sz="2000" spc="-5" dirty="0">
                          <a:latin typeface="Arial"/>
                          <a:cs typeface="Arial"/>
                        </a:rPr>
                        <a:t>17</a:t>
                      </a:r>
                      <a:endParaRPr sz="2000">
                        <a:latin typeface="Arial"/>
                        <a:cs typeface="Arial"/>
                      </a:endParaRPr>
                    </a:p>
                  </a:txBody>
                  <a:tcPr marL="0" marR="0" marT="59055" marB="0">
                    <a:solidFill>
                      <a:srgbClr val="F7FAFF"/>
                    </a:solidFill>
                  </a:tcPr>
                </a:tc>
                <a:tc>
                  <a:txBody>
                    <a:bodyPr/>
                    <a:lstStyle/>
                    <a:p>
                      <a:pPr marR="571500" algn="r">
                        <a:lnSpc>
                          <a:spcPct val="100000"/>
                        </a:lnSpc>
                        <a:spcBef>
                          <a:spcPts val="465"/>
                        </a:spcBef>
                      </a:pPr>
                      <a:r>
                        <a:rPr sz="2000" spc="-5" dirty="0">
                          <a:latin typeface="Arial"/>
                          <a:cs typeface="Arial"/>
                        </a:rPr>
                        <a:t>18</a:t>
                      </a:r>
                      <a:endParaRPr sz="2000">
                        <a:latin typeface="Arial"/>
                        <a:cs typeface="Arial"/>
                      </a:endParaRPr>
                    </a:p>
                  </a:txBody>
                  <a:tcPr marL="0" marR="0" marT="59055" marB="0">
                    <a:solidFill>
                      <a:srgbClr val="F7FAFF"/>
                    </a:solidFill>
                  </a:tcPr>
                </a:tc>
                <a:tc>
                  <a:txBody>
                    <a:bodyPr/>
                    <a:lstStyle/>
                    <a:p>
                      <a:pPr marR="520700" algn="r">
                        <a:lnSpc>
                          <a:spcPct val="100000"/>
                        </a:lnSpc>
                        <a:spcBef>
                          <a:spcPts val="465"/>
                        </a:spcBef>
                      </a:pPr>
                      <a:r>
                        <a:rPr sz="2000" dirty="0">
                          <a:latin typeface="Arial"/>
                          <a:cs typeface="Arial"/>
                        </a:rPr>
                        <a:t>0</a:t>
                      </a:r>
                      <a:endParaRPr sz="2000">
                        <a:latin typeface="Arial"/>
                        <a:cs typeface="Arial"/>
                      </a:endParaRPr>
                    </a:p>
                  </a:txBody>
                  <a:tcPr marL="0" marR="0" marT="59055" marB="0">
                    <a:solidFill>
                      <a:srgbClr val="F7FAFF"/>
                    </a:solidFill>
                  </a:tcPr>
                </a:tc>
                <a:extLst>
                  <a:ext uri="{0D108BD9-81ED-4DB2-BD59-A6C34878D82A}">
                    <a16:rowId xmlns:a16="http://schemas.microsoft.com/office/drawing/2014/main" val="10002"/>
                  </a:ext>
                </a:extLst>
              </a:tr>
              <a:tr h="451103">
                <a:tc>
                  <a:txBody>
                    <a:bodyPr/>
                    <a:lstStyle/>
                    <a:p>
                      <a:pPr marL="717550">
                        <a:lnSpc>
                          <a:spcPct val="100000"/>
                        </a:lnSpc>
                        <a:spcBef>
                          <a:spcPts val="440"/>
                        </a:spcBef>
                      </a:pPr>
                      <a:r>
                        <a:rPr sz="2000" i="1" dirty="0">
                          <a:latin typeface="Arial"/>
                          <a:cs typeface="Arial"/>
                        </a:rPr>
                        <a:t>A</a:t>
                      </a:r>
                      <a:endParaRPr sz="2000">
                        <a:latin typeface="Arial"/>
                        <a:cs typeface="Arial"/>
                      </a:endParaRPr>
                    </a:p>
                  </a:txBody>
                  <a:tcPr marL="0" marR="0" marT="55880" marB="0">
                    <a:lnT w="19050">
                      <a:solidFill>
                        <a:srgbClr val="A4DF00"/>
                      </a:solidFill>
                      <a:prstDash val="solid"/>
                    </a:lnT>
                  </a:tcPr>
                </a:tc>
                <a:tc>
                  <a:txBody>
                    <a:bodyPr/>
                    <a:lstStyle/>
                    <a:p>
                      <a:pPr marR="890269" algn="r">
                        <a:lnSpc>
                          <a:spcPct val="100000"/>
                        </a:lnSpc>
                        <a:spcBef>
                          <a:spcPts val="440"/>
                        </a:spcBef>
                      </a:pPr>
                      <a:r>
                        <a:rPr sz="2000" dirty="0">
                          <a:latin typeface="Arial"/>
                          <a:cs typeface="Arial"/>
                        </a:rPr>
                        <a:t>6</a:t>
                      </a:r>
                      <a:endParaRPr sz="2000">
                        <a:latin typeface="Arial"/>
                        <a:cs typeface="Arial"/>
                      </a:endParaRPr>
                    </a:p>
                  </a:txBody>
                  <a:tcPr marL="0" marR="0" marT="55880" marB="0">
                    <a:solidFill>
                      <a:srgbClr val="F7FAFF"/>
                    </a:solidFill>
                  </a:tcPr>
                </a:tc>
                <a:tc>
                  <a:txBody>
                    <a:bodyPr/>
                    <a:lstStyle/>
                    <a:p>
                      <a:pPr marR="367030" algn="r">
                        <a:lnSpc>
                          <a:spcPct val="100000"/>
                        </a:lnSpc>
                        <a:spcBef>
                          <a:spcPts val="440"/>
                        </a:spcBef>
                      </a:pPr>
                      <a:r>
                        <a:rPr sz="2000" spc="-5" dirty="0">
                          <a:latin typeface="Arial"/>
                          <a:cs typeface="Arial"/>
                        </a:rPr>
                        <a:t>23</a:t>
                      </a:r>
                      <a:endParaRPr sz="2000">
                        <a:latin typeface="Arial"/>
                        <a:cs typeface="Arial"/>
                      </a:endParaRPr>
                    </a:p>
                  </a:txBody>
                  <a:tcPr marL="0" marR="0" marT="55880" marB="0">
                    <a:solidFill>
                      <a:srgbClr val="F7FAFF"/>
                    </a:solidFill>
                  </a:tcPr>
                </a:tc>
                <a:tc>
                  <a:txBody>
                    <a:bodyPr/>
                    <a:lstStyle/>
                    <a:p>
                      <a:pPr marR="570865" algn="r">
                        <a:lnSpc>
                          <a:spcPct val="100000"/>
                        </a:lnSpc>
                        <a:spcBef>
                          <a:spcPts val="440"/>
                        </a:spcBef>
                      </a:pPr>
                      <a:r>
                        <a:rPr sz="2000" dirty="0">
                          <a:latin typeface="Arial"/>
                          <a:cs typeface="Arial"/>
                        </a:rPr>
                        <a:t>8</a:t>
                      </a:r>
                      <a:endParaRPr sz="2000">
                        <a:latin typeface="Arial"/>
                        <a:cs typeface="Arial"/>
                      </a:endParaRPr>
                    </a:p>
                  </a:txBody>
                  <a:tcPr marL="0" marR="0" marT="55880" marB="0">
                    <a:solidFill>
                      <a:srgbClr val="F7FAFF"/>
                    </a:solidFill>
                  </a:tcPr>
                </a:tc>
                <a:tc>
                  <a:txBody>
                    <a:bodyPr/>
                    <a:lstStyle/>
                    <a:p>
                      <a:pPr marR="521334" algn="r">
                        <a:lnSpc>
                          <a:spcPct val="100000"/>
                        </a:lnSpc>
                        <a:spcBef>
                          <a:spcPts val="440"/>
                        </a:spcBef>
                      </a:pPr>
                      <a:r>
                        <a:rPr sz="2000" spc="-5" dirty="0">
                          <a:latin typeface="Arial"/>
                          <a:cs typeface="Arial"/>
                        </a:rPr>
                        <a:t>15</a:t>
                      </a:r>
                      <a:endParaRPr sz="2000">
                        <a:latin typeface="Arial"/>
                        <a:cs typeface="Arial"/>
                      </a:endParaRPr>
                    </a:p>
                  </a:txBody>
                  <a:tcPr marL="0" marR="0" marT="55880" marB="0">
                    <a:solidFill>
                      <a:srgbClr val="F7FAFF"/>
                    </a:solidFill>
                  </a:tcPr>
                </a:tc>
                <a:extLst>
                  <a:ext uri="{0D108BD9-81ED-4DB2-BD59-A6C34878D82A}">
                    <a16:rowId xmlns:a16="http://schemas.microsoft.com/office/drawing/2014/main" val="10003"/>
                  </a:ext>
                </a:extLst>
              </a:tr>
              <a:tr h="415036">
                <a:tc>
                  <a:txBody>
                    <a:bodyPr/>
                    <a:lstStyle/>
                    <a:p>
                      <a:pPr marL="692150">
                        <a:lnSpc>
                          <a:spcPct val="100000"/>
                        </a:lnSpc>
                        <a:spcBef>
                          <a:spcPts val="290"/>
                        </a:spcBef>
                      </a:pPr>
                      <a:r>
                        <a:rPr sz="2000" i="1" dirty="0">
                          <a:latin typeface="Arial"/>
                          <a:cs typeface="Arial"/>
                        </a:rPr>
                        <a:t>D</a:t>
                      </a:r>
                      <a:endParaRPr sz="2000">
                        <a:latin typeface="Arial"/>
                        <a:cs typeface="Arial"/>
                      </a:endParaRPr>
                    </a:p>
                  </a:txBody>
                  <a:tcPr marL="0" marR="0" marT="36830" marB="0">
                    <a:lnB w="9525">
                      <a:solidFill>
                        <a:srgbClr val="F400F4"/>
                      </a:solidFill>
                      <a:prstDash val="solid"/>
                    </a:lnB>
                    <a:solidFill>
                      <a:srgbClr val="F7FAFF"/>
                    </a:solidFill>
                  </a:tcPr>
                </a:tc>
                <a:tc>
                  <a:txBody>
                    <a:bodyPr/>
                    <a:lstStyle/>
                    <a:p>
                      <a:pPr marR="890269" algn="r">
                        <a:lnSpc>
                          <a:spcPct val="100000"/>
                        </a:lnSpc>
                        <a:spcBef>
                          <a:spcPts val="290"/>
                        </a:spcBef>
                      </a:pPr>
                      <a:r>
                        <a:rPr sz="2000" dirty="0">
                          <a:latin typeface="Arial"/>
                          <a:cs typeface="Arial"/>
                        </a:rPr>
                        <a:t>3</a:t>
                      </a:r>
                      <a:endParaRPr sz="2000">
                        <a:latin typeface="Arial"/>
                        <a:cs typeface="Arial"/>
                      </a:endParaRPr>
                    </a:p>
                  </a:txBody>
                  <a:tcPr marL="0" marR="0" marT="36830" marB="0">
                    <a:solidFill>
                      <a:srgbClr val="F7FAFF"/>
                    </a:solidFill>
                  </a:tcPr>
                </a:tc>
                <a:tc>
                  <a:txBody>
                    <a:bodyPr/>
                    <a:lstStyle/>
                    <a:p>
                      <a:pPr marR="367030" algn="r">
                        <a:lnSpc>
                          <a:spcPct val="100000"/>
                        </a:lnSpc>
                        <a:spcBef>
                          <a:spcPts val="290"/>
                        </a:spcBef>
                      </a:pPr>
                      <a:r>
                        <a:rPr sz="2000" spc="-5" dirty="0">
                          <a:latin typeface="Arial"/>
                          <a:cs typeface="Arial"/>
                        </a:rPr>
                        <a:t>26</a:t>
                      </a:r>
                      <a:endParaRPr sz="2000">
                        <a:latin typeface="Arial"/>
                        <a:cs typeface="Arial"/>
                      </a:endParaRPr>
                    </a:p>
                  </a:txBody>
                  <a:tcPr marL="0" marR="0" marT="36830" marB="0">
                    <a:solidFill>
                      <a:srgbClr val="F7FAFF"/>
                    </a:solidFill>
                  </a:tcPr>
                </a:tc>
                <a:tc>
                  <a:txBody>
                    <a:bodyPr/>
                    <a:lstStyle/>
                    <a:p>
                      <a:pPr marR="571500" algn="r">
                        <a:lnSpc>
                          <a:spcPct val="100000"/>
                        </a:lnSpc>
                        <a:spcBef>
                          <a:spcPts val="290"/>
                        </a:spcBef>
                      </a:pPr>
                      <a:r>
                        <a:rPr sz="2000" spc="-5" dirty="0">
                          <a:latin typeface="Arial"/>
                          <a:cs typeface="Arial"/>
                        </a:rPr>
                        <a:t>15</a:t>
                      </a:r>
                      <a:endParaRPr sz="2000">
                        <a:latin typeface="Arial"/>
                        <a:cs typeface="Arial"/>
                      </a:endParaRPr>
                    </a:p>
                  </a:txBody>
                  <a:tcPr marL="0" marR="0" marT="36830" marB="0">
                    <a:solidFill>
                      <a:srgbClr val="F7FAFF"/>
                    </a:solidFill>
                  </a:tcPr>
                </a:tc>
                <a:tc>
                  <a:txBody>
                    <a:bodyPr/>
                    <a:lstStyle/>
                    <a:p>
                      <a:pPr marR="539750" algn="r">
                        <a:lnSpc>
                          <a:spcPct val="100000"/>
                        </a:lnSpc>
                        <a:spcBef>
                          <a:spcPts val="290"/>
                        </a:spcBef>
                      </a:pPr>
                      <a:r>
                        <a:rPr sz="2000" spc="-150" dirty="0">
                          <a:latin typeface="Arial"/>
                          <a:cs typeface="Arial"/>
                        </a:rPr>
                        <a:t>11</a:t>
                      </a:r>
                      <a:endParaRPr sz="2000">
                        <a:latin typeface="Arial"/>
                        <a:cs typeface="Arial"/>
                      </a:endParaRPr>
                    </a:p>
                  </a:txBody>
                  <a:tcPr marL="0" marR="0" marT="36830" marB="0">
                    <a:solidFill>
                      <a:srgbClr val="F7FAFF"/>
                    </a:solidFill>
                  </a:tcPr>
                </a:tc>
                <a:extLst>
                  <a:ext uri="{0D108BD9-81ED-4DB2-BD59-A6C34878D82A}">
                    <a16:rowId xmlns:a16="http://schemas.microsoft.com/office/drawing/2014/main" val="10004"/>
                  </a:ext>
                </a:extLst>
              </a:tr>
              <a:tr h="461263">
                <a:tc>
                  <a:txBody>
                    <a:bodyPr/>
                    <a:lstStyle/>
                    <a:p>
                      <a:pPr marL="701040">
                        <a:lnSpc>
                          <a:spcPct val="100000"/>
                        </a:lnSpc>
                        <a:spcBef>
                          <a:spcPts val="475"/>
                        </a:spcBef>
                      </a:pPr>
                      <a:r>
                        <a:rPr sz="2000" i="1" dirty="0">
                          <a:latin typeface="Arial"/>
                          <a:cs typeface="Arial"/>
                        </a:rPr>
                        <a:t>B</a:t>
                      </a:r>
                      <a:endParaRPr sz="2000">
                        <a:latin typeface="Arial"/>
                        <a:cs typeface="Arial"/>
                      </a:endParaRPr>
                    </a:p>
                  </a:txBody>
                  <a:tcPr marL="0" marR="0" marT="60325" marB="0">
                    <a:lnT w="9525">
                      <a:solidFill>
                        <a:srgbClr val="F400F4"/>
                      </a:solidFill>
                      <a:prstDash val="solid"/>
                    </a:lnT>
                    <a:solidFill>
                      <a:srgbClr val="F7FAFF"/>
                    </a:solidFill>
                  </a:tcPr>
                </a:tc>
                <a:tc>
                  <a:txBody>
                    <a:bodyPr/>
                    <a:lstStyle/>
                    <a:p>
                      <a:pPr marR="890269" algn="r">
                        <a:lnSpc>
                          <a:spcPct val="100000"/>
                        </a:lnSpc>
                        <a:spcBef>
                          <a:spcPts val="475"/>
                        </a:spcBef>
                      </a:pPr>
                      <a:r>
                        <a:rPr sz="2000" dirty="0">
                          <a:latin typeface="Arial"/>
                          <a:cs typeface="Arial"/>
                        </a:rPr>
                        <a:t>2</a:t>
                      </a:r>
                      <a:endParaRPr sz="2000">
                        <a:latin typeface="Arial"/>
                        <a:cs typeface="Arial"/>
                      </a:endParaRPr>
                    </a:p>
                  </a:txBody>
                  <a:tcPr marL="0" marR="0" marT="60325" marB="0">
                    <a:lnB w="28575">
                      <a:solidFill>
                        <a:srgbClr val="000000"/>
                      </a:solidFill>
                      <a:prstDash val="solid"/>
                    </a:lnB>
                    <a:solidFill>
                      <a:srgbClr val="F7FAFF"/>
                    </a:solidFill>
                  </a:tcPr>
                </a:tc>
                <a:tc>
                  <a:txBody>
                    <a:bodyPr/>
                    <a:lstStyle/>
                    <a:p>
                      <a:pPr marR="367030" algn="r">
                        <a:lnSpc>
                          <a:spcPct val="100000"/>
                        </a:lnSpc>
                        <a:spcBef>
                          <a:spcPts val="475"/>
                        </a:spcBef>
                      </a:pPr>
                      <a:r>
                        <a:rPr sz="2000" spc="-5" dirty="0">
                          <a:latin typeface="Arial"/>
                          <a:cs typeface="Arial"/>
                        </a:rPr>
                        <a:t>28</a:t>
                      </a:r>
                      <a:endParaRPr sz="2000">
                        <a:latin typeface="Arial"/>
                        <a:cs typeface="Arial"/>
                      </a:endParaRPr>
                    </a:p>
                  </a:txBody>
                  <a:tcPr marL="0" marR="0" marT="60325" marB="0">
                    <a:lnB w="28575">
                      <a:solidFill>
                        <a:srgbClr val="000000"/>
                      </a:solidFill>
                      <a:prstDash val="solid"/>
                    </a:lnB>
                    <a:solidFill>
                      <a:srgbClr val="F7FAFF"/>
                    </a:solidFill>
                  </a:tcPr>
                </a:tc>
                <a:tc>
                  <a:txBody>
                    <a:bodyPr/>
                    <a:lstStyle/>
                    <a:p>
                      <a:pPr marR="570865" algn="r">
                        <a:lnSpc>
                          <a:spcPct val="100000"/>
                        </a:lnSpc>
                        <a:spcBef>
                          <a:spcPts val="475"/>
                        </a:spcBef>
                      </a:pPr>
                      <a:r>
                        <a:rPr sz="2000" dirty="0">
                          <a:latin typeface="Arial"/>
                          <a:cs typeface="Arial"/>
                        </a:rPr>
                        <a:t>6</a:t>
                      </a:r>
                      <a:endParaRPr sz="2000">
                        <a:latin typeface="Arial"/>
                        <a:cs typeface="Arial"/>
                      </a:endParaRPr>
                    </a:p>
                  </a:txBody>
                  <a:tcPr marL="0" marR="0" marT="60325" marB="0">
                    <a:solidFill>
                      <a:srgbClr val="F7FAFF"/>
                    </a:solidFill>
                  </a:tcPr>
                </a:tc>
                <a:tc>
                  <a:txBody>
                    <a:bodyPr/>
                    <a:lstStyle/>
                    <a:p>
                      <a:pPr marR="521334" algn="r">
                        <a:lnSpc>
                          <a:spcPct val="100000"/>
                        </a:lnSpc>
                        <a:spcBef>
                          <a:spcPts val="475"/>
                        </a:spcBef>
                      </a:pPr>
                      <a:r>
                        <a:rPr sz="2000" spc="-5" dirty="0">
                          <a:latin typeface="Arial"/>
                          <a:cs typeface="Arial"/>
                        </a:rPr>
                        <a:t>22</a:t>
                      </a:r>
                      <a:endParaRPr sz="2000">
                        <a:latin typeface="Arial"/>
                        <a:cs typeface="Arial"/>
                      </a:endParaRPr>
                    </a:p>
                  </a:txBody>
                  <a:tcPr marL="0" marR="0" marT="60325" marB="0">
                    <a:lnB w="28575">
                      <a:solidFill>
                        <a:srgbClr val="000000"/>
                      </a:solidFill>
                      <a:prstDash val="solid"/>
                    </a:lnB>
                    <a:solidFill>
                      <a:srgbClr val="F7FAFF"/>
                    </a:solidFill>
                  </a:tcPr>
                </a:tc>
                <a:extLst>
                  <a:ext uri="{0D108BD9-81ED-4DB2-BD59-A6C34878D82A}">
                    <a16:rowId xmlns:a16="http://schemas.microsoft.com/office/drawing/2014/main" val="10005"/>
                  </a:ext>
                </a:extLst>
              </a:tr>
              <a:tr h="357902">
                <a:tc>
                  <a:txBody>
                    <a:bodyPr/>
                    <a:lstStyle/>
                    <a:p>
                      <a:pPr>
                        <a:lnSpc>
                          <a:spcPct val="100000"/>
                        </a:lnSpc>
                      </a:pPr>
                      <a:endParaRPr sz="2200">
                        <a:latin typeface="Times New Roman"/>
                        <a:cs typeface="Times New Roman"/>
                      </a:endParaRPr>
                    </a:p>
                  </a:txBody>
                  <a:tcPr marL="0" marR="0" marT="0" marB="0">
                    <a:solidFill>
                      <a:srgbClr val="F7FAFF"/>
                    </a:solidFill>
                  </a:tcPr>
                </a:tc>
                <a:tc>
                  <a:txBody>
                    <a:bodyPr/>
                    <a:lstStyle/>
                    <a:p>
                      <a:pPr marR="890905" algn="r">
                        <a:lnSpc>
                          <a:spcPts val="2320"/>
                        </a:lnSpc>
                        <a:spcBef>
                          <a:spcPts val="395"/>
                        </a:spcBef>
                      </a:pPr>
                      <a:r>
                        <a:rPr sz="2000" spc="-5" dirty="0">
                          <a:latin typeface="Arial"/>
                          <a:cs typeface="Arial"/>
                        </a:rPr>
                        <a:t>28</a:t>
                      </a:r>
                      <a:endParaRPr sz="2000">
                        <a:latin typeface="Arial"/>
                        <a:cs typeface="Arial"/>
                      </a:endParaRPr>
                    </a:p>
                  </a:txBody>
                  <a:tcPr marL="0" marR="0" marT="50165" marB="0">
                    <a:lnT w="28575">
                      <a:solidFill>
                        <a:srgbClr val="000000"/>
                      </a:solidFill>
                      <a:prstDash val="solid"/>
                    </a:lnT>
                    <a:solidFill>
                      <a:srgbClr val="F7FAFF"/>
                    </a:solidFill>
                  </a:tcPr>
                </a:tc>
                <a:tc>
                  <a:txBody>
                    <a:bodyPr/>
                    <a:lstStyle/>
                    <a:p>
                      <a:pPr marR="366395" algn="r">
                        <a:lnSpc>
                          <a:spcPts val="2320"/>
                        </a:lnSpc>
                        <a:spcBef>
                          <a:spcPts val="395"/>
                        </a:spcBef>
                      </a:pPr>
                      <a:r>
                        <a:rPr sz="2000" spc="-5" dirty="0">
                          <a:latin typeface="Arial"/>
                          <a:cs typeface="Arial"/>
                        </a:rPr>
                        <a:t>103</a:t>
                      </a:r>
                      <a:endParaRPr sz="2000">
                        <a:latin typeface="Arial"/>
                        <a:cs typeface="Arial"/>
                      </a:endParaRPr>
                    </a:p>
                  </a:txBody>
                  <a:tcPr marL="0" marR="0" marT="50165" marB="0">
                    <a:lnT w="28575">
                      <a:solidFill>
                        <a:srgbClr val="000000"/>
                      </a:solidFill>
                      <a:prstDash val="solid"/>
                    </a:lnT>
                    <a:solidFill>
                      <a:srgbClr val="F7FAFF"/>
                    </a:solidFill>
                  </a:tcPr>
                </a:tc>
                <a:tc>
                  <a:txBody>
                    <a:bodyPr/>
                    <a:lstStyle/>
                    <a:p>
                      <a:pPr>
                        <a:lnSpc>
                          <a:spcPct val="100000"/>
                        </a:lnSpc>
                      </a:pPr>
                      <a:endParaRPr sz="2200">
                        <a:latin typeface="Times New Roman"/>
                        <a:cs typeface="Times New Roman"/>
                      </a:endParaRPr>
                    </a:p>
                  </a:txBody>
                  <a:tcPr marL="0" marR="0" marT="0" marB="0">
                    <a:solidFill>
                      <a:srgbClr val="F7FAFF"/>
                    </a:solidFill>
                  </a:tcPr>
                </a:tc>
                <a:tc>
                  <a:txBody>
                    <a:bodyPr/>
                    <a:lstStyle/>
                    <a:p>
                      <a:pPr marR="521334" algn="r">
                        <a:lnSpc>
                          <a:spcPts val="2320"/>
                        </a:lnSpc>
                        <a:spcBef>
                          <a:spcPts val="395"/>
                        </a:spcBef>
                      </a:pPr>
                      <a:r>
                        <a:rPr sz="2000" spc="-5" dirty="0">
                          <a:latin typeface="Arial"/>
                          <a:cs typeface="Arial"/>
                        </a:rPr>
                        <a:t>48</a:t>
                      </a:r>
                      <a:endParaRPr sz="2000">
                        <a:latin typeface="Arial"/>
                        <a:cs typeface="Arial"/>
                      </a:endParaRPr>
                    </a:p>
                  </a:txBody>
                  <a:tcPr marL="0" marR="0" marT="50165" marB="0">
                    <a:lnT w="28575">
                      <a:solidFill>
                        <a:srgbClr val="000000"/>
                      </a:solidFill>
                      <a:prstDash val="solid"/>
                    </a:lnT>
                    <a:solidFill>
                      <a:srgbClr val="F7FAFF"/>
                    </a:solidFill>
                  </a:tcPr>
                </a:tc>
                <a:extLst>
                  <a:ext uri="{0D108BD9-81ED-4DB2-BD59-A6C34878D82A}">
                    <a16:rowId xmlns:a16="http://schemas.microsoft.com/office/drawing/2014/main" val="10006"/>
                  </a:ext>
                </a:extLst>
              </a:tr>
            </a:tbl>
          </a:graphicData>
        </a:graphic>
      </p:graphicFrame>
      <p:sp>
        <p:nvSpPr>
          <p:cNvPr id="10" name="object 10"/>
          <p:cNvSpPr txBox="1"/>
          <p:nvPr/>
        </p:nvSpPr>
        <p:spPr>
          <a:xfrm>
            <a:off x="736193" y="1610994"/>
            <a:ext cx="4243070" cy="453390"/>
          </a:xfrm>
          <a:prstGeom prst="rect">
            <a:avLst/>
          </a:prstGeom>
        </p:spPr>
        <p:txBody>
          <a:bodyPr vert="horz" wrap="square" lIns="0" tIns="13335" rIns="0" bIns="0" rtlCol="0">
            <a:spAutoFit/>
          </a:bodyPr>
          <a:lstStyle/>
          <a:p>
            <a:pPr marL="12700">
              <a:lnSpc>
                <a:spcPct val="100000"/>
              </a:lnSpc>
              <a:spcBef>
                <a:spcPts val="105"/>
              </a:spcBef>
            </a:pPr>
            <a:r>
              <a:rPr sz="2800" spc="-80" dirty="0">
                <a:latin typeface="Arial"/>
                <a:cs typeface="Arial"/>
              </a:rPr>
              <a:t>LPT: </a:t>
            </a:r>
            <a:r>
              <a:rPr sz="2800" dirty="0">
                <a:latin typeface="Arial"/>
                <a:cs typeface="Arial"/>
              </a:rPr>
              <a:t>Sequence</a:t>
            </a:r>
            <a:r>
              <a:rPr sz="2800" spc="20" dirty="0">
                <a:latin typeface="Arial"/>
                <a:cs typeface="Arial"/>
              </a:rPr>
              <a:t> </a:t>
            </a:r>
            <a:r>
              <a:rPr sz="2800" dirty="0">
                <a:latin typeface="Arial"/>
                <a:cs typeface="Arial"/>
              </a:rPr>
              <a:t>E-C-A-D-B</a:t>
            </a:r>
            <a:endParaRPr sz="2800">
              <a:latin typeface="Arial"/>
              <a:cs typeface="Arial"/>
            </a:endParaRPr>
          </a:p>
        </p:txBody>
      </p:sp>
      <p:grpSp>
        <p:nvGrpSpPr>
          <p:cNvPr id="11" name="object 11"/>
          <p:cNvGrpSpPr/>
          <p:nvPr/>
        </p:nvGrpSpPr>
        <p:grpSpPr>
          <a:xfrm>
            <a:off x="12191" y="6437376"/>
            <a:ext cx="1628139" cy="411480"/>
            <a:chOff x="12191" y="6437376"/>
            <a:chExt cx="1628139" cy="411480"/>
          </a:xfrm>
        </p:grpSpPr>
        <p:sp>
          <p:nvSpPr>
            <p:cNvPr id="12" name="object 12"/>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13" name="object 13"/>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14" name="object 14"/>
          <p:cNvGrpSpPr/>
          <p:nvPr/>
        </p:nvGrpSpPr>
        <p:grpSpPr>
          <a:xfrm>
            <a:off x="7491983" y="6437376"/>
            <a:ext cx="1630680" cy="411480"/>
            <a:chOff x="7491983" y="6437376"/>
            <a:chExt cx="1630680" cy="411480"/>
          </a:xfrm>
        </p:grpSpPr>
        <p:sp>
          <p:nvSpPr>
            <p:cNvPr id="15" name="object 15"/>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6" name="object 16"/>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31</a:t>
            </a:r>
            <a:endParaRPr sz="900">
              <a:latin typeface="Arial"/>
              <a:cs typeface="Arial"/>
            </a:endParaRPr>
          </a:p>
        </p:txBody>
      </p:sp>
      <p:sp>
        <p:nvSpPr>
          <p:cNvPr id="4" name="object 4"/>
          <p:cNvSpPr txBox="1">
            <a:spLocks noGrp="1"/>
          </p:cNvSpPr>
          <p:nvPr>
            <p:ph type="title"/>
          </p:nvPr>
        </p:nvSpPr>
        <p:spPr>
          <a:xfrm>
            <a:off x="687323" y="510540"/>
            <a:ext cx="7772400" cy="927100"/>
          </a:xfrm>
          <a:prstGeom prst="rect">
            <a:avLst/>
          </a:prstGeom>
          <a:solidFill>
            <a:srgbClr val="F7FAFF"/>
          </a:solidFill>
          <a:ln w="9144">
            <a:solidFill>
              <a:srgbClr val="000000"/>
            </a:solidFill>
          </a:ln>
        </p:spPr>
        <p:txBody>
          <a:bodyPr vert="horz" wrap="square" lIns="0" tIns="42545" rIns="0" bIns="0" rtlCol="0">
            <a:spAutoFit/>
          </a:bodyPr>
          <a:lstStyle/>
          <a:p>
            <a:pPr algn="ctr">
              <a:lnSpc>
                <a:spcPct val="100000"/>
              </a:lnSpc>
              <a:spcBef>
                <a:spcPts val="335"/>
              </a:spcBef>
            </a:pPr>
            <a:r>
              <a:rPr sz="4400" spc="-5" dirty="0"/>
              <a:t>Sequencing</a:t>
            </a:r>
            <a:r>
              <a:rPr sz="4400" spc="20" dirty="0"/>
              <a:t> </a:t>
            </a:r>
            <a:r>
              <a:rPr sz="4400" spc="-5" dirty="0"/>
              <a:t>Example</a:t>
            </a:r>
            <a:endParaRPr sz="4400"/>
          </a:p>
        </p:txBody>
      </p:sp>
      <p:sp>
        <p:nvSpPr>
          <p:cNvPr id="5" name="object 5"/>
          <p:cNvSpPr txBox="1"/>
          <p:nvPr/>
        </p:nvSpPr>
        <p:spPr>
          <a:xfrm>
            <a:off x="887882" y="2434678"/>
            <a:ext cx="7376795" cy="3460750"/>
          </a:xfrm>
          <a:prstGeom prst="rect">
            <a:avLst/>
          </a:prstGeom>
        </p:spPr>
        <p:txBody>
          <a:bodyPr vert="horz" wrap="square" lIns="0" tIns="0" rIns="0" bIns="0" rtlCol="0">
            <a:spAutoFit/>
          </a:bodyPr>
          <a:lstStyle/>
          <a:p>
            <a:pPr marR="2360295" algn="ctr">
              <a:lnSpc>
                <a:spcPts val="2085"/>
              </a:lnSpc>
            </a:pPr>
            <a:r>
              <a:rPr sz="2000" b="1" i="1" spc="-5" dirty="0">
                <a:latin typeface="Arial"/>
                <a:cs typeface="Arial"/>
              </a:rPr>
              <a:t>Job</a:t>
            </a:r>
            <a:r>
              <a:rPr sz="2000" b="1" i="1" dirty="0">
                <a:latin typeface="Arial"/>
                <a:cs typeface="Arial"/>
              </a:rPr>
              <a:t> </a:t>
            </a:r>
            <a:r>
              <a:rPr sz="2000" b="1" i="1" spc="-20" dirty="0">
                <a:latin typeface="Arial"/>
                <a:cs typeface="Arial"/>
              </a:rPr>
              <a:t>Work</a:t>
            </a:r>
            <a:endParaRPr sz="2000">
              <a:latin typeface="Arial"/>
              <a:cs typeface="Arial"/>
            </a:endParaRPr>
          </a:p>
          <a:p>
            <a:pPr marL="48260" algn="ctr">
              <a:lnSpc>
                <a:spcPts val="2160"/>
              </a:lnSpc>
              <a:tabLst>
                <a:tab pos="1414145" algn="l"/>
                <a:tab pos="3515360" algn="l"/>
                <a:tab pos="4544695" algn="l"/>
                <a:tab pos="6278880" algn="l"/>
              </a:tabLst>
            </a:pPr>
            <a:r>
              <a:rPr sz="2000" b="1" i="1" spc="-5" dirty="0">
                <a:latin typeface="Arial"/>
                <a:cs typeface="Arial"/>
              </a:rPr>
              <a:t>Job	</a:t>
            </a:r>
            <a:r>
              <a:rPr sz="2000" b="1" i="1" spc="-10" dirty="0">
                <a:latin typeface="Arial"/>
                <a:cs typeface="Arial"/>
              </a:rPr>
              <a:t>(Processing)	</a:t>
            </a:r>
            <a:r>
              <a:rPr sz="2000" b="1" i="1" spc="-5" dirty="0">
                <a:latin typeface="Arial"/>
                <a:cs typeface="Arial"/>
              </a:rPr>
              <a:t>Flow	Job Due	Job</a:t>
            </a:r>
            <a:endParaRPr sz="2000">
              <a:latin typeface="Arial"/>
              <a:cs typeface="Arial"/>
            </a:endParaRPr>
          </a:p>
          <a:p>
            <a:pPr algn="ctr">
              <a:lnSpc>
                <a:spcPts val="2280"/>
              </a:lnSpc>
              <a:tabLst>
                <a:tab pos="2210435" algn="l"/>
                <a:tab pos="3835400" algn="l"/>
                <a:tab pos="5093970" algn="l"/>
                <a:tab pos="6278880" algn="l"/>
              </a:tabLst>
            </a:pPr>
            <a:r>
              <a:rPr sz="2000" b="1" i="1" spc="-20" dirty="0">
                <a:latin typeface="Arial"/>
                <a:cs typeface="Arial"/>
              </a:rPr>
              <a:t>S</a:t>
            </a:r>
            <a:r>
              <a:rPr sz="2000" b="1" i="1" spc="-5" dirty="0">
                <a:latin typeface="Arial"/>
                <a:cs typeface="Arial"/>
              </a:rPr>
              <a:t>eq</a:t>
            </a:r>
            <a:r>
              <a:rPr sz="2000" b="1" i="1" dirty="0">
                <a:latin typeface="Arial"/>
                <a:cs typeface="Arial"/>
              </a:rPr>
              <a:t>u</a:t>
            </a:r>
            <a:r>
              <a:rPr sz="2000" b="1" i="1" spc="-5" dirty="0">
                <a:latin typeface="Arial"/>
                <a:cs typeface="Arial"/>
              </a:rPr>
              <a:t>ence</a:t>
            </a:r>
            <a:r>
              <a:rPr sz="2000" b="1" i="1" dirty="0">
                <a:latin typeface="Arial"/>
                <a:cs typeface="Arial"/>
              </a:rPr>
              <a:t>	</a:t>
            </a:r>
            <a:r>
              <a:rPr sz="2000" b="1" i="1" spc="-50" dirty="0">
                <a:latin typeface="Arial"/>
                <a:cs typeface="Arial"/>
              </a:rPr>
              <a:t>T</a:t>
            </a:r>
            <a:r>
              <a:rPr sz="2000" b="1" i="1" spc="-5" dirty="0">
                <a:latin typeface="Arial"/>
                <a:cs typeface="Arial"/>
              </a:rPr>
              <a:t>ime</a:t>
            </a:r>
            <a:r>
              <a:rPr sz="2000" b="1" i="1" dirty="0">
                <a:latin typeface="Arial"/>
                <a:cs typeface="Arial"/>
              </a:rPr>
              <a:t>	</a:t>
            </a:r>
            <a:r>
              <a:rPr sz="2000" b="1" i="1" spc="-50" dirty="0">
                <a:latin typeface="Arial"/>
                <a:cs typeface="Arial"/>
              </a:rPr>
              <a:t>T</a:t>
            </a:r>
            <a:r>
              <a:rPr sz="2000" b="1" i="1" spc="-5" dirty="0">
                <a:latin typeface="Arial"/>
                <a:cs typeface="Arial"/>
              </a:rPr>
              <a:t>ime</a:t>
            </a:r>
            <a:r>
              <a:rPr sz="2000" b="1" i="1" dirty="0">
                <a:latin typeface="Arial"/>
                <a:cs typeface="Arial"/>
              </a:rPr>
              <a:t>	</a:t>
            </a:r>
            <a:r>
              <a:rPr sz="2000" b="1" i="1" spc="-5" dirty="0">
                <a:latin typeface="Arial"/>
                <a:cs typeface="Arial"/>
              </a:rPr>
              <a:t>Date</a:t>
            </a:r>
            <a:r>
              <a:rPr sz="2000" b="1" i="1" dirty="0">
                <a:latin typeface="Arial"/>
                <a:cs typeface="Arial"/>
              </a:rPr>
              <a:t>	</a:t>
            </a:r>
            <a:r>
              <a:rPr sz="2000" b="1" i="1" spc="-5" dirty="0">
                <a:latin typeface="Arial"/>
                <a:cs typeface="Arial"/>
              </a:rPr>
              <a:t>Latene</a:t>
            </a:r>
            <a:r>
              <a:rPr sz="2000" b="1" i="1" spc="-15" dirty="0">
                <a:latin typeface="Arial"/>
                <a:cs typeface="Arial"/>
              </a:rPr>
              <a:t>s</a:t>
            </a:r>
            <a:r>
              <a:rPr sz="2000" b="1" i="1" spc="-5" dirty="0">
                <a:latin typeface="Arial"/>
                <a:cs typeface="Arial"/>
              </a:rPr>
              <a:t>s</a:t>
            </a:r>
            <a:endParaRPr sz="2000">
              <a:latin typeface="Arial"/>
              <a:cs typeface="Arial"/>
            </a:endParaRPr>
          </a:p>
          <a:p>
            <a:pPr marR="326390" algn="r">
              <a:lnSpc>
                <a:spcPct val="100000"/>
              </a:lnSpc>
              <a:spcBef>
                <a:spcPts val="840"/>
              </a:spcBef>
              <a:tabLst>
                <a:tab pos="1978025" algn="l"/>
                <a:tab pos="3618229" algn="l"/>
                <a:tab pos="4708525" algn="l"/>
                <a:tab pos="6384925" algn="l"/>
              </a:tabLst>
            </a:pPr>
            <a:r>
              <a:rPr sz="2000" b="1" i="1" spc="-5" dirty="0">
                <a:latin typeface="Arial"/>
                <a:cs typeface="Arial"/>
              </a:rPr>
              <a:t>E	</a:t>
            </a:r>
            <a:r>
              <a:rPr sz="2000" b="1" spc="-5" dirty="0">
                <a:latin typeface="Arial"/>
                <a:cs typeface="Arial"/>
              </a:rPr>
              <a:t>9	9	</a:t>
            </a:r>
            <a:r>
              <a:rPr sz="2000" b="1" spc="-10" dirty="0">
                <a:latin typeface="Arial"/>
                <a:cs typeface="Arial"/>
              </a:rPr>
              <a:t>2</a:t>
            </a:r>
            <a:r>
              <a:rPr sz="2000" b="1" spc="-5" dirty="0">
                <a:latin typeface="Arial"/>
                <a:cs typeface="Arial"/>
              </a:rPr>
              <a:t>3</a:t>
            </a:r>
            <a:r>
              <a:rPr sz="2000" b="1" dirty="0">
                <a:latin typeface="Arial"/>
                <a:cs typeface="Arial"/>
              </a:rPr>
              <a:t>	</a:t>
            </a:r>
            <a:r>
              <a:rPr sz="2000" b="1" spc="-5" dirty="0">
                <a:latin typeface="Arial"/>
                <a:cs typeface="Arial"/>
              </a:rPr>
              <a:t>0</a:t>
            </a:r>
            <a:endParaRPr sz="2000">
              <a:latin typeface="Arial"/>
              <a:cs typeface="Arial"/>
            </a:endParaRPr>
          </a:p>
          <a:p>
            <a:pPr marR="326390" algn="r">
              <a:lnSpc>
                <a:spcPct val="100000"/>
              </a:lnSpc>
              <a:spcBef>
                <a:spcPts val="1150"/>
              </a:spcBef>
              <a:tabLst>
                <a:tab pos="1986914" algn="l"/>
                <a:tab pos="3486785" algn="l"/>
                <a:tab pos="4718050" algn="l"/>
                <a:tab pos="6394450" algn="l"/>
              </a:tabLst>
            </a:pPr>
            <a:r>
              <a:rPr sz="2000" b="1" i="1" spc="-5" dirty="0">
                <a:latin typeface="Arial"/>
                <a:cs typeface="Arial"/>
              </a:rPr>
              <a:t>C	</a:t>
            </a:r>
            <a:r>
              <a:rPr sz="2000" b="1" spc="-5" dirty="0">
                <a:latin typeface="Arial"/>
                <a:cs typeface="Arial"/>
              </a:rPr>
              <a:t>8	</a:t>
            </a:r>
            <a:r>
              <a:rPr sz="2000" b="1" spc="-10" dirty="0">
                <a:latin typeface="Arial"/>
                <a:cs typeface="Arial"/>
              </a:rPr>
              <a:t>1</a:t>
            </a:r>
            <a:r>
              <a:rPr sz="2000" b="1" spc="-5" dirty="0">
                <a:latin typeface="Arial"/>
                <a:cs typeface="Arial"/>
              </a:rPr>
              <a:t>7</a:t>
            </a:r>
            <a:r>
              <a:rPr sz="2000" b="1" dirty="0">
                <a:latin typeface="Arial"/>
                <a:cs typeface="Arial"/>
              </a:rPr>
              <a:t>	</a:t>
            </a:r>
            <a:r>
              <a:rPr sz="2000" b="1" spc="-10" dirty="0">
                <a:latin typeface="Arial"/>
                <a:cs typeface="Arial"/>
              </a:rPr>
              <a:t>1</a:t>
            </a:r>
            <a:r>
              <a:rPr sz="2000" b="1" spc="-5" dirty="0">
                <a:latin typeface="Arial"/>
                <a:cs typeface="Arial"/>
              </a:rPr>
              <a:t>8</a:t>
            </a:r>
            <a:r>
              <a:rPr sz="2000" b="1" dirty="0">
                <a:latin typeface="Arial"/>
                <a:cs typeface="Arial"/>
              </a:rPr>
              <a:t>	</a:t>
            </a:r>
            <a:r>
              <a:rPr sz="2000" b="1" spc="-5" dirty="0">
                <a:latin typeface="Arial"/>
                <a:cs typeface="Arial"/>
              </a:rPr>
              <a:t>0</a:t>
            </a:r>
            <a:endParaRPr sz="2000">
              <a:latin typeface="Arial"/>
              <a:cs typeface="Arial"/>
            </a:endParaRPr>
          </a:p>
          <a:p>
            <a:pPr marR="327025" algn="r">
              <a:lnSpc>
                <a:spcPct val="100000"/>
              </a:lnSpc>
              <a:spcBef>
                <a:spcPts val="1105"/>
              </a:spcBef>
              <a:tabLst>
                <a:tab pos="1986914" algn="l"/>
                <a:tab pos="3486785" algn="l"/>
                <a:tab pos="4858385" algn="l"/>
                <a:tab pos="6254115" algn="l"/>
              </a:tabLst>
            </a:pPr>
            <a:r>
              <a:rPr sz="2000" b="1" i="1" spc="-5" dirty="0">
                <a:latin typeface="Arial"/>
                <a:cs typeface="Arial"/>
              </a:rPr>
              <a:t>A	</a:t>
            </a:r>
            <a:r>
              <a:rPr sz="2000" b="1" spc="-5" dirty="0">
                <a:latin typeface="Arial"/>
                <a:cs typeface="Arial"/>
              </a:rPr>
              <a:t>6	</a:t>
            </a:r>
            <a:r>
              <a:rPr sz="2000" b="1" spc="-10" dirty="0">
                <a:latin typeface="Arial"/>
                <a:cs typeface="Arial"/>
              </a:rPr>
              <a:t>2</a:t>
            </a:r>
            <a:r>
              <a:rPr sz="2000" b="1" spc="-5" dirty="0">
                <a:latin typeface="Arial"/>
                <a:cs typeface="Arial"/>
              </a:rPr>
              <a:t>3</a:t>
            </a:r>
            <a:r>
              <a:rPr sz="2000" b="1" dirty="0">
                <a:latin typeface="Arial"/>
                <a:cs typeface="Arial"/>
              </a:rPr>
              <a:t>	</a:t>
            </a:r>
            <a:r>
              <a:rPr sz="2000" b="1" spc="-5" dirty="0">
                <a:latin typeface="Arial"/>
                <a:cs typeface="Arial"/>
              </a:rPr>
              <a:t>8</a:t>
            </a:r>
            <a:r>
              <a:rPr sz="2000" b="1" dirty="0">
                <a:latin typeface="Arial"/>
                <a:cs typeface="Arial"/>
              </a:rPr>
              <a:t>	</a:t>
            </a:r>
            <a:r>
              <a:rPr sz="2000" b="1" spc="-10" dirty="0">
                <a:latin typeface="Arial"/>
                <a:cs typeface="Arial"/>
              </a:rPr>
              <a:t>15</a:t>
            </a:r>
            <a:endParaRPr sz="2000">
              <a:latin typeface="Arial"/>
              <a:cs typeface="Arial"/>
            </a:endParaRPr>
          </a:p>
          <a:p>
            <a:pPr marR="342265" algn="r">
              <a:lnSpc>
                <a:spcPct val="100000"/>
              </a:lnSpc>
              <a:spcBef>
                <a:spcPts val="1000"/>
              </a:spcBef>
              <a:tabLst>
                <a:tab pos="1986914" algn="l"/>
                <a:tab pos="3486785" algn="l"/>
                <a:tab pos="4718050" algn="l"/>
                <a:tab pos="6269355" algn="l"/>
              </a:tabLst>
            </a:pPr>
            <a:r>
              <a:rPr sz="2000" b="1" i="1" spc="-10" dirty="0">
                <a:latin typeface="Arial"/>
                <a:cs typeface="Arial"/>
              </a:rPr>
              <a:t>D	</a:t>
            </a:r>
            <a:r>
              <a:rPr sz="2000" b="1" spc="-5" dirty="0">
                <a:latin typeface="Arial"/>
                <a:cs typeface="Arial"/>
              </a:rPr>
              <a:t>3	</a:t>
            </a:r>
            <a:r>
              <a:rPr sz="2000" b="1" spc="-10" dirty="0">
                <a:latin typeface="Arial"/>
                <a:cs typeface="Arial"/>
              </a:rPr>
              <a:t>2</a:t>
            </a:r>
            <a:r>
              <a:rPr sz="2000" b="1" spc="-5" dirty="0">
                <a:latin typeface="Arial"/>
                <a:cs typeface="Arial"/>
              </a:rPr>
              <a:t>6</a:t>
            </a:r>
            <a:r>
              <a:rPr sz="2000" b="1" dirty="0">
                <a:latin typeface="Arial"/>
                <a:cs typeface="Arial"/>
              </a:rPr>
              <a:t>	</a:t>
            </a:r>
            <a:r>
              <a:rPr sz="2000" b="1" spc="-10" dirty="0">
                <a:latin typeface="Arial"/>
                <a:cs typeface="Arial"/>
              </a:rPr>
              <a:t>1</a:t>
            </a:r>
            <a:r>
              <a:rPr sz="2000" b="1" spc="-5" dirty="0">
                <a:latin typeface="Arial"/>
                <a:cs typeface="Arial"/>
              </a:rPr>
              <a:t>5</a:t>
            </a:r>
            <a:r>
              <a:rPr sz="2000" b="1" dirty="0">
                <a:latin typeface="Arial"/>
                <a:cs typeface="Arial"/>
              </a:rPr>
              <a:t>	</a:t>
            </a:r>
            <a:r>
              <a:rPr sz="2000" b="1" spc="-130" dirty="0">
                <a:latin typeface="Arial"/>
                <a:cs typeface="Arial"/>
              </a:rPr>
              <a:t>11</a:t>
            </a:r>
            <a:endParaRPr sz="2000">
              <a:latin typeface="Arial"/>
              <a:cs typeface="Arial"/>
            </a:endParaRPr>
          </a:p>
          <a:p>
            <a:pPr marR="327025" algn="r">
              <a:lnSpc>
                <a:spcPct val="100000"/>
              </a:lnSpc>
              <a:spcBef>
                <a:spcPts val="1050"/>
              </a:spcBef>
              <a:tabLst>
                <a:tab pos="1986914" algn="l"/>
                <a:tab pos="3486785" algn="l"/>
                <a:tab pos="4858385" algn="l"/>
                <a:tab pos="6254115" algn="l"/>
              </a:tabLst>
            </a:pPr>
            <a:r>
              <a:rPr sz="2000" b="1" i="1" spc="-10" dirty="0">
                <a:latin typeface="Arial"/>
                <a:cs typeface="Arial"/>
              </a:rPr>
              <a:t>B	</a:t>
            </a:r>
            <a:r>
              <a:rPr sz="2000" b="1" spc="-5" dirty="0">
                <a:latin typeface="Arial"/>
                <a:cs typeface="Arial"/>
              </a:rPr>
              <a:t>2	</a:t>
            </a:r>
            <a:r>
              <a:rPr sz="2000" b="1" spc="-10" dirty="0">
                <a:latin typeface="Arial"/>
                <a:cs typeface="Arial"/>
              </a:rPr>
              <a:t>2</a:t>
            </a:r>
            <a:r>
              <a:rPr sz="2000" b="1" spc="-5" dirty="0">
                <a:latin typeface="Arial"/>
                <a:cs typeface="Arial"/>
              </a:rPr>
              <a:t>8</a:t>
            </a:r>
            <a:r>
              <a:rPr sz="2000" b="1" dirty="0">
                <a:latin typeface="Arial"/>
                <a:cs typeface="Arial"/>
              </a:rPr>
              <a:t>	</a:t>
            </a:r>
            <a:r>
              <a:rPr sz="2000" b="1" spc="-5" dirty="0">
                <a:latin typeface="Arial"/>
                <a:cs typeface="Arial"/>
              </a:rPr>
              <a:t>6</a:t>
            </a:r>
            <a:r>
              <a:rPr sz="2000" b="1" dirty="0">
                <a:latin typeface="Arial"/>
                <a:cs typeface="Arial"/>
              </a:rPr>
              <a:t>	</a:t>
            </a:r>
            <a:r>
              <a:rPr sz="2000" b="1" spc="-10" dirty="0">
                <a:latin typeface="Arial"/>
                <a:cs typeface="Arial"/>
              </a:rPr>
              <a:t>22</a:t>
            </a:r>
            <a:endParaRPr sz="2000">
              <a:latin typeface="Arial"/>
              <a:cs typeface="Arial"/>
            </a:endParaRPr>
          </a:p>
          <a:p>
            <a:pPr marR="327025" algn="r">
              <a:lnSpc>
                <a:spcPct val="100000"/>
              </a:lnSpc>
              <a:spcBef>
                <a:spcPts val="1155"/>
              </a:spcBef>
              <a:tabLst>
                <a:tab pos="1499235" algn="l"/>
                <a:tab pos="4406900" algn="l"/>
              </a:tabLst>
            </a:pPr>
            <a:r>
              <a:rPr sz="2000" b="1" spc="-10" dirty="0">
                <a:latin typeface="Arial"/>
                <a:cs typeface="Arial"/>
              </a:rPr>
              <a:t>2</a:t>
            </a:r>
            <a:r>
              <a:rPr sz="2000" b="1" spc="-5" dirty="0">
                <a:latin typeface="Arial"/>
                <a:cs typeface="Arial"/>
              </a:rPr>
              <a:t>8</a:t>
            </a:r>
            <a:r>
              <a:rPr sz="2000" b="1" dirty="0">
                <a:latin typeface="Arial"/>
                <a:cs typeface="Arial"/>
              </a:rPr>
              <a:t>	</a:t>
            </a:r>
            <a:r>
              <a:rPr sz="2000" b="1" spc="-10" dirty="0">
                <a:latin typeface="Arial"/>
                <a:cs typeface="Arial"/>
              </a:rPr>
              <a:t>10</a:t>
            </a:r>
            <a:r>
              <a:rPr sz="2000" b="1" spc="-5" dirty="0">
                <a:latin typeface="Arial"/>
                <a:cs typeface="Arial"/>
              </a:rPr>
              <a:t>3</a:t>
            </a:r>
            <a:r>
              <a:rPr sz="2000" b="1" dirty="0">
                <a:latin typeface="Arial"/>
                <a:cs typeface="Arial"/>
              </a:rPr>
              <a:t>	</a:t>
            </a:r>
            <a:r>
              <a:rPr sz="2000" b="1" spc="-10" dirty="0">
                <a:latin typeface="Arial"/>
                <a:cs typeface="Arial"/>
              </a:rPr>
              <a:t>48</a:t>
            </a:r>
            <a:endParaRPr sz="2000">
              <a:latin typeface="Arial"/>
              <a:cs typeface="Arial"/>
            </a:endParaRPr>
          </a:p>
        </p:txBody>
      </p:sp>
      <p:grpSp>
        <p:nvGrpSpPr>
          <p:cNvPr id="6" name="object 6"/>
          <p:cNvGrpSpPr/>
          <p:nvPr/>
        </p:nvGrpSpPr>
        <p:grpSpPr>
          <a:xfrm>
            <a:off x="725423" y="2328672"/>
            <a:ext cx="7720965" cy="3752215"/>
            <a:chOff x="725423" y="2328672"/>
            <a:chExt cx="7720965" cy="3752215"/>
          </a:xfrm>
        </p:grpSpPr>
        <p:sp>
          <p:nvSpPr>
            <p:cNvPr id="7" name="object 7"/>
            <p:cNvSpPr/>
            <p:nvPr/>
          </p:nvSpPr>
          <p:spPr>
            <a:xfrm>
              <a:off x="1097279" y="2602992"/>
              <a:ext cx="868680" cy="576072"/>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725423" y="2877312"/>
              <a:ext cx="1542288" cy="576072"/>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1240536" y="3288791"/>
              <a:ext cx="515112" cy="576072"/>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1231391" y="3739896"/>
              <a:ext cx="530352" cy="576071"/>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1231391" y="4184904"/>
              <a:ext cx="530352" cy="576072"/>
            </a:xfrm>
            <a:prstGeom prst="rect">
              <a:avLst/>
            </a:prstGeom>
            <a:blipFill>
              <a:blip r:embed="rId6" cstate="print"/>
              <a:stretch>
                <a:fillRect/>
              </a:stretch>
            </a:blipFill>
          </p:spPr>
          <p:txBody>
            <a:bodyPr wrap="square" lIns="0" tIns="0" rIns="0" bIns="0" rtlCol="0"/>
            <a:lstStyle/>
            <a:p>
              <a:endParaRPr/>
            </a:p>
          </p:txBody>
        </p:sp>
        <p:sp>
          <p:nvSpPr>
            <p:cNvPr id="12" name="object 12"/>
            <p:cNvSpPr/>
            <p:nvPr/>
          </p:nvSpPr>
          <p:spPr>
            <a:xfrm>
              <a:off x="1231391" y="4617720"/>
              <a:ext cx="530352" cy="576071"/>
            </a:xfrm>
            <a:prstGeom prst="rect">
              <a:avLst/>
            </a:prstGeom>
            <a:blipFill>
              <a:blip r:embed="rId7" cstate="print"/>
              <a:stretch>
                <a:fillRect/>
              </a:stretch>
            </a:blipFill>
          </p:spPr>
          <p:txBody>
            <a:bodyPr wrap="square" lIns="0" tIns="0" rIns="0" bIns="0" rtlCol="0"/>
            <a:lstStyle/>
            <a:p>
              <a:endParaRPr/>
            </a:p>
          </p:txBody>
        </p:sp>
        <p:sp>
          <p:nvSpPr>
            <p:cNvPr id="13" name="object 13"/>
            <p:cNvSpPr/>
            <p:nvPr/>
          </p:nvSpPr>
          <p:spPr>
            <a:xfrm>
              <a:off x="1231391" y="5053583"/>
              <a:ext cx="530352" cy="576071"/>
            </a:xfrm>
            <a:prstGeom prst="rect">
              <a:avLst/>
            </a:prstGeom>
            <a:blipFill>
              <a:blip r:embed="rId8" cstate="print"/>
              <a:stretch>
                <a:fillRect/>
              </a:stretch>
            </a:blipFill>
          </p:spPr>
          <p:txBody>
            <a:bodyPr wrap="square" lIns="0" tIns="0" rIns="0" bIns="0" rtlCol="0"/>
            <a:lstStyle/>
            <a:p>
              <a:endParaRPr/>
            </a:p>
          </p:txBody>
        </p:sp>
        <p:sp>
          <p:nvSpPr>
            <p:cNvPr id="14" name="object 14"/>
            <p:cNvSpPr/>
            <p:nvPr/>
          </p:nvSpPr>
          <p:spPr>
            <a:xfrm>
              <a:off x="2654807" y="2328672"/>
              <a:ext cx="1569720" cy="576072"/>
            </a:xfrm>
            <a:prstGeom prst="rect">
              <a:avLst/>
            </a:prstGeom>
            <a:blipFill>
              <a:blip r:embed="rId9" cstate="print"/>
              <a:stretch>
                <a:fillRect/>
              </a:stretch>
            </a:blipFill>
          </p:spPr>
          <p:txBody>
            <a:bodyPr wrap="square" lIns="0" tIns="0" rIns="0" bIns="0" rtlCol="0"/>
            <a:lstStyle/>
            <a:p>
              <a:endParaRPr/>
            </a:p>
          </p:txBody>
        </p:sp>
        <p:sp>
          <p:nvSpPr>
            <p:cNvPr id="15" name="object 15"/>
            <p:cNvSpPr/>
            <p:nvPr/>
          </p:nvSpPr>
          <p:spPr>
            <a:xfrm>
              <a:off x="2462784" y="2602992"/>
              <a:ext cx="1956816" cy="576072"/>
            </a:xfrm>
            <a:prstGeom prst="rect">
              <a:avLst/>
            </a:prstGeom>
            <a:blipFill>
              <a:blip r:embed="rId10" cstate="print"/>
              <a:stretch>
                <a:fillRect/>
              </a:stretch>
            </a:blipFill>
          </p:spPr>
          <p:txBody>
            <a:bodyPr wrap="square" lIns="0" tIns="0" rIns="0" bIns="0" rtlCol="0"/>
            <a:lstStyle/>
            <a:p>
              <a:endParaRPr/>
            </a:p>
          </p:txBody>
        </p:sp>
        <p:sp>
          <p:nvSpPr>
            <p:cNvPr id="16" name="object 16"/>
            <p:cNvSpPr/>
            <p:nvPr/>
          </p:nvSpPr>
          <p:spPr>
            <a:xfrm>
              <a:off x="2935223" y="2877312"/>
              <a:ext cx="932688" cy="576072"/>
            </a:xfrm>
            <a:prstGeom prst="rect">
              <a:avLst/>
            </a:prstGeom>
            <a:blipFill>
              <a:blip r:embed="rId11" cstate="print"/>
              <a:stretch>
                <a:fillRect/>
              </a:stretch>
            </a:blipFill>
          </p:spPr>
          <p:txBody>
            <a:bodyPr wrap="square" lIns="0" tIns="0" rIns="0" bIns="0" rtlCol="0"/>
            <a:lstStyle/>
            <a:p>
              <a:endParaRPr/>
            </a:p>
          </p:txBody>
        </p:sp>
        <p:sp>
          <p:nvSpPr>
            <p:cNvPr id="17" name="object 17"/>
            <p:cNvSpPr/>
            <p:nvPr/>
          </p:nvSpPr>
          <p:spPr>
            <a:xfrm>
              <a:off x="3218688" y="3288791"/>
              <a:ext cx="487679" cy="576072"/>
            </a:xfrm>
            <a:prstGeom prst="rect">
              <a:avLst/>
            </a:prstGeom>
            <a:blipFill>
              <a:blip r:embed="rId12" cstate="print"/>
              <a:stretch>
                <a:fillRect/>
              </a:stretch>
            </a:blipFill>
          </p:spPr>
          <p:txBody>
            <a:bodyPr wrap="square" lIns="0" tIns="0" rIns="0" bIns="0" rtlCol="0"/>
            <a:lstStyle/>
            <a:p>
              <a:endParaRPr/>
            </a:p>
          </p:txBody>
        </p:sp>
        <p:sp>
          <p:nvSpPr>
            <p:cNvPr id="18" name="object 18"/>
            <p:cNvSpPr/>
            <p:nvPr/>
          </p:nvSpPr>
          <p:spPr>
            <a:xfrm>
              <a:off x="3218688" y="3739896"/>
              <a:ext cx="487679" cy="576071"/>
            </a:xfrm>
            <a:prstGeom prst="rect">
              <a:avLst/>
            </a:prstGeom>
            <a:blipFill>
              <a:blip r:embed="rId13" cstate="print"/>
              <a:stretch>
                <a:fillRect/>
              </a:stretch>
            </a:blipFill>
          </p:spPr>
          <p:txBody>
            <a:bodyPr wrap="square" lIns="0" tIns="0" rIns="0" bIns="0" rtlCol="0"/>
            <a:lstStyle/>
            <a:p>
              <a:endParaRPr/>
            </a:p>
          </p:txBody>
        </p:sp>
        <p:sp>
          <p:nvSpPr>
            <p:cNvPr id="19" name="object 19"/>
            <p:cNvSpPr/>
            <p:nvPr/>
          </p:nvSpPr>
          <p:spPr>
            <a:xfrm>
              <a:off x="3218688" y="4184904"/>
              <a:ext cx="487679" cy="576072"/>
            </a:xfrm>
            <a:prstGeom prst="rect">
              <a:avLst/>
            </a:prstGeom>
            <a:blipFill>
              <a:blip r:embed="rId14" cstate="print"/>
              <a:stretch>
                <a:fillRect/>
              </a:stretch>
            </a:blipFill>
          </p:spPr>
          <p:txBody>
            <a:bodyPr wrap="square" lIns="0" tIns="0" rIns="0" bIns="0" rtlCol="0"/>
            <a:lstStyle/>
            <a:p>
              <a:endParaRPr/>
            </a:p>
          </p:txBody>
        </p:sp>
        <p:sp>
          <p:nvSpPr>
            <p:cNvPr id="20" name="object 20"/>
            <p:cNvSpPr/>
            <p:nvPr/>
          </p:nvSpPr>
          <p:spPr>
            <a:xfrm>
              <a:off x="3218688" y="4617720"/>
              <a:ext cx="487679" cy="576071"/>
            </a:xfrm>
            <a:prstGeom prst="rect">
              <a:avLst/>
            </a:prstGeom>
            <a:blipFill>
              <a:blip r:embed="rId15" cstate="print"/>
              <a:stretch>
                <a:fillRect/>
              </a:stretch>
            </a:blipFill>
          </p:spPr>
          <p:txBody>
            <a:bodyPr wrap="square" lIns="0" tIns="0" rIns="0" bIns="0" rtlCol="0"/>
            <a:lstStyle/>
            <a:p>
              <a:endParaRPr/>
            </a:p>
          </p:txBody>
        </p:sp>
        <p:sp>
          <p:nvSpPr>
            <p:cNvPr id="21" name="object 21"/>
            <p:cNvSpPr/>
            <p:nvPr/>
          </p:nvSpPr>
          <p:spPr>
            <a:xfrm>
              <a:off x="3218688" y="5053583"/>
              <a:ext cx="487679" cy="576071"/>
            </a:xfrm>
            <a:prstGeom prst="rect">
              <a:avLst/>
            </a:prstGeom>
            <a:blipFill>
              <a:blip r:embed="rId16" cstate="print"/>
              <a:stretch>
                <a:fillRect/>
              </a:stretch>
            </a:blipFill>
          </p:spPr>
          <p:txBody>
            <a:bodyPr wrap="square" lIns="0" tIns="0" rIns="0" bIns="0" rtlCol="0"/>
            <a:lstStyle/>
            <a:p>
              <a:endParaRPr/>
            </a:p>
          </p:txBody>
        </p:sp>
        <p:sp>
          <p:nvSpPr>
            <p:cNvPr id="22" name="object 22"/>
            <p:cNvSpPr/>
            <p:nvPr/>
          </p:nvSpPr>
          <p:spPr>
            <a:xfrm>
              <a:off x="3078479" y="5504688"/>
              <a:ext cx="627888" cy="576072"/>
            </a:xfrm>
            <a:prstGeom prst="rect">
              <a:avLst/>
            </a:prstGeom>
            <a:blipFill>
              <a:blip r:embed="rId17" cstate="print"/>
              <a:stretch>
                <a:fillRect/>
              </a:stretch>
            </a:blipFill>
          </p:spPr>
          <p:txBody>
            <a:bodyPr wrap="square" lIns="0" tIns="0" rIns="0" bIns="0" rtlCol="0"/>
            <a:lstStyle/>
            <a:p>
              <a:endParaRPr/>
            </a:p>
          </p:txBody>
        </p:sp>
        <p:sp>
          <p:nvSpPr>
            <p:cNvPr id="23" name="object 23"/>
            <p:cNvSpPr/>
            <p:nvPr/>
          </p:nvSpPr>
          <p:spPr>
            <a:xfrm>
              <a:off x="4562856" y="2602992"/>
              <a:ext cx="996696" cy="576072"/>
            </a:xfrm>
            <a:prstGeom prst="rect">
              <a:avLst/>
            </a:prstGeom>
            <a:blipFill>
              <a:blip r:embed="rId18" cstate="print"/>
              <a:stretch>
                <a:fillRect/>
              </a:stretch>
            </a:blipFill>
          </p:spPr>
          <p:txBody>
            <a:bodyPr wrap="square" lIns="0" tIns="0" rIns="0" bIns="0" rtlCol="0"/>
            <a:lstStyle/>
            <a:p>
              <a:endParaRPr/>
            </a:p>
          </p:txBody>
        </p:sp>
        <p:sp>
          <p:nvSpPr>
            <p:cNvPr id="24" name="object 24"/>
            <p:cNvSpPr/>
            <p:nvPr/>
          </p:nvSpPr>
          <p:spPr>
            <a:xfrm>
              <a:off x="4559808" y="2877312"/>
              <a:ext cx="932688" cy="576072"/>
            </a:xfrm>
            <a:prstGeom prst="rect">
              <a:avLst/>
            </a:prstGeom>
            <a:blipFill>
              <a:blip r:embed="rId11" cstate="print"/>
              <a:stretch>
                <a:fillRect/>
              </a:stretch>
            </a:blipFill>
          </p:spPr>
          <p:txBody>
            <a:bodyPr wrap="square" lIns="0" tIns="0" rIns="0" bIns="0" rtlCol="0"/>
            <a:lstStyle/>
            <a:p>
              <a:endParaRPr/>
            </a:p>
          </p:txBody>
        </p:sp>
        <p:sp>
          <p:nvSpPr>
            <p:cNvPr id="25" name="object 25"/>
            <p:cNvSpPr/>
            <p:nvPr/>
          </p:nvSpPr>
          <p:spPr>
            <a:xfrm>
              <a:off x="5593079" y="2602992"/>
              <a:ext cx="1420368" cy="576072"/>
            </a:xfrm>
            <a:prstGeom prst="rect">
              <a:avLst/>
            </a:prstGeom>
            <a:blipFill>
              <a:blip r:embed="rId19" cstate="print"/>
              <a:stretch>
                <a:fillRect/>
              </a:stretch>
            </a:blipFill>
          </p:spPr>
          <p:txBody>
            <a:bodyPr wrap="square" lIns="0" tIns="0" rIns="0" bIns="0" rtlCol="0"/>
            <a:lstStyle/>
            <a:p>
              <a:endParaRPr/>
            </a:p>
          </p:txBody>
        </p:sp>
        <p:sp>
          <p:nvSpPr>
            <p:cNvPr id="26" name="object 26"/>
            <p:cNvSpPr/>
            <p:nvPr/>
          </p:nvSpPr>
          <p:spPr>
            <a:xfrm>
              <a:off x="5818632" y="2877312"/>
              <a:ext cx="896112" cy="576072"/>
            </a:xfrm>
            <a:prstGeom prst="rect">
              <a:avLst/>
            </a:prstGeom>
            <a:blipFill>
              <a:blip r:embed="rId20" cstate="print"/>
              <a:stretch>
                <a:fillRect/>
              </a:stretch>
            </a:blipFill>
          </p:spPr>
          <p:txBody>
            <a:bodyPr wrap="square" lIns="0" tIns="0" rIns="0" bIns="0" rtlCol="0"/>
            <a:lstStyle/>
            <a:p>
              <a:endParaRPr/>
            </a:p>
          </p:txBody>
        </p:sp>
        <p:sp>
          <p:nvSpPr>
            <p:cNvPr id="27" name="object 27"/>
            <p:cNvSpPr/>
            <p:nvPr/>
          </p:nvSpPr>
          <p:spPr>
            <a:xfrm>
              <a:off x="7324343" y="2602992"/>
              <a:ext cx="868679" cy="576072"/>
            </a:xfrm>
            <a:prstGeom prst="rect">
              <a:avLst/>
            </a:prstGeom>
            <a:blipFill>
              <a:blip r:embed="rId21" cstate="print"/>
              <a:stretch>
                <a:fillRect/>
              </a:stretch>
            </a:blipFill>
          </p:spPr>
          <p:txBody>
            <a:bodyPr wrap="square" lIns="0" tIns="0" rIns="0" bIns="0" rtlCol="0"/>
            <a:lstStyle/>
            <a:p>
              <a:endParaRPr/>
            </a:p>
          </p:txBody>
        </p:sp>
        <p:sp>
          <p:nvSpPr>
            <p:cNvPr id="28" name="object 28"/>
            <p:cNvSpPr/>
            <p:nvPr/>
          </p:nvSpPr>
          <p:spPr>
            <a:xfrm>
              <a:off x="7001256" y="2877312"/>
              <a:ext cx="1444752" cy="576072"/>
            </a:xfrm>
            <a:prstGeom prst="rect">
              <a:avLst/>
            </a:prstGeom>
            <a:blipFill>
              <a:blip r:embed="rId22" cstate="print"/>
              <a:stretch>
                <a:fillRect/>
              </a:stretch>
            </a:blipFill>
          </p:spPr>
          <p:txBody>
            <a:bodyPr wrap="square" lIns="0" tIns="0" rIns="0" bIns="0" rtlCol="0"/>
            <a:lstStyle/>
            <a:p>
              <a:endParaRPr/>
            </a:p>
          </p:txBody>
        </p:sp>
        <p:sp>
          <p:nvSpPr>
            <p:cNvPr id="29" name="object 29"/>
            <p:cNvSpPr/>
            <p:nvPr/>
          </p:nvSpPr>
          <p:spPr>
            <a:xfrm>
              <a:off x="4858512" y="3288791"/>
              <a:ext cx="487679" cy="576072"/>
            </a:xfrm>
            <a:prstGeom prst="rect">
              <a:avLst/>
            </a:prstGeom>
            <a:blipFill>
              <a:blip r:embed="rId12" cstate="print"/>
              <a:stretch>
                <a:fillRect/>
              </a:stretch>
            </a:blipFill>
          </p:spPr>
          <p:txBody>
            <a:bodyPr wrap="square" lIns="0" tIns="0" rIns="0" bIns="0" rtlCol="0"/>
            <a:lstStyle/>
            <a:p>
              <a:endParaRPr/>
            </a:p>
          </p:txBody>
        </p:sp>
        <p:sp>
          <p:nvSpPr>
            <p:cNvPr id="30" name="object 30"/>
            <p:cNvSpPr/>
            <p:nvPr/>
          </p:nvSpPr>
          <p:spPr>
            <a:xfrm>
              <a:off x="5946647" y="3288791"/>
              <a:ext cx="627888" cy="576072"/>
            </a:xfrm>
            <a:prstGeom prst="rect">
              <a:avLst/>
            </a:prstGeom>
            <a:blipFill>
              <a:blip r:embed="rId23" cstate="print"/>
              <a:stretch>
                <a:fillRect/>
              </a:stretch>
            </a:blipFill>
          </p:spPr>
          <p:txBody>
            <a:bodyPr wrap="square" lIns="0" tIns="0" rIns="0" bIns="0" rtlCol="0"/>
            <a:lstStyle/>
            <a:p>
              <a:endParaRPr/>
            </a:p>
          </p:txBody>
        </p:sp>
        <p:sp>
          <p:nvSpPr>
            <p:cNvPr id="31" name="object 31"/>
            <p:cNvSpPr/>
            <p:nvPr/>
          </p:nvSpPr>
          <p:spPr>
            <a:xfrm>
              <a:off x="7623047" y="3288791"/>
              <a:ext cx="487679" cy="576072"/>
            </a:xfrm>
            <a:prstGeom prst="rect">
              <a:avLst/>
            </a:prstGeom>
            <a:blipFill>
              <a:blip r:embed="rId24" cstate="print"/>
              <a:stretch>
                <a:fillRect/>
              </a:stretch>
            </a:blipFill>
          </p:spPr>
          <p:txBody>
            <a:bodyPr wrap="square" lIns="0" tIns="0" rIns="0" bIns="0" rtlCol="0"/>
            <a:lstStyle/>
            <a:p>
              <a:endParaRPr/>
            </a:p>
          </p:txBody>
        </p:sp>
        <p:sp>
          <p:nvSpPr>
            <p:cNvPr id="32" name="object 32"/>
            <p:cNvSpPr/>
            <p:nvPr/>
          </p:nvSpPr>
          <p:spPr>
            <a:xfrm>
              <a:off x="4718303" y="3739896"/>
              <a:ext cx="627888" cy="576071"/>
            </a:xfrm>
            <a:prstGeom prst="rect">
              <a:avLst/>
            </a:prstGeom>
            <a:blipFill>
              <a:blip r:embed="rId25" cstate="print"/>
              <a:stretch>
                <a:fillRect/>
              </a:stretch>
            </a:blipFill>
          </p:spPr>
          <p:txBody>
            <a:bodyPr wrap="square" lIns="0" tIns="0" rIns="0" bIns="0" rtlCol="0"/>
            <a:lstStyle/>
            <a:p>
              <a:endParaRPr/>
            </a:p>
          </p:txBody>
        </p:sp>
        <p:sp>
          <p:nvSpPr>
            <p:cNvPr id="33" name="object 33"/>
            <p:cNvSpPr/>
            <p:nvPr/>
          </p:nvSpPr>
          <p:spPr>
            <a:xfrm>
              <a:off x="5946647" y="3739896"/>
              <a:ext cx="627888" cy="576071"/>
            </a:xfrm>
            <a:prstGeom prst="rect">
              <a:avLst/>
            </a:prstGeom>
            <a:blipFill>
              <a:blip r:embed="rId26" cstate="print"/>
              <a:stretch>
                <a:fillRect/>
              </a:stretch>
            </a:blipFill>
          </p:spPr>
          <p:txBody>
            <a:bodyPr wrap="square" lIns="0" tIns="0" rIns="0" bIns="0" rtlCol="0"/>
            <a:lstStyle/>
            <a:p>
              <a:endParaRPr/>
            </a:p>
          </p:txBody>
        </p:sp>
        <p:sp>
          <p:nvSpPr>
            <p:cNvPr id="34" name="object 34"/>
            <p:cNvSpPr/>
            <p:nvPr/>
          </p:nvSpPr>
          <p:spPr>
            <a:xfrm>
              <a:off x="7623047" y="3739896"/>
              <a:ext cx="487679" cy="576071"/>
            </a:xfrm>
            <a:prstGeom prst="rect">
              <a:avLst/>
            </a:prstGeom>
            <a:blipFill>
              <a:blip r:embed="rId27" cstate="print"/>
              <a:stretch>
                <a:fillRect/>
              </a:stretch>
            </a:blipFill>
          </p:spPr>
          <p:txBody>
            <a:bodyPr wrap="square" lIns="0" tIns="0" rIns="0" bIns="0" rtlCol="0"/>
            <a:lstStyle/>
            <a:p>
              <a:endParaRPr/>
            </a:p>
          </p:txBody>
        </p:sp>
        <p:sp>
          <p:nvSpPr>
            <p:cNvPr id="35" name="object 35"/>
            <p:cNvSpPr/>
            <p:nvPr/>
          </p:nvSpPr>
          <p:spPr>
            <a:xfrm>
              <a:off x="4718303" y="4184904"/>
              <a:ext cx="627888" cy="576072"/>
            </a:xfrm>
            <a:prstGeom prst="rect">
              <a:avLst/>
            </a:prstGeom>
            <a:blipFill>
              <a:blip r:embed="rId28" cstate="print"/>
              <a:stretch>
                <a:fillRect/>
              </a:stretch>
            </a:blipFill>
          </p:spPr>
          <p:txBody>
            <a:bodyPr wrap="square" lIns="0" tIns="0" rIns="0" bIns="0" rtlCol="0"/>
            <a:lstStyle/>
            <a:p>
              <a:endParaRPr/>
            </a:p>
          </p:txBody>
        </p:sp>
        <p:sp>
          <p:nvSpPr>
            <p:cNvPr id="36" name="object 36"/>
            <p:cNvSpPr/>
            <p:nvPr/>
          </p:nvSpPr>
          <p:spPr>
            <a:xfrm>
              <a:off x="6086856" y="4184904"/>
              <a:ext cx="487679" cy="576072"/>
            </a:xfrm>
            <a:prstGeom prst="rect">
              <a:avLst/>
            </a:prstGeom>
            <a:blipFill>
              <a:blip r:embed="rId29" cstate="print"/>
              <a:stretch>
                <a:fillRect/>
              </a:stretch>
            </a:blipFill>
          </p:spPr>
          <p:txBody>
            <a:bodyPr wrap="square" lIns="0" tIns="0" rIns="0" bIns="0" rtlCol="0"/>
            <a:lstStyle/>
            <a:p>
              <a:endParaRPr/>
            </a:p>
          </p:txBody>
        </p:sp>
        <p:sp>
          <p:nvSpPr>
            <p:cNvPr id="37" name="object 37"/>
            <p:cNvSpPr/>
            <p:nvPr/>
          </p:nvSpPr>
          <p:spPr>
            <a:xfrm>
              <a:off x="7482840" y="4184904"/>
              <a:ext cx="627888" cy="576072"/>
            </a:xfrm>
            <a:prstGeom prst="rect">
              <a:avLst/>
            </a:prstGeom>
            <a:blipFill>
              <a:blip r:embed="rId30" cstate="print"/>
              <a:stretch>
                <a:fillRect/>
              </a:stretch>
            </a:blipFill>
          </p:spPr>
          <p:txBody>
            <a:bodyPr wrap="square" lIns="0" tIns="0" rIns="0" bIns="0" rtlCol="0"/>
            <a:lstStyle/>
            <a:p>
              <a:endParaRPr/>
            </a:p>
          </p:txBody>
        </p:sp>
        <p:sp>
          <p:nvSpPr>
            <p:cNvPr id="38" name="object 38"/>
            <p:cNvSpPr/>
            <p:nvPr/>
          </p:nvSpPr>
          <p:spPr>
            <a:xfrm>
              <a:off x="4718303" y="4617720"/>
              <a:ext cx="627888" cy="576071"/>
            </a:xfrm>
            <a:prstGeom prst="rect">
              <a:avLst/>
            </a:prstGeom>
            <a:blipFill>
              <a:blip r:embed="rId31" cstate="print"/>
              <a:stretch>
                <a:fillRect/>
              </a:stretch>
            </a:blipFill>
          </p:spPr>
          <p:txBody>
            <a:bodyPr wrap="square" lIns="0" tIns="0" rIns="0" bIns="0" rtlCol="0"/>
            <a:lstStyle/>
            <a:p>
              <a:endParaRPr/>
            </a:p>
          </p:txBody>
        </p:sp>
        <p:sp>
          <p:nvSpPr>
            <p:cNvPr id="39" name="object 39"/>
            <p:cNvSpPr/>
            <p:nvPr/>
          </p:nvSpPr>
          <p:spPr>
            <a:xfrm>
              <a:off x="5946647" y="4617720"/>
              <a:ext cx="627888" cy="576071"/>
            </a:xfrm>
            <a:prstGeom prst="rect">
              <a:avLst/>
            </a:prstGeom>
            <a:blipFill>
              <a:blip r:embed="rId32" cstate="print"/>
              <a:stretch>
                <a:fillRect/>
              </a:stretch>
            </a:blipFill>
          </p:spPr>
          <p:txBody>
            <a:bodyPr wrap="square" lIns="0" tIns="0" rIns="0" bIns="0" rtlCol="0"/>
            <a:lstStyle/>
            <a:p>
              <a:endParaRPr/>
            </a:p>
          </p:txBody>
        </p:sp>
        <p:sp>
          <p:nvSpPr>
            <p:cNvPr id="40" name="object 40"/>
            <p:cNvSpPr/>
            <p:nvPr/>
          </p:nvSpPr>
          <p:spPr>
            <a:xfrm>
              <a:off x="7498080" y="4617720"/>
              <a:ext cx="612648" cy="576071"/>
            </a:xfrm>
            <a:prstGeom prst="rect">
              <a:avLst/>
            </a:prstGeom>
            <a:blipFill>
              <a:blip r:embed="rId33" cstate="print"/>
              <a:stretch>
                <a:fillRect/>
              </a:stretch>
            </a:blipFill>
          </p:spPr>
          <p:txBody>
            <a:bodyPr wrap="square" lIns="0" tIns="0" rIns="0" bIns="0" rtlCol="0"/>
            <a:lstStyle/>
            <a:p>
              <a:endParaRPr/>
            </a:p>
          </p:txBody>
        </p:sp>
        <p:sp>
          <p:nvSpPr>
            <p:cNvPr id="41" name="object 41"/>
            <p:cNvSpPr/>
            <p:nvPr/>
          </p:nvSpPr>
          <p:spPr>
            <a:xfrm>
              <a:off x="4718303" y="5053583"/>
              <a:ext cx="627888" cy="576071"/>
            </a:xfrm>
            <a:prstGeom prst="rect">
              <a:avLst/>
            </a:prstGeom>
            <a:blipFill>
              <a:blip r:embed="rId34" cstate="print"/>
              <a:stretch>
                <a:fillRect/>
              </a:stretch>
            </a:blipFill>
          </p:spPr>
          <p:txBody>
            <a:bodyPr wrap="square" lIns="0" tIns="0" rIns="0" bIns="0" rtlCol="0"/>
            <a:lstStyle/>
            <a:p>
              <a:endParaRPr/>
            </a:p>
          </p:txBody>
        </p:sp>
        <p:sp>
          <p:nvSpPr>
            <p:cNvPr id="42" name="object 42"/>
            <p:cNvSpPr/>
            <p:nvPr/>
          </p:nvSpPr>
          <p:spPr>
            <a:xfrm>
              <a:off x="6086856" y="5053583"/>
              <a:ext cx="487679" cy="576071"/>
            </a:xfrm>
            <a:prstGeom prst="rect">
              <a:avLst/>
            </a:prstGeom>
            <a:blipFill>
              <a:blip r:embed="rId35" cstate="print"/>
              <a:stretch>
                <a:fillRect/>
              </a:stretch>
            </a:blipFill>
          </p:spPr>
          <p:txBody>
            <a:bodyPr wrap="square" lIns="0" tIns="0" rIns="0" bIns="0" rtlCol="0"/>
            <a:lstStyle/>
            <a:p>
              <a:endParaRPr/>
            </a:p>
          </p:txBody>
        </p:sp>
        <p:sp>
          <p:nvSpPr>
            <p:cNvPr id="43" name="object 43"/>
            <p:cNvSpPr/>
            <p:nvPr/>
          </p:nvSpPr>
          <p:spPr>
            <a:xfrm>
              <a:off x="7482840" y="5053583"/>
              <a:ext cx="627888" cy="576071"/>
            </a:xfrm>
            <a:prstGeom prst="rect">
              <a:avLst/>
            </a:prstGeom>
            <a:blipFill>
              <a:blip r:embed="rId36" cstate="print"/>
              <a:stretch>
                <a:fillRect/>
              </a:stretch>
            </a:blipFill>
          </p:spPr>
          <p:txBody>
            <a:bodyPr wrap="square" lIns="0" tIns="0" rIns="0" bIns="0" rtlCol="0"/>
            <a:lstStyle/>
            <a:p>
              <a:endParaRPr/>
            </a:p>
          </p:txBody>
        </p:sp>
        <p:sp>
          <p:nvSpPr>
            <p:cNvPr id="44" name="object 44"/>
            <p:cNvSpPr/>
            <p:nvPr/>
          </p:nvSpPr>
          <p:spPr>
            <a:xfrm>
              <a:off x="4578095" y="5504688"/>
              <a:ext cx="768096" cy="576072"/>
            </a:xfrm>
            <a:prstGeom prst="rect">
              <a:avLst/>
            </a:prstGeom>
            <a:blipFill>
              <a:blip r:embed="rId37" cstate="print"/>
              <a:stretch>
                <a:fillRect/>
              </a:stretch>
            </a:blipFill>
          </p:spPr>
          <p:txBody>
            <a:bodyPr wrap="square" lIns="0" tIns="0" rIns="0" bIns="0" rtlCol="0"/>
            <a:lstStyle/>
            <a:p>
              <a:endParaRPr/>
            </a:p>
          </p:txBody>
        </p:sp>
        <p:sp>
          <p:nvSpPr>
            <p:cNvPr id="45" name="object 45"/>
            <p:cNvSpPr/>
            <p:nvPr/>
          </p:nvSpPr>
          <p:spPr>
            <a:xfrm>
              <a:off x="7482840" y="5504688"/>
              <a:ext cx="627888" cy="576072"/>
            </a:xfrm>
            <a:prstGeom prst="rect">
              <a:avLst/>
            </a:prstGeom>
            <a:blipFill>
              <a:blip r:embed="rId38" cstate="print"/>
              <a:stretch>
                <a:fillRect/>
              </a:stretch>
            </a:blipFill>
          </p:spPr>
          <p:txBody>
            <a:bodyPr wrap="square" lIns="0" tIns="0" rIns="0" bIns="0" rtlCol="0"/>
            <a:lstStyle/>
            <a:p>
              <a:endParaRPr/>
            </a:p>
          </p:txBody>
        </p:sp>
      </p:grpSp>
      <p:sp>
        <p:nvSpPr>
          <p:cNvPr id="46" name="object 46"/>
          <p:cNvSpPr txBox="1"/>
          <p:nvPr/>
        </p:nvSpPr>
        <p:spPr>
          <a:xfrm>
            <a:off x="736193" y="1610994"/>
            <a:ext cx="4243070" cy="453390"/>
          </a:xfrm>
          <a:prstGeom prst="rect">
            <a:avLst/>
          </a:prstGeom>
        </p:spPr>
        <p:txBody>
          <a:bodyPr vert="horz" wrap="square" lIns="0" tIns="13335" rIns="0" bIns="0" rtlCol="0">
            <a:spAutoFit/>
          </a:bodyPr>
          <a:lstStyle/>
          <a:p>
            <a:pPr marL="12700">
              <a:lnSpc>
                <a:spcPct val="100000"/>
              </a:lnSpc>
              <a:spcBef>
                <a:spcPts val="105"/>
              </a:spcBef>
            </a:pPr>
            <a:r>
              <a:rPr sz="2800" spc="-80" dirty="0">
                <a:latin typeface="Arial"/>
                <a:cs typeface="Arial"/>
              </a:rPr>
              <a:t>LPT: </a:t>
            </a:r>
            <a:r>
              <a:rPr sz="2800" dirty="0">
                <a:latin typeface="Arial"/>
                <a:cs typeface="Arial"/>
              </a:rPr>
              <a:t>Sequence</a:t>
            </a:r>
            <a:r>
              <a:rPr sz="2800" spc="20" dirty="0">
                <a:latin typeface="Arial"/>
                <a:cs typeface="Arial"/>
              </a:rPr>
              <a:t> </a:t>
            </a:r>
            <a:r>
              <a:rPr sz="2800" dirty="0">
                <a:latin typeface="Arial"/>
                <a:cs typeface="Arial"/>
              </a:rPr>
              <a:t>E-C-A-D-B</a:t>
            </a:r>
            <a:endParaRPr sz="2800">
              <a:latin typeface="Arial"/>
              <a:cs typeface="Arial"/>
            </a:endParaRPr>
          </a:p>
        </p:txBody>
      </p:sp>
      <p:grpSp>
        <p:nvGrpSpPr>
          <p:cNvPr id="47" name="object 47"/>
          <p:cNvGrpSpPr/>
          <p:nvPr/>
        </p:nvGrpSpPr>
        <p:grpSpPr>
          <a:xfrm>
            <a:off x="341185" y="2456497"/>
            <a:ext cx="8467725" cy="3438525"/>
            <a:chOff x="341185" y="2456497"/>
            <a:chExt cx="8467725" cy="3438525"/>
          </a:xfrm>
        </p:grpSpPr>
        <p:sp>
          <p:nvSpPr>
            <p:cNvPr id="48" name="object 48"/>
            <p:cNvSpPr/>
            <p:nvPr/>
          </p:nvSpPr>
          <p:spPr>
            <a:xfrm>
              <a:off x="345947" y="2461260"/>
              <a:ext cx="8458200" cy="3429000"/>
            </a:xfrm>
            <a:custGeom>
              <a:avLst/>
              <a:gdLst/>
              <a:ahLst/>
              <a:cxnLst/>
              <a:rect l="l" t="t" r="r" b="b"/>
              <a:pathLst>
                <a:path w="8458200" h="3429000">
                  <a:moveTo>
                    <a:pt x="8458200" y="0"/>
                  </a:moveTo>
                  <a:lnTo>
                    <a:pt x="0" y="0"/>
                  </a:lnTo>
                  <a:lnTo>
                    <a:pt x="0" y="3429000"/>
                  </a:lnTo>
                  <a:lnTo>
                    <a:pt x="8458200" y="3429000"/>
                  </a:lnTo>
                  <a:lnTo>
                    <a:pt x="8458200" y="0"/>
                  </a:lnTo>
                  <a:close/>
                </a:path>
              </a:pathLst>
            </a:custGeom>
            <a:solidFill>
              <a:srgbClr val="99CCFF"/>
            </a:solidFill>
          </p:spPr>
          <p:txBody>
            <a:bodyPr wrap="square" lIns="0" tIns="0" rIns="0" bIns="0" rtlCol="0"/>
            <a:lstStyle/>
            <a:p>
              <a:endParaRPr/>
            </a:p>
          </p:txBody>
        </p:sp>
        <p:sp>
          <p:nvSpPr>
            <p:cNvPr id="49" name="object 49"/>
            <p:cNvSpPr/>
            <p:nvPr/>
          </p:nvSpPr>
          <p:spPr>
            <a:xfrm>
              <a:off x="345947" y="2461260"/>
              <a:ext cx="8458200" cy="3429000"/>
            </a:xfrm>
            <a:custGeom>
              <a:avLst/>
              <a:gdLst/>
              <a:ahLst/>
              <a:cxnLst/>
              <a:rect l="l" t="t" r="r" b="b"/>
              <a:pathLst>
                <a:path w="8458200" h="3429000">
                  <a:moveTo>
                    <a:pt x="0" y="3429000"/>
                  </a:moveTo>
                  <a:lnTo>
                    <a:pt x="8458200" y="3429000"/>
                  </a:lnTo>
                  <a:lnTo>
                    <a:pt x="8458200" y="0"/>
                  </a:lnTo>
                  <a:lnTo>
                    <a:pt x="0" y="0"/>
                  </a:lnTo>
                  <a:lnTo>
                    <a:pt x="0" y="3429000"/>
                  </a:lnTo>
                  <a:close/>
                </a:path>
              </a:pathLst>
            </a:custGeom>
            <a:ln w="9144">
              <a:solidFill>
                <a:srgbClr val="000000"/>
              </a:solidFill>
            </a:ln>
          </p:spPr>
          <p:txBody>
            <a:bodyPr wrap="square" lIns="0" tIns="0" rIns="0" bIns="0" rtlCol="0"/>
            <a:lstStyle/>
            <a:p>
              <a:endParaRPr/>
            </a:p>
          </p:txBody>
        </p:sp>
      </p:grpSp>
      <p:sp>
        <p:nvSpPr>
          <p:cNvPr id="50" name="object 50"/>
          <p:cNvSpPr txBox="1"/>
          <p:nvPr/>
        </p:nvSpPr>
        <p:spPr>
          <a:xfrm>
            <a:off x="467868" y="2816098"/>
            <a:ext cx="8177530" cy="329565"/>
          </a:xfrm>
          <a:prstGeom prst="rect">
            <a:avLst/>
          </a:prstGeom>
        </p:spPr>
        <p:txBody>
          <a:bodyPr vert="horz" wrap="square" lIns="0" tIns="11430" rIns="0" bIns="0" rtlCol="0">
            <a:spAutoFit/>
          </a:bodyPr>
          <a:lstStyle/>
          <a:p>
            <a:pPr marL="38100">
              <a:lnSpc>
                <a:spcPct val="100000"/>
              </a:lnSpc>
              <a:spcBef>
                <a:spcPts val="90"/>
              </a:spcBef>
            </a:pPr>
            <a:r>
              <a:rPr sz="2000" b="1" i="1" spc="-10" dirty="0">
                <a:latin typeface="Arial"/>
                <a:cs typeface="Arial"/>
              </a:rPr>
              <a:t>Average </a:t>
            </a:r>
            <a:r>
              <a:rPr sz="2000" b="1" i="1" spc="-5" dirty="0">
                <a:latin typeface="Arial"/>
                <a:cs typeface="Arial"/>
              </a:rPr>
              <a:t>completion time </a:t>
            </a:r>
            <a:r>
              <a:rPr sz="2000" b="1" spc="-5" dirty="0">
                <a:latin typeface="Arial"/>
                <a:cs typeface="Arial"/>
              </a:rPr>
              <a:t>= </a:t>
            </a:r>
            <a:r>
              <a:rPr sz="2700" b="1" i="1" baseline="44753" dirty="0">
                <a:latin typeface="Arial"/>
                <a:cs typeface="Arial"/>
              </a:rPr>
              <a:t>Sum of total flow time </a:t>
            </a:r>
            <a:r>
              <a:rPr sz="2000" b="1" spc="-5" dirty="0">
                <a:latin typeface="Arial"/>
                <a:cs typeface="Arial"/>
              </a:rPr>
              <a:t>= 103/5 = 20.6</a:t>
            </a:r>
            <a:r>
              <a:rPr sz="2000" b="1" spc="-415" dirty="0">
                <a:latin typeface="Arial"/>
                <a:cs typeface="Arial"/>
              </a:rPr>
              <a:t> </a:t>
            </a:r>
            <a:r>
              <a:rPr sz="2000" b="1" i="1" spc="-10" dirty="0">
                <a:latin typeface="Arial"/>
                <a:cs typeface="Arial"/>
              </a:rPr>
              <a:t>days</a:t>
            </a:r>
            <a:endParaRPr sz="2000">
              <a:latin typeface="Arial"/>
              <a:cs typeface="Arial"/>
            </a:endParaRPr>
          </a:p>
        </p:txBody>
      </p:sp>
      <p:sp>
        <p:nvSpPr>
          <p:cNvPr id="51" name="object 51"/>
          <p:cNvSpPr txBox="1"/>
          <p:nvPr/>
        </p:nvSpPr>
        <p:spPr>
          <a:xfrm>
            <a:off x="4184396" y="2960623"/>
            <a:ext cx="1702435" cy="299720"/>
          </a:xfrm>
          <a:prstGeom prst="rect">
            <a:avLst/>
          </a:prstGeom>
        </p:spPr>
        <p:txBody>
          <a:bodyPr vert="horz" wrap="square" lIns="0" tIns="12700" rIns="0" bIns="0" rtlCol="0">
            <a:spAutoFit/>
          </a:bodyPr>
          <a:lstStyle/>
          <a:p>
            <a:pPr marL="12700">
              <a:lnSpc>
                <a:spcPct val="100000"/>
              </a:lnSpc>
              <a:spcBef>
                <a:spcPts val="100"/>
              </a:spcBef>
            </a:pPr>
            <a:r>
              <a:rPr sz="1800" b="1" i="1" dirty="0">
                <a:latin typeface="Arial"/>
                <a:cs typeface="Arial"/>
              </a:rPr>
              <a:t>Number of</a:t>
            </a:r>
            <a:r>
              <a:rPr sz="1800" b="1" i="1" spc="-100" dirty="0">
                <a:latin typeface="Arial"/>
                <a:cs typeface="Arial"/>
              </a:rPr>
              <a:t> </a:t>
            </a:r>
            <a:r>
              <a:rPr sz="1800" b="1" i="1" dirty="0">
                <a:latin typeface="Arial"/>
                <a:cs typeface="Arial"/>
              </a:rPr>
              <a:t>jobs</a:t>
            </a:r>
            <a:endParaRPr sz="1800">
              <a:latin typeface="Arial"/>
              <a:cs typeface="Arial"/>
            </a:endParaRPr>
          </a:p>
        </p:txBody>
      </p:sp>
      <p:sp>
        <p:nvSpPr>
          <p:cNvPr id="52" name="object 52"/>
          <p:cNvSpPr/>
          <p:nvPr/>
        </p:nvSpPr>
        <p:spPr>
          <a:xfrm>
            <a:off x="3076955" y="2994660"/>
            <a:ext cx="3161030" cy="814069"/>
          </a:xfrm>
          <a:custGeom>
            <a:avLst/>
            <a:gdLst/>
            <a:ahLst/>
            <a:cxnLst/>
            <a:rect l="l" t="t" r="r" b="b"/>
            <a:pathLst>
              <a:path w="3161029" h="814070">
                <a:moveTo>
                  <a:pt x="3160776" y="0"/>
                </a:moveTo>
                <a:lnTo>
                  <a:pt x="771144" y="0"/>
                </a:lnTo>
              </a:path>
              <a:path w="3161029" h="814070">
                <a:moveTo>
                  <a:pt x="0" y="813815"/>
                </a:moveTo>
                <a:lnTo>
                  <a:pt x="2395728" y="813815"/>
                </a:lnTo>
              </a:path>
            </a:pathLst>
          </a:custGeom>
          <a:ln w="27432">
            <a:solidFill>
              <a:srgbClr val="000000"/>
            </a:solidFill>
          </a:ln>
        </p:spPr>
        <p:txBody>
          <a:bodyPr wrap="square" lIns="0" tIns="0" rIns="0" bIns="0" rtlCol="0"/>
          <a:lstStyle/>
          <a:p>
            <a:endParaRPr/>
          </a:p>
        </p:txBody>
      </p:sp>
      <p:sp>
        <p:nvSpPr>
          <p:cNvPr id="53" name="object 53"/>
          <p:cNvSpPr txBox="1"/>
          <p:nvPr/>
        </p:nvSpPr>
        <p:spPr>
          <a:xfrm>
            <a:off x="785571" y="4525213"/>
            <a:ext cx="2234565" cy="329565"/>
          </a:xfrm>
          <a:prstGeom prst="rect">
            <a:avLst/>
          </a:prstGeom>
        </p:spPr>
        <p:txBody>
          <a:bodyPr vert="horz" wrap="square" lIns="0" tIns="12065" rIns="0" bIns="0" rtlCol="0">
            <a:spAutoFit/>
          </a:bodyPr>
          <a:lstStyle/>
          <a:p>
            <a:pPr marL="12700">
              <a:lnSpc>
                <a:spcPct val="100000"/>
              </a:lnSpc>
              <a:spcBef>
                <a:spcPts val="95"/>
              </a:spcBef>
            </a:pPr>
            <a:r>
              <a:rPr sz="2000" b="1" i="1" spc="-5" dirty="0">
                <a:latin typeface="Arial"/>
                <a:cs typeface="Arial"/>
              </a:rPr>
              <a:t>jobs in the</a:t>
            </a:r>
            <a:r>
              <a:rPr sz="2000" b="1" i="1" spc="-55" dirty="0">
                <a:latin typeface="Arial"/>
                <a:cs typeface="Arial"/>
              </a:rPr>
              <a:t> </a:t>
            </a:r>
            <a:r>
              <a:rPr sz="2000" b="1" i="1" spc="-10" dirty="0">
                <a:latin typeface="Arial"/>
                <a:cs typeface="Arial"/>
              </a:rPr>
              <a:t>system</a:t>
            </a:r>
            <a:endParaRPr sz="2000">
              <a:latin typeface="Arial"/>
              <a:cs typeface="Arial"/>
            </a:endParaRPr>
          </a:p>
        </p:txBody>
      </p:sp>
      <p:sp>
        <p:nvSpPr>
          <p:cNvPr id="54" name="object 54"/>
          <p:cNvSpPr txBox="1"/>
          <p:nvPr/>
        </p:nvSpPr>
        <p:spPr>
          <a:xfrm>
            <a:off x="747471" y="3462273"/>
            <a:ext cx="7616825" cy="1109980"/>
          </a:xfrm>
          <a:prstGeom prst="rect">
            <a:avLst/>
          </a:prstGeom>
        </p:spPr>
        <p:txBody>
          <a:bodyPr vert="horz" wrap="square" lIns="0" tIns="12700" rIns="0" bIns="0" rtlCol="0">
            <a:spAutoFit/>
          </a:bodyPr>
          <a:lstStyle/>
          <a:p>
            <a:pPr marL="2495550">
              <a:lnSpc>
                <a:spcPts val="1795"/>
              </a:lnSpc>
              <a:spcBef>
                <a:spcPts val="100"/>
              </a:spcBef>
            </a:pPr>
            <a:r>
              <a:rPr sz="1800" b="1" i="1" spc="-15" dirty="0">
                <a:latin typeface="Arial"/>
                <a:cs typeface="Arial"/>
              </a:rPr>
              <a:t>Total </a:t>
            </a:r>
            <a:r>
              <a:rPr sz="1800" b="1" i="1" dirty="0">
                <a:latin typeface="Arial"/>
                <a:cs typeface="Arial"/>
              </a:rPr>
              <a:t>job </a:t>
            </a:r>
            <a:r>
              <a:rPr sz="1800" b="1" i="1" spc="-5" dirty="0">
                <a:latin typeface="Arial"/>
                <a:cs typeface="Arial"/>
              </a:rPr>
              <a:t>work</a:t>
            </a:r>
            <a:r>
              <a:rPr sz="1800" b="1" i="1" spc="-20" dirty="0">
                <a:latin typeface="Arial"/>
                <a:cs typeface="Arial"/>
              </a:rPr>
              <a:t> </a:t>
            </a:r>
            <a:r>
              <a:rPr sz="1800" b="1" i="1" dirty="0">
                <a:latin typeface="Arial"/>
                <a:cs typeface="Arial"/>
              </a:rPr>
              <a:t>time</a:t>
            </a:r>
            <a:endParaRPr sz="1800">
              <a:latin typeface="Arial"/>
              <a:cs typeface="Arial"/>
            </a:endParaRPr>
          </a:p>
          <a:p>
            <a:pPr marL="31750" algn="ctr">
              <a:lnSpc>
                <a:spcPts val="2035"/>
              </a:lnSpc>
            </a:pPr>
            <a:r>
              <a:rPr sz="2000" b="1" i="1" spc="-5" dirty="0">
                <a:latin typeface="Arial"/>
                <a:cs typeface="Arial"/>
              </a:rPr>
              <a:t>Utilization </a:t>
            </a:r>
            <a:r>
              <a:rPr sz="2000" b="1" spc="-5" dirty="0">
                <a:latin typeface="Arial"/>
                <a:cs typeface="Arial"/>
              </a:rPr>
              <a:t>= </a:t>
            </a:r>
            <a:r>
              <a:rPr sz="2700" b="1" i="1" baseline="-23148" dirty="0">
                <a:latin typeface="Arial"/>
                <a:cs typeface="Arial"/>
              </a:rPr>
              <a:t>Sum of total flow time </a:t>
            </a:r>
            <a:r>
              <a:rPr sz="2000" b="1" spc="-5" dirty="0">
                <a:latin typeface="Arial"/>
                <a:cs typeface="Arial"/>
              </a:rPr>
              <a:t>= </a:t>
            </a:r>
            <a:r>
              <a:rPr sz="2000" b="1" spc="-10" dirty="0">
                <a:latin typeface="Arial"/>
                <a:cs typeface="Arial"/>
              </a:rPr>
              <a:t>28/103 </a:t>
            </a:r>
            <a:r>
              <a:rPr sz="2000" b="1" spc="-5" dirty="0">
                <a:latin typeface="Arial"/>
                <a:cs typeface="Arial"/>
              </a:rPr>
              <a:t>=</a:t>
            </a:r>
            <a:r>
              <a:rPr sz="2000" b="1" spc="50" dirty="0">
                <a:latin typeface="Arial"/>
                <a:cs typeface="Arial"/>
              </a:rPr>
              <a:t> </a:t>
            </a:r>
            <a:r>
              <a:rPr sz="2000" b="1" spc="-10" dirty="0">
                <a:latin typeface="Arial"/>
                <a:cs typeface="Arial"/>
              </a:rPr>
              <a:t>27.2%</a:t>
            </a:r>
            <a:endParaRPr sz="2000">
              <a:latin typeface="Arial"/>
              <a:cs typeface="Arial"/>
            </a:endParaRPr>
          </a:p>
          <a:p>
            <a:pPr algn="ctr">
              <a:lnSpc>
                <a:spcPct val="100000"/>
              </a:lnSpc>
              <a:spcBef>
                <a:spcPts val="2305"/>
              </a:spcBef>
            </a:pPr>
            <a:r>
              <a:rPr sz="3000" b="1" i="1" spc="-15" baseline="-5555" dirty="0">
                <a:latin typeface="Arial"/>
                <a:cs typeface="Arial"/>
              </a:rPr>
              <a:t>Average </a:t>
            </a:r>
            <a:r>
              <a:rPr sz="3000" b="1" i="1" spc="-7" baseline="-5555" dirty="0">
                <a:latin typeface="Arial"/>
                <a:cs typeface="Arial"/>
              </a:rPr>
              <a:t>number of </a:t>
            </a:r>
            <a:r>
              <a:rPr sz="3000" b="1" spc="-7" baseline="-38888" dirty="0">
                <a:latin typeface="Arial"/>
                <a:cs typeface="Arial"/>
              </a:rPr>
              <a:t>=</a:t>
            </a:r>
            <a:r>
              <a:rPr sz="2000" b="1" u="heavy" spc="-5" dirty="0">
                <a:uFill>
                  <a:solidFill>
                    <a:srgbClr val="000000"/>
                  </a:solidFill>
                </a:uFill>
                <a:latin typeface="Arial"/>
                <a:cs typeface="Arial"/>
              </a:rPr>
              <a:t> </a:t>
            </a:r>
            <a:r>
              <a:rPr sz="1800" b="1" i="1" u="heavy" spc="-5" dirty="0">
                <a:uFill>
                  <a:solidFill>
                    <a:srgbClr val="000000"/>
                  </a:solidFill>
                </a:uFill>
                <a:latin typeface="Arial"/>
                <a:cs typeface="Arial"/>
              </a:rPr>
              <a:t>Sum </a:t>
            </a:r>
            <a:r>
              <a:rPr sz="1800" b="1" i="1" u="heavy" dirty="0">
                <a:uFill>
                  <a:solidFill>
                    <a:srgbClr val="000000"/>
                  </a:solidFill>
                </a:uFill>
                <a:latin typeface="Arial"/>
                <a:cs typeface="Arial"/>
              </a:rPr>
              <a:t>of total flow time</a:t>
            </a:r>
            <a:r>
              <a:rPr sz="1800" b="1" i="1" dirty="0">
                <a:latin typeface="Arial"/>
                <a:cs typeface="Arial"/>
              </a:rPr>
              <a:t> </a:t>
            </a:r>
            <a:r>
              <a:rPr sz="3000" b="1" spc="-7" baseline="-38888" dirty="0">
                <a:latin typeface="Arial"/>
                <a:cs typeface="Arial"/>
              </a:rPr>
              <a:t>= </a:t>
            </a:r>
            <a:r>
              <a:rPr sz="3000" b="1" spc="-15" baseline="-38888" dirty="0">
                <a:latin typeface="Arial"/>
                <a:cs typeface="Arial"/>
              </a:rPr>
              <a:t>103/28 </a:t>
            </a:r>
            <a:r>
              <a:rPr sz="3000" b="1" spc="-7" baseline="-38888" dirty="0">
                <a:latin typeface="Arial"/>
                <a:cs typeface="Arial"/>
              </a:rPr>
              <a:t>= </a:t>
            </a:r>
            <a:r>
              <a:rPr sz="3000" b="1" spc="-15" baseline="-38888" dirty="0">
                <a:latin typeface="Arial"/>
                <a:cs typeface="Arial"/>
              </a:rPr>
              <a:t>3.68</a:t>
            </a:r>
            <a:r>
              <a:rPr sz="3000" b="1" spc="555" baseline="-38888" dirty="0">
                <a:latin typeface="Arial"/>
                <a:cs typeface="Arial"/>
              </a:rPr>
              <a:t> </a:t>
            </a:r>
            <a:r>
              <a:rPr sz="3000" b="1" i="1" spc="-7" baseline="-38888" dirty="0">
                <a:latin typeface="Arial"/>
                <a:cs typeface="Arial"/>
              </a:rPr>
              <a:t>jobs</a:t>
            </a:r>
            <a:endParaRPr sz="3000" baseline="-38888">
              <a:latin typeface="Arial"/>
              <a:cs typeface="Arial"/>
            </a:endParaRPr>
          </a:p>
        </p:txBody>
      </p:sp>
      <p:sp>
        <p:nvSpPr>
          <p:cNvPr id="55" name="object 55"/>
          <p:cNvSpPr txBox="1"/>
          <p:nvPr/>
        </p:nvSpPr>
        <p:spPr>
          <a:xfrm>
            <a:off x="3612896" y="4569332"/>
            <a:ext cx="2099310" cy="299720"/>
          </a:xfrm>
          <a:prstGeom prst="rect">
            <a:avLst/>
          </a:prstGeom>
        </p:spPr>
        <p:txBody>
          <a:bodyPr vert="horz" wrap="square" lIns="0" tIns="12700" rIns="0" bIns="0" rtlCol="0">
            <a:spAutoFit/>
          </a:bodyPr>
          <a:lstStyle/>
          <a:p>
            <a:pPr marL="12700">
              <a:lnSpc>
                <a:spcPct val="100000"/>
              </a:lnSpc>
              <a:spcBef>
                <a:spcPts val="100"/>
              </a:spcBef>
            </a:pPr>
            <a:r>
              <a:rPr sz="1800" b="1" i="1" spc="-15" dirty="0">
                <a:latin typeface="Arial"/>
                <a:cs typeface="Arial"/>
              </a:rPr>
              <a:t>Total </a:t>
            </a:r>
            <a:r>
              <a:rPr sz="1800" b="1" i="1" dirty="0">
                <a:latin typeface="Arial"/>
                <a:cs typeface="Arial"/>
              </a:rPr>
              <a:t>job </a:t>
            </a:r>
            <a:r>
              <a:rPr sz="1800" b="1" i="1" spc="-5" dirty="0">
                <a:latin typeface="Arial"/>
                <a:cs typeface="Arial"/>
              </a:rPr>
              <a:t>work</a:t>
            </a:r>
            <a:r>
              <a:rPr sz="1800" b="1" i="1" spc="-75" dirty="0">
                <a:latin typeface="Arial"/>
                <a:cs typeface="Arial"/>
              </a:rPr>
              <a:t> </a:t>
            </a:r>
            <a:r>
              <a:rPr sz="1800" b="1" i="1" dirty="0">
                <a:latin typeface="Arial"/>
                <a:cs typeface="Arial"/>
              </a:rPr>
              <a:t>time</a:t>
            </a:r>
            <a:endParaRPr sz="1800">
              <a:latin typeface="Arial"/>
              <a:cs typeface="Arial"/>
            </a:endParaRPr>
          </a:p>
        </p:txBody>
      </p:sp>
      <p:sp>
        <p:nvSpPr>
          <p:cNvPr id="56" name="object 56"/>
          <p:cNvSpPr txBox="1"/>
          <p:nvPr/>
        </p:nvSpPr>
        <p:spPr>
          <a:xfrm>
            <a:off x="1145844" y="5255209"/>
            <a:ext cx="2783840" cy="329565"/>
          </a:xfrm>
          <a:prstGeom prst="rect">
            <a:avLst/>
          </a:prstGeom>
        </p:spPr>
        <p:txBody>
          <a:bodyPr vert="horz" wrap="square" lIns="0" tIns="12065" rIns="0" bIns="0" rtlCol="0">
            <a:spAutoFit/>
          </a:bodyPr>
          <a:lstStyle/>
          <a:p>
            <a:pPr marL="12700">
              <a:lnSpc>
                <a:spcPct val="100000"/>
              </a:lnSpc>
              <a:spcBef>
                <a:spcPts val="95"/>
              </a:spcBef>
            </a:pPr>
            <a:r>
              <a:rPr sz="2000" b="1" i="1" spc="-5" dirty="0">
                <a:latin typeface="Arial"/>
                <a:cs typeface="Arial"/>
              </a:rPr>
              <a:t>Average job lateness</a:t>
            </a:r>
            <a:r>
              <a:rPr sz="2000" b="1" i="1" spc="-20" dirty="0">
                <a:latin typeface="Arial"/>
                <a:cs typeface="Arial"/>
              </a:rPr>
              <a:t> </a:t>
            </a:r>
            <a:r>
              <a:rPr sz="2000" b="1" spc="-5" dirty="0">
                <a:latin typeface="Arial"/>
                <a:cs typeface="Arial"/>
              </a:rPr>
              <a:t>=</a:t>
            </a:r>
            <a:endParaRPr sz="2000">
              <a:latin typeface="Arial"/>
              <a:cs typeface="Arial"/>
            </a:endParaRPr>
          </a:p>
        </p:txBody>
      </p:sp>
      <p:sp>
        <p:nvSpPr>
          <p:cNvPr id="57" name="object 57"/>
          <p:cNvSpPr txBox="1"/>
          <p:nvPr/>
        </p:nvSpPr>
        <p:spPr>
          <a:xfrm>
            <a:off x="5929114" y="5255209"/>
            <a:ext cx="2025014" cy="329565"/>
          </a:xfrm>
          <a:prstGeom prst="rect">
            <a:avLst/>
          </a:prstGeom>
        </p:spPr>
        <p:txBody>
          <a:bodyPr vert="horz" wrap="square" lIns="0" tIns="12065" rIns="0" bIns="0" rtlCol="0">
            <a:spAutoFit/>
          </a:bodyPr>
          <a:lstStyle/>
          <a:p>
            <a:pPr marL="12700">
              <a:lnSpc>
                <a:spcPct val="100000"/>
              </a:lnSpc>
              <a:spcBef>
                <a:spcPts val="95"/>
              </a:spcBef>
            </a:pPr>
            <a:r>
              <a:rPr sz="2000" b="1" spc="-5" dirty="0">
                <a:latin typeface="Arial"/>
                <a:cs typeface="Arial"/>
              </a:rPr>
              <a:t>= </a:t>
            </a:r>
            <a:r>
              <a:rPr sz="2000" b="1" spc="-10" dirty="0">
                <a:latin typeface="Arial"/>
                <a:cs typeface="Arial"/>
              </a:rPr>
              <a:t>48/5 </a:t>
            </a:r>
            <a:r>
              <a:rPr sz="2000" b="1" spc="-5" dirty="0">
                <a:latin typeface="Arial"/>
                <a:cs typeface="Arial"/>
              </a:rPr>
              <a:t>= </a:t>
            </a:r>
            <a:r>
              <a:rPr sz="2000" b="1" spc="-10" dirty="0">
                <a:latin typeface="Arial"/>
                <a:cs typeface="Arial"/>
              </a:rPr>
              <a:t>9.6</a:t>
            </a:r>
            <a:r>
              <a:rPr sz="2000" b="1" spc="-35" dirty="0">
                <a:latin typeface="Arial"/>
                <a:cs typeface="Arial"/>
              </a:rPr>
              <a:t> </a:t>
            </a:r>
            <a:r>
              <a:rPr sz="2000" b="1" i="1" spc="-5" dirty="0">
                <a:latin typeface="Arial"/>
                <a:cs typeface="Arial"/>
              </a:rPr>
              <a:t>days</a:t>
            </a:r>
            <a:endParaRPr sz="2000">
              <a:latin typeface="Arial"/>
              <a:cs typeface="Arial"/>
            </a:endParaRPr>
          </a:p>
        </p:txBody>
      </p:sp>
      <p:sp>
        <p:nvSpPr>
          <p:cNvPr id="58" name="object 58"/>
          <p:cNvSpPr txBox="1"/>
          <p:nvPr/>
        </p:nvSpPr>
        <p:spPr>
          <a:xfrm>
            <a:off x="4098797" y="5044667"/>
            <a:ext cx="1702435" cy="629920"/>
          </a:xfrm>
          <a:prstGeom prst="rect">
            <a:avLst/>
          </a:prstGeom>
        </p:spPr>
        <p:txBody>
          <a:bodyPr vert="horz" wrap="square" lIns="0" tIns="40640" rIns="0" bIns="0" rtlCol="0">
            <a:spAutoFit/>
          </a:bodyPr>
          <a:lstStyle/>
          <a:p>
            <a:pPr marL="57785">
              <a:lnSpc>
                <a:spcPct val="100000"/>
              </a:lnSpc>
              <a:spcBef>
                <a:spcPts val="320"/>
              </a:spcBef>
            </a:pPr>
            <a:r>
              <a:rPr sz="1800" b="1" i="1" spc="-15" dirty="0">
                <a:latin typeface="Arial"/>
                <a:cs typeface="Arial"/>
              </a:rPr>
              <a:t>Total </a:t>
            </a:r>
            <a:r>
              <a:rPr sz="1800" b="1" i="1" dirty="0">
                <a:latin typeface="Arial"/>
                <a:cs typeface="Arial"/>
              </a:rPr>
              <a:t>late</a:t>
            </a:r>
            <a:r>
              <a:rPr sz="1800" b="1" i="1" spc="-70" dirty="0">
                <a:latin typeface="Arial"/>
                <a:cs typeface="Arial"/>
              </a:rPr>
              <a:t> </a:t>
            </a:r>
            <a:r>
              <a:rPr sz="1800" b="1" i="1" dirty="0">
                <a:latin typeface="Arial"/>
                <a:cs typeface="Arial"/>
              </a:rPr>
              <a:t>days</a:t>
            </a:r>
            <a:endParaRPr sz="1800">
              <a:latin typeface="Arial"/>
              <a:cs typeface="Arial"/>
            </a:endParaRPr>
          </a:p>
          <a:p>
            <a:pPr marL="12700">
              <a:lnSpc>
                <a:spcPct val="100000"/>
              </a:lnSpc>
              <a:spcBef>
                <a:spcPts val="215"/>
              </a:spcBef>
            </a:pPr>
            <a:r>
              <a:rPr sz="1800" b="1" i="1" dirty="0">
                <a:latin typeface="Arial"/>
                <a:cs typeface="Arial"/>
              </a:rPr>
              <a:t>Number of</a:t>
            </a:r>
            <a:r>
              <a:rPr sz="1800" b="1" i="1" spc="-100" dirty="0">
                <a:latin typeface="Arial"/>
                <a:cs typeface="Arial"/>
              </a:rPr>
              <a:t> </a:t>
            </a:r>
            <a:r>
              <a:rPr sz="1800" b="1" i="1" dirty="0">
                <a:latin typeface="Arial"/>
                <a:cs typeface="Arial"/>
              </a:rPr>
              <a:t>jobs</a:t>
            </a:r>
            <a:endParaRPr sz="1800">
              <a:latin typeface="Arial"/>
              <a:cs typeface="Arial"/>
            </a:endParaRPr>
          </a:p>
        </p:txBody>
      </p:sp>
      <p:sp>
        <p:nvSpPr>
          <p:cNvPr id="59" name="object 59"/>
          <p:cNvSpPr/>
          <p:nvPr/>
        </p:nvSpPr>
        <p:spPr>
          <a:xfrm>
            <a:off x="4046220" y="5420867"/>
            <a:ext cx="1807845" cy="0"/>
          </a:xfrm>
          <a:custGeom>
            <a:avLst/>
            <a:gdLst/>
            <a:ahLst/>
            <a:cxnLst/>
            <a:rect l="l" t="t" r="r" b="b"/>
            <a:pathLst>
              <a:path w="1807845">
                <a:moveTo>
                  <a:pt x="0" y="0"/>
                </a:moveTo>
                <a:lnTo>
                  <a:pt x="1807464" y="0"/>
                </a:lnTo>
              </a:path>
            </a:pathLst>
          </a:custGeom>
          <a:ln w="27432">
            <a:solidFill>
              <a:srgbClr val="000000"/>
            </a:solidFill>
          </a:ln>
        </p:spPr>
        <p:txBody>
          <a:bodyPr wrap="square" lIns="0" tIns="0" rIns="0" bIns="0" rtlCol="0"/>
          <a:lstStyle/>
          <a:p>
            <a:endParaRPr/>
          </a:p>
        </p:txBody>
      </p:sp>
      <p:grpSp>
        <p:nvGrpSpPr>
          <p:cNvPr id="60" name="object 60"/>
          <p:cNvGrpSpPr/>
          <p:nvPr/>
        </p:nvGrpSpPr>
        <p:grpSpPr>
          <a:xfrm>
            <a:off x="12191" y="6437376"/>
            <a:ext cx="1628139" cy="411480"/>
            <a:chOff x="12191" y="6437376"/>
            <a:chExt cx="1628139" cy="411480"/>
          </a:xfrm>
        </p:grpSpPr>
        <p:sp>
          <p:nvSpPr>
            <p:cNvPr id="61" name="object 61"/>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62" name="object 62"/>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63" name="object 63"/>
          <p:cNvGrpSpPr/>
          <p:nvPr/>
        </p:nvGrpSpPr>
        <p:grpSpPr>
          <a:xfrm>
            <a:off x="7491983" y="6437376"/>
            <a:ext cx="1630680" cy="411480"/>
            <a:chOff x="7491983" y="6437376"/>
            <a:chExt cx="1630680" cy="411480"/>
          </a:xfrm>
        </p:grpSpPr>
        <p:sp>
          <p:nvSpPr>
            <p:cNvPr id="64" name="object 64"/>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65" name="object 65"/>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32</a:t>
            </a:r>
            <a:endParaRPr sz="900">
              <a:latin typeface="Arial"/>
              <a:cs typeface="Arial"/>
            </a:endParaRPr>
          </a:p>
        </p:txBody>
      </p:sp>
      <p:sp>
        <p:nvSpPr>
          <p:cNvPr id="4" name="object 4"/>
          <p:cNvSpPr txBox="1">
            <a:spLocks noGrp="1"/>
          </p:cNvSpPr>
          <p:nvPr>
            <p:ph type="title"/>
          </p:nvPr>
        </p:nvSpPr>
        <p:spPr>
          <a:xfrm>
            <a:off x="687323" y="510540"/>
            <a:ext cx="7772400" cy="927100"/>
          </a:xfrm>
          <a:prstGeom prst="rect">
            <a:avLst/>
          </a:prstGeom>
          <a:solidFill>
            <a:srgbClr val="F7FAFF"/>
          </a:solidFill>
          <a:ln w="9144">
            <a:solidFill>
              <a:srgbClr val="000000"/>
            </a:solidFill>
          </a:ln>
        </p:spPr>
        <p:txBody>
          <a:bodyPr vert="horz" wrap="square" lIns="0" tIns="42545" rIns="0" bIns="0" rtlCol="0">
            <a:spAutoFit/>
          </a:bodyPr>
          <a:lstStyle/>
          <a:p>
            <a:pPr algn="ctr">
              <a:lnSpc>
                <a:spcPct val="100000"/>
              </a:lnSpc>
              <a:spcBef>
                <a:spcPts val="335"/>
              </a:spcBef>
            </a:pPr>
            <a:r>
              <a:rPr sz="4400" spc="-5" dirty="0"/>
              <a:t>Sequencing</a:t>
            </a:r>
            <a:r>
              <a:rPr sz="4400" spc="20" dirty="0"/>
              <a:t> </a:t>
            </a:r>
            <a:r>
              <a:rPr sz="4400" spc="-5" dirty="0"/>
              <a:t>Example</a:t>
            </a:r>
            <a:endParaRPr sz="4400"/>
          </a:p>
        </p:txBody>
      </p:sp>
      <p:graphicFrame>
        <p:nvGraphicFramePr>
          <p:cNvPr id="5" name="object 5"/>
          <p:cNvGraphicFramePr>
            <a:graphicFrameLocks noGrp="1"/>
          </p:cNvGraphicFramePr>
          <p:nvPr/>
        </p:nvGraphicFramePr>
        <p:xfrm>
          <a:off x="685800" y="2644355"/>
          <a:ext cx="7771765" cy="2945755"/>
        </p:xfrm>
        <a:graphic>
          <a:graphicData uri="http://schemas.openxmlformats.org/drawingml/2006/table">
            <a:tbl>
              <a:tblPr firstRow="1" bandRow="1">
                <a:tableStyleId>{2D5ABB26-0587-4C30-8999-92F81FD0307C}</a:tableStyleId>
              </a:tblPr>
              <a:tblGrid>
                <a:gridCol w="925830">
                  <a:extLst>
                    <a:ext uri="{9D8B030D-6E8A-4147-A177-3AD203B41FA5}">
                      <a16:colId xmlns:a16="http://schemas.microsoft.com/office/drawing/2014/main" val="20000"/>
                    </a:ext>
                  </a:extLst>
                </a:gridCol>
                <a:gridCol w="1741170">
                  <a:extLst>
                    <a:ext uri="{9D8B030D-6E8A-4147-A177-3AD203B41FA5}">
                      <a16:colId xmlns:a16="http://schemas.microsoft.com/office/drawing/2014/main" val="20001"/>
                    </a:ext>
                  </a:extLst>
                </a:gridCol>
                <a:gridCol w="1436370">
                  <a:extLst>
                    <a:ext uri="{9D8B030D-6E8A-4147-A177-3AD203B41FA5}">
                      <a16:colId xmlns:a16="http://schemas.microsoft.com/office/drawing/2014/main" val="20002"/>
                    </a:ext>
                  </a:extLst>
                </a:gridCol>
                <a:gridCol w="2317115">
                  <a:extLst>
                    <a:ext uri="{9D8B030D-6E8A-4147-A177-3AD203B41FA5}">
                      <a16:colId xmlns:a16="http://schemas.microsoft.com/office/drawing/2014/main" val="20003"/>
                    </a:ext>
                  </a:extLst>
                </a:gridCol>
                <a:gridCol w="1351280">
                  <a:extLst>
                    <a:ext uri="{9D8B030D-6E8A-4147-A177-3AD203B41FA5}">
                      <a16:colId xmlns:a16="http://schemas.microsoft.com/office/drawing/2014/main" val="20004"/>
                    </a:ext>
                  </a:extLst>
                </a:gridCol>
              </a:tblGrid>
              <a:tr h="879894">
                <a:tc>
                  <a:txBody>
                    <a:bodyPr/>
                    <a:lstStyle/>
                    <a:p>
                      <a:pPr>
                        <a:lnSpc>
                          <a:spcPct val="100000"/>
                        </a:lnSpc>
                      </a:pPr>
                      <a:endParaRPr sz="2200">
                        <a:latin typeface="Times New Roman"/>
                        <a:cs typeface="Times New Roman"/>
                      </a:endParaRPr>
                    </a:p>
                    <a:p>
                      <a:pPr marL="198755">
                        <a:lnSpc>
                          <a:spcPct val="100000"/>
                        </a:lnSpc>
                        <a:spcBef>
                          <a:spcPts val="1595"/>
                        </a:spcBef>
                      </a:pPr>
                      <a:r>
                        <a:rPr sz="2000" i="1" spc="-10" dirty="0">
                          <a:latin typeface="Arial"/>
                          <a:cs typeface="Arial"/>
                        </a:rPr>
                        <a:t>Rule</a:t>
                      </a:r>
                      <a:endParaRPr sz="2000">
                        <a:latin typeface="Arial"/>
                        <a:cs typeface="Arial"/>
                      </a:endParaRPr>
                    </a:p>
                  </a:txBody>
                  <a:tcPr marL="0" marR="0" marT="0" marB="0">
                    <a:lnB w="38100">
                      <a:solidFill>
                        <a:srgbClr val="000000"/>
                      </a:solidFill>
                      <a:prstDash val="solid"/>
                    </a:lnB>
                    <a:solidFill>
                      <a:srgbClr val="F7FAFF"/>
                    </a:solidFill>
                  </a:tcPr>
                </a:tc>
                <a:tc>
                  <a:txBody>
                    <a:bodyPr/>
                    <a:lstStyle/>
                    <a:p>
                      <a:pPr marL="172085" marR="179070" indent="6985" algn="ctr">
                        <a:lnSpc>
                          <a:spcPts val="2160"/>
                        </a:lnSpc>
                        <a:spcBef>
                          <a:spcPts val="75"/>
                        </a:spcBef>
                      </a:pPr>
                      <a:r>
                        <a:rPr sz="2000" i="1" spc="-15" dirty="0">
                          <a:latin typeface="Arial"/>
                          <a:cs typeface="Arial"/>
                        </a:rPr>
                        <a:t>Average  </a:t>
                      </a:r>
                      <a:r>
                        <a:rPr sz="2000" i="1" spc="-10" dirty="0">
                          <a:latin typeface="Arial"/>
                          <a:cs typeface="Arial"/>
                        </a:rPr>
                        <a:t>Completion  </a:t>
                      </a:r>
                      <a:r>
                        <a:rPr sz="2000" i="1" spc="-15" dirty="0">
                          <a:latin typeface="Arial"/>
                          <a:cs typeface="Arial"/>
                        </a:rPr>
                        <a:t>Time</a:t>
                      </a:r>
                      <a:r>
                        <a:rPr sz="2000" i="1" spc="-30" dirty="0">
                          <a:latin typeface="Arial"/>
                          <a:cs typeface="Arial"/>
                        </a:rPr>
                        <a:t> </a:t>
                      </a:r>
                      <a:r>
                        <a:rPr sz="2000" i="1" spc="-5" dirty="0">
                          <a:latin typeface="Arial"/>
                          <a:cs typeface="Arial"/>
                        </a:rPr>
                        <a:t>(Days)</a:t>
                      </a:r>
                      <a:endParaRPr sz="2000">
                        <a:latin typeface="Arial"/>
                        <a:cs typeface="Arial"/>
                      </a:endParaRPr>
                    </a:p>
                  </a:txBody>
                  <a:tcPr marL="0" marR="0" marT="9525" marB="0">
                    <a:lnB w="38100">
                      <a:solidFill>
                        <a:srgbClr val="000000"/>
                      </a:solidFill>
                      <a:prstDash val="solid"/>
                    </a:lnB>
                    <a:solidFill>
                      <a:srgbClr val="F7FAFF"/>
                    </a:solidFill>
                  </a:tcPr>
                </a:tc>
                <a:tc>
                  <a:txBody>
                    <a:bodyPr/>
                    <a:lstStyle/>
                    <a:p>
                      <a:pPr marL="26670" algn="ctr">
                        <a:lnSpc>
                          <a:spcPts val="2280"/>
                        </a:lnSpc>
                        <a:spcBef>
                          <a:spcPts val="1960"/>
                        </a:spcBef>
                      </a:pPr>
                      <a:r>
                        <a:rPr sz="2000" i="1" spc="-10" dirty="0">
                          <a:latin typeface="Arial"/>
                          <a:cs typeface="Arial"/>
                        </a:rPr>
                        <a:t>Utilization</a:t>
                      </a:r>
                      <a:endParaRPr sz="2000">
                        <a:latin typeface="Arial"/>
                        <a:cs typeface="Arial"/>
                      </a:endParaRPr>
                    </a:p>
                    <a:p>
                      <a:pPr marL="21590" algn="ctr">
                        <a:lnSpc>
                          <a:spcPts val="2280"/>
                        </a:lnSpc>
                      </a:pPr>
                      <a:r>
                        <a:rPr sz="2000" i="1" spc="-5" dirty="0">
                          <a:latin typeface="Arial"/>
                          <a:cs typeface="Arial"/>
                        </a:rPr>
                        <a:t>(%)</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205740">
                        <a:lnSpc>
                          <a:spcPts val="2280"/>
                        </a:lnSpc>
                        <a:spcBef>
                          <a:spcPts val="1960"/>
                        </a:spcBef>
                      </a:pPr>
                      <a:r>
                        <a:rPr sz="2000" i="1" spc="-15" dirty="0">
                          <a:latin typeface="Arial"/>
                          <a:cs typeface="Arial"/>
                        </a:rPr>
                        <a:t>Average</a:t>
                      </a:r>
                      <a:r>
                        <a:rPr sz="2000" i="1" spc="15" dirty="0">
                          <a:latin typeface="Arial"/>
                          <a:cs typeface="Arial"/>
                        </a:rPr>
                        <a:t> </a:t>
                      </a:r>
                      <a:r>
                        <a:rPr sz="2000" i="1" spc="-10" dirty="0">
                          <a:latin typeface="Arial"/>
                          <a:cs typeface="Arial"/>
                        </a:rPr>
                        <a:t>Number</a:t>
                      </a:r>
                      <a:endParaRPr sz="2000">
                        <a:latin typeface="Arial"/>
                        <a:cs typeface="Arial"/>
                      </a:endParaRPr>
                    </a:p>
                    <a:p>
                      <a:pPr marL="160020">
                        <a:lnSpc>
                          <a:spcPts val="2280"/>
                        </a:lnSpc>
                      </a:pPr>
                      <a:r>
                        <a:rPr sz="2000" i="1" spc="-5" dirty="0">
                          <a:latin typeface="Arial"/>
                          <a:cs typeface="Arial"/>
                        </a:rPr>
                        <a:t>of Jobs </a:t>
                      </a:r>
                      <a:r>
                        <a:rPr sz="2000" i="1" spc="-10" dirty="0">
                          <a:latin typeface="Arial"/>
                          <a:cs typeface="Arial"/>
                        </a:rPr>
                        <a:t>in </a:t>
                      </a:r>
                      <a:r>
                        <a:rPr sz="2000" i="1" spc="-5" dirty="0">
                          <a:latin typeface="Arial"/>
                          <a:cs typeface="Arial"/>
                        </a:rPr>
                        <a:t>System</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153035" marR="162560" indent="45720" algn="just">
                        <a:lnSpc>
                          <a:spcPts val="2160"/>
                        </a:lnSpc>
                        <a:spcBef>
                          <a:spcPts val="75"/>
                        </a:spcBef>
                      </a:pPr>
                      <a:r>
                        <a:rPr sz="2000" i="1" spc="-15" dirty="0">
                          <a:latin typeface="Arial"/>
                          <a:cs typeface="Arial"/>
                        </a:rPr>
                        <a:t>Average  </a:t>
                      </a:r>
                      <a:r>
                        <a:rPr sz="2000" i="1" dirty="0">
                          <a:latin typeface="Arial"/>
                          <a:cs typeface="Arial"/>
                        </a:rPr>
                        <a:t>Lat</a:t>
                      </a:r>
                      <a:r>
                        <a:rPr sz="2000" i="1" spc="-10" dirty="0">
                          <a:latin typeface="Arial"/>
                          <a:cs typeface="Arial"/>
                        </a:rPr>
                        <a:t>e</a:t>
                      </a:r>
                      <a:r>
                        <a:rPr sz="2000" i="1" dirty="0">
                          <a:latin typeface="Arial"/>
                          <a:cs typeface="Arial"/>
                        </a:rPr>
                        <a:t>ne</a:t>
                      </a:r>
                      <a:r>
                        <a:rPr sz="2000" i="1" spc="5" dirty="0">
                          <a:latin typeface="Arial"/>
                          <a:cs typeface="Arial"/>
                        </a:rPr>
                        <a:t>s</a:t>
                      </a:r>
                      <a:r>
                        <a:rPr sz="2000" i="1" dirty="0">
                          <a:latin typeface="Arial"/>
                          <a:cs typeface="Arial"/>
                        </a:rPr>
                        <a:t>s  </a:t>
                      </a:r>
                      <a:r>
                        <a:rPr sz="2000" i="1" spc="-5" dirty="0">
                          <a:latin typeface="Arial"/>
                          <a:cs typeface="Arial"/>
                        </a:rPr>
                        <a:t>(Days)</a:t>
                      </a:r>
                      <a:endParaRPr sz="2000">
                        <a:latin typeface="Arial"/>
                        <a:cs typeface="Arial"/>
                      </a:endParaRPr>
                    </a:p>
                  </a:txBody>
                  <a:tcPr marL="0" marR="0" marT="9525" marB="0">
                    <a:lnB w="38100">
                      <a:solidFill>
                        <a:srgbClr val="000000"/>
                      </a:solidFill>
                      <a:prstDash val="solid"/>
                    </a:lnB>
                    <a:solidFill>
                      <a:srgbClr val="F7FAFF"/>
                    </a:solidFill>
                  </a:tcPr>
                </a:tc>
                <a:extLst>
                  <a:ext uri="{0D108BD9-81ED-4DB2-BD59-A6C34878D82A}">
                    <a16:rowId xmlns:a16="http://schemas.microsoft.com/office/drawing/2014/main" val="10000"/>
                  </a:ext>
                </a:extLst>
              </a:tr>
              <a:tr h="552110">
                <a:tc>
                  <a:txBody>
                    <a:bodyPr/>
                    <a:lstStyle/>
                    <a:p>
                      <a:pPr marL="91440">
                        <a:lnSpc>
                          <a:spcPct val="100000"/>
                        </a:lnSpc>
                        <a:spcBef>
                          <a:spcPts val="835"/>
                        </a:spcBef>
                      </a:pPr>
                      <a:r>
                        <a:rPr sz="2000" i="1" spc="-5" dirty="0">
                          <a:latin typeface="Arial"/>
                          <a:cs typeface="Arial"/>
                        </a:rPr>
                        <a:t>FCFS</a:t>
                      </a:r>
                      <a:endParaRPr sz="2000">
                        <a:latin typeface="Arial"/>
                        <a:cs typeface="Arial"/>
                      </a:endParaRPr>
                    </a:p>
                  </a:txBody>
                  <a:tcPr marL="0" marR="0" marT="106045" marB="0">
                    <a:lnT w="38100">
                      <a:solidFill>
                        <a:srgbClr val="000000"/>
                      </a:solidFill>
                      <a:prstDash val="solid"/>
                    </a:lnT>
                    <a:solidFill>
                      <a:srgbClr val="F7FAFF"/>
                    </a:solidFill>
                  </a:tcPr>
                </a:tc>
                <a:tc>
                  <a:txBody>
                    <a:bodyPr/>
                    <a:lstStyle/>
                    <a:p>
                      <a:pPr marR="635" algn="ctr">
                        <a:lnSpc>
                          <a:spcPct val="100000"/>
                        </a:lnSpc>
                        <a:spcBef>
                          <a:spcPts val="835"/>
                        </a:spcBef>
                      </a:pPr>
                      <a:r>
                        <a:rPr sz="2000" spc="-10" dirty="0">
                          <a:latin typeface="Arial"/>
                          <a:cs typeface="Arial"/>
                        </a:rPr>
                        <a:t>15.4</a:t>
                      </a:r>
                      <a:endParaRPr sz="2000">
                        <a:latin typeface="Arial"/>
                        <a:cs typeface="Arial"/>
                      </a:endParaRPr>
                    </a:p>
                  </a:txBody>
                  <a:tcPr marL="0" marR="0" marT="106045" marB="0">
                    <a:lnT w="38100">
                      <a:solidFill>
                        <a:srgbClr val="000000"/>
                      </a:solidFill>
                      <a:prstDash val="solid"/>
                    </a:lnT>
                    <a:solidFill>
                      <a:srgbClr val="F7FAFF"/>
                    </a:solidFill>
                  </a:tcPr>
                </a:tc>
                <a:tc>
                  <a:txBody>
                    <a:bodyPr/>
                    <a:lstStyle/>
                    <a:p>
                      <a:pPr marR="450850" algn="r">
                        <a:lnSpc>
                          <a:spcPct val="100000"/>
                        </a:lnSpc>
                        <a:spcBef>
                          <a:spcPts val="835"/>
                        </a:spcBef>
                      </a:pPr>
                      <a:r>
                        <a:rPr sz="2000" dirty="0">
                          <a:latin typeface="Arial"/>
                          <a:cs typeface="Arial"/>
                        </a:rPr>
                        <a:t>3</a:t>
                      </a:r>
                      <a:r>
                        <a:rPr sz="2000" spc="-10" dirty="0">
                          <a:latin typeface="Arial"/>
                          <a:cs typeface="Arial"/>
                        </a:rPr>
                        <a:t>6</a:t>
                      </a:r>
                      <a:r>
                        <a:rPr sz="2000" dirty="0">
                          <a:latin typeface="Arial"/>
                          <a:cs typeface="Arial"/>
                        </a:rPr>
                        <a:t>.4</a:t>
                      </a:r>
                      <a:endParaRPr sz="2000">
                        <a:latin typeface="Arial"/>
                        <a:cs typeface="Arial"/>
                      </a:endParaRPr>
                    </a:p>
                  </a:txBody>
                  <a:tcPr marL="0" marR="0" marT="106045" marB="0">
                    <a:lnT w="38100">
                      <a:solidFill>
                        <a:srgbClr val="000000"/>
                      </a:solidFill>
                      <a:prstDash val="solid"/>
                    </a:lnT>
                    <a:solidFill>
                      <a:srgbClr val="F7FAFF"/>
                    </a:solidFill>
                  </a:tcPr>
                </a:tc>
                <a:tc>
                  <a:txBody>
                    <a:bodyPr/>
                    <a:lstStyle/>
                    <a:p>
                      <a:pPr marL="6985" algn="ctr">
                        <a:lnSpc>
                          <a:spcPct val="100000"/>
                        </a:lnSpc>
                        <a:spcBef>
                          <a:spcPts val="835"/>
                        </a:spcBef>
                      </a:pPr>
                      <a:r>
                        <a:rPr sz="2000" spc="-10" dirty="0">
                          <a:latin typeface="Arial"/>
                          <a:cs typeface="Arial"/>
                        </a:rPr>
                        <a:t>2.75</a:t>
                      </a:r>
                      <a:endParaRPr sz="2000">
                        <a:latin typeface="Arial"/>
                        <a:cs typeface="Arial"/>
                      </a:endParaRPr>
                    </a:p>
                  </a:txBody>
                  <a:tcPr marL="0" marR="0" marT="106045" marB="0">
                    <a:lnT w="38100">
                      <a:solidFill>
                        <a:srgbClr val="000000"/>
                      </a:solidFill>
                      <a:prstDash val="solid"/>
                    </a:lnT>
                    <a:solidFill>
                      <a:srgbClr val="F7FAFF"/>
                    </a:solidFill>
                  </a:tcPr>
                </a:tc>
                <a:tc>
                  <a:txBody>
                    <a:bodyPr/>
                    <a:lstStyle/>
                    <a:p>
                      <a:pPr marL="492125">
                        <a:lnSpc>
                          <a:spcPct val="100000"/>
                        </a:lnSpc>
                        <a:spcBef>
                          <a:spcPts val="835"/>
                        </a:spcBef>
                      </a:pPr>
                      <a:r>
                        <a:rPr sz="2000" spc="-5" dirty="0">
                          <a:latin typeface="Arial"/>
                          <a:cs typeface="Arial"/>
                        </a:rPr>
                        <a:t>2.2</a:t>
                      </a:r>
                      <a:endParaRPr sz="2000">
                        <a:latin typeface="Arial"/>
                        <a:cs typeface="Arial"/>
                      </a:endParaRPr>
                    </a:p>
                  </a:txBody>
                  <a:tcPr marL="0" marR="0" marT="106045" marB="0">
                    <a:lnT w="38100">
                      <a:solidFill>
                        <a:srgbClr val="000000"/>
                      </a:solidFill>
                      <a:prstDash val="solid"/>
                    </a:lnT>
                    <a:solidFill>
                      <a:srgbClr val="F7FAFF"/>
                    </a:solidFill>
                  </a:tcPr>
                </a:tc>
                <a:extLst>
                  <a:ext uri="{0D108BD9-81ED-4DB2-BD59-A6C34878D82A}">
                    <a16:rowId xmlns:a16="http://schemas.microsoft.com/office/drawing/2014/main" val="10001"/>
                  </a:ext>
                </a:extLst>
              </a:tr>
              <a:tr h="556112">
                <a:tc>
                  <a:txBody>
                    <a:bodyPr/>
                    <a:lstStyle/>
                    <a:p>
                      <a:pPr marL="91440">
                        <a:lnSpc>
                          <a:spcPct val="100000"/>
                        </a:lnSpc>
                        <a:spcBef>
                          <a:spcPts val="890"/>
                        </a:spcBef>
                      </a:pPr>
                      <a:r>
                        <a:rPr sz="2000" i="1" spc="-20" dirty="0">
                          <a:latin typeface="Arial"/>
                          <a:cs typeface="Arial"/>
                        </a:rPr>
                        <a:t>SPT</a:t>
                      </a:r>
                      <a:endParaRPr sz="2000">
                        <a:latin typeface="Arial"/>
                        <a:cs typeface="Arial"/>
                      </a:endParaRPr>
                    </a:p>
                  </a:txBody>
                  <a:tcPr marL="0" marR="0" marT="113030" marB="0">
                    <a:solidFill>
                      <a:srgbClr val="F7FAFF"/>
                    </a:solidFill>
                  </a:tcPr>
                </a:tc>
                <a:tc>
                  <a:txBody>
                    <a:bodyPr/>
                    <a:lstStyle/>
                    <a:p>
                      <a:pPr algn="ctr">
                        <a:lnSpc>
                          <a:spcPct val="100000"/>
                        </a:lnSpc>
                        <a:spcBef>
                          <a:spcPts val="890"/>
                        </a:spcBef>
                      </a:pPr>
                      <a:r>
                        <a:rPr sz="2000" spc="-10" dirty="0">
                          <a:latin typeface="Arial"/>
                          <a:cs typeface="Arial"/>
                        </a:rPr>
                        <a:t>13.0</a:t>
                      </a:r>
                      <a:endParaRPr sz="2000">
                        <a:latin typeface="Arial"/>
                        <a:cs typeface="Arial"/>
                      </a:endParaRPr>
                    </a:p>
                  </a:txBody>
                  <a:tcPr marL="0" marR="0" marT="113030" marB="0">
                    <a:solidFill>
                      <a:srgbClr val="F7FAFF"/>
                    </a:solidFill>
                  </a:tcPr>
                </a:tc>
                <a:tc>
                  <a:txBody>
                    <a:bodyPr/>
                    <a:lstStyle/>
                    <a:p>
                      <a:pPr marR="450215" algn="r">
                        <a:lnSpc>
                          <a:spcPct val="100000"/>
                        </a:lnSpc>
                        <a:spcBef>
                          <a:spcPts val="890"/>
                        </a:spcBef>
                      </a:pPr>
                      <a:r>
                        <a:rPr sz="2000" dirty="0">
                          <a:latin typeface="Arial"/>
                          <a:cs typeface="Arial"/>
                        </a:rPr>
                        <a:t>4</a:t>
                      </a:r>
                      <a:r>
                        <a:rPr sz="2000" spc="-10" dirty="0">
                          <a:latin typeface="Arial"/>
                          <a:cs typeface="Arial"/>
                        </a:rPr>
                        <a:t>3</a:t>
                      </a:r>
                      <a:r>
                        <a:rPr sz="2000" dirty="0">
                          <a:latin typeface="Arial"/>
                          <a:cs typeface="Arial"/>
                        </a:rPr>
                        <a:t>.1</a:t>
                      </a:r>
                      <a:endParaRPr sz="2000">
                        <a:latin typeface="Arial"/>
                        <a:cs typeface="Arial"/>
                      </a:endParaRPr>
                    </a:p>
                  </a:txBody>
                  <a:tcPr marL="0" marR="0" marT="113030" marB="0">
                    <a:solidFill>
                      <a:srgbClr val="F7FAFF"/>
                    </a:solidFill>
                  </a:tcPr>
                </a:tc>
                <a:tc>
                  <a:txBody>
                    <a:bodyPr/>
                    <a:lstStyle/>
                    <a:p>
                      <a:pPr marL="6985" algn="ctr">
                        <a:lnSpc>
                          <a:spcPct val="100000"/>
                        </a:lnSpc>
                        <a:spcBef>
                          <a:spcPts val="890"/>
                        </a:spcBef>
                      </a:pPr>
                      <a:r>
                        <a:rPr sz="2000" spc="-10" dirty="0">
                          <a:latin typeface="Arial"/>
                          <a:cs typeface="Arial"/>
                        </a:rPr>
                        <a:t>2.32</a:t>
                      </a:r>
                      <a:endParaRPr sz="2000">
                        <a:latin typeface="Arial"/>
                        <a:cs typeface="Arial"/>
                      </a:endParaRPr>
                    </a:p>
                  </a:txBody>
                  <a:tcPr marL="0" marR="0" marT="113030" marB="0">
                    <a:solidFill>
                      <a:srgbClr val="F7FAFF"/>
                    </a:solidFill>
                  </a:tcPr>
                </a:tc>
                <a:tc>
                  <a:txBody>
                    <a:bodyPr/>
                    <a:lstStyle/>
                    <a:p>
                      <a:pPr marL="492125">
                        <a:lnSpc>
                          <a:spcPct val="100000"/>
                        </a:lnSpc>
                        <a:spcBef>
                          <a:spcPts val="890"/>
                        </a:spcBef>
                      </a:pPr>
                      <a:r>
                        <a:rPr sz="2000" spc="-10" dirty="0">
                          <a:latin typeface="Arial"/>
                          <a:cs typeface="Arial"/>
                        </a:rPr>
                        <a:t>1.8</a:t>
                      </a:r>
                      <a:endParaRPr sz="2000">
                        <a:latin typeface="Arial"/>
                        <a:cs typeface="Arial"/>
                      </a:endParaRPr>
                    </a:p>
                  </a:txBody>
                  <a:tcPr marL="0" marR="0" marT="113030" marB="0">
                    <a:solidFill>
                      <a:srgbClr val="F7FAFF"/>
                    </a:solidFill>
                  </a:tcPr>
                </a:tc>
                <a:extLst>
                  <a:ext uri="{0D108BD9-81ED-4DB2-BD59-A6C34878D82A}">
                    <a16:rowId xmlns:a16="http://schemas.microsoft.com/office/drawing/2014/main" val="10002"/>
                  </a:ext>
                </a:extLst>
              </a:tr>
              <a:tr h="546183">
                <a:tc>
                  <a:txBody>
                    <a:bodyPr/>
                    <a:lstStyle/>
                    <a:p>
                      <a:pPr marL="91440">
                        <a:lnSpc>
                          <a:spcPct val="100000"/>
                        </a:lnSpc>
                        <a:spcBef>
                          <a:spcPts val="865"/>
                        </a:spcBef>
                      </a:pPr>
                      <a:r>
                        <a:rPr sz="2000" i="1" spc="-10" dirty="0">
                          <a:latin typeface="Arial"/>
                          <a:cs typeface="Arial"/>
                        </a:rPr>
                        <a:t>EDD</a:t>
                      </a:r>
                      <a:endParaRPr sz="2000">
                        <a:latin typeface="Arial"/>
                        <a:cs typeface="Arial"/>
                      </a:endParaRPr>
                    </a:p>
                  </a:txBody>
                  <a:tcPr marL="0" marR="0" marT="109855" marB="0">
                    <a:solidFill>
                      <a:srgbClr val="F7FAFF"/>
                    </a:solidFill>
                  </a:tcPr>
                </a:tc>
                <a:tc>
                  <a:txBody>
                    <a:bodyPr/>
                    <a:lstStyle/>
                    <a:p>
                      <a:pPr marR="635" algn="ctr">
                        <a:lnSpc>
                          <a:spcPct val="100000"/>
                        </a:lnSpc>
                        <a:spcBef>
                          <a:spcPts val="865"/>
                        </a:spcBef>
                      </a:pPr>
                      <a:r>
                        <a:rPr sz="2000" spc="-10" dirty="0">
                          <a:latin typeface="Arial"/>
                          <a:cs typeface="Arial"/>
                        </a:rPr>
                        <a:t>13.6</a:t>
                      </a:r>
                      <a:endParaRPr sz="2000">
                        <a:latin typeface="Arial"/>
                        <a:cs typeface="Arial"/>
                      </a:endParaRPr>
                    </a:p>
                  </a:txBody>
                  <a:tcPr marL="0" marR="0" marT="109855" marB="0">
                    <a:solidFill>
                      <a:srgbClr val="F7FAFF"/>
                    </a:solidFill>
                  </a:tcPr>
                </a:tc>
                <a:tc>
                  <a:txBody>
                    <a:bodyPr/>
                    <a:lstStyle/>
                    <a:p>
                      <a:pPr marR="450850" algn="r">
                        <a:lnSpc>
                          <a:spcPct val="100000"/>
                        </a:lnSpc>
                        <a:spcBef>
                          <a:spcPts val="865"/>
                        </a:spcBef>
                      </a:pPr>
                      <a:r>
                        <a:rPr sz="2000" dirty="0">
                          <a:latin typeface="Arial"/>
                          <a:cs typeface="Arial"/>
                        </a:rPr>
                        <a:t>4</a:t>
                      </a:r>
                      <a:r>
                        <a:rPr sz="2000" spc="-10" dirty="0">
                          <a:latin typeface="Arial"/>
                          <a:cs typeface="Arial"/>
                        </a:rPr>
                        <a:t>1</a:t>
                      </a:r>
                      <a:r>
                        <a:rPr sz="2000" dirty="0">
                          <a:latin typeface="Arial"/>
                          <a:cs typeface="Arial"/>
                        </a:rPr>
                        <a:t>.2</a:t>
                      </a:r>
                      <a:endParaRPr sz="2000">
                        <a:latin typeface="Arial"/>
                        <a:cs typeface="Arial"/>
                      </a:endParaRPr>
                    </a:p>
                  </a:txBody>
                  <a:tcPr marL="0" marR="0" marT="109855" marB="0">
                    <a:solidFill>
                      <a:srgbClr val="F7FAFF"/>
                    </a:solidFill>
                  </a:tcPr>
                </a:tc>
                <a:tc>
                  <a:txBody>
                    <a:bodyPr/>
                    <a:lstStyle/>
                    <a:p>
                      <a:pPr marL="6985" algn="ctr">
                        <a:lnSpc>
                          <a:spcPct val="100000"/>
                        </a:lnSpc>
                        <a:spcBef>
                          <a:spcPts val="865"/>
                        </a:spcBef>
                      </a:pPr>
                      <a:r>
                        <a:rPr sz="2000" spc="-10" dirty="0">
                          <a:latin typeface="Arial"/>
                          <a:cs typeface="Arial"/>
                        </a:rPr>
                        <a:t>2.43</a:t>
                      </a:r>
                      <a:endParaRPr sz="2000">
                        <a:latin typeface="Arial"/>
                        <a:cs typeface="Arial"/>
                      </a:endParaRPr>
                    </a:p>
                  </a:txBody>
                  <a:tcPr marL="0" marR="0" marT="109855" marB="0">
                    <a:solidFill>
                      <a:srgbClr val="F7FAFF"/>
                    </a:solidFill>
                  </a:tcPr>
                </a:tc>
                <a:tc>
                  <a:txBody>
                    <a:bodyPr/>
                    <a:lstStyle/>
                    <a:p>
                      <a:pPr marL="492125">
                        <a:lnSpc>
                          <a:spcPct val="100000"/>
                        </a:lnSpc>
                        <a:spcBef>
                          <a:spcPts val="865"/>
                        </a:spcBef>
                      </a:pPr>
                      <a:r>
                        <a:rPr sz="2000" spc="-5" dirty="0">
                          <a:latin typeface="Arial"/>
                          <a:cs typeface="Arial"/>
                        </a:rPr>
                        <a:t>1.2</a:t>
                      </a:r>
                      <a:endParaRPr sz="2000">
                        <a:latin typeface="Arial"/>
                        <a:cs typeface="Arial"/>
                      </a:endParaRPr>
                    </a:p>
                  </a:txBody>
                  <a:tcPr marL="0" marR="0" marT="109855" marB="0">
                    <a:solidFill>
                      <a:srgbClr val="F7FAFF"/>
                    </a:solidFill>
                  </a:tcPr>
                </a:tc>
                <a:extLst>
                  <a:ext uri="{0D108BD9-81ED-4DB2-BD59-A6C34878D82A}">
                    <a16:rowId xmlns:a16="http://schemas.microsoft.com/office/drawing/2014/main" val="10003"/>
                  </a:ext>
                </a:extLst>
              </a:tr>
              <a:tr h="411456">
                <a:tc>
                  <a:txBody>
                    <a:bodyPr/>
                    <a:lstStyle/>
                    <a:p>
                      <a:pPr marL="91440">
                        <a:lnSpc>
                          <a:spcPts val="2325"/>
                        </a:lnSpc>
                        <a:spcBef>
                          <a:spcPts val="815"/>
                        </a:spcBef>
                      </a:pPr>
                      <a:r>
                        <a:rPr sz="2000" i="1" spc="-15" dirty="0">
                          <a:latin typeface="Arial"/>
                          <a:cs typeface="Arial"/>
                        </a:rPr>
                        <a:t>LPT</a:t>
                      </a:r>
                      <a:endParaRPr sz="2000">
                        <a:latin typeface="Arial"/>
                        <a:cs typeface="Arial"/>
                      </a:endParaRPr>
                    </a:p>
                  </a:txBody>
                  <a:tcPr marL="0" marR="0" marT="103505" marB="0">
                    <a:solidFill>
                      <a:srgbClr val="F7FAFF"/>
                    </a:solidFill>
                  </a:tcPr>
                </a:tc>
                <a:tc>
                  <a:txBody>
                    <a:bodyPr/>
                    <a:lstStyle/>
                    <a:p>
                      <a:pPr algn="ctr">
                        <a:lnSpc>
                          <a:spcPts val="2325"/>
                        </a:lnSpc>
                        <a:spcBef>
                          <a:spcPts val="815"/>
                        </a:spcBef>
                      </a:pPr>
                      <a:r>
                        <a:rPr sz="2000" spc="-10" dirty="0">
                          <a:latin typeface="Arial"/>
                          <a:cs typeface="Arial"/>
                        </a:rPr>
                        <a:t>20.6</a:t>
                      </a:r>
                      <a:endParaRPr sz="2000">
                        <a:latin typeface="Arial"/>
                        <a:cs typeface="Arial"/>
                      </a:endParaRPr>
                    </a:p>
                  </a:txBody>
                  <a:tcPr marL="0" marR="0" marT="103505" marB="0">
                    <a:solidFill>
                      <a:srgbClr val="F7FAFF"/>
                    </a:solidFill>
                  </a:tcPr>
                </a:tc>
                <a:tc>
                  <a:txBody>
                    <a:bodyPr/>
                    <a:lstStyle/>
                    <a:p>
                      <a:pPr marR="450215" algn="r">
                        <a:lnSpc>
                          <a:spcPts val="2325"/>
                        </a:lnSpc>
                        <a:spcBef>
                          <a:spcPts val="815"/>
                        </a:spcBef>
                      </a:pPr>
                      <a:r>
                        <a:rPr sz="2000" dirty="0">
                          <a:latin typeface="Arial"/>
                          <a:cs typeface="Arial"/>
                        </a:rPr>
                        <a:t>2</a:t>
                      </a:r>
                      <a:r>
                        <a:rPr sz="2000" spc="-10" dirty="0">
                          <a:latin typeface="Arial"/>
                          <a:cs typeface="Arial"/>
                        </a:rPr>
                        <a:t>7</a:t>
                      </a:r>
                      <a:r>
                        <a:rPr sz="2000" dirty="0">
                          <a:latin typeface="Arial"/>
                          <a:cs typeface="Arial"/>
                        </a:rPr>
                        <a:t>.2</a:t>
                      </a:r>
                      <a:endParaRPr sz="2000">
                        <a:latin typeface="Arial"/>
                        <a:cs typeface="Arial"/>
                      </a:endParaRPr>
                    </a:p>
                  </a:txBody>
                  <a:tcPr marL="0" marR="0" marT="103505" marB="0">
                    <a:solidFill>
                      <a:srgbClr val="F7FAFF"/>
                    </a:solidFill>
                  </a:tcPr>
                </a:tc>
                <a:tc>
                  <a:txBody>
                    <a:bodyPr/>
                    <a:lstStyle/>
                    <a:p>
                      <a:pPr marL="6985" algn="ctr">
                        <a:lnSpc>
                          <a:spcPts val="2325"/>
                        </a:lnSpc>
                        <a:spcBef>
                          <a:spcPts val="815"/>
                        </a:spcBef>
                      </a:pPr>
                      <a:r>
                        <a:rPr sz="2000" spc="-10" dirty="0">
                          <a:latin typeface="Arial"/>
                          <a:cs typeface="Arial"/>
                        </a:rPr>
                        <a:t>3.68</a:t>
                      </a:r>
                      <a:endParaRPr sz="2000">
                        <a:latin typeface="Arial"/>
                        <a:cs typeface="Arial"/>
                      </a:endParaRPr>
                    </a:p>
                  </a:txBody>
                  <a:tcPr marL="0" marR="0" marT="103505" marB="0">
                    <a:solidFill>
                      <a:srgbClr val="F7FAFF"/>
                    </a:solidFill>
                  </a:tcPr>
                </a:tc>
                <a:tc>
                  <a:txBody>
                    <a:bodyPr/>
                    <a:lstStyle/>
                    <a:p>
                      <a:pPr marL="492125">
                        <a:lnSpc>
                          <a:spcPts val="2325"/>
                        </a:lnSpc>
                        <a:spcBef>
                          <a:spcPts val="815"/>
                        </a:spcBef>
                      </a:pPr>
                      <a:r>
                        <a:rPr sz="2000" spc="-10" dirty="0">
                          <a:latin typeface="Arial"/>
                          <a:cs typeface="Arial"/>
                        </a:rPr>
                        <a:t>9.6</a:t>
                      </a:r>
                      <a:endParaRPr sz="2000">
                        <a:latin typeface="Arial"/>
                        <a:cs typeface="Arial"/>
                      </a:endParaRPr>
                    </a:p>
                  </a:txBody>
                  <a:tcPr marL="0" marR="0" marT="103505" marB="0">
                    <a:solidFill>
                      <a:srgbClr val="F7FAFF"/>
                    </a:solidFill>
                  </a:tcPr>
                </a:tc>
                <a:extLst>
                  <a:ext uri="{0D108BD9-81ED-4DB2-BD59-A6C34878D82A}">
                    <a16:rowId xmlns:a16="http://schemas.microsoft.com/office/drawing/2014/main" val="10004"/>
                  </a:ext>
                </a:extLst>
              </a:tr>
            </a:tbl>
          </a:graphicData>
        </a:graphic>
      </p:graphicFrame>
      <p:sp>
        <p:nvSpPr>
          <p:cNvPr id="6" name="object 6"/>
          <p:cNvSpPr txBox="1"/>
          <p:nvPr/>
        </p:nvSpPr>
        <p:spPr>
          <a:xfrm>
            <a:off x="825195" y="1750263"/>
            <a:ext cx="2953385" cy="454025"/>
          </a:xfrm>
          <a:prstGeom prst="rect">
            <a:avLst/>
          </a:prstGeom>
        </p:spPr>
        <p:txBody>
          <a:bodyPr vert="horz" wrap="square" lIns="0" tIns="13970" rIns="0" bIns="0" rtlCol="0">
            <a:spAutoFit/>
          </a:bodyPr>
          <a:lstStyle/>
          <a:p>
            <a:pPr marL="12700">
              <a:lnSpc>
                <a:spcPct val="100000"/>
              </a:lnSpc>
              <a:spcBef>
                <a:spcPts val="110"/>
              </a:spcBef>
            </a:pPr>
            <a:r>
              <a:rPr sz="2800" dirty="0">
                <a:latin typeface="Arial"/>
                <a:cs typeface="Arial"/>
              </a:rPr>
              <a:t>Summary of</a:t>
            </a:r>
            <a:r>
              <a:rPr sz="2800" spc="-85" dirty="0">
                <a:latin typeface="Arial"/>
                <a:cs typeface="Arial"/>
              </a:rPr>
              <a:t> </a:t>
            </a:r>
            <a:r>
              <a:rPr sz="2800" dirty="0">
                <a:latin typeface="Arial"/>
                <a:cs typeface="Arial"/>
              </a:rPr>
              <a:t>Rules</a:t>
            </a:r>
            <a:endParaRPr sz="2800">
              <a:latin typeface="Arial"/>
              <a:cs typeface="Arial"/>
            </a:endParaRPr>
          </a:p>
        </p:txBody>
      </p:sp>
      <p:grpSp>
        <p:nvGrpSpPr>
          <p:cNvPr id="7" name="object 7"/>
          <p:cNvGrpSpPr/>
          <p:nvPr/>
        </p:nvGrpSpPr>
        <p:grpSpPr>
          <a:xfrm>
            <a:off x="12191" y="6437376"/>
            <a:ext cx="1628139" cy="411480"/>
            <a:chOff x="12191" y="6437376"/>
            <a:chExt cx="1628139" cy="411480"/>
          </a:xfrm>
        </p:grpSpPr>
        <p:sp>
          <p:nvSpPr>
            <p:cNvPr id="8" name="object 8"/>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9" name="object 9"/>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10" name="object 10"/>
          <p:cNvGrpSpPr/>
          <p:nvPr/>
        </p:nvGrpSpPr>
        <p:grpSpPr>
          <a:xfrm>
            <a:off x="7491983" y="6437376"/>
            <a:ext cx="1630680" cy="411480"/>
            <a:chOff x="7491983" y="6437376"/>
            <a:chExt cx="1630680" cy="411480"/>
          </a:xfrm>
        </p:grpSpPr>
        <p:sp>
          <p:nvSpPr>
            <p:cNvPr id="11" name="object 11"/>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2" name="object 12"/>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33</a:t>
            </a:r>
            <a:endParaRPr sz="900">
              <a:latin typeface="Arial"/>
              <a:cs typeface="Arial"/>
            </a:endParaRPr>
          </a:p>
        </p:txBody>
      </p:sp>
      <p:sp>
        <p:nvSpPr>
          <p:cNvPr id="4" name="object 4"/>
          <p:cNvSpPr txBox="1">
            <a:spLocks noGrp="1"/>
          </p:cNvSpPr>
          <p:nvPr>
            <p:ph type="title"/>
          </p:nvPr>
        </p:nvSpPr>
        <p:spPr>
          <a:xfrm>
            <a:off x="687323" y="446531"/>
            <a:ext cx="7772400" cy="1371600"/>
          </a:xfrm>
          <a:prstGeom prst="rect">
            <a:avLst/>
          </a:prstGeom>
          <a:solidFill>
            <a:srgbClr val="F7FAFF"/>
          </a:solidFill>
          <a:ln w="9144">
            <a:solidFill>
              <a:srgbClr val="000000"/>
            </a:solidFill>
          </a:ln>
        </p:spPr>
        <p:txBody>
          <a:bodyPr vert="horz" wrap="square" lIns="0" tIns="126364" rIns="0" bIns="0" rtlCol="0">
            <a:spAutoFit/>
          </a:bodyPr>
          <a:lstStyle/>
          <a:p>
            <a:pPr marL="1462405" marR="1459230" indent="450850">
              <a:lnSpc>
                <a:spcPts val="4230"/>
              </a:lnSpc>
              <a:spcBef>
                <a:spcPts val="994"/>
              </a:spcBef>
            </a:pPr>
            <a:r>
              <a:rPr sz="4400" spc="-5" dirty="0"/>
              <a:t>Comparison of  Sequencing</a:t>
            </a:r>
            <a:r>
              <a:rPr sz="4400" spc="-50" dirty="0"/>
              <a:t> </a:t>
            </a:r>
            <a:r>
              <a:rPr sz="4400" spc="-5" dirty="0"/>
              <a:t>Rules</a:t>
            </a:r>
            <a:endParaRPr sz="4400"/>
          </a:p>
        </p:txBody>
      </p:sp>
      <p:sp>
        <p:nvSpPr>
          <p:cNvPr id="5" name="object 5"/>
          <p:cNvSpPr txBox="1"/>
          <p:nvPr/>
        </p:nvSpPr>
        <p:spPr>
          <a:xfrm>
            <a:off x="902919" y="2336165"/>
            <a:ext cx="6496685" cy="904240"/>
          </a:xfrm>
          <a:prstGeom prst="rect">
            <a:avLst/>
          </a:prstGeom>
        </p:spPr>
        <p:txBody>
          <a:bodyPr vert="horz" wrap="square" lIns="0" tIns="85725" rIns="0" bIns="0" rtlCol="0">
            <a:spAutoFit/>
          </a:bodyPr>
          <a:lstStyle/>
          <a:p>
            <a:pPr marL="12700">
              <a:lnSpc>
                <a:spcPct val="100000"/>
              </a:lnSpc>
              <a:spcBef>
                <a:spcPts val="675"/>
              </a:spcBef>
              <a:tabLst>
                <a:tab pos="494030" algn="l"/>
              </a:tabLst>
            </a:pPr>
            <a:r>
              <a:rPr sz="2400" dirty="0">
                <a:latin typeface="Wingdings"/>
                <a:cs typeface="Wingdings"/>
              </a:rPr>
              <a:t></a:t>
            </a:r>
            <a:r>
              <a:rPr sz="2400" dirty="0">
                <a:latin typeface="Times New Roman"/>
                <a:cs typeface="Times New Roman"/>
              </a:rPr>
              <a:t>	</a:t>
            </a:r>
            <a:r>
              <a:rPr sz="2400" spc="-5" dirty="0">
                <a:latin typeface="Arial"/>
                <a:cs typeface="Arial"/>
              </a:rPr>
              <a:t>No </a:t>
            </a:r>
            <a:r>
              <a:rPr sz="2400" dirty="0">
                <a:latin typeface="Arial"/>
                <a:cs typeface="Arial"/>
              </a:rPr>
              <a:t>one sequencing </a:t>
            </a:r>
            <a:r>
              <a:rPr sz="2400" spc="-5" dirty="0">
                <a:latin typeface="Arial"/>
                <a:cs typeface="Arial"/>
              </a:rPr>
              <a:t>rule excels </a:t>
            </a:r>
            <a:r>
              <a:rPr sz="2400" dirty="0">
                <a:latin typeface="Arial"/>
                <a:cs typeface="Arial"/>
              </a:rPr>
              <a:t>on all</a:t>
            </a:r>
            <a:r>
              <a:rPr sz="2400" spc="-15" dirty="0">
                <a:latin typeface="Arial"/>
                <a:cs typeface="Arial"/>
              </a:rPr>
              <a:t> </a:t>
            </a:r>
            <a:r>
              <a:rPr sz="2400" dirty="0">
                <a:latin typeface="Arial"/>
                <a:cs typeface="Arial"/>
              </a:rPr>
              <a:t>criteria</a:t>
            </a:r>
            <a:endParaRPr sz="2400">
              <a:latin typeface="Arial"/>
              <a:cs typeface="Arial"/>
            </a:endParaRPr>
          </a:p>
          <a:p>
            <a:pPr marL="12700">
              <a:lnSpc>
                <a:spcPct val="100000"/>
              </a:lnSpc>
              <a:spcBef>
                <a:spcPts val="580"/>
              </a:spcBef>
            </a:pPr>
            <a:r>
              <a:rPr sz="2400" dirty="0">
                <a:latin typeface="Wingdings"/>
                <a:cs typeface="Wingdings"/>
              </a:rPr>
              <a:t></a:t>
            </a:r>
            <a:endParaRPr sz="2400">
              <a:latin typeface="Wingdings"/>
              <a:cs typeface="Wingdings"/>
            </a:endParaRPr>
          </a:p>
        </p:txBody>
      </p:sp>
      <p:sp>
        <p:nvSpPr>
          <p:cNvPr id="6" name="object 6"/>
          <p:cNvSpPr txBox="1"/>
          <p:nvPr/>
        </p:nvSpPr>
        <p:spPr>
          <a:xfrm>
            <a:off x="1384808" y="2848736"/>
            <a:ext cx="6817359" cy="391160"/>
          </a:xfrm>
          <a:prstGeom prst="rect">
            <a:avLst/>
          </a:prstGeom>
        </p:spPr>
        <p:txBody>
          <a:bodyPr vert="horz" wrap="square" lIns="0" tIns="12700" rIns="0" bIns="0" rtlCol="0">
            <a:spAutoFit/>
          </a:bodyPr>
          <a:lstStyle/>
          <a:p>
            <a:pPr marL="12700">
              <a:lnSpc>
                <a:spcPct val="100000"/>
              </a:lnSpc>
              <a:spcBef>
                <a:spcPts val="100"/>
              </a:spcBef>
              <a:tabLst>
                <a:tab pos="829310" algn="l"/>
                <a:tab pos="1722755" algn="l"/>
                <a:tab pos="2475865" algn="l"/>
                <a:tab pos="3042920" algn="l"/>
                <a:tab pos="4713605" algn="l"/>
                <a:tab pos="5488305" algn="l"/>
                <a:tab pos="6296660" algn="l"/>
              </a:tabLst>
            </a:pPr>
            <a:r>
              <a:rPr sz="2400" dirty="0">
                <a:latin typeface="Arial"/>
                <a:cs typeface="Arial"/>
              </a:rPr>
              <a:t>S</a:t>
            </a:r>
            <a:r>
              <a:rPr sz="2400" spc="-20" dirty="0">
                <a:latin typeface="Arial"/>
                <a:cs typeface="Arial"/>
              </a:rPr>
              <a:t>P</a:t>
            </a:r>
            <a:r>
              <a:rPr sz="2400" dirty="0">
                <a:latin typeface="Arial"/>
                <a:cs typeface="Arial"/>
              </a:rPr>
              <a:t>T	doe</a:t>
            </a:r>
            <a:r>
              <a:rPr sz="2400" spc="-5" dirty="0">
                <a:latin typeface="Arial"/>
                <a:cs typeface="Arial"/>
              </a:rPr>
              <a:t>s</a:t>
            </a:r>
            <a:r>
              <a:rPr sz="2400" dirty="0">
                <a:latin typeface="Arial"/>
                <a:cs typeface="Arial"/>
              </a:rPr>
              <a:t>	</a:t>
            </a:r>
            <a:r>
              <a:rPr sz="2400" spc="-35" dirty="0">
                <a:latin typeface="Arial"/>
                <a:cs typeface="Arial"/>
              </a:rPr>
              <a:t>w</a:t>
            </a:r>
            <a:r>
              <a:rPr sz="2400" dirty="0">
                <a:latin typeface="Arial"/>
                <a:cs typeface="Arial"/>
              </a:rPr>
              <a:t>e</a:t>
            </a:r>
            <a:r>
              <a:rPr sz="2400" spc="-5" dirty="0">
                <a:latin typeface="Arial"/>
                <a:cs typeface="Arial"/>
              </a:rPr>
              <a:t>ll</a:t>
            </a:r>
            <a:r>
              <a:rPr sz="2400" dirty="0">
                <a:latin typeface="Arial"/>
                <a:cs typeface="Arial"/>
              </a:rPr>
              <a:t>	o</a:t>
            </a:r>
            <a:r>
              <a:rPr sz="2400" spc="-5" dirty="0">
                <a:latin typeface="Arial"/>
                <a:cs typeface="Arial"/>
              </a:rPr>
              <a:t>n</a:t>
            </a:r>
            <a:r>
              <a:rPr sz="2400" dirty="0">
                <a:latin typeface="Arial"/>
                <a:cs typeface="Arial"/>
              </a:rPr>
              <a:t>	</a:t>
            </a:r>
            <a:r>
              <a:rPr sz="2400" spc="10" dirty="0">
                <a:latin typeface="Arial"/>
                <a:cs typeface="Arial"/>
              </a:rPr>
              <a:t>m</a:t>
            </a:r>
            <a:r>
              <a:rPr sz="2400" spc="-5" dirty="0">
                <a:latin typeface="Arial"/>
                <a:cs typeface="Arial"/>
              </a:rPr>
              <a:t>ini</a:t>
            </a:r>
            <a:r>
              <a:rPr sz="2400" spc="5" dirty="0">
                <a:latin typeface="Arial"/>
                <a:cs typeface="Arial"/>
              </a:rPr>
              <a:t>m</a:t>
            </a:r>
            <a:r>
              <a:rPr sz="2400" spc="-5" dirty="0">
                <a:latin typeface="Arial"/>
                <a:cs typeface="Arial"/>
              </a:rPr>
              <a:t>i</a:t>
            </a:r>
            <a:r>
              <a:rPr sz="2400" spc="-35" dirty="0">
                <a:latin typeface="Arial"/>
                <a:cs typeface="Arial"/>
              </a:rPr>
              <a:t>z</a:t>
            </a:r>
            <a:r>
              <a:rPr sz="2400" spc="-5" dirty="0">
                <a:latin typeface="Arial"/>
                <a:cs typeface="Arial"/>
              </a:rPr>
              <a:t>ing</a:t>
            </a:r>
            <a:r>
              <a:rPr sz="2400" dirty="0">
                <a:latin typeface="Arial"/>
                <a:cs typeface="Arial"/>
              </a:rPr>
              <a:t>	</a:t>
            </a:r>
            <a:r>
              <a:rPr sz="2400" spc="25" dirty="0">
                <a:latin typeface="Arial"/>
                <a:cs typeface="Arial"/>
              </a:rPr>
              <a:t>f</a:t>
            </a:r>
            <a:r>
              <a:rPr sz="2400" spc="-5" dirty="0">
                <a:latin typeface="Arial"/>
                <a:cs typeface="Arial"/>
              </a:rPr>
              <a:t>low</a:t>
            </a:r>
            <a:r>
              <a:rPr sz="2400" dirty="0">
                <a:latin typeface="Arial"/>
                <a:cs typeface="Arial"/>
              </a:rPr>
              <a:t>	ti</a:t>
            </a:r>
            <a:r>
              <a:rPr sz="2400" spc="10" dirty="0">
                <a:latin typeface="Arial"/>
                <a:cs typeface="Arial"/>
              </a:rPr>
              <a:t>m</a:t>
            </a:r>
            <a:r>
              <a:rPr sz="2400" spc="-5" dirty="0">
                <a:latin typeface="Arial"/>
                <a:cs typeface="Arial"/>
              </a:rPr>
              <a:t>e</a:t>
            </a:r>
            <a:r>
              <a:rPr sz="2400" dirty="0">
                <a:latin typeface="Arial"/>
                <a:cs typeface="Arial"/>
              </a:rPr>
              <a:t>	a</a:t>
            </a:r>
            <a:r>
              <a:rPr sz="2400" spc="-20" dirty="0">
                <a:latin typeface="Arial"/>
                <a:cs typeface="Arial"/>
              </a:rPr>
              <a:t>n</a:t>
            </a:r>
            <a:r>
              <a:rPr sz="2400" spc="-5" dirty="0">
                <a:latin typeface="Arial"/>
                <a:cs typeface="Arial"/>
              </a:rPr>
              <a:t>d</a:t>
            </a:r>
            <a:endParaRPr sz="2400">
              <a:latin typeface="Arial"/>
              <a:cs typeface="Arial"/>
            </a:endParaRPr>
          </a:p>
        </p:txBody>
      </p:sp>
      <p:sp>
        <p:nvSpPr>
          <p:cNvPr id="7" name="object 7"/>
          <p:cNvSpPr txBox="1"/>
          <p:nvPr/>
        </p:nvSpPr>
        <p:spPr>
          <a:xfrm>
            <a:off x="902919" y="3104388"/>
            <a:ext cx="7303134" cy="2440940"/>
          </a:xfrm>
          <a:prstGeom prst="rect">
            <a:avLst/>
          </a:prstGeom>
        </p:spPr>
        <p:txBody>
          <a:bodyPr vert="horz" wrap="square" lIns="0" tIns="85725" rIns="0" bIns="0" rtlCol="0">
            <a:spAutoFit/>
          </a:bodyPr>
          <a:lstStyle/>
          <a:p>
            <a:pPr marL="494030">
              <a:lnSpc>
                <a:spcPct val="100000"/>
              </a:lnSpc>
              <a:spcBef>
                <a:spcPts val="675"/>
              </a:spcBef>
            </a:pPr>
            <a:r>
              <a:rPr sz="2400" dirty="0">
                <a:latin typeface="Arial"/>
                <a:cs typeface="Arial"/>
              </a:rPr>
              <a:t>number of jobs </a:t>
            </a:r>
            <a:r>
              <a:rPr sz="2400" spc="-5" dirty="0">
                <a:latin typeface="Arial"/>
                <a:cs typeface="Arial"/>
              </a:rPr>
              <a:t>in </a:t>
            </a:r>
            <a:r>
              <a:rPr sz="2400" dirty="0">
                <a:latin typeface="Arial"/>
                <a:cs typeface="Arial"/>
              </a:rPr>
              <a:t>the</a:t>
            </a:r>
            <a:r>
              <a:rPr sz="2400" spc="-70" dirty="0">
                <a:latin typeface="Arial"/>
                <a:cs typeface="Arial"/>
              </a:rPr>
              <a:t> </a:t>
            </a:r>
            <a:r>
              <a:rPr sz="2400" spc="-5" dirty="0">
                <a:latin typeface="Arial"/>
                <a:cs typeface="Arial"/>
              </a:rPr>
              <a:t>system</a:t>
            </a:r>
            <a:endParaRPr sz="2400">
              <a:latin typeface="Arial"/>
              <a:cs typeface="Arial"/>
            </a:endParaRPr>
          </a:p>
          <a:p>
            <a:pPr marL="494030" marR="5080" indent="-481965">
              <a:lnSpc>
                <a:spcPts val="2590"/>
              </a:lnSpc>
              <a:spcBef>
                <a:spcPts val="910"/>
              </a:spcBef>
              <a:buFont typeface="Wingdings"/>
              <a:buChar char=""/>
              <a:tabLst>
                <a:tab pos="494030" algn="l"/>
                <a:tab pos="494665" algn="l"/>
                <a:tab pos="1082675" algn="l"/>
                <a:tab pos="2826385" algn="l"/>
                <a:tab pos="3533775" algn="l"/>
                <a:tab pos="4225925" algn="l"/>
                <a:tab pos="4606925" algn="l"/>
                <a:tab pos="5161915" algn="l"/>
                <a:tab pos="5802630" algn="l"/>
                <a:tab pos="6711315" algn="l"/>
              </a:tabLst>
            </a:pPr>
            <a:r>
              <a:rPr sz="2400" dirty="0">
                <a:latin typeface="Arial"/>
                <a:cs typeface="Arial"/>
              </a:rPr>
              <a:t>But	</a:t>
            </a:r>
            <a:r>
              <a:rPr sz="2400" spc="5" dirty="0">
                <a:latin typeface="Arial"/>
                <a:cs typeface="Arial"/>
              </a:rPr>
              <a:t>S</a:t>
            </a:r>
            <a:r>
              <a:rPr sz="2400" spc="-15" dirty="0">
                <a:latin typeface="Arial"/>
                <a:cs typeface="Arial"/>
              </a:rPr>
              <a:t>P</a:t>
            </a:r>
            <a:r>
              <a:rPr sz="2400" dirty="0">
                <a:latin typeface="Arial"/>
                <a:cs typeface="Arial"/>
              </a:rPr>
              <a:t>T</a:t>
            </a:r>
            <a:r>
              <a:rPr sz="2400" spc="310" dirty="0">
                <a:latin typeface="Arial"/>
                <a:cs typeface="Arial"/>
              </a:rPr>
              <a:t> </a:t>
            </a:r>
            <a:r>
              <a:rPr sz="2400" dirty="0">
                <a:latin typeface="Arial"/>
                <a:cs typeface="Arial"/>
              </a:rPr>
              <a:t>mo</a:t>
            </a:r>
            <a:r>
              <a:rPr sz="2400" spc="-20" dirty="0">
                <a:latin typeface="Arial"/>
                <a:cs typeface="Arial"/>
              </a:rPr>
              <a:t>v</a:t>
            </a:r>
            <a:r>
              <a:rPr sz="2400" dirty="0">
                <a:latin typeface="Arial"/>
                <a:cs typeface="Arial"/>
              </a:rPr>
              <a:t>es	</a:t>
            </a:r>
            <a:r>
              <a:rPr sz="2400" spc="-5" dirty="0">
                <a:latin typeface="Arial"/>
                <a:cs typeface="Arial"/>
              </a:rPr>
              <a:t>lo</a:t>
            </a:r>
            <a:r>
              <a:rPr sz="2400" dirty="0">
                <a:latin typeface="Arial"/>
                <a:cs typeface="Arial"/>
              </a:rPr>
              <a:t>n</a:t>
            </a:r>
            <a:r>
              <a:rPr sz="2400" spc="-5" dirty="0">
                <a:latin typeface="Arial"/>
                <a:cs typeface="Arial"/>
              </a:rPr>
              <a:t>g</a:t>
            </a:r>
            <a:r>
              <a:rPr sz="2400" dirty="0">
                <a:latin typeface="Arial"/>
                <a:cs typeface="Arial"/>
              </a:rPr>
              <a:t>	</a:t>
            </a:r>
            <a:r>
              <a:rPr sz="2400" spc="-5" dirty="0">
                <a:latin typeface="Arial"/>
                <a:cs typeface="Arial"/>
              </a:rPr>
              <a:t>jo</a:t>
            </a:r>
            <a:r>
              <a:rPr sz="2400" spc="5" dirty="0">
                <a:latin typeface="Arial"/>
                <a:cs typeface="Arial"/>
              </a:rPr>
              <a:t>b</a:t>
            </a:r>
            <a:r>
              <a:rPr sz="2400" dirty="0">
                <a:latin typeface="Arial"/>
                <a:cs typeface="Arial"/>
              </a:rPr>
              <a:t>s	</a:t>
            </a:r>
            <a:r>
              <a:rPr sz="2400" spc="-20" dirty="0">
                <a:latin typeface="Arial"/>
                <a:cs typeface="Arial"/>
              </a:rPr>
              <a:t>t</a:t>
            </a:r>
            <a:r>
              <a:rPr sz="2400" dirty="0">
                <a:latin typeface="Arial"/>
                <a:cs typeface="Arial"/>
              </a:rPr>
              <a:t>o	t</a:t>
            </a:r>
            <a:r>
              <a:rPr sz="2400" spc="15" dirty="0">
                <a:latin typeface="Arial"/>
                <a:cs typeface="Arial"/>
              </a:rPr>
              <a:t>h</a:t>
            </a:r>
            <a:r>
              <a:rPr sz="2400" spc="-5" dirty="0">
                <a:latin typeface="Arial"/>
                <a:cs typeface="Arial"/>
              </a:rPr>
              <a:t>e</a:t>
            </a:r>
            <a:r>
              <a:rPr sz="2400" dirty="0">
                <a:latin typeface="Arial"/>
                <a:cs typeface="Arial"/>
              </a:rPr>
              <a:t>	e</a:t>
            </a:r>
            <a:r>
              <a:rPr sz="2400" spc="-20" dirty="0">
                <a:latin typeface="Arial"/>
                <a:cs typeface="Arial"/>
              </a:rPr>
              <a:t>n</a:t>
            </a:r>
            <a:r>
              <a:rPr sz="2400" spc="-5" dirty="0">
                <a:latin typeface="Arial"/>
                <a:cs typeface="Arial"/>
              </a:rPr>
              <a:t>d</a:t>
            </a:r>
            <a:r>
              <a:rPr sz="2400" dirty="0">
                <a:latin typeface="Arial"/>
                <a:cs typeface="Arial"/>
              </a:rPr>
              <a:t>	</a:t>
            </a:r>
            <a:r>
              <a:rPr sz="2400" spc="-35" dirty="0">
                <a:latin typeface="Arial"/>
                <a:cs typeface="Arial"/>
              </a:rPr>
              <a:t>w</a:t>
            </a:r>
            <a:r>
              <a:rPr sz="2400" dirty="0">
                <a:latin typeface="Arial"/>
                <a:cs typeface="Arial"/>
              </a:rPr>
              <a:t>h</a:t>
            </a:r>
            <a:r>
              <a:rPr sz="2400" spc="-5" dirty="0">
                <a:latin typeface="Arial"/>
                <a:cs typeface="Arial"/>
              </a:rPr>
              <a:t>ich</a:t>
            </a:r>
            <a:r>
              <a:rPr sz="2400" dirty="0">
                <a:latin typeface="Arial"/>
                <a:cs typeface="Arial"/>
              </a:rPr>
              <a:t>	</a:t>
            </a:r>
            <a:r>
              <a:rPr sz="2400" spc="10" dirty="0">
                <a:latin typeface="Arial"/>
                <a:cs typeface="Arial"/>
              </a:rPr>
              <a:t>m</a:t>
            </a:r>
            <a:r>
              <a:rPr sz="2400" dirty="0">
                <a:latin typeface="Arial"/>
                <a:cs typeface="Arial"/>
              </a:rPr>
              <a:t>ay  </a:t>
            </a:r>
            <a:r>
              <a:rPr sz="2400" spc="-5" dirty="0">
                <a:latin typeface="Arial"/>
                <a:cs typeface="Arial"/>
              </a:rPr>
              <a:t>result in </a:t>
            </a:r>
            <a:r>
              <a:rPr sz="2400" dirty="0">
                <a:latin typeface="Arial"/>
                <a:cs typeface="Arial"/>
              </a:rPr>
              <a:t>dissatisfied</a:t>
            </a:r>
            <a:r>
              <a:rPr sz="2400" spc="-15" dirty="0">
                <a:latin typeface="Arial"/>
                <a:cs typeface="Arial"/>
              </a:rPr>
              <a:t> </a:t>
            </a:r>
            <a:r>
              <a:rPr sz="2400" dirty="0">
                <a:latin typeface="Arial"/>
                <a:cs typeface="Arial"/>
              </a:rPr>
              <a:t>customers</a:t>
            </a:r>
            <a:endParaRPr sz="2400">
              <a:latin typeface="Arial"/>
              <a:cs typeface="Arial"/>
            </a:endParaRPr>
          </a:p>
          <a:p>
            <a:pPr marL="494030" marR="10160" indent="-481965">
              <a:lnSpc>
                <a:spcPts val="2590"/>
              </a:lnSpc>
              <a:spcBef>
                <a:spcPts val="869"/>
              </a:spcBef>
              <a:buFont typeface="Wingdings"/>
              <a:buChar char=""/>
              <a:tabLst>
                <a:tab pos="494030" algn="l"/>
                <a:tab pos="494665" algn="l"/>
                <a:tab pos="1424305" algn="l"/>
                <a:tab pos="2216785" algn="l"/>
                <a:tab pos="2774950" algn="l"/>
                <a:tab pos="3244215" algn="l"/>
                <a:tab pos="4717415" algn="l"/>
                <a:tab pos="5375275" algn="l"/>
                <a:tab pos="5882005" algn="l"/>
                <a:tab pos="6943090" algn="l"/>
              </a:tabLst>
            </a:pPr>
            <a:r>
              <a:rPr sz="2400" dirty="0">
                <a:latin typeface="Arial"/>
                <a:cs typeface="Arial"/>
              </a:rPr>
              <a:t>F</a:t>
            </a:r>
            <a:r>
              <a:rPr sz="2400" spc="-10" dirty="0">
                <a:latin typeface="Arial"/>
                <a:cs typeface="Arial"/>
              </a:rPr>
              <a:t>C</a:t>
            </a:r>
            <a:r>
              <a:rPr sz="2400" dirty="0">
                <a:latin typeface="Arial"/>
                <a:cs typeface="Arial"/>
              </a:rPr>
              <a:t>FS	d</a:t>
            </a:r>
            <a:r>
              <a:rPr sz="2400" spc="-20" dirty="0">
                <a:latin typeface="Arial"/>
                <a:cs typeface="Arial"/>
              </a:rPr>
              <a:t>o</a:t>
            </a:r>
            <a:r>
              <a:rPr sz="2400" dirty="0">
                <a:latin typeface="Arial"/>
                <a:cs typeface="Arial"/>
              </a:rPr>
              <a:t>es	</a:t>
            </a:r>
            <a:r>
              <a:rPr sz="2400" spc="5" dirty="0">
                <a:latin typeface="Arial"/>
                <a:cs typeface="Arial"/>
              </a:rPr>
              <a:t>no</a:t>
            </a:r>
            <a:r>
              <a:rPr sz="2400" dirty="0">
                <a:latin typeface="Arial"/>
                <a:cs typeface="Arial"/>
              </a:rPr>
              <a:t>t	</a:t>
            </a:r>
            <a:r>
              <a:rPr sz="2400" spc="-20" dirty="0">
                <a:latin typeface="Arial"/>
                <a:cs typeface="Arial"/>
              </a:rPr>
              <a:t>d</a:t>
            </a:r>
            <a:r>
              <a:rPr sz="2400" spc="-5" dirty="0">
                <a:latin typeface="Arial"/>
                <a:cs typeface="Arial"/>
              </a:rPr>
              <a:t>o</a:t>
            </a:r>
            <a:r>
              <a:rPr sz="2400" dirty="0">
                <a:latin typeface="Arial"/>
                <a:cs typeface="Arial"/>
              </a:rPr>
              <a:t>	e</a:t>
            </a:r>
            <a:r>
              <a:rPr sz="2400" spc="-25" dirty="0">
                <a:latin typeface="Arial"/>
                <a:cs typeface="Arial"/>
              </a:rPr>
              <a:t>s</a:t>
            </a:r>
            <a:r>
              <a:rPr sz="2400" dirty="0">
                <a:latin typeface="Arial"/>
                <a:cs typeface="Arial"/>
              </a:rPr>
              <a:t>pe</a:t>
            </a:r>
            <a:r>
              <a:rPr sz="2400" spc="-5" dirty="0">
                <a:latin typeface="Arial"/>
                <a:cs typeface="Arial"/>
              </a:rPr>
              <a:t>cially</a:t>
            </a:r>
            <a:r>
              <a:rPr sz="2400" dirty="0">
                <a:latin typeface="Arial"/>
                <a:cs typeface="Arial"/>
              </a:rPr>
              <a:t>	</a:t>
            </a:r>
            <a:r>
              <a:rPr sz="2400" spc="-35" dirty="0">
                <a:latin typeface="Arial"/>
                <a:cs typeface="Arial"/>
              </a:rPr>
              <a:t>w</a:t>
            </a:r>
            <a:r>
              <a:rPr sz="2400" dirty="0">
                <a:latin typeface="Arial"/>
                <a:cs typeface="Arial"/>
              </a:rPr>
              <a:t>e</a:t>
            </a:r>
            <a:r>
              <a:rPr sz="2400" spc="10" dirty="0">
                <a:latin typeface="Arial"/>
                <a:cs typeface="Arial"/>
              </a:rPr>
              <a:t>l</a:t>
            </a:r>
            <a:r>
              <a:rPr sz="2400" spc="-5" dirty="0">
                <a:latin typeface="Arial"/>
                <a:cs typeface="Arial"/>
              </a:rPr>
              <a:t>l</a:t>
            </a:r>
            <a:r>
              <a:rPr sz="2400" dirty="0">
                <a:latin typeface="Arial"/>
                <a:cs typeface="Arial"/>
              </a:rPr>
              <a:t>	</a:t>
            </a:r>
            <a:r>
              <a:rPr sz="2400" spc="-5" dirty="0">
                <a:latin typeface="Arial"/>
                <a:cs typeface="Arial"/>
              </a:rPr>
              <a:t>(or</a:t>
            </a:r>
            <a:r>
              <a:rPr sz="2400" dirty="0">
                <a:latin typeface="Arial"/>
                <a:cs typeface="Arial"/>
              </a:rPr>
              <a:t>	poo</a:t>
            </a:r>
            <a:r>
              <a:rPr sz="2400" spc="-5" dirty="0">
                <a:latin typeface="Arial"/>
                <a:cs typeface="Arial"/>
              </a:rPr>
              <a:t>r</a:t>
            </a:r>
            <a:r>
              <a:rPr sz="2400" spc="-45" dirty="0">
                <a:latin typeface="Arial"/>
                <a:cs typeface="Arial"/>
              </a:rPr>
              <a:t>l</a:t>
            </a:r>
            <a:r>
              <a:rPr sz="2400" spc="-25" dirty="0">
                <a:latin typeface="Arial"/>
                <a:cs typeface="Arial"/>
              </a:rPr>
              <a:t>y</a:t>
            </a:r>
            <a:r>
              <a:rPr sz="2400" dirty="0">
                <a:latin typeface="Arial"/>
                <a:cs typeface="Arial"/>
              </a:rPr>
              <a:t>)	on  any </a:t>
            </a:r>
            <a:r>
              <a:rPr sz="2400" spc="-5" dirty="0">
                <a:latin typeface="Arial"/>
                <a:cs typeface="Arial"/>
              </a:rPr>
              <a:t>criteria </a:t>
            </a:r>
            <a:r>
              <a:rPr sz="2400" dirty="0">
                <a:latin typeface="Arial"/>
                <a:cs typeface="Arial"/>
              </a:rPr>
              <a:t>but </a:t>
            </a:r>
            <a:r>
              <a:rPr sz="2400" spc="-5" dirty="0">
                <a:latin typeface="Arial"/>
                <a:cs typeface="Arial"/>
              </a:rPr>
              <a:t>is </a:t>
            </a:r>
            <a:r>
              <a:rPr sz="2400" dirty="0">
                <a:latin typeface="Arial"/>
                <a:cs typeface="Arial"/>
              </a:rPr>
              <a:t>perceived as </a:t>
            </a:r>
            <a:r>
              <a:rPr sz="2400" spc="5" dirty="0">
                <a:latin typeface="Arial"/>
                <a:cs typeface="Arial"/>
              </a:rPr>
              <a:t>fair </a:t>
            </a:r>
            <a:r>
              <a:rPr sz="2400" dirty="0">
                <a:latin typeface="Arial"/>
                <a:cs typeface="Arial"/>
              </a:rPr>
              <a:t>by</a:t>
            </a:r>
            <a:r>
              <a:rPr sz="2400" spc="-85" dirty="0">
                <a:latin typeface="Arial"/>
                <a:cs typeface="Arial"/>
              </a:rPr>
              <a:t> </a:t>
            </a:r>
            <a:r>
              <a:rPr sz="2400" dirty="0">
                <a:latin typeface="Arial"/>
                <a:cs typeface="Arial"/>
              </a:rPr>
              <a:t>customers</a:t>
            </a:r>
            <a:endParaRPr sz="2400">
              <a:latin typeface="Arial"/>
              <a:cs typeface="Arial"/>
            </a:endParaRPr>
          </a:p>
          <a:p>
            <a:pPr marL="494030" indent="-481965">
              <a:lnSpc>
                <a:spcPct val="100000"/>
              </a:lnSpc>
              <a:spcBef>
                <a:spcPts val="540"/>
              </a:spcBef>
              <a:buFont typeface="Wingdings"/>
              <a:buChar char=""/>
              <a:tabLst>
                <a:tab pos="494030" algn="l"/>
                <a:tab pos="494665" algn="l"/>
              </a:tabLst>
            </a:pPr>
            <a:r>
              <a:rPr sz="2400" spc="-5" dirty="0">
                <a:latin typeface="Arial"/>
                <a:cs typeface="Arial"/>
              </a:rPr>
              <a:t>EDD minimizes</a:t>
            </a:r>
            <a:r>
              <a:rPr sz="2400" spc="15" dirty="0">
                <a:latin typeface="Arial"/>
                <a:cs typeface="Arial"/>
              </a:rPr>
              <a:t> </a:t>
            </a:r>
            <a:r>
              <a:rPr sz="2400" dirty="0">
                <a:latin typeface="Arial"/>
                <a:cs typeface="Arial"/>
              </a:rPr>
              <a:t>lateness</a:t>
            </a:r>
            <a:endParaRPr sz="2400">
              <a:latin typeface="Arial"/>
              <a:cs typeface="Arial"/>
            </a:endParaRPr>
          </a:p>
        </p:txBody>
      </p:sp>
      <p:grpSp>
        <p:nvGrpSpPr>
          <p:cNvPr id="8" name="object 8"/>
          <p:cNvGrpSpPr/>
          <p:nvPr/>
        </p:nvGrpSpPr>
        <p:grpSpPr>
          <a:xfrm>
            <a:off x="12191" y="6437376"/>
            <a:ext cx="1628139" cy="411480"/>
            <a:chOff x="12191" y="6437376"/>
            <a:chExt cx="1628139" cy="411480"/>
          </a:xfrm>
        </p:grpSpPr>
        <p:sp>
          <p:nvSpPr>
            <p:cNvPr id="9" name="object 9"/>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10" name="object 10"/>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11" name="object 11"/>
          <p:cNvGrpSpPr/>
          <p:nvPr/>
        </p:nvGrpSpPr>
        <p:grpSpPr>
          <a:xfrm>
            <a:off x="7491983" y="6437376"/>
            <a:ext cx="1630680" cy="411480"/>
            <a:chOff x="7491983" y="6437376"/>
            <a:chExt cx="1630680" cy="411480"/>
          </a:xfrm>
        </p:grpSpPr>
        <p:sp>
          <p:nvSpPr>
            <p:cNvPr id="12" name="object 12"/>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3" name="object 13"/>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38</a:t>
            </a:r>
            <a:endParaRPr sz="900">
              <a:latin typeface="Arial"/>
              <a:cs typeface="Arial"/>
            </a:endParaRPr>
          </a:p>
        </p:txBody>
      </p:sp>
      <p:sp>
        <p:nvSpPr>
          <p:cNvPr id="4" name="object 4"/>
          <p:cNvSpPr txBox="1">
            <a:spLocks noGrp="1"/>
          </p:cNvSpPr>
          <p:nvPr>
            <p:ph type="title"/>
          </p:nvPr>
        </p:nvSpPr>
        <p:spPr>
          <a:xfrm>
            <a:off x="687323" y="586740"/>
            <a:ext cx="7772400" cy="1371600"/>
          </a:xfrm>
          <a:prstGeom prst="rect">
            <a:avLst/>
          </a:prstGeom>
          <a:solidFill>
            <a:srgbClr val="F7FAFF"/>
          </a:solidFill>
          <a:ln w="9144">
            <a:solidFill>
              <a:srgbClr val="000000"/>
            </a:solidFill>
          </a:ln>
        </p:spPr>
        <p:txBody>
          <a:bodyPr vert="horz" wrap="square" lIns="0" tIns="99060" rIns="0" bIns="0" rtlCol="0">
            <a:spAutoFit/>
          </a:bodyPr>
          <a:lstStyle/>
          <a:p>
            <a:pPr marL="370840" marR="248285" indent="-116205">
              <a:lnSpc>
                <a:spcPts val="4490"/>
              </a:lnSpc>
              <a:spcBef>
                <a:spcPts val="780"/>
              </a:spcBef>
              <a:tabLst>
                <a:tab pos="6435725" algn="l"/>
              </a:tabLst>
            </a:pPr>
            <a:r>
              <a:rPr sz="4400" spc="-5" dirty="0"/>
              <a:t>Seq</a:t>
            </a:r>
            <a:r>
              <a:rPr sz="4400" spc="5" dirty="0"/>
              <a:t>u</a:t>
            </a:r>
            <a:r>
              <a:rPr sz="4400" spc="-5" dirty="0"/>
              <a:t>en</a:t>
            </a:r>
            <a:r>
              <a:rPr sz="4400" spc="5" dirty="0"/>
              <a:t>c</a:t>
            </a:r>
            <a:r>
              <a:rPr sz="4400" spc="-5" dirty="0"/>
              <a:t>ing</a:t>
            </a:r>
            <a:r>
              <a:rPr sz="4400" spc="30" dirty="0"/>
              <a:t> </a:t>
            </a:r>
            <a:r>
              <a:rPr sz="4400" spc="-5" dirty="0"/>
              <a:t>N Jo</a:t>
            </a:r>
            <a:r>
              <a:rPr sz="4400" spc="5" dirty="0"/>
              <a:t>b</a:t>
            </a:r>
            <a:r>
              <a:rPr sz="4400" spc="-5" dirty="0"/>
              <a:t>s </a:t>
            </a:r>
            <a:r>
              <a:rPr sz="4400" dirty="0"/>
              <a:t>o</a:t>
            </a:r>
            <a:r>
              <a:rPr sz="4400" spc="-5" dirty="0"/>
              <a:t>n</a:t>
            </a:r>
            <a:r>
              <a:rPr sz="4400" dirty="0"/>
              <a:t>	</a:t>
            </a:r>
            <a:r>
              <a:rPr sz="4400" spc="-330" dirty="0"/>
              <a:t>T</a:t>
            </a:r>
            <a:r>
              <a:rPr sz="4400" spc="30" dirty="0"/>
              <a:t>w</a:t>
            </a:r>
            <a:r>
              <a:rPr sz="4400" spc="-5" dirty="0"/>
              <a:t>o  Machines: </a:t>
            </a:r>
            <a:r>
              <a:rPr sz="4400" spc="-20" dirty="0"/>
              <a:t>Johnson’s </a:t>
            </a:r>
            <a:r>
              <a:rPr sz="4400" spc="-5" dirty="0"/>
              <a:t>Rule</a:t>
            </a:r>
            <a:endParaRPr sz="4400"/>
          </a:p>
        </p:txBody>
      </p:sp>
      <p:sp>
        <p:nvSpPr>
          <p:cNvPr id="5" name="object 5"/>
          <p:cNvSpPr txBox="1"/>
          <p:nvPr/>
        </p:nvSpPr>
        <p:spPr>
          <a:xfrm>
            <a:off x="772769" y="2482672"/>
            <a:ext cx="7600315" cy="2464435"/>
          </a:xfrm>
          <a:prstGeom prst="rect">
            <a:avLst/>
          </a:prstGeom>
        </p:spPr>
        <p:txBody>
          <a:bodyPr vert="horz" wrap="square" lIns="0" tIns="66675" rIns="0" bIns="0" rtlCol="0">
            <a:spAutoFit/>
          </a:bodyPr>
          <a:lstStyle/>
          <a:p>
            <a:pPr marL="494030" marR="5080" indent="-481965" algn="just">
              <a:lnSpc>
                <a:spcPts val="3460"/>
              </a:lnSpc>
              <a:spcBef>
                <a:spcPts val="525"/>
              </a:spcBef>
              <a:buFont typeface="Wingdings"/>
              <a:buChar char=""/>
              <a:tabLst>
                <a:tab pos="494665" algn="l"/>
              </a:tabLst>
            </a:pPr>
            <a:r>
              <a:rPr sz="3200" spc="-15" dirty="0">
                <a:latin typeface="Arial"/>
                <a:cs typeface="Arial"/>
              </a:rPr>
              <a:t>Works </a:t>
            </a:r>
            <a:r>
              <a:rPr sz="3200" spc="-10" dirty="0">
                <a:latin typeface="Arial"/>
                <a:cs typeface="Arial"/>
              </a:rPr>
              <a:t>with two or </a:t>
            </a:r>
            <a:r>
              <a:rPr sz="3200" spc="-5" dirty="0">
                <a:latin typeface="Arial"/>
                <a:cs typeface="Arial"/>
              </a:rPr>
              <a:t>more jobs that pass  through the </a:t>
            </a:r>
            <a:r>
              <a:rPr sz="3200" spc="-10" dirty="0">
                <a:latin typeface="Arial"/>
                <a:cs typeface="Arial"/>
              </a:rPr>
              <a:t>same </a:t>
            </a:r>
            <a:r>
              <a:rPr sz="3200" spc="-15" dirty="0">
                <a:latin typeface="Arial"/>
                <a:cs typeface="Arial"/>
              </a:rPr>
              <a:t>two </a:t>
            </a:r>
            <a:r>
              <a:rPr sz="3200" spc="-5" dirty="0">
                <a:latin typeface="Arial"/>
                <a:cs typeface="Arial"/>
              </a:rPr>
              <a:t>machines </a:t>
            </a:r>
            <a:r>
              <a:rPr sz="3200" spc="-10" dirty="0">
                <a:latin typeface="Arial"/>
                <a:cs typeface="Arial"/>
              </a:rPr>
              <a:t>or  </a:t>
            </a:r>
            <a:r>
              <a:rPr sz="3200" spc="-15" dirty="0">
                <a:latin typeface="Arial"/>
                <a:cs typeface="Arial"/>
              </a:rPr>
              <a:t>work</a:t>
            </a:r>
            <a:r>
              <a:rPr sz="3200" spc="25" dirty="0">
                <a:latin typeface="Arial"/>
                <a:cs typeface="Arial"/>
              </a:rPr>
              <a:t> </a:t>
            </a:r>
            <a:r>
              <a:rPr sz="3200" spc="-5" dirty="0">
                <a:latin typeface="Arial"/>
                <a:cs typeface="Arial"/>
              </a:rPr>
              <a:t>centers</a:t>
            </a:r>
            <a:endParaRPr sz="3200">
              <a:latin typeface="Arial"/>
              <a:cs typeface="Arial"/>
            </a:endParaRPr>
          </a:p>
          <a:p>
            <a:pPr marL="494030" marR="5715" indent="-481965" algn="just">
              <a:lnSpc>
                <a:spcPts val="3460"/>
              </a:lnSpc>
              <a:spcBef>
                <a:spcPts val="1530"/>
              </a:spcBef>
              <a:buFont typeface="Wingdings"/>
              <a:buChar char=""/>
              <a:tabLst>
                <a:tab pos="494665" algn="l"/>
              </a:tabLst>
            </a:pPr>
            <a:r>
              <a:rPr sz="3200" spc="-5" dirty="0">
                <a:latin typeface="Arial"/>
                <a:cs typeface="Arial"/>
              </a:rPr>
              <a:t>Minimizes total production </a:t>
            </a:r>
            <a:r>
              <a:rPr sz="3200" spc="-15" dirty="0">
                <a:latin typeface="Arial"/>
                <a:cs typeface="Arial"/>
              </a:rPr>
              <a:t>time </a:t>
            </a:r>
            <a:r>
              <a:rPr sz="3200" spc="-5" dirty="0">
                <a:latin typeface="Arial"/>
                <a:cs typeface="Arial"/>
              </a:rPr>
              <a:t>and  idle</a:t>
            </a:r>
            <a:r>
              <a:rPr sz="3200" spc="-25" dirty="0">
                <a:latin typeface="Arial"/>
                <a:cs typeface="Arial"/>
              </a:rPr>
              <a:t> </a:t>
            </a:r>
            <a:r>
              <a:rPr sz="3200" spc="-5" dirty="0">
                <a:latin typeface="Arial"/>
                <a:cs typeface="Arial"/>
              </a:rPr>
              <a:t>time</a:t>
            </a:r>
            <a:endParaRPr sz="3200">
              <a:latin typeface="Arial"/>
              <a:cs typeface="Arial"/>
            </a:endParaRPr>
          </a:p>
        </p:txBody>
      </p:sp>
      <p:grpSp>
        <p:nvGrpSpPr>
          <p:cNvPr id="6" name="object 6"/>
          <p:cNvGrpSpPr/>
          <p:nvPr/>
        </p:nvGrpSpPr>
        <p:grpSpPr>
          <a:xfrm>
            <a:off x="12191" y="6437376"/>
            <a:ext cx="1628139" cy="411480"/>
            <a:chOff x="12191" y="6437376"/>
            <a:chExt cx="1628139" cy="411480"/>
          </a:xfrm>
        </p:grpSpPr>
        <p:sp>
          <p:nvSpPr>
            <p:cNvPr id="7" name="object 7"/>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8" name="object 8"/>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9" name="object 9"/>
          <p:cNvGrpSpPr/>
          <p:nvPr/>
        </p:nvGrpSpPr>
        <p:grpSpPr>
          <a:xfrm>
            <a:off x="7491983" y="6437376"/>
            <a:ext cx="1630680" cy="411480"/>
            <a:chOff x="7491983" y="6437376"/>
            <a:chExt cx="1630680" cy="411480"/>
          </a:xfrm>
        </p:grpSpPr>
        <p:sp>
          <p:nvSpPr>
            <p:cNvPr id="10" name="object 10"/>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1" name="object 11"/>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39</a:t>
            </a:r>
            <a:endParaRPr sz="900">
              <a:latin typeface="Arial"/>
              <a:cs typeface="Arial"/>
            </a:endParaRPr>
          </a:p>
        </p:txBody>
      </p:sp>
      <p:sp>
        <p:nvSpPr>
          <p:cNvPr id="4" name="object 4"/>
          <p:cNvSpPr txBox="1">
            <a:spLocks noGrp="1"/>
          </p:cNvSpPr>
          <p:nvPr>
            <p:ph type="title"/>
          </p:nvPr>
        </p:nvSpPr>
        <p:spPr>
          <a:xfrm>
            <a:off x="687323" y="559308"/>
            <a:ext cx="7772400" cy="902335"/>
          </a:xfrm>
          <a:prstGeom prst="rect">
            <a:avLst/>
          </a:prstGeom>
          <a:solidFill>
            <a:srgbClr val="F7FAFF"/>
          </a:solidFill>
          <a:ln w="9144">
            <a:solidFill>
              <a:srgbClr val="000000"/>
            </a:solidFill>
          </a:ln>
        </p:spPr>
        <p:txBody>
          <a:bodyPr vert="horz" wrap="square" lIns="0" tIns="48895" rIns="0" bIns="0" rtlCol="0">
            <a:spAutoFit/>
          </a:bodyPr>
          <a:lstStyle/>
          <a:p>
            <a:pPr algn="ctr">
              <a:lnSpc>
                <a:spcPct val="100000"/>
              </a:lnSpc>
              <a:spcBef>
                <a:spcPts val="385"/>
              </a:spcBef>
            </a:pPr>
            <a:r>
              <a:rPr sz="4400" spc="-25" dirty="0"/>
              <a:t>Johnson’s</a:t>
            </a:r>
            <a:r>
              <a:rPr sz="4400" spc="-15" dirty="0"/>
              <a:t> </a:t>
            </a:r>
            <a:r>
              <a:rPr sz="4400" spc="-10" dirty="0"/>
              <a:t>Rule</a:t>
            </a:r>
            <a:endParaRPr sz="4400"/>
          </a:p>
        </p:txBody>
      </p:sp>
      <p:sp>
        <p:nvSpPr>
          <p:cNvPr id="5" name="object 5"/>
          <p:cNvSpPr txBox="1"/>
          <p:nvPr/>
        </p:nvSpPr>
        <p:spPr>
          <a:xfrm>
            <a:off x="715467" y="1636404"/>
            <a:ext cx="7715884" cy="4166870"/>
          </a:xfrm>
          <a:prstGeom prst="rect">
            <a:avLst/>
          </a:prstGeom>
        </p:spPr>
        <p:txBody>
          <a:bodyPr vert="horz" wrap="square" lIns="0" tIns="140335" rIns="0" bIns="0" rtlCol="0">
            <a:spAutoFit/>
          </a:bodyPr>
          <a:lstStyle/>
          <a:p>
            <a:pPr marL="494030" indent="-481965" algn="just">
              <a:lnSpc>
                <a:spcPct val="100000"/>
              </a:lnSpc>
              <a:spcBef>
                <a:spcPts val="1105"/>
              </a:spcBef>
              <a:buAutoNum type="arabicPeriod"/>
              <a:tabLst>
                <a:tab pos="494665" algn="l"/>
              </a:tabLst>
            </a:pPr>
            <a:r>
              <a:rPr sz="2800" dirty="0">
                <a:latin typeface="Arial"/>
                <a:cs typeface="Arial"/>
              </a:rPr>
              <a:t>List all jobs and times </a:t>
            </a:r>
            <a:r>
              <a:rPr sz="2800" spc="5" dirty="0">
                <a:latin typeface="Arial"/>
                <a:cs typeface="Arial"/>
              </a:rPr>
              <a:t>for each </a:t>
            </a:r>
            <a:r>
              <a:rPr sz="2800" spc="-5" dirty="0">
                <a:latin typeface="Arial"/>
                <a:cs typeface="Arial"/>
              </a:rPr>
              <a:t>work</a:t>
            </a:r>
            <a:r>
              <a:rPr sz="2800" spc="-70" dirty="0">
                <a:latin typeface="Arial"/>
                <a:cs typeface="Arial"/>
              </a:rPr>
              <a:t> </a:t>
            </a:r>
            <a:r>
              <a:rPr sz="2800" spc="5" dirty="0">
                <a:latin typeface="Arial"/>
                <a:cs typeface="Arial"/>
              </a:rPr>
              <a:t>center</a:t>
            </a:r>
            <a:endParaRPr sz="2800">
              <a:latin typeface="Arial"/>
              <a:cs typeface="Arial"/>
            </a:endParaRPr>
          </a:p>
          <a:p>
            <a:pPr marL="494030" marR="6350" indent="-481965" algn="just">
              <a:lnSpc>
                <a:spcPct val="90000"/>
              </a:lnSpc>
              <a:spcBef>
                <a:spcPts val="1345"/>
              </a:spcBef>
              <a:buAutoNum type="arabicPeriod"/>
              <a:tabLst>
                <a:tab pos="494665" algn="l"/>
              </a:tabLst>
            </a:pPr>
            <a:r>
              <a:rPr sz="2800" dirty="0">
                <a:latin typeface="Arial"/>
                <a:cs typeface="Arial"/>
              </a:rPr>
              <a:t>Choose </a:t>
            </a:r>
            <a:r>
              <a:rPr sz="2800" spc="5" dirty="0">
                <a:latin typeface="Arial"/>
                <a:cs typeface="Arial"/>
              </a:rPr>
              <a:t>the </a:t>
            </a:r>
            <a:r>
              <a:rPr sz="2800" dirty="0">
                <a:latin typeface="Arial"/>
                <a:cs typeface="Arial"/>
              </a:rPr>
              <a:t>job </a:t>
            </a:r>
            <a:r>
              <a:rPr sz="2800" spc="-5" dirty="0">
                <a:latin typeface="Arial"/>
                <a:cs typeface="Arial"/>
              </a:rPr>
              <a:t>with </a:t>
            </a:r>
            <a:r>
              <a:rPr sz="2800" spc="5" dirty="0">
                <a:latin typeface="Arial"/>
                <a:cs typeface="Arial"/>
              </a:rPr>
              <a:t>the </a:t>
            </a:r>
            <a:r>
              <a:rPr sz="2800" dirty="0">
                <a:latin typeface="Arial"/>
                <a:cs typeface="Arial"/>
              </a:rPr>
              <a:t>shortest activity </a:t>
            </a:r>
            <a:r>
              <a:rPr sz="2800" spc="-5" dirty="0">
                <a:latin typeface="Arial"/>
                <a:cs typeface="Arial"/>
              </a:rPr>
              <a:t>time.  </a:t>
            </a:r>
            <a:r>
              <a:rPr sz="2800" spc="5" dirty="0">
                <a:latin typeface="Arial"/>
                <a:cs typeface="Arial"/>
              </a:rPr>
              <a:t>If </a:t>
            </a:r>
            <a:r>
              <a:rPr sz="2800" dirty="0">
                <a:latin typeface="Arial"/>
                <a:cs typeface="Arial"/>
              </a:rPr>
              <a:t>that time is in </a:t>
            </a:r>
            <a:r>
              <a:rPr sz="2800" spc="5" dirty="0">
                <a:latin typeface="Arial"/>
                <a:cs typeface="Arial"/>
              </a:rPr>
              <a:t>the </a:t>
            </a:r>
            <a:r>
              <a:rPr sz="2800" dirty="0">
                <a:latin typeface="Arial"/>
                <a:cs typeface="Arial"/>
              </a:rPr>
              <a:t>first </a:t>
            </a:r>
            <a:r>
              <a:rPr sz="2800" spc="-5" dirty="0">
                <a:latin typeface="Arial"/>
                <a:cs typeface="Arial"/>
              </a:rPr>
              <a:t>work </a:t>
            </a:r>
            <a:r>
              <a:rPr sz="2800" spc="-25" dirty="0">
                <a:latin typeface="Arial"/>
                <a:cs typeface="Arial"/>
              </a:rPr>
              <a:t>center, </a:t>
            </a:r>
            <a:r>
              <a:rPr sz="2800" dirty="0">
                <a:latin typeface="Arial"/>
                <a:cs typeface="Arial"/>
              </a:rPr>
              <a:t>schedule  </a:t>
            </a:r>
            <a:r>
              <a:rPr sz="2800" spc="5" dirty="0">
                <a:latin typeface="Arial"/>
                <a:cs typeface="Arial"/>
              </a:rPr>
              <a:t>the </a:t>
            </a:r>
            <a:r>
              <a:rPr sz="2800" dirty="0">
                <a:latin typeface="Arial"/>
                <a:cs typeface="Arial"/>
              </a:rPr>
              <a:t>job </a:t>
            </a:r>
            <a:r>
              <a:rPr sz="2800" spc="-5" dirty="0">
                <a:latin typeface="Arial"/>
                <a:cs typeface="Arial"/>
              </a:rPr>
              <a:t>first. If </a:t>
            </a:r>
            <a:r>
              <a:rPr sz="2800" spc="-10" dirty="0">
                <a:latin typeface="Arial"/>
                <a:cs typeface="Arial"/>
              </a:rPr>
              <a:t>it is in </a:t>
            </a:r>
            <a:r>
              <a:rPr sz="2800" spc="5" dirty="0">
                <a:latin typeface="Arial"/>
                <a:cs typeface="Arial"/>
              </a:rPr>
              <a:t>the </a:t>
            </a:r>
            <a:r>
              <a:rPr sz="2800" dirty="0">
                <a:latin typeface="Arial"/>
                <a:cs typeface="Arial"/>
              </a:rPr>
              <a:t>second </a:t>
            </a:r>
            <a:r>
              <a:rPr sz="2800" spc="-5" dirty="0">
                <a:latin typeface="Arial"/>
                <a:cs typeface="Arial"/>
              </a:rPr>
              <a:t>work </a:t>
            </a:r>
            <a:r>
              <a:rPr sz="2800" spc="-20" dirty="0">
                <a:latin typeface="Arial"/>
                <a:cs typeface="Arial"/>
              </a:rPr>
              <a:t>center,  </a:t>
            </a:r>
            <a:r>
              <a:rPr sz="2800" dirty="0">
                <a:latin typeface="Arial"/>
                <a:cs typeface="Arial"/>
              </a:rPr>
              <a:t>schedule </a:t>
            </a:r>
            <a:r>
              <a:rPr sz="2800" spc="5" dirty="0">
                <a:latin typeface="Arial"/>
                <a:cs typeface="Arial"/>
              </a:rPr>
              <a:t>the </a:t>
            </a:r>
            <a:r>
              <a:rPr sz="2800" dirty="0">
                <a:latin typeface="Arial"/>
                <a:cs typeface="Arial"/>
              </a:rPr>
              <a:t>job</a:t>
            </a:r>
            <a:r>
              <a:rPr sz="2800" spc="-45" dirty="0">
                <a:latin typeface="Arial"/>
                <a:cs typeface="Arial"/>
              </a:rPr>
              <a:t> </a:t>
            </a:r>
            <a:r>
              <a:rPr sz="2800" spc="5" dirty="0">
                <a:latin typeface="Arial"/>
                <a:cs typeface="Arial"/>
              </a:rPr>
              <a:t>last.</a:t>
            </a:r>
            <a:endParaRPr sz="2800">
              <a:latin typeface="Arial"/>
              <a:cs typeface="Arial"/>
            </a:endParaRPr>
          </a:p>
          <a:p>
            <a:pPr marL="494030" marR="7620" indent="-481965" algn="just">
              <a:lnSpc>
                <a:spcPts val="3020"/>
              </a:lnSpc>
              <a:spcBef>
                <a:spcPts val="1395"/>
              </a:spcBef>
              <a:buAutoNum type="arabicPeriod"/>
              <a:tabLst>
                <a:tab pos="494665" algn="l"/>
              </a:tabLst>
            </a:pPr>
            <a:r>
              <a:rPr sz="2800" spc="5" dirty="0">
                <a:latin typeface="Arial"/>
                <a:cs typeface="Arial"/>
              </a:rPr>
              <a:t>Once </a:t>
            </a:r>
            <a:r>
              <a:rPr sz="2800" dirty="0">
                <a:latin typeface="Arial"/>
                <a:cs typeface="Arial"/>
              </a:rPr>
              <a:t>a job </a:t>
            </a:r>
            <a:r>
              <a:rPr sz="2800" spc="-10" dirty="0">
                <a:latin typeface="Arial"/>
                <a:cs typeface="Arial"/>
              </a:rPr>
              <a:t>is </a:t>
            </a:r>
            <a:r>
              <a:rPr sz="2800" dirty="0">
                <a:latin typeface="Arial"/>
                <a:cs typeface="Arial"/>
              </a:rPr>
              <a:t>scheduled, </a:t>
            </a:r>
            <a:r>
              <a:rPr sz="2800" spc="-15" dirty="0">
                <a:latin typeface="Arial"/>
                <a:cs typeface="Arial"/>
              </a:rPr>
              <a:t>it </a:t>
            </a:r>
            <a:r>
              <a:rPr sz="2800" spc="-10" dirty="0">
                <a:latin typeface="Arial"/>
                <a:cs typeface="Arial"/>
              </a:rPr>
              <a:t>is </a:t>
            </a:r>
            <a:r>
              <a:rPr sz="2800" dirty="0">
                <a:latin typeface="Arial"/>
                <a:cs typeface="Arial"/>
              </a:rPr>
              <a:t>eliminated </a:t>
            </a:r>
            <a:r>
              <a:rPr sz="2800" spc="5" dirty="0">
                <a:latin typeface="Arial"/>
                <a:cs typeface="Arial"/>
              </a:rPr>
              <a:t>from  the</a:t>
            </a:r>
            <a:r>
              <a:rPr sz="2800" spc="-20" dirty="0">
                <a:latin typeface="Arial"/>
                <a:cs typeface="Arial"/>
              </a:rPr>
              <a:t> </a:t>
            </a:r>
            <a:r>
              <a:rPr sz="2800" dirty="0">
                <a:latin typeface="Arial"/>
                <a:cs typeface="Arial"/>
              </a:rPr>
              <a:t>list</a:t>
            </a:r>
            <a:endParaRPr sz="2800">
              <a:latin typeface="Arial"/>
              <a:cs typeface="Arial"/>
            </a:endParaRPr>
          </a:p>
          <a:p>
            <a:pPr marL="494030" marR="5080" indent="-481965" algn="just">
              <a:lnSpc>
                <a:spcPts val="3030"/>
              </a:lnSpc>
              <a:spcBef>
                <a:spcPts val="1350"/>
              </a:spcBef>
              <a:buAutoNum type="arabicPeriod"/>
              <a:tabLst>
                <a:tab pos="494665" algn="l"/>
              </a:tabLst>
            </a:pPr>
            <a:r>
              <a:rPr sz="2800" dirty="0">
                <a:latin typeface="Arial"/>
                <a:cs typeface="Arial"/>
              </a:rPr>
              <a:t>Repeat steps </a:t>
            </a:r>
            <a:r>
              <a:rPr sz="2800" spc="5" dirty="0">
                <a:latin typeface="Arial"/>
                <a:cs typeface="Arial"/>
              </a:rPr>
              <a:t>2 </a:t>
            </a:r>
            <a:r>
              <a:rPr sz="2800" dirty="0">
                <a:latin typeface="Arial"/>
                <a:cs typeface="Arial"/>
              </a:rPr>
              <a:t>and </a:t>
            </a:r>
            <a:r>
              <a:rPr sz="2800" spc="5" dirty="0">
                <a:latin typeface="Arial"/>
                <a:cs typeface="Arial"/>
              </a:rPr>
              <a:t>3 </a:t>
            </a:r>
            <a:r>
              <a:rPr sz="2800" dirty="0">
                <a:latin typeface="Arial"/>
                <a:cs typeface="Arial"/>
              </a:rPr>
              <a:t>working </a:t>
            </a:r>
            <a:r>
              <a:rPr sz="2800" spc="-5" dirty="0">
                <a:latin typeface="Arial"/>
                <a:cs typeface="Arial"/>
              </a:rPr>
              <a:t>toward </a:t>
            </a:r>
            <a:r>
              <a:rPr sz="2800" spc="5" dirty="0">
                <a:latin typeface="Arial"/>
                <a:cs typeface="Arial"/>
              </a:rPr>
              <a:t>the  center </a:t>
            </a:r>
            <a:r>
              <a:rPr sz="2800" dirty="0">
                <a:latin typeface="Arial"/>
                <a:cs typeface="Arial"/>
              </a:rPr>
              <a:t>of </a:t>
            </a:r>
            <a:r>
              <a:rPr sz="2800" spc="5" dirty="0">
                <a:latin typeface="Arial"/>
                <a:cs typeface="Arial"/>
              </a:rPr>
              <a:t>the</a:t>
            </a:r>
            <a:r>
              <a:rPr sz="2800" spc="-55" dirty="0">
                <a:latin typeface="Arial"/>
                <a:cs typeface="Arial"/>
              </a:rPr>
              <a:t> </a:t>
            </a:r>
            <a:r>
              <a:rPr sz="2800" spc="5" dirty="0">
                <a:latin typeface="Arial"/>
                <a:cs typeface="Arial"/>
              </a:rPr>
              <a:t>sequence</a:t>
            </a:r>
            <a:endParaRPr sz="2800">
              <a:latin typeface="Arial"/>
              <a:cs typeface="Arial"/>
            </a:endParaRPr>
          </a:p>
        </p:txBody>
      </p:sp>
      <p:grpSp>
        <p:nvGrpSpPr>
          <p:cNvPr id="6" name="object 6"/>
          <p:cNvGrpSpPr/>
          <p:nvPr/>
        </p:nvGrpSpPr>
        <p:grpSpPr>
          <a:xfrm>
            <a:off x="12191" y="6437376"/>
            <a:ext cx="1628139" cy="411480"/>
            <a:chOff x="12191" y="6437376"/>
            <a:chExt cx="1628139" cy="411480"/>
          </a:xfrm>
        </p:grpSpPr>
        <p:sp>
          <p:nvSpPr>
            <p:cNvPr id="7" name="object 7"/>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8" name="object 8"/>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9" name="object 9"/>
          <p:cNvGrpSpPr/>
          <p:nvPr/>
        </p:nvGrpSpPr>
        <p:grpSpPr>
          <a:xfrm>
            <a:off x="7491983" y="6437376"/>
            <a:ext cx="1630680" cy="411480"/>
            <a:chOff x="7491983" y="6437376"/>
            <a:chExt cx="1630680" cy="411480"/>
          </a:xfrm>
        </p:grpSpPr>
        <p:sp>
          <p:nvSpPr>
            <p:cNvPr id="10" name="object 10"/>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1" name="object 11"/>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40</a:t>
            </a:r>
            <a:endParaRPr sz="900">
              <a:latin typeface="Arial"/>
              <a:cs typeface="Arial"/>
            </a:endParaRPr>
          </a:p>
        </p:txBody>
      </p:sp>
      <p:sp>
        <p:nvSpPr>
          <p:cNvPr id="4" name="object 4"/>
          <p:cNvSpPr txBox="1">
            <a:spLocks noGrp="1"/>
          </p:cNvSpPr>
          <p:nvPr>
            <p:ph type="title"/>
          </p:nvPr>
        </p:nvSpPr>
        <p:spPr>
          <a:xfrm>
            <a:off x="687323" y="318515"/>
            <a:ext cx="7772400" cy="902335"/>
          </a:xfrm>
          <a:prstGeom prst="rect">
            <a:avLst/>
          </a:prstGeom>
          <a:solidFill>
            <a:srgbClr val="F7FAFF"/>
          </a:solidFill>
          <a:ln w="9144">
            <a:solidFill>
              <a:srgbClr val="000000"/>
            </a:solidFill>
          </a:ln>
        </p:spPr>
        <p:txBody>
          <a:bodyPr vert="horz" wrap="square" lIns="0" tIns="85090" rIns="0" bIns="0" rtlCol="0">
            <a:spAutoFit/>
          </a:bodyPr>
          <a:lstStyle/>
          <a:p>
            <a:pPr marL="889635">
              <a:lnSpc>
                <a:spcPct val="100000"/>
              </a:lnSpc>
              <a:spcBef>
                <a:spcPts val="670"/>
              </a:spcBef>
            </a:pPr>
            <a:r>
              <a:rPr spc="-20" dirty="0"/>
              <a:t>Johnson’s </a:t>
            </a:r>
            <a:r>
              <a:rPr dirty="0"/>
              <a:t>Rule</a:t>
            </a:r>
            <a:r>
              <a:rPr spc="-85" dirty="0"/>
              <a:t> </a:t>
            </a:r>
            <a:r>
              <a:rPr dirty="0"/>
              <a:t>Example</a:t>
            </a:r>
          </a:p>
        </p:txBody>
      </p:sp>
      <p:graphicFrame>
        <p:nvGraphicFramePr>
          <p:cNvPr id="5" name="object 5"/>
          <p:cNvGraphicFramePr>
            <a:graphicFrameLocks noGrp="1"/>
          </p:cNvGraphicFramePr>
          <p:nvPr/>
        </p:nvGraphicFramePr>
        <p:xfrm>
          <a:off x="717550" y="1430616"/>
          <a:ext cx="5143500" cy="2559737"/>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2125345">
                  <a:extLst>
                    <a:ext uri="{9D8B030D-6E8A-4147-A177-3AD203B41FA5}">
                      <a16:colId xmlns:a16="http://schemas.microsoft.com/office/drawing/2014/main" val="20001"/>
                    </a:ext>
                  </a:extLst>
                </a:gridCol>
                <a:gridCol w="2103755">
                  <a:extLst>
                    <a:ext uri="{9D8B030D-6E8A-4147-A177-3AD203B41FA5}">
                      <a16:colId xmlns:a16="http://schemas.microsoft.com/office/drawing/2014/main" val="20002"/>
                    </a:ext>
                  </a:extLst>
                </a:gridCol>
              </a:tblGrid>
              <a:tr h="606209">
                <a:tc>
                  <a:txBody>
                    <a:bodyPr/>
                    <a:lstStyle/>
                    <a:p>
                      <a:pPr marL="2540" algn="ctr">
                        <a:lnSpc>
                          <a:spcPct val="100000"/>
                        </a:lnSpc>
                        <a:spcBef>
                          <a:spcPts val="1960"/>
                        </a:spcBef>
                      </a:pPr>
                      <a:r>
                        <a:rPr sz="2000" i="1" dirty="0">
                          <a:latin typeface="Arial"/>
                          <a:cs typeface="Arial"/>
                        </a:rPr>
                        <a:t>Job</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12065" algn="ctr">
                        <a:lnSpc>
                          <a:spcPts val="2085"/>
                        </a:lnSpc>
                      </a:pPr>
                      <a:r>
                        <a:rPr sz="2000" i="1" spc="5" dirty="0">
                          <a:latin typeface="Arial"/>
                          <a:cs typeface="Arial"/>
                        </a:rPr>
                        <a:t>Work </a:t>
                      </a:r>
                      <a:r>
                        <a:rPr sz="2000" i="1" spc="-5" dirty="0">
                          <a:latin typeface="Arial"/>
                          <a:cs typeface="Arial"/>
                        </a:rPr>
                        <a:t>Center</a:t>
                      </a:r>
                      <a:r>
                        <a:rPr sz="2000" i="1" spc="-55" dirty="0">
                          <a:latin typeface="Arial"/>
                          <a:cs typeface="Arial"/>
                        </a:rPr>
                        <a:t> </a:t>
                      </a:r>
                      <a:r>
                        <a:rPr sz="2000" i="1" spc="-5" dirty="0">
                          <a:latin typeface="Arial"/>
                          <a:cs typeface="Arial"/>
                        </a:rPr>
                        <a:t>1</a:t>
                      </a:r>
                      <a:endParaRPr sz="2000">
                        <a:latin typeface="Arial"/>
                        <a:cs typeface="Arial"/>
                      </a:endParaRPr>
                    </a:p>
                    <a:p>
                      <a:pPr marL="8890" algn="ctr">
                        <a:lnSpc>
                          <a:spcPts val="2280"/>
                        </a:lnSpc>
                      </a:pPr>
                      <a:r>
                        <a:rPr sz="2000" i="1" spc="-5" dirty="0">
                          <a:latin typeface="Arial"/>
                          <a:cs typeface="Arial"/>
                        </a:rPr>
                        <a:t>(Drill</a:t>
                      </a:r>
                      <a:r>
                        <a:rPr sz="2000" i="1" spc="15" dirty="0">
                          <a:latin typeface="Arial"/>
                          <a:cs typeface="Arial"/>
                        </a:rPr>
                        <a:t> </a:t>
                      </a:r>
                      <a:r>
                        <a:rPr sz="2000" i="1" spc="-5" dirty="0">
                          <a:latin typeface="Arial"/>
                          <a:cs typeface="Arial"/>
                        </a:rPr>
                        <a:t>Press)</a:t>
                      </a:r>
                      <a:endParaRPr sz="2000">
                        <a:latin typeface="Arial"/>
                        <a:cs typeface="Arial"/>
                      </a:endParaRPr>
                    </a:p>
                  </a:txBody>
                  <a:tcPr marL="0" marR="0" marT="0" marB="0">
                    <a:lnB w="38100">
                      <a:solidFill>
                        <a:srgbClr val="000000"/>
                      </a:solidFill>
                      <a:prstDash val="solid"/>
                    </a:lnB>
                    <a:solidFill>
                      <a:srgbClr val="F7FAFF"/>
                    </a:solidFill>
                  </a:tcPr>
                </a:tc>
                <a:tc>
                  <a:txBody>
                    <a:bodyPr/>
                    <a:lstStyle/>
                    <a:p>
                      <a:pPr marL="6985" algn="ctr">
                        <a:lnSpc>
                          <a:spcPts val="2085"/>
                        </a:lnSpc>
                      </a:pPr>
                      <a:r>
                        <a:rPr sz="2000" i="1" dirty="0">
                          <a:latin typeface="Arial"/>
                          <a:cs typeface="Arial"/>
                        </a:rPr>
                        <a:t>Work </a:t>
                      </a:r>
                      <a:r>
                        <a:rPr sz="2000" i="1" spc="-10" dirty="0">
                          <a:latin typeface="Arial"/>
                          <a:cs typeface="Arial"/>
                        </a:rPr>
                        <a:t>Center</a:t>
                      </a:r>
                      <a:r>
                        <a:rPr sz="2000" i="1" spc="-45" dirty="0">
                          <a:latin typeface="Arial"/>
                          <a:cs typeface="Arial"/>
                        </a:rPr>
                        <a:t> </a:t>
                      </a:r>
                      <a:r>
                        <a:rPr sz="2000" i="1" spc="-5" dirty="0">
                          <a:latin typeface="Arial"/>
                          <a:cs typeface="Arial"/>
                        </a:rPr>
                        <a:t>2</a:t>
                      </a:r>
                      <a:endParaRPr sz="2000">
                        <a:latin typeface="Arial"/>
                        <a:cs typeface="Arial"/>
                      </a:endParaRPr>
                    </a:p>
                    <a:p>
                      <a:pPr marL="9525" algn="ctr">
                        <a:lnSpc>
                          <a:spcPts val="2280"/>
                        </a:lnSpc>
                      </a:pPr>
                      <a:r>
                        <a:rPr sz="2000" i="1" spc="-5" dirty="0">
                          <a:latin typeface="Arial"/>
                          <a:cs typeface="Arial"/>
                        </a:rPr>
                        <a:t>(Lathe)</a:t>
                      </a:r>
                      <a:endParaRPr sz="2000">
                        <a:latin typeface="Arial"/>
                        <a:cs typeface="Arial"/>
                      </a:endParaRPr>
                    </a:p>
                  </a:txBody>
                  <a:tcPr marL="0" marR="0" marT="0" marB="0">
                    <a:lnB w="38100">
                      <a:solidFill>
                        <a:srgbClr val="000000"/>
                      </a:solidFill>
                      <a:prstDash val="solid"/>
                    </a:lnB>
                    <a:solidFill>
                      <a:srgbClr val="F7FAFF"/>
                    </a:solidFill>
                  </a:tcPr>
                </a:tc>
                <a:extLst>
                  <a:ext uri="{0D108BD9-81ED-4DB2-BD59-A6C34878D82A}">
                    <a16:rowId xmlns:a16="http://schemas.microsoft.com/office/drawing/2014/main" val="10000"/>
                  </a:ext>
                </a:extLst>
              </a:tr>
              <a:tr h="408357">
                <a:tc>
                  <a:txBody>
                    <a:bodyPr/>
                    <a:lstStyle/>
                    <a:p>
                      <a:pPr algn="ctr">
                        <a:lnSpc>
                          <a:spcPct val="100000"/>
                        </a:lnSpc>
                        <a:spcBef>
                          <a:spcPts val="355"/>
                        </a:spcBef>
                      </a:pPr>
                      <a:r>
                        <a:rPr sz="2000" i="1" dirty="0">
                          <a:latin typeface="Arial"/>
                          <a:cs typeface="Arial"/>
                        </a:rPr>
                        <a:t>A</a:t>
                      </a:r>
                      <a:endParaRPr sz="2000">
                        <a:latin typeface="Arial"/>
                        <a:cs typeface="Arial"/>
                      </a:endParaRPr>
                    </a:p>
                  </a:txBody>
                  <a:tcPr marL="0" marR="0" marT="45085" marB="0">
                    <a:lnT w="38100">
                      <a:solidFill>
                        <a:srgbClr val="000000"/>
                      </a:solidFill>
                      <a:prstDash val="solid"/>
                    </a:lnT>
                    <a:solidFill>
                      <a:srgbClr val="F7FAFF"/>
                    </a:solidFill>
                  </a:tcPr>
                </a:tc>
                <a:tc>
                  <a:txBody>
                    <a:bodyPr/>
                    <a:lstStyle/>
                    <a:p>
                      <a:pPr marR="970280" algn="r">
                        <a:lnSpc>
                          <a:spcPct val="100000"/>
                        </a:lnSpc>
                        <a:spcBef>
                          <a:spcPts val="355"/>
                        </a:spcBef>
                      </a:pPr>
                      <a:r>
                        <a:rPr sz="2000" dirty="0">
                          <a:latin typeface="Arial"/>
                          <a:cs typeface="Arial"/>
                        </a:rPr>
                        <a:t>5</a:t>
                      </a:r>
                      <a:endParaRPr sz="2000">
                        <a:latin typeface="Arial"/>
                        <a:cs typeface="Arial"/>
                      </a:endParaRPr>
                    </a:p>
                  </a:txBody>
                  <a:tcPr marL="0" marR="0" marT="45085" marB="0">
                    <a:lnT w="38100">
                      <a:solidFill>
                        <a:srgbClr val="000000"/>
                      </a:solidFill>
                      <a:prstDash val="solid"/>
                    </a:lnT>
                    <a:solidFill>
                      <a:srgbClr val="F7FAFF"/>
                    </a:solidFill>
                  </a:tcPr>
                </a:tc>
                <a:tc>
                  <a:txBody>
                    <a:bodyPr/>
                    <a:lstStyle/>
                    <a:p>
                      <a:pPr marR="939165" algn="r">
                        <a:lnSpc>
                          <a:spcPct val="100000"/>
                        </a:lnSpc>
                        <a:spcBef>
                          <a:spcPts val="355"/>
                        </a:spcBef>
                      </a:pPr>
                      <a:r>
                        <a:rPr sz="2000" dirty="0">
                          <a:latin typeface="Arial"/>
                          <a:cs typeface="Arial"/>
                        </a:rPr>
                        <a:t>2</a:t>
                      </a:r>
                      <a:endParaRPr sz="2000">
                        <a:latin typeface="Arial"/>
                        <a:cs typeface="Arial"/>
                      </a:endParaRPr>
                    </a:p>
                  </a:txBody>
                  <a:tcPr marL="0" marR="0" marT="45085" marB="0">
                    <a:lnT w="38100">
                      <a:solidFill>
                        <a:srgbClr val="000000"/>
                      </a:solidFill>
                      <a:prstDash val="solid"/>
                    </a:lnT>
                    <a:solidFill>
                      <a:srgbClr val="F7FAFF"/>
                    </a:solidFill>
                  </a:tcPr>
                </a:tc>
                <a:extLst>
                  <a:ext uri="{0D108BD9-81ED-4DB2-BD59-A6C34878D82A}">
                    <a16:rowId xmlns:a16="http://schemas.microsoft.com/office/drawing/2014/main" val="10001"/>
                  </a:ext>
                </a:extLst>
              </a:tr>
              <a:tr h="393763">
                <a:tc>
                  <a:txBody>
                    <a:bodyPr/>
                    <a:lstStyle/>
                    <a:p>
                      <a:pPr algn="ctr">
                        <a:lnSpc>
                          <a:spcPct val="100000"/>
                        </a:lnSpc>
                        <a:spcBef>
                          <a:spcPts val="240"/>
                        </a:spcBef>
                      </a:pPr>
                      <a:r>
                        <a:rPr sz="2000" i="1" dirty="0">
                          <a:latin typeface="Arial"/>
                          <a:cs typeface="Arial"/>
                        </a:rPr>
                        <a:t>B</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dirty="0">
                          <a:latin typeface="Arial"/>
                          <a:cs typeface="Arial"/>
                        </a:rPr>
                        <a:t>3</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6</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2"/>
                  </a:ext>
                </a:extLst>
              </a:tr>
              <a:tr h="393689">
                <a:tc>
                  <a:txBody>
                    <a:bodyPr/>
                    <a:lstStyle/>
                    <a:p>
                      <a:pPr marL="1905" algn="ctr">
                        <a:lnSpc>
                          <a:spcPct val="100000"/>
                        </a:lnSpc>
                        <a:spcBef>
                          <a:spcPts val="240"/>
                        </a:spcBef>
                      </a:pPr>
                      <a:r>
                        <a:rPr sz="2000" i="1" dirty="0">
                          <a:latin typeface="Arial"/>
                          <a:cs typeface="Arial"/>
                        </a:rPr>
                        <a:t>C</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dirty="0">
                          <a:latin typeface="Arial"/>
                          <a:cs typeface="Arial"/>
                        </a:rPr>
                        <a:t>8</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4</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3"/>
                  </a:ext>
                </a:extLst>
              </a:tr>
              <a:tr h="406760">
                <a:tc>
                  <a:txBody>
                    <a:bodyPr/>
                    <a:lstStyle/>
                    <a:p>
                      <a:pPr marL="1905" algn="ctr">
                        <a:lnSpc>
                          <a:spcPct val="100000"/>
                        </a:lnSpc>
                        <a:spcBef>
                          <a:spcPts val="240"/>
                        </a:spcBef>
                      </a:pPr>
                      <a:r>
                        <a:rPr sz="2000" i="1" dirty="0">
                          <a:latin typeface="Arial"/>
                          <a:cs typeface="Arial"/>
                        </a:rPr>
                        <a:t>D</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spc="-5" dirty="0">
                          <a:latin typeface="Arial"/>
                          <a:cs typeface="Arial"/>
                        </a:rPr>
                        <a:t>10</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7</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4"/>
                  </a:ext>
                </a:extLst>
              </a:tr>
              <a:tr h="350959">
                <a:tc>
                  <a:txBody>
                    <a:bodyPr/>
                    <a:lstStyle/>
                    <a:p>
                      <a:pPr algn="ctr">
                        <a:lnSpc>
                          <a:spcPts val="2320"/>
                        </a:lnSpc>
                        <a:spcBef>
                          <a:spcPts val="340"/>
                        </a:spcBef>
                      </a:pPr>
                      <a:r>
                        <a:rPr sz="2000" i="1" dirty="0">
                          <a:latin typeface="Arial"/>
                          <a:cs typeface="Arial"/>
                        </a:rPr>
                        <a:t>E</a:t>
                      </a:r>
                      <a:endParaRPr sz="2000">
                        <a:latin typeface="Arial"/>
                        <a:cs typeface="Arial"/>
                      </a:endParaRPr>
                    </a:p>
                  </a:txBody>
                  <a:tcPr marL="0" marR="0" marT="43180" marB="0">
                    <a:solidFill>
                      <a:srgbClr val="F7FAFF"/>
                    </a:solidFill>
                  </a:tcPr>
                </a:tc>
                <a:tc>
                  <a:txBody>
                    <a:bodyPr/>
                    <a:lstStyle/>
                    <a:p>
                      <a:pPr marR="970280" algn="r">
                        <a:lnSpc>
                          <a:spcPts val="2320"/>
                        </a:lnSpc>
                        <a:spcBef>
                          <a:spcPts val="340"/>
                        </a:spcBef>
                      </a:pPr>
                      <a:r>
                        <a:rPr sz="2000" dirty="0">
                          <a:latin typeface="Arial"/>
                          <a:cs typeface="Arial"/>
                        </a:rPr>
                        <a:t>7</a:t>
                      </a:r>
                      <a:endParaRPr sz="2000">
                        <a:latin typeface="Arial"/>
                        <a:cs typeface="Arial"/>
                      </a:endParaRPr>
                    </a:p>
                  </a:txBody>
                  <a:tcPr marL="0" marR="0" marT="43180" marB="0">
                    <a:solidFill>
                      <a:srgbClr val="F7FAFF"/>
                    </a:solidFill>
                  </a:tcPr>
                </a:tc>
                <a:tc>
                  <a:txBody>
                    <a:bodyPr/>
                    <a:lstStyle/>
                    <a:p>
                      <a:pPr marR="939165" algn="r">
                        <a:lnSpc>
                          <a:spcPts val="2320"/>
                        </a:lnSpc>
                        <a:spcBef>
                          <a:spcPts val="340"/>
                        </a:spcBef>
                      </a:pPr>
                      <a:r>
                        <a:rPr sz="2000" spc="-5" dirty="0">
                          <a:latin typeface="Arial"/>
                          <a:cs typeface="Arial"/>
                        </a:rPr>
                        <a:t>12</a:t>
                      </a:r>
                      <a:endParaRPr sz="2000">
                        <a:latin typeface="Arial"/>
                        <a:cs typeface="Arial"/>
                      </a:endParaRPr>
                    </a:p>
                  </a:txBody>
                  <a:tcPr marL="0" marR="0" marT="43180" marB="0">
                    <a:solidFill>
                      <a:srgbClr val="F7FAFF"/>
                    </a:solidFill>
                  </a:tcPr>
                </a:tc>
                <a:extLst>
                  <a:ext uri="{0D108BD9-81ED-4DB2-BD59-A6C34878D82A}">
                    <a16:rowId xmlns:a16="http://schemas.microsoft.com/office/drawing/2014/main" val="10005"/>
                  </a:ext>
                </a:extLst>
              </a:tr>
            </a:tbl>
          </a:graphicData>
        </a:graphic>
      </p:graphicFrame>
      <p:graphicFrame>
        <p:nvGraphicFramePr>
          <p:cNvPr id="6" name="object 6"/>
          <p:cNvGraphicFramePr>
            <a:graphicFrameLocks noGrp="1"/>
          </p:cNvGraphicFramePr>
          <p:nvPr/>
        </p:nvGraphicFramePr>
        <p:xfrm>
          <a:off x="6013703" y="2575560"/>
          <a:ext cx="2393312" cy="749808"/>
        </p:xfrm>
        <a:graphic>
          <a:graphicData uri="http://schemas.openxmlformats.org/drawingml/2006/table">
            <a:tbl>
              <a:tblPr firstRow="1" bandRow="1">
                <a:tableStyleId>{2D5ABB26-0587-4C30-8999-92F81FD0307C}</a:tableStyleId>
              </a:tblPr>
              <a:tblGrid>
                <a:gridCol w="469265">
                  <a:extLst>
                    <a:ext uri="{9D8B030D-6E8A-4147-A177-3AD203B41FA5}">
                      <a16:colId xmlns:a16="http://schemas.microsoft.com/office/drawing/2014/main" val="20000"/>
                    </a:ext>
                  </a:extLst>
                </a:gridCol>
                <a:gridCol w="496570">
                  <a:extLst>
                    <a:ext uri="{9D8B030D-6E8A-4147-A177-3AD203B41FA5}">
                      <a16:colId xmlns:a16="http://schemas.microsoft.com/office/drawing/2014/main" val="20001"/>
                    </a:ext>
                  </a:extLst>
                </a:gridCol>
                <a:gridCol w="490219">
                  <a:extLst>
                    <a:ext uri="{9D8B030D-6E8A-4147-A177-3AD203B41FA5}">
                      <a16:colId xmlns:a16="http://schemas.microsoft.com/office/drawing/2014/main" val="20002"/>
                    </a:ext>
                  </a:extLst>
                </a:gridCol>
                <a:gridCol w="487044">
                  <a:extLst>
                    <a:ext uri="{9D8B030D-6E8A-4147-A177-3AD203B41FA5}">
                      <a16:colId xmlns:a16="http://schemas.microsoft.com/office/drawing/2014/main" val="20003"/>
                    </a:ext>
                  </a:extLst>
                </a:gridCol>
                <a:gridCol w="450214">
                  <a:extLst>
                    <a:ext uri="{9D8B030D-6E8A-4147-A177-3AD203B41FA5}">
                      <a16:colId xmlns:a16="http://schemas.microsoft.com/office/drawing/2014/main" val="20004"/>
                    </a:ext>
                  </a:extLst>
                </a:gridCol>
              </a:tblGrid>
              <a:tr h="749808">
                <a:tc>
                  <a:txBody>
                    <a:bodyPr/>
                    <a:lstStyle/>
                    <a:p>
                      <a:pPr>
                        <a:lnSpc>
                          <a:spcPct val="100000"/>
                        </a:lnSpc>
                      </a:pPr>
                      <a:endParaRPr sz="2700">
                        <a:latin typeface="Times New Roman"/>
                        <a:cs typeface="Times New Roman"/>
                      </a:endParaRPr>
                    </a:p>
                  </a:txBody>
                  <a:tcPr marL="0" marR="0" marT="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F7FAFF"/>
                    </a:solidFill>
                  </a:tcPr>
                </a:tc>
                <a:tc>
                  <a:txBody>
                    <a:bodyPr/>
                    <a:lstStyle/>
                    <a:p>
                      <a:pPr>
                        <a:lnSpc>
                          <a:spcPct val="100000"/>
                        </a:lnSpc>
                      </a:pPr>
                      <a:endParaRPr sz="2700">
                        <a:latin typeface="Times New Roman"/>
                        <a:cs typeface="Times New Roman"/>
                      </a:endParaRPr>
                    </a:p>
                  </a:txBody>
                  <a:tcPr marL="0" marR="0" marT="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F7FAFF"/>
                    </a:solidFill>
                  </a:tcPr>
                </a:tc>
                <a:tc>
                  <a:txBody>
                    <a:bodyPr/>
                    <a:lstStyle/>
                    <a:p>
                      <a:pPr>
                        <a:lnSpc>
                          <a:spcPct val="100000"/>
                        </a:lnSpc>
                      </a:pPr>
                      <a:endParaRPr sz="2700">
                        <a:latin typeface="Times New Roman"/>
                        <a:cs typeface="Times New Roman"/>
                      </a:endParaRPr>
                    </a:p>
                  </a:txBody>
                  <a:tcPr marL="0" marR="0" marT="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F7FAFF"/>
                    </a:solidFill>
                  </a:tcPr>
                </a:tc>
                <a:tc>
                  <a:txBody>
                    <a:bodyPr/>
                    <a:lstStyle/>
                    <a:p>
                      <a:pPr>
                        <a:lnSpc>
                          <a:spcPct val="100000"/>
                        </a:lnSpc>
                      </a:pPr>
                      <a:endParaRPr sz="2700">
                        <a:latin typeface="Times New Roman"/>
                        <a:cs typeface="Times New Roman"/>
                      </a:endParaRPr>
                    </a:p>
                  </a:txBody>
                  <a:tcPr marL="0" marR="0" marT="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F7FAFF"/>
                    </a:solidFill>
                  </a:tcPr>
                </a:tc>
                <a:tc>
                  <a:txBody>
                    <a:bodyPr/>
                    <a:lstStyle/>
                    <a:p>
                      <a:pPr>
                        <a:lnSpc>
                          <a:spcPct val="100000"/>
                        </a:lnSpc>
                      </a:pPr>
                      <a:endParaRPr sz="2700">
                        <a:latin typeface="Times New Roman"/>
                        <a:cs typeface="Times New Roman"/>
                      </a:endParaRPr>
                    </a:p>
                  </a:txBody>
                  <a:tcPr marL="0" marR="0" marT="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F7FAFF"/>
                    </a:solidFill>
                  </a:tcPr>
                </a:tc>
                <a:extLst>
                  <a:ext uri="{0D108BD9-81ED-4DB2-BD59-A6C34878D82A}">
                    <a16:rowId xmlns:a16="http://schemas.microsoft.com/office/drawing/2014/main" val="10000"/>
                  </a:ext>
                </a:extLst>
              </a:tr>
            </a:tbl>
          </a:graphicData>
        </a:graphic>
      </p:graphicFrame>
      <p:grpSp>
        <p:nvGrpSpPr>
          <p:cNvPr id="7" name="object 7"/>
          <p:cNvGrpSpPr/>
          <p:nvPr/>
        </p:nvGrpSpPr>
        <p:grpSpPr>
          <a:xfrm>
            <a:off x="12191" y="6437376"/>
            <a:ext cx="1628139" cy="411480"/>
            <a:chOff x="12191" y="6437376"/>
            <a:chExt cx="1628139" cy="411480"/>
          </a:xfrm>
        </p:grpSpPr>
        <p:sp>
          <p:nvSpPr>
            <p:cNvPr id="8" name="object 8"/>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9" name="object 9"/>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10" name="object 10"/>
          <p:cNvGrpSpPr/>
          <p:nvPr/>
        </p:nvGrpSpPr>
        <p:grpSpPr>
          <a:xfrm>
            <a:off x="7491983" y="6437376"/>
            <a:ext cx="1630680" cy="411480"/>
            <a:chOff x="7491983" y="6437376"/>
            <a:chExt cx="1630680" cy="411480"/>
          </a:xfrm>
        </p:grpSpPr>
        <p:sp>
          <p:nvSpPr>
            <p:cNvPr id="11" name="object 11"/>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12" name="object 12"/>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41</a:t>
            </a:r>
            <a:endParaRPr sz="900">
              <a:latin typeface="Arial"/>
              <a:cs typeface="Arial"/>
            </a:endParaRPr>
          </a:p>
        </p:txBody>
      </p:sp>
      <p:grpSp>
        <p:nvGrpSpPr>
          <p:cNvPr id="4" name="object 4"/>
          <p:cNvGrpSpPr/>
          <p:nvPr/>
        </p:nvGrpSpPr>
        <p:grpSpPr>
          <a:xfrm>
            <a:off x="5955791" y="2593848"/>
            <a:ext cx="628015" cy="771525"/>
            <a:chOff x="5955791" y="2593848"/>
            <a:chExt cx="628015" cy="771525"/>
          </a:xfrm>
        </p:grpSpPr>
        <p:sp>
          <p:nvSpPr>
            <p:cNvPr id="5" name="object 5"/>
            <p:cNvSpPr/>
            <p:nvPr/>
          </p:nvSpPr>
          <p:spPr>
            <a:xfrm>
              <a:off x="6035039" y="2593848"/>
              <a:ext cx="457200" cy="746760"/>
            </a:xfrm>
            <a:custGeom>
              <a:avLst/>
              <a:gdLst/>
              <a:ahLst/>
              <a:cxnLst/>
              <a:rect l="l" t="t" r="r" b="b"/>
              <a:pathLst>
                <a:path w="457200" h="746760">
                  <a:moveTo>
                    <a:pt x="457200" y="0"/>
                  </a:moveTo>
                  <a:lnTo>
                    <a:pt x="0" y="0"/>
                  </a:lnTo>
                  <a:lnTo>
                    <a:pt x="0" y="746760"/>
                  </a:lnTo>
                  <a:lnTo>
                    <a:pt x="457200" y="746760"/>
                  </a:lnTo>
                  <a:lnTo>
                    <a:pt x="457200" y="0"/>
                  </a:lnTo>
                  <a:close/>
                </a:path>
              </a:pathLst>
            </a:custGeom>
            <a:solidFill>
              <a:srgbClr val="99CCFF"/>
            </a:solidFill>
          </p:spPr>
          <p:txBody>
            <a:bodyPr wrap="square" lIns="0" tIns="0" rIns="0" bIns="0" rtlCol="0"/>
            <a:lstStyle/>
            <a:p>
              <a:endParaRPr/>
            </a:p>
          </p:txBody>
        </p:sp>
        <p:sp>
          <p:nvSpPr>
            <p:cNvPr id="6" name="object 6"/>
            <p:cNvSpPr/>
            <p:nvPr/>
          </p:nvSpPr>
          <p:spPr>
            <a:xfrm>
              <a:off x="5955791" y="2682240"/>
              <a:ext cx="627888" cy="682751"/>
            </a:xfrm>
            <a:prstGeom prst="rect">
              <a:avLst/>
            </a:prstGeom>
            <a:blipFill>
              <a:blip r:embed="rId2" cstate="print"/>
              <a:stretch>
                <a:fillRect/>
              </a:stretch>
            </a:blipFill>
          </p:spPr>
          <p:txBody>
            <a:bodyPr wrap="square" lIns="0" tIns="0" rIns="0" bIns="0" rtlCol="0"/>
            <a:lstStyle/>
            <a:p>
              <a:endParaRPr/>
            </a:p>
          </p:txBody>
        </p:sp>
      </p:grpSp>
      <p:sp>
        <p:nvSpPr>
          <p:cNvPr id="7" name="object 7"/>
          <p:cNvSpPr txBox="1"/>
          <p:nvPr/>
        </p:nvSpPr>
        <p:spPr>
          <a:xfrm>
            <a:off x="6033515" y="2595372"/>
            <a:ext cx="469900" cy="749935"/>
          </a:xfrm>
          <a:prstGeom prst="rect">
            <a:avLst/>
          </a:prstGeom>
          <a:ln w="39623">
            <a:solidFill>
              <a:srgbClr val="000000"/>
            </a:solidFill>
          </a:ln>
        </p:spPr>
        <p:txBody>
          <a:bodyPr vert="horz" wrap="square" lIns="0" tIns="180975" rIns="0" bIns="0" rtlCol="0">
            <a:spAutoFit/>
          </a:bodyPr>
          <a:lstStyle/>
          <a:p>
            <a:pPr marL="114935">
              <a:lnSpc>
                <a:spcPct val="100000"/>
              </a:lnSpc>
              <a:spcBef>
                <a:spcPts val="1425"/>
              </a:spcBef>
            </a:pPr>
            <a:r>
              <a:rPr sz="2400" b="1" i="1" spc="-5" dirty="0">
                <a:latin typeface="Arial"/>
                <a:cs typeface="Arial"/>
              </a:rPr>
              <a:t>B</a:t>
            </a:r>
            <a:endParaRPr sz="2400">
              <a:latin typeface="Arial"/>
              <a:cs typeface="Arial"/>
            </a:endParaRPr>
          </a:p>
        </p:txBody>
      </p:sp>
      <p:grpSp>
        <p:nvGrpSpPr>
          <p:cNvPr id="8" name="object 8"/>
          <p:cNvGrpSpPr/>
          <p:nvPr/>
        </p:nvGrpSpPr>
        <p:grpSpPr>
          <a:xfrm>
            <a:off x="6443471" y="2596895"/>
            <a:ext cx="612775" cy="768350"/>
            <a:chOff x="6443471" y="2596895"/>
            <a:chExt cx="612775" cy="768350"/>
          </a:xfrm>
        </p:grpSpPr>
        <p:sp>
          <p:nvSpPr>
            <p:cNvPr id="9" name="object 9"/>
            <p:cNvSpPr/>
            <p:nvPr/>
          </p:nvSpPr>
          <p:spPr>
            <a:xfrm>
              <a:off x="6504431" y="2596895"/>
              <a:ext cx="487680" cy="746760"/>
            </a:xfrm>
            <a:custGeom>
              <a:avLst/>
              <a:gdLst/>
              <a:ahLst/>
              <a:cxnLst/>
              <a:rect l="l" t="t" r="r" b="b"/>
              <a:pathLst>
                <a:path w="487679" h="746760">
                  <a:moveTo>
                    <a:pt x="487679" y="0"/>
                  </a:moveTo>
                  <a:lnTo>
                    <a:pt x="0" y="0"/>
                  </a:lnTo>
                  <a:lnTo>
                    <a:pt x="0" y="746760"/>
                  </a:lnTo>
                  <a:lnTo>
                    <a:pt x="487679" y="746760"/>
                  </a:lnTo>
                  <a:lnTo>
                    <a:pt x="487679" y="0"/>
                  </a:lnTo>
                  <a:close/>
                </a:path>
              </a:pathLst>
            </a:custGeom>
            <a:solidFill>
              <a:srgbClr val="99CCFF"/>
            </a:solidFill>
          </p:spPr>
          <p:txBody>
            <a:bodyPr wrap="square" lIns="0" tIns="0" rIns="0" bIns="0" rtlCol="0"/>
            <a:lstStyle/>
            <a:p>
              <a:endParaRPr/>
            </a:p>
          </p:txBody>
        </p:sp>
        <p:sp>
          <p:nvSpPr>
            <p:cNvPr id="10" name="object 10"/>
            <p:cNvSpPr/>
            <p:nvPr/>
          </p:nvSpPr>
          <p:spPr>
            <a:xfrm>
              <a:off x="6443471" y="2682239"/>
              <a:ext cx="612648" cy="682751"/>
            </a:xfrm>
            <a:prstGeom prst="rect">
              <a:avLst/>
            </a:prstGeom>
            <a:blipFill>
              <a:blip r:embed="rId3" cstate="print"/>
              <a:stretch>
                <a:fillRect/>
              </a:stretch>
            </a:blipFill>
          </p:spPr>
          <p:txBody>
            <a:bodyPr wrap="square" lIns="0" tIns="0" rIns="0" bIns="0" rtlCol="0"/>
            <a:lstStyle/>
            <a:p>
              <a:endParaRPr/>
            </a:p>
          </p:txBody>
        </p:sp>
      </p:grpSp>
      <p:sp>
        <p:nvSpPr>
          <p:cNvPr id="11" name="object 11"/>
          <p:cNvSpPr txBox="1"/>
          <p:nvPr/>
        </p:nvSpPr>
        <p:spPr>
          <a:xfrm>
            <a:off x="6502907" y="2595372"/>
            <a:ext cx="497205" cy="749935"/>
          </a:xfrm>
          <a:prstGeom prst="rect">
            <a:avLst/>
          </a:prstGeom>
          <a:ln w="39623">
            <a:solidFill>
              <a:srgbClr val="000000"/>
            </a:solidFill>
          </a:ln>
        </p:spPr>
        <p:txBody>
          <a:bodyPr vert="horz" wrap="square" lIns="0" tIns="180975" rIns="0" bIns="0" rtlCol="0">
            <a:spAutoFit/>
          </a:bodyPr>
          <a:lstStyle/>
          <a:p>
            <a:pPr marL="133985">
              <a:lnSpc>
                <a:spcPct val="100000"/>
              </a:lnSpc>
              <a:spcBef>
                <a:spcPts val="1425"/>
              </a:spcBef>
            </a:pPr>
            <a:r>
              <a:rPr sz="2400" b="1" i="1" dirty="0">
                <a:latin typeface="Arial"/>
                <a:cs typeface="Arial"/>
              </a:rPr>
              <a:t>E</a:t>
            </a:r>
            <a:endParaRPr sz="2400">
              <a:latin typeface="Arial"/>
              <a:cs typeface="Arial"/>
            </a:endParaRPr>
          </a:p>
        </p:txBody>
      </p:sp>
      <p:grpSp>
        <p:nvGrpSpPr>
          <p:cNvPr id="12" name="object 12"/>
          <p:cNvGrpSpPr/>
          <p:nvPr/>
        </p:nvGrpSpPr>
        <p:grpSpPr>
          <a:xfrm>
            <a:off x="6915911" y="2593848"/>
            <a:ext cx="628015" cy="771525"/>
            <a:chOff x="6915911" y="2593848"/>
            <a:chExt cx="628015" cy="771525"/>
          </a:xfrm>
        </p:grpSpPr>
        <p:sp>
          <p:nvSpPr>
            <p:cNvPr id="13" name="object 13"/>
            <p:cNvSpPr/>
            <p:nvPr/>
          </p:nvSpPr>
          <p:spPr>
            <a:xfrm>
              <a:off x="7004303" y="2593848"/>
              <a:ext cx="485140" cy="746760"/>
            </a:xfrm>
            <a:custGeom>
              <a:avLst/>
              <a:gdLst/>
              <a:ahLst/>
              <a:cxnLst/>
              <a:rect l="l" t="t" r="r" b="b"/>
              <a:pathLst>
                <a:path w="485140" h="746760">
                  <a:moveTo>
                    <a:pt x="484631" y="0"/>
                  </a:moveTo>
                  <a:lnTo>
                    <a:pt x="0" y="0"/>
                  </a:lnTo>
                  <a:lnTo>
                    <a:pt x="0" y="746760"/>
                  </a:lnTo>
                  <a:lnTo>
                    <a:pt x="484631" y="746760"/>
                  </a:lnTo>
                  <a:lnTo>
                    <a:pt x="484631" y="0"/>
                  </a:lnTo>
                  <a:close/>
                </a:path>
              </a:pathLst>
            </a:custGeom>
            <a:solidFill>
              <a:srgbClr val="99CCFF"/>
            </a:solidFill>
          </p:spPr>
          <p:txBody>
            <a:bodyPr wrap="square" lIns="0" tIns="0" rIns="0" bIns="0" rtlCol="0"/>
            <a:lstStyle/>
            <a:p>
              <a:endParaRPr/>
            </a:p>
          </p:txBody>
        </p:sp>
        <p:sp>
          <p:nvSpPr>
            <p:cNvPr id="14" name="object 14"/>
            <p:cNvSpPr/>
            <p:nvPr/>
          </p:nvSpPr>
          <p:spPr>
            <a:xfrm>
              <a:off x="6915911" y="2682240"/>
              <a:ext cx="627888" cy="682751"/>
            </a:xfrm>
            <a:prstGeom prst="rect">
              <a:avLst/>
            </a:prstGeom>
            <a:blipFill>
              <a:blip r:embed="rId4" cstate="print"/>
              <a:stretch>
                <a:fillRect/>
              </a:stretch>
            </a:blipFill>
          </p:spPr>
          <p:txBody>
            <a:bodyPr wrap="square" lIns="0" tIns="0" rIns="0" bIns="0" rtlCol="0"/>
            <a:lstStyle/>
            <a:p>
              <a:endParaRPr/>
            </a:p>
          </p:txBody>
        </p:sp>
      </p:grpSp>
      <p:sp>
        <p:nvSpPr>
          <p:cNvPr id="15" name="object 15"/>
          <p:cNvSpPr txBox="1"/>
          <p:nvPr/>
        </p:nvSpPr>
        <p:spPr>
          <a:xfrm>
            <a:off x="6999731" y="2595372"/>
            <a:ext cx="490855" cy="749935"/>
          </a:xfrm>
          <a:prstGeom prst="rect">
            <a:avLst/>
          </a:prstGeom>
          <a:ln w="39623">
            <a:solidFill>
              <a:srgbClr val="000000"/>
            </a:solidFill>
          </a:ln>
        </p:spPr>
        <p:txBody>
          <a:bodyPr vert="horz" wrap="square" lIns="0" tIns="180975" rIns="0" bIns="0" rtlCol="0">
            <a:spAutoFit/>
          </a:bodyPr>
          <a:lstStyle/>
          <a:p>
            <a:pPr marL="110489">
              <a:lnSpc>
                <a:spcPct val="100000"/>
              </a:lnSpc>
              <a:spcBef>
                <a:spcPts val="1425"/>
              </a:spcBef>
            </a:pPr>
            <a:r>
              <a:rPr sz="2400" b="1" i="1" spc="-5" dirty="0">
                <a:latin typeface="Arial"/>
                <a:cs typeface="Arial"/>
              </a:rPr>
              <a:t>D</a:t>
            </a:r>
            <a:endParaRPr sz="2400">
              <a:latin typeface="Arial"/>
              <a:cs typeface="Arial"/>
            </a:endParaRPr>
          </a:p>
        </p:txBody>
      </p:sp>
      <p:grpSp>
        <p:nvGrpSpPr>
          <p:cNvPr id="16" name="object 16"/>
          <p:cNvGrpSpPr/>
          <p:nvPr/>
        </p:nvGrpSpPr>
        <p:grpSpPr>
          <a:xfrm>
            <a:off x="7406640" y="2593848"/>
            <a:ext cx="628015" cy="771525"/>
            <a:chOff x="7406640" y="2593848"/>
            <a:chExt cx="628015" cy="771525"/>
          </a:xfrm>
        </p:grpSpPr>
        <p:sp>
          <p:nvSpPr>
            <p:cNvPr id="17" name="object 17"/>
            <p:cNvSpPr/>
            <p:nvPr/>
          </p:nvSpPr>
          <p:spPr>
            <a:xfrm>
              <a:off x="7488936" y="2593848"/>
              <a:ext cx="485140" cy="746760"/>
            </a:xfrm>
            <a:custGeom>
              <a:avLst/>
              <a:gdLst/>
              <a:ahLst/>
              <a:cxnLst/>
              <a:rect l="l" t="t" r="r" b="b"/>
              <a:pathLst>
                <a:path w="485140" h="746760">
                  <a:moveTo>
                    <a:pt x="484631" y="0"/>
                  </a:moveTo>
                  <a:lnTo>
                    <a:pt x="0" y="0"/>
                  </a:lnTo>
                  <a:lnTo>
                    <a:pt x="0" y="746760"/>
                  </a:lnTo>
                  <a:lnTo>
                    <a:pt x="484631" y="746760"/>
                  </a:lnTo>
                  <a:lnTo>
                    <a:pt x="484631" y="0"/>
                  </a:lnTo>
                  <a:close/>
                </a:path>
              </a:pathLst>
            </a:custGeom>
            <a:solidFill>
              <a:srgbClr val="99CCFF"/>
            </a:solidFill>
          </p:spPr>
          <p:txBody>
            <a:bodyPr wrap="square" lIns="0" tIns="0" rIns="0" bIns="0" rtlCol="0"/>
            <a:lstStyle/>
            <a:p>
              <a:endParaRPr/>
            </a:p>
          </p:txBody>
        </p:sp>
        <p:sp>
          <p:nvSpPr>
            <p:cNvPr id="18" name="object 18"/>
            <p:cNvSpPr/>
            <p:nvPr/>
          </p:nvSpPr>
          <p:spPr>
            <a:xfrm>
              <a:off x="7406640" y="2682240"/>
              <a:ext cx="627888" cy="682751"/>
            </a:xfrm>
            <a:prstGeom prst="rect">
              <a:avLst/>
            </a:prstGeom>
            <a:blipFill>
              <a:blip r:embed="rId5" cstate="print"/>
              <a:stretch>
                <a:fillRect/>
              </a:stretch>
            </a:blipFill>
          </p:spPr>
          <p:txBody>
            <a:bodyPr wrap="square" lIns="0" tIns="0" rIns="0" bIns="0" rtlCol="0"/>
            <a:lstStyle/>
            <a:p>
              <a:endParaRPr/>
            </a:p>
          </p:txBody>
        </p:sp>
      </p:grpSp>
      <p:sp>
        <p:nvSpPr>
          <p:cNvPr id="19" name="object 19"/>
          <p:cNvSpPr txBox="1"/>
          <p:nvPr/>
        </p:nvSpPr>
        <p:spPr>
          <a:xfrm>
            <a:off x="7490459" y="2595372"/>
            <a:ext cx="487680" cy="749935"/>
          </a:xfrm>
          <a:prstGeom prst="rect">
            <a:avLst/>
          </a:prstGeom>
          <a:ln w="39623">
            <a:solidFill>
              <a:srgbClr val="000000"/>
            </a:solidFill>
          </a:ln>
        </p:spPr>
        <p:txBody>
          <a:bodyPr vert="horz" wrap="square" lIns="0" tIns="180975" rIns="0" bIns="0" rtlCol="0">
            <a:spAutoFit/>
          </a:bodyPr>
          <a:lstStyle/>
          <a:p>
            <a:pPr marL="110489">
              <a:lnSpc>
                <a:spcPct val="100000"/>
              </a:lnSpc>
              <a:spcBef>
                <a:spcPts val="1425"/>
              </a:spcBef>
            </a:pPr>
            <a:r>
              <a:rPr sz="2400" b="1" i="1" spc="-5" dirty="0">
                <a:latin typeface="Arial"/>
                <a:cs typeface="Arial"/>
              </a:rPr>
              <a:t>C</a:t>
            </a:r>
            <a:endParaRPr sz="2400">
              <a:latin typeface="Arial"/>
              <a:cs typeface="Arial"/>
            </a:endParaRPr>
          </a:p>
        </p:txBody>
      </p:sp>
      <p:grpSp>
        <p:nvGrpSpPr>
          <p:cNvPr id="20" name="object 20"/>
          <p:cNvGrpSpPr/>
          <p:nvPr/>
        </p:nvGrpSpPr>
        <p:grpSpPr>
          <a:xfrm>
            <a:off x="7897368" y="2584704"/>
            <a:ext cx="628015" cy="780415"/>
            <a:chOff x="7897368" y="2584704"/>
            <a:chExt cx="628015" cy="780415"/>
          </a:xfrm>
        </p:grpSpPr>
        <p:sp>
          <p:nvSpPr>
            <p:cNvPr id="21" name="object 21"/>
            <p:cNvSpPr/>
            <p:nvPr/>
          </p:nvSpPr>
          <p:spPr>
            <a:xfrm>
              <a:off x="7973568" y="2584704"/>
              <a:ext cx="457200" cy="749935"/>
            </a:xfrm>
            <a:custGeom>
              <a:avLst/>
              <a:gdLst/>
              <a:ahLst/>
              <a:cxnLst/>
              <a:rect l="l" t="t" r="r" b="b"/>
              <a:pathLst>
                <a:path w="457200" h="749935">
                  <a:moveTo>
                    <a:pt x="457200" y="0"/>
                  </a:moveTo>
                  <a:lnTo>
                    <a:pt x="0" y="0"/>
                  </a:lnTo>
                  <a:lnTo>
                    <a:pt x="0" y="749808"/>
                  </a:lnTo>
                  <a:lnTo>
                    <a:pt x="457200" y="749808"/>
                  </a:lnTo>
                  <a:lnTo>
                    <a:pt x="457200" y="0"/>
                  </a:lnTo>
                  <a:close/>
                </a:path>
              </a:pathLst>
            </a:custGeom>
            <a:solidFill>
              <a:srgbClr val="99CCFF"/>
            </a:solidFill>
          </p:spPr>
          <p:txBody>
            <a:bodyPr wrap="square" lIns="0" tIns="0" rIns="0" bIns="0" rtlCol="0"/>
            <a:lstStyle/>
            <a:p>
              <a:endParaRPr/>
            </a:p>
          </p:txBody>
        </p:sp>
        <p:sp>
          <p:nvSpPr>
            <p:cNvPr id="22" name="object 22"/>
            <p:cNvSpPr/>
            <p:nvPr/>
          </p:nvSpPr>
          <p:spPr>
            <a:xfrm>
              <a:off x="7897368" y="2682240"/>
              <a:ext cx="627887" cy="682751"/>
            </a:xfrm>
            <a:prstGeom prst="rect">
              <a:avLst/>
            </a:prstGeom>
            <a:blipFill>
              <a:blip r:embed="rId6" cstate="print"/>
              <a:stretch>
                <a:fillRect/>
              </a:stretch>
            </a:blipFill>
          </p:spPr>
          <p:txBody>
            <a:bodyPr wrap="square" lIns="0" tIns="0" rIns="0" bIns="0" rtlCol="0"/>
            <a:lstStyle/>
            <a:p>
              <a:endParaRPr/>
            </a:p>
          </p:txBody>
        </p:sp>
      </p:grpSp>
      <p:sp>
        <p:nvSpPr>
          <p:cNvPr id="23" name="object 23"/>
          <p:cNvSpPr txBox="1"/>
          <p:nvPr/>
        </p:nvSpPr>
        <p:spPr>
          <a:xfrm>
            <a:off x="7978140" y="2595372"/>
            <a:ext cx="451484" cy="749935"/>
          </a:xfrm>
          <a:prstGeom prst="rect">
            <a:avLst/>
          </a:prstGeom>
          <a:ln w="39623">
            <a:solidFill>
              <a:srgbClr val="000000"/>
            </a:solidFill>
          </a:ln>
        </p:spPr>
        <p:txBody>
          <a:bodyPr vert="horz" wrap="square" lIns="0" tIns="180975" rIns="0" bIns="0" rtlCol="0">
            <a:spAutoFit/>
          </a:bodyPr>
          <a:lstStyle/>
          <a:p>
            <a:pPr marL="113664">
              <a:lnSpc>
                <a:spcPct val="100000"/>
              </a:lnSpc>
              <a:spcBef>
                <a:spcPts val="1425"/>
              </a:spcBef>
            </a:pPr>
            <a:r>
              <a:rPr sz="2400" b="1" i="1" spc="-5" dirty="0">
                <a:latin typeface="Arial"/>
                <a:cs typeface="Arial"/>
              </a:rPr>
              <a:t>A</a:t>
            </a:r>
            <a:endParaRPr sz="2400">
              <a:latin typeface="Arial"/>
              <a:cs typeface="Arial"/>
            </a:endParaRPr>
          </a:p>
        </p:txBody>
      </p:sp>
      <p:sp>
        <p:nvSpPr>
          <p:cNvPr id="24" name="object 24"/>
          <p:cNvSpPr txBox="1">
            <a:spLocks noGrp="1"/>
          </p:cNvSpPr>
          <p:nvPr>
            <p:ph type="title"/>
          </p:nvPr>
        </p:nvSpPr>
        <p:spPr>
          <a:xfrm>
            <a:off x="687323" y="318515"/>
            <a:ext cx="7772400" cy="902335"/>
          </a:xfrm>
          <a:prstGeom prst="rect">
            <a:avLst/>
          </a:prstGeom>
          <a:solidFill>
            <a:srgbClr val="F7FAFF"/>
          </a:solidFill>
          <a:ln w="9144">
            <a:solidFill>
              <a:srgbClr val="000000"/>
            </a:solidFill>
          </a:ln>
        </p:spPr>
        <p:txBody>
          <a:bodyPr vert="horz" wrap="square" lIns="0" tIns="85090" rIns="0" bIns="0" rtlCol="0">
            <a:spAutoFit/>
          </a:bodyPr>
          <a:lstStyle/>
          <a:p>
            <a:pPr marL="889635">
              <a:lnSpc>
                <a:spcPct val="100000"/>
              </a:lnSpc>
              <a:spcBef>
                <a:spcPts val="670"/>
              </a:spcBef>
            </a:pPr>
            <a:r>
              <a:rPr spc="-20" dirty="0"/>
              <a:t>Johnson’s </a:t>
            </a:r>
            <a:r>
              <a:rPr dirty="0"/>
              <a:t>Rule</a:t>
            </a:r>
            <a:r>
              <a:rPr spc="-85" dirty="0"/>
              <a:t> </a:t>
            </a:r>
            <a:r>
              <a:rPr dirty="0"/>
              <a:t>Example</a:t>
            </a:r>
          </a:p>
        </p:txBody>
      </p:sp>
      <p:graphicFrame>
        <p:nvGraphicFramePr>
          <p:cNvPr id="25" name="object 25"/>
          <p:cNvGraphicFramePr>
            <a:graphicFrameLocks noGrp="1"/>
          </p:cNvGraphicFramePr>
          <p:nvPr/>
        </p:nvGraphicFramePr>
        <p:xfrm>
          <a:off x="717550" y="1430616"/>
          <a:ext cx="5143500" cy="2559737"/>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2125345">
                  <a:extLst>
                    <a:ext uri="{9D8B030D-6E8A-4147-A177-3AD203B41FA5}">
                      <a16:colId xmlns:a16="http://schemas.microsoft.com/office/drawing/2014/main" val="20001"/>
                    </a:ext>
                  </a:extLst>
                </a:gridCol>
                <a:gridCol w="2103755">
                  <a:extLst>
                    <a:ext uri="{9D8B030D-6E8A-4147-A177-3AD203B41FA5}">
                      <a16:colId xmlns:a16="http://schemas.microsoft.com/office/drawing/2014/main" val="20002"/>
                    </a:ext>
                  </a:extLst>
                </a:gridCol>
              </a:tblGrid>
              <a:tr h="606209">
                <a:tc>
                  <a:txBody>
                    <a:bodyPr/>
                    <a:lstStyle/>
                    <a:p>
                      <a:pPr marL="2540" algn="ctr">
                        <a:lnSpc>
                          <a:spcPct val="100000"/>
                        </a:lnSpc>
                        <a:spcBef>
                          <a:spcPts val="1960"/>
                        </a:spcBef>
                      </a:pPr>
                      <a:r>
                        <a:rPr sz="2000" i="1" dirty="0">
                          <a:latin typeface="Arial"/>
                          <a:cs typeface="Arial"/>
                        </a:rPr>
                        <a:t>Job</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12065" algn="ctr">
                        <a:lnSpc>
                          <a:spcPts val="2085"/>
                        </a:lnSpc>
                      </a:pPr>
                      <a:r>
                        <a:rPr sz="2000" i="1" spc="5" dirty="0">
                          <a:latin typeface="Arial"/>
                          <a:cs typeface="Arial"/>
                        </a:rPr>
                        <a:t>Work </a:t>
                      </a:r>
                      <a:r>
                        <a:rPr sz="2000" i="1" spc="-5" dirty="0">
                          <a:latin typeface="Arial"/>
                          <a:cs typeface="Arial"/>
                        </a:rPr>
                        <a:t>Center</a:t>
                      </a:r>
                      <a:r>
                        <a:rPr sz="2000" i="1" spc="-55" dirty="0">
                          <a:latin typeface="Arial"/>
                          <a:cs typeface="Arial"/>
                        </a:rPr>
                        <a:t> </a:t>
                      </a:r>
                      <a:r>
                        <a:rPr sz="2000" i="1" spc="-5" dirty="0">
                          <a:latin typeface="Arial"/>
                          <a:cs typeface="Arial"/>
                        </a:rPr>
                        <a:t>1</a:t>
                      </a:r>
                      <a:endParaRPr sz="2000">
                        <a:latin typeface="Arial"/>
                        <a:cs typeface="Arial"/>
                      </a:endParaRPr>
                    </a:p>
                    <a:p>
                      <a:pPr marL="8890" algn="ctr">
                        <a:lnSpc>
                          <a:spcPts val="2280"/>
                        </a:lnSpc>
                      </a:pPr>
                      <a:r>
                        <a:rPr sz="2000" i="1" spc="-5" dirty="0">
                          <a:latin typeface="Arial"/>
                          <a:cs typeface="Arial"/>
                        </a:rPr>
                        <a:t>(Drill</a:t>
                      </a:r>
                      <a:r>
                        <a:rPr sz="2000" i="1" spc="15" dirty="0">
                          <a:latin typeface="Arial"/>
                          <a:cs typeface="Arial"/>
                        </a:rPr>
                        <a:t> </a:t>
                      </a:r>
                      <a:r>
                        <a:rPr sz="2000" i="1" spc="-5" dirty="0">
                          <a:latin typeface="Arial"/>
                          <a:cs typeface="Arial"/>
                        </a:rPr>
                        <a:t>Press)</a:t>
                      </a:r>
                      <a:endParaRPr sz="2000">
                        <a:latin typeface="Arial"/>
                        <a:cs typeface="Arial"/>
                      </a:endParaRPr>
                    </a:p>
                  </a:txBody>
                  <a:tcPr marL="0" marR="0" marT="0" marB="0">
                    <a:lnB w="38100">
                      <a:solidFill>
                        <a:srgbClr val="000000"/>
                      </a:solidFill>
                      <a:prstDash val="solid"/>
                    </a:lnB>
                    <a:solidFill>
                      <a:srgbClr val="F7FAFF"/>
                    </a:solidFill>
                  </a:tcPr>
                </a:tc>
                <a:tc>
                  <a:txBody>
                    <a:bodyPr/>
                    <a:lstStyle/>
                    <a:p>
                      <a:pPr marL="6985" algn="ctr">
                        <a:lnSpc>
                          <a:spcPts val="2085"/>
                        </a:lnSpc>
                      </a:pPr>
                      <a:r>
                        <a:rPr sz="2000" i="1" dirty="0">
                          <a:latin typeface="Arial"/>
                          <a:cs typeface="Arial"/>
                        </a:rPr>
                        <a:t>Work </a:t>
                      </a:r>
                      <a:r>
                        <a:rPr sz="2000" i="1" spc="-10" dirty="0">
                          <a:latin typeface="Arial"/>
                          <a:cs typeface="Arial"/>
                        </a:rPr>
                        <a:t>Center</a:t>
                      </a:r>
                      <a:r>
                        <a:rPr sz="2000" i="1" spc="-45" dirty="0">
                          <a:latin typeface="Arial"/>
                          <a:cs typeface="Arial"/>
                        </a:rPr>
                        <a:t> </a:t>
                      </a:r>
                      <a:r>
                        <a:rPr sz="2000" i="1" spc="-5" dirty="0">
                          <a:latin typeface="Arial"/>
                          <a:cs typeface="Arial"/>
                        </a:rPr>
                        <a:t>2</a:t>
                      </a:r>
                      <a:endParaRPr sz="2000">
                        <a:latin typeface="Arial"/>
                        <a:cs typeface="Arial"/>
                      </a:endParaRPr>
                    </a:p>
                    <a:p>
                      <a:pPr marL="9525" algn="ctr">
                        <a:lnSpc>
                          <a:spcPts val="2280"/>
                        </a:lnSpc>
                      </a:pPr>
                      <a:r>
                        <a:rPr sz="2000" i="1" spc="-5" dirty="0">
                          <a:latin typeface="Arial"/>
                          <a:cs typeface="Arial"/>
                        </a:rPr>
                        <a:t>(Lathe)</a:t>
                      </a:r>
                      <a:endParaRPr sz="2000">
                        <a:latin typeface="Arial"/>
                        <a:cs typeface="Arial"/>
                      </a:endParaRPr>
                    </a:p>
                  </a:txBody>
                  <a:tcPr marL="0" marR="0" marT="0" marB="0">
                    <a:lnB w="38100">
                      <a:solidFill>
                        <a:srgbClr val="000000"/>
                      </a:solidFill>
                      <a:prstDash val="solid"/>
                    </a:lnB>
                    <a:solidFill>
                      <a:srgbClr val="F7FAFF"/>
                    </a:solidFill>
                  </a:tcPr>
                </a:tc>
                <a:extLst>
                  <a:ext uri="{0D108BD9-81ED-4DB2-BD59-A6C34878D82A}">
                    <a16:rowId xmlns:a16="http://schemas.microsoft.com/office/drawing/2014/main" val="10000"/>
                  </a:ext>
                </a:extLst>
              </a:tr>
              <a:tr h="408357">
                <a:tc>
                  <a:txBody>
                    <a:bodyPr/>
                    <a:lstStyle/>
                    <a:p>
                      <a:pPr algn="ctr">
                        <a:lnSpc>
                          <a:spcPct val="100000"/>
                        </a:lnSpc>
                        <a:spcBef>
                          <a:spcPts val="355"/>
                        </a:spcBef>
                      </a:pPr>
                      <a:r>
                        <a:rPr sz="2000" i="1" dirty="0">
                          <a:latin typeface="Arial"/>
                          <a:cs typeface="Arial"/>
                        </a:rPr>
                        <a:t>A</a:t>
                      </a:r>
                      <a:endParaRPr sz="2000">
                        <a:latin typeface="Arial"/>
                        <a:cs typeface="Arial"/>
                      </a:endParaRPr>
                    </a:p>
                  </a:txBody>
                  <a:tcPr marL="0" marR="0" marT="45085" marB="0">
                    <a:lnT w="38100">
                      <a:solidFill>
                        <a:srgbClr val="000000"/>
                      </a:solidFill>
                      <a:prstDash val="solid"/>
                    </a:lnT>
                    <a:solidFill>
                      <a:srgbClr val="F7FAFF"/>
                    </a:solidFill>
                  </a:tcPr>
                </a:tc>
                <a:tc>
                  <a:txBody>
                    <a:bodyPr/>
                    <a:lstStyle/>
                    <a:p>
                      <a:pPr marR="970280" algn="r">
                        <a:lnSpc>
                          <a:spcPct val="100000"/>
                        </a:lnSpc>
                        <a:spcBef>
                          <a:spcPts val="355"/>
                        </a:spcBef>
                      </a:pPr>
                      <a:r>
                        <a:rPr sz="2000" dirty="0">
                          <a:latin typeface="Arial"/>
                          <a:cs typeface="Arial"/>
                        </a:rPr>
                        <a:t>5</a:t>
                      </a:r>
                      <a:endParaRPr sz="2000">
                        <a:latin typeface="Arial"/>
                        <a:cs typeface="Arial"/>
                      </a:endParaRPr>
                    </a:p>
                  </a:txBody>
                  <a:tcPr marL="0" marR="0" marT="45085" marB="0">
                    <a:lnT w="38100">
                      <a:solidFill>
                        <a:srgbClr val="000000"/>
                      </a:solidFill>
                      <a:prstDash val="solid"/>
                    </a:lnT>
                    <a:solidFill>
                      <a:srgbClr val="F7FAFF"/>
                    </a:solidFill>
                  </a:tcPr>
                </a:tc>
                <a:tc>
                  <a:txBody>
                    <a:bodyPr/>
                    <a:lstStyle/>
                    <a:p>
                      <a:pPr marR="939165" algn="r">
                        <a:lnSpc>
                          <a:spcPct val="100000"/>
                        </a:lnSpc>
                        <a:spcBef>
                          <a:spcPts val="355"/>
                        </a:spcBef>
                      </a:pPr>
                      <a:r>
                        <a:rPr sz="2000" dirty="0">
                          <a:latin typeface="Arial"/>
                          <a:cs typeface="Arial"/>
                        </a:rPr>
                        <a:t>2</a:t>
                      </a:r>
                      <a:endParaRPr sz="2000">
                        <a:latin typeface="Arial"/>
                        <a:cs typeface="Arial"/>
                      </a:endParaRPr>
                    </a:p>
                  </a:txBody>
                  <a:tcPr marL="0" marR="0" marT="45085" marB="0">
                    <a:lnT w="38100">
                      <a:solidFill>
                        <a:srgbClr val="000000"/>
                      </a:solidFill>
                      <a:prstDash val="solid"/>
                    </a:lnT>
                    <a:solidFill>
                      <a:srgbClr val="F7FAFF"/>
                    </a:solidFill>
                  </a:tcPr>
                </a:tc>
                <a:extLst>
                  <a:ext uri="{0D108BD9-81ED-4DB2-BD59-A6C34878D82A}">
                    <a16:rowId xmlns:a16="http://schemas.microsoft.com/office/drawing/2014/main" val="10001"/>
                  </a:ext>
                </a:extLst>
              </a:tr>
              <a:tr h="393763">
                <a:tc>
                  <a:txBody>
                    <a:bodyPr/>
                    <a:lstStyle/>
                    <a:p>
                      <a:pPr algn="ctr">
                        <a:lnSpc>
                          <a:spcPct val="100000"/>
                        </a:lnSpc>
                        <a:spcBef>
                          <a:spcPts val="240"/>
                        </a:spcBef>
                      </a:pPr>
                      <a:r>
                        <a:rPr sz="2000" i="1" dirty="0">
                          <a:latin typeface="Arial"/>
                          <a:cs typeface="Arial"/>
                        </a:rPr>
                        <a:t>B</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dirty="0">
                          <a:latin typeface="Arial"/>
                          <a:cs typeface="Arial"/>
                        </a:rPr>
                        <a:t>3</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6</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2"/>
                  </a:ext>
                </a:extLst>
              </a:tr>
              <a:tr h="393689">
                <a:tc>
                  <a:txBody>
                    <a:bodyPr/>
                    <a:lstStyle/>
                    <a:p>
                      <a:pPr marL="1905" algn="ctr">
                        <a:lnSpc>
                          <a:spcPct val="100000"/>
                        </a:lnSpc>
                        <a:spcBef>
                          <a:spcPts val="240"/>
                        </a:spcBef>
                      </a:pPr>
                      <a:r>
                        <a:rPr sz="2000" i="1" dirty="0">
                          <a:latin typeface="Arial"/>
                          <a:cs typeface="Arial"/>
                        </a:rPr>
                        <a:t>C</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dirty="0">
                          <a:latin typeface="Arial"/>
                          <a:cs typeface="Arial"/>
                        </a:rPr>
                        <a:t>8</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4</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3"/>
                  </a:ext>
                </a:extLst>
              </a:tr>
              <a:tr h="406760">
                <a:tc>
                  <a:txBody>
                    <a:bodyPr/>
                    <a:lstStyle/>
                    <a:p>
                      <a:pPr marL="1905" algn="ctr">
                        <a:lnSpc>
                          <a:spcPct val="100000"/>
                        </a:lnSpc>
                        <a:spcBef>
                          <a:spcPts val="240"/>
                        </a:spcBef>
                      </a:pPr>
                      <a:r>
                        <a:rPr sz="2000" i="1" dirty="0">
                          <a:latin typeface="Arial"/>
                          <a:cs typeface="Arial"/>
                        </a:rPr>
                        <a:t>D</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spc="-5" dirty="0">
                          <a:latin typeface="Arial"/>
                          <a:cs typeface="Arial"/>
                        </a:rPr>
                        <a:t>10</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7</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4"/>
                  </a:ext>
                </a:extLst>
              </a:tr>
              <a:tr h="350959">
                <a:tc>
                  <a:txBody>
                    <a:bodyPr/>
                    <a:lstStyle/>
                    <a:p>
                      <a:pPr algn="ctr">
                        <a:lnSpc>
                          <a:spcPts val="2320"/>
                        </a:lnSpc>
                        <a:spcBef>
                          <a:spcPts val="340"/>
                        </a:spcBef>
                      </a:pPr>
                      <a:r>
                        <a:rPr sz="2000" i="1" dirty="0">
                          <a:latin typeface="Arial"/>
                          <a:cs typeface="Arial"/>
                        </a:rPr>
                        <a:t>E</a:t>
                      </a:r>
                      <a:endParaRPr sz="2000">
                        <a:latin typeface="Arial"/>
                        <a:cs typeface="Arial"/>
                      </a:endParaRPr>
                    </a:p>
                  </a:txBody>
                  <a:tcPr marL="0" marR="0" marT="43180" marB="0">
                    <a:solidFill>
                      <a:srgbClr val="F7FAFF"/>
                    </a:solidFill>
                  </a:tcPr>
                </a:tc>
                <a:tc>
                  <a:txBody>
                    <a:bodyPr/>
                    <a:lstStyle/>
                    <a:p>
                      <a:pPr marR="970280" algn="r">
                        <a:lnSpc>
                          <a:spcPts val="2320"/>
                        </a:lnSpc>
                        <a:spcBef>
                          <a:spcPts val="340"/>
                        </a:spcBef>
                      </a:pPr>
                      <a:r>
                        <a:rPr sz="2000" dirty="0">
                          <a:latin typeface="Arial"/>
                          <a:cs typeface="Arial"/>
                        </a:rPr>
                        <a:t>7</a:t>
                      </a:r>
                      <a:endParaRPr sz="2000">
                        <a:latin typeface="Arial"/>
                        <a:cs typeface="Arial"/>
                      </a:endParaRPr>
                    </a:p>
                  </a:txBody>
                  <a:tcPr marL="0" marR="0" marT="43180" marB="0">
                    <a:solidFill>
                      <a:srgbClr val="F7FAFF"/>
                    </a:solidFill>
                  </a:tcPr>
                </a:tc>
                <a:tc>
                  <a:txBody>
                    <a:bodyPr/>
                    <a:lstStyle/>
                    <a:p>
                      <a:pPr marR="939165" algn="r">
                        <a:lnSpc>
                          <a:spcPts val="2320"/>
                        </a:lnSpc>
                        <a:spcBef>
                          <a:spcPts val="340"/>
                        </a:spcBef>
                      </a:pPr>
                      <a:r>
                        <a:rPr sz="2000" spc="-5" dirty="0">
                          <a:latin typeface="Arial"/>
                          <a:cs typeface="Arial"/>
                        </a:rPr>
                        <a:t>12</a:t>
                      </a:r>
                      <a:endParaRPr sz="2000">
                        <a:latin typeface="Arial"/>
                        <a:cs typeface="Arial"/>
                      </a:endParaRPr>
                    </a:p>
                  </a:txBody>
                  <a:tcPr marL="0" marR="0" marT="43180" marB="0">
                    <a:solidFill>
                      <a:srgbClr val="F7FAFF"/>
                    </a:solidFill>
                  </a:tcPr>
                </a:tc>
                <a:extLst>
                  <a:ext uri="{0D108BD9-81ED-4DB2-BD59-A6C34878D82A}">
                    <a16:rowId xmlns:a16="http://schemas.microsoft.com/office/drawing/2014/main" val="10005"/>
                  </a:ext>
                </a:extLst>
              </a:tr>
            </a:tbl>
          </a:graphicData>
        </a:graphic>
      </p:graphicFrame>
      <p:grpSp>
        <p:nvGrpSpPr>
          <p:cNvPr id="26" name="object 26"/>
          <p:cNvGrpSpPr/>
          <p:nvPr/>
        </p:nvGrpSpPr>
        <p:grpSpPr>
          <a:xfrm>
            <a:off x="2414016" y="1972055"/>
            <a:ext cx="5805170" cy="2297430"/>
            <a:chOff x="2414016" y="1972055"/>
            <a:chExt cx="5805170" cy="2297430"/>
          </a:xfrm>
        </p:grpSpPr>
        <p:sp>
          <p:nvSpPr>
            <p:cNvPr id="27" name="object 27"/>
            <p:cNvSpPr/>
            <p:nvPr/>
          </p:nvSpPr>
          <p:spPr>
            <a:xfrm>
              <a:off x="4613148" y="2796539"/>
              <a:ext cx="457200" cy="457200"/>
            </a:xfrm>
            <a:custGeom>
              <a:avLst/>
              <a:gdLst/>
              <a:ahLst/>
              <a:cxnLst/>
              <a:rect l="l" t="t" r="r" b="b"/>
              <a:pathLst>
                <a:path w="457200" h="457200">
                  <a:moveTo>
                    <a:pt x="0" y="228600"/>
                  </a:moveTo>
                  <a:lnTo>
                    <a:pt x="4644" y="182533"/>
                  </a:lnTo>
                  <a:lnTo>
                    <a:pt x="17966" y="139624"/>
                  </a:lnTo>
                  <a:lnTo>
                    <a:pt x="39045" y="100793"/>
                  </a:lnTo>
                  <a:lnTo>
                    <a:pt x="66960" y="66960"/>
                  </a:lnTo>
                  <a:lnTo>
                    <a:pt x="100793" y="39045"/>
                  </a:lnTo>
                  <a:lnTo>
                    <a:pt x="139624" y="17966"/>
                  </a:lnTo>
                  <a:lnTo>
                    <a:pt x="182533" y="4644"/>
                  </a:lnTo>
                  <a:lnTo>
                    <a:pt x="228600" y="0"/>
                  </a:lnTo>
                  <a:lnTo>
                    <a:pt x="274666" y="4644"/>
                  </a:lnTo>
                  <a:lnTo>
                    <a:pt x="317575" y="17966"/>
                  </a:lnTo>
                  <a:lnTo>
                    <a:pt x="356406" y="39045"/>
                  </a:lnTo>
                  <a:lnTo>
                    <a:pt x="390239" y="66960"/>
                  </a:lnTo>
                  <a:lnTo>
                    <a:pt x="418154" y="100793"/>
                  </a:lnTo>
                  <a:lnTo>
                    <a:pt x="439233" y="139624"/>
                  </a:lnTo>
                  <a:lnTo>
                    <a:pt x="452555" y="182533"/>
                  </a:lnTo>
                  <a:lnTo>
                    <a:pt x="457200" y="228600"/>
                  </a:lnTo>
                  <a:lnTo>
                    <a:pt x="452555" y="274666"/>
                  </a:lnTo>
                  <a:lnTo>
                    <a:pt x="439233" y="317575"/>
                  </a:lnTo>
                  <a:lnTo>
                    <a:pt x="418154" y="356406"/>
                  </a:lnTo>
                  <a:lnTo>
                    <a:pt x="390239" y="390239"/>
                  </a:lnTo>
                  <a:lnTo>
                    <a:pt x="356406" y="418154"/>
                  </a:lnTo>
                  <a:lnTo>
                    <a:pt x="317575" y="439233"/>
                  </a:lnTo>
                  <a:lnTo>
                    <a:pt x="274666" y="452555"/>
                  </a:lnTo>
                  <a:lnTo>
                    <a:pt x="228600" y="457200"/>
                  </a:lnTo>
                  <a:lnTo>
                    <a:pt x="182533" y="452555"/>
                  </a:lnTo>
                  <a:lnTo>
                    <a:pt x="139624" y="439233"/>
                  </a:lnTo>
                  <a:lnTo>
                    <a:pt x="100793" y="418154"/>
                  </a:lnTo>
                  <a:lnTo>
                    <a:pt x="66960" y="390239"/>
                  </a:lnTo>
                  <a:lnTo>
                    <a:pt x="39045" y="356406"/>
                  </a:lnTo>
                  <a:lnTo>
                    <a:pt x="17966" y="317575"/>
                  </a:lnTo>
                  <a:lnTo>
                    <a:pt x="4644" y="274666"/>
                  </a:lnTo>
                  <a:lnTo>
                    <a:pt x="0" y="228600"/>
                  </a:lnTo>
                  <a:close/>
                </a:path>
              </a:pathLst>
            </a:custGeom>
            <a:ln w="100584">
              <a:solidFill>
                <a:srgbClr val="FCB009"/>
              </a:solidFill>
            </a:ln>
          </p:spPr>
          <p:txBody>
            <a:bodyPr wrap="square" lIns="0" tIns="0" rIns="0" bIns="0" rtlCol="0"/>
            <a:lstStyle/>
            <a:p>
              <a:endParaRPr/>
            </a:p>
          </p:txBody>
        </p:sp>
        <p:sp>
          <p:nvSpPr>
            <p:cNvPr id="28" name="object 28"/>
            <p:cNvSpPr/>
            <p:nvPr/>
          </p:nvSpPr>
          <p:spPr>
            <a:xfrm>
              <a:off x="5050408" y="3092322"/>
              <a:ext cx="2583815" cy="572770"/>
            </a:xfrm>
            <a:custGeom>
              <a:avLst/>
              <a:gdLst/>
              <a:ahLst/>
              <a:cxnLst/>
              <a:rect l="l" t="t" r="r" b="b"/>
              <a:pathLst>
                <a:path w="2583815" h="572770">
                  <a:moveTo>
                    <a:pt x="39877" y="0"/>
                  </a:moveTo>
                  <a:lnTo>
                    <a:pt x="0" y="92328"/>
                  </a:lnTo>
                  <a:lnTo>
                    <a:pt x="17652" y="99949"/>
                  </a:lnTo>
                  <a:lnTo>
                    <a:pt x="36321" y="108457"/>
                  </a:lnTo>
                  <a:lnTo>
                    <a:pt x="80771" y="129286"/>
                  </a:lnTo>
                  <a:lnTo>
                    <a:pt x="254000" y="214122"/>
                  </a:lnTo>
                  <a:lnTo>
                    <a:pt x="430529" y="299338"/>
                  </a:lnTo>
                  <a:lnTo>
                    <a:pt x="544321" y="352043"/>
                  </a:lnTo>
                  <a:lnTo>
                    <a:pt x="621664" y="386461"/>
                  </a:lnTo>
                  <a:lnTo>
                    <a:pt x="699262" y="419353"/>
                  </a:lnTo>
                  <a:lnTo>
                    <a:pt x="738124" y="435228"/>
                  </a:lnTo>
                  <a:lnTo>
                    <a:pt x="814451" y="464692"/>
                  </a:lnTo>
                  <a:lnTo>
                    <a:pt x="851915" y="478281"/>
                  </a:lnTo>
                  <a:lnTo>
                    <a:pt x="889000" y="491109"/>
                  </a:lnTo>
                  <a:lnTo>
                    <a:pt x="925449" y="502919"/>
                  </a:lnTo>
                  <a:lnTo>
                    <a:pt x="995806" y="523366"/>
                  </a:lnTo>
                  <a:lnTo>
                    <a:pt x="1062608" y="538860"/>
                  </a:lnTo>
                  <a:lnTo>
                    <a:pt x="1126616" y="550290"/>
                  </a:lnTo>
                  <a:lnTo>
                    <a:pt x="1189989" y="559181"/>
                  </a:lnTo>
                  <a:lnTo>
                    <a:pt x="1252727" y="565657"/>
                  </a:lnTo>
                  <a:lnTo>
                    <a:pt x="1315592" y="569976"/>
                  </a:lnTo>
                  <a:lnTo>
                    <a:pt x="1377950" y="572262"/>
                  </a:lnTo>
                  <a:lnTo>
                    <a:pt x="1439926" y="572515"/>
                  </a:lnTo>
                  <a:lnTo>
                    <a:pt x="1501139" y="570864"/>
                  </a:lnTo>
                  <a:lnTo>
                    <a:pt x="1561591" y="567435"/>
                  </a:lnTo>
                  <a:lnTo>
                    <a:pt x="1620900" y="562356"/>
                  </a:lnTo>
                  <a:lnTo>
                    <a:pt x="1679447" y="555497"/>
                  </a:lnTo>
                  <a:lnTo>
                    <a:pt x="1736470" y="547369"/>
                  </a:lnTo>
                  <a:lnTo>
                    <a:pt x="1792477" y="537718"/>
                  </a:lnTo>
                  <a:lnTo>
                    <a:pt x="1846961" y="526795"/>
                  </a:lnTo>
                  <a:lnTo>
                    <a:pt x="1899919" y="514731"/>
                  </a:lnTo>
                  <a:lnTo>
                    <a:pt x="1951227" y="501523"/>
                  </a:lnTo>
                  <a:lnTo>
                    <a:pt x="2000758" y="487299"/>
                  </a:lnTo>
                  <a:lnTo>
                    <a:pt x="2045938" y="471931"/>
                  </a:lnTo>
                  <a:lnTo>
                    <a:pt x="1440306" y="471931"/>
                  </a:lnTo>
                  <a:lnTo>
                    <a:pt x="1381632" y="471804"/>
                  </a:lnTo>
                  <a:lnTo>
                    <a:pt x="1322451" y="469646"/>
                  </a:lnTo>
                  <a:lnTo>
                    <a:pt x="1263141" y="465581"/>
                  </a:lnTo>
                  <a:lnTo>
                    <a:pt x="1202943" y="459359"/>
                  </a:lnTo>
                  <a:lnTo>
                    <a:pt x="1143127" y="451103"/>
                  </a:lnTo>
                  <a:lnTo>
                    <a:pt x="1083817" y="440563"/>
                  </a:lnTo>
                  <a:lnTo>
                    <a:pt x="1022603" y="426465"/>
                  </a:lnTo>
                  <a:lnTo>
                    <a:pt x="956437" y="407288"/>
                  </a:lnTo>
                  <a:lnTo>
                    <a:pt x="886460" y="383793"/>
                  </a:lnTo>
                  <a:lnTo>
                    <a:pt x="850138" y="370586"/>
                  </a:lnTo>
                  <a:lnTo>
                    <a:pt x="813307" y="356615"/>
                  </a:lnTo>
                  <a:lnTo>
                    <a:pt x="775969" y="342011"/>
                  </a:lnTo>
                  <a:lnTo>
                    <a:pt x="738504" y="326771"/>
                  </a:lnTo>
                  <a:lnTo>
                    <a:pt x="662558" y="294513"/>
                  </a:lnTo>
                  <a:lnTo>
                    <a:pt x="586358" y="260730"/>
                  </a:lnTo>
                  <a:lnTo>
                    <a:pt x="473837" y="208661"/>
                  </a:lnTo>
                  <a:lnTo>
                    <a:pt x="99949" y="27050"/>
                  </a:lnTo>
                  <a:lnTo>
                    <a:pt x="57530" y="7619"/>
                  </a:lnTo>
                  <a:lnTo>
                    <a:pt x="39877" y="0"/>
                  </a:lnTo>
                  <a:close/>
                </a:path>
                <a:path w="2583815" h="572770">
                  <a:moveTo>
                    <a:pt x="2396049" y="122132"/>
                  </a:moveTo>
                  <a:lnTo>
                    <a:pt x="2339086" y="169672"/>
                  </a:lnTo>
                  <a:lnTo>
                    <a:pt x="2302383" y="199516"/>
                  </a:lnTo>
                  <a:lnTo>
                    <a:pt x="2264537" y="229107"/>
                  </a:lnTo>
                  <a:lnTo>
                    <a:pt x="2225293" y="257937"/>
                  </a:lnTo>
                  <a:lnTo>
                    <a:pt x="2185162" y="285623"/>
                  </a:lnTo>
                  <a:lnTo>
                    <a:pt x="2143760" y="311912"/>
                  </a:lnTo>
                  <a:lnTo>
                    <a:pt x="2101849" y="335914"/>
                  </a:lnTo>
                  <a:lnTo>
                    <a:pt x="2059559" y="357250"/>
                  </a:lnTo>
                  <a:lnTo>
                    <a:pt x="2016506" y="375538"/>
                  </a:lnTo>
                  <a:lnTo>
                    <a:pt x="1973071" y="390651"/>
                  </a:lnTo>
                  <a:lnTo>
                    <a:pt x="1926209" y="404113"/>
                  </a:lnTo>
                  <a:lnTo>
                    <a:pt x="1877567" y="416560"/>
                  </a:lnTo>
                  <a:lnTo>
                    <a:pt x="1827275" y="428116"/>
                  </a:lnTo>
                  <a:lnTo>
                    <a:pt x="1775460" y="438530"/>
                  </a:lnTo>
                  <a:lnTo>
                    <a:pt x="1722246" y="447801"/>
                  </a:lnTo>
                  <a:lnTo>
                    <a:pt x="1667764" y="455549"/>
                  </a:lnTo>
                  <a:lnTo>
                    <a:pt x="1612264" y="462152"/>
                  </a:lnTo>
                  <a:lnTo>
                    <a:pt x="1555749" y="466978"/>
                  </a:lnTo>
                  <a:lnTo>
                    <a:pt x="1498345" y="470280"/>
                  </a:lnTo>
                  <a:lnTo>
                    <a:pt x="1440306" y="471931"/>
                  </a:lnTo>
                  <a:lnTo>
                    <a:pt x="2045938" y="471931"/>
                  </a:lnTo>
                  <a:lnTo>
                    <a:pt x="2100325" y="449072"/>
                  </a:lnTo>
                  <a:lnTo>
                    <a:pt x="2148332" y="425068"/>
                  </a:lnTo>
                  <a:lnTo>
                    <a:pt x="2194560" y="398779"/>
                  </a:lnTo>
                  <a:lnTo>
                    <a:pt x="2239010" y="370586"/>
                  </a:lnTo>
                  <a:lnTo>
                    <a:pt x="2282316" y="340867"/>
                  </a:lnTo>
                  <a:lnTo>
                    <a:pt x="2324099" y="310134"/>
                  </a:lnTo>
                  <a:lnTo>
                    <a:pt x="2364232" y="278891"/>
                  </a:lnTo>
                  <a:lnTo>
                    <a:pt x="2402586" y="247650"/>
                  </a:lnTo>
                  <a:lnTo>
                    <a:pt x="2439035" y="217042"/>
                  </a:lnTo>
                  <a:lnTo>
                    <a:pt x="2459684" y="199915"/>
                  </a:lnTo>
                  <a:lnTo>
                    <a:pt x="2396049" y="122132"/>
                  </a:lnTo>
                  <a:close/>
                </a:path>
                <a:path w="2583815" h="572770">
                  <a:moveTo>
                    <a:pt x="2557816" y="90297"/>
                  </a:moveTo>
                  <a:lnTo>
                    <a:pt x="2434463" y="90297"/>
                  </a:lnTo>
                  <a:lnTo>
                    <a:pt x="2498597" y="167639"/>
                  </a:lnTo>
                  <a:lnTo>
                    <a:pt x="2459684" y="199915"/>
                  </a:lnTo>
                  <a:lnTo>
                    <a:pt x="2491359" y="238632"/>
                  </a:lnTo>
                  <a:lnTo>
                    <a:pt x="2557816" y="90297"/>
                  </a:lnTo>
                  <a:close/>
                </a:path>
                <a:path w="2583815" h="572770">
                  <a:moveTo>
                    <a:pt x="2434463" y="90297"/>
                  </a:moveTo>
                  <a:lnTo>
                    <a:pt x="2396049" y="122132"/>
                  </a:lnTo>
                  <a:lnTo>
                    <a:pt x="2459684" y="199915"/>
                  </a:lnTo>
                  <a:lnTo>
                    <a:pt x="2498597" y="167639"/>
                  </a:lnTo>
                  <a:lnTo>
                    <a:pt x="2434463" y="90297"/>
                  </a:lnTo>
                  <a:close/>
                </a:path>
                <a:path w="2583815" h="572770">
                  <a:moveTo>
                    <a:pt x="2583307" y="33400"/>
                  </a:moveTo>
                  <a:lnTo>
                    <a:pt x="2363977" y="82930"/>
                  </a:lnTo>
                  <a:lnTo>
                    <a:pt x="2396049" y="122132"/>
                  </a:lnTo>
                  <a:lnTo>
                    <a:pt x="2434463" y="90297"/>
                  </a:lnTo>
                  <a:lnTo>
                    <a:pt x="2557816" y="90297"/>
                  </a:lnTo>
                  <a:lnTo>
                    <a:pt x="2583307" y="33400"/>
                  </a:lnTo>
                  <a:close/>
                </a:path>
              </a:pathLst>
            </a:custGeom>
            <a:solidFill>
              <a:srgbClr val="FCB009"/>
            </a:solidFill>
          </p:spPr>
          <p:txBody>
            <a:bodyPr wrap="square" lIns="0" tIns="0" rIns="0" bIns="0" rtlCol="0"/>
            <a:lstStyle/>
            <a:p>
              <a:endParaRPr/>
            </a:p>
          </p:txBody>
        </p:sp>
        <p:sp>
          <p:nvSpPr>
            <p:cNvPr id="29" name="object 29"/>
            <p:cNvSpPr/>
            <p:nvPr/>
          </p:nvSpPr>
          <p:spPr>
            <a:xfrm>
              <a:off x="4613148" y="2022347"/>
              <a:ext cx="457200" cy="457200"/>
            </a:xfrm>
            <a:custGeom>
              <a:avLst/>
              <a:gdLst/>
              <a:ahLst/>
              <a:cxnLst/>
              <a:rect l="l" t="t" r="r" b="b"/>
              <a:pathLst>
                <a:path w="457200" h="457200">
                  <a:moveTo>
                    <a:pt x="0" y="228600"/>
                  </a:moveTo>
                  <a:lnTo>
                    <a:pt x="4644" y="182533"/>
                  </a:lnTo>
                  <a:lnTo>
                    <a:pt x="17966" y="139624"/>
                  </a:lnTo>
                  <a:lnTo>
                    <a:pt x="39045" y="100793"/>
                  </a:lnTo>
                  <a:lnTo>
                    <a:pt x="66960" y="66960"/>
                  </a:lnTo>
                  <a:lnTo>
                    <a:pt x="100793" y="39045"/>
                  </a:lnTo>
                  <a:lnTo>
                    <a:pt x="139624" y="17966"/>
                  </a:lnTo>
                  <a:lnTo>
                    <a:pt x="182533" y="4644"/>
                  </a:lnTo>
                  <a:lnTo>
                    <a:pt x="228600" y="0"/>
                  </a:lnTo>
                  <a:lnTo>
                    <a:pt x="274666" y="4644"/>
                  </a:lnTo>
                  <a:lnTo>
                    <a:pt x="317575" y="17966"/>
                  </a:lnTo>
                  <a:lnTo>
                    <a:pt x="356406" y="39045"/>
                  </a:lnTo>
                  <a:lnTo>
                    <a:pt x="390239" y="66960"/>
                  </a:lnTo>
                  <a:lnTo>
                    <a:pt x="418154" y="100793"/>
                  </a:lnTo>
                  <a:lnTo>
                    <a:pt x="439233" y="139624"/>
                  </a:lnTo>
                  <a:lnTo>
                    <a:pt x="452555" y="182533"/>
                  </a:lnTo>
                  <a:lnTo>
                    <a:pt x="457200" y="228600"/>
                  </a:lnTo>
                  <a:lnTo>
                    <a:pt x="452555" y="274666"/>
                  </a:lnTo>
                  <a:lnTo>
                    <a:pt x="439233" y="317575"/>
                  </a:lnTo>
                  <a:lnTo>
                    <a:pt x="418154" y="356406"/>
                  </a:lnTo>
                  <a:lnTo>
                    <a:pt x="390239" y="390239"/>
                  </a:lnTo>
                  <a:lnTo>
                    <a:pt x="356406" y="418154"/>
                  </a:lnTo>
                  <a:lnTo>
                    <a:pt x="317575" y="439233"/>
                  </a:lnTo>
                  <a:lnTo>
                    <a:pt x="274666" y="452555"/>
                  </a:lnTo>
                  <a:lnTo>
                    <a:pt x="228600" y="457200"/>
                  </a:lnTo>
                  <a:lnTo>
                    <a:pt x="182533" y="452555"/>
                  </a:lnTo>
                  <a:lnTo>
                    <a:pt x="139624" y="439233"/>
                  </a:lnTo>
                  <a:lnTo>
                    <a:pt x="100793" y="418154"/>
                  </a:lnTo>
                  <a:lnTo>
                    <a:pt x="66960" y="390239"/>
                  </a:lnTo>
                  <a:lnTo>
                    <a:pt x="39045" y="356406"/>
                  </a:lnTo>
                  <a:lnTo>
                    <a:pt x="17966" y="317575"/>
                  </a:lnTo>
                  <a:lnTo>
                    <a:pt x="4644" y="274666"/>
                  </a:lnTo>
                  <a:lnTo>
                    <a:pt x="0" y="228600"/>
                  </a:lnTo>
                  <a:close/>
                </a:path>
              </a:pathLst>
            </a:custGeom>
            <a:ln w="100584">
              <a:solidFill>
                <a:srgbClr val="FCB009"/>
              </a:solidFill>
            </a:ln>
          </p:spPr>
          <p:txBody>
            <a:bodyPr wrap="square" lIns="0" tIns="0" rIns="0" bIns="0" rtlCol="0"/>
            <a:lstStyle/>
            <a:p>
              <a:endParaRPr/>
            </a:p>
          </p:txBody>
        </p:sp>
        <p:sp>
          <p:nvSpPr>
            <p:cNvPr id="30" name="object 30"/>
            <p:cNvSpPr/>
            <p:nvPr/>
          </p:nvSpPr>
          <p:spPr>
            <a:xfrm>
              <a:off x="5220335" y="2080259"/>
              <a:ext cx="2999105" cy="728980"/>
            </a:xfrm>
            <a:custGeom>
              <a:avLst/>
              <a:gdLst/>
              <a:ahLst/>
              <a:cxnLst/>
              <a:rect l="l" t="t" r="r" b="b"/>
              <a:pathLst>
                <a:path w="2999104" h="728980">
                  <a:moveTo>
                    <a:pt x="2853779" y="580191"/>
                  </a:moveTo>
                  <a:lnTo>
                    <a:pt x="2810256" y="605663"/>
                  </a:lnTo>
                  <a:lnTo>
                    <a:pt x="2998596" y="728472"/>
                  </a:lnTo>
                  <a:lnTo>
                    <a:pt x="2991702" y="623442"/>
                  </a:lnTo>
                  <a:lnTo>
                    <a:pt x="2878963" y="623442"/>
                  </a:lnTo>
                  <a:lnTo>
                    <a:pt x="2853779" y="580191"/>
                  </a:lnTo>
                  <a:close/>
                </a:path>
                <a:path w="2999104" h="728980">
                  <a:moveTo>
                    <a:pt x="2940635" y="529361"/>
                  </a:moveTo>
                  <a:lnTo>
                    <a:pt x="2853779" y="580191"/>
                  </a:lnTo>
                  <a:lnTo>
                    <a:pt x="2878963" y="623442"/>
                  </a:lnTo>
                  <a:lnTo>
                    <a:pt x="2965958" y="573024"/>
                  </a:lnTo>
                  <a:lnTo>
                    <a:pt x="2940635" y="529361"/>
                  </a:lnTo>
                  <a:close/>
                </a:path>
                <a:path w="2999104" h="728980">
                  <a:moveTo>
                    <a:pt x="2983865" y="504063"/>
                  </a:moveTo>
                  <a:lnTo>
                    <a:pt x="2940635" y="529361"/>
                  </a:lnTo>
                  <a:lnTo>
                    <a:pt x="2965958" y="573024"/>
                  </a:lnTo>
                  <a:lnTo>
                    <a:pt x="2878963" y="623442"/>
                  </a:lnTo>
                  <a:lnTo>
                    <a:pt x="2991702" y="623442"/>
                  </a:lnTo>
                  <a:lnTo>
                    <a:pt x="2983865" y="504063"/>
                  </a:lnTo>
                  <a:close/>
                </a:path>
                <a:path w="2999104" h="728980">
                  <a:moveTo>
                    <a:pt x="2386157" y="100584"/>
                  </a:moveTo>
                  <a:lnTo>
                    <a:pt x="1601978" y="100584"/>
                  </a:lnTo>
                  <a:lnTo>
                    <a:pt x="1653666" y="100711"/>
                  </a:lnTo>
                  <a:lnTo>
                    <a:pt x="1702562" y="101473"/>
                  </a:lnTo>
                  <a:lnTo>
                    <a:pt x="1748155" y="102742"/>
                  </a:lnTo>
                  <a:lnTo>
                    <a:pt x="1790318" y="104648"/>
                  </a:lnTo>
                  <a:lnTo>
                    <a:pt x="1830196" y="106934"/>
                  </a:lnTo>
                  <a:lnTo>
                    <a:pt x="1906269" y="112649"/>
                  </a:lnTo>
                  <a:lnTo>
                    <a:pt x="1977516" y="119506"/>
                  </a:lnTo>
                  <a:lnTo>
                    <a:pt x="2043811" y="127635"/>
                  </a:lnTo>
                  <a:lnTo>
                    <a:pt x="2105914" y="136905"/>
                  </a:lnTo>
                  <a:lnTo>
                    <a:pt x="2164207" y="147319"/>
                  </a:lnTo>
                  <a:lnTo>
                    <a:pt x="2218563" y="158623"/>
                  </a:lnTo>
                  <a:lnTo>
                    <a:pt x="2269616" y="171068"/>
                  </a:lnTo>
                  <a:lnTo>
                    <a:pt x="2317622" y="184403"/>
                  </a:lnTo>
                  <a:lnTo>
                    <a:pt x="2363089" y="198881"/>
                  </a:lnTo>
                  <a:lnTo>
                    <a:pt x="2427478" y="222376"/>
                  </a:lnTo>
                  <a:lnTo>
                    <a:pt x="2467864" y="239013"/>
                  </a:lnTo>
                  <a:lnTo>
                    <a:pt x="2506598" y="256539"/>
                  </a:lnTo>
                  <a:lnTo>
                    <a:pt x="2544825" y="275081"/>
                  </a:lnTo>
                  <a:lnTo>
                    <a:pt x="2581910" y="294386"/>
                  </a:lnTo>
                  <a:lnTo>
                    <a:pt x="2618993" y="314705"/>
                  </a:lnTo>
                  <a:lnTo>
                    <a:pt x="2651887" y="335279"/>
                  </a:lnTo>
                  <a:lnTo>
                    <a:pt x="2696464" y="370586"/>
                  </a:lnTo>
                  <a:lnTo>
                    <a:pt x="2736595" y="410844"/>
                  </a:lnTo>
                  <a:lnTo>
                    <a:pt x="2761488" y="440181"/>
                  </a:lnTo>
                  <a:lnTo>
                    <a:pt x="2806065" y="501523"/>
                  </a:lnTo>
                  <a:lnTo>
                    <a:pt x="2844799" y="564768"/>
                  </a:lnTo>
                  <a:lnTo>
                    <a:pt x="2853779" y="580191"/>
                  </a:lnTo>
                  <a:lnTo>
                    <a:pt x="2940635" y="529361"/>
                  </a:lnTo>
                  <a:lnTo>
                    <a:pt x="2910840" y="479043"/>
                  </a:lnTo>
                  <a:lnTo>
                    <a:pt x="2888615" y="444245"/>
                  </a:lnTo>
                  <a:lnTo>
                    <a:pt x="2864485" y="409448"/>
                  </a:lnTo>
                  <a:lnTo>
                    <a:pt x="2838068" y="375030"/>
                  </a:lnTo>
                  <a:lnTo>
                    <a:pt x="2809874" y="341884"/>
                  </a:lnTo>
                  <a:lnTo>
                    <a:pt x="2778633" y="309752"/>
                  </a:lnTo>
                  <a:lnTo>
                    <a:pt x="2744342" y="279273"/>
                  </a:lnTo>
                  <a:lnTo>
                    <a:pt x="2707132" y="251205"/>
                  </a:lnTo>
                  <a:lnTo>
                    <a:pt x="2667254" y="226440"/>
                  </a:lnTo>
                  <a:lnTo>
                    <a:pt x="2628391" y="205231"/>
                  </a:lnTo>
                  <a:lnTo>
                    <a:pt x="2588641" y="184530"/>
                  </a:lnTo>
                  <a:lnTo>
                    <a:pt x="2548128" y="164973"/>
                  </a:lnTo>
                  <a:lnTo>
                    <a:pt x="2506091" y="146050"/>
                  </a:lnTo>
                  <a:lnTo>
                    <a:pt x="2462657" y="128142"/>
                  </a:lnTo>
                  <a:lnTo>
                    <a:pt x="2417698" y="111378"/>
                  </a:lnTo>
                  <a:lnTo>
                    <a:pt x="2394331" y="103250"/>
                  </a:lnTo>
                  <a:lnTo>
                    <a:pt x="2386157" y="100584"/>
                  </a:lnTo>
                  <a:close/>
                </a:path>
                <a:path w="2999104" h="728980">
                  <a:moveTo>
                    <a:pt x="1601342" y="0"/>
                  </a:moveTo>
                  <a:lnTo>
                    <a:pt x="1488566" y="1142"/>
                  </a:lnTo>
                  <a:lnTo>
                    <a:pt x="1304670" y="6223"/>
                  </a:lnTo>
                  <a:lnTo>
                    <a:pt x="975487" y="21209"/>
                  </a:lnTo>
                  <a:lnTo>
                    <a:pt x="189229" y="69850"/>
                  </a:lnTo>
                  <a:lnTo>
                    <a:pt x="0" y="80390"/>
                  </a:lnTo>
                  <a:lnTo>
                    <a:pt x="4825" y="180975"/>
                  </a:lnTo>
                  <a:lnTo>
                    <a:pt x="981075" y="121665"/>
                  </a:lnTo>
                  <a:lnTo>
                    <a:pt x="1308608" y="106679"/>
                  </a:lnTo>
                  <a:lnTo>
                    <a:pt x="1490725" y="101726"/>
                  </a:lnTo>
                  <a:lnTo>
                    <a:pt x="1601978" y="100584"/>
                  </a:lnTo>
                  <a:lnTo>
                    <a:pt x="2386157" y="100584"/>
                  </a:lnTo>
                  <a:lnTo>
                    <a:pt x="2370200" y="95376"/>
                  </a:lnTo>
                  <a:lnTo>
                    <a:pt x="2320163" y="80517"/>
                  </a:lnTo>
                  <a:lnTo>
                    <a:pt x="2267331" y="66801"/>
                  </a:lnTo>
                  <a:lnTo>
                    <a:pt x="2211705" y="54228"/>
                  </a:lnTo>
                  <a:lnTo>
                    <a:pt x="2152395" y="42799"/>
                  </a:lnTo>
                  <a:lnTo>
                    <a:pt x="2089658" y="32638"/>
                  </a:lnTo>
                  <a:lnTo>
                    <a:pt x="2022856" y="23622"/>
                  </a:lnTo>
                  <a:lnTo>
                    <a:pt x="1951609" y="15875"/>
                  </a:lnTo>
                  <a:lnTo>
                    <a:pt x="1836039" y="6603"/>
                  </a:lnTo>
                  <a:lnTo>
                    <a:pt x="1794764" y="4190"/>
                  </a:lnTo>
                  <a:lnTo>
                    <a:pt x="1751075" y="2159"/>
                  </a:lnTo>
                  <a:lnTo>
                    <a:pt x="1703959" y="888"/>
                  </a:lnTo>
                  <a:lnTo>
                    <a:pt x="1654047" y="126"/>
                  </a:lnTo>
                  <a:lnTo>
                    <a:pt x="1601342" y="0"/>
                  </a:lnTo>
                  <a:close/>
                </a:path>
              </a:pathLst>
            </a:custGeom>
            <a:solidFill>
              <a:srgbClr val="FCB009"/>
            </a:solidFill>
          </p:spPr>
          <p:txBody>
            <a:bodyPr wrap="square" lIns="0" tIns="0" rIns="0" bIns="0" rtlCol="0"/>
            <a:lstStyle/>
            <a:p>
              <a:endParaRPr/>
            </a:p>
          </p:txBody>
        </p:sp>
        <p:sp>
          <p:nvSpPr>
            <p:cNvPr id="31" name="object 31"/>
            <p:cNvSpPr/>
            <p:nvPr/>
          </p:nvSpPr>
          <p:spPr>
            <a:xfrm>
              <a:off x="2479548" y="2403347"/>
              <a:ext cx="457200" cy="457200"/>
            </a:xfrm>
            <a:custGeom>
              <a:avLst/>
              <a:gdLst/>
              <a:ahLst/>
              <a:cxnLst/>
              <a:rect l="l" t="t" r="r" b="b"/>
              <a:pathLst>
                <a:path w="457200" h="457200">
                  <a:moveTo>
                    <a:pt x="0" y="228600"/>
                  </a:moveTo>
                  <a:lnTo>
                    <a:pt x="4644" y="182533"/>
                  </a:lnTo>
                  <a:lnTo>
                    <a:pt x="17966" y="139624"/>
                  </a:lnTo>
                  <a:lnTo>
                    <a:pt x="39045" y="100793"/>
                  </a:lnTo>
                  <a:lnTo>
                    <a:pt x="66960" y="66960"/>
                  </a:lnTo>
                  <a:lnTo>
                    <a:pt x="100793" y="39045"/>
                  </a:lnTo>
                  <a:lnTo>
                    <a:pt x="139624" y="17966"/>
                  </a:lnTo>
                  <a:lnTo>
                    <a:pt x="182533" y="4644"/>
                  </a:lnTo>
                  <a:lnTo>
                    <a:pt x="228600" y="0"/>
                  </a:lnTo>
                  <a:lnTo>
                    <a:pt x="274666" y="4644"/>
                  </a:lnTo>
                  <a:lnTo>
                    <a:pt x="317575" y="17966"/>
                  </a:lnTo>
                  <a:lnTo>
                    <a:pt x="356406" y="39045"/>
                  </a:lnTo>
                  <a:lnTo>
                    <a:pt x="390239" y="66960"/>
                  </a:lnTo>
                  <a:lnTo>
                    <a:pt x="418154" y="100793"/>
                  </a:lnTo>
                  <a:lnTo>
                    <a:pt x="439233" y="139624"/>
                  </a:lnTo>
                  <a:lnTo>
                    <a:pt x="452555" y="182533"/>
                  </a:lnTo>
                  <a:lnTo>
                    <a:pt x="457200" y="228600"/>
                  </a:lnTo>
                  <a:lnTo>
                    <a:pt x="452555" y="274666"/>
                  </a:lnTo>
                  <a:lnTo>
                    <a:pt x="439233" y="317575"/>
                  </a:lnTo>
                  <a:lnTo>
                    <a:pt x="418154" y="356406"/>
                  </a:lnTo>
                  <a:lnTo>
                    <a:pt x="390239" y="390239"/>
                  </a:lnTo>
                  <a:lnTo>
                    <a:pt x="356406" y="418154"/>
                  </a:lnTo>
                  <a:lnTo>
                    <a:pt x="317575" y="439233"/>
                  </a:lnTo>
                  <a:lnTo>
                    <a:pt x="274666" y="452555"/>
                  </a:lnTo>
                  <a:lnTo>
                    <a:pt x="228600" y="457200"/>
                  </a:lnTo>
                  <a:lnTo>
                    <a:pt x="182533" y="452555"/>
                  </a:lnTo>
                  <a:lnTo>
                    <a:pt x="139624" y="439233"/>
                  </a:lnTo>
                  <a:lnTo>
                    <a:pt x="100793" y="418154"/>
                  </a:lnTo>
                  <a:lnTo>
                    <a:pt x="66960" y="390239"/>
                  </a:lnTo>
                  <a:lnTo>
                    <a:pt x="39045" y="356406"/>
                  </a:lnTo>
                  <a:lnTo>
                    <a:pt x="17966" y="317575"/>
                  </a:lnTo>
                  <a:lnTo>
                    <a:pt x="4644" y="274666"/>
                  </a:lnTo>
                  <a:lnTo>
                    <a:pt x="0" y="228600"/>
                  </a:lnTo>
                  <a:close/>
                </a:path>
              </a:pathLst>
            </a:custGeom>
            <a:ln w="100584">
              <a:solidFill>
                <a:srgbClr val="FCB009"/>
              </a:solidFill>
            </a:ln>
          </p:spPr>
          <p:txBody>
            <a:bodyPr wrap="square" lIns="0" tIns="0" rIns="0" bIns="0" rtlCol="0"/>
            <a:lstStyle/>
            <a:p>
              <a:endParaRPr/>
            </a:p>
          </p:txBody>
        </p:sp>
        <p:sp>
          <p:nvSpPr>
            <p:cNvPr id="32" name="object 32"/>
            <p:cNvSpPr/>
            <p:nvPr/>
          </p:nvSpPr>
          <p:spPr>
            <a:xfrm>
              <a:off x="3012313" y="2568701"/>
              <a:ext cx="3085465" cy="380365"/>
            </a:xfrm>
            <a:custGeom>
              <a:avLst/>
              <a:gdLst/>
              <a:ahLst/>
              <a:cxnLst/>
              <a:rect l="l" t="t" r="r" b="b"/>
              <a:pathLst>
                <a:path w="3085465" h="380364">
                  <a:moveTo>
                    <a:pt x="2885766" y="323112"/>
                  </a:moveTo>
                  <a:lnTo>
                    <a:pt x="2860548" y="367030"/>
                  </a:lnTo>
                  <a:lnTo>
                    <a:pt x="3085084" y="379984"/>
                  </a:lnTo>
                  <a:lnTo>
                    <a:pt x="3064024" y="348234"/>
                  </a:lnTo>
                  <a:lnTo>
                    <a:pt x="2929001" y="348234"/>
                  </a:lnTo>
                  <a:lnTo>
                    <a:pt x="2885766" y="323112"/>
                  </a:lnTo>
                  <a:close/>
                </a:path>
                <a:path w="3085465" h="380364">
                  <a:moveTo>
                    <a:pt x="2935846" y="235902"/>
                  </a:moveTo>
                  <a:lnTo>
                    <a:pt x="2885766" y="323112"/>
                  </a:lnTo>
                  <a:lnTo>
                    <a:pt x="2929001" y="348234"/>
                  </a:lnTo>
                  <a:lnTo>
                    <a:pt x="2979547" y="261365"/>
                  </a:lnTo>
                  <a:lnTo>
                    <a:pt x="2935846" y="235902"/>
                  </a:lnTo>
                  <a:close/>
                </a:path>
                <a:path w="3085465" h="380364">
                  <a:moveTo>
                    <a:pt x="2960751" y="192532"/>
                  </a:moveTo>
                  <a:lnTo>
                    <a:pt x="2935846" y="235902"/>
                  </a:lnTo>
                  <a:lnTo>
                    <a:pt x="2979547" y="261365"/>
                  </a:lnTo>
                  <a:lnTo>
                    <a:pt x="2929001" y="348234"/>
                  </a:lnTo>
                  <a:lnTo>
                    <a:pt x="3064024" y="348234"/>
                  </a:lnTo>
                  <a:lnTo>
                    <a:pt x="2960751" y="192532"/>
                  </a:lnTo>
                  <a:close/>
                </a:path>
                <a:path w="3085465" h="380364">
                  <a:moveTo>
                    <a:pt x="2640356" y="100711"/>
                  </a:moveTo>
                  <a:lnTo>
                    <a:pt x="933069" y="100711"/>
                  </a:lnTo>
                  <a:lnTo>
                    <a:pt x="1705610" y="108076"/>
                  </a:lnTo>
                  <a:lnTo>
                    <a:pt x="2009394" y="117856"/>
                  </a:lnTo>
                  <a:lnTo>
                    <a:pt x="2141347" y="124840"/>
                  </a:lnTo>
                  <a:lnTo>
                    <a:pt x="2201037" y="128905"/>
                  </a:lnTo>
                  <a:lnTo>
                    <a:pt x="2256028" y="133476"/>
                  </a:lnTo>
                  <a:lnTo>
                    <a:pt x="2306066" y="138302"/>
                  </a:lnTo>
                  <a:lnTo>
                    <a:pt x="2373884" y="146685"/>
                  </a:lnTo>
                  <a:lnTo>
                    <a:pt x="2437003" y="156590"/>
                  </a:lnTo>
                  <a:lnTo>
                    <a:pt x="2475991" y="163702"/>
                  </a:lnTo>
                  <a:lnTo>
                    <a:pt x="2548128" y="179705"/>
                  </a:lnTo>
                  <a:lnTo>
                    <a:pt x="2612136" y="197231"/>
                  </a:lnTo>
                  <a:lnTo>
                    <a:pt x="2669413" y="216026"/>
                  </a:lnTo>
                  <a:lnTo>
                    <a:pt x="2720340" y="235838"/>
                  </a:lnTo>
                  <a:lnTo>
                    <a:pt x="2766060" y="256286"/>
                  </a:lnTo>
                  <a:lnTo>
                    <a:pt x="2806827" y="276987"/>
                  </a:lnTo>
                  <a:lnTo>
                    <a:pt x="2843911" y="297814"/>
                  </a:lnTo>
                  <a:lnTo>
                    <a:pt x="2878074" y="318643"/>
                  </a:lnTo>
                  <a:lnTo>
                    <a:pt x="2885766" y="323112"/>
                  </a:lnTo>
                  <a:lnTo>
                    <a:pt x="2935846" y="235902"/>
                  </a:lnTo>
                  <a:lnTo>
                    <a:pt x="2931160" y="233172"/>
                  </a:lnTo>
                  <a:lnTo>
                    <a:pt x="2912999" y="221996"/>
                  </a:lnTo>
                  <a:lnTo>
                    <a:pt x="2874264" y="199262"/>
                  </a:lnTo>
                  <a:lnTo>
                    <a:pt x="2831338" y="176275"/>
                  </a:lnTo>
                  <a:lnTo>
                    <a:pt x="2783713" y="153670"/>
                  </a:lnTo>
                  <a:lnTo>
                    <a:pt x="2730627" y="131572"/>
                  </a:lnTo>
                  <a:lnTo>
                    <a:pt x="2671699" y="110489"/>
                  </a:lnTo>
                  <a:lnTo>
                    <a:pt x="2640356" y="100711"/>
                  </a:lnTo>
                  <a:close/>
                </a:path>
                <a:path w="3085465" h="380364">
                  <a:moveTo>
                    <a:pt x="1269" y="0"/>
                  </a:moveTo>
                  <a:lnTo>
                    <a:pt x="0" y="100584"/>
                  </a:lnTo>
                  <a:lnTo>
                    <a:pt x="188594" y="101726"/>
                  </a:lnTo>
                  <a:lnTo>
                    <a:pt x="248031" y="101726"/>
                  </a:lnTo>
                  <a:lnTo>
                    <a:pt x="2640356" y="100711"/>
                  </a:lnTo>
                  <a:lnTo>
                    <a:pt x="2606294" y="90805"/>
                  </a:lnTo>
                  <a:lnTo>
                    <a:pt x="2533523" y="73025"/>
                  </a:lnTo>
                  <a:lnTo>
                    <a:pt x="2494279" y="64897"/>
                  </a:lnTo>
                  <a:lnTo>
                    <a:pt x="2452878" y="57150"/>
                  </a:lnTo>
                  <a:lnTo>
                    <a:pt x="2409825" y="50292"/>
                  </a:lnTo>
                  <a:lnTo>
                    <a:pt x="2340356" y="41021"/>
                  </a:lnTo>
                  <a:lnTo>
                    <a:pt x="2264283" y="33274"/>
                  </a:lnTo>
                  <a:lnTo>
                    <a:pt x="2207895" y="28575"/>
                  </a:lnTo>
                  <a:lnTo>
                    <a:pt x="2082164" y="20700"/>
                  </a:lnTo>
                  <a:lnTo>
                    <a:pt x="1941322" y="14350"/>
                  </a:lnTo>
                  <a:lnTo>
                    <a:pt x="1625219" y="5842"/>
                  </a:lnTo>
                  <a:lnTo>
                    <a:pt x="1215929" y="1143"/>
                  </a:lnTo>
                  <a:lnTo>
                    <a:pt x="188722" y="1143"/>
                  </a:lnTo>
                  <a:lnTo>
                    <a:pt x="1269" y="0"/>
                  </a:lnTo>
                  <a:close/>
                </a:path>
                <a:path w="3085465" h="380364">
                  <a:moveTo>
                    <a:pt x="933069" y="126"/>
                  </a:moveTo>
                  <a:lnTo>
                    <a:pt x="764159" y="126"/>
                  </a:lnTo>
                  <a:lnTo>
                    <a:pt x="248031" y="1143"/>
                  </a:lnTo>
                  <a:lnTo>
                    <a:pt x="1215929" y="1143"/>
                  </a:lnTo>
                  <a:lnTo>
                    <a:pt x="933069" y="126"/>
                  </a:lnTo>
                  <a:close/>
                </a:path>
              </a:pathLst>
            </a:custGeom>
            <a:solidFill>
              <a:srgbClr val="FCB009"/>
            </a:solidFill>
          </p:spPr>
          <p:txBody>
            <a:bodyPr wrap="square" lIns="0" tIns="0" rIns="0" bIns="0" rtlCol="0"/>
            <a:lstStyle/>
            <a:p>
              <a:endParaRPr/>
            </a:p>
          </p:txBody>
        </p:sp>
        <p:sp>
          <p:nvSpPr>
            <p:cNvPr id="33" name="object 33"/>
            <p:cNvSpPr/>
            <p:nvPr/>
          </p:nvSpPr>
          <p:spPr>
            <a:xfrm>
              <a:off x="2464308" y="3604260"/>
              <a:ext cx="457200" cy="457200"/>
            </a:xfrm>
            <a:custGeom>
              <a:avLst/>
              <a:gdLst/>
              <a:ahLst/>
              <a:cxnLst/>
              <a:rect l="l" t="t" r="r" b="b"/>
              <a:pathLst>
                <a:path w="457200" h="457200">
                  <a:moveTo>
                    <a:pt x="0" y="228600"/>
                  </a:moveTo>
                  <a:lnTo>
                    <a:pt x="4644" y="274666"/>
                  </a:lnTo>
                  <a:lnTo>
                    <a:pt x="17966" y="317575"/>
                  </a:lnTo>
                  <a:lnTo>
                    <a:pt x="39045" y="356406"/>
                  </a:lnTo>
                  <a:lnTo>
                    <a:pt x="66960" y="390239"/>
                  </a:lnTo>
                  <a:lnTo>
                    <a:pt x="100793" y="418154"/>
                  </a:lnTo>
                  <a:lnTo>
                    <a:pt x="139624" y="439233"/>
                  </a:lnTo>
                  <a:lnTo>
                    <a:pt x="182533" y="452555"/>
                  </a:lnTo>
                  <a:lnTo>
                    <a:pt x="228600" y="457200"/>
                  </a:lnTo>
                  <a:lnTo>
                    <a:pt x="274666" y="452555"/>
                  </a:lnTo>
                  <a:lnTo>
                    <a:pt x="317575" y="439233"/>
                  </a:lnTo>
                  <a:lnTo>
                    <a:pt x="356406" y="418154"/>
                  </a:lnTo>
                  <a:lnTo>
                    <a:pt x="390239" y="390239"/>
                  </a:lnTo>
                  <a:lnTo>
                    <a:pt x="418154" y="356406"/>
                  </a:lnTo>
                  <a:lnTo>
                    <a:pt x="439233" y="317575"/>
                  </a:lnTo>
                  <a:lnTo>
                    <a:pt x="452555" y="274666"/>
                  </a:lnTo>
                  <a:lnTo>
                    <a:pt x="457200" y="228600"/>
                  </a:lnTo>
                  <a:lnTo>
                    <a:pt x="452555" y="182533"/>
                  </a:lnTo>
                  <a:lnTo>
                    <a:pt x="439233" y="139624"/>
                  </a:lnTo>
                  <a:lnTo>
                    <a:pt x="418154" y="100793"/>
                  </a:lnTo>
                  <a:lnTo>
                    <a:pt x="390239" y="66960"/>
                  </a:lnTo>
                  <a:lnTo>
                    <a:pt x="356406" y="39045"/>
                  </a:lnTo>
                  <a:lnTo>
                    <a:pt x="317575" y="17966"/>
                  </a:lnTo>
                  <a:lnTo>
                    <a:pt x="274666" y="4644"/>
                  </a:lnTo>
                  <a:lnTo>
                    <a:pt x="228600" y="0"/>
                  </a:lnTo>
                  <a:lnTo>
                    <a:pt x="182533" y="4644"/>
                  </a:lnTo>
                  <a:lnTo>
                    <a:pt x="139624" y="17966"/>
                  </a:lnTo>
                  <a:lnTo>
                    <a:pt x="100793" y="39045"/>
                  </a:lnTo>
                  <a:lnTo>
                    <a:pt x="66960" y="66960"/>
                  </a:lnTo>
                  <a:lnTo>
                    <a:pt x="39045" y="100793"/>
                  </a:lnTo>
                  <a:lnTo>
                    <a:pt x="17966" y="139624"/>
                  </a:lnTo>
                  <a:lnTo>
                    <a:pt x="4644" y="182533"/>
                  </a:lnTo>
                  <a:lnTo>
                    <a:pt x="0" y="228600"/>
                  </a:lnTo>
                  <a:close/>
                </a:path>
              </a:pathLst>
            </a:custGeom>
            <a:ln w="100584">
              <a:solidFill>
                <a:srgbClr val="FCB009"/>
              </a:solidFill>
            </a:ln>
          </p:spPr>
          <p:txBody>
            <a:bodyPr wrap="square" lIns="0" tIns="0" rIns="0" bIns="0" rtlCol="0"/>
            <a:lstStyle/>
            <a:p>
              <a:endParaRPr/>
            </a:p>
          </p:txBody>
        </p:sp>
        <p:sp>
          <p:nvSpPr>
            <p:cNvPr id="34" name="object 34"/>
            <p:cNvSpPr/>
            <p:nvPr/>
          </p:nvSpPr>
          <p:spPr>
            <a:xfrm>
              <a:off x="2930144" y="3177539"/>
              <a:ext cx="3764915" cy="1091565"/>
            </a:xfrm>
            <a:custGeom>
              <a:avLst/>
              <a:gdLst/>
              <a:ahLst/>
              <a:cxnLst/>
              <a:rect l="l" t="t" r="r" b="b"/>
              <a:pathLst>
                <a:path w="3764915" h="1091564">
                  <a:moveTo>
                    <a:pt x="13207" y="787400"/>
                  </a:moveTo>
                  <a:lnTo>
                    <a:pt x="0" y="887095"/>
                  </a:lnTo>
                  <a:lnTo>
                    <a:pt x="26797" y="890651"/>
                  </a:lnTo>
                  <a:lnTo>
                    <a:pt x="88773" y="900049"/>
                  </a:lnTo>
                  <a:lnTo>
                    <a:pt x="604011" y="988822"/>
                  </a:lnTo>
                  <a:lnTo>
                    <a:pt x="834517" y="1025398"/>
                  </a:lnTo>
                  <a:lnTo>
                    <a:pt x="952881" y="1042162"/>
                  </a:lnTo>
                  <a:lnTo>
                    <a:pt x="1071118" y="1057402"/>
                  </a:lnTo>
                  <a:lnTo>
                    <a:pt x="1188466" y="1070483"/>
                  </a:lnTo>
                  <a:lnTo>
                    <a:pt x="1303146" y="1080897"/>
                  </a:lnTo>
                  <a:lnTo>
                    <a:pt x="1414018" y="1088009"/>
                  </a:lnTo>
                  <a:lnTo>
                    <a:pt x="1468120" y="1090295"/>
                  </a:lnTo>
                  <a:lnTo>
                    <a:pt x="1520444" y="1091438"/>
                  </a:lnTo>
                  <a:lnTo>
                    <a:pt x="1571117" y="1091565"/>
                  </a:lnTo>
                  <a:lnTo>
                    <a:pt x="1620139" y="1090549"/>
                  </a:lnTo>
                  <a:lnTo>
                    <a:pt x="1715389" y="1086104"/>
                  </a:lnTo>
                  <a:lnTo>
                    <a:pt x="1811020" y="1079500"/>
                  </a:lnTo>
                  <a:lnTo>
                    <a:pt x="1906523" y="1070610"/>
                  </a:lnTo>
                  <a:lnTo>
                    <a:pt x="2001901" y="1059561"/>
                  </a:lnTo>
                  <a:lnTo>
                    <a:pt x="2096643" y="1046480"/>
                  </a:lnTo>
                  <a:lnTo>
                    <a:pt x="2190496" y="1031494"/>
                  </a:lnTo>
                  <a:lnTo>
                    <a:pt x="2283460" y="1014476"/>
                  </a:lnTo>
                  <a:lnTo>
                    <a:pt x="2374772" y="995553"/>
                  </a:lnTo>
                  <a:lnTo>
                    <a:pt x="2394631" y="990981"/>
                  </a:lnTo>
                  <a:lnTo>
                    <a:pt x="1571370" y="990981"/>
                  </a:lnTo>
                  <a:lnTo>
                    <a:pt x="1522730" y="990854"/>
                  </a:lnTo>
                  <a:lnTo>
                    <a:pt x="1472310" y="989838"/>
                  </a:lnTo>
                  <a:lnTo>
                    <a:pt x="1420495" y="987679"/>
                  </a:lnTo>
                  <a:lnTo>
                    <a:pt x="1312164" y="980694"/>
                  </a:lnTo>
                  <a:lnTo>
                    <a:pt x="1199515" y="970534"/>
                  </a:lnTo>
                  <a:lnTo>
                    <a:pt x="1084071" y="957707"/>
                  </a:lnTo>
                  <a:lnTo>
                    <a:pt x="967105" y="942594"/>
                  </a:lnTo>
                  <a:lnTo>
                    <a:pt x="849883" y="925957"/>
                  </a:lnTo>
                  <a:lnTo>
                    <a:pt x="620776" y="889635"/>
                  </a:lnTo>
                  <a:lnTo>
                    <a:pt x="104267" y="800735"/>
                  </a:lnTo>
                  <a:lnTo>
                    <a:pt x="39878" y="790956"/>
                  </a:lnTo>
                  <a:lnTo>
                    <a:pt x="13207" y="787400"/>
                  </a:lnTo>
                  <a:close/>
                </a:path>
                <a:path w="3764915" h="1091564">
                  <a:moveTo>
                    <a:pt x="3594677" y="118475"/>
                  </a:moveTo>
                  <a:lnTo>
                    <a:pt x="3590035" y="123825"/>
                  </a:lnTo>
                  <a:lnTo>
                    <a:pt x="3509518" y="222758"/>
                  </a:lnTo>
                  <a:lnTo>
                    <a:pt x="3488054" y="248538"/>
                  </a:lnTo>
                  <a:lnTo>
                    <a:pt x="3443604" y="300989"/>
                  </a:lnTo>
                  <a:lnTo>
                    <a:pt x="3397377" y="353568"/>
                  </a:lnTo>
                  <a:lnTo>
                    <a:pt x="3348735" y="406146"/>
                  </a:lnTo>
                  <a:lnTo>
                    <a:pt x="3298190" y="457327"/>
                  </a:lnTo>
                  <a:lnTo>
                    <a:pt x="3245358" y="506984"/>
                  </a:lnTo>
                  <a:lnTo>
                    <a:pt x="3190367" y="554228"/>
                  </a:lnTo>
                  <a:lnTo>
                    <a:pt x="3133471" y="598170"/>
                  </a:lnTo>
                  <a:lnTo>
                    <a:pt x="3074416" y="638429"/>
                  </a:lnTo>
                  <a:lnTo>
                    <a:pt x="3013456" y="674116"/>
                  </a:lnTo>
                  <a:lnTo>
                    <a:pt x="2948432" y="705993"/>
                  </a:lnTo>
                  <a:lnTo>
                    <a:pt x="2879344" y="736346"/>
                  </a:lnTo>
                  <a:lnTo>
                    <a:pt x="2843403" y="750951"/>
                  </a:lnTo>
                  <a:lnTo>
                    <a:pt x="2806572" y="765175"/>
                  </a:lnTo>
                  <a:lnTo>
                    <a:pt x="2768981" y="779145"/>
                  </a:lnTo>
                  <a:lnTo>
                    <a:pt x="2730372" y="792734"/>
                  </a:lnTo>
                  <a:lnTo>
                    <a:pt x="2691130" y="805942"/>
                  </a:lnTo>
                  <a:lnTo>
                    <a:pt x="2651125" y="818769"/>
                  </a:lnTo>
                  <a:lnTo>
                    <a:pt x="2610485" y="831215"/>
                  </a:lnTo>
                  <a:lnTo>
                    <a:pt x="2569210" y="843280"/>
                  </a:lnTo>
                  <a:lnTo>
                    <a:pt x="2527554" y="854837"/>
                  </a:lnTo>
                  <a:lnTo>
                    <a:pt x="2442083" y="876808"/>
                  </a:lnTo>
                  <a:lnTo>
                    <a:pt x="2354453" y="897001"/>
                  </a:lnTo>
                  <a:lnTo>
                    <a:pt x="2265172" y="915543"/>
                  </a:lnTo>
                  <a:lnTo>
                    <a:pt x="2174621" y="932180"/>
                  </a:lnTo>
                  <a:lnTo>
                    <a:pt x="2082800" y="946912"/>
                  </a:lnTo>
                  <a:lnTo>
                    <a:pt x="1990344" y="959739"/>
                  </a:lnTo>
                  <a:lnTo>
                    <a:pt x="1897253" y="970407"/>
                  </a:lnTo>
                  <a:lnTo>
                    <a:pt x="1804034" y="979043"/>
                  </a:lnTo>
                  <a:lnTo>
                    <a:pt x="1710817" y="985647"/>
                  </a:lnTo>
                  <a:lnTo>
                    <a:pt x="1617980" y="989965"/>
                  </a:lnTo>
                  <a:lnTo>
                    <a:pt x="1571370" y="990981"/>
                  </a:lnTo>
                  <a:lnTo>
                    <a:pt x="2394631" y="990981"/>
                  </a:lnTo>
                  <a:lnTo>
                    <a:pt x="2464689" y="974852"/>
                  </a:lnTo>
                  <a:lnTo>
                    <a:pt x="2552572" y="952246"/>
                  </a:lnTo>
                  <a:lnTo>
                    <a:pt x="2596134" y="940181"/>
                  </a:lnTo>
                  <a:lnTo>
                    <a:pt x="2638552" y="927862"/>
                  </a:lnTo>
                  <a:lnTo>
                    <a:pt x="2680589" y="914908"/>
                  </a:lnTo>
                  <a:lnTo>
                    <a:pt x="2721864" y="901700"/>
                  </a:lnTo>
                  <a:lnTo>
                    <a:pt x="2762377" y="888111"/>
                  </a:lnTo>
                  <a:lnTo>
                    <a:pt x="2802255" y="874014"/>
                  </a:lnTo>
                  <a:lnTo>
                    <a:pt x="2841497" y="859536"/>
                  </a:lnTo>
                  <a:lnTo>
                    <a:pt x="2879852" y="844677"/>
                  </a:lnTo>
                  <a:lnTo>
                    <a:pt x="2917317" y="829437"/>
                  </a:lnTo>
                  <a:lnTo>
                    <a:pt x="2954020" y="813816"/>
                  </a:lnTo>
                  <a:lnTo>
                    <a:pt x="2989707" y="797687"/>
                  </a:lnTo>
                  <a:lnTo>
                    <a:pt x="3024505" y="781304"/>
                  </a:lnTo>
                  <a:lnTo>
                    <a:pt x="3059048" y="763778"/>
                  </a:lnTo>
                  <a:lnTo>
                    <a:pt x="3093339" y="744601"/>
                  </a:lnTo>
                  <a:lnTo>
                    <a:pt x="3126740" y="724281"/>
                  </a:lnTo>
                  <a:lnTo>
                    <a:pt x="3159379" y="702945"/>
                  </a:lnTo>
                  <a:lnTo>
                    <a:pt x="3191383" y="680466"/>
                  </a:lnTo>
                  <a:lnTo>
                    <a:pt x="3222497" y="657225"/>
                  </a:lnTo>
                  <a:lnTo>
                    <a:pt x="3252978" y="632968"/>
                  </a:lnTo>
                  <a:lnTo>
                    <a:pt x="3282696" y="608076"/>
                  </a:lnTo>
                  <a:lnTo>
                    <a:pt x="3311779" y="582676"/>
                  </a:lnTo>
                  <a:lnTo>
                    <a:pt x="3340100" y="556387"/>
                  </a:lnTo>
                  <a:lnTo>
                    <a:pt x="3394709" y="503174"/>
                  </a:lnTo>
                  <a:lnTo>
                    <a:pt x="3446526" y="448818"/>
                  </a:lnTo>
                  <a:lnTo>
                    <a:pt x="3495929" y="394208"/>
                  </a:lnTo>
                  <a:lnTo>
                    <a:pt x="3542665" y="339979"/>
                  </a:lnTo>
                  <a:lnTo>
                    <a:pt x="3628771" y="235838"/>
                  </a:lnTo>
                  <a:lnTo>
                    <a:pt x="3648709" y="211074"/>
                  </a:lnTo>
                  <a:lnTo>
                    <a:pt x="3668140" y="187325"/>
                  </a:lnTo>
                  <a:lnTo>
                    <a:pt x="3670419" y="184694"/>
                  </a:lnTo>
                  <a:lnTo>
                    <a:pt x="3594677" y="118475"/>
                  </a:lnTo>
                  <a:close/>
                </a:path>
                <a:path w="3764915" h="1091564">
                  <a:moveTo>
                    <a:pt x="3743803" y="80645"/>
                  </a:moveTo>
                  <a:lnTo>
                    <a:pt x="3627501" y="80645"/>
                  </a:lnTo>
                  <a:lnTo>
                    <a:pt x="3703447" y="146558"/>
                  </a:lnTo>
                  <a:lnTo>
                    <a:pt x="3670419" y="184694"/>
                  </a:lnTo>
                  <a:lnTo>
                    <a:pt x="3708146" y="217677"/>
                  </a:lnTo>
                  <a:lnTo>
                    <a:pt x="3743803" y="80645"/>
                  </a:lnTo>
                  <a:close/>
                </a:path>
                <a:path w="3764915" h="1091564">
                  <a:moveTo>
                    <a:pt x="3627501" y="80645"/>
                  </a:moveTo>
                  <a:lnTo>
                    <a:pt x="3594677" y="118475"/>
                  </a:lnTo>
                  <a:lnTo>
                    <a:pt x="3670419" y="184694"/>
                  </a:lnTo>
                  <a:lnTo>
                    <a:pt x="3703447" y="146558"/>
                  </a:lnTo>
                  <a:lnTo>
                    <a:pt x="3627501" y="80645"/>
                  </a:lnTo>
                  <a:close/>
                </a:path>
                <a:path w="3764915" h="1091564">
                  <a:moveTo>
                    <a:pt x="3764787" y="0"/>
                  </a:moveTo>
                  <a:lnTo>
                    <a:pt x="3556634" y="85217"/>
                  </a:lnTo>
                  <a:lnTo>
                    <a:pt x="3594677" y="118475"/>
                  </a:lnTo>
                  <a:lnTo>
                    <a:pt x="3627501" y="80645"/>
                  </a:lnTo>
                  <a:lnTo>
                    <a:pt x="3743803" y="80645"/>
                  </a:lnTo>
                  <a:lnTo>
                    <a:pt x="3764787" y="0"/>
                  </a:lnTo>
                  <a:close/>
                </a:path>
              </a:pathLst>
            </a:custGeom>
            <a:solidFill>
              <a:srgbClr val="FCB009"/>
            </a:solidFill>
          </p:spPr>
          <p:txBody>
            <a:bodyPr wrap="square" lIns="0" tIns="0" rIns="0" bIns="0" rtlCol="0"/>
            <a:lstStyle/>
            <a:p>
              <a:endParaRPr/>
            </a:p>
          </p:txBody>
        </p:sp>
      </p:grpSp>
      <p:sp>
        <p:nvSpPr>
          <p:cNvPr id="35" name="object 35"/>
          <p:cNvSpPr/>
          <p:nvPr/>
        </p:nvSpPr>
        <p:spPr>
          <a:xfrm>
            <a:off x="915924" y="2223516"/>
            <a:ext cx="4444365" cy="0"/>
          </a:xfrm>
          <a:custGeom>
            <a:avLst/>
            <a:gdLst/>
            <a:ahLst/>
            <a:cxnLst/>
            <a:rect l="l" t="t" r="r" b="b"/>
            <a:pathLst>
              <a:path w="4444365">
                <a:moveTo>
                  <a:pt x="0" y="0"/>
                </a:moveTo>
                <a:lnTo>
                  <a:pt x="4443984" y="0"/>
                </a:lnTo>
              </a:path>
            </a:pathLst>
          </a:custGeom>
          <a:ln w="76200">
            <a:solidFill>
              <a:srgbClr val="AE67FF"/>
            </a:solidFill>
          </a:ln>
        </p:spPr>
        <p:txBody>
          <a:bodyPr wrap="square" lIns="0" tIns="0" rIns="0" bIns="0" rtlCol="0"/>
          <a:lstStyle/>
          <a:p>
            <a:endParaRPr/>
          </a:p>
        </p:txBody>
      </p:sp>
      <p:sp>
        <p:nvSpPr>
          <p:cNvPr id="36" name="object 36"/>
          <p:cNvSpPr/>
          <p:nvPr/>
        </p:nvSpPr>
        <p:spPr>
          <a:xfrm>
            <a:off x="915924" y="2644139"/>
            <a:ext cx="4444365" cy="0"/>
          </a:xfrm>
          <a:custGeom>
            <a:avLst/>
            <a:gdLst/>
            <a:ahLst/>
            <a:cxnLst/>
            <a:rect l="l" t="t" r="r" b="b"/>
            <a:pathLst>
              <a:path w="4444365">
                <a:moveTo>
                  <a:pt x="0" y="0"/>
                </a:moveTo>
                <a:lnTo>
                  <a:pt x="4443984" y="0"/>
                </a:lnTo>
              </a:path>
            </a:pathLst>
          </a:custGeom>
          <a:ln w="76200">
            <a:solidFill>
              <a:srgbClr val="AE67FF"/>
            </a:solidFill>
          </a:ln>
        </p:spPr>
        <p:txBody>
          <a:bodyPr wrap="square" lIns="0" tIns="0" rIns="0" bIns="0" rtlCol="0"/>
          <a:lstStyle/>
          <a:p>
            <a:endParaRPr/>
          </a:p>
        </p:txBody>
      </p:sp>
      <p:sp>
        <p:nvSpPr>
          <p:cNvPr id="37" name="object 37"/>
          <p:cNvSpPr/>
          <p:nvPr/>
        </p:nvSpPr>
        <p:spPr>
          <a:xfrm>
            <a:off x="915924" y="3037332"/>
            <a:ext cx="4444365" cy="0"/>
          </a:xfrm>
          <a:custGeom>
            <a:avLst/>
            <a:gdLst/>
            <a:ahLst/>
            <a:cxnLst/>
            <a:rect l="l" t="t" r="r" b="b"/>
            <a:pathLst>
              <a:path w="4444365">
                <a:moveTo>
                  <a:pt x="0" y="0"/>
                </a:moveTo>
                <a:lnTo>
                  <a:pt x="4443984" y="0"/>
                </a:lnTo>
              </a:path>
            </a:pathLst>
          </a:custGeom>
          <a:ln w="76200">
            <a:solidFill>
              <a:srgbClr val="AE67FF"/>
            </a:solidFill>
          </a:ln>
        </p:spPr>
        <p:txBody>
          <a:bodyPr wrap="square" lIns="0" tIns="0" rIns="0" bIns="0" rtlCol="0"/>
          <a:lstStyle/>
          <a:p>
            <a:endParaRPr/>
          </a:p>
        </p:txBody>
      </p:sp>
      <p:sp>
        <p:nvSpPr>
          <p:cNvPr id="38" name="object 38"/>
          <p:cNvSpPr/>
          <p:nvPr/>
        </p:nvSpPr>
        <p:spPr>
          <a:xfrm>
            <a:off x="915924" y="3851147"/>
            <a:ext cx="4444365" cy="0"/>
          </a:xfrm>
          <a:custGeom>
            <a:avLst/>
            <a:gdLst/>
            <a:ahLst/>
            <a:cxnLst/>
            <a:rect l="l" t="t" r="r" b="b"/>
            <a:pathLst>
              <a:path w="4444365">
                <a:moveTo>
                  <a:pt x="0" y="0"/>
                </a:moveTo>
                <a:lnTo>
                  <a:pt x="4443984" y="0"/>
                </a:lnTo>
              </a:path>
            </a:pathLst>
          </a:custGeom>
          <a:ln w="76200">
            <a:solidFill>
              <a:srgbClr val="AE67FF"/>
            </a:solidFill>
          </a:ln>
        </p:spPr>
        <p:txBody>
          <a:bodyPr wrap="square" lIns="0" tIns="0" rIns="0" bIns="0" rtlCol="0"/>
          <a:lstStyle/>
          <a:p>
            <a:endParaRPr/>
          </a:p>
        </p:txBody>
      </p:sp>
      <p:grpSp>
        <p:nvGrpSpPr>
          <p:cNvPr id="39" name="object 39"/>
          <p:cNvGrpSpPr/>
          <p:nvPr/>
        </p:nvGrpSpPr>
        <p:grpSpPr>
          <a:xfrm>
            <a:off x="12191" y="6437376"/>
            <a:ext cx="1628139" cy="411480"/>
            <a:chOff x="12191" y="6437376"/>
            <a:chExt cx="1628139" cy="411480"/>
          </a:xfrm>
        </p:grpSpPr>
        <p:sp>
          <p:nvSpPr>
            <p:cNvPr id="40" name="object 40"/>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41" name="object 41"/>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42" name="object 42"/>
          <p:cNvGrpSpPr/>
          <p:nvPr/>
        </p:nvGrpSpPr>
        <p:grpSpPr>
          <a:xfrm>
            <a:off x="7491983" y="6437376"/>
            <a:ext cx="1630680" cy="411480"/>
            <a:chOff x="7491983" y="6437376"/>
            <a:chExt cx="1630680" cy="411480"/>
          </a:xfrm>
        </p:grpSpPr>
        <p:sp>
          <p:nvSpPr>
            <p:cNvPr id="43" name="object 43"/>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44" name="object 44"/>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42</a:t>
            </a:r>
            <a:endParaRPr sz="900">
              <a:latin typeface="Arial"/>
              <a:cs typeface="Arial"/>
            </a:endParaRPr>
          </a:p>
        </p:txBody>
      </p:sp>
      <p:sp>
        <p:nvSpPr>
          <p:cNvPr id="4" name="object 4"/>
          <p:cNvSpPr txBox="1">
            <a:spLocks noGrp="1"/>
          </p:cNvSpPr>
          <p:nvPr>
            <p:ph type="title"/>
          </p:nvPr>
        </p:nvSpPr>
        <p:spPr>
          <a:xfrm>
            <a:off x="687323" y="318515"/>
            <a:ext cx="7772400" cy="902335"/>
          </a:xfrm>
          <a:prstGeom prst="rect">
            <a:avLst/>
          </a:prstGeom>
          <a:solidFill>
            <a:srgbClr val="F7FAFF"/>
          </a:solidFill>
          <a:ln w="9144">
            <a:solidFill>
              <a:srgbClr val="000000"/>
            </a:solidFill>
          </a:ln>
        </p:spPr>
        <p:txBody>
          <a:bodyPr vert="horz" wrap="square" lIns="0" tIns="85090" rIns="0" bIns="0" rtlCol="0">
            <a:spAutoFit/>
          </a:bodyPr>
          <a:lstStyle/>
          <a:p>
            <a:pPr marL="889635">
              <a:lnSpc>
                <a:spcPct val="100000"/>
              </a:lnSpc>
              <a:spcBef>
                <a:spcPts val="670"/>
              </a:spcBef>
            </a:pPr>
            <a:r>
              <a:rPr spc="-20" dirty="0"/>
              <a:t>Johnson’s </a:t>
            </a:r>
            <a:r>
              <a:rPr dirty="0"/>
              <a:t>Rule</a:t>
            </a:r>
            <a:r>
              <a:rPr spc="-85" dirty="0"/>
              <a:t> </a:t>
            </a:r>
            <a:r>
              <a:rPr dirty="0"/>
              <a:t>Example</a:t>
            </a:r>
          </a:p>
        </p:txBody>
      </p:sp>
      <p:graphicFrame>
        <p:nvGraphicFramePr>
          <p:cNvPr id="5" name="object 5"/>
          <p:cNvGraphicFramePr>
            <a:graphicFrameLocks noGrp="1"/>
          </p:cNvGraphicFramePr>
          <p:nvPr/>
        </p:nvGraphicFramePr>
        <p:xfrm>
          <a:off x="717550" y="1430616"/>
          <a:ext cx="5143500" cy="2559737"/>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2125345">
                  <a:extLst>
                    <a:ext uri="{9D8B030D-6E8A-4147-A177-3AD203B41FA5}">
                      <a16:colId xmlns:a16="http://schemas.microsoft.com/office/drawing/2014/main" val="20001"/>
                    </a:ext>
                  </a:extLst>
                </a:gridCol>
                <a:gridCol w="2103755">
                  <a:extLst>
                    <a:ext uri="{9D8B030D-6E8A-4147-A177-3AD203B41FA5}">
                      <a16:colId xmlns:a16="http://schemas.microsoft.com/office/drawing/2014/main" val="20002"/>
                    </a:ext>
                  </a:extLst>
                </a:gridCol>
              </a:tblGrid>
              <a:tr h="606209">
                <a:tc>
                  <a:txBody>
                    <a:bodyPr/>
                    <a:lstStyle/>
                    <a:p>
                      <a:pPr marL="2540" algn="ctr">
                        <a:lnSpc>
                          <a:spcPct val="100000"/>
                        </a:lnSpc>
                        <a:spcBef>
                          <a:spcPts val="1960"/>
                        </a:spcBef>
                      </a:pPr>
                      <a:r>
                        <a:rPr sz="2000" i="1" dirty="0">
                          <a:latin typeface="Arial"/>
                          <a:cs typeface="Arial"/>
                        </a:rPr>
                        <a:t>Job</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12065" algn="ctr">
                        <a:lnSpc>
                          <a:spcPts val="2085"/>
                        </a:lnSpc>
                      </a:pPr>
                      <a:r>
                        <a:rPr sz="2000" i="1" spc="5" dirty="0">
                          <a:latin typeface="Arial"/>
                          <a:cs typeface="Arial"/>
                        </a:rPr>
                        <a:t>Work </a:t>
                      </a:r>
                      <a:r>
                        <a:rPr sz="2000" i="1" spc="-5" dirty="0">
                          <a:latin typeface="Arial"/>
                          <a:cs typeface="Arial"/>
                        </a:rPr>
                        <a:t>Center</a:t>
                      </a:r>
                      <a:r>
                        <a:rPr sz="2000" i="1" spc="-55" dirty="0">
                          <a:latin typeface="Arial"/>
                          <a:cs typeface="Arial"/>
                        </a:rPr>
                        <a:t> </a:t>
                      </a:r>
                      <a:r>
                        <a:rPr sz="2000" i="1" spc="-5" dirty="0">
                          <a:latin typeface="Arial"/>
                          <a:cs typeface="Arial"/>
                        </a:rPr>
                        <a:t>1</a:t>
                      </a:r>
                      <a:endParaRPr sz="2000">
                        <a:latin typeface="Arial"/>
                        <a:cs typeface="Arial"/>
                      </a:endParaRPr>
                    </a:p>
                    <a:p>
                      <a:pPr marL="8890" algn="ctr">
                        <a:lnSpc>
                          <a:spcPts val="2280"/>
                        </a:lnSpc>
                      </a:pPr>
                      <a:r>
                        <a:rPr sz="2000" i="1" spc="-5" dirty="0">
                          <a:latin typeface="Arial"/>
                          <a:cs typeface="Arial"/>
                        </a:rPr>
                        <a:t>(Drill</a:t>
                      </a:r>
                      <a:r>
                        <a:rPr sz="2000" i="1" spc="15" dirty="0">
                          <a:latin typeface="Arial"/>
                          <a:cs typeface="Arial"/>
                        </a:rPr>
                        <a:t> </a:t>
                      </a:r>
                      <a:r>
                        <a:rPr sz="2000" i="1" spc="-5" dirty="0">
                          <a:latin typeface="Arial"/>
                          <a:cs typeface="Arial"/>
                        </a:rPr>
                        <a:t>Press)</a:t>
                      </a:r>
                      <a:endParaRPr sz="2000">
                        <a:latin typeface="Arial"/>
                        <a:cs typeface="Arial"/>
                      </a:endParaRPr>
                    </a:p>
                  </a:txBody>
                  <a:tcPr marL="0" marR="0" marT="0" marB="0">
                    <a:lnB w="38100">
                      <a:solidFill>
                        <a:srgbClr val="000000"/>
                      </a:solidFill>
                      <a:prstDash val="solid"/>
                    </a:lnB>
                    <a:solidFill>
                      <a:srgbClr val="F7FAFF"/>
                    </a:solidFill>
                  </a:tcPr>
                </a:tc>
                <a:tc>
                  <a:txBody>
                    <a:bodyPr/>
                    <a:lstStyle/>
                    <a:p>
                      <a:pPr marL="6985" algn="ctr">
                        <a:lnSpc>
                          <a:spcPts val="2085"/>
                        </a:lnSpc>
                      </a:pPr>
                      <a:r>
                        <a:rPr sz="2000" i="1" dirty="0">
                          <a:latin typeface="Arial"/>
                          <a:cs typeface="Arial"/>
                        </a:rPr>
                        <a:t>Work </a:t>
                      </a:r>
                      <a:r>
                        <a:rPr sz="2000" i="1" spc="-10" dirty="0">
                          <a:latin typeface="Arial"/>
                          <a:cs typeface="Arial"/>
                        </a:rPr>
                        <a:t>Center</a:t>
                      </a:r>
                      <a:r>
                        <a:rPr sz="2000" i="1" spc="-45" dirty="0">
                          <a:latin typeface="Arial"/>
                          <a:cs typeface="Arial"/>
                        </a:rPr>
                        <a:t> </a:t>
                      </a:r>
                      <a:r>
                        <a:rPr sz="2000" i="1" spc="-5" dirty="0">
                          <a:latin typeface="Arial"/>
                          <a:cs typeface="Arial"/>
                        </a:rPr>
                        <a:t>2</a:t>
                      </a:r>
                      <a:endParaRPr sz="2000">
                        <a:latin typeface="Arial"/>
                        <a:cs typeface="Arial"/>
                      </a:endParaRPr>
                    </a:p>
                    <a:p>
                      <a:pPr marL="9525" algn="ctr">
                        <a:lnSpc>
                          <a:spcPts val="2280"/>
                        </a:lnSpc>
                      </a:pPr>
                      <a:r>
                        <a:rPr sz="2000" i="1" spc="-5" dirty="0">
                          <a:latin typeface="Arial"/>
                          <a:cs typeface="Arial"/>
                        </a:rPr>
                        <a:t>(Lathe)</a:t>
                      </a:r>
                      <a:endParaRPr sz="2000">
                        <a:latin typeface="Arial"/>
                        <a:cs typeface="Arial"/>
                      </a:endParaRPr>
                    </a:p>
                  </a:txBody>
                  <a:tcPr marL="0" marR="0" marT="0" marB="0">
                    <a:lnB w="38100">
                      <a:solidFill>
                        <a:srgbClr val="000000"/>
                      </a:solidFill>
                      <a:prstDash val="solid"/>
                    </a:lnB>
                    <a:solidFill>
                      <a:srgbClr val="F7FAFF"/>
                    </a:solidFill>
                  </a:tcPr>
                </a:tc>
                <a:extLst>
                  <a:ext uri="{0D108BD9-81ED-4DB2-BD59-A6C34878D82A}">
                    <a16:rowId xmlns:a16="http://schemas.microsoft.com/office/drawing/2014/main" val="10000"/>
                  </a:ext>
                </a:extLst>
              </a:tr>
              <a:tr h="408357">
                <a:tc>
                  <a:txBody>
                    <a:bodyPr/>
                    <a:lstStyle/>
                    <a:p>
                      <a:pPr algn="ctr">
                        <a:lnSpc>
                          <a:spcPct val="100000"/>
                        </a:lnSpc>
                        <a:spcBef>
                          <a:spcPts val="355"/>
                        </a:spcBef>
                      </a:pPr>
                      <a:r>
                        <a:rPr sz="2000" i="1" dirty="0">
                          <a:latin typeface="Arial"/>
                          <a:cs typeface="Arial"/>
                        </a:rPr>
                        <a:t>A</a:t>
                      </a:r>
                      <a:endParaRPr sz="2000">
                        <a:latin typeface="Arial"/>
                        <a:cs typeface="Arial"/>
                      </a:endParaRPr>
                    </a:p>
                  </a:txBody>
                  <a:tcPr marL="0" marR="0" marT="45085" marB="0">
                    <a:lnT w="38100">
                      <a:solidFill>
                        <a:srgbClr val="000000"/>
                      </a:solidFill>
                      <a:prstDash val="solid"/>
                    </a:lnT>
                    <a:solidFill>
                      <a:srgbClr val="F7FAFF"/>
                    </a:solidFill>
                  </a:tcPr>
                </a:tc>
                <a:tc>
                  <a:txBody>
                    <a:bodyPr/>
                    <a:lstStyle/>
                    <a:p>
                      <a:pPr marR="970280" algn="r">
                        <a:lnSpc>
                          <a:spcPct val="100000"/>
                        </a:lnSpc>
                        <a:spcBef>
                          <a:spcPts val="355"/>
                        </a:spcBef>
                      </a:pPr>
                      <a:r>
                        <a:rPr sz="2000" dirty="0">
                          <a:latin typeface="Arial"/>
                          <a:cs typeface="Arial"/>
                        </a:rPr>
                        <a:t>5</a:t>
                      </a:r>
                      <a:endParaRPr sz="2000">
                        <a:latin typeface="Arial"/>
                        <a:cs typeface="Arial"/>
                      </a:endParaRPr>
                    </a:p>
                  </a:txBody>
                  <a:tcPr marL="0" marR="0" marT="45085" marB="0">
                    <a:lnT w="38100">
                      <a:solidFill>
                        <a:srgbClr val="000000"/>
                      </a:solidFill>
                      <a:prstDash val="solid"/>
                    </a:lnT>
                    <a:solidFill>
                      <a:srgbClr val="F7FAFF"/>
                    </a:solidFill>
                  </a:tcPr>
                </a:tc>
                <a:tc>
                  <a:txBody>
                    <a:bodyPr/>
                    <a:lstStyle/>
                    <a:p>
                      <a:pPr marR="939165" algn="r">
                        <a:lnSpc>
                          <a:spcPct val="100000"/>
                        </a:lnSpc>
                        <a:spcBef>
                          <a:spcPts val="355"/>
                        </a:spcBef>
                      </a:pPr>
                      <a:r>
                        <a:rPr sz="2000" dirty="0">
                          <a:latin typeface="Arial"/>
                          <a:cs typeface="Arial"/>
                        </a:rPr>
                        <a:t>2</a:t>
                      </a:r>
                      <a:endParaRPr sz="2000">
                        <a:latin typeface="Arial"/>
                        <a:cs typeface="Arial"/>
                      </a:endParaRPr>
                    </a:p>
                  </a:txBody>
                  <a:tcPr marL="0" marR="0" marT="45085" marB="0">
                    <a:lnT w="38100">
                      <a:solidFill>
                        <a:srgbClr val="000000"/>
                      </a:solidFill>
                      <a:prstDash val="solid"/>
                    </a:lnT>
                    <a:solidFill>
                      <a:srgbClr val="F7FAFF"/>
                    </a:solidFill>
                  </a:tcPr>
                </a:tc>
                <a:extLst>
                  <a:ext uri="{0D108BD9-81ED-4DB2-BD59-A6C34878D82A}">
                    <a16:rowId xmlns:a16="http://schemas.microsoft.com/office/drawing/2014/main" val="10001"/>
                  </a:ext>
                </a:extLst>
              </a:tr>
              <a:tr h="393763">
                <a:tc>
                  <a:txBody>
                    <a:bodyPr/>
                    <a:lstStyle/>
                    <a:p>
                      <a:pPr algn="ctr">
                        <a:lnSpc>
                          <a:spcPct val="100000"/>
                        </a:lnSpc>
                        <a:spcBef>
                          <a:spcPts val="240"/>
                        </a:spcBef>
                      </a:pPr>
                      <a:r>
                        <a:rPr sz="2000" i="1" dirty="0">
                          <a:latin typeface="Arial"/>
                          <a:cs typeface="Arial"/>
                        </a:rPr>
                        <a:t>B</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dirty="0">
                          <a:latin typeface="Arial"/>
                          <a:cs typeface="Arial"/>
                        </a:rPr>
                        <a:t>3</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6</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2"/>
                  </a:ext>
                </a:extLst>
              </a:tr>
              <a:tr h="393689">
                <a:tc>
                  <a:txBody>
                    <a:bodyPr/>
                    <a:lstStyle/>
                    <a:p>
                      <a:pPr marL="1905" algn="ctr">
                        <a:lnSpc>
                          <a:spcPct val="100000"/>
                        </a:lnSpc>
                        <a:spcBef>
                          <a:spcPts val="240"/>
                        </a:spcBef>
                      </a:pPr>
                      <a:r>
                        <a:rPr sz="2000" i="1" dirty="0">
                          <a:latin typeface="Arial"/>
                          <a:cs typeface="Arial"/>
                        </a:rPr>
                        <a:t>C</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dirty="0">
                          <a:latin typeface="Arial"/>
                          <a:cs typeface="Arial"/>
                        </a:rPr>
                        <a:t>8</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4</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3"/>
                  </a:ext>
                </a:extLst>
              </a:tr>
              <a:tr h="406760">
                <a:tc>
                  <a:txBody>
                    <a:bodyPr/>
                    <a:lstStyle/>
                    <a:p>
                      <a:pPr marL="1905" algn="ctr">
                        <a:lnSpc>
                          <a:spcPct val="100000"/>
                        </a:lnSpc>
                        <a:spcBef>
                          <a:spcPts val="240"/>
                        </a:spcBef>
                      </a:pPr>
                      <a:r>
                        <a:rPr sz="2000" i="1" dirty="0">
                          <a:latin typeface="Arial"/>
                          <a:cs typeface="Arial"/>
                        </a:rPr>
                        <a:t>D</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spc="-5" dirty="0">
                          <a:latin typeface="Arial"/>
                          <a:cs typeface="Arial"/>
                        </a:rPr>
                        <a:t>10</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7</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4"/>
                  </a:ext>
                </a:extLst>
              </a:tr>
              <a:tr h="350959">
                <a:tc>
                  <a:txBody>
                    <a:bodyPr/>
                    <a:lstStyle/>
                    <a:p>
                      <a:pPr algn="ctr">
                        <a:lnSpc>
                          <a:spcPts val="2320"/>
                        </a:lnSpc>
                        <a:spcBef>
                          <a:spcPts val="340"/>
                        </a:spcBef>
                      </a:pPr>
                      <a:r>
                        <a:rPr sz="2000" i="1" dirty="0">
                          <a:latin typeface="Arial"/>
                          <a:cs typeface="Arial"/>
                        </a:rPr>
                        <a:t>E</a:t>
                      </a:r>
                      <a:endParaRPr sz="2000">
                        <a:latin typeface="Arial"/>
                        <a:cs typeface="Arial"/>
                      </a:endParaRPr>
                    </a:p>
                  </a:txBody>
                  <a:tcPr marL="0" marR="0" marT="43180" marB="0">
                    <a:solidFill>
                      <a:srgbClr val="F7FAFF"/>
                    </a:solidFill>
                  </a:tcPr>
                </a:tc>
                <a:tc>
                  <a:txBody>
                    <a:bodyPr/>
                    <a:lstStyle/>
                    <a:p>
                      <a:pPr marR="970280" algn="r">
                        <a:lnSpc>
                          <a:spcPts val="2320"/>
                        </a:lnSpc>
                        <a:spcBef>
                          <a:spcPts val="340"/>
                        </a:spcBef>
                      </a:pPr>
                      <a:r>
                        <a:rPr sz="2000" dirty="0">
                          <a:latin typeface="Arial"/>
                          <a:cs typeface="Arial"/>
                        </a:rPr>
                        <a:t>7</a:t>
                      </a:r>
                      <a:endParaRPr sz="2000">
                        <a:latin typeface="Arial"/>
                        <a:cs typeface="Arial"/>
                      </a:endParaRPr>
                    </a:p>
                  </a:txBody>
                  <a:tcPr marL="0" marR="0" marT="43180" marB="0">
                    <a:solidFill>
                      <a:srgbClr val="F7FAFF"/>
                    </a:solidFill>
                  </a:tcPr>
                </a:tc>
                <a:tc>
                  <a:txBody>
                    <a:bodyPr/>
                    <a:lstStyle/>
                    <a:p>
                      <a:pPr marR="939165" algn="r">
                        <a:lnSpc>
                          <a:spcPts val="2320"/>
                        </a:lnSpc>
                        <a:spcBef>
                          <a:spcPts val="340"/>
                        </a:spcBef>
                      </a:pPr>
                      <a:r>
                        <a:rPr sz="2000" spc="-5" dirty="0">
                          <a:latin typeface="Arial"/>
                          <a:cs typeface="Arial"/>
                        </a:rPr>
                        <a:t>12</a:t>
                      </a:r>
                      <a:endParaRPr sz="2000">
                        <a:latin typeface="Arial"/>
                        <a:cs typeface="Arial"/>
                      </a:endParaRPr>
                    </a:p>
                  </a:txBody>
                  <a:tcPr marL="0" marR="0" marT="43180" marB="0">
                    <a:solidFill>
                      <a:srgbClr val="F7FAFF"/>
                    </a:solidFill>
                  </a:tcPr>
                </a:tc>
                <a:extLst>
                  <a:ext uri="{0D108BD9-81ED-4DB2-BD59-A6C34878D82A}">
                    <a16:rowId xmlns:a16="http://schemas.microsoft.com/office/drawing/2014/main" val="10005"/>
                  </a:ext>
                </a:extLst>
              </a:tr>
            </a:tbl>
          </a:graphicData>
        </a:graphic>
      </p:graphicFrame>
      <p:sp>
        <p:nvSpPr>
          <p:cNvPr id="6" name="object 6"/>
          <p:cNvSpPr txBox="1"/>
          <p:nvPr/>
        </p:nvSpPr>
        <p:spPr>
          <a:xfrm>
            <a:off x="901395" y="4219397"/>
            <a:ext cx="788670" cy="238125"/>
          </a:xfrm>
          <a:prstGeom prst="rect">
            <a:avLst/>
          </a:prstGeom>
        </p:spPr>
        <p:txBody>
          <a:bodyPr vert="horz" wrap="square" lIns="0" tIns="12065" rIns="0" bIns="0" rtlCol="0">
            <a:spAutoFit/>
          </a:bodyPr>
          <a:lstStyle/>
          <a:p>
            <a:pPr marL="12700">
              <a:lnSpc>
                <a:spcPct val="100000"/>
              </a:lnSpc>
              <a:spcBef>
                <a:spcPts val="95"/>
              </a:spcBef>
              <a:tabLst>
                <a:tab pos="676910" algn="l"/>
              </a:tabLst>
            </a:pPr>
            <a:r>
              <a:rPr sz="1400" spc="-45" dirty="0">
                <a:latin typeface="Arial"/>
                <a:cs typeface="Arial"/>
              </a:rPr>
              <a:t>T</a:t>
            </a:r>
            <a:r>
              <a:rPr sz="1400" spc="-5" dirty="0">
                <a:latin typeface="Arial"/>
                <a:cs typeface="Arial"/>
              </a:rPr>
              <a:t>i</a:t>
            </a:r>
            <a:r>
              <a:rPr sz="1400" spc="10" dirty="0">
                <a:latin typeface="Arial"/>
                <a:cs typeface="Arial"/>
              </a:rPr>
              <a:t>m</a:t>
            </a:r>
            <a:r>
              <a:rPr sz="1400" spc="-5" dirty="0">
                <a:latin typeface="Arial"/>
                <a:cs typeface="Arial"/>
              </a:rPr>
              <a:t>e</a:t>
            </a:r>
            <a:r>
              <a:rPr sz="1400" dirty="0">
                <a:latin typeface="Arial"/>
                <a:cs typeface="Arial"/>
              </a:rPr>
              <a:t>	</a:t>
            </a:r>
            <a:r>
              <a:rPr sz="1400" spc="-5" dirty="0">
                <a:latin typeface="Arial"/>
                <a:cs typeface="Arial"/>
              </a:rPr>
              <a:t>0</a:t>
            </a:r>
            <a:endParaRPr sz="1400">
              <a:latin typeface="Arial"/>
              <a:cs typeface="Arial"/>
            </a:endParaRPr>
          </a:p>
        </p:txBody>
      </p:sp>
      <p:sp>
        <p:nvSpPr>
          <p:cNvPr id="7" name="object 7"/>
          <p:cNvSpPr txBox="1"/>
          <p:nvPr/>
        </p:nvSpPr>
        <p:spPr>
          <a:xfrm>
            <a:off x="2139188" y="4219397"/>
            <a:ext cx="124460" cy="238125"/>
          </a:xfrm>
          <a:prstGeom prst="rect">
            <a:avLst/>
          </a:prstGeom>
        </p:spPr>
        <p:txBody>
          <a:bodyPr vert="horz" wrap="square" lIns="0" tIns="12065" rIns="0" bIns="0" rtlCol="0">
            <a:spAutoFit/>
          </a:bodyPr>
          <a:lstStyle/>
          <a:p>
            <a:pPr marL="12700">
              <a:lnSpc>
                <a:spcPct val="100000"/>
              </a:lnSpc>
              <a:spcBef>
                <a:spcPts val="95"/>
              </a:spcBef>
            </a:pPr>
            <a:r>
              <a:rPr sz="1400" spc="-5" dirty="0">
                <a:latin typeface="Arial"/>
                <a:cs typeface="Arial"/>
              </a:rPr>
              <a:t>3</a:t>
            </a:r>
            <a:endParaRPr sz="1400">
              <a:latin typeface="Arial"/>
              <a:cs typeface="Arial"/>
            </a:endParaRPr>
          </a:p>
        </p:txBody>
      </p:sp>
      <p:sp>
        <p:nvSpPr>
          <p:cNvPr id="8" name="object 8"/>
          <p:cNvSpPr txBox="1"/>
          <p:nvPr/>
        </p:nvSpPr>
        <p:spPr>
          <a:xfrm>
            <a:off x="3282822" y="4219397"/>
            <a:ext cx="220979"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Arial"/>
                <a:cs typeface="Arial"/>
              </a:rPr>
              <a:t>10</a:t>
            </a:r>
            <a:endParaRPr sz="1400">
              <a:latin typeface="Arial"/>
              <a:cs typeface="Arial"/>
            </a:endParaRPr>
          </a:p>
        </p:txBody>
      </p:sp>
      <p:sp>
        <p:nvSpPr>
          <p:cNvPr id="9" name="object 9"/>
          <p:cNvSpPr txBox="1"/>
          <p:nvPr/>
        </p:nvSpPr>
        <p:spPr>
          <a:xfrm>
            <a:off x="5087873" y="4219397"/>
            <a:ext cx="220979"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Arial"/>
                <a:cs typeface="Arial"/>
              </a:rPr>
              <a:t>20</a:t>
            </a:r>
            <a:endParaRPr sz="1400">
              <a:latin typeface="Arial"/>
              <a:cs typeface="Arial"/>
            </a:endParaRPr>
          </a:p>
        </p:txBody>
      </p:sp>
      <p:sp>
        <p:nvSpPr>
          <p:cNvPr id="10" name="object 10"/>
          <p:cNvSpPr txBox="1"/>
          <p:nvPr/>
        </p:nvSpPr>
        <p:spPr>
          <a:xfrm>
            <a:off x="6612128" y="4219397"/>
            <a:ext cx="221615" cy="238125"/>
          </a:xfrm>
          <a:prstGeom prst="rect">
            <a:avLst/>
          </a:prstGeom>
        </p:spPr>
        <p:txBody>
          <a:bodyPr vert="horz" wrap="square" lIns="0" tIns="12065" rIns="0" bIns="0" rtlCol="0">
            <a:spAutoFit/>
          </a:bodyPr>
          <a:lstStyle/>
          <a:p>
            <a:pPr marL="12700">
              <a:lnSpc>
                <a:spcPct val="100000"/>
              </a:lnSpc>
              <a:spcBef>
                <a:spcPts val="95"/>
              </a:spcBef>
            </a:pPr>
            <a:r>
              <a:rPr sz="1400" spc="-10" dirty="0">
                <a:latin typeface="Arial"/>
                <a:cs typeface="Arial"/>
              </a:rPr>
              <a:t>28</a:t>
            </a:r>
            <a:endParaRPr sz="1400">
              <a:latin typeface="Arial"/>
              <a:cs typeface="Arial"/>
            </a:endParaRPr>
          </a:p>
        </p:txBody>
      </p:sp>
      <p:sp>
        <p:nvSpPr>
          <p:cNvPr id="11" name="object 11"/>
          <p:cNvSpPr txBox="1"/>
          <p:nvPr/>
        </p:nvSpPr>
        <p:spPr>
          <a:xfrm>
            <a:off x="7566786" y="4219397"/>
            <a:ext cx="220979"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Arial"/>
                <a:cs typeface="Arial"/>
              </a:rPr>
              <a:t>33</a:t>
            </a:r>
            <a:endParaRPr sz="1400">
              <a:latin typeface="Arial"/>
              <a:cs typeface="Arial"/>
            </a:endParaRPr>
          </a:p>
        </p:txBody>
      </p:sp>
      <p:graphicFrame>
        <p:nvGraphicFramePr>
          <p:cNvPr id="12" name="object 12"/>
          <p:cNvGraphicFramePr>
            <a:graphicFrameLocks noGrp="1"/>
          </p:cNvGraphicFramePr>
          <p:nvPr/>
        </p:nvGraphicFramePr>
        <p:xfrm>
          <a:off x="926591" y="4468367"/>
          <a:ext cx="7256778" cy="1362455"/>
        </p:xfrm>
        <a:graphic>
          <a:graphicData uri="http://schemas.openxmlformats.org/drawingml/2006/table">
            <a:tbl>
              <a:tblPr firstRow="1" bandRow="1">
                <a:tableStyleId>{2D5ABB26-0587-4C30-8999-92F81FD0307C}</a:tableStyleId>
              </a:tblPr>
              <a:tblGrid>
                <a:gridCol w="64643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835149">
                  <a:extLst>
                    <a:ext uri="{9D8B030D-6E8A-4147-A177-3AD203B41FA5}">
                      <a16:colId xmlns:a16="http://schemas.microsoft.com/office/drawing/2014/main" val="20003"/>
                    </a:ext>
                  </a:extLst>
                </a:gridCol>
                <a:gridCol w="1483360">
                  <a:extLst>
                    <a:ext uri="{9D8B030D-6E8A-4147-A177-3AD203B41FA5}">
                      <a16:colId xmlns:a16="http://schemas.microsoft.com/office/drawing/2014/main" val="20004"/>
                    </a:ext>
                  </a:extLst>
                </a:gridCol>
                <a:gridCol w="934719">
                  <a:extLst>
                    <a:ext uri="{9D8B030D-6E8A-4147-A177-3AD203B41FA5}">
                      <a16:colId xmlns:a16="http://schemas.microsoft.com/office/drawing/2014/main" val="20005"/>
                    </a:ext>
                  </a:extLst>
                </a:gridCol>
                <a:gridCol w="547370">
                  <a:extLst>
                    <a:ext uri="{9D8B030D-6E8A-4147-A177-3AD203B41FA5}">
                      <a16:colId xmlns:a16="http://schemas.microsoft.com/office/drawing/2014/main" val="20006"/>
                    </a:ext>
                  </a:extLst>
                </a:gridCol>
              </a:tblGrid>
              <a:tr h="682751">
                <a:tc>
                  <a:txBody>
                    <a:bodyPr/>
                    <a:lstStyle/>
                    <a:p>
                      <a:pPr marR="26670" algn="ctr">
                        <a:lnSpc>
                          <a:spcPts val="1775"/>
                        </a:lnSpc>
                        <a:spcBef>
                          <a:spcPts val="720"/>
                        </a:spcBef>
                      </a:pPr>
                      <a:r>
                        <a:rPr sz="1600" b="1" i="1" dirty="0">
                          <a:latin typeface="Arial"/>
                          <a:cs typeface="Arial"/>
                        </a:rPr>
                        <a:t>WC</a:t>
                      </a:r>
                      <a:endParaRPr sz="1600">
                        <a:latin typeface="Arial"/>
                        <a:cs typeface="Arial"/>
                      </a:endParaRPr>
                    </a:p>
                    <a:p>
                      <a:pPr marR="27305" algn="ctr">
                        <a:lnSpc>
                          <a:spcPts val="1775"/>
                        </a:lnSpc>
                      </a:pPr>
                      <a:r>
                        <a:rPr sz="1600" b="1" i="1" dirty="0">
                          <a:latin typeface="Arial"/>
                          <a:cs typeface="Arial"/>
                        </a:rPr>
                        <a:t>1</a:t>
                      </a:r>
                      <a:endParaRPr sz="1600">
                        <a:latin typeface="Arial"/>
                        <a:cs typeface="Arial"/>
                      </a:endParaRPr>
                    </a:p>
                  </a:txBody>
                  <a:tcPr marL="0" marR="0" marT="9144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99CCFF"/>
                    </a:solidFill>
                  </a:tcPr>
                </a:tc>
                <a:tc>
                  <a:txBody>
                    <a:bodyPr/>
                    <a:lstStyle/>
                    <a:p>
                      <a:pPr marL="172720">
                        <a:lnSpc>
                          <a:spcPct val="100000"/>
                        </a:lnSpc>
                        <a:spcBef>
                          <a:spcPts val="1460"/>
                        </a:spcBef>
                      </a:pPr>
                      <a:r>
                        <a:rPr sz="1800" b="1" i="1" dirty="0">
                          <a:latin typeface="Arial"/>
                          <a:cs typeface="Arial"/>
                        </a:rPr>
                        <a:t>B</a:t>
                      </a:r>
                      <a:endParaRPr sz="1800">
                        <a:latin typeface="Arial"/>
                        <a:cs typeface="Arial"/>
                      </a:endParaRPr>
                    </a:p>
                  </a:txBody>
                  <a:tcPr marL="0" marR="0" marT="18542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99CCFF"/>
                    </a:solidFill>
                  </a:tcPr>
                </a:tc>
                <a:tc>
                  <a:txBody>
                    <a:bodyPr/>
                    <a:lstStyle/>
                    <a:p>
                      <a:pPr marR="25400" algn="ctr">
                        <a:lnSpc>
                          <a:spcPct val="100000"/>
                        </a:lnSpc>
                        <a:spcBef>
                          <a:spcPts val="1460"/>
                        </a:spcBef>
                      </a:pPr>
                      <a:r>
                        <a:rPr sz="1800" b="1" i="1" dirty="0">
                          <a:latin typeface="Arial"/>
                          <a:cs typeface="Arial"/>
                        </a:rPr>
                        <a:t>E</a:t>
                      </a:r>
                      <a:endParaRPr sz="1800">
                        <a:latin typeface="Arial"/>
                        <a:cs typeface="Arial"/>
                      </a:endParaRPr>
                    </a:p>
                  </a:txBody>
                  <a:tcPr marL="0" marR="0" marT="18542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99CCFF"/>
                    </a:solidFill>
                  </a:tcPr>
                </a:tc>
                <a:tc>
                  <a:txBody>
                    <a:bodyPr/>
                    <a:lstStyle/>
                    <a:p>
                      <a:pPr marL="81915" algn="ctr">
                        <a:lnSpc>
                          <a:spcPct val="100000"/>
                        </a:lnSpc>
                        <a:spcBef>
                          <a:spcPts val="1460"/>
                        </a:spcBef>
                      </a:pPr>
                      <a:r>
                        <a:rPr sz="1800" b="1" i="1" dirty="0">
                          <a:latin typeface="Arial"/>
                          <a:cs typeface="Arial"/>
                        </a:rPr>
                        <a:t>D</a:t>
                      </a:r>
                      <a:endParaRPr sz="1800">
                        <a:latin typeface="Arial"/>
                        <a:cs typeface="Arial"/>
                      </a:endParaRPr>
                    </a:p>
                  </a:txBody>
                  <a:tcPr marL="0" marR="0" marT="18542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99CCFF"/>
                    </a:solidFill>
                  </a:tcPr>
                </a:tc>
                <a:tc>
                  <a:txBody>
                    <a:bodyPr/>
                    <a:lstStyle/>
                    <a:p>
                      <a:pPr marL="7620" algn="ctr">
                        <a:lnSpc>
                          <a:spcPct val="100000"/>
                        </a:lnSpc>
                        <a:spcBef>
                          <a:spcPts val="1460"/>
                        </a:spcBef>
                      </a:pPr>
                      <a:r>
                        <a:rPr sz="1800" b="1" i="1" dirty="0">
                          <a:latin typeface="Arial"/>
                          <a:cs typeface="Arial"/>
                        </a:rPr>
                        <a:t>C</a:t>
                      </a:r>
                      <a:endParaRPr sz="1800">
                        <a:latin typeface="Arial"/>
                        <a:cs typeface="Arial"/>
                      </a:endParaRPr>
                    </a:p>
                  </a:txBody>
                  <a:tcPr marL="0" marR="0" marT="18542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99CCFF"/>
                    </a:solidFill>
                  </a:tcPr>
                </a:tc>
                <a:tc>
                  <a:txBody>
                    <a:bodyPr/>
                    <a:lstStyle/>
                    <a:p>
                      <a:pPr marR="22860" algn="ctr">
                        <a:lnSpc>
                          <a:spcPct val="100000"/>
                        </a:lnSpc>
                        <a:spcBef>
                          <a:spcPts val="1460"/>
                        </a:spcBef>
                      </a:pPr>
                      <a:r>
                        <a:rPr sz="1800" b="1" i="1" dirty="0">
                          <a:latin typeface="Arial"/>
                          <a:cs typeface="Arial"/>
                        </a:rPr>
                        <a:t>A</a:t>
                      </a:r>
                      <a:endParaRPr sz="1800">
                        <a:latin typeface="Arial"/>
                        <a:cs typeface="Arial"/>
                      </a:endParaRPr>
                    </a:p>
                  </a:txBody>
                  <a:tcPr marL="0" marR="0" marT="18542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99CCFF"/>
                    </a:solidFill>
                  </a:tcPr>
                </a:tc>
                <a:tc>
                  <a:txBody>
                    <a:bodyPr/>
                    <a:lstStyle/>
                    <a:p>
                      <a:pPr>
                        <a:lnSpc>
                          <a:spcPct val="100000"/>
                        </a:lnSpc>
                      </a:pPr>
                      <a:endParaRPr sz="2500">
                        <a:latin typeface="Times New Roman"/>
                        <a:cs typeface="Times New Roman"/>
                      </a:endParaRPr>
                    </a:p>
                  </a:txBody>
                  <a:tcPr marL="0" marR="0" marT="0"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AE67FF"/>
                    </a:solidFill>
                  </a:tcPr>
                </a:tc>
                <a:extLst>
                  <a:ext uri="{0D108BD9-81ED-4DB2-BD59-A6C34878D82A}">
                    <a16:rowId xmlns:a16="http://schemas.microsoft.com/office/drawing/2014/main" val="10000"/>
                  </a:ext>
                </a:extLst>
              </a:tr>
              <a:tr h="679704">
                <a:tc>
                  <a:txBody>
                    <a:bodyPr/>
                    <a:lstStyle/>
                    <a:p>
                      <a:pPr marR="26034" algn="ctr">
                        <a:lnSpc>
                          <a:spcPts val="1775"/>
                        </a:lnSpc>
                        <a:spcBef>
                          <a:spcPts val="745"/>
                        </a:spcBef>
                      </a:pPr>
                      <a:r>
                        <a:rPr sz="1600" b="1" i="1" dirty="0">
                          <a:latin typeface="Arial"/>
                          <a:cs typeface="Arial"/>
                        </a:rPr>
                        <a:t>WC</a:t>
                      </a:r>
                      <a:endParaRPr sz="1600">
                        <a:latin typeface="Arial"/>
                        <a:cs typeface="Arial"/>
                      </a:endParaRPr>
                    </a:p>
                    <a:p>
                      <a:pPr marR="26670" algn="ctr">
                        <a:lnSpc>
                          <a:spcPts val="1775"/>
                        </a:lnSpc>
                      </a:pPr>
                      <a:r>
                        <a:rPr sz="1600" b="1" i="1" dirty="0">
                          <a:latin typeface="Arial"/>
                          <a:cs typeface="Arial"/>
                        </a:rPr>
                        <a:t>2</a:t>
                      </a:r>
                      <a:endParaRPr sz="1600">
                        <a:latin typeface="Arial"/>
                        <a:cs typeface="Arial"/>
                      </a:endParaRPr>
                    </a:p>
                  </a:txBody>
                  <a:tcPr marL="0" marR="0" marT="94615" marB="0">
                    <a:lnL w="53975">
                      <a:solidFill>
                        <a:srgbClr val="000000"/>
                      </a:solidFill>
                      <a:prstDash val="solid"/>
                    </a:lnL>
                    <a:lnR w="53975">
                      <a:solidFill>
                        <a:srgbClr val="000000"/>
                      </a:solidFill>
                      <a:prstDash val="solid"/>
                    </a:lnR>
                    <a:lnT w="53975">
                      <a:solidFill>
                        <a:srgbClr val="000000"/>
                      </a:solidFill>
                      <a:prstDash val="solid"/>
                    </a:lnT>
                    <a:lnB w="53975">
                      <a:solidFill>
                        <a:srgbClr val="000000"/>
                      </a:solidFill>
                      <a:prstDash val="solid"/>
                    </a:lnB>
                    <a:solidFill>
                      <a:srgbClr val="99CCFF"/>
                    </a:solidFill>
                  </a:tcPr>
                </a:tc>
                <a:tc gridSpan="6">
                  <a:txBody>
                    <a:bodyPr/>
                    <a:lstStyle/>
                    <a:p>
                      <a:pPr>
                        <a:lnSpc>
                          <a:spcPct val="100000"/>
                        </a:lnSpc>
                      </a:pPr>
                      <a:endParaRPr sz="2500">
                        <a:latin typeface="Times New Roman"/>
                        <a:cs typeface="Times New Roman"/>
                      </a:endParaRPr>
                    </a:p>
                  </a:txBody>
                  <a:tcPr marL="0" marR="0" marT="0" marB="0">
                    <a:lnL w="53975">
                      <a:solidFill>
                        <a:srgbClr val="000000"/>
                      </a:solidFill>
                      <a:prstDash val="solid"/>
                    </a:lnL>
                    <a:lnT w="53975">
                      <a:solidFill>
                        <a:srgbClr val="000000"/>
                      </a:solidFill>
                      <a:prstDash val="solid"/>
                    </a:lnT>
                    <a:solidFill>
                      <a:srgbClr val="F7FA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13" name="object 13"/>
          <p:cNvGrpSpPr/>
          <p:nvPr/>
        </p:nvGrpSpPr>
        <p:grpSpPr>
          <a:xfrm>
            <a:off x="5955791" y="2587751"/>
            <a:ext cx="2481580" cy="777240"/>
            <a:chOff x="5955791" y="2587751"/>
            <a:chExt cx="2481580" cy="777240"/>
          </a:xfrm>
        </p:grpSpPr>
        <p:sp>
          <p:nvSpPr>
            <p:cNvPr id="14" name="object 14"/>
            <p:cNvSpPr/>
            <p:nvPr/>
          </p:nvSpPr>
          <p:spPr>
            <a:xfrm>
              <a:off x="6038087" y="2587751"/>
              <a:ext cx="2399030" cy="759460"/>
            </a:xfrm>
            <a:custGeom>
              <a:avLst/>
              <a:gdLst/>
              <a:ahLst/>
              <a:cxnLst/>
              <a:rect l="l" t="t" r="r" b="b"/>
              <a:pathLst>
                <a:path w="2399029" h="759460">
                  <a:moveTo>
                    <a:pt x="2398775" y="0"/>
                  </a:moveTo>
                  <a:lnTo>
                    <a:pt x="0" y="0"/>
                  </a:lnTo>
                  <a:lnTo>
                    <a:pt x="0" y="758951"/>
                  </a:lnTo>
                  <a:lnTo>
                    <a:pt x="2398775" y="758951"/>
                  </a:lnTo>
                  <a:lnTo>
                    <a:pt x="2398775" y="0"/>
                  </a:lnTo>
                  <a:close/>
                </a:path>
              </a:pathLst>
            </a:custGeom>
            <a:solidFill>
              <a:srgbClr val="99CCFF"/>
            </a:solidFill>
          </p:spPr>
          <p:txBody>
            <a:bodyPr wrap="square" lIns="0" tIns="0" rIns="0" bIns="0" rtlCol="0"/>
            <a:lstStyle/>
            <a:p>
              <a:endParaRPr/>
            </a:p>
          </p:txBody>
        </p:sp>
        <p:sp>
          <p:nvSpPr>
            <p:cNvPr id="15" name="object 15"/>
            <p:cNvSpPr/>
            <p:nvPr/>
          </p:nvSpPr>
          <p:spPr>
            <a:xfrm>
              <a:off x="5955791" y="2682239"/>
              <a:ext cx="612647" cy="682751"/>
            </a:xfrm>
            <a:prstGeom prst="rect">
              <a:avLst/>
            </a:prstGeom>
            <a:blipFill>
              <a:blip r:embed="rId2" cstate="print"/>
              <a:stretch>
                <a:fillRect/>
              </a:stretch>
            </a:blipFill>
          </p:spPr>
          <p:txBody>
            <a:bodyPr wrap="square" lIns="0" tIns="0" rIns="0" bIns="0" rtlCol="0"/>
            <a:lstStyle/>
            <a:p>
              <a:endParaRPr/>
            </a:p>
          </p:txBody>
        </p:sp>
      </p:grpSp>
      <p:sp>
        <p:nvSpPr>
          <p:cNvPr id="16" name="object 16"/>
          <p:cNvSpPr txBox="1"/>
          <p:nvPr/>
        </p:nvSpPr>
        <p:spPr>
          <a:xfrm>
            <a:off x="6033515" y="2595372"/>
            <a:ext cx="469900" cy="749935"/>
          </a:xfrm>
          <a:prstGeom prst="rect">
            <a:avLst/>
          </a:prstGeom>
          <a:ln w="39623">
            <a:solidFill>
              <a:srgbClr val="000000"/>
            </a:solidFill>
          </a:ln>
        </p:spPr>
        <p:txBody>
          <a:bodyPr vert="horz" wrap="square" lIns="0" tIns="180975" rIns="0" bIns="0" rtlCol="0">
            <a:spAutoFit/>
          </a:bodyPr>
          <a:lstStyle/>
          <a:p>
            <a:pPr marL="114935">
              <a:lnSpc>
                <a:spcPct val="100000"/>
              </a:lnSpc>
              <a:spcBef>
                <a:spcPts val="1425"/>
              </a:spcBef>
            </a:pPr>
            <a:r>
              <a:rPr sz="2400" dirty="0">
                <a:latin typeface="Arial"/>
                <a:cs typeface="Arial"/>
              </a:rPr>
              <a:t>B</a:t>
            </a:r>
            <a:endParaRPr sz="2400">
              <a:latin typeface="Arial"/>
              <a:cs typeface="Arial"/>
            </a:endParaRPr>
          </a:p>
        </p:txBody>
      </p:sp>
      <p:sp>
        <p:nvSpPr>
          <p:cNvPr id="17" name="object 17"/>
          <p:cNvSpPr/>
          <p:nvPr/>
        </p:nvSpPr>
        <p:spPr>
          <a:xfrm>
            <a:off x="7897368" y="2682239"/>
            <a:ext cx="612648" cy="682751"/>
          </a:xfrm>
          <a:prstGeom prst="rect">
            <a:avLst/>
          </a:prstGeom>
          <a:blipFill>
            <a:blip r:embed="rId3" cstate="print"/>
            <a:stretch>
              <a:fillRect/>
            </a:stretch>
          </a:blipFill>
        </p:spPr>
        <p:txBody>
          <a:bodyPr wrap="square" lIns="0" tIns="0" rIns="0" bIns="0" rtlCol="0"/>
          <a:lstStyle/>
          <a:p>
            <a:endParaRPr/>
          </a:p>
        </p:txBody>
      </p:sp>
      <p:sp>
        <p:nvSpPr>
          <p:cNvPr id="18" name="object 18"/>
          <p:cNvSpPr txBox="1"/>
          <p:nvPr/>
        </p:nvSpPr>
        <p:spPr>
          <a:xfrm>
            <a:off x="7978140" y="2595372"/>
            <a:ext cx="451484" cy="749935"/>
          </a:xfrm>
          <a:prstGeom prst="rect">
            <a:avLst/>
          </a:prstGeom>
          <a:ln w="39623">
            <a:solidFill>
              <a:srgbClr val="000000"/>
            </a:solidFill>
          </a:ln>
        </p:spPr>
        <p:txBody>
          <a:bodyPr vert="horz" wrap="square" lIns="0" tIns="180975" rIns="0" bIns="0" rtlCol="0">
            <a:spAutoFit/>
          </a:bodyPr>
          <a:lstStyle/>
          <a:p>
            <a:pPr marL="113664">
              <a:lnSpc>
                <a:spcPct val="100000"/>
              </a:lnSpc>
              <a:spcBef>
                <a:spcPts val="1425"/>
              </a:spcBef>
            </a:pPr>
            <a:r>
              <a:rPr sz="2400" dirty="0">
                <a:latin typeface="Arial"/>
                <a:cs typeface="Arial"/>
              </a:rPr>
              <a:t>A</a:t>
            </a:r>
            <a:endParaRPr sz="2400">
              <a:latin typeface="Arial"/>
              <a:cs typeface="Arial"/>
            </a:endParaRPr>
          </a:p>
        </p:txBody>
      </p:sp>
      <p:sp>
        <p:nvSpPr>
          <p:cNvPr id="19" name="object 19"/>
          <p:cNvSpPr/>
          <p:nvPr/>
        </p:nvSpPr>
        <p:spPr>
          <a:xfrm>
            <a:off x="7406640" y="2682239"/>
            <a:ext cx="627888" cy="682751"/>
          </a:xfrm>
          <a:prstGeom prst="rect">
            <a:avLst/>
          </a:prstGeom>
          <a:blipFill>
            <a:blip r:embed="rId4" cstate="print"/>
            <a:stretch>
              <a:fillRect/>
            </a:stretch>
          </a:blipFill>
        </p:spPr>
        <p:txBody>
          <a:bodyPr wrap="square" lIns="0" tIns="0" rIns="0" bIns="0" rtlCol="0"/>
          <a:lstStyle/>
          <a:p>
            <a:endParaRPr/>
          </a:p>
        </p:txBody>
      </p:sp>
      <p:sp>
        <p:nvSpPr>
          <p:cNvPr id="20" name="object 20"/>
          <p:cNvSpPr txBox="1"/>
          <p:nvPr/>
        </p:nvSpPr>
        <p:spPr>
          <a:xfrm>
            <a:off x="7490459" y="2595372"/>
            <a:ext cx="487680" cy="749935"/>
          </a:xfrm>
          <a:prstGeom prst="rect">
            <a:avLst/>
          </a:prstGeom>
          <a:ln w="39623">
            <a:solidFill>
              <a:srgbClr val="000000"/>
            </a:solidFill>
          </a:ln>
        </p:spPr>
        <p:txBody>
          <a:bodyPr vert="horz" wrap="square" lIns="0" tIns="180975" rIns="0" bIns="0" rtlCol="0">
            <a:spAutoFit/>
          </a:bodyPr>
          <a:lstStyle/>
          <a:p>
            <a:pPr marL="110489">
              <a:lnSpc>
                <a:spcPct val="100000"/>
              </a:lnSpc>
              <a:spcBef>
                <a:spcPts val="1425"/>
              </a:spcBef>
            </a:pPr>
            <a:r>
              <a:rPr sz="2400" spc="-5" dirty="0">
                <a:latin typeface="Arial"/>
                <a:cs typeface="Arial"/>
              </a:rPr>
              <a:t>C</a:t>
            </a:r>
            <a:endParaRPr sz="2400">
              <a:latin typeface="Arial"/>
              <a:cs typeface="Arial"/>
            </a:endParaRPr>
          </a:p>
        </p:txBody>
      </p:sp>
      <p:sp>
        <p:nvSpPr>
          <p:cNvPr id="21" name="object 21"/>
          <p:cNvSpPr/>
          <p:nvPr/>
        </p:nvSpPr>
        <p:spPr>
          <a:xfrm>
            <a:off x="6915911" y="2682239"/>
            <a:ext cx="627888" cy="682751"/>
          </a:xfrm>
          <a:prstGeom prst="rect">
            <a:avLst/>
          </a:prstGeom>
          <a:blipFill>
            <a:blip r:embed="rId5" cstate="print"/>
            <a:stretch>
              <a:fillRect/>
            </a:stretch>
          </a:blipFill>
        </p:spPr>
        <p:txBody>
          <a:bodyPr wrap="square" lIns="0" tIns="0" rIns="0" bIns="0" rtlCol="0"/>
          <a:lstStyle/>
          <a:p>
            <a:endParaRPr/>
          </a:p>
        </p:txBody>
      </p:sp>
      <p:sp>
        <p:nvSpPr>
          <p:cNvPr id="22" name="object 22"/>
          <p:cNvSpPr txBox="1"/>
          <p:nvPr/>
        </p:nvSpPr>
        <p:spPr>
          <a:xfrm>
            <a:off x="6999731" y="2595372"/>
            <a:ext cx="490855" cy="749935"/>
          </a:xfrm>
          <a:prstGeom prst="rect">
            <a:avLst/>
          </a:prstGeom>
          <a:ln w="39623">
            <a:solidFill>
              <a:srgbClr val="000000"/>
            </a:solidFill>
          </a:ln>
        </p:spPr>
        <p:txBody>
          <a:bodyPr vert="horz" wrap="square" lIns="0" tIns="180975" rIns="0" bIns="0" rtlCol="0">
            <a:spAutoFit/>
          </a:bodyPr>
          <a:lstStyle/>
          <a:p>
            <a:pPr marL="110489">
              <a:lnSpc>
                <a:spcPct val="100000"/>
              </a:lnSpc>
              <a:spcBef>
                <a:spcPts val="1425"/>
              </a:spcBef>
            </a:pPr>
            <a:r>
              <a:rPr sz="2400" spc="-5" dirty="0">
                <a:latin typeface="Arial"/>
                <a:cs typeface="Arial"/>
              </a:rPr>
              <a:t>D</a:t>
            </a:r>
            <a:endParaRPr sz="2400">
              <a:latin typeface="Arial"/>
              <a:cs typeface="Arial"/>
            </a:endParaRPr>
          </a:p>
        </p:txBody>
      </p:sp>
      <p:sp>
        <p:nvSpPr>
          <p:cNvPr id="23" name="object 23"/>
          <p:cNvSpPr/>
          <p:nvPr/>
        </p:nvSpPr>
        <p:spPr>
          <a:xfrm>
            <a:off x="6443471" y="2682239"/>
            <a:ext cx="612648" cy="682751"/>
          </a:xfrm>
          <a:prstGeom prst="rect">
            <a:avLst/>
          </a:prstGeom>
          <a:blipFill>
            <a:blip r:embed="rId6" cstate="print"/>
            <a:stretch>
              <a:fillRect/>
            </a:stretch>
          </a:blipFill>
        </p:spPr>
        <p:txBody>
          <a:bodyPr wrap="square" lIns="0" tIns="0" rIns="0" bIns="0" rtlCol="0"/>
          <a:lstStyle/>
          <a:p>
            <a:endParaRPr/>
          </a:p>
        </p:txBody>
      </p:sp>
      <p:sp>
        <p:nvSpPr>
          <p:cNvPr id="24" name="object 24"/>
          <p:cNvSpPr txBox="1"/>
          <p:nvPr/>
        </p:nvSpPr>
        <p:spPr>
          <a:xfrm>
            <a:off x="6502907" y="2595372"/>
            <a:ext cx="497205" cy="749935"/>
          </a:xfrm>
          <a:prstGeom prst="rect">
            <a:avLst/>
          </a:prstGeom>
          <a:ln w="39623">
            <a:solidFill>
              <a:srgbClr val="000000"/>
            </a:solidFill>
          </a:ln>
        </p:spPr>
        <p:txBody>
          <a:bodyPr vert="horz" wrap="square" lIns="0" tIns="180975" rIns="0" bIns="0" rtlCol="0">
            <a:spAutoFit/>
          </a:bodyPr>
          <a:lstStyle/>
          <a:p>
            <a:pPr marL="133985">
              <a:lnSpc>
                <a:spcPct val="100000"/>
              </a:lnSpc>
              <a:spcBef>
                <a:spcPts val="1425"/>
              </a:spcBef>
            </a:pPr>
            <a:r>
              <a:rPr sz="2400" dirty="0">
                <a:latin typeface="Arial"/>
                <a:cs typeface="Arial"/>
              </a:rPr>
              <a:t>E</a:t>
            </a:r>
            <a:endParaRPr sz="2400">
              <a:latin typeface="Arial"/>
              <a:cs typeface="Arial"/>
            </a:endParaRPr>
          </a:p>
        </p:txBody>
      </p:sp>
      <p:grpSp>
        <p:nvGrpSpPr>
          <p:cNvPr id="25" name="object 25"/>
          <p:cNvGrpSpPr/>
          <p:nvPr/>
        </p:nvGrpSpPr>
        <p:grpSpPr>
          <a:xfrm>
            <a:off x="12191" y="6437376"/>
            <a:ext cx="1628139" cy="411480"/>
            <a:chOff x="12191" y="6437376"/>
            <a:chExt cx="1628139" cy="411480"/>
          </a:xfrm>
        </p:grpSpPr>
        <p:sp>
          <p:nvSpPr>
            <p:cNvPr id="26" name="object 26"/>
            <p:cNvSpPr/>
            <p:nvPr/>
          </p:nvSpPr>
          <p:spPr>
            <a:xfrm>
              <a:off x="16763" y="6441948"/>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27" name="object 27"/>
            <p:cNvSpPr/>
            <p:nvPr/>
          </p:nvSpPr>
          <p:spPr>
            <a:xfrm>
              <a:off x="16763" y="6441948"/>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grpSp>
      <p:grpSp>
        <p:nvGrpSpPr>
          <p:cNvPr id="28" name="object 28"/>
          <p:cNvGrpSpPr/>
          <p:nvPr/>
        </p:nvGrpSpPr>
        <p:grpSpPr>
          <a:xfrm>
            <a:off x="7491983" y="6437376"/>
            <a:ext cx="1630680" cy="411480"/>
            <a:chOff x="7491983" y="6437376"/>
            <a:chExt cx="1630680" cy="411480"/>
          </a:xfrm>
        </p:grpSpPr>
        <p:sp>
          <p:nvSpPr>
            <p:cNvPr id="29" name="object 29"/>
            <p:cNvSpPr/>
            <p:nvPr/>
          </p:nvSpPr>
          <p:spPr>
            <a:xfrm>
              <a:off x="7496555" y="6441948"/>
              <a:ext cx="1621790" cy="402590"/>
            </a:xfrm>
            <a:custGeom>
              <a:avLst/>
              <a:gdLst/>
              <a:ahLst/>
              <a:cxnLst/>
              <a:rect l="l" t="t" r="r" b="b"/>
              <a:pathLst>
                <a:path w="1621790" h="402590">
                  <a:moveTo>
                    <a:pt x="1621536" y="0"/>
                  </a:moveTo>
                  <a:lnTo>
                    <a:pt x="0" y="0"/>
                  </a:lnTo>
                  <a:lnTo>
                    <a:pt x="0" y="402335"/>
                  </a:lnTo>
                  <a:lnTo>
                    <a:pt x="1621536" y="402335"/>
                  </a:lnTo>
                  <a:lnTo>
                    <a:pt x="1621536" y="0"/>
                  </a:lnTo>
                  <a:close/>
                </a:path>
              </a:pathLst>
            </a:custGeom>
            <a:solidFill>
              <a:srgbClr val="F7FAFF"/>
            </a:solidFill>
          </p:spPr>
          <p:txBody>
            <a:bodyPr wrap="square" lIns="0" tIns="0" rIns="0" bIns="0" rtlCol="0"/>
            <a:lstStyle/>
            <a:p>
              <a:endParaRPr/>
            </a:p>
          </p:txBody>
        </p:sp>
        <p:sp>
          <p:nvSpPr>
            <p:cNvPr id="30" name="object 30"/>
            <p:cNvSpPr/>
            <p:nvPr/>
          </p:nvSpPr>
          <p:spPr>
            <a:xfrm>
              <a:off x="7496555" y="6441948"/>
              <a:ext cx="1621790" cy="402590"/>
            </a:xfrm>
            <a:custGeom>
              <a:avLst/>
              <a:gdLst/>
              <a:ahLst/>
              <a:cxnLst/>
              <a:rect l="l" t="t" r="r" b="b"/>
              <a:pathLst>
                <a:path w="1621790" h="402590">
                  <a:moveTo>
                    <a:pt x="0" y="402335"/>
                  </a:moveTo>
                  <a:lnTo>
                    <a:pt x="1621536" y="402335"/>
                  </a:lnTo>
                  <a:lnTo>
                    <a:pt x="1621536" y="0"/>
                  </a:lnTo>
                  <a:lnTo>
                    <a:pt x="0" y="0"/>
                  </a:lnTo>
                  <a:lnTo>
                    <a:pt x="0" y="402335"/>
                  </a:lnTo>
                  <a:close/>
                </a:path>
              </a:pathLst>
            </a:custGeom>
            <a:ln w="9144">
              <a:solidFill>
                <a:srgbClr val="F7FAFF"/>
              </a:solidFill>
            </a:ln>
          </p:spPr>
          <p:txBody>
            <a:bodyPr wrap="square" lIns="0" tIns="0" rIns="0" bIns="0" rtlCol="0"/>
            <a:lstStyle/>
            <a:p>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92" y="6638266"/>
            <a:ext cx="1299845" cy="130175"/>
          </a:xfrm>
          <a:prstGeom prst="rect">
            <a:avLst/>
          </a:prstGeom>
        </p:spPr>
        <p:txBody>
          <a:bodyPr vert="horz" wrap="square" lIns="0" tIns="0" rIns="0" bIns="0" rtlCol="0">
            <a:spAutoFit/>
          </a:bodyPr>
          <a:lstStyle/>
          <a:p>
            <a:pPr>
              <a:lnSpc>
                <a:spcPts val="1010"/>
              </a:lnSpc>
            </a:pPr>
            <a:r>
              <a:rPr sz="900" spc="10" dirty="0">
                <a:solidFill>
                  <a:srgbClr val="3333CC"/>
                </a:solidFill>
                <a:latin typeface="Arial"/>
                <a:cs typeface="Arial"/>
              </a:rPr>
              <a:t>© </a:t>
            </a:r>
            <a:r>
              <a:rPr sz="900" dirty="0">
                <a:solidFill>
                  <a:srgbClr val="3333CC"/>
                </a:solidFill>
                <a:latin typeface="Arial"/>
                <a:cs typeface="Arial"/>
              </a:rPr>
              <a:t>2008 Prentice </a:t>
            </a:r>
            <a:r>
              <a:rPr sz="900" spc="5" dirty="0">
                <a:solidFill>
                  <a:srgbClr val="3333CC"/>
                </a:solidFill>
                <a:latin typeface="Arial"/>
                <a:cs typeface="Arial"/>
              </a:rPr>
              <a:t>Hall,</a:t>
            </a:r>
            <a:r>
              <a:rPr sz="900" spc="-185" dirty="0">
                <a:solidFill>
                  <a:srgbClr val="3333CC"/>
                </a:solidFill>
                <a:latin typeface="Arial"/>
                <a:cs typeface="Arial"/>
              </a:rPr>
              <a:t> </a:t>
            </a:r>
            <a:r>
              <a:rPr sz="900" spc="5" dirty="0">
                <a:solidFill>
                  <a:srgbClr val="3333CC"/>
                </a:solidFill>
                <a:latin typeface="Arial"/>
                <a:cs typeface="Arial"/>
              </a:rPr>
              <a:t>Inc.</a:t>
            </a:r>
            <a:endParaRPr sz="900">
              <a:latin typeface="Arial"/>
              <a:cs typeface="Arial"/>
            </a:endParaRPr>
          </a:p>
        </p:txBody>
      </p:sp>
      <p:sp>
        <p:nvSpPr>
          <p:cNvPr id="3" name="object 3"/>
          <p:cNvSpPr txBox="1"/>
          <p:nvPr/>
        </p:nvSpPr>
        <p:spPr>
          <a:xfrm>
            <a:off x="8582914" y="6638266"/>
            <a:ext cx="381000" cy="130175"/>
          </a:xfrm>
          <a:prstGeom prst="rect">
            <a:avLst/>
          </a:prstGeom>
        </p:spPr>
        <p:txBody>
          <a:bodyPr vert="horz" wrap="square" lIns="0" tIns="0" rIns="0" bIns="0" rtlCol="0">
            <a:spAutoFit/>
          </a:bodyPr>
          <a:lstStyle/>
          <a:p>
            <a:pPr>
              <a:lnSpc>
                <a:spcPts val="1010"/>
              </a:lnSpc>
            </a:pPr>
            <a:r>
              <a:rPr sz="900" b="1" spc="5" dirty="0">
                <a:solidFill>
                  <a:srgbClr val="3333CC"/>
                </a:solidFill>
                <a:latin typeface="Arial"/>
                <a:cs typeface="Arial"/>
              </a:rPr>
              <a:t>15 –</a:t>
            </a:r>
            <a:r>
              <a:rPr sz="900" b="1" spc="-125" dirty="0">
                <a:solidFill>
                  <a:srgbClr val="3333CC"/>
                </a:solidFill>
                <a:latin typeface="Arial"/>
                <a:cs typeface="Arial"/>
              </a:rPr>
              <a:t> </a:t>
            </a:r>
            <a:r>
              <a:rPr sz="900" b="1" dirty="0">
                <a:solidFill>
                  <a:srgbClr val="3333CC"/>
                </a:solidFill>
                <a:latin typeface="Arial"/>
                <a:cs typeface="Arial"/>
              </a:rPr>
              <a:t>43</a:t>
            </a:r>
            <a:endParaRPr sz="900">
              <a:latin typeface="Arial"/>
              <a:cs typeface="Arial"/>
            </a:endParaRPr>
          </a:p>
        </p:txBody>
      </p:sp>
      <p:sp>
        <p:nvSpPr>
          <p:cNvPr id="4" name="object 4"/>
          <p:cNvSpPr txBox="1">
            <a:spLocks noGrp="1"/>
          </p:cNvSpPr>
          <p:nvPr>
            <p:ph type="title"/>
          </p:nvPr>
        </p:nvSpPr>
        <p:spPr>
          <a:xfrm>
            <a:off x="687323" y="318515"/>
            <a:ext cx="7772400" cy="902335"/>
          </a:xfrm>
          <a:prstGeom prst="rect">
            <a:avLst/>
          </a:prstGeom>
          <a:solidFill>
            <a:srgbClr val="F7FAFF"/>
          </a:solidFill>
          <a:ln w="9144">
            <a:solidFill>
              <a:srgbClr val="000000"/>
            </a:solidFill>
          </a:ln>
        </p:spPr>
        <p:txBody>
          <a:bodyPr vert="horz" wrap="square" lIns="0" tIns="85090" rIns="0" bIns="0" rtlCol="0">
            <a:spAutoFit/>
          </a:bodyPr>
          <a:lstStyle/>
          <a:p>
            <a:pPr marL="889635">
              <a:lnSpc>
                <a:spcPct val="100000"/>
              </a:lnSpc>
              <a:spcBef>
                <a:spcPts val="670"/>
              </a:spcBef>
            </a:pPr>
            <a:r>
              <a:rPr spc="-20" dirty="0"/>
              <a:t>Johnson’s </a:t>
            </a:r>
            <a:r>
              <a:rPr dirty="0"/>
              <a:t>Rule</a:t>
            </a:r>
            <a:r>
              <a:rPr spc="-85" dirty="0"/>
              <a:t> </a:t>
            </a:r>
            <a:r>
              <a:rPr dirty="0"/>
              <a:t>Example</a:t>
            </a:r>
          </a:p>
        </p:txBody>
      </p:sp>
      <p:graphicFrame>
        <p:nvGraphicFramePr>
          <p:cNvPr id="5" name="object 5"/>
          <p:cNvGraphicFramePr>
            <a:graphicFrameLocks noGrp="1"/>
          </p:cNvGraphicFramePr>
          <p:nvPr/>
        </p:nvGraphicFramePr>
        <p:xfrm>
          <a:off x="717550" y="1430616"/>
          <a:ext cx="5143500" cy="2559737"/>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2125345">
                  <a:extLst>
                    <a:ext uri="{9D8B030D-6E8A-4147-A177-3AD203B41FA5}">
                      <a16:colId xmlns:a16="http://schemas.microsoft.com/office/drawing/2014/main" val="20001"/>
                    </a:ext>
                  </a:extLst>
                </a:gridCol>
                <a:gridCol w="2103755">
                  <a:extLst>
                    <a:ext uri="{9D8B030D-6E8A-4147-A177-3AD203B41FA5}">
                      <a16:colId xmlns:a16="http://schemas.microsoft.com/office/drawing/2014/main" val="20002"/>
                    </a:ext>
                  </a:extLst>
                </a:gridCol>
              </a:tblGrid>
              <a:tr h="606209">
                <a:tc>
                  <a:txBody>
                    <a:bodyPr/>
                    <a:lstStyle/>
                    <a:p>
                      <a:pPr marL="2540" algn="ctr">
                        <a:lnSpc>
                          <a:spcPct val="100000"/>
                        </a:lnSpc>
                        <a:spcBef>
                          <a:spcPts val="1960"/>
                        </a:spcBef>
                      </a:pPr>
                      <a:r>
                        <a:rPr sz="2000" i="1" dirty="0">
                          <a:latin typeface="Arial"/>
                          <a:cs typeface="Arial"/>
                        </a:rPr>
                        <a:t>Job</a:t>
                      </a:r>
                      <a:endParaRPr sz="2000">
                        <a:latin typeface="Arial"/>
                        <a:cs typeface="Arial"/>
                      </a:endParaRPr>
                    </a:p>
                  </a:txBody>
                  <a:tcPr marL="0" marR="0" marT="248920" marB="0">
                    <a:lnB w="38100">
                      <a:solidFill>
                        <a:srgbClr val="000000"/>
                      </a:solidFill>
                      <a:prstDash val="solid"/>
                    </a:lnB>
                    <a:solidFill>
                      <a:srgbClr val="F7FAFF"/>
                    </a:solidFill>
                  </a:tcPr>
                </a:tc>
                <a:tc>
                  <a:txBody>
                    <a:bodyPr/>
                    <a:lstStyle/>
                    <a:p>
                      <a:pPr marL="12065" algn="ctr">
                        <a:lnSpc>
                          <a:spcPts val="2085"/>
                        </a:lnSpc>
                      </a:pPr>
                      <a:r>
                        <a:rPr sz="2000" i="1" spc="5" dirty="0">
                          <a:latin typeface="Arial"/>
                          <a:cs typeface="Arial"/>
                        </a:rPr>
                        <a:t>Work </a:t>
                      </a:r>
                      <a:r>
                        <a:rPr sz="2000" i="1" spc="-5" dirty="0">
                          <a:latin typeface="Arial"/>
                          <a:cs typeface="Arial"/>
                        </a:rPr>
                        <a:t>Center</a:t>
                      </a:r>
                      <a:r>
                        <a:rPr sz="2000" i="1" spc="-55" dirty="0">
                          <a:latin typeface="Arial"/>
                          <a:cs typeface="Arial"/>
                        </a:rPr>
                        <a:t> </a:t>
                      </a:r>
                      <a:r>
                        <a:rPr sz="2000" i="1" spc="-5" dirty="0">
                          <a:latin typeface="Arial"/>
                          <a:cs typeface="Arial"/>
                        </a:rPr>
                        <a:t>1</a:t>
                      </a:r>
                      <a:endParaRPr sz="2000">
                        <a:latin typeface="Arial"/>
                        <a:cs typeface="Arial"/>
                      </a:endParaRPr>
                    </a:p>
                    <a:p>
                      <a:pPr marL="8890" algn="ctr">
                        <a:lnSpc>
                          <a:spcPts val="2280"/>
                        </a:lnSpc>
                      </a:pPr>
                      <a:r>
                        <a:rPr sz="2000" i="1" spc="-5" dirty="0">
                          <a:latin typeface="Arial"/>
                          <a:cs typeface="Arial"/>
                        </a:rPr>
                        <a:t>(Drill</a:t>
                      </a:r>
                      <a:r>
                        <a:rPr sz="2000" i="1" spc="15" dirty="0">
                          <a:latin typeface="Arial"/>
                          <a:cs typeface="Arial"/>
                        </a:rPr>
                        <a:t> </a:t>
                      </a:r>
                      <a:r>
                        <a:rPr sz="2000" i="1" spc="-5" dirty="0">
                          <a:latin typeface="Arial"/>
                          <a:cs typeface="Arial"/>
                        </a:rPr>
                        <a:t>Press)</a:t>
                      </a:r>
                      <a:endParaRPr sz="2000">
                        <a:latin typeface="Arial"/>
                        <a:cs typeface="Arial"/>
                      </a:endParaRPr>
                    </a:p>
                  </a:txBody>
                  <a:tcPr marL="0" marR="0" marT="0" marB="0">
                    <a:lnB w="38100">
                      <a:solidFill>
                        <a:srgbClr val="000000"/>
                      </a:solidFill>
                      <a:prstDash val="solid"/>
                    </a:lnB>
                    <a:solidFill>
                      <a:srgbClr val="F7FAFF"/>
                    </a:solidFill>
                  </a:tcPr>
                </a:tc>
                <a:tc>
                  <a:txBody>
                    <a:bodyPr/>
                    <a:lstStyle/>
                    <a:p>
                      <a:pPr marL="6985" algn="ctr">
                        <a:lnSpc>
                          <a:spcPts val="2085"/>
                        </a:lnSpc>
                      </a:pPr>
                      <a:r>
                        <a:rPr sz="2000" i="1" dirty="0">
                          <a:latin typeface="Arial"/>
                          <a:cs typeface="Arial"/>
                        </a:rPr>
                        <a:t>Work </a:t>
                      </a:r>
                      <a:r>
                        <a:rPr sz="2000" i="1" spc="-10" dirty="0">
                          <a:latin typeface="Arial"/>
                          <a:cs typeface="Arial"/>
                        </a:rPr>
                        <a:t>Center</a:t>
                      </a:r>
                      <a:r>
                        <a:rPr sz="2000" i="1" spc="-45" dirty="0">
                          <a:latin typeface="Arial"/>
                          <a:cs typeface="Arial"/>
                        </a:rPr>
                        <a:t> </a:t>
                      </a:r>
                      <a:r>
                        <a:rPr sz="2000" i="1" spc="-5" dirty="0">
                          <a:latin typeface="Arial"/>
                          <a:cs typeface="Arial"/>
                        </a:rPr>
                        <a:t>2</a:t>
                      </a:r>
                      <a:endParaRPr sz="2000">
                        <a:latin typeface="Arial"/>
                        <a:cs typeface="Arial"/>
                      </a:endParaRPr>
                    </a:p>
                    <a:p>
                      <a:pPr marL="9525" algn="ctr">
                        <a:lnSpc>
                          <a:spcPts val="2280"/>
                        </a:lnSpc>
                      </a:pPr>
                      <a:r>
                        <a:rPr sz="2000" i="1" spc="-5" dirty="0">
                          <a:latin typeface="Arial"/>
                          <a:cs typeface="Arial"/>
                        </a:rPr>
                        <a:t>(Lathe)</a:t>
                      </a:r>
                      <a:endParaRPr sz="2000">
                        <a:latin typeface="Arial"/>
                        <a:cs typeface="Arial"/>
                      </a:endParaRPr>
                    </a:p>
                  </a:txBody>
                  <a:tcPr marL="0" marR="0" marT="0" marB="0">
                    <a:lnB w="38100">
                      <a:solidFill>
                        <a:srgbClr val="000000"/>
                      </a:solidFill>
                      <a:prstDash val="solid"/>
                    </a:lnB>
                    <a:solidFill>
                      <a:srgbClr val="F7FAFF"/>
                    </a:solidFill>
                  </a:tcPr>
                </a:tc>
                <a:extLst>
                  <a:ext uri="{0D108BD9-81ED-4DB2-BD59-A6C34878D82A}">
                    <a16:rowId xmlns:a16="http://schemas.microsoft.com/office/drawing/2014/main" val="10000"/>
                  </a:ext>
                </a:extLst>
              </a:tr>
              <a:tr h="408357">
                <a:tc>
                  <a:txBody>
                    <a:bodyPr/>
                    <a:lstStyle/>
                    <a:p>
                      <a:pPr algn="ctr">
                        <a:lnSpc>
                          <a:spcPct val="100000"/>
                        </a:lnSpc>
                        <a:spcBef>
                          <a:spcPts val="355"/>
                        </a:spcBef>
                      </a:pPr>
                      <a:r>
                        <a:rPr sz="2000" i="1" dirty="0">
                          <a:latin typeface="Arial"/>
                          <a:cs typeface="Arial"/>
                        </a:rPr>
                        <a:t>A</a:t>
                      </a:r>
                      <a:endParaRPr sz="2000">
                        <a:latin typeface="Arial"/>
                        <a:cs typeface="Arial"/>
                      </a:endParaRPr>
                    </a:p>
                  </a:txBody>
                  <a:tcPr marL="0" marR="0" marT="45085" marB="0">
                    <a:lnT w="38100">
                      <a:solidFill>
                        <a:srgbClr val="000000"/>
                      </a:solidFill>
                      <a:prstDash val="solid"/>
                    </a:lnT>
                    <a:solidFill>
                      <a:srgbClr val="F7FAFF"/>
                    </a:solidFill>
                  </a:tcPr>
                </a:tc>
                <a:tc>
                  <a:txBody>
                    <a:bodyPr/>
                    <a:lstStyle/>
                    <a:p>
                      <a:pPr marR="970280" algn="r">
                        <a:lnSpc>
                          <a:spcPct val="100000"/>
                        </a:lnSpc>
                        <a:spcBef>
                          <a:spcPts val="355"/>
                        </a:spcBef>
                      </a:pPr>
                      <a:r>
                        <a:rPr sz="2000" dirty="0">
                          <a:latin typeface="Arial"/>
                          <a:cs typeface="Arial"/>
                        </a:rPr>
                        <a:t>5</a:t>
                      </a:r>
                      <a:endParaRPr sz="2000">
                        <a:latin typeface="Arial"/>
                        <a:cs typeface="Arial"/>
                      </a:endParaRPr>
                    </a:p>
                  </a:txBody>
                  <a:tcPr marL="0" marR="0" marT="45085" marB="0">
                    <a:lnT w="38100">
                      <a:solidFill>
                        <a:srgbClr val="000000"/>
                      </a:solidFill>
                      <a:prstDash val="solid"/>
                    </a:lnT>
                    <a:solidFill>
                      <a:srgbClr val="F7FAFF"/>
                    </a:solidFill>
                  </a:tcPr>
                </a:tc>
                <a:tc>
                  <a:txBody>
                    <a:bodyPr/>
                    <a:lstStyle/>
                    <a:p>
                      <a:pPr marR="939165" algn="r">
                        <a:lnSpc>
                          <a:spcPct val="100000"/>
                        </a:lnSpc>
                        <a:spcBef>
                          <a:spcPts val="355"/>
                        </a:spcBef>
                      </a:pPr>
                      <a:r>
                        <a:rPr sz="2000" dirty="0">
                          <a:latin typeface="Arial"/>
                          <a:cs typeface="Arial"/>
                        </a:rPr>
                        <a:t>2</a:t>
                      </a:r>
                      <a:endParaRPr sz="2000">
                        <a:latin typeface="Arial"/>
                        <a:cs typeface="Arial"/>
                      </a:endParaRPr>
                    </a:p>
                  </a:txBody>
                  <a:tcPr marL="0" marR="0" marT="45085" marB="0">
                    <a:lnT w="38100">
                      <a:solidFill>
                        <a:srgbClr val="000000"/>
                      </a:solidFill>
                      <a:prstDash val="solid"/>
                    </a:lnT>
                    <a:solidFill>
                      <a:srgbClr val="F7FAFF"/>
                    </a:solidFill>
                  </a:tcPr>
                </a:tc>
                <a:extLst>
                  <a:ext uri="{0D108BD9-81ED-4DB2-BD59-A6C34878D82A}">
                    <a16:rowId xmlns:a16="http://schemas.microsoft.com/office/drawing/2014/main" val="10001"/>
                  </a:ext>
                </a:extLst>
              </a:tr>
              <a:tr h="393763">
                <a:tc>
                  <a:txBody>
                    <a:bodyPr/>
                    <a:lstStyle/>
                    <a:p>
                      <a:pPr algn="ctr">
                        <a:lnSpc>
                          <a:spcPct val="100000"/>
                        </a:lnSpc>
                        <a:spcBef>
                          <a:spcPts val="240"/>
                        </a:spcBef>
                      </a:pPr>
                      <a:r>
                        <a:rPr sz="2000" i="1" dirty="0">
                          <a:latin typeface="Arial"/>
                          <a:cs typeface="Arial"/>
                        </a:rPr>
                        <a:t>B</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dirty="0">
                          <a:latin typeface="Arial"/>
                          <a:cs typeface="Arial"/>
                        </a:rPr>
                        <a:t>3</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6</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2"/>
                  </a:ext>
                </a:extLst>
              </a:tr>
              <a:tr h="393689">
                <a:tc>
                  <a:txBody>
                    <a:bodyPr/>
                    <a:lstStyle/>
                    <a:p>
                      <a:pPr marL="1905" algn="ctr">
                        <a:lnSpc>
                          <a:spcPct val="100000"/>
                        </a:lnSpc>
                        <a:spcBef>
                          <a:spcPts val="240"/>
                        </a:spcBef>
                      </a:pPr>
                      <a:r>
                        <a:rPr sz="2000" i="1" dirty="0">
                          <a:latin typeface="Arial"/>
                          <a:cs typeface="Arial"/>
                        </a:rPr>
                        <a:t>C</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dirty="0">
                          <a:latin typeface="Arial"/>
                          <a:cs typeface="Arial"/>
                        </a:rPr>
                        <a:t>8</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4</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3"/>
                  </a:ext>
                </a:extLst>
              </a:tr>
              <a:tr h="406760">
                <a:tc>
                  <a:txBody>
                    <a:bodyPr/>
                    <a:lstStyle/>
                    <a:p>
                      <a:pPr marL="1905" algn="ctr">
                        <a:lnSpc>
                          <a:spcPct val="100000"/>
                        </a:lnSpc>
                        <a:spcBef>
                          <a:spcPts val="240"/>
                        </a:spcBef>
                      </a:pPr>
                      <a:r>
                        <a:rPr sz="2000" i="1" dirty="0">
                          <a:latin typeface="Arial"/>
                          <a:cs typeface="Arial"/>
                        </a:rPr>
                        <a:t>D</a:t>
                      </a:r>
                      <a:endParaRPr sz="2000">
                        <a:latin typeface="Arial"/>
                        <a:cs typeface="Arial"/>
                      </a:endParaRPr>
                    </a:p>
                  </a:txBody>
                  <a:tcPr marL="0" marR="0" marT="30480" marB="0">
                    <a:solidFill>
                      <a:srgbClr val="F7FAFF"/>
                    </a:solidFill>
                  </a:tcPr>
                </a:tc>
                <a:tc>
                  <a:txBody>
                    <a:bodyPr/>
                    <a:lstStyle/>
                    <a:p>
                      <a:pPr marR="970280" algn="r">
                        <a:lnSpc>
                          <a:spcPct val="100000"/>
                        </a:lnSpc>
                        <a:spcBef>
                          <a:spcPts val="240"/>
                        </a:spcBef>
                      </a:pPr>
                      <a:r>
                        <a:rPr sz="2000" spc="-5" dirty="0">
                          <a:latin typeface="Arial"/>
                          <a:cs typeface="Arial"/>
                        </a:rPr>
                        <a:t>10</a:t>
                      </a:r>
                      <a:endParaRPr sz="2000">
                        <a:latin typeface="Arial"/>
                        <a:cs typeface="Arial"/>
                      </a:endParaRPr>
                    </a:p>
                  </a:txBody>
                  <a:tcPr marL="0" marR="0" marT="30480" marB="0">
                    <a:solidFill>
                      <a:srgbClr val="F7FAFF"/>
                    </a:solidFill>
                  </a:tcPr>
                </a:tc>
                <a:tc>
                  <a:txBody>
                    <a:bodyPr/>
                    <a:lstStyle/>
                    <a:p>
                      <a:pPr marR="939165" algn="r">
                        <a:lnSpc>
                          <a:spcPct val="100000"/>
                        </a:lnSpc>
                        <a:spcBef>
                          <a:spcPts val="240"/>
                        </a:spcBef>
                      </a:pPr>
                      <a:r>
                        <a:rPr sz="2000" dirty="0">
                          <a:latin typeface="Arial"/>
                          <a:cs typeface="Arial"/>
                        </a:rPr>
                        <a:t>7</a:t>
                      </a:r>
                      <a:endParaRPr sz="2000">
                        <a:latin typeface="Arial"/>
                        <a:cs typeface="Arial"/>
                      </a:endParaRPr>
                    </a:p>
                  </a:txBody>
                  <a:tcPr marL="0" marR="0" marT="30480" marB="0">
                    <a:solidFill>
                      <a:srgbClr val="F7FAFF"/>
                    </a:solidFill>
                  </a:tcPr>
                </a:tc>
                <a:extLst>
                  <a:ext uri="{0D108BD9-81ED-4DB2-BD59-A6C34878D82A}">
                    <a16:rowId xmlns:a16="http://schemas.microsoft.com/office/drawing/2014/main" val="10004"/>
                  </a:ext>
                </a:extLst>
              </a:tr>
              <a:tr h="350959">
                <a:tc>
                  <a:txBody>
                    <a:bodyPr/>
                    <a:lstStyle/>
                    <a:p>
                      <a:pPr algn="ctr">
                        <a:lnSpc>
                          <a:spcPts val="2320"/>
                        </a:lnSpc>
                        <a:spcBef>
                          <a:spcPts val="340"/>
                        </a:spcBef>
                      </a:pPr>
                      <a:r>
                        <a:rPr sz="2000" i="1" dirty="0">
                          <a:latin typeface="Arial"/>
                          <a:cs typeface="Arial"/>
                        </a:rPr>
                        <a:t>E</a:t>
                      </a:r>
                      <a:endParaRPr sz="2000">
                        <a:latin typeface="Arial"/>
                        <a:cs typeface="Arial"/>
                      </a:endParaRPr>
                    </a:p>
                  </a:txBody>
                  <a:tcPr marL="0" marR="0" marT="43180" marB="0">
                    <a:solidFill>
                      <a:srgbClr val="F7FAFF"/>
                    </a:solidFill>
                  </a:tcPr>
                </a:tc>
                <a:tc>
                  <a:txBody>
                    <a:bodyPr/>
                    <a:lstStyle/>
                    <a:p>
                      <a:pPr marR="970280" algn="r">
                        <a:lnSpc>
                          <a:spcPts val="2320"/>
                        </a:lnSpc>
                        <a:spcBef>
                          <a:spcPts val="340"/>
                        </a:spcBef>
                      </a:pPr>
                      <a:r>
                        <a:rPr sz="2000" dirty="0">
                          <a:latin typeface="Arial"/>
                          <a:cs typeface="Arial"/>
                        </a:rPr>
                        <a:t>7</a:t>
                      </a:r>
                      <a:endParaRPr sz="2000">
                        <a:latin typeface="Arial"/>
                        <a:cs typeface="Arial"/>
                      </a:endParaRPr>
                    </a:p>
                  </a:txBody>
                  <a:tcPr marL="0" marR="0" marT="43180" marB="0">
                    <a:solidFill>
                      <a:srgbClr val="F7FAFF"/>
                    </a:solidFill>
                  </a:tcPr>
                </a:tc>
                <a:tc>
                  <a:txBody>
                    <a:bodyPr/>
                    <a:lstStyle/>
                    <a:p>
                      <a:pPr marR="939165" algn="r">
                        <a:lnSpc>
                          <a:spcPts val="2320"/>
                        </a:lnSpc>
                        <a:spcBef>
                          <a:spcPts val="340"/>
                        </a:spcBef>
                      </a:pPr>
                      <a:r>
                        <a:rPr sz="2000" spc="-5" dirty="0">
                          <a:latin typeface="Arial"/>
                          <a:cs typeface="Arial"/>
                        </a:rPr>
                        <a:t>12</a:t>
                      </a:r>
                      <a:endParaRPr sz="2000">
                        <a:latin typeface="Arial"/>
                        <a:cs typeface="Arial"/>
                      </a:endParaRPr>
                    </a:p>
                  </a:txBody>
                  <a:tcPr marL="0" marR="0" marT="43180" marB="0">
                    <a:solidFill>
                      <a:srgbClr val="F7FAFF"/>
                    </a:solidFill>
                  </a:tcPr>
                </a:tc>
                <a:extLst>
                  <a:ext uri="{0D108BD9-81ED-4DB2-BD59-A6C34878D82A}">
                    <a16:rowId xmlns:a16="http://schemas.microsoft.com/office/drawing/2014/main" val="10005"/>
                  </a:ext>
                </a:extLst>
              </a:tr>
            </a:tbl>
          </a:graphicData>
        </a:graphic>
      </p:graphicFrame>
      <p:grpSp>
        <p:nvGrpSpPr>
          <p:cNvPr id="6" name="object 6"/>
          <p:cNvGrpSpPr/>
          <p:nvPr/>
        </p:nvGrpSpPr>
        <p:grpSpPr>
          <a:xfrm>
            <a:off x="798576" y="4169664"/>
            <a:ext cx="7422515" cy="1701164"/>
            <a:chOff x="798576" y="4169664"/>
            <a:chExt cx="7422515" cy="1701164"/>
          </a:xfrm>
        </p:grpSpPr>
        <p:sp>
          <p:nvSpPr>
            <p:cNvPr id="7" name="object 7"/>
            <p:cNvSpPr/>
            <p:nvPr/>
          </p:nvSpPr>
          <p:spPr>
            <a:xfrm>
              <a:off x="8011668" y="5167884"/>
              <a:ext cx="189230" cy="683260"/>
            </a:xfrm>
            <a:custGeom>
              <a:avLst/>
              <a:gdLst/>
              <a:ahLst/>
              <a:cxnLst/>
              <a:rect l="l" t="t" r="r" b="b"/>
              <a:pathLst>
                <a:path w="189229" h="683260">
                  <a:moveTo>
                    <a:pt x="188975" y="0"/>
                  </a:moveTo>
                  <a:lnTo>
                    <a:pt x="0" y="0"/>
                  </a:lnTo>
                  <a:lnTo>
                    <a:pt x="0" y="682751"/>
                  </a:lnTo>
                  <a:lnTo>
                    <a:pt x="188975" y="682751"/>
                  </a:lnTo>
                  <a:lnTo>
                    <a:pt x="188975" y="0"/>
                  </a:lnTo>
                  <a:close/>
                </a:path>
              </a:pathLst>
            </a:custGeom>
            <a:solidFill>
              <a:srgbClr val="AE67FF"/>
            </a:solidFill>
          </p:spPr>
          <p:txBody>
            <a:bodyPr wrap="square" lIns="0" tIns="0" rIns="0" bIns="0" rtlCol="0"/>
            <a:lstStyle/>
            <a:p>
              <a:endParaRPr/>
            </a:p>
          </p:txBody>
        </p:sp>
        <p:sp>
          <p:nvSpPr>
            <p:cNvPr id="8" name="object 8"/>
            <p:cNvSpPr/>
            <p:nvPr/>
          </p:nvSpPr>
          <p:spPr>
            <a:xfrm>
              <a:off x="8011668" y="5167884"/>
              <a:ext cx="189230" cy="683260"/>
            </a:xfrm>
            <a:custGeom>
              <a:avLst/>
              <a:gdLst/>
              <a:ahLst/>
              <a:cxnLst/>
              <a:rect l="l" t="t" r="r" b="b"/>
              <a:pathLst>
                <a:path w="189229" h="683260">
                  <a:moveTo>
                    <a:pt x="0" y="682751"/>
                  </a:moveTo>
                  <a:lnTo>
                    <a:pt x="188975" y="682751"/>
                  </a:lnTo>
                  <a:lnTo>
                    <a:pt x="188975" y="0"/>
                  </a:lnTo>
                  <a:lnTo>
                    <a:pt x="0" y="0"/>
                  </a:lnTo>
                  <a:lnTo>
                    <a:pt x="0" y="682751"/>
                  </a:lnTo>
                  <a:close/>
                </a:path>
              </a:pathLst>
            </a:custGeom>
            <a:ln w="39624">
              <a:solidFill>
                <a:srgbClr val="000000"/>
              </a:solidFill>
            </a:ln>
          </p:spPr>
          <p:txBody>
            <a:bodyPr wrap="square" lIns="0" tIns="0" rIns="0" bIns="0" rtlCol="0"/>
            <a:lstStyle/>
            <a:p>
              <a:endParaRPr/>
            </a:p>
          </p:txBody>
        </p:sp>
        <p:sp>
          <p:nvSpPr>
            <p:cNvPr id="9" name="object 9"/>
            <p:cNvSpPr/>
            <p:nvPr/>
          </p:nvSpPr>
          <p:spPr>
            <a:xfrm>
              <a:off x="7655052" y="4488180"/>
              <a:ext cx="546100" cy="683260"/>
            </a:xfrm>
            <a:custGeom>
              <a:avLst/>
              <a:gdLst/>
              <a:ahLst/>
              <a:cxnLst/>
              <a:rect l="l" t="t" r="r" b="b"/>
              <a:pathLst>
                <a:path w="546100" h="683260">
                  <a:moveTo>
                    <a:pt x="545592" y="0"/>
                  </a:moveTo>
                  <a:lnTo>
                    <a:pt x="0" y="0"/>
                  </a:lnTo>
                  <a:lnTo>
                    <a:pt x="0" y="682752"/>
                  </a:lnTo>
                  <a:lnTo>
                    <a:pt x="545592" y="682752"/>
                  </a:lnTo>
                  <a:lnTo>
                    <a:pt x="545592" y="0"/>
                  </a:lnTo>
                  <a:close/>
                </a:path>
              </a:pathLst>
            </a:custGeom>
            <a:solidFill>
              <a:srgbClr val="AE67FF"/>
            </a:solidFill>
          </p:spPr>
          <p:txBody>
            <a:bodyPr wrap="square" lIns="0" tIns="0" rIns="0" bIns="0" rtlCol="0"/>
            <a:lstStyle/>
            <a:p>
              <a:endParaRPr/>
            </a:p>
          </p:txBody>
        </p:sp>
        <p:sp>
          <p:nvSpPr>
            <p:cNvPr id="10" name="object 10"/>
            <p:cNvSpPr/>
            <p:nvPr/>
          </p:nvSpPr>
          <p:spPr>
            <a:xfrm>
              <a:off x="7655052" y="4488180"/>
              <a:ext cx="546100" cy="683260"/>
            </a:xfrm>
            <a:custGeom>
              <a:avLst/>
              <a:gdLst/>
              <a:ahLst/>
              <a:cxnLst/>
              <a:rect l="l" t="t" r="r" b="b"/>
              <a:pathLst>
                <a:path w="546100" h="683260">
                  <a:moveTo>
                    <a:pt x="0" y="682752"/>
                  </a:moveTo>
                  <a:lnTo>
                    <a:pt x="545592" y="682752"/>
                  </a:lnTo>
                  <a:lnTo>
                    <a:pt x="545592" y="0"/>
                  </a:lnTo>
                  <a:lnTo>
                    <a:pt x="0" y="0"/>
                  </a:lnTo>
                  <a:lnTo>
                    <a:pt x="0" y="682752"/>
                  </a:lnTo>
                  <a:close/>
                </a:path>
              </a:pathLst>
            </a:custGeom>
            <a:ln w="39624">
              <a:solidFill>
                <a:srgbClr val="000000"/>
              </a:solidFill>
            </a:ln>
          </p:spPr>
          <p:txBody>
            <a:bodyPr wrap="square" lIns="0" tIns="0" rIns="0" bIns="0" rtlCol="0"/>
            <a:lstStyle/>
            <a:p>
              <a:endParaRPr/>
            </a:p>
          </p:txBody>
        </p:sp>
        <p:sp>
          <p:nvSpPr>
            <p:cNvPr id="11" name="object 11"/>
            <p:cNvSpPr/>
            <p:nvPr/>
          </p:nvSpPr>
          <p:spPr>
            <a:xfrm>
              <a:off x="3217164" y="5167884"/>
              <a:ext cx="186055" cy="683260"/>
            </a:xfrm>
            <a:custGeom>
              <a:avLst/>
              <a:gdLst/>
              <a:ahLst/>
              <a:cxnLst/>
              <a:rect l="l" t="t" r="r" b="b"/>
              <a:pathLst>
                <a:path w="186054" h="683260">
                  <a:moveTo>
                    <a:pt x="185927" y="0"/>
                  </a:moveTo>
                  <a:lnTo>
                    <a:pt x="0" y="0"/>
                  </a:lnTo>
                  <a:lnTo>
                    <a:pt x="0" y="682751"/>
                  </a:lnTo>
                  <a:lnTo>
                    <a:pt x="185927" y="682751"/>
                  </a:lnTo>
                  <a:lnTo>
                    <a:pt x="185927" y="0"/>
                  </a:lnTo>
                  <a:close/>
                </a:path>
              </a:pathLst>
            </a:custGeom>
            <a:solidFill>
              <a:srgbClr val="AE67FF"/>
            </a:solidFill>
          </p:spPr>
          <p:txBody>
            <a:bodyPr wrap="square" lIns="0" tIns="0" rIns="0" bIns="0" rtlCol="0"/>
            <a:lstStyle/>
            <a:p>
              <a:endParaRPr/>
            </a:p>
          </p:txBody>
        </p:sp>
        <p:sp>
          <p:nvSpPr>
            <p:cNvPr id="12" name="object 12"/>
            <p:cNvSpPr/>
            <p:nvPr/>
          </p:nvSpPr>
          <p:spPr>
            <a:xfrm>
              <a:off x="3217164" y="5167884"/>
              <a:ext cx="186055" cy="683260"/>
            </a:xfrm>
            <a:custGeom>
              <a:avLst/>
              <a:gdLst/>
              <a:ahLst/>
              <a:cxnLst/>
              <a:rect l="l" t="t" r="r" b="b"/>
              <a:pathLst>
                <a:path w="186054" h="683260">
                  <a:moveTo>
                    <a:pt x="0" y="682751"/>
                  </a:moveTo>
                  <a:lnTo>
                    <a:pt x="185927" y="682751"/>
                  </a:lnTo>
                  <a:lnTo>
                    <a:pt x="185927" y="0"/>
                  </a:lnTo>
                  <a:lnTo>
                    <a:pt x="0" y="0"/>
                  </a:lnTo>
                  <a:lnTo>
                    <a:pt x="0" y="682751"/>
                  </a:lnTo>
                  <a:close/>
                </a:path>
              </a:pathLst>
            </a:custGeom>
            <a:ln w="39624">
              <a:solidFill>
                <a:srgbClr val="000000"/>
              </a:solidFill>
            </a:ln>
          </p:spPr>
          <p:txBody>
            <a:bodyPr wrap="square" lIns="0" tIns="0" rIns="0" bIns="0" rtlCol="0"/>
            <a:lstStyle/>
            <a:p>
              <a:endParaRPr/>
            </a:p>
          </p:txBody>
        </p:sp>
        <p:sp>
          <p:nvSpPr>
            <p:cNvPr id="13" name="object 13"/>
            <p:cNvSpPr/>
            <p:nvPr/>
          </p:nvSpPr>
          <p:spPr>
            <a:xfrm>
              <a:off x="1592580" y="5167884"/>
              <a:ext cx="542925" cy="683260"/>
            </a:xfrm>
            <a:custGeom>
              <a:avLst/>
              <a:gdLst/>
              <a:ahLst/>
              <a:cxnLst/>
              <a:rect l="l" t="t" r="r" b="b"/>
              <a:pathLst>
                <a:path w="542925" h="683260">
                  <a:moveTo>
                    <a:pt x="542544" y="0"/>
                  </a:moveTo>
                  <a:lnTo>
                    <a:pt x="0" y="0"/>
                  </a:lnTo>
                  <a:lnTo>
                    <a:pt x="0" y="682751"/>
                  </a:lnTo>
                  <a:lnTo>
                    <a:pt x="542544" y="682751"/>
                  </a:lnTo>
                  <a:lnTo>
                    <a:pt x="542544" y="0"/>
                  </a:lnTo>
                  <a:close/>
                </a:path>
              </a:pathLst>
            </a:custGeom>
            <a:solidFill>
              <a:srgbClr val="AE67FF"/>
            </a:solidFill>
          </p:spPr>
          <p:txBody>
            <a:bodyPr wrap="square" lIns="0" tIns="0" rIns="0" bIns="0" rtlCol="0"/>
            <a:lstStyle/>
            <a:p>
              <a:endParaRPr/>
            </a:p>
          </p:txBody>
        </p:sp>
        <p:sp>
          <p:nvSpPr>
            <p:cNvPr id="14" name="object 14"/>
            <p:cNvSpPr/>
            <p:nvPr/>
          </p:nvSpPr>
          <p:spPr>
            <a:xfrm>
              <a:off x="1592580" y="5167884"/>
              <a:ext cx="542925" cy="683260"/>
            </a:xfrm>
            <a:custGeom>
              <a:avLst/>
              <a:gdLst/>
              <a:ahLst/>
              <a:cxnLst/>
              <a:rect l="l" t="t" r="r" b="b"/>
              <a:pathLst>
                <a:path w="542925" h="683260">
                  <a:moveTo>
                    <a:pt x="0" y="682751"/>
                  </a:moveTo>
                  <a:lnTo>
                    <a:pt x="542544" y="682751"/>
                  </a:lnTo>
                  <a:lnTo>
                    <a:pt x="542544" y="0"/>
                  </a:lnTo>
                  <a:lnTo>
                    <a:pt x="0" y="0"/>
                  </a:lnTo>
                  <a:lnTo>
                    <a:pt x="0" y="682751"/>
                  </a:lnTo>
                  <a:close/>
                </a:path>
              </a:pathLst>
            </a:custGeom>
            <a:ln w="39624">
              <a:solidFill>
                <a:srgbClr val="000000"/>
              </a:solidFill>
            </a:ln>
          </p:spPr>
          <p:txBody>
            <a:bodyPr wrap="square" lIns="0" tIns="0" rIns="0" bIns="0" rtlCol="0"/>
            <a:lstStyle/>
            <a:p>
              <a:endParaRPr/>
            </a:p>
          </p:txBody>
        </p:sp>
        <p:sp>
          <p:nvSpPr>
            <p:cNvPr id="15" name="object 15"/>
            <p:cNvSpPr/>
            <p:nvPr/>
          </p:nvSpPr>
          <p:spPr>
            <a:xfrm>
              <a:off x="798576" y="4169664"/>
              <a:ext cx="661416" cy="411480"/>
            </a:xfrm>
            <a:prstGeom prst="rect">
              <a:avLst/>
            </a:prstGeom>
            <a:blipFill>
              <a:blip r:embed="rId2" cstate="print"/>
              <a:stretch>
                <a:fillRect/>
              </a:stretch>
            </a:blipFill>
          </p:spPr>
          <p:txBody>
            <a:bodyPr wrap="square" lIns="0" tIns="0" rIns="0" bIns="0" rtlCol="0"/>
            <a:lstStyle/>
            <a:p>
              <a:endParaRPr/>
            </a:p>
          </p:txBody>
        </p:sp>
        <p:sp>
          <p:nvSpPr>
            <p:cNvPr id="16" name="object 16"/>
            <p:cNvSpPr/>
            <p:nvPr/>
          </p:nvSpPr>
          <p:spPr>
            <a:xfrm>
              <a:off x="1463040" y="4169664"/>
              <a:ext cx="347472" cy="411480"/>
            </a:xfrm>
            <a:prstGeom prst="rect">
              <a:avLst/>
            </a:prstGeom>
            <a:blipFill>
              <a:blip r:embed="rId3" cstate="print"/>
              <a:stretch>
                <a:fillRect/>
              </a:stretch>
            </a:blipFill>
          </p:spPr>
          <p:txBody>
            <a:bodyPr wrap="square" lIns="0" tIns="0" rIns="0" bIns="0" rtlCol="0"/>
            <a:lstStyle/>
            <a:p>
              <a:endParaRPr/>
            </a:p>
          </p:txBody>
        </p:sp>
      </p:grpSp>
      <p:sp>
        <p:nvSpPr>
          <p:cNvPr id="17" name="object 17"/>
          <p:cNvSpPr txBox="1"/>
          <p:nvPr/>
        </p:nvSpPr>
        <p:spPr>
          <a:xfrm>
            <a:off x="901395" y="4219397"/>
            <a:ext cx="788670" cy="238125"/>
          </a:xfrm>
          <a:prstGeom prst="rect">
            <a:avLst/>
          </a:prstGeom>
        </p:spPr>
        <p:txBody>
          <a:bodyPr vert="horz" wrap="square" lIns="0" tIns="12065" rIns="0" bIns="0" rtlCol="0">
            <a:spAutoFit/>
          </a:bodyPr>
          <a:lstStyle/>
          <a:p>
            <a:pPr marL="12700">
              <a:lnSpc>
                <a:spcPct val="100000"/>
              </a:lnSpc>
              <a:spcBef>
                <a:spcPts val="95"/>
              </a:spcBef>
              <a:tabLst>
                <a:tab pos="676910" algn="l"/>
              </a:tabLst>
            </a:pPr>
            <a:r>
              <a:rPr sz="1400" b="1" i="1" spc="-45" dirty="0">
                <a:latin typeface="Arial"/>
                <a:cs typeface="Arial"/>
              </a:rPr>
              <a:t>T</a:t>
            </a:r>
            <a:r>
              <a:rPr sz="1400" b="1" i="1" spc="-5" dirty="0">
                <a:latin typeface="Arial"/>
                <a:cs typeface="Arial"/>
              </a:rPr>
              <a:t>ime</a:t>
            </a:r>
            <a:r>
              <a:rPr sz="1400" b="1" i="1" dirty="0">
                <a:latin typeface="Arial"/>
                <a:cs typeface="Arial"/>
              </a:rPr>
              <a:t>	</a:t>
            </a:r>
            <a:r>
              <a:rPr sz="1400" b="1" i="1" spc="-5" dirty="0">
                <a:latin typeface="Arial"/>
                <a:cs typeface="Arial"/>
              </a:rPr>
              <a:t>0</a:t>
            </a:r>
            <a:endParaRPr sz="1400">
              <a:latin typeface="Arial"/>
              <a:cs typeface="Arial"/>
            </a:endParaRPr>
          </a:p>
        </p:txBody>
      </p:sp>
      <p:sp>
        <p:nvSpPr>
          <p:cNvPr id="18" name="object 18"/>
          <p:cNvSpPr/>
          <p:nvPr/>
        </p:nvSpPr>
        <p:spPr>
          <a:xfrm>
            <a:off x="2036064" y="4169664"/>
            <a:ext cx="347472" cy="411480"/>
          </a:xfrm>
          <a:prstGeom prst="rect">
            <a:avLst/>
          </a:prstGeom>
          <a:blipFill>
            <a:blip r:embed="rId4" cstate="print"/>
            <a:stretch>
              <a:fillRect/>
            </a:stretch>
          </a:blipFill>
        </p:spPr>
        <p:txBody>
          <a:bodyPr wrap="square" lIns="0" tIns="0" rIns="0" bIns="0" rtlCol="0"/>
          <a:lstStyle/>
          <a:p>
            <a:endParaRPr/>
          </a:p>
        </p:txBody>
      </p:sp>
      <p:sp>
        <p:nvSpPr>
          <p:cNvPr id="19" name="object 19"/>
          <p:cNvSpPr txBox="1"/>
          <p:nvPr/>
        </p:nvSpPr>
        <p:spPr>
          <a:xfrm>
            <a:off x="2139188" y="4219397"/>
            <a:ext cx="124460" cy="238125"/>
          </a:xfrm>
          <a:prstGeom prst="rect">
            <a:avLst/>
          </a:prstGeom>
        </p:spPr>
        <p:txBody>
          <a:bodyPr vert="horz" wrap="square" lIns="0" tIns="12065" rIns="0" bIns="0" rtlCol="0">
            <a:spAutoFit/>
          </a:bodyPr>
          <a:lstStyle/>
          <a:p>
            <a:pPr marL="12700">
              <a:lnSpc>
                <a:spcPct val="100000"/>
              </a:lnSpc>
              <a:spcBef>
                <a:spcPts val="95"/>
              </a:spcBef>
            </a:pPr>
            <a:r>
              <a:rPr sz="1400" b="1" i="1" spc="-5" dirty="0">
                <a:latin typeface="Arial"/>
                <a:cs typeface="Arial"/>
              </a:rPr>
              <a:t>3</a:t>
            </a:r>
            <a:endParaRPr sz="1400">
              <a:latin typeface="Arial"/>
              <a:cs typeface="Arial"/>
            </a:endParaRPr>
          </a:p>
        </p:txBody>
      </p:sp>
      <p:sp>
        <p:nvSpPr>
          <p:cNvPr id="20" name="object 20"/>
          <p:cNvSpPr/>
          <p:nvPr/>
        </p:nvSpPr>
        <p:spPr>
          <a:xfrm>
            <a:off x="3179064" y="4169664"/>
            <a:ext cx="448056" cy="411480"/>
          </a:xfrm>
          <a:prstGeom prst="rect">
            <a:avLst/>
          </a:prstGeom>
          <a:blipFill>
            <a:blip r:embed="rId5" cstate="print"/>
            <a:stretch>
              <a:fillRect/>
            </a:stretch>
          </a:blipFill>
        </p:spPr>
        <p:txBody>
          <a:bodyPr wrap="square" lIns="0" tIns="0" rIns="0" bIns="0" rtlCol="0"/>
          <a:lstStyle/>
          <a:p>
            <a:endParaRPr/>
          </a:p>
        </p:txBody>
      </p:sp>
      <p:sp>
        <p:nvSpPr>
          <p:cNvPr id="21" name="object 21"/>
          <p:cNvSpPr txBox="1"/>
          <p:nvPr/>
        </p:nvSpPr>
        <p:spPr>
          <a:xfrm>
            <a:off x="3282822" y="4219397"/>
            <a:ext cx="220979" cy="238125"/>
          </a:xfrm>
          <a:prstGeom prst="rect">
            <a:avLst/>
          </a:prstGeom>
        </p:spPr>
        <p:txBody>
          <a:bodyPr vert="horz" wrap="square" lIns="0" tIns="12065" rIns="0" bIns="0" rtlCol="0">
            <a:spAutoFit/>
          </a:bodyPr>
          <a:lstStyle/>
          <a:p>
            <a:pPr marL="12700">
              <a:lnSpc>
                <a:spcPct val="100000"/>
              </a:lnSpc>
              <a:spcBef>
                <a:spcPts val="95"/>
              </a:spcBef>
            </a:pPr>
            <a:r>
              <a:rPr sz="1400" b="1" i="1" spc="-15" dirty="0">
                <a:latin typeface="Arial"/>
                <a:cs typeface="Arial"/>
              </a:rPr>
              <a:t>10</a:t>
            </a:r>
            <a:endParaRPr sz="1400">
              <a:latin typeface="Arial"/>
              <a:cs typeface="Arial"/>
            </a:endParaRPr>
          </a:p>
        </p:txBody>
      </p:sp>
      <p:sp>
        <p:nvSpPr>
          <p:cNvPr id="22" name="object 22"/>
          <p:cNvSpPr/>
          <p:nvPr/>
        </p:nvSpPr>
        <p:spPr>
          <a:xfrm>
            <a:off x="4983479" y="4169664"/>
            <a:ext cx="448055" cy="411480"/>
          </a:xfrm>
          <a:prstGeom prst="rect">
            <a:avLst/>
          </a:prstGeom>
          <a:blipFill>
            <a:blip r:embed="rId6" cstate="print"/>
            <a:stretch>
              <a:fillRect/>
            </a:stretch>
          </a:blipFill>
        </p:spPr>
        <p:txBody>
          <a:bodyPr wrap="square" lIns="0" tIns="0" rIns="0" bIns="0" rtlCol="0"/>
          <a:lstStyle/>
          <a:p>
            <a:endParaRPr/>
          </a:p>
        </p:txBody>
      </p:sp>
      <p:sp>
        <p:nvSpPr>
          <p:cNvPr id="23" name="object 23"/>
          <p:cNvSpPr txBox="1"/>
          <p:nvPr/>
        </p:nvSpPr>
        <p:spPr>
          <a:xfrm>
            <a:off x="5087873" y="4219397"/>
            <a:ext cx="220979" cy="238125"/>
          </a:xfrm>
          <a:prstGeom prst="rect">
            <a:avLst/>
          </a:prstGeom>
        </p:spPr>
        <p:txBody>
          <a:bodyPr vert="horz" wrap="square" lIns="0" tIns="12065" rIns="0" bIns="0" rtlCol="0">
            <a:spAutoFit/>
          </a:bodyPr>
          <a:lstStyle/>
          <a:p>
            <a:pPr marL="12700">
              <a:lnSpc>
                <a:spcPct val="100000"/>
              </a:lnSpc>
              <a:spcBef>
                <a:spcPts val="95"/>
              </a:spcBef>
            </a:pPr>
            <a:r>
              <a:rPr sz="1400" b="1" i="1" spc="-15" dirty="0">
                <a:latin typeface="Arial"/>
                <a:cs typeface="Arial"/>
              </a:rPr>
              <a:t>20</a:t>
            </a:r>
            <a:endParaRPr sz="1400">
              <a:latin typeface="Arial"/>
              <a:cs typeface="Arial"/>
            </a:endParaRPr>
          </a:p>
        </p:txBody>
      </p:sp>
      <p:sp>
        <p:nvSpPr>
          <p:cNvPr id="24" name="object 24"/>
          <p:cNvSpPr/>
          <p:nvPr/>
        </p:nvSpPr>
        <p:spPr>
          <a:xfrm>
            <a:off x="6507480" y="4169664"/>
            <a:ext cx="448055" cy="411480"/>
          </a:xfrm>
          <a:prstGeom prst="rect">
            <a:avLst/>
          </a:prstGeom>
          <a:blipFill>
            <a:blip r:embed="rId7" cstate="print"/>
            <a:stretch>
              <a:fillRect/>
            </a:stretch>
          </a:blipFill>
        </p:spPr>
        <p:txBody>
          <a:bodyPr wrap="square" lIns="0" tIns="0" rIns="0" bIns="0" rtlCol="0"/>
          <a:lstStyle/>
          <a:p>
            <a:endParaRPr/>
          </a:p>
        </p:txBody>
      </p:sp>
      <p:sp>
        <p:nvSpPr>
          <p:cNvPr id="25" name="object 25"/>
          <p:cNvSpPr txBox="1"/>
          <p:nvPr/>
        </p:nvSpPr>
        <p:spPr>
          <a:xfrm>
            <a:off x="6612128" y="4219397"/>
            <a:ext cx="221615" cy="238125"/>
          </a:xfrm>
          <a:prstGeom prst="rect">
            <a:avLst/>
          </a:prstGeom>
        </p:spPr>
        <p:txBody>
          <a:bodyPr vert="horz" wrap="square" lIns="0" tIns="12065" rIns="0" bIns="0" rtlCol="0">
            <a:spAutoFit/>
          </a:bodyPr>
          <a:lstStyle/>
          <a:p>
            <a:pPr marL="12700">
              <a:lnSpc>
                <a:spcPct val="100000"/>
              </a:lnSpc>
              <a:spcBef>
                <a:spcPts val="95"/>
              </a:spcBef>
            </a:pPr>
            <a:r>
              <a:rPr sz="1400" b="1" i="1" spc="-10" dirty="0">
                <a:latin typeface="Arial"/>
                <a:cs typeface="Arial"/>
              </a:rPr>
              <a:t>28</a:t>
            </a:r>
            <a:endParaRPr sz="1400">
              <a:latin typeface="Arial"/>
              <a:cs typeface="Arial"/>
            </a:endParaRPr>
          </a:p>
        </p:txBody>
      </p:sp>
      <p:sp>
        <p:nvSpPr>
          <p:cNvPr id="26" name="object 26"/>
          <p:cNvSpPr/>
          <p:nvPr/>
        </p:nvSpPr>
        <p:spPr>
          <a:xfrm>
            <a:off x="7461504" y="4169664"/>
            <a:ext cx="445007" cy="411480"/>
          </a:xfrm>
          <a:prstGeom prst="rect">
            <a:avLst/>
          </a:prstGeom>
          <a:blipFill>
            <a:blip r:embed="rId8" cstate="print"/>
            <a:stretch>
              <a:fillRect/>
            </a:stretch>
          </a:blipFill>
        </p:spPr>
        <p:txBody>
          <a:bodyPr wrap="square" lIns="0" tIns="0" rIns="0" bIns="0" rtlCol="0"/>
          <a:lstStyle/>
          <a:p>
            <a:endParaRPr/>
          </a:p>
        </p:txBody>
      </p:sp>
      <p:sp>
        <p:nvSpPr>
          <p:cNvPr id="27" name="object 27"/>
          <p:cNvSpPr txBox="1"/>
          <p:nvPr/>
        </p:nvSpPr>
        <p:spPr>
          <a:xfrm>
            <a:off x="7566786" y="4219397"/>
            <a:ext cx="220979" cy="238125"/>
          </a:xfrm>
          <a:prstGeom prst="rect">
            <a:avLst/>
          </a:prstGeom>
        </p:spPr>
        <p:txBody>
          <a:bodyPr vert="horz" wrap="square" lIns="0" tIns="12065" rIns="0" bIns="0" rtlCol="0">
            <a:spAutoFit/>
          </a:bodyPr>
          <a:lstStyle/>
          <a:p>
            <a:pPr marL="12700">
              <a:lnSpc>
                <a:spcPct val="100000"/>
              </a:lnSpc>
              <a:spcBef>
                <a:spcPts val="95"/>
              </a:spcBef>
            </a:pPr>
            <a:r>
              <a:rPr sz="1400" b="1" i="1" spc="-15" dirty="0">
                <a:latin typeface="Arial"/>
                <a:cs typeface="Arial"/>
              </a:rPr>
              <a:t>33</a:t>
            </a:r>
            <a:endParaRPr sz="1400">
              <a:latin typeface="Arial"/>
              <a:cs typeface="Arial"/>
            </a:endParaRPr>
          </a:p>
        </p:txBody>
      </p:sp>
      <p:grpSp>
        <p:nvGrpSpPr>
          <p:cNvPr id="28" name="object 28"/>
          <p:cNvGrpSpPr/>
          <p:nvPr/>
        </p:nvGrpSpPr>
        <p:grpSpPr>
          <a:xfrm>
            <a:off x="798576" y="5836920"/>
            <a:ext cx="1000125" cy="408940"/>
            <a:chOff x="798576" y="5836920"/>
            <a:chExt cx="1000125" cy="408940"/>
          </a:xfrm>
        </p:grpSpPr>
        <p:sp>
          <p:nvSpPr>
            <p:cNvPr id="29" name="object 29"/>
            <p:cNvSpPr/>
            <p:nvPr/>
          </p:nvSpPr>
          <p:spPr>
            <a:xfrm>
              <a:off x="798576" y="5836920"/>
              <a:ext cx="658368" cy="408432"/>
            </a:xfrm>
            <a:prstGeom prst="rect">
              <a:avLst/>
            </a:prstGeom>
            <a:blipFill>
              <a:blip r:embed="rId9" cstate="print"/>
              <a:stretch>
                <a:fillRect/>
              </a:stretch>
            </a:blipFill>
          </p:spPr>
          <p:txBody>
            <a:bodyPr wrap="square" lIns="0" tIns="0" rIns="0" bIns="0" rtlCol="0"/>
            <a:lstStyle/>
            <a:p>
              <a:endParaRPr/>
            </a:p>
          </p:txBody>
        </p:sp>
        <p:sp>
          <p:nvSpPr>
            <p:cNvPr id="30" name="object 30"/>
            <p:cNvSpPr/>
            <p:nvPr/>
          </p:nvSpPr>
          <p:spPr>
            <a:xfrm>
              <a:off x="1207008" y="5836920"/>
              <a:ext cx="441959" cy="408432"/>
            </a:xfrm>
            <a:prstGeom prst="rect">
              <a:avLst/>
            </a:prstGeom>
            <a:blipFill>
              <a:blip r:embed="rId10" cstate="print"/>
              <a:stretch>
                <a:fillRect/>
              </a:stretch>
            </a:blipFill>
          </p:spPr>
          <p:txBody>
            <a:bodyPr wrap="square" lIns="0" tIns="0" rIns="0" bIns="0" rtlCol="0"/>
            <a:lstStyle/>
            <a:p>
              <a:endParaRPr/>
            </a:p>
          </p:txBody>
        </p:sp>
        <p:sp>
          <p:nvSpPr>
            <p:cNvPr id="31" name="object 31"/>
            <p:cNvSpPr/>
            <p:nvPr/>
          </p:nvSpPr>
          <p:spPr>
            <a:xfrm>
              <a:off x="1447800" y="5836920"/>
              <a:ext cx="350519" cy="408432"/>
            </a:xfrm>
            <a:prstGeom prst="rect">
              <a:avLst/>
            </a:prstGeom>
            <a:blipFill>
              <a:blip r:embed="rId11" cstate="print"/>
              <a:stretch>
                <a:fillRect/>
              </a:stretch>
            </a:blipFill>
          </p:spPr>
          <p:txBody>
            <a:bodyPr wrap="square" lIns="0" tIns="0" rIns="0" bIns="0" rtlCol="0"/>
            <a:lstStyle/>
            <a:p>
              <a:endParaRPr/>
            </a:p>
          </p:txBody>
        </p:sp>
      </p:grpSp>
      <p:sp>
        <p:nvSpPr>
          <p:cNvPr id="32" name="object 32"/>
          <p:cNvSpPr txBox="1"/>
          <p:nvPr/>
        </p:nvSpPr>
        <p:spPr>
          <a:xfrm>
            <a:off x="901395" y="5885484"/>
            <a:ext cx="773430" cy="238125"/>
          </a:xfrm>
          <a:prstGeom prst="rect">
            <a:avLst/>
          </a:prstGeom>
        </p:spPr>
        <p:txBody>
          <a:bodyPr vert="horz" wrap="square" lIns="0" tIns="12065" rIns="0" bIns="0" rtlCol="0">
            <a:spAutoFit/>
          </a:bodyPr>
          <a:lstStyle/>
          <a:p>
            <a:pPr marL="12700">
              <a:lnSpc>
                <a:spcPct val="100000"/>
              </a:lnSpc>
              <a:spcBef>
                <a:spcPts val="95"/>
              </a:spcBef>
            </a:pPr>
            <a:r>
              <a:rPr sz="1400" b="1" i="1" spc="-15" dirty="0">
                <a:latin typeface="Arial"/>
                <a:cs typeface="Arial"/>
              </a:rPr>
              <a:t>Time</a:t>
            </a:r>
            <a:r>
              <a:rPr sz="1400" b="1" spc="-15" dirty="0">
                <a:latin typeface="Wingdings"/>
                <a:cs typeface="Wingdings"/>
              </a:rPr>
              <a:t></a:t>
            </a:r>
            <a:r>
              <a:rPr sz="1400" b="1" spc="-15" dirty="0">
                <a:latin typeface="Times New Roman"/>
                <a:cs typeface="Times New Roman"/>
              </a:rPr>
              <a:t> </a:t>
            </a:r>
            <a:r>
              <a:rPr sz="1400" b="1" i="1" spc="-5" dirty="0">
                <a:latin typeface="Arial"/>
                <a:cs typeface="Arial"/>
              </a:rPr>
              <a:t>0</a:t>
            </a:r>
            <a:endParaRPr sz="1400">
              <a:latin typeface="Arial"/>
              <a:cs typeface="Arial"/>
            </a:endParaRPr>
          </a:p>
        </p:txBody>
      </p:sp>
      <p:grpSp>
        <p:nvGrpSpPr>
          <p:cNvPr id="33" name="object 33"/>
          <p:cNvGrpSpPr/>
          <p:nvPr/>
        </p:nvGrpSpPr>
        <p:grpSpPr>
          <a:xfrm>
            <a:off x="1572577" y="4468177"/>
            <a:ext cx="6709409" cy="1777364"/>
            <a:chOff x="1572577" y="4468177"/>
            <a:chExt cx="6709409" cy="1777364"/>
          </a:xfrm>
        </p:grpSpPr>
        <p:sp>
          <p:nvSpPr>
            <p:cNvPr id="34" name="object 34"/>
            <p:cNvSpPr/>
            <p:nvPr/>
          </p:nvSpPr>
          <p:spPr>
            <a:xfrm>
              <a:off x="1703831" y="5836920"/>
              <a:ext cx="347471" cy="408432"/>
            </a:xfrm>
            <a:prstGeom prst="rect">
              <a:avLst/>
            </a:prstGeom>
            <a:blipFill>
              <a:blip r:embed="rId12" cstate="print"/>
              <a:stretch>
                <a:fillRect/>
              </a:stretch>
            </a:blipFill>
          </p:spPr>
          <p:txBody>
            <a:bodyPr wrap="square" lIns="0" tIns="0" rIns="0" bIns="0" rtlCol="0"/>
            <a:lstStyle/>
            <a:p>
              <a:endParaRPr/>
            </a:p>
          </p:txBody>
        </p:sp>
        <p:sp>
          <p:nvSpPr>
            <p:cNvPr id="35" name="object 35"/>
            <p:cNvSpPr/>
            <p:nvPr/>
          </p:nvSpPr>
          <p:spPr>
            <a:xfrm>
              <a:off x="1993391" y="5836920"/>
              <a:ext cx="347471" cy="408432"/>
            </a:xfrm>
            <a:prstGeom prst="rect">
              <a:avLst/>
            </a:prstGeom>
            <a:blipFill>
              <a:blip r:embed="rId13" cstate="print"/>
              <a:stretch>
                <a:fillRect/>
              </a:stretch>
            </a:blipFill>
          </p:spPr>
          <p:txBody>
            <a:bodyPr wrap="square" lIns="0" tIns="0" rIns="0" bIns="0" rtlCol="0"/>
            <a:lstStyle/>
            <a:p>
              <a:endParaRPr/>
            </a:p>
          </p:txBody>
        </p:sp>
        <p:sp>
          <p:nvSpPr>
            <p:cNvPr id="36" name="object 36"/>
            <p:cNvSpPr/>
            <p:nvPr/>
          </p:nvSpPr>
          <p:spPr>
            <a:xfrm>
              <a:off x="2374391" y="5836920"/>
              <a:ext cx="347471" cy="408432"/>
            </a:xfrm>
            <a:prstGeom prst="rect">
              <a:avLst/>
            </a:prstGeom>
            <a:blipFill>
              <a:blip r:embed="rId14" cstate="print"/>
              <a:stretch>
                <a:fillRect/>
              </a:stretch>
            </a:blipFill>
          </p:spPr>
          <p:txBody>
            <a:bodyPr wrap="square" lIns="0" tIns="0" rIns="0" bIns="0" rtlCol="0"/>
            <a:lstStyle/>
            <a:p>
              <a:endParaRPr/>
            </a:p>
          </p:txBody>
        </p:sp>
        <p:sp>
          <p:nvSpPr>
            <p:cNvPr id="37" name="object 37"/>
            <p:cNvSpPr/>
            <p:nvPr/>
          </p:nvSpPr>
          <p:spPr>
            <a:xfrm>
              <a:off x="2755391" y="5836920"/>
              <a:ext cx="347471" cy="408432"/>
            </a:xfrm>
            <a:prstGeom prst="rect">
              <a:avLst/>
            </a:prstGeom>
            <a:blipFill>
              <a:blip r:embed="rId15" cstate="print"/>
              <a:stretch>
                <a:fillRect/>
              </a:stretch>
            </a:blipFill>
          </p:spPr>
          <p:txBody>
            <a:bodyPr wrap="square" lIns="0" tIns="0" rIns="0" bIns="0" rtlCol="0"/>
            <a:lstStyle/>
            <a:p>
              <a:endParaRPr/>
            </a:p>
          </p:txBody>
        </p:sp>
        <p:sp>
          <p:nvSpPr>
            <p:cNvPr id="38" name="object 38"/>
            <p:cNvSpPr/>
            <p:nvPr/>
          </p:nvSpPr>
          <p:spPr>
            <a:xfrm>
              <a:off x="3035807" y="5836920"/>
              <a:ext cx="347471" cy="408432"/>
            </a:xfrm>
            <a:prstGeom prst="rect">
              <a:avLst/>
            </a:prstGeom>
            <a:blipFill>
              <a:blip r:embed="rId16" cstate="print"/>
              <a:stretch>
                <a:fillRect/>
              </a:stretch>
            </a:blipFill>
          </p:spPr>
          <p:txBody>
            <a:bodyPr wrap="square" lIns="0" tIns="0" rIns="0" bIns="0" rtlCol="0"/>
            <a:lstStyle/>
            <a:p>
              <a:endParaRPr/>
            </a:p>
          </p:txBody>
        </p:sp>
        <p:sp>
          <p:nvSpPr>
            <p:cNvPr id="39" name="object 39"/>
            <p:cNvSpPr/>
            <p:nvPr/>
          </p:nvSpPr>
          <p:spPr>
            <a:xfrm>
              <a:off x="3179063" y="5836920"/>
              <a:ext cx="448056" cy="408432"/>
            </a:xfrm>
            <a:prstGeom prst="rect">
              <a:avLst/>
            </a:prstGeom>
            <a:blipFill>
              <a:blip r:embed="rId17" cstate="print"/>
              <a:stretch>
                <a:fillRect/>
              </a:stretch>
            </a:blipFill>
          </p:spPr>
          <p:txBody>
            <a:bodyPr wrap="square" lIns="0" tIns="0" rIns="0" bIns="0" rtlCol="0"/>
            <a:lstStyle/>
            <a:p>
              <a:endParaRPr/>
            </a:p>
          </p:txBody>
        </p:sp>
        <p:sp>
          <p:nvSpPr>
            <p:cNvPr id="40" name="object 40"/>
            <p:cNvSpPr/>
            <p:nvPr/>
          </p:nvSpPr>
          <p:spPr>
            <a:xfrm>
              <a:off x="3474719" y="5836920"/>
              <a:ext cx="432815" cy="408432"/>
            </a:xfrm>
            <a:prstGeom prst="rect">
              <a:avLst/>
            </a:prstGeom>
            <a:blipFill>
              <a:blip r:embed="rId18" cstate="print"/>
              <a:stretch>
                <a:fillRect/>
              </a:stretch>
            </a:blipFill>
          </p:spPr>
          <p:txBody>
            <a:bodyPr wrap="square" lIns="0" tIns="0" rIns="0" bIns="0" rtlCol="0"/>
            <a:lstStyle/>
            <a:p>
              <a:endParaRPr/>
            </a:p>
          </p:txBody>
        </p:sp>
        <p:sp>
          <p:nvSpPr>
            <p:cNvPr id="41" name="object 41"/>
            <p:cNvSpPr/>
            <p:nvPr/>
          </p:nvSpPr>
          <p:spPr>
            <a:xfrm>
              <a:off x="3749039" y="5836920"/>
              <a:ext cx="448056" cy="408432"/>
            </a:xfrm>
            <a:prstGeom prst="rect">
              <a:avLst/>
            </a:prstGeom>
            <a:blipFill>
              <a:blip r:embed="rId19" cstate="print"/>
              <a:stretch>
                <a:fillRect/>
              </a:stretch>
            </a:blipFill>
          </p:spPr>
          <p:txBody>
            <a:bodyPr wrap="square" lIns="0" tIns="0" rIns="0" bIns="0" rtlCol="0"/>
            <a:lstStyle/>
            <a:p>
              <a:endParaRPr/>
            </a:p>
          </p:txBody>
        </p:sp>
        <p:sp>
          <p:nvSpPr>
            <p:cNvPr id="42" name="object 42"/>
            <p:cNvSpPr/>
            <p:nvPr/>
          </p:nvSpPr>
          <p:spPr>
            <a:xfrm>
              <a:off x="4041647" y="5836920"/>
              <a:ext cx="448055" cy="408432"/>
            </a:xfrm>
            <a:prstGeom prst="rect">
              <a:avLst/>
            </a:prstGeom>
            <a:blipFill>
              <a:blip r:embed="rId20" cstate="print"/>
              <a:stretch>
                <a:fillRect/>
              </a:stretch>
            </a:blipFill>
          </p:spPr>
          <p:txBody>
            <a:bodyPr wrap="square" lIns="0" tIns="0" rIns="0" bIns="0" rtlCol="0"/>
            <a:lstStyle/>
            <a:p>
              <a:endParaRPr/>
            </a:p>
          </p:txBody>
        </p:sp>
        <p:sp>
          <p:nvSpPr>
            <p:cNvPr id="43" name="object 43"/>
            <p:cNvSpPr/>
            <p:nvPr/>
          </p:nvSpPr>
          <p:spPr>
            <a:xfrm>
              <a:off x="4511039" y="5836920"/>
              <a:ext cx="448056" cy="408432"/>
            </a:xfrm>
            <a:prstGeom prst="rect">
              <a:avLst/>
            </a:prstGeom>
            <a:blipFill>
              <a:blip r:embed="rId21" cstate="print"/>
              <a:stretch>
                <a:fillRect/>
              </a:stretch>
            </a:blipFill>
          </p:spPr>
          <p:txBody>
            <a:bodyPr wrap="square" lIns="0" tIns="0" rIns="0" bIns="0" rtlCol="0"/>
            <a:lstStyle/>
            <a:p>
              <a:endParaRPr/>
            </a:p>
          </p:txBody>
        </p:sp>
        <p:sp>
          <p:nvSpPr>
            <p:cNvPr id="44" name="object 44"/>
            <p:cNvSpPr/>
            <p:nvPr/>
          </p:nvSpPr>
          <p:spPr>
            <a:xfrm>
              <a:off x="4803647" y="5836920"/>
              <a:ext cx="448055" cy="408432"/>
            </a:xfrm>
            <a:prstGeom prst="rect">
              <a:avLst/>
            </a:prstGeom>
            <a:blipFill>
              <a:blip r:embed="rId22" cstate="print"/>
              <a:stretch>
                <a:fillRect/>
              </a:stretch>
            </a:blipFill>
          </p:spPr>
          <p:txBody>
            <a:bodyPr wrap="square" lIns="0" tIns="0" rIns="0" bIns="0" rtlCol="0"/>
            <a:lstStyle/>
            <a:p>
              <a:endParaRPr/>
            </a:p>
          </p:txBody>
        </p:sp>
        <p:sp>
          <p:nvSpPr>
            <p:cNvPr id="45" name="object 45"/>
            <p:cNvSpPr/>
            <p:nvPr/>
          </p:nvSpPr>
          <p:spPr>
            <a:xfrm>
              <a:off x="5126736" y="5836920"/>
              <a:ext cx="938784" cy="408432"/>
            </a:xfrm>
            <a:prstGeom prst="rect">
              <a:avLst/>
            </a:prstGeom>
            <a:blipFill>
              <a:blip r:embed="rId23" cstate="print"/>
              <a:stretch>
                <a:fillRect/>
              </a:stretch>
            </a:blipFill>
          </p:spPr>
          <p:txBody>
            <a:bodyPr wrap="square" lIns="0" tIns="0" rIns="0" bIns="0" rtlCol="0"/>
            <a:lstStyle/>
            <a:p>
              <a:endParaRPr/>
            </a:p>
          </p:txBody>
        </p:sp>
        <p:sp>
          <p:nvSpPr>
            <p:cNvPr id="46" name="object 46"/>
            <p:cNvSpPr/>
            <p:nvPr/>
          </p:nvSpPr>
          <p:spPr>
            <a:xfrm>
              <a:off x="5815583" y="5836920"/>
              <a:ext cx="448056" cy="408432"/>
            </a:xfrm>
            <a:prstGeom prst="rect">
              <a:avLst/>
            </a:prstGeom>
            <a:blipFill>
              <a:blip r:embed="rId24" cstate="print"/>
              <a:stretch>
                <a:fillRect/>
              </a:stretch>
            </a:blipFill>
          </p:spPr>
          <p:txBody>
            <a:bodyPr wrap="square" lIns="0" tIns="0" rIns="0" bIns="0" rtlCol="0"/>
            <a:lstStyle/>
            <a:p>
              <a:endParaRPr/>
            </a:p>
          </p:txBody>
        </p:sp>
        <p:sp>
          <p:nvSpPr>
            <p:cNvPr id="47" name="object 47"/>
            <p:cNvSpPr/>
            <p:nvPr/>
          </p:nvSpPr>
          <p:spPr>
            <a:xfrm>
              <a:off x="6260592" y="5836920"/>
              <a:ext cx="448056" cy="408432"/>
            </a:xfrm>
            <a:prstGeom prst="rect">
              <a:avLst/>
            </a:prstGeom>
            <a:blipFill>
              <a:blip r:embed="rId25" cstate="print"/>
              <a:stretch>
                <a:fillRect/>
              </a:stretch>
            </a:blipFill>
          </p:spPr>
          <p:txBody>
            <a:bodyPr wrap="square" lIns="0" tIns="0" rIns="0" bIns="0" rtlCol="0"/>
            <a:lstStyle/>
            <a:p>
              <a:endParaRPr/>
            </a:p>
          </p:txBody>
        </p:sp>
        <p:sp>
          <p:nvSpPr>
            <p:cNvPr id="48" name="object 48"/>
            <p:cNvSpPr/>
            <p:nvPr/>
          </p:nvSpPr>
          <p:spPr>
            <a:xfrm>
              <a:off x="6708648" y="5836920"/>
              <a:ext cx="448055" cy="408432"/>
            </a:xfrm>
            <a:prstGeom prst="rect">
              <a:avLst/>
            </a:prstGeom>
            <a:blipFill>
              <a:blip r:embed="rId26" cstate="print"/>
              <a:stretch>
                <a:fillRect/>
              </a:stretch>
            </a:blipFill>
          </p:spPr>
          <p:txBody>
            <a:bodyPr wrap="square" lIns="0" tIns="0" rIns="0" bIns="0" rtlCol="0"/>
            <a:lstStyle/>
            <a:p>
              <a:endParaRPr/>
            </a:p>
          </p:txBody>
        </p:sp>
        <p:sp>
          <p:nvSpPr>
            <p:cNvPr id="49" name="object 49"/>
            <p:cNvSpPr/>
            <p:nvPr/>
          </p:nvSpPr>
          <p:spPr>
            <a:xfrm>
              <a:off x="7089648" y="5836920"/>
              <a:ext cx="448055" cy="408432"/>
            </a:xfrm>
            <a:prstGeom prst="rect">
              <a:avLst/>
            </a:prstGeom>
            <a:blipFill>
              <a:blip r:embed="rId27" cstate="print"/>
              <a:stretch>
                <a:fillRect/>
              </a:stretch>
            </a:blipFill>
          </p:spPr>
          <p:txBody>
            <a:bodyPr wrap="square" lIns="0" tIns="0" rIns="0" bIns="0" rtlCol="0"/>
            <a:lstStyle/>
            <a:p>
              <a:endParaRPr/>
            </a:p>
          </p:txBody>
        </p:sp>
        <p:sp>
          <p:nvSpPr>
            <p:cNvPr id="50" name="object 50"/>
            <p:cNvSpPr/>
            <p:nvPr/>
          </p:nvSpPr>
          <p:spPr>
            <a:xfrm>
              <a:off x="7470648" y="5836920"/>
              <a:ext cx="448055" cy="408432"/>
            </a:xfrm>
            <a:prstGeom prst="rect">
              <a:avLst/>
            </a:prstGeom>
            <a:blipFill>
              <a:blip r:embed="rId28" cstate="print"/>
              <a:stretch>
                <a:fillRect/>
              </a:stretch>
            </a:blipFill>
          </p:spPr>
          <p:txBody>
            <a:bodyPr wrap="square" lIns="0" tIns="0" rIns="0" bIns="0" rtlCol="0"/>
            <a:lstStyle/>
            <a:p>
              <a:endParaRPr/>
            </a:p>
          </p:txBody>
        </p:sp>
        <p:sp>
          <p:nvSpPr>
            <p:cNvPr id="51" name="object 51"/>
            <p:cNvSpPr/>
            <p:nvPr/>
          </p:nvSpPr>
          <p:spPr>
            <a:xfrm>
              <a:off x="7836407" y="5836920"/>
              <a:ext cx="445007" cy="408432"/>
            </a:xfrm>
            <a:prstGeom prst="rect">
              <a:avLst/>
            </a:prstGeom>
            <a:blipFill>
              <a:blip r:embed="rId29" cstate="print"/>
              <a:stretch>
                <a:fillRect/>
              </a:stretch>
            </a:blipFill>
          </p:spPr>
          <p:txBody>
            <a:bodyPr wrap="square" lIns="0" tIns="0" rIns="0" bIns="0" rtlCol="0"/>
            <a:lstStyle/>
            <a:p>
              <a:endParaRPr/>
            </a:p>
          </p:txBody>
        </p:sp>
        <p:sp>
          <p:nvSpPr>
            <p:cNvPr id="52" name="object 52"/>
            <p:cNvSpPr/>
            <p:nvPr/>
          </p:nvSpPr>
          <p:spPr>
            <a:xfrm>
              <a:off x="1592579" y="4488180"/>
              <a:ext cx="539750" cy="683260"/>
            </a:xfrm>
            <a:custGeom>
              <a:avLst/>
              <a:gdLst/>
              <a:ahLst/>
              <a:cxnLst/>
              <a:rect l="l" t="t" r="r" b="b"/>
              <a:pathLst>
                <a:path w="539750" h="683260">
                  <a:moveTo>
                    <a:pt x="539495" y="0"/>
                  </a:moveTo>
                  <a:lnTo>
                    <a:pt x="0" y="0"/>
                  </a:lnTo>
                  <a:lnTo>
                    <a:pt x="0" y="682752"/>
                  </a:lnTo>
                  <a:lnTo>
                    <a:pt x="539495" y="682752"/>
                  </a:lnTo>
                  <a:lnTo>
                    <a:pt x="539495" y="0"/>
                  </a:lnTo>
                  <a:close/>
                </a:path>
              </a:pathLst>
            </a:custGeom>
            <a:solidFill>
              <a:srgbClr val="99CCFF"/>
            </a:solidFill>
          </p:spPr>
          <p:txBody>
            <a:bodyPr wrap="square" lIns="0" tIns="0" rIns="0" bIns="0" rtlCol="0"/>
            <a:lstStyle/>
            <a:p>
              <a:endParaRPr/>
            </a:p>
          </p:txBody>
        </p:sp>
        <p:sp>
          <p:nvSpPr>
            <p:cNvPr id="53" name="object 53"/>
            <p:cNvSpPr/>
            <p:nvPr/>
          </p:nvSpPr>
          <p:spPr>
            <a:xfrm>
              <a:off x="1592579" y="4488180"/>
              <a:ext cx="539750" cy="683260"/>
            </a:xfrm>
            <a:custGeom>
              <a:avLst/>
              <a:gdLst/>
              <a:ahLst/>
              <a:cxnLst/>
              <a:rect l="l" t="t" r="r" b="b"/>
              <a:pathLst>
                <a:path w="539750" h="683260">
                  <a:moveTo>
                    <a:pt x="0" y="682752"/>
                  </a:moveTo>
                  <a:lnTo>
                    <a:pt x="539495" y="682752"/>
                  </a:lnTo>
                  <a:lnTo>
                    <a:pt x="539495" y="0"/>
                  </a:lnTo>
                  <a:lnTo>
                    <a:pt x="0" y="0"/>
                  </a:lnTo>
                  <a:lnTo>
                    <a:pt x="0" y="682752"/>
                  </a:lnTo>
                  <a:close/>
                </a:path>
              </a:pathLst>
            </a:custGeom>
            <a:ln w="39624">
              <a:solidFill>
                <a:srgbClr val="000000"/>
              </a:solidFill>
            </a:ln>
          </p:spPr>
          <p:txBody>
            <a:bodyPr wrap="square" lIns="0" tIns="0" rIns="0" bIns="0" rtlCol="0"/>
            <a:lstStyle/>
            <a:p>
              <a:endParaRPr/>
            </a:p>
          </p:txBody>
        </p:sp>
      </p:grpSp>
      <p:sp>
        <p:nvSpPr>
          <p:cNvPr id="54" name="object 54"/>
          <p:cNvSpPr txBox="1"/>
          <p:nvPr/>
        </p:nvSpPr>
        <p:spPr>
          <a:xfrm>
            <a:off x="1612391" y="4661103"/>
            <a:ext cx="501650" cy="300355"/>
          </a:xfrm>
          <a:prstGeom prst="rect">
            <a:avLst/>
          </a:prstGeom>
        </p:spPr>
        <p:txBody>
          <a:bodyPr vert="horz" wrap="square" lIns="0" tIns="12700" rIns="0" bIns="0" rtlCol="0">
            <a:spAutoFit/>
          </a:bodyPr>
          <a:lstStyle/>
          <a:p>
            <a:pPr marL="152400">
              <a:lnSpc>
                <a:spcPct val="100000"/>
              </a:lnSpc>
              <a:spcBef>
                <a:spcPts val="100"/>
              </a:spcBef>
            </a:pPr>
            <a:r>
              <a:rPr sz="1800" b="1" i="1" dirty="0">
                <a:latin typeface="Arial"/>
                <a:cs typeface="Arial"/>
              </a:rPr>
              <a:t>B</a:t>
            </a:r>
            <a:endParaRPr sz="1800">
              <a:latin typeface="Arial"/>
              <a:cs typeface="Arial"/>
            </a:endParaRPr>
          </a:p>
        </p:txBody>
      </p:sp>
      <p:grpSp>
        <p:nvGrpSpPr>
          <p:cNvPr id="55" name="object 55"/>
          <p:cNvGrpSpPr/>
          <p:nvPr/>
        </p:nvGrpSpPr>
        <p:grpSpPr>
          <a:xfrm>
            <a:off x="6699313" y="4462081"/>
            <a:ext cx="972819" cy="723265"/>
            <a:chOff x="6699313" y="4462081"/>
            <a:chExt cx="972819" cy="723265"/>
          </a:xfrm>
        </p:grpSpPr>
        <p:sp>
          <p:nvSpPr>
            <p:cNvPr id="56" name="object 56"/>
            <p:cNvSpPr/>
            <p:nvPr/>
          </p:nvSpPr>
          <p:spPr>
            <a:xfrm>
              <a:off x="6719316" y="4482084"/>
              <a:ext cx="932815" cy="683260"/>
            </a:xfrm>
            <a:custGeom>
              <a:avLst/>
              <a:gdLst/>
              <a:ahLst/>
              <a:cxnLst/>
              <a:rect l="l" t="t" r="r" b="b"/>
              <a:pathLst>
                <a:path w="932815" h="683260">
                  <a:moveTo>
                    <a:pt x="932687" y="0"/>
                  </a:moveTo>
                  <a:lnTo>
                    <a:pt x="0" y="0"/>
                  </a:lnTo>
                  <a:lnTo>
                    <a:pt x="0" y="682751"/>
                  </a:lnTo>
                  <a:lnTo>
                    <a:pt x="932687" y="682751"/>
                  </a:lnTo>
                  <a:lnTo>
                    <a:pt x="932687" y="0"/>
                  </a:lnTo>
                  <a:close/>
                </a:path>
              </a:pathLst>
            </a:custGeom>
            <a:solidFill>
              <a:srgbClr val="99CCFF"/>
            </a:solidFill>
          </p:spPr>
          <p:txBody>
            <a:bodyPr wrap="square" lIns="0" tIns="0" rIns="0" bIns="0" rtlCol="0"/>
            <a:lstStyle/>
            <a:p>
              <a:endParaRPr/>
            </a:p>
          </p:txBody>
        </p:sp>
        <p:sp>
          <p:nvSpPr>
            <p:cNvPr id="57" name="object 57"/>
            <p:cNvSpPr/>
            <p:nvPr/>
          </p:nvSpPr>
          <p:spPr>
            <a:xfrm>
              <a:off x="6719316" y="4482084"/>
              <a:ext cx="932815" cy="683260"/>
            </a:xfrm>
            <a:custGeom>
              <a:avLst/>
              <a:gdLst/>
              <a:ahLst/>
              <a:cxnLst/>
              <a:rect l="l" t="t" r="r" b="b"/>
              <a:pathLst>
                <a:path w="932815" h="683260">
                  <a:moveTo>
                    <a:pt x="0" y="682751"/>
                  </a:moveTo>
                  <a:lnTo>
                    <a:pt x="932687" y="682751"/>
                  </a:lnTo>
                  <a:lnTo>
                    <a:pt x="932687" y="0"/>
                  </a:lnTo>
                  <a:lnTo>
                    <a:pt x="0" y="0"/>
                  </a:lnTo>
                  <a:lnTo>
                    <a:pt x="0" y="682751"/>
                  </a:lnTo>
                  <a:close/>
                </a:path>
              </a:pathLst>
            </a:custGeom>
            <a:ln w="39623">
              <a:solidFill>
                <a:srgbClr val="000000"/>
              </a:solidFill>
            </a:ln>
          </p:spPr>
          <p:txBody>
            <a:bodyPr wrap="square" lIns="0" tIns="0" rIns="0" bIns="0" rtlCol="0"/>
            <a:lstStyle/>
            <a:p>
              <a:endParaRPr/>
            </a:p>
          </p:txBody>
        </p:sp>
      </p:grpSp>
      <p:sp>
        <p:nvSpPr>
          <p:cNvPr id="58" name="object 58"/>
          <p:cNvSpPr txBox="1"/>
          <p:nvPr/>
        </p:nvSpPr>
        <p:spPr>
          <a:xfrm>
            <a:off x="6739128" y="4661103"/>
            <a:ext cx="893444" cy="300355"/>
          </a:xfrm>
          <a:prstGeom prst="rect">
            <a:avLst/>
          </a:prstGeom>
        </p:spPr>
        <p:txBody>
          <a:bodyPr vert="horz" wrap="square" lIns="0" tIns="12700" rIns="0" bIns="0" rtlCol="0">
            <a:spAutoFit/>
          </a:bodyPr>
          <a:lstStyle/>
          <a:p>
            <a:pPr marR="21590" algn="ctr">
              <a:lnSpc>
                <a:spcPct val="100000"/>
              </a:lnSpc>
              <a:spcBef>
                <a:spcPts val="100"/>
              </a:spcBef>
            </a:pPr>
            <a:r>
              <a:rPr sz="1800" b="1" i="1" dirty="0">
                <a:latin typeface="Arial"/>
                <a:cs typeface="Arial"/>
              </a:rPr>
              <a:t>A</a:t>
            </a:r>
            <a:endParaRPr sz="1800">
              <a:latin typeface="Arial"/>
              <a:cs typeface="Arial"/>
            </a:endParaRPr>
          </a:p>
        </p:txBody>
      </p:sp>
      <p:grpSp>
        <p:nvGrpSpPr>
          <p:cNvPr id="59" name="object 59"/>
          <p:cNvGrpSpPr/>
          <p:nvPr/>
        </p:nvGrpSpPr>
        <p:grpSpPr>
          <a:xfrm>
            <a:off x="5214937" y="4468177"/>
            <a:ext cx="1524635" cy="723265"/>
            <a:chOff x="5214937" y="4468177"/>
            <a:chExt cx="1524635" cy="723265"/>
          </a:xfrm>
        </p:grpSpPr>
        <p:sp>
          <p:nvSpPr>
            <p:cNvPr id="60" name="object 60"/>
            <p:cNvSpPr/>
            <p:nvPr/>
          </p:nvSpPr>
          <p:spPr>
            <a:xfrm>
              <a:off x="5234940" y="4488180"/>
              <a:ext cx="1484630" cy="683260"/>
            </a:xfrm>
            <a:custGeom>
              <a:avLst/>
              <a:gdLst/>
              <a:ahLst/>
              <a:cxnLst/>
              <a:rect l="l" t="t" r="r" b="b"/>
              <a:pathLst>
                <a:path w="1484629" h="683260">
                  <a:moveTo>
                    <a:pt x="1484375" y="0"/>
                  </a:moveTo>
                  <a:lnTo>
                    <a:pt x="0" y="0"/>
                  </a:lnTo>
                  <a:lnTo>
                    <a:pt x="0" y="682752"/>
                  </a:lnTo>
                  <a:lnTo>
                    <a:pt x="1484375" y="682752"/>
                  </a:lnTo>
                  <a:lnTo>
                    <a:pt x="1484375" y="0"/>
                  </a:lnTo>
                  <a:close/>
                </a:path>
              </a:pathLst>
            </a:custGeom>
            <a:solidFill>
              <a:srgbClr val="99CCFF"/>
            </a:solidFill>
          </p:spPr>
          <p:txBody>
            <a:bodyPr wrap="square" lIns="0" tIns="0" rIns="0" bIns="0" rtlCol="0"/>
            <a:lstStyle/>
            <a:p>
              <a:endParaRPr/>
            </a:p>
          </p:txBody>
        </p:sp>
        <p:sp>
          <p:nvSpPr>
            <p:cNvPr id="61" name="object 61"/>
            <p:cNvSpPr/>
            <p:nvPr/>
          </p:nvSpPr>
          <p:spPr>
            <a:xfrm>
              <a:off x="5234940" y="4488180"/>
              <a:ext cx="1484630" cy="683260"/>
            </a:xfrm>
            <a:custGeom>
              <a:avLst/>
              <a:gdLst/>
              <a:ahLst/>
              <a:cxnLst/>
              <a:rect l="l" t="t" r="r" b="b"/>
              <a:pathLst>
                <a:path w="1484629" h="683260">
                  <a:moveTo>
                    <a:pt x="0" y="682752"/>
                  </a:moveTo>
                  <a:lnTo>
                    <a:pt x="1484375" y="682752"/>
                  </a:lnTo>
                  <a:lnTo>
                    <a:pt x="1484375" y="0"/>
                  </a:lnTo>
                  <a:lnTo>
                    <a:pt x="0" y="0"/>
                  </a:lnTo>
                  <a:lnTo>
                    <a:pt x="0" y="682752"/>
                  </a:lnTo>
                  <a:close/>
                </a:path>
              </a:pathLst>
            </a:custGeom>
            <a:ln w="39624">
              <a:solidFill>
                <a:srgbClr val="000000"/>
              </a:solidFill>
            </a:ln>
          </p:spPr>
          <p:txBody>
            <a:bodyPr wrap="square" lIns="0" tIns="0" rIns="0" bIns="0" rtlCol="0"/>
            <a:lstStyle/>
            <a:p>
              <a:endParaRPr/>
            </a:p>
          </p:txBody>
        </p:sp>
      </p:grpSp>
      <p:sp>
        <p:nvSpPr>
          <p:cNvPr id="62" name="object 62"/>
          <p:cNvSpPr txBox="1"/>
          <p:nvPr/>
        </p:nvSpPr>
        <p:spPr>
          <a:xfrm>
            <a:off x="5899150" y="4661103"/>
            <a:ext cx="178435" cy="300355"/>
          </a:xfrm>
          <a:prstGeom prst="rect">
            <a:avLst/>
          </a:prstGeom>
        </p:spPr>
        <p:txBody>
          <a:bodyPr vert="horz" wrap="square" lIns="0" tIns="12700" rIns="0" bIns="0" rtlCol="0">
            <a:spAutoFit/>
          </a:bodyPr>
          <a:lstStyle/>
          <a:p>
            <a:pPr>
              <a:lnSpc>
                <a:spcPct val="100000"/>
              </a:lnSpc>
              <a:spcBef>
                <a:spcPts val="100"/>
              </a:spcBef>
            </a:pPr>
            <a:r>
              <a:rPr sz="1800" b="1" i="1" dirty="0">
                <a:latin typeface="Arial"/>
                <a:cs typeface="Arial"/>
              </a:rPr>
              <a:t>C</a:t>
            </a:r>
            <a:endParaRPr sz="1800">
              <a:latin typeface="Arial"/>
              <a:cs typeface="Arial"/>
            </a:endParaRPr>
          </a:p>
        </p:txBody>
      </p:sp>
      <p:grpSp>
        <p:nvGrpSpPr>
          <p:cNvPr id="63" name="object 63"/>
          <p:cNvGrpSpPr/>
          <p:nvPr/>
        </p:nvGrpSpPr>
        <p:grpSpPr>
          <a:xfrm>
            <a:off x="3383089" y="4468177"/>
            <a:ext cx="1875155" cy="723265"/>
            <a:chOff x="3383089" y="4468177"/>
            <a:chExt cx="1875155" cy="723265"/>
          </a:xfrm>
        </p:grpSpPr>
        <p:sp>
          <p:nvSpPr>
            <p:cNvPr id="64" name="object 64"/>
            <p:cNvSpPr/>
            <p:nvPr/>
          </p:nvSpPr>
          <p:spPr>
            <a:xfrm>
              <a:off x="3403092" y="4488180"/>
              <a:ext cx="1835150" cy="683260"/>
            </a:xfrm>
            <a:custGeom>
              <a:avLst/>
              <a:gdLst/>
              <a:ahLst/>
              <a:cxnLst/>
              <a:rect l="l" t="t" r="r" b="b"/>
              <a:pathLst>
                <a:path w="1835150" h="683260">
                  <a:moveTo>
                    <a:pt x="1834895" y="0"/>
                  </a:moveTo>
                  <a:lnTo>
                    <a:pt x="0" y="0"/>
                  </a:lnTo>
                  <a:lnTo>
                    <a:pt x="0" y="682752"/>
                  </a:lnTo>
                  <a:lnTo>
                    <a:pt x="1834895" y="682752"/>
                  </a:lnTo>
                  <a:lnTo>
                    <a:pt x="1834895" y="0"/>
                  </a:lnTo>
                  <a:close/>
                </a:path>
              </a:pathLst>
            </a:custGeom>
            <a:solidFill>
              <a:srgbClr val="99CCFF"/>
            </a:solidFill>
          </p:spPr>
          <p:txBody>
            <a:bodyPr wrap="square" lIns="0" tIns="0" rIns="0" bIns="0" rtlCol="0"/>
            <a:lstStyle/>
            <a:p>
              <a:endParaRPr/>
            </a:p>
          </p:txBody>
        </p:sp>
        <p:sp>
          <p:nvSpPr>
            <p:cNvPr id="65" name="object 65"/>
            <p:cNvSpPr/>
            <p:nvPr/>
          </p:nvSpPr>
          <p:spPr>
            <a:xfrm>
              <a:off x="3403092" y="4488180"/>
              <a:ext cx="1835150" cy="683260"/>
            </a:xfrm>
            <a:custGeom>
              <a:avLst/>
              <a:gdLst/>
              <a:ahLst/>
              <a:cxnLst/>
              <a:rect l="l" t="t" r="r" b="b"/>
              <a:pathLst>
                <a:path w="1835150" h="683260">
                  <a:moveTo>
                    <a:pt x="0" y="682752"/>
                  </a:moveTo>
                  <a:lnTo>
                    <a:pt x="1834895" y="682752"/>
                  </a:lnTo>
                  <a:lnTo>
                    <a:pt x="1834895" y="0"/>
                  </a:lnTo>
                  <a:lnTo>
                    <a:pt x="0" y="0"/>
                  </a:lnTo>
                  <a:lnTo>
                    <a:pt x="0" y="682752"/>
                  </a:lnTo>
                  <a:close/>
                </a:path>
              </a:pathLst>
            </a:custGeom>
            <a:ln w="39624">
              <a:solidFill>
                <a:srgbClr val="000000"/>
              </a:solidFill>
            </a:ln>
          </p:spPr>
          <p:txBody>
            <a:bodyPr wrap="square" lIns="0" tIns="0" rIns="0" bIns="0" rtlCol="0"/>
            <a:lstStyle/>
            <a:p>
              <a:endParaRPr/>
            </a:p>
          </p:txBody>
        </p:sp>
      </p:grpSp>
      <p:sp>
        <p:nvSpPr>
          <p:cNvPr id="66" name="object 66"/>
          <p:cNvSpPr txBox="1"/>
          <p:nvPr/>
        </p:nvSpPr>
        <p:spPr>
          <a:xfrm>
            <a:off x="4277614" y="4661103"/>
            <a:ext cx="178435" cy="300355"/>
          </a:xfrm>
          <a:prstGeom prst="rect">
            <a:avLst/>
          </a:prstGeom>
        </p:spPr>
        <p:txBody>
          <a:bodyPr vert="horz" wrap="square" lIns="0" tIns="12700" rIns="0" bIns="0" rtlCol="0">
            <a:spAutoFit/>
          </a:bodyPr>
          <a:lstStyle/>
          <a:p>
            <a:pPr>
              <a:lnSpc>
                <a:spcPct val="100000"/>
              </a:lnSpc>
              <a:spcBef>
                <a:spcPts val="100"/>
              </a:spcBef>
            </a:pPr>
            <a:r>
              <a:rPr sz="1800" b="1" i="1" dirty="0">
                <a:latin typeface="Arial"/>
                <a:cs typeface="Arial"/>
              </a:rPr>
              <a:t>D</a:t>
            </a:r>
            <a:endParaRPr sz="1800">
              <a:latin typeface="Arial"/>
              <a:cs typeface="Arial"/>
            </a:endParaRPr>
          </a:p>
        </p:txBody>
      </p:sp>
      <p:grpSp>
        <p:nvGrpSpPr>
          <p:cNvPr id="67" name="object 67"/>
          <p:cNvGrpSpPr/>
          <p:nvPr/>
        </p:nvGrpSpPr>
        <p:grpSpPr>
          <a:xfrm>
            <a:off x="2112073" y="4468177"/>
            <a:ext cx="1308100" cy="723265"/>
            <a:chOff x="2112073" y="4468177"/>
            <a:chExt cx="1308100" cy="723265"/>
          </a:xfrm>
        </p:grpSpPr>
        <p:sp>
          <p:nvSpPr>
            <p:cNvPr id="68" name="object 68"/>
            <p:cNvSpPr/>
            <p:nvPr/>
          </p:nvSpPr>
          <p:spPr>
            <a:xfrm>
              <a:off x="2132075" y="4488180"/>
              <a:ext cx="1268095" cy="683260"/>
            </a:xfrm>
            <a:custGeom>
              <a:avLst/>
              <a:gdLst/>
              <a:ahLst/>
              <a:cxnLst/>
              <a:rect l="l" t="t" r="r" b="b"/>
              <a:pathLst>
                <a:path w="1268095" h="683260">
                  <a:moveTo>
                    <a:pt x="1267968" y="0"/>
                  </a:moveTo>
                  <a:lnTo>
                    <a:pt x="0" y="0"/>
                  </a:lnTo>
                  <a:lnTo>
                    <a:pt x="0" y="682752"/>
                  </a:lnTo>
                  <a:lnTo>
                    <a:pt x="1267968" y="682752"/>
                  </a:lnTo>
                  <a:lnTo>
                    <a:pt x="1267968" y="0"/>
                  </a:lnTo>
                  <a:close/>
                </a:path>
              </a:pathLst>
            </a:custGeom>
            <a:solidFill>
              <a:srgbClr val="99CCFF"/>
            </a:solidFill>
          </p:spPr>
          <p:txBody>
            <a:bodyPr wrap="square" lIns="0" tIns="0" rIns="0" bIns="0" rtlCol="0"/>
            <a:lstStyle/>
            <a:p>
              <a:endParaRPr/>
            </a:p>
          </p:txBody>
        </p:sp>
        <p:sp>
          <p:nvSpPr>
            <p:cNvPr id="69" name="object 69"/>
            <p:cNvSpPr/>
            <p:nvPr/>
          </p:nvSpPr>
          <p:spPr>
            <a:xfrm>
              <a:off x="2132075" y="4488180"/>
              <a:ext cx="1268095" cy="683260"/>
            </a:xfrm>
            <a:custGeom>
              <a:avLst/>
              <a:gdLst/>
              <a:ahLst/>
              <a:cxnLst/>
              <a:rect l="l" t="t" r="r" b="b"/>
              <a:pathLst>
                <a:path w="1268095" h="683260">
                  <a:moveTo>
                    <a:pt x="0" y="682752"/>
                  </a:moveTo>
                  <a:lnTo>
                    <a:pt x="1267968" y="682752"/>
                  </a:lnTo>
                  <a:lnTo>
                    <a:pt x="1267968" y="0"/>
                  </a:lnTo>
                  <a:lnTo>
                    <a:pt x="0" y="0"/>
                  </a:lnTo>
                  <a:lnTo>
                    <a:pt x="0" y="682752"/>
                  </a:lnTo>
                  <a:close/>
                </a:path>
              </a:pathLst>
            </a:custGeom>
            <a:ln w="39624">
              <a:solidFill>
                <a:srgbClr val="000000"/>
              </a:solidFill>
            </a:ln>
          </p:spPr>
          <p:txBody>
            <a:bodyPr wrap="square" lIns="0" tIns="0" rIns="0" bIns="0" rtlCol="0"/>
            <a:lstStyle/>
            <a:p>
              <a:endParaRPr/>
            </a:p>
          </p:txBody>
        </p:sp>
      </p:grpSp>
      <p:sp>
        <p:nvSpPr>
          <p:cNvPr id="70" name="object 70"/>
          <p:cNvSpPr txBox="1"/>
          <p:nvPr/>
        </p:nvSpPr>
        <p:spPr>
          <a:xfrm>
            <a:off x="2673730" y="4661103"/>
            <a:ext cx="165735" cy="300355"/>
          </a:xfrm>
          <a:prstGeom prst="rect">
            <a:avLst/>
          </a:prstGeom>
        </p:spPr>
        <p:txBody>
          <a:bodyPr vert="horz" wrap="square" lIns="0" tIns="12700" rIns="0" bIns="0" rtlCol="0">
            <a:spAutoFit/>
          </a:bodyPr>
          <a:lstStyle/>
          <a:p>
            <a:pPr>
              <a:lnSpc>
                <a:spcPct val="100000"/>
              </a:lnSpc>
              <a:spcBef>
                <a:spcPts val="100"/>
              </a:spcBef>
            </a:pPr>
            <a:r>
              <a:rPr sz="1800" b="1" i="1" dirty="0">
                <a:latin typeface="Arial"/>
                <a:cs typeface="Arial"/>
              </a:rPr>
              <a:t>E</a:t>
            </a:r>
            <a:endParaRPr sz="1800">
              <a:latin typeface="Arial"/>
              <a:cs typeface="Arial"/>
            </a:endParaRPr>
          </a:p>
        </p:txBody>
      </p:sp>
      <p:sp>
        <p:nvSpPr>
          <p:cNvPr id="71" name="object 71"/>
          <p:cNvSpPr/>
          <p:nvPr/>
        </p:nvSpPr>
        <p:spPr>
          <a:xfrm>
            <a:off x="2138172" y="5167884"/>
            <a:ext cx="1076325" cy="683260"/>
          </a:xfrm>
          <a:custGeom>
            <a:avLst/>
            <a:gdLst/>
            <a:ahLst/>
            <a:cxnLst/>
            <a:rect l="l" t="t" r="r" b="b"/>
            <a:pathLst>
              <a:path w="1076325" h="683260">
                <a:moveTo>
                  <a:pt x="0" y="682751"/>
                </a:moveTo>
                <a:lnTo>
                  <a:pt x="1075944" y="682751"/>
                </a:lnTo>
                <a:lnTo>
                  <a:pt x="1075944" y="0"/>
                </a:lnTo>
                <a:lnTo>
                  <a:pt x="0" y="0"/>
                </a:lnTo>
                <a:lnTo>
                  <a:pt x="0" y="682751"/>
                </a:lnTo>
                <a:close/>
              </a:path>
            </a:pathLst>
          </a:custGeom>
          <a:ln w="39624">
            <a:solidFill>
              <a:srgbClr val="000000"/>
            </a:solidFill>
          </a:ln>
        </p:spPr>
        <p:txBody>
          <a:bodyPr wrap="square" lIns="0" tIns="0" rIns="0" bIns="0" rtlCol="0"/>
          <a:lstStyle/>
          <a:p>
            <a:endParaRPr/>
          </a:p>
        </p:txBody>
      </p:sp>
      <p:sp>
        <p:nvSpPr>
          <p:cNvPr id="72" name="object 72"/>
          <p:cNvSpPr txBox="1"/>
          <p:nvPr/>
        </p:nvSpPr>
        <p:spPr>
          <a:xfrm>
            <a:off x="2154935" y="5190744"/>
            <a:ext cx="1039494" cy="640080"/>
          </a:xfrm>
          <a:prstGeom prst="rect">
            <a:avLst/>
          </a:prstGeom>
          <a:solidFill>
            <a:srgbClr val="99CCFF"/>
          </a:solidFill>
        </p:spPr>
        <p:txBody>
          <a:bodyPr vert="horz" wrap="square" lIns="0" tIns="169545" rIns="0" bIns="0" rtlCol="0">
            <a:spAutoFit/>
          </a:bodyPr>
          <a:lstStyle/>
          <a:p>
            <a:pPr marR="19050" algn="ctr">
              <a:lnSpc>
                <a:spcPct val="100000"/>
              </a:lnSpc>
              <a:spcBef>
                <a:spcPts val="1335"/>
              </a:spcBef>
            </a:pPr>
            <a:r>
              <a:rPr sz="1800" b="1" i="1" dirty="0">
                <a:latin typeface="Arial"/>
                <a:cs typeface="Arial"/>
              </a:rPr>
              <a:t>B</a:t>
            </a:r>
            <a:endParaRPr sz="1800">
              <a:latin typeface="Arial"/>
              <a:cs typeface="Arial"/>
            </a:endParaRPr>
          </a:p>
        </p:txBody>
      </p:sp>
      <p:sp>
        <p:nvSpPr>
          <p:cNvPr id="73" name="object 73"/>
          <p:cNvSpPr/>
          <p:nvPr/>
        </p:nvSpPr>
        <p:spPr>
          <a:xfrm>
            <a:off x="7652004" y="5167884"/>
            <a:ext cx="360045" cy="683260"/>
          </a:xfrm>
          <a:custGeom>
            <a:avLst/>
            <a:gdLst/>
            <a:ahLst/>
            <a:cxnLst/>
            <a:rect l="l" t="t" r="r" b="b"/>
            <a:pathLst>
              <a:path w="360045" h="683260">
                <a:moveTo>
                  <a:pt x="0" y="682751"/>
                </a:moveTo>
                <a:lnTo>
                  <a:pt x="359664" y="682751"/>
                </a:lnTo>
                <a:lnTo>
                  <a:pt x="359664" y="0"/>
                </a:lnTo>
                <a:lnTo>
                  <a:pt x="0" y="0"/>
                </a:lnTo>
                <a:lnTo>
                  <a:pt x="0" y="682751"/>
                </a:lnTo>
                <a:close/>
              </a:path>
            </a:pathLst>
          </a:custGeom>
          <a:ln w="39624">
            <a:solidFill>
              <a:srgbClr val="000000"/>
            </a:solidFill>
          </a:ln>
        </p:spPr>
        <p:txBody>
          <a:bodyPr wrap="square" lIns="0" tIns="0" rIns="0" bIns="0" rtlCol="0"/>
          <a:lstStyle/>
          <a:p>
            <a:endParaRPr/>
          </a:p>
        </p:txBody>
      </p:sp>
      <p:sp>
        <p:nvSpPr>
          <p:cNvPr id="74" name="object 74"/>
          <p:cNvSpPr txBox="1"/>
          <p:nvPr/>
        </p:nvSpPr>
        <p:spPr>
          <a:xfrm>
            <a:off x="7674864" y="5190744"/>
            <a:ext cx="317500" cy="640080"/>
          </a:xfrm>
          <a:prstGeom prst="rect">
            <a:avLst/>
          </a:prstGeom>
          <a:solidFill>
            <a:srgbClr val="99CCFF"/>
          </a:solidFill>
        </p:spPr>
        <p:txBody>
          <a:bodyPr vert="horz" wrap="square" lIns="0" tIns="169545" rIns="0" bIns="0" rtlCol="0">
            <a:spAutoFit/>
          </a:bodyPr>
          <a:lstStyle/>
          <a:p>
            <a:pPr marL="61594">
              <a:lnSpc>
                <a:spcPct val="100000"/>
              </a:lnSpc>
              <a:spcBef>
                <a:spcPts val="1335"/>
              </a:spcBef>
            </a:pPr>
            <a:r>
              <a:rPr sz="1800" b="1" i="1" dirty="0">
                <a:latin typeface="Arial"/>
                <a:cs typeface="Arial"/>
              </a:rPr>
              <a:t>A</a:t>
            </a:r>
            <a:endParaRPr sz="1800">
              <a:latin typeface="Arial"/>
              <a:cs typeface="Arial"/>
            </a:endParaRPr>
          </a:p>
        </p:txBody>
      </p:sp>
      <p:sp>
        <p:nvSpPr>
          <p:cNvPr id="75" name="object 75"/>
          <p:cNvSpPr/>
          <p:nvPr/>
        </p:nvSpPr>
        <p:spPr>
          <a:xfrm>
            <a:off x="6899147" y="5167884"/>
            <a:ext cx="756285" cy="683260"/>
          </a:xfrm>
          <a:custGeom>
            <a:avLst/>
            <a:gdLst/>
            <a:ahLst/>
            <a:cxnLst/>
            <a:rect l="l" t="t" r="r" b="b"/>
            <a:pathLst>
              <a:path w="756284" h="683260">
                <a:moveTo>
                  <a:pt x="0" y="682751"/>
                </a:moveTo>
                <a:lnTo>
                  <a:pt x="755903" y="682751"/>
                </a:lnTo>
                <a:lnTo>
                  <a:pt x="755903" y="0"/>
                </a:lnTo>
                <a:lnTo>
                  <a:pt x="0" y="0"/>
                </a:lnTo>
                <a:lnTo>
                  <a:pt x="0" y="682751"/>
                </a:lnTo>
                <a:close/>
              </a:path>
            </a:pathLst>
          </a:custGeom>
          <a:ln w="39624">
            <a:solidFill>
              <a:srgbClr val="000000"/>
            </a:solidFill>
          </a:ln>
        </p:spPr>
        <p:txBody>
          <a:bodyPr wrap="square" lIns="0" tIns="0" rIns="0" bIns="0" rtlCol="0"/>
          <a:lstStyle/>
          <a:p>
            <a:endParaRPr/>
          </a:p>
        </p:txBody>
      </p:sp>
      <p:sp>
        <p:nvSpPr>
          <p:cNvPr id="76" name="object 76"/>
          <p:cNvSpPr txBox="1"/>
          <p:nvPr/>
        </p:nvSpPr>
        <p:spPr>
          <a:xfrm>
            <a:off x="6918959" y="5190744"/>
            <a:ext cx="713740" cy="640080"/>
          </a:xfrm>
          <a:prstGeom prst="rect">
            <a:avLst/>
          </a:prstGeom>
          <a:solidFill>
            <a:srgbClr val="99CCFF"/>
          </a:solidFill>
        </p:spPr>
        <p:txBody>
          <a:bodyPr vert="horz" wrap="square" lIns="0" tIns="169545" rIns="0" bIns="0" rtlCol="0">
            <a:spAutoFit/>
          </a:bodyPr>
          <a:lstStyle/>
          <a:p>
            <a:pPr marL="3175" algn="ctr">
              <a:lnSpc>
                <a:spcPct val="100000"/>
              </a:lnSpc>
              <a:spcBef>
                <a:spcPts val="1335"/>
              </a:spcBef>
            </a:pPr>
            <a:r>
              <a:rPr sz="1800" b="1" i="1" dirty="0">
                <a:latin typeface="Arial"/>
                <a:cs typeface="Arial"/>
              </a:rPr>
              <a:t>C</a:t>
            </a:r>
            <a:endParaRPr sz="1800">
              <a:latin typeface="Arial"/>
              <a:cs typeface="Arial"/>
            </a:endParaRPr>
          </a:p>
        </p:txBody>
      </p:sp>
      <p:sp>
        <p:nvSpPr>
          <p:cNvPr id="77" name="object 77"/>
          <p:cNvSpPr/>
          <p:nvPr/>
        </p:nvSpPr>
        <p:spPr>
          <a:xfrm>
            <a:off x="5594603" y="5167884"/>
            <a:ext cx="1304925" cy="683260"/>
          </a:xfrm>
          <a:custGeom>
            <a:avLst/>
            <a:gdLst/>
            <a:ahLst/>
            <a:cxnLst/>
            <a:rect l="l" t="t" r="r" b="b"/>
            <a:pathLst>
              <a:path w="1304925" h="683260">
                <a:moveTo>
                  <a:pt x="0" y="682751"/>
                </a:moveTo>
                <a:lnTo>
                  <a:pt x="1304544" y="682751"/>
                </a:lnTo>
                <a:lnTo>
                  <a:pt x="1304544" y="0"/>
                </a:lnTo>
                <a:lnTo>
                  <a:pt x="0" y="0"/>
                </a:lnTo>
                <a:lnTo>
                  <a:pt x="0" y="682751"/>
                </a:lnTo>
                <a:close/>
              </a:path>
            </a:pathLst>
          </a:custGeom>
          <a:ln w="39624">
            <a:solidFill>
              <a:srgbClr val="000000"/>
            </a:solidFill>
          </a:ln>
        </p:spPr>
        <p:txBody>
          <a:bodyPr wrap="square" lIns="0" tIns="0" rIns="0" bIns="0" rtlCol="0"/>
          <a:lstStyle/>
          <a:p>
            <a:endParaRPr/>
          </a:p>
        </p:txBody>
      </p:sp>
      <p:sp>
        <p:nvSpPr>
          <p:cNvPr id="78" name="object 78"/>
          <p:cNvSpPr txBox="1"/>
          <p:nvPr/>
        </p:nvSpPr>
        <p:spPr>
          <a:xfrm>
            <a:off x="5617464" y="5192267"/>
            <a:ext cx="1262380" cy="638810"/>
          </a:xfrm>
          <a:prstGeom prst="rect">
            <a:avLst/>
          </a:prstGeom>
          <a:solidFill>
            <a:srgbClr val="99CCFF"/>
          </a:solidFill>
        </p:spPr>
        <p:txBody>
          <a:bodyPr vert="horz" wrap="square" lIns="0" tIns="167640" rIns="0" bIns="0" rtlCol="0">
            <a:spAutoFit/>
          </a:bodyPr>
          <a:lstStyle/>
          <a:p>
            <a:pPr marL="9525" algn="ctr">
              <a:lnSpc>
                <a:spcPct val="100000"/>
              </a:lnSpc>
              <a:spcBef>
                <a:spcPts val="1320"/>
              </a:spcBef>
            </a:pPr>
            <a:r>
              <a:rPr sz="1800" b="1" i="1" dirty="0">
                <a:latin typeface="Arial"/>
                <a:cs typeface="Arial"/>
              </a:rPr>
              <a:t>D</a:t>
            </a:r>
            <a:endParaRPr sz="1800">
              <a:latin typeface="Arial"/>
              <a:cs typeface="Arial"/>
            </a:endParaRPr>
          </a:p>
        </p:txBody>
      </p:sp>
      <p:grpSp>
        <p:nvGrpSpPr>
          <p:cNvPr id="79" name="object 79"/>
          <p:cNvGrpSpPr/>
          <p:nvPr/>
        </p:nvGrpSpPr>
        <p:grpSpPr>
          <a:xfrm>
            <a:off x="3383089" y="5147881"/>
            <a:ext cx="2234565" cy="723265"/>
            <a:chOff x="3383089" y="5147881"/>
            <a:chExt cx="2234565" cy="723265"/>
          </a:xfrm>
        </p:grpSpPr>
        <p:sp>
          <p:nvSpPr>
            <p:cNvPr id="80" name="object 80"/>
            <p:cNvSpPr/>
            <p:nvPr/>
          </p:nvSpPr>
          <p:spPr>
            <a:xfrm>
              <a:off x="3403092" y="5167884"/>
              <a:ext cx="2194560" cy="683260"/>
            </a:xfrm>
            <a:custGeom>
              <a:avLst/>
              <a:gdLst/>
              <a:ahLst/>
              <a:cxnLst/>
              <a:rect l="l" t="t" r="r" b="b"/>
              <a:pathLst>
                <a:path w="2194560" h="683260">
                  <a:moveTo>
                    <a:pt x="2194560" y="0"/>
                  </a:moveTo>
                  <a:lnTo>
                    <a:pt x="0" y="0"/>
                  </a:lnTo>
                  <a:lnTo>
                    <a:pt x="0" y="682751"/>
                  </a:lnTo>
                  <a:lnTo>
                    <a:pt x="2194560" y="682751"/>
                  </a:lnTo>
                  <a:lnTo>
                    <a:pt x="2194560" y="0"/>
                  </a:lnTo>
                  <a:close/>
                </a:path>
              </a:pathLst>
            </a:custGeom>
            <a:solidFill>
              <a:srgbClr val="99CCFF"/>
            </a:solidFill>
          </p:spPr>
          <p:txBody>
            <a:bodyPr wrap="square" lIns="0" tIns="0" rIns="0" bIns="0" rtlCol="0"/>
            <a:lstStyle/>
            <a:p>
              <a:endParaRPr/>
            </a:p>
          </p:txBody>
        </p:sp>
        <p:sp>
          <p:nvSpPr>
            <p:cNvPr id="81" name="object 81"/>
            <p:cNvSpPr/>
            <p:nvPr/>
          </p:nvSpPr>
          <p:spPr>
            <a:xfrm>
              <a:off x="3403092" y="5167884"/>
              <a:ext cx="2194560" cy="683260"/>
            </a:xfrm>
            <a:custGeom>
              <a:avLst/>
              <a:gdLst/>
              <a:ahLst/>
              <a:cxnLst/>
              <a:rect l="l" t="t" r="r" b="b"/>
              <a:pathLst>
                <a:path w="2194560" h="683260">
                  <a:moveTo>
                    <a:pt x="0" y="682751"/>
                  </a:moveTo>
                  <a:lnTo>
                    <a:pt x="2194560" y="682751"/>
                  </a:lnTo>
                  <a:lnTo>
                    <a:pt x="2194560" y="0"/>
                  </a:lnTo>
                  <a:lnTo>
                    <a:pt x="0" y="0"/>
                  </a:lnTo>
                  <a:lnTo>
                    <a:pt x="0" y="682751"/>
                  </a:lnTo>
                  <a:close/>
                </a:path>
              </a:pathLst>
            </a:custGeom>
            <a:ln w="39624">
              <a:solidFill>
                <a:srgbClr val="000000"/>
              </a:solidFill>
            </a:ln>
          </p:spPr>
          <p:txBody>
            <a:bodyPr wrap="square" lIns="0" tIns="0" rIns="0" bIns="0" rtlCol="0"/>
            <a:lstStyle/>
            <a:p>
              <a:endParaRPr/>
            </a:p>
          </p:txBody>
        </p:sp>
      </p:grpSp>
      <p:sp>
        <p:nvSpPr>
          <p:cNvPr id="82" name="object 82"/>
          <p:cNvSpPr txBox="1"/>
          <p:nvPr/>
        </p:nvSpPr>
        <p:spPr>
          <a:xfrm>
            <a:off x="4471415" y="5347208"/>
            <a:ext cx="165735" cy="300355"/>
          </a:xfrm>
          <a:prstGeom prst="rect">
            <a:avLst/>
          </a:prstGeom>
        </p:spPr>
        <p:txBody>
          <a:bodyPr vert="horz" wrap="square" lIns="0" tIns="12700" rIns="0" bIns="0" rtlCol="0">
            <a:spAutoFit/>
          </a:bodyPr>
          <a:lstStyle/>
          <a:p>
            <a:pPr>
              <a:lnSpc>
                <a:spcPct val="100000"/>
              </a:lnSpc>
              <a:spcBef>
                <a:spcPts val="100"/>
              </a:spcBef>
            </a:pPr>
            <a:r>
              <a:rPr sz="1800" b="1" i="1" dirty="0">
                <a:latin typeface="Arial"/>
                <a:cs typeface="Arial"/>
              </a:rPr>
              <a:t>E</a:t>
            </a:r>
            <a:endParaRPr sz="1800">
              <a:latin typeface="Arial"/>
              <a:cs typeface="Arial"/>
            </a:endParaRPr>
          </a:p>
        </p:txBody>
      </p:sp>
      <p:grpSp>
        <p:nvGrpSpPr>
          <p:cNvPr id="83" name="object 83"/>
          <p:cNvGrpSpPr/>
          <p:nvPr/>
        </p:nvGrpSpPr>
        <p:grpSpPr>
          <a:xfrm>
            <a:off x="926401" y="4468177"/>
            <a:ext cx="686435" cy="1402715"/>
            <a:chOff x="926401" y="4468177"/>
            <a:chExt cx="686435" cy="1402715"/>
          </a:xfrm>
        </p:grpSpPr>
        <p:sp>
          <p:nvSpPr>
            <p:cNvPr id="84" name="object 84"/>
            <p:cNvSpPr/>
            <p:nvPr/>
          </p:nvSpPr>
          <p:spPr>
            <a:xfrm>
              <a:off x="946403" y="4488180"/>
              <a:ext cx="646430" cy="683260"/>
            </a:xfrm>
            <a:custGeom>
              <a:avLst/>
              <a:gdLst/>
              <a:ahLst/>
              <a:cxnLst/>
              <a:rect l="l" t="t" r="r" b="b"/>
              <a:pathLst>
                <a:path w="646430" h="683260">
                  <a:moveTo>
                    <a:pt x="646176" y="0"/>
                  </a:moveTo>
                  <a:lnTo>
                    <a:pt x="0" y="0"/>
                  </a:lnTo>
                  <a:lnTo>
                    <a:pt x="0" y="682752"/>
                  </a:lnTo>
                  <a:lnTo>
                    <a:pt x="646176" y="682752"/>
                  </a:lnTo>
                  <a:lnTo>
                    <a:pt x="646176" y="0"/>
                  </a:lnTo>
                  <a:close/>
                </a:path>
              </a:pathLst>
            </a:custGeom>
            <a:solidFill>
              <a:srgbClr val="99CCFF"/>
            </a:solidFill>
          </p:spPr>
          <p:txBody>
            <a:bodyPr wrap="square" lIns="0" tIns="0" rIns="0" bIns="0" rtlCol="0"/>
            <a:lstStyle/>
            <a:p>
              <a:endParaRPr/>
            </a:p>
          </p:txBody>
        </p:sp>
        <p:sp>
          <p:nvSpPr>
            <p:cNvPr id="85" name="object 85"/>
            <p:cNvSpPr/>
            <p:nvPr/>
          </p:nvSpPr>
          <p:spPr>
            <a:xfrm>
              <a:off x="946403" y="4488180"/>
              <a:ext cx="646430" cy="1362710"/>
            </a:xfrm>
            <a:custGeom>
              <a:avLst/>
              <a:gdLst/>
              <a:ahLst/>
              <a:cxnLst/>
              <a:rect l="l" t="t" r="r" b="b"/>
              <a:pathLst>
                <a:path w="646430" h="1362710">
                  <a:moveTo>
                    <a:pt x="0" y="682752"/>
                  </a:moveTo>
                  <a:lnTo>
                    <a:pt x="646176" y="682752"/>
                  </a:lnTo>
                  <a:lnTo>
                    <a:pt x="646176" y="0"/>
                  </a:lnTo>
                  <a:lnTo>
                    <a:pt x="0" y="0"/>
                  </a:lnTo>
                  <a:lnTo>
                    <a:pt x="0" y="682752"/>
                  </a:lnTo>
                  <a:close/>
                </a:path>
                <a:path w="646430" h="1362710">
                  <a:moveTo>
                    <a:pt x="0" y="1362456"/>
                  </a:moveTo>
                  <a:lnTo>
                    <a:pt x="646176" y="1362456"/>
                  </a:lnTo>
                  <a:lnTo>
                    <a:pt x="646176" y="679704"/>
                  </a:lnTo>
                  <a:lnTo>
                    <a:pt x="0" y="679704"/>
                  </a:lnTo>
                  <a:lnTo>
                    <a:pt x="0" y="1362456"/>
                  </a:lnTo>
                  <a:close/>
                </a:path>
              </a:pathLst>
            </a:custGeom>
            <a:ln w="39624">
              <a:solidFill>
                <a:srgbClr val="000000"/>
              </a:solidFill>
            </a:ln>
          </p:spPr>
          <p:txBody>
            <a:bodyPr wrap="square" lIns="0" tIns="0" rIns="0" bIns="0" rtlCol="0"/>
            <a:lstStyle/>
            <a:p>
              <a:endParaRPr/>
            </a:p>
          </p:txBody>
        </p:sp>
      </p:grpSp>
      <p:sp>
        <p:nvSpPr>
          <p:cNvPr id="86" name="object 86"/>
          <p:cNvSpPr txBox="1"/>
          <p:nvPr/>
        </p:nvSpPr>
        <p:spPr>
          <a:xfrm>
            <a:off x="966216" y="4565726"/>
            <a:ext cx="607060" cy="478790"/>
          </a:xfrm>
          <a:prstGeom prst="rect">
            <a:avLst/>
          </a:prstGeom>
        </p:spPr>
        <p:txBody>
          <a:bodyPr vert="horz" wrap="square" lIns="0" tIns="13970" rIns="0" bIns="0" rtlCol="0">
            <a:spAutoFit/>
          </a:bodyPr>
          <a:lstStyle/>
          <a:p>
            <a:pPr marR="26670" algn="ctr">
              <a:lnSpc>
                <a:spcPts val="1775"/>
              </a:lnSpc>
              <a:spcBef>
                <a:spcPts val="110"/>
              </a:spcBef>
            </a:pPr>
            <a:r>
              <a:rPr sz="1600" b="1" i="1" dirty="0">
                <a:latin typeface="Arial"/>
                <a:cs typeface="Arial"/>
              </a:rPr>
              <a:t>WC</a:t>
            </a:r>
            <a:endParaRPr sz="1600">
              <a:latin typeface="Arial"/>
              <a:cs typeface="Arial"/>
            </a:endParaRPr>
          </a:p>
          <a:p>
            <a:pPr marR="27305" algn="ctr">
              <a:lnSpc>
                <a:spcPts val="1775"/>
              </a:lnSpc>
            </a:pPr>
            <a:r>
              <a:rPr sz="1600" b="1" i="1" dirty="0">
                <a:latin typeface="Arial"/>
                <a:cs typeface="Arial"/>
              </a:rPr>
              <a:t>1</a:t>
            </a:r>
            <a:endParaRPr sz="1600">
              <a:latin typeface="Arial"/>
              <a:cs typeface="Arial"/>
            </a:endParaRPr>
          </a:p>
        </p:txBody>
      </p:sp>
      <p:sp>
        <p:nvSpPr>
          <p:cNvPr id="87" name="object 87"/>
          <p:cNvSpPr txBox="1"/>
          <p:nvPr/>
        </p:nvSpPr>
        <p:spPr>
          <a:xfrm>
            <a:off x="966216" y="5190744"/>
            <a:ext cx="607060" cy="640080"/>
          </a:xfrm>
          <a:prstGeom prst="rect">
            <a:avLst/>
          </a:prstGeom>
          <a:solidFill>
            <a:srgbClr val="99CCFF"/>
          </a:solidFill>
        </p:spPr>
        <p:txBody>
          <a:bodyPr vert="horz" wrap="square" lIns="0" tIns="74930" rIns="0" bIns="0" rtlCol="0">
            <a:spAutoFit/>
          </a:bodyPr>
          <a:lstStyle/>
          <a:p>
            <a:pPr marR="26034" algn="ctr">
              <a:lnSpc>
                <a:spcPts val="1775"/>
              </a:lnSpc>
              <a:spcBef>
                <a:spcPts val="590"/>
              </a:spcBef>
            </a:pPr>
            <a:r>
              <a:rPr sz="1600" b="1" i="1" dirty="0">
                <a:latin typeface="Arial"/>
                <a:cs typeface="Arial"/>
              </a:rPr>
              <a:t>WC</a:t>
            </a:r>
            <a:endParaRPr sz="1600">
              <a:latin typeface="Arial"/>
              <a:cs typeface="Arial"/>
            </a:endParaRPr>
          </a:p>
          <a:p>
            <a:pPr marR="26670" algn="ctr">
              <a:lnSpc>
                <a:spcPts val="1775"/>
              </a:lnSpc>
            </a:pPr>
            <a:r>
              <a:rPr sz="1600" b="1" i="1" dirty="0">
                <a:latin typeface="Arial"/>
                <a:cs typeface="Arial"/>
              </a:rPr>
              <a:t>2</a:t>
            </a:r>
            <a:endParaRPr sz="1600">
              <a:latin typeface="Arial"/>
              <a:cs typeface="Arial"/>
            </a:endParaRPr>
          </a:p>
        </p:txBody>
      </p:sp>
      <p:sp>
        <p:nvSpPr>
          <p:cNvPr id="88" name="object 88"/>
          <p:cNvSpPr/>
          <p:nvPr/>
        </p:nvSpPr>
        <p:spPr>
          <a:xfrm>
            <a:off x="2953511" y="6260590"/>
            <a:ext cx="475488" cy="518159"/>
          </a:xfrm>
          <a:prstGeom prst="rect">
            <a:avLst/>
          </a:prstGeom>
          <a:blipFill>
            <a:blip r:embed="rId30" cstate="print"/>
            <a:stretch>
              <a:fillRect/>
            </a:stretch>
          </a:blipFill>
        </p:spPr>
        <p:txBody>
          <a:bodyPr wrap="square" lIns="0" tIns="0" rIns="0" bIns="0" rtlCol="0"/>
          <a:lstStyle/>
          <a:p>
            <a:endParaRPr/>
          </a:p>
        </p:txBody>
      </p:sp>
      <p:sp>
        <p:nvSpPr>
          <p:cNvPr id="89" name="object 89"/>
          <p:cNvSpPr txBox="1"/>
          <p:nvPr/>
        </p:nvSpPr>
        <p:spPr>
          <a:xfrm>
            <a:off x="1806955" y="5885484"/>
            <a:ext cx="6355715" cy="735965"/>
          </a:xfrm>
          <a:prstGeom prst="rect">
            <a:avLst/>
          </a:prstGeom>
        </p:spPr>
        <p:txBody>
          <a:bodyPr vert="horz" wrap="square" lIns="0" tIns="12065" rIns="0" bIns="0" rtlCol="0">
            <a:spAutoFit/>
          </a:bodyPr>
          <a:lstStyle/>
          <a:p>
            <a:pPr marL="12700">
              <a:lnSpc>
                <a:spcPct val="100000"/>
              </a:lnSpc>
              <a:spcBef>
                <a:spcPts val="95"/>
              </a:spcBef>
              <a:tabLst>
                <a:tab pos="301625" algn="l"/>
                <a:tab pos="683260" algn="l"/>
                <a:tab pos="1064260" algn="l"/>
                <a:tab pos="1344930" algn="l"/>
                <a:tab pos="2820670" algn="l"/>
                <a:tab pos="3436620" algn="l"/>
                <a:tab pos="4570730" algn="l"/>
                <a:tab pos="5019040" algn="l"/>
                <a:tab pos="5400040" algn="l"/>
                <a:tab pos="5781040" algn="l"/>
                <a:tab pos="6146800" algn="l"/>
              </a:tabLst>
            </a:pPr>
            <a:r>
              <a:rPr sz="1400" b="1" i="1" spc="-5" dirty="0">
                <a:latin typeface="Arial"/>
                <a:cs typeface="Arial"/>
              </a:rPr>
              <a:t>1	3	5	7	9</a:t>
            </a:r>
            <a:r>
              <a:rPr sz="1400" b="1" i="1" spc="-40" dirty="0">
                <a:latin typeface="Arial"/>
                <a:cs typeface="Arial"/>
              </a:rPr>
              <a:t> </a:t>
            </a:r>
            <a:r>
              <a:rPr sz="1400" b="1" i="1" spc="-15" dirty="0">
                <a:latin typeface="Arial"/>
                <a:cs typeface="Arial"/>
              </a:rPr>
              <a:t>1</a:t>
            </a:r>
            <a:r>
              <a:rPr sz="1400" b="1" i="1" spc="-5" dirty="0">
                <a:latin typeface="Arial"/>
                <a:cs typeface="Arial"/>
              </a:rPr>
              <a:t>0</a:t>
            </a:r>
            <a:r>
              <a:rPr sz="1400" b="1" i="1" dirty="0">
                <a:latin typeface="Arial"/>
                <a:cs typeface="Arial"/>
              </a:rPr>
              <a:t> </a:t>
            </a:r>
            <a:r>
              <a:rPr sz="1400" b="1" i="1" spc="5" dirty="0">
                <a:latin typeface="Arial"/>
                <a:cs typeface="Arial"/>
              </a:rPr>
              <a:t> </a:t>
            </a:r>
            <a:r>
              <a:rPr sz="1400" b="1" i="1" spc="-110" dirty="0">
                <a:latin typeface="Arial"/>
                <a:cs typeface="Arial"/>
              </a:rPr>
              <a:t>1</a:t>
            </a:r>
            <a:r>
              <a:rPr sz="1400" b="1" i="1" spc="-5" dirty="0">
                <a:latin typeface="Arial"/>
                <a:cs typeface="Arial"/>
              </a:rPr>
              <a:t>1</a:t>
            </a:r>
            <a:r>
              <a:rPr sz="1400" b="1" i="1" dirty="0">
                <a:latin typeface="Arial"/>
                <a:cs typeface="Arial"/>
              </a:rPr>
              <a:t> </a:t>
            </a:r>
            <a:r>
              <a:rPr sz="1400" b="1" i="1" spc="-70" dirty="0">
                <a:latin typeface="Arial"/>
                <a:cs typeface="Arial"/>
              </a:rPr>
              <a:t> </a:t>
            </a:r>
            <a:r>
              <a:rPr sz="1400" b="1" i="1" spc="-15" dirty="0">
                <a:latin typeface="Arial"/>
                <a:cs typeface="Arial"/>
              </a:rPr>
              <a:t>1</a:t>
            </a:r>
            <a:r>
              <a:rPr sz="1400" b="1" i="1" spc="-5" dirty="0">
                <a:latin typeface="Arial"/>
                <a:cs typeface="Arial"/>
              </a:rPr>
              <a:t>2</a:t>
            </a:r>
            <a:r>
              <a:rPr sz="1400" b="1" i="1" dirty="0">
                <a:latin typeface="Arial"/>
                <a:cs typeface="Arial"/>
              </a:rPr>
              <a:t> </a:t>
            </a:r>
            <a:r>
              <a:rPr sz="1400" b="1" i="1" spc="-20" dirty="0">
                <a:latin typeface="Arial"/>
                <a:cs typeface="Arial"/>
              </a:rPr>
              <a:t> </a:t>
            </a:r>
            <a:r>
              <a:rPr sz="1400" b="1" i="1" spc="-15" dirty="0">
                <a:latin typeface="Arial"/>
                <a:cs typeface="Arial"/>
              </a:rPr>
              <a:t>1</a:t>
            </a:r>
            <a:r>
              <a:rPr sz="1400" b="1" i="1" spc="-5" dirty="0">
                <a:latin typeface="Arial"/>
                <a:cs typeface="Arial"/>
              </a:rPr>
              <a:t>3</a:t>
            </a:r>
            <a:r>
              <a:rPr sz="1400" b="1" i="1" dirty="0">
                <a:latin typeface="Arial"/>
                <a:cs typeface="Arial"/>
              </a:rPr>
              <a:t>	</a:t>
            </a:r>
            <a:r>
              <a:rPr sz="1400" b="1" i="1" spc="-15" dirty="0">
                <a:latin typeface="Arial"/>
                <a:cs typeface="Arial"/>
              </a:rPr>
              <a:t>1</a:t>
            </a:r>
            <a:r>
              <a:rPr sz="1400" b="1" i="1" spc="-5" dirty="0">
                <a:latin typeface="Arial"/>
                <a:cs typeface="Arial"/>
              </a:rPr>
              <a:t>7</a:t>
            </a:r>
            <a:r>
              <a:rPr sz="1400" b="1" i="1" dirty="0">
                <a:latin typeface="Arial"/>
                <a:cs typeface="Arial"/>
              </a:rPr>
              <a:t> </a:t>
            </a:r>
            <a:r>
              <a:rPr sz="1400" b="1" i="1" spc="-15" dirty="0">
                <a:latin typeface="Arial"/>
                <a:cs typeface="Arial"/>
              </a:rPr>
              <a:t> 1</a:t>
            </a:r>
            <a:r>
              <a:rPr sz="1400" b="1" i="1" spc="-5" dirty="0">
                <a:latin typeface="Arial"/>
                <a:cs typeface="Arial"/>
              </a:rPr>
              <a:t>9</a:t>
            </a:r>
            <a:r>
              <a:rPr sz="1400" b="1" i="1" dirty="0">
                <a:latin typeface="Arial"/>
                <a:cs typeface="Arial"/>
              </a:rPr>
              <a:t>	</a:t>
            </a:r>
            <a:r>
              <a:rPr sz="1400" b="1" i="1" spc="-15" dirty="0">
                <a:latin typeface="Arial"/>
                <a:cs typeface="Arial"/>
              </a:rPr>
              <a:t>2</a:t>
            </a:r>
            <a:r>
              <a:rPr sz="1400" b="1" i="1" spc="-5" dirty="0">
                <a:latin typeface="Arial"/>
                <a:cs typeface="Arial"/>
              </a:rPr>
              <a:t>1</a:t>
            </a:r>
            <a:r>
              <a:rPr sz="1400" b="1" i="1" spc="-10" dirty="0">
                <a:latin typeface="Arial"/>
                <a:cs typeface="Arial"/>
              </a:rPr>
              <a:t> </a:t>
            </a:r>
            <a:r>
              <a:rPr sz="1400" b="1" i="1" spc="-20" dirty="0">
                <a:latin typeface="Arial"/>
                <a:cs typeface="Arial"/>
              </a:rPr>
              <a:t>2</a:t>
            </a:r>
            <a:r>
              <a:rPr sz="1400" b="1" i="1" spc="-5" dirty="0">
                <a:latin typeface="Arial"/>
                <a:cs typeface="Arial"/>
              </a:rPr>
              <a:t>2</a:t>
            </a:r>
            <a:r>
              <a:rPr sz="1400" b="1" i="1" spc="10" dirty="0">
                <a:latin typeface="Arial"/>
                <a:cs typeface="Arial"/>
              </a:rPr>
              <a:t> </a:t>
            </a:r>
            <a:r>
              <a:rPr sz="1400" b="1" i="1" spc="-15" dirty="0">
                <a:latin typeface="Arial"/>
                <a:cs typeface="Arial"/>
              </a:rPr>
              <a:t>2</a:t>
            </a:r>
            <a:r>
              <a:rPr sz="1400" b="1" i="1" spc="10" dirty="0">
                <a:latin typeface="Arial"/>
                <a:cs typeface="Arial"/>
              </a:rPr>
              <a:t>3</a:t>
            </a:r>
            <a:r>
              <a:rPr sz="1400" b="1" i="1" spc="-15" dirty="0">
                <a:latin typeface="Arial"/>
                <a:cs typeface="Arial"/>
              </a:rPr>
              <a:t>2</a:t>
            </a:r>
            <a:r>
              <a:rPr sz="1400" b="1" i="1" spc="-5" dirty="0">
                <a:latin typeface="Arial"/>
                <a:cs typeface="Arial"/>
              </a:rPr>
              <a:t>5</a:t>
            </a:r>
            <a:r>
              <a:rPr sz="1400" b="1" i="1" dirty="0">
                <a:latin typeface="Arial"/>
                <a:cs typeface="Arial"/>
              </a:rPr>
              <a:t>	</a:t>
            </a:r>
            <a:r>
              <a:rPr sz="1400" b="1" i="1" spc="-15" dirty="0">
                <a:latin typeface="Arial"/>
                <a:cs typeface="Arial"/>
              </a:rPr>
              <a:t>2</a:t>
            </a:r>
            <a:r>
              <a:rPr sz="1400" b="1" i="1" spc="-5" dirty="0">
                <a:latin typeface="Arial"/>
                <a:cs typeface="Arial"/>
              </a:rPr>
              <a:t>7</a:t>
            </a:r>
            <a:r>
              <a:rPr sz="1400" b="1" i="1" dirty="0">
                <a:latin typeface="Arial"/>
                <a:cs typeface="Arial"/>
              </a:rPr>
              <a:t>	</a:t>
            </a:r>
            <a:r>
              <a:rPr sz="1400" b="1" i="1" spc="-15" dirty="0">
                <a:latin typeface="Arial"/>
                <a:cs typeface="Arial"/>
              </a:rPr>
              <a:t>2</a:t>
            </a:r>
            <a:r>
              <a:rPr sz="1400" b="1" i="1" spc="-5" dirty="0">
                <a:latin typeface="Arial"/>
                <a:cs typeface="Arial"/>
              </a:rPr>
              <a:t>9</a:t>
            </a:r>
            <a:r>
              <a:rPr sz="1400" b="1" i="1" dirty="0">
                <a:latin typeface="Arial"/>
                <a:cs typeface="Arial"/>
              </a:rPr>
              <a:t>	</a:t>
            </a:r>
            <a:r>
              <a:rPr sz="1400" b="1" i="1" spc="-15" dirty="0">
                <a:latin typeface="Arial"/>
                <a:cs typeface="Arial"/>
              </a:rPr>
              <a:t>3</a:t>
            </a:r>
            <a:r>
              <a:rPr sz="1400" b="1" i="1" spc="-5" dirty="0">
                <a:latin typeface="Arial"/>
                <a:cs typeface="Arial"/>
              </a:rPr>
              <a:t>1</a:t>
            </a:r>
            <a:r>
              <a:rPr sz="1400" b="1" i="1" dirty="0">
                <a:latin typeface="Arial"/>
                <a:cs typeface="Arial"/>
              </a:rPr>
              <a:t>	</a:t>
            </a:r>
            <a:r>
              <a:rPr sz="1400" b="1" i="1" spc="-15" dirty="0">
                <a:latin typeface="Arial"/>
                <a:cs typeface="Arial"/>
              </a:rPr>
              <a:t>3</a:t>
            </a:r>
            <a:r>
              <a:rPr sz="1400" b="1" i="1" spc="-5" dirty="0">
                <a:latin typeface="Arial"/>
                <a:cs typeface="Arial"/>
              </a:rPr>
              <a:t>3</a:t>
            </a:r>
            <a:r>
              <a:rPr sz="1400" b="1" i="1" dirty="0">
                <a:latin typeface="Arial"/>
                <a:cs typeface="Arial"/>
              </a:rPr>
              <a:t>	</a:t>
            </a:r>
            <a:r>
              <a:rPr sz="1400" b="1" i="1" spc="-15" dirty="0">
                <a:latin typeface="Arial"/>
                <a:cs typeface="Arial"/>
              </a:rPr>
              <a:t>35</a:t>
            </a:r>
            <a:endParaRPr sz="1400">
              <a:latin typeface="Arial"/>
              <a:cs typeface="Arial"/>
            </a:endParaRPr>
          </a:p>
          <a:p>
            <a:pPr>
              <a:lnSpc>
                <a:spcPct val="100000"/>
              </a:lnSpc>
              <a:spcBef>
                <a:spcPts val="30"/>
              </a:spcBef>
            </a:pPr>
            <a:endParaRPr sz="1500">
              <a:latin typeface="Arial"/>
              <a:cs typeface="Arial"/>
            </a:endParaRPr>
          </a:p>
          <a:p>
            <a:pPr marL="1292225">
              <a:lnSpc>
                <a:spcPct val="100000"/>
              </a:lnSpc>
            </a:pPr>
            <a:r>
              <a:rPr sz="1800" b="1" i="1" spc="-5" dirty="0">
                <a:latin typeface="Arial"/>
                <a:cs typeface="Arial"/>
              </a:rPr>
              <a:t>B</a:t>
            </a:r>
            <a:endParaRPr sz="1800">
              <a:latin typeface="Arial"/>
              <a:cs typeface="Arial"/>
            </a:endParaRPr>
          </a:p>
        </p:txBody>
      </p:sp>
      <p:grpSp>
        <p:nvGrpSpPr>
          <p:cNvPr id="90" name="object 90"/>
          <p:cNvGrpSpPr/>
          <p:nvPr/>
        </p:nvGrpSpPr>
        <p:grpSpPr>
          <a:xfrm>
            <a:off x="3144011" y="6106667"/>
            <a:ext cx="2641600" cy="672465"/>
            <a:chOff x="3144011" y="6106667"/>
            <a:chExt cx="2641600" cy="672465"/>
          </a:xfrm>
        </p:grpSpPr>
        <p:sp>
          <p:nvSpPr>
            <p:cNvPr id="91" name="object 91"/>
            <p:cNvSpPr/>
            <p:nvPr/>
          </p:nvSpPr>
          <p:spPr>
            <a:xfrm>
              <a:off x="3144011" y="6106667"/>
              <a:ext cx="115824" cy="246887"/>
            </a:xfrm>
            <a:prstGeom prst="rect">
              <a:avLst/>
            </a:prstGeom>
            <a:blipFill>
              <a:blip r:embed="rId31" cstate="print"/>
              <a:stretch>
                <a:fillRect/>
              </a:stretch>
            </a:blipFill>
          </p:spPr>
          <p:txBody>
            <a:bodyPr wrap="square" lIns="0" tIns="0" rIns="0" bIns="0" rtlCol="0"/>
            <a:lstStyle/>
            <a:p>
              <a:endParaRPr/>
            </a:p>
          </p:txBody>
        </p:sp>
        <p:sp>
          <p:nvSpPr>
            <p:cNvPr id="92" name="object 92"/>
            <p:cNvSpPr/>
            <p:nvPr/>
          </p:nvSpPr>
          <p:spPr>
            <a:xfrm>
              <a:off x="5321807" y="6260590"/>
              <a:ext cx="463296" cy="518159"/>
            </a:xfrm>
            <a:prstGeom prst="rect">
              <a:avLst/>
            </a:prstGeom>
            <a:blipFill>
              <a:blip r:embed="rId32" cstate="print"/>
              <a:stretch>
                <a:fillRect/>
              </a:stretch>
            </a:blipFill>
          </p:spPr>
          <p:txBody>
            <a:bodyPr wrap="square" lIns="0" tIns="0" rIns="0" bIns="0" rtlCol="0"/>
            <a:lstStyle/>
            <a:p>
              <a:endParaRPr/>
            </a:p>
          </p:txBody>
        </p:sp>
      </p:grpSp>
      <p:sp>
        <p:nvSpPr>
          <p:cNvPr id="93" name="object 93"/>
          <p:cNvSpPr txBox="1"/>
          <p:nvPr/>
        </p:nvSpPr>
        <p:spPr>
          <a:xfrm>
            <a:off x="5456046" y="6321348"/>
            <a:ext cx="178435" cy="299720"/>
          </a:xfrm>
          <a:prstGeom prst="rect">
            <a:avLst/>
          </a:prstGeom>
        </p:spPr>
        <p:txBody>
          <a:bodyPr vert="horz" wrap="square" lIns="0" tIns="12700" rIns="0" bIns="0" rtlCol="0">
            <a:spAutoFit/>
          </a:bodyPr>
          <a:lstStyle/>
          <a:p>
            <a:pPr marL="12700">
              <a:lnSpc>
                <a:spcPct val="100000"/>
              </a:lnSpc>
              <a:spcBef>
                <a:spcPts val="100"/>
              </a:spcBef>
            </a:pPr>
            <a:r>
              <a:rPr sz="1800" b="1" i="1" dirty="0">
                <a:latin typeface="Arial"/>
                <a:cs typeface="Arial"/>
              </a:rPr>
              <a:t>E</a:t>
            </a:r>
            <a:endParaRPr sz="1800">
              <a:latin typeface="Arial"/>
              <a:cs typeface="Arial"/>
            </a:endParaRPr>
          </a:p>
        </p:txBody>
      </p:sp>
      <p:grpSp>
        <p:nvGrpSpPr>
          <p:cNvPr id="94" name="object 94"/>
          <p:cNvGrpSpPr/>
          <p:nvPr/>
        </p:nvGrpSpPr>
        <p:grpSpPr>
          <a:xfrm>
            <a:off x="5515355" y="6106667"/>
            <a:ext cx="1620520" cy="672465"/>
            <a:chOff x="5515355" y="6106667"/>
            <a:chExt cx="1620520" cy="672465"/>
          </a:xfrm>
        </p:grpSpPr>
        <p:sp>
          <p:nvSpPr>
            <p:cNvPr id="95" name="object 95"/>
            <p:cNvSpPr/>
            <p:nvPr/>
          </p:nvSpPr>
          <p:spPr>
            <a:xfrm>
              <a:off x="5515355" y="6106667"/>
              <a:ext cx="115824" cy="246887"/>
            </a:xfrm>
            <a:prstGeom prst="rect">
              <a:avLst/>
            </a:prstGeom>
            <a:blipFill>
              <a:blip r:embed="rId31" cstate="print"/>
              <a:stretch>
                <a:fillRect/>
              </a:stretch>
            </a:blipFill>
          </p:spPr>
          <p:txBody>
            <a:bodyPr wrap="square" lIns="0" tIns="0" rIns="0" bIns="0" rtlCol="0"/>
            <a:lstStyle/>
            <a:p>
              <a:endParaRPr/>
            </a:p>
          </p:txBody>
        </p:sp>
        <p:sp>
          <p:nvSpPr>
            <p:cNvPr id="96" name="object 96"/>
            <p:cNvSpPr/>
            <p:nvPr/>
          </p:nvSpPr>
          <p:spPr>
            <a:xfrm>
              <a:off x="6659880" y="6260590"/>
              <a:ext cx="475487" cy="518159"/>
            </a:xfrm>
            <a:prstGeom prst="rect">
              <a:avLst/>
            </a:prstGeom>
            <a:blipFill>
              <a:blip r:embed="rId33" cstate="print"/>
              <a:stretch>
                <a:fillRect/>
              </a:stretch>
            </a:blipFill>
          </p:spPr>
          <p:txBody>
            <a:bodyPr wrap="square" lIns="0" tIns="0" rIns="0" bIns="0" rtlCol="0"/>
            <a:lstStyle/>
            <a:p>
              <a:endParaRPr/>
            </a:p>
          </p:txBody>
        </p:sp>
      </p:grpSp>
      <p:sp>
        <p:nvSpPr>
          <p:cNvPr id="97" name="object 97"/>
          <p:cNvSpPr txBox="1"/>
          <p:nvPr/>
        </p:nvSpPr>
        <p:spPr>
          <a:xfrm>
            <a:off x="6793230" y="6321348"/>
            <a:ext cx="19050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Arial"/>
                <a:cs typeface="Arial"/>
              </a:rPr>
              <a:t>D</a:t>
            </a:r>
            <a:endParaRPr sz="1800">
              <a:latin typeface="Arial"/>
              <a:cs typeface="Arial"/>
            </a:endParaRPr>
          </a:p>
        </p:txBody>
      </p:sp>
      <p:grpSp>
        <p:nvGrpSpPr>
          <p:cNvPr id="98" name="object 98"/>
          <p:cNvGrpSpPr/>
          <p:nvPr/>
        </p:nvGrpSpPr>
        <p:grpSpPr>
          <a:xfrm>
            <a:off x="6841235" y="6106667"/>
            <a:ext cx="1038225" cy="672465"/>
            <a:chOff x="6841235" y="6106667"/>
            <a:chExt cx="1038225" cy="672465"/>
          </a:xfrm>
        </p:grpSpPr>
        <p:sp>
          <p:nvSpPr>
            <p:cNvPr id="99" name="object 99"/>
            <p:cNvSpPr/>
            <p:nvPr/>
          </p:nvSpPr>
          <p:spPr>
            <a:xfrm>
              <a:off x="6841235" y="6106667"/>
              <a:ext cx="115824" cy="246887"/>
            </a:xfrm>
            <a:prstGeom prst="rect">
              <a:avLst/>
            </a:prstGeom>
            <a:blipFill>
              <a:blip r:embed="rId34" cstate="print"/>
              <a:stretch>
                <a:fillRect/>
              </a:stretch>
            </a:blipFill>
          </p:spPr>
          <p:txBody>
            <a:bodyPr wrap="square" lIns="0" tIns="0" rIns="0" bIns="0" rtlCol="0"/>
            <a:lstStyle/>
            <a:p>
              <a:endParaRPr/>
            </a:p>
          </p:txBody>
        </p:sp>
        <p:sp>
          <p:nvSpPr>
            <p:cNvPr id="100" name="object 100"/>
            <p:cNvSpPr/>
            <p:nvPr/>
          </p:nvSpPr>
          <p:spPr>
            <a:xfrm>
              <a:off x="7403591" y="6260590"/>
              <a:ext cx="475488" cy="518159"/>
            </a:xfrm>
            <a:prstGeom prst="rect">
              <a:avLst/>
            </a:prstGeom>
            <a:blipFill>
              <a:blip r:embed="rId35" cstate="print"/>
              <a:stretch>
                <a:fillRect/>
              </a:stretch>
            </a:blipFill>
          </p:spPr>
          <p:txBody>
            <a:bodyPr wrap="square" lIns="0" tIns="0" rIns="0" bIns="0" rtlCol="0"/>
            <a:lstStyle/>
            <a:p>
              <a:endParaRPr/>
            </a:p>
          </p:txBody>
        </p:sp>
      </p:grpSp>
      <p:sp>
        <p:nvSpPr>
          <p:cNvPr id="101" name="object 101"/>
          <p:cNvSpPr txBox="1"/>
          <p:nvPr/>
        </p:nvSpPr>
        <p:spPr>
          <a:xfrm>
            <a:off x="7538466" y="6321348"/>
            <a:ext cx="19050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Arial"/>
                <a:cs typeface="Arial"/>
              </a:rPr>
              <a:t>C</a:t>
            </a:r>
            <a:endParaRPr sz="1800">
              <a:latin typeface="Arial"/>
              <a:cs typeface="Arial"/>
            </a:endParaRPr>
          </a:p>
        </p:txBody>
      </p:sp>
      <p:grpSp>
        <p:nvGrpSpPr>
          <p:cNvPr id="102" name="object 102"/>
          <p:cNvGrpSpPr/>
          <p:nvPr/>
        </p:nvGrpSpPr>
        <p:grpSpPr>
          <a:xfrm>
            <a:off x="7594092" y="6106667"/>
            <a:ext cx="647700" cy="657225"/>
            <a:chOff x="7594092" y="6106667"/>
            <a:chExt cx="647700" cy="657225"/>
          </a:xfrm>
        </p:grpSpPr>
        <p:sp>
          <p:nvSpPr>
            <p:cNvPr id="103" name="object 103"/>
            <p:cNvSpPr/>
            <p:nvPr/>
          </p:nvSpPr>
          <p:spPr>
            <a:xfrm>
              <a:off x="7594092" y="6106667"/>
              <a:ext cx="115824" cy="246887"/>
            </a:xfrm>
            <a:prstGeom prst="rect">
              <a:avLst/>
            </a:prstGeom>
            <a:blipFill>
              <a:blip r:embed="rId31" cstate="print"/>
              <a:stretch>
                <a:fillRect/>
              </a:stretch>
            </a:blipFill>
          </p:spPr>
          <p:txBody>
            <a:bodyPr wrap="square" lIns="0" tIns="0" rIns="0" bIns="0" rtlCol="0"/>
            <a:lstStyle/>
            <a:p>
              <a:endParaRPr/>
            </a:p>
          </p:txBody>
        </p:sp>
        <p:sp>
          <p:nvSpPr>
            <p:cNvPr id="104" name="object 104"/>
            <p:cNvSpPr/>
            <p:nvPr/>
          </p:nvSpPr>
          <p:spPr>
            <a:xfrm>
              <a:off x="7766304" y="6248398"/>
              <a:ext cx="475488" cy="515112"/>
            </a:xfrm>
            <a:prstGeom prst="rect">
              <a:avLst/>
            </a:prstGeom>
            <a:blipFill>
              <a:blip r:embed="rId36" cstate="print"/>
              <a:stretch>
                <a:fillRect/>
              </a:stretch>
            </a:blipFill>
          </p:spPr>
          <p:txBody>
            <a:bodyPr wrap="square" lIns="0" tIns="0" rIns="0" bIns="0" rtlCol="0"/>
            <a:lstStyle/>
            <a:p>
              <a:endParaRPr/>
            </a:p>
          </p:txBody>
        </p:sp>
      </p:grpSp>
      <p:sp>
        <p:nvSpPr>
          <p:cNvPr id="105" name="object 105"/>
          <p:cNvSpPr txBox="1"/>
          <p:nvPr/>
        </p:nvSpPr>
        <p:spPr>
          <a:xfrm>
            <a:off x="7901431" y="6308547"/>
            <a:ext cx="19050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Arial"/>
                <a:cs typeface="Arial"/>
              </a:rPr>
              <a:t>A</a:t>
            </a:r>
            <a:endParaRPr sz="1800">
              <a:latin typeface="Arial"/>
              <a:cs typeface="Arial"/>
            </a:endParaRPr>
          </a:p>
        </p:txBody>
      </p:sp>
      <p:grpSp>
        <p:nvGrpSpPr>
          <p:cNvPr id="106" name="object 106"/>
          <p:cNvGrpSpPr/>
          <p:nvPr/>
        </p:nvGrpSpPr>
        <p:grpSpPr>
          <a:xfrm>
            <a:off x="5955791" y="2587751"/>
            <a:ext cx="2481580" cy="777240"/>
            <a:chOff x="5955791" y="2587751"/>
            <a:chExt cx="2481580" cy="777240"/>
          </a:xfrm>
        </p:grpSpPr>
        <p:sp>
          <p:nvSpPr>
            <p:cNvPr id="107" name="object 107"/>
            <p:cNvSpPr/>
            <p:nvPr/>
          </p:nvSpPr>
          <p:spPr>
            <a:xfrm>
              <a:off x="6038087" y="2587751"/>
              <a:ext cx="2399030" cy="759460"/>
            </a:xfrm>
            <a:custGeom>
              <a:avLst/>
              <a:gdLst/>
              <a:ahLst/>
              <a:cxnLst/>
              <a:rect l="l" t="t" r="r" b="b"/>
              <a:pathLst>
                <a:path w="2399029" h="759460">
                  <a:moveTo>
                    <a:pt x="2398775" y="0"/>
                  </a:moveTo>
                  <a:lnTo>
                    <a:pt x="0" y="0"/>
                  </a:lnTo>
                  <a:lnTo>
                    <a:pt x="0" y="758951"/>
                  </a:lnTo>
                  <a:lnTo>
                    <a:pt x="2398775" y="758951"/>
                  </a:lnTo>
                  <a:lnTo>
                    <a:pt x="2398775" y="0"/>
                  </a:lnTo>
                  <a:close/>
                </a:path>
              </a:pathLst>
            </a:custGeom>
            <a:solidFill>
              <a:srgbClr val="99CCFF"/>
            </a:solidFill>
          </p:spPr>
          <p:txBody>
            <a:bodyPr wrap="square" lIns="0" tIns="0" rIns="0" bIns="0" rtlCol="0"/>
            <a:lstStyle/>
            <a:p>
              <a:endParaRPr/>
            </a:p>
          </p:txBody>
        </p:sp>
        <p:sp>
          <p:nvSpPr>
            <p:cNvPr id="108" name="object 108"/>
            <p:cNvSpPr/>
            <p:nvPr/>
          </p:nvSpPr>
          <p:spPr>
            <a:xfrm>
              <a:off x="5955791" y="2682239"/>
              <a:ext cx="612647" cy="682751"/>
            </a:xfrm>
            <a:prstGeom prst="rect">
              <a:avLst/>
            </a:prstGeom>
            <a:blipFill>
              <a:blip r:embed="rId37" cstate="print"/>
              <a:stretch>
                <a:fillRect/>
              </a:stretch>
            </a:blipFill>
          </p:spPr>
          <p:txBody>
            <a:bodyPr wrap="square" lIns="0" tIns="0" rIns="0" bIns="0" rtlCol="0"/>
            <a:lstStyle/>
            <a:p>
              <a:endParaRPr/>
            </a:p>
          </p:txBody>
        </p:sp>
      </p:grpSp>
      <p:grpSp>
        <p:nvGrpSpPr>
          <p:cNvPr id="109" name="object 109"/>
          <p:cNvGrpSpPr/>
          <p:nvPr/>
        </p:nvGrpSpPr>
        <p:grpSpPr>
          <a:xfrm>
            <a:off x="12191" y="6106667"/>
            <a:ext cx="9110980" cy="742315"/>
            <a:chOff x="12191" y="6106667"/>
            <a:chExt cx="9110980" cy="742315"/>
          </a:xfrm>
        </p:grpSpPr>
        <p:sp>
          <p:nvSpPr>
            <p:cNvPr id="110" name="object 110"/>
            <p:cNvSpPr/>
            <p:nvPr/>
          </p:nvSpPr>
          <p:spPr>
            <a:xfrm>
              <a:off x="7944611" y="6106667"/>
              <a:ext cx="115824" cy="246887"/>
            </a:xfrm>
            <a:prstGeom prst="rect">
              <a:avLst/>
            </a:prstGeom>
            <a:blipFill>
              <a:blip r:embed="rId31" cstate="print"/>
              <a:stretch>
                <a:fillRect/>
              </a:stretch>
            </a:blipFill>
          </p:spPr>
          <p:txBody>
            <a:bodyPr wrap="square" lIns="0" tIns="0" rIns="0" bIns="0" rtlCol="0"/>
            <a:lstStyle/>
            <a:p>
              <a:endParaRPr/>
            </a:p>
          </p:txBody>
        </p:sp>
        <p:sp>
          <p:nvSpPr>
            <p:cNvPr id="111" name="object 111"/>
            <p:cNvSpPr/>
            <p:nvPr/>
          </p:nvSpPr>
          <p:spPr>
            <a:xfrm>
              <a:off x="16763" y="6441947"/>
              <a:ext cx="1618615" cy="402590"/>
            </a:xfrm>
            <a:custGeom>
              <a:avLst/>
              <a:gdLst/>
              <a:ahLst/>
              <a:cxnLst/>
              <a:rect l="l" t="t" r="r" b="b"/>
              <a:pathLst>
                <a:path w="1618614" h="402590">
                  <a:moveTo>
                    <a:pt x="1618488" y="0"/>
                  </a:moveTo>
                  <a:lnTo>
                    <a:pt x="0" y="0"/>
                  </a:lnTo>
                  <a:lnTo>
                    <a:pt x="0" y="402335"/>
                  </a:lnTo>
                  <a:lnTo>
                    <a:pt x="1618488" y="402335"/>
                  </a:lnTo>
                  <a:lnTo>
                    <a:pt x="1618488" y="0"/>
                  </a:lnTo>
                  <a:close/>
                </a:path>
              </a:pathLst>
            </a:custGeom>
            <a:solidFill>
              <a:srgbClr val="F7FAFF"/>
            </a:solidFill>
          </p:spPr>
          <p:txBody>
            <a:bodyPr wrap="square" lIns="0" tIns="0" rIns="0" bIns="0" rtlCol="0"/>
            <a:lstStyle/>
            <a:p>
              <a:endParaRPr/>
            </a:p>
          </p:txBody>
        </p:sp>
        <p:sp>
          <p:nvSpPr>
            <p:cNvPr id="112" name="object 112"/>
            <p:cNvSpPr/>
            <p:nvPr/>
          </p:nvSpPr>
          <p:spPr>
            <a:xfrm>
              <a:off x="16763" y="6441947"/>
              <a:ext cx="1618615" cy="402590"/>
            </a:xfrm>
            <a:custGeom>
              <a:avLst/>
              <a:gdLst/>
              <a:ahLst/>
              <a:cxnLst/>
              <a:rect l="l" t="t" r="r" b="b"/>
              <a:pathLst>
                <a:path w="1618614" h="402590">
                  <a:moveTo>
                    <a:pt x="0" y="402335"/>
                  </a:moveTo>
                  <a:lnTo>
                    <a:pt x="1618488" y="402335"/>
                  </a:lnTo>
                  <a:lnTo>
                    <a:pt x="1618488" y="0"/>
                  </a:lnTo>
                  <a:lnTo>
                    <a:pt x="0" y="0"/>
                  </a:lnTo>
                  <a:lnTo>
                    <a:pt x="0" y="402335"/>
                  </a:lnTo>
                  <a:close/>
                </a:path>
              </a:pathLst>
            </a:custGeom>
            <a:ln w="9144">
              <a:solidFill>
                <a:srgbClr val="F7FAFF"/>
              </a:solidFill>
            </a:ln>
          </p:spPr>
          <p:txBody>
            <a:bodyPr wrap="square" lIns="0" tIns="0" rIns="0" bIns="0" rtlCol="0"/>
            <a:lstStyle/>
            <a:p>
              <a:endParaRPr/>
            </a:p>
          </p:txBody>
        </p:sp>
        <p:sp>
          <p:nvSpPr>
            <p:cNvPr id="113" name="object 113"/>
            <p:cNvSpPr/>
            <p:nvPr/>
          </p:nvSpPr>
          <p:spPr>
            <a:xfrm>
              <a:off x="7496556" y="6658355"/>
              <a:ext cx="1621790" cy="186055"/>
            </a:xfrm>
            <a:custGeom>
              <a:avLst/>
              <a:gdLst/>
              <a:ahLst/>
              <a:cxnLst/>
              <a:rect l="l" t="t" r="r" b="b"/>
              <a:pathLst>
                <a:path w="1621790" h="186054">
                  <a:moveTo>
                    <a:pt x="1621536" y="0"/>
                  </a:moveTo>
                  <a:lnTo>
                    <a:pt x="0" y="0"/>
                  </a:lnTo>
                  <a:lnTo>
                    <a:pt x="0" y="185928"/>
                  </a:lnTo>
                  <a:lnTo>
                    <a:pt x="1621536" y="185928"/>
                  </a:lnTo>
                  <a:lnTo>
                    <a:pt x="1621536" y="0"/>
                  </a:lnTo>
                  <a:close/>
                </a:path>
              </a:pathLst>
            </a:custGeom>
            <a:solidFill>
              <a:srgbClr val="F7FAFF"/>
            </a:solidFill>
          </p:spPr>
          <p:txBody>
            <a:bodyPr wrap="square" lIns="0" tIns="0" rIns="0" bIns="0" rtlCol="0"/>
            <a:lstStyle/>
            <a:p>
              <a:endParaRPr/>
            </a:p>
          </p:txBody>
        </p:sp>
        <p:sp>
          <p:nvSpPr>
            <p:cNvPr id="114" name="object 114"/>
            <p:cNvSpPr/>
            <p:nvPr/>
          </p:nvSpPr>
          <p:spPr>
            <a:xfrm>
              <a:off x="7496556" y="6658355"/>
              <a:ext cx="1621790" cy="186055"/>
            </a:xfrm>
            <a:custGeom>
              <a:avLst/>
              <a:gdLst/>
              <a:ahLst/>
              <a:cxnLst/>
              <a:rect l="l" t="t" r="r" b="b"/>
              <a:pathLst>
                <a:path w="1621790" h="186054">
                  <a:moveTo>
                    <a:pt x="0" y="185928"/>
                  </a:moveTo>
                  <a:lnTo>
                    <a:pt x="1621536" y="185928"/>
                  </a:lnTo>
                  <a:lnTo>
                    <a:pt x="1621536" y="0"/>
                  </a:lnTo>
                  <a:lnTo>
                    <a:pt x="0" y="0"/>
                  </a:lnTo>
                  <a:lnTo>
                    <a:pt x="0" y="185928"/>
                  </a:lnTo>
                  <a:close/>
                </a:path>
              </a:pathLst>
            </a:custGeom>
            <a:ln w="9144">
              <a:solidFill>
                <a:srgbClr val="F7FAFF"/>
              </a:solidFill>
            </a:ln>
          </p:spPr>
          <p:txBody>
            <a:bodyPr wrap="square" lIns="0" tIns="0" rIns="0" bIns="0" rtlCol="0"/>
            <a:lstStyle/>
            <a:p>
              <a:endParaRPr/>
            </a:p>
          </p:txBody>
        </p:sp>
      </p:grpSp>
      <p:sp>
        <p:nvSpPr>
          <p:cNvPr id="115" name="object 115"/>
          <p:cNvSpPr txBox="1"/>
          <p:nvPr/>
        </p:nvSpPr>
        <p:spPr>
          <a:xfrm>
            <a:off x="6033515" y="2595372"/>
            <a:ext cx="469900" cy="749935"/>
          </a:xfrm>
          <a:prstGeom prst="rect">
            <a:avLst/>
          </a:prstGeom>
          <a:ln w="39623">
            <a:solidFill>
              <a:srgbClr val="000000"/>
            </a:solidFill>
          </a:ln>
        </p:spPr>
        <p:txBody>
          <a:bodyPr vert="horz" wrap="square" lIns="0" tIns="180975" rIns="0" bIns="0" rtlCol="0">
            <a:spAutoFit/>
          </a:bodyPr>
          <a:lstStyle/>
          <a:p>
            <a:pPr marL="114935">
              <a:lnSpc>
                <a:spcPct val="100000"/>
              </a:lnSpc>
              <a:spcBef>
                <a:spcPts val="1425"/>
              </a:spcBef>
            </a:pPr>
            <a:r>
              <a:rPr sz="2400" dirty="0">
                <a:latin typeface="Arial"/>
                <a:cs typeface="Arial"/>
              </a:rPr>
              <a:t>B</a:t>
            </a:r>
            <a:endParaRPr sz="2400">
              <a:latin typeface="Arial"/>
              <a:cs typeface="Arial"/>
            </a:endParaRPr>
          </a:p>
        </p:txBody>
      </p:sp>
      <p:sp>
        <p:nvSpPr>
          <p:cNvPr id="116" name="object 116"/>
          <p:cNvSpPr/>
          <p:nvPr/>
        </p:nvSpPr>
        <p:spPr>
          <a:xfrm>
            <a:off x="7897368" y="2682239"/>
            <a:ext cx="612648" cy="682751"/>
          </a:xfrm>
          <a:prstGeom prst="rect">
            <a:avLst/>
          </a:prstGeom>
          <a:blipFill>
            <a:blip r:embed="rId38" cstate="print"/>
            <a:stretch>
              <a:fillRect/>
            </a:stretch>
          </a:blipFill>
        </p:spPr>
        <p:txBody>
          <a:bodyPr wrap="square" lIns="0" tIns="0" rIns="0" bIns="0" rtlCol="0"/>
          <a:lstStyle/>
          <a:p>
            <a:endParaRPr/>
          </a:p>
        </p:txBody>
      </p:sp>
      <p:sp>
        <p:nvSpPr>
          <p:cNvPr id="117" name="object 117"/>
          <p:cNvSpPr txBox="1"/>
          <p:nvPr/>
        </p:nvSpPr>
        <p:spPr>
          <a:xfrm>
            <a:off x="7978140" y="2595372"/>
            <a:ext cx="451484" cy="749935"/>
          </a:xfrm>
          <a:prstGeom prst="rect">
            <a:avLst/>
          </a:prstGeom>
          <a:ln w="39623">
            <a:solidFill>
              <a:srgbClr val="000000"/>
            </a:solidFill>
          </a:ln>
        </p:spPr>
        <p:txBody>
          <a:bodyPr vert="horz" wrap="square" lIns="0" tIns="180975" rIns="0" bIns="0" rtlCol="0">
            <a:spAutoFit/>
          </a:bodyPr>
          <a:lstStyle/>
          <a:p>
            <a:pPr marL="113664">
              <a:lnSpc>
                <a:spcPct val="100000"/>
              </a:lnSpc>
              <a:spcBef>
                <a:spcPts val="1425"/>
              </a:spcBef>
            </a:pPr>
            <a:r>
              <a:rPr sz="2400" dirty="0">
                <a:latin typeface="Arial"/>
                <a:cs typeface="Arial"/>
              </a:rPr>
              <a:t>A</a:t>
            </a:r>
            <a:endParaRPr sz="2400">
              <a:latin typeface="Arial"/>
              <a:cs typeface="Arial"/>
            </a:endParaRPr>
          </a:p>
        </p:txBody>
      </p:sp>
      <p:sp>
        <p:nvSpPr>
          <p:cNvPr id="118" name="object 118"/>
          <p:cNvSpPr/>
          <p:nvPr/>
        </p:nvSpPr>
        <p:spPr>
          <a:xfrm>
            <a:off x="7406640" y="2682239"/>
            <a:ext cx="627888" cy="682751"/>
          </a:xfrm>
          <a:prstGeom prst="rect">
            <a:avLst/>
          </a:prstGeom>
          <a:blipFill>
            <a:blip r:embed="rId39" cstate="print"/>
            <a:stretch>
              <a:fillRect/>
            </a:stretch>
          </a:blipFill>
        </p:spPr>
        <p:txBody>
          <a:bodyPr wrap="square" lIns="0" tIns="0" rIns="0" bIns="0" rtlCol="0"/>
          <a:lstStyle/>
          <a:p>
            <a:endParaRPr/>
          </a:p>
        </p:txBody>
      </p:sp>
      <p:sp>
        <p:nvSpPr>
          <p:cNvPr id="119" name="object 119"/>
          <p:cNvSpPr txBox="1"/>
          <p:nvPr/>
        </p:nvSpPr>
        <p:spPr>
          <a:xfrm>
            <a:off x="7490459" y="2595372"/>
            <a:ext cx="487680" cy="749935"/>
          </a:xfrm>
          <a:prstGeom prst="rect">
            <a:avLst/>
          </a:prstGeom>
          <a:ln w="39623">
            <a:solidFill>
              <a:srgbClr val="000000"/>
            </a:solidFill>
          </a:ln>
        </p:spPr>
        <p:txBody>
          <a:bodyPr vert="horz" wrap="square" lIns="0" tIns="180975" rIns="0" bIns="0" rtlCol="0">
            <a:spAutoFit/>
          </a:bodyPr>
          <a:lstStyle/>
          <a:p>
            <a:pPr marL="110489">
              <a:lnSpc>
                <a:spcPct val="100000"/>
              </a:lnSpc>
              <a:spcBef>
                <a:spcPts val="1425"/>
              </a:spcBef>
            </a:pPr>
            <a:r>
              <a:rPr sz="2400" spc="-5" dirty="0">
                <a:latin typeface="Arial"/>
                <a:cs typeface="Arial"/>
              </a:rPr>
              <a:t>C</a:t>
            </a:r>
            <a:endParaRPr sz="2400">
              <a:latin typeface="Arial"/>
              <a:cs typeface="Arial"/>
            </a:endParaRPr>
          </a:p>
        </p:txBody>
      </p:sp>
      <p:sp>
        <p:nvSpPr>
          <p:cNvPr id="120" name="object 120"/>
          <p:cNvSpPr/>
          <p:nvPr/>
        </p:nvSpPr>
        <p:spPr>
          <a:xfrm>
            <a:off x="6915911" y="2682239"/>
            <a:ext cx="627888" cy="682751"/>
          </a:xfrm>
          <a:prstGeom prst="rect">
            <a:avLst/>
          </a:prstGeom>
          <a:blipFill>
            <a:blip r:embed="rId40" cstate="print"/>
            <a:stretch>
              <a:fillRect/>
            </a:stretch>
          </a:blipFill>
        </p:spPr>
        <p:txBody>
          <a:bodyPr wrap="square" lIns="0" tIns="0" rIns="0" bIns="0" rtlCol="0"/>
          <a:lstStyle/>
          <a:p>
            <a:endParaRPr/>
          </a:p>
        </p:txBody>
      </p:sp>
      <p:sp>
        <p:nvSpPr>
          <p:cNvPr id="121" name="object 121"/>
          <p:cNvSpPr txBox="1"/>
          <p:nvPr/>
        </p:nvSpPr>
        <p:spPr>
          <a:xfrm>
            <a:off x="6999731" y="2595372"/>
            <a:ext cx="490855" cy="749935"/>
          </a:xfrm>
          <a:prstGeom prst="rect">
            <a:avLst/>
          </a:prstGeom>
          <a:ln w="39623">
            <a:solidFill>
              <a:srgbClr val="000000"/>
            </a:solidFill>
          </a:ln>
        </p:spPr>
        <p:txBody>
          <a:bodyPr vert="horz" wrap="square" lIns="0" tIns="180975" rIns="0" bIns="0" rtlCol="0">
            <a:spAutoFit/>
          </a:bodyPr>
          <a:lstStyle/>
          <a:p>
            <a:pPr marL="110489">
              <a:lnSpc>
                <a:spcPct val="100000"/>
              </a:lnSpc>
              <a:spcBef>
                <a:spcPts val="1425"/>
              </a:spcBef>
            </a:pPr>
            <a:r>
              <a:rPr sz="2400" spc="-5" dirty="0">
                <a:latin typeface="Arial"/>
                <a:cs typeface="Arial"/>
              </a:rPr>
              <a:t>D</a:t>
            </a:r>
            <a:endParaRPr sz="2400">
              <a:latin typeface="Arial"/>
              <a:cs typeface="Arial"/>
            </a:endParaRPr>
          </a:p>
        </p:txBody>
      </p:sp>
      <p:sp>
        <p:nvSpPr>
          <p:cNvPr id="122" name="object 122"/>
          <p:cNvSpPr/>
          <p:nvPr/>
        </p:nvSpPr>
        <p:spPr>
          <a:xfrm>
            <a:off x="6443471" y="2682239"/>
            <a:ext cx="612648" cy="682751"/>
          </a:xfrm>
          <a:prstGeom prst="rect">
            <a:avLst/>
          </a:prstGeom>
          <a:blipFill>
            <a:blip r:embed="rId41" cstate="print"/>
            <a:stretch>
              <a:fillRect/>
            </a:stretch>
          </a:blipFill>
        </p:spPr>
        <p:txBody>
          <a:bodyPr wrap="square" lIns="0" tIns="0" rIns="0" bIns="0" rtlCol="0"/>
          <a:lstStyle/>
          <a:p>
            <a:endParaRPr/>
          </a:p>
        </p:txBody>
      </p:sp>
      <p:sp>
        <p:nvSpPr>
          <p:cNvPr id="123" name="object 123"/>
          <p:cNvSpPr txBox="1"/>
          <p:nvPr/>
        </p:nvSpPr>
        <p:spPr>
          <a:xfrm>
            <a:off x="6502907" y="2595372"/>
            <a:ext cx="497205" cy="749935"/>
          </a:xfrm>
          <a:prstGeom prst="rect">
            <a:avLst/>
          </a:prstGeom>
          <a:ln w="39623">
            <a:solidFill>
              <a:srgbClr val="000000"/>
            </a:solidFill>
          </a:ln>
        </p:spPr>
        <p:txBody>
          <a:bodyPr vert="horz" wrap="square" lIns="0" tIns="180975" rIns="0" bIns="0" rtlCol="0">
            <a:spAutoFit/>
          </a:bodyPr>
          <a:lstStyle/>
          <a:p>
            <a:pPr marL="133985">
              <a:lnSpc>
                <a:spcPct val="100000"/>
              </a:lnSpc>
              <a:spcBef>
                <a:spcPts val="1425"/>
              </a:spcBef>
            </a:pPr>
            <a:r>
              <a:rPr sz="2400" dirty="0">
                <a:latin typeface="Arial"/>
                <a:cs typeface="Arial"/>
              </a:rPr>
              <a:t>E</a:t>
            </a:r>
            <a:endParaRPr sz="240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52600" y="2209800"/>
            <a:ext cx="5715000" cy="2308324"/>
          </a:xfrm>
          <a:prstGeom prst="rect">
            <a:avLst/>
          </a:prstGeom>
          <a:noFill/>
        </p:spPr>
        <p:txBody>
          <a:bodyPr wrap="square" rtlCol="0">
            <a:spAutoFit/>
          </a:bodyPr>
          <a:lstStyle/>
          <a:p>
            <a:pPr algn="ctr"/>
            <a:r>
              <a:rPr lang="en-US" sz="7200" dirty="0">
                <a:solidFill>
                  <a:schemeClr val="accent4">
                    <a:lumMod val="50000"/>
                  </a:schemeClr>
                </a:solidFill>
                <a:latin typeface="Cooper Black" panose="0208090404030B020404" pitchFamily="18" charset="0"/>
              </a:rPr>
              <a:t>THANK YOU !</a:t>
            </a:r>
          </a:p>
        </p:txBody>
      </p:sp>
    </p:spTree>
    <p:extLst>
      <p:ext uri="{BB962C8B-B14F-4D97-AF65-F5344CB8AC3E}">
        <p14:creationId xmlns:p14="http://schemas.microsoft.com/office/powerpoint/2010/main" val="3877546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0"/>
            <a:ext cx="8229600" cy="4525963"/>
          </a:xfrm>
        </p:spPr>
        <p:txBody>
          <a:bodyPr>
            <a:normAutofit/>
          </a:bodyPr>
          <a:lstStyle/>
          <a:p>
            <a:pPr algn="ctr">
              <a:buNone/>
            </a:pPr>
            <a:r>
              <a:rPr lang="en-US" sz="6000" dirty="0"/>
              <a:t> </a:t>
            </a:r>
          </a:p>
          <a:p>
            <a:pPr algn="ctr">
              <a:buNone/>
            </a:pPr>
            <a:r>
              <a:rPr lang="en-US" sz="6000" dirty="0"/>
              <a:t>Work Measurement</a:t>
            </a:r>
          </a:p>
        </p:txBody>
      </p:sp>
      <p:pic>
        <p:nvPicPr>
          <p:cNvPr id="4" name="Picture 3" descr="time study.jpg"/>
          <p:cNvPicPr>
            <a:picLocks noChangeAspect="1"/>
          </p:cNvPicPr>
          <p:nvPr/>
        </p:nvPicPr>
        <p:blipFill>
          <a:blip r:embed="rId2"/>
          <a:stretch>
            <a:fillRect/>
          </a:stretch>
        </p:blipFill>
        <p:spPr>
          <a:xfrm>
            <a:off x="3200400" y="1981200"/>
            <a:ext cx="1981200" cy="2968300"/>
          </a:xfrm>
          <a:prstGeom prst="rect">
            <a:avLst/>
          </a:prstGeom>
        </p:spPr>
      </p:pic>
      <p:grpSp>
        <p:nvGrpSpPr>
          <p:cNvPr id="9" name="Group 8"/>
          <p:cNvGrpSpPr/>
          <p:nvPr/>
        </p:nvGrpSpPr>
        <p:grpSpPr>
          <a:xfrm>
            <a:off x="0" y="5300246"/>
            <a:ext cx="8763000" cy="719554"/>
            <a:chOff x="0" y="5257800"/>
            <a:chExt cx="8763000" cy="719554"/>
          </a:xfrm>
        </p:grpSpPr>
        <p:sp>
          <p:nvSpPr>
            <p:cNvPr id="5" name="TextBox 4"/>
            <p:cNvSpPr txBox="1"/>
            <p:nvPr/>
          </p:nvSpPr>
          <p:spPr>
            <a:xfrm>
              <a:off x="0" y="5638800"/>
              <a:ext cx="7010400" cy="338554"/>
            </a:xfrm>
            <a:prstGeom prst="rect">
              <a:avLst/>
            </a:prstGeom>
            <a:solidFill>
              <a:schemeClr val="accent1">
                <a:lumMod val="40000"/>
                <a:lumOff val="60000"/>
              </a:schemeClr>
            </a:solidFill>
          </p:spPr>
          <p:txBody>
            <a:bodyPr wrap="square" rtlCol="0">
              <a:spAutoFit/>
            </a:bodyPr>
            <a:lstStyle/>
            <a:p>
              <a:endParaRPr lang="en-US" sz="1600" i="1" dirty="0">
                <a:latin typeface="Times New Roman" pitchFamily="18" charset="0"/>
                <a:cs typeface="Times New Roman" pitchFamily="18" charset="0"/>
              </a:endParaRPr>
            </a:p>
          </p:txBody>
        </p:sp>
        <p:sp>
          <p:nvSpPr>
            <p:cNvPr id="7" name="TextBox 6"/>
            <p:cNvSpPr txBox="1"/>
            <p:nvPr/>
          </p:nvSpPr>
          <p:spPr>
            <a:xfrm>
              <a:off x="0" y="5410200"/>
              <a:ext cx="7848600" cy="307777"/>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8" name="TextBox 7"/>
            <p:cNvSpPr txBox="1"/>
            <p:nvPr/>
          </p:nvSpPr>
          <p:spPr>
            <a:xfrm>
              <a:off x="0" y="5257800"/>
              <a:ext cx="8763000" cy="400110"/>
            </a:xfrm>
            <a:prstGeom prst="rect">
              <a:avLst/>
            </a:prstGeom>
            <a:solidFill>
              <a:schemeClr val="accent1"/>
            </a:solidFill>
          </p:spPr>
          <p:txBody>
            <a:bodyPr wrap="square" rtlCol="0">
              <a:spAutoFit/>
            </a:bodyPr>
            <a:lstStyle/>
            <a:p>
              <a:endParaRPr lang="en-US" sz="2000" i="1" dirty="0">
                <a:latin typeface="Times New Roman" pitchFamily="18" charset="0"/>
                <a:cs typeface="Times New Roman" pitchFamily="18" charset="0"/>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6849" y="0"/>
            <a:ext cx="8267700" cy="1815882"/>
          </a:xfrm>
          <a:prstGeom prst="rect">
            <a:avLst/>
          </a:prstGeom>
        </p:spPr>
        <p:txBody>
          <a:bodyPr wrap="square">
            <a:spAutoFit/>
          </a:bodyPr>
          <a:lstStyle/>
          <a:p>
            <a:pPr marL="342900" indent="-342900">
              <a:buFont typeface="Arial" panose="020B0604020202020204" pitchFamily="34" charset="0"/>
              <a:buChar char="•"/>
            </a:pPr>
            <a:r>
              <a:rPr lang="en-US" sz="2800" b="1" dirty="0">
                <a:solidFill>
                  <a:srgbClr val="FF0000"/>
                </a:solidFill>
                <a:latin typeface="Times New Roman" panose="02020603050405020304" pitchFamily="18" charset="0"/>
                <a:cs typeface="Times New Roman" panose="02020603050405020304" pitchFamily="18" charset="0"/>
              </a:rPr>
              <a:t>Work study </a:t>
            </a:r>
            <a:r>
              <a:rPr lang="en-US" sz="2800" dirty="0">
                <a:latin typeface="Times New Roman" panose="02020603050405020304" pitchFamily="18" charset="0"/>
                <a:cs typeface="Times New Roman" panose="02020603050405020304" pitchFamily="18" charset="0"/>
              </a:rPr>
              <a:t>is the systematic examination of the methods of carrying on activities so as to improve the effective use of resources and to set up standards of performance for the activities being carried out</a:t>
            </a:r>
          </a:p>
        </p:txBody>
      </p:sp>
      <p:sp>
        <p:nvSpPr>
          <p:cNvPr id="5" name="Rectangle 4"/>
          <p:cNvSpPr/>
          <p:nvPr/>
        </p:nvSpPr>
        <p:spPr>
          <a:xfrm>
            <a:off x="189931" y="1815882"/>
            <a:ext cx="8376598" cy="2246769"/>
          </a:xfrm>
          <a:prstGeom prst="rect">
            <a:avLst/>
          </a:prstGeom>
        </p:spPr>
        <p:txBody>
          <a:bodyPr wrap="square">
            <a:spAutoFit/>
          </a:bodyPr>
          <a:lstStyle/>
          <a:p>
            <a:endParaRPr lang="en-US" sz="2800" dirty="0">
              <a:solidFill>
                <a:srgbClr val="000000"/>
              </a:solidFill>
              <a:latin typeface="Rockwell" panose="02060603020205020403" pitchFamily="18" charset="0"/>
            </a:endParaRPr>
          </a:p>
          <a:p>
            <a:pPr marL="342900" indent="-342900">
              <a:buFont typeface="Arial" panose="020B0604020202020204" pitchFamily="34" charset="0"/>
              <a:buChar char="•"/>
            </a:pPr>
            <a:r>
              <a:rPr lang="en-US" sz="2800" b="1" dirty="0">
                <a:solidFill>
                  <a:srgbClr val="FF0000"/>
                </a:solidFill>
                <a:latin typeface="Times New Roman" panose="02020603050405020304" pitchFamily="18" charset="0"/>
                <a:ea typeface="Nirmala UI Semilight" panose="020B0402040204020203" pitchFamily="34" charset="0"/>
                <a:cs typeface="Times New Roman" panose="02020603050405020304" pitchFamily="18" charset="0"/>
              </a:rPr>
              <a:t>Method study</a:t>
            </a:r>
            <a:r>
              <a:rPr lang="en-US" sz="2800" b="1" dirty="0">
                <a:solidFill>
                  <a:srgbClr val="000000"/>
                </a:solidFill>
                <a:latin typeface="Times New Roman" panose="02020603050405020304" pitchFamily="18" charset="0"/>
                <a:ea typeface="Nirmala UI Semilight" panose="020B0402040204020203" pitchFamily="34" charset="0"/>
                <a:cs typeface="Times New Roman" panose="02020603050405020304" pitchFamily="18" charset="0"/>
              </a:rPr>
              <a:t> </a:t>
            </a:r>
            <a:r>
              <a:rPr lang="en-US" sz="2800" dirty="0">
                <a:solidFill>
                  <a:srgbClr val="000000"/>
                </a:solidFill>
                <a:latin typeface="Times New Roman" panose="02020603050405020304" pitchFamily="18" charset="0"/>
                <a:ea typeface="Nirmala UI Semilight" panose="020B0402040204020203" pitchFamily="34" charset="0"/>
                <a:cs typeface="Times New Roman" panose="02020603050405020304" pitchFamily="18" charset="0"/>
              </a:rPr>
              <a:t>the systematic recording and critical examination of existing and proposed ways of doing work as a means of developing and applying easier and more effective methods and reducing costs.</a:t>
            </a:r>
          </a:p>
        </p:txBody>
      </p:sp>
      <p:sp>
        <p:nvSpPr>
          <p:cNvPr id="6" name="Rectangle 5"/>
          <p:cNvSpPr/>
          <p:nvPr/>
        </p:nvSpPr>
        <p:spPr>
          <a:xfrm>
            <a:off x="219359" y="4495800"/>
            <a:ext cx="8686800" cy="2246769"/>
          </a:xfrm>
          <a:prstGeom prst="rect">
            <a:avLst/>
          </a:prstGeom>
        </p:spPr>
        <p:txBody>
          <a:bodyPr wrap="square">
            <a:spAutoFit/>
          </a:bodyPr>
          <a:lstStyle/>
          <a:p>
            <a:pPr marL="342900" indent="-342900">
              <a:buFont typeface="Arial" panose="020B0604020202020204" pitchFamily="34" charset="0"/>
              <a:buChar char="•"/>
            </a:pPr>
            <a:r>
              <a:rPr lang="en-US" sz="2400" dirty="0">
                <a:solidFill>
                  <a:srgbClr val="FF0000"/>
                </a:solidFill>
                <a:latin typeface="TimesNewRomanPS"/>
              </a:rPr>
              <a:t> </a:t>
            </a:r>
            <a:r>
              <a:rPr lang="en-US" sz="2800" b="1" dirty="0">
                <a:solidFill>
                  <a:srgbClr val="FF0000"/>
                </a:solidFill>
                <a:latin typeface="Times New Roman" panose="02020603050405020304" pitchFamily="18" charset="0"/>
                <a:cs typeface="Times New Roman" panose="02020603050405020304" pitchFamily="18" charset="0"/>
              </a:rPr>
              <a:t>Work Measurement</a:t>
            </a:r>
            <a:r>
              <a:rPr lang="en-US" sz="2400" b="1" dirty="0">
                <a:solidFill>
                  <a:srgbClr val="FF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is measuring time it should take a qualified    worker to complete a specified task, working at a sustainable rate, using given methods, tools and equipment, raw material inputs, and workplace arrangement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03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609600" y="609601"/>
            <a:ext cx="8089900" cy="457200"/>
          </a:xfrm>
        </p:spPr>
        <p:txBody>
          <a:bodyPr rtlCol="0">
            <a:noAutofit/>
          </a:bodyPr>
          <a:lstStyle/>
          <a:p>
            <a:pPr fontAlgn="auto">
              <a:spcAft>
                <a:spcPts val="0"/>
              </a:spcAft>
              <a:defRPr/>
            </a:pPr>
            <a:r>
              <a:rPr lang="en-US" sz="2800" dirty="0">
                <a:solidFill>
                  <a:srgbClr val="0844BC"/>
                </a:solidFill>
              </a:rPr>
              <a:t>Meaningful Standards Help a firm to Determine-</a:t>
            </a:r>
          </a:p>
        </p:txBody>
      </p:sp>
      <p:sp>
        <p:nvSpPr>
          <p:cNvPr id="112643" name="Rectangle 3"/>
          <p:cNvSpPr>
            <a:spLocks noChangeArrowheads="1"/>
          </p:cNvSpPr>
          <p:nvPr/>
        </p:nvSpPr>
        <p:spPr bwMode="auto">
          <a:xfrm>
            <a:off x="695325" y="1295400"/>
            <a:ext cx="7372350" cy="4487382"/>
          </a:xfrm>
          <a:prstGeom prst="rect">
            <a:avLst/>
          </a:prstGeom>
          <a:noFill/>
          <a:ln w="9525">
            <a:noFill/>
            <a:miter lim="800000"/>
            <a:headEnd/>
            <a:tailEnd/>
          </a:ln>
        </p:spPr>
        <p:txBody>
          <a:bodyPr>
            <a:spAutoFit/>
          </a:bodyPr>
          <a:lstStyle/>
          <a:p>
            <a:pPr marL="533400" indent="-533400">
              <a:lnSpc>
                <a:spcPct val="90000"/>
              </a:lnSpc>
              <a:spcAft>
                <a:spcPct val="40000"/>
              </a:spcAft>
              <a:buClr>
                <a:srgbClr val="BF0922"/>
              </a:buClr>
              <a:buFont typeface="Times" pitchFamily="18" charset="0"/>
              <a:buAutoNum type="arabicPeriod"/>
            </a:pPr>
            <a:r>
              <a:rPr lang="en-US" sz="2400" dirty="0"/>
              <a:t>Staffing needs( to meet required production)</a:t>
            </a:r>
          </a:p>
          <a:p>
            <a:pPr marL="533400" indent="-533400">
              <a:lnSpc>
                <a:spcPct val="90000"/>
              </a:lnSpc>
              <a:spcAft>
                <a:spcPct val="40000"/>
              </a:spcAft>
              <a:buClr>
                <a:srgbClr val="BF0922"/>
              </a:buClr>
              <a:buFont typeface="Times" pitchFamily="18" charset="0"/>
              <a:buAutoNum type="arabicPeriod"/>
            </a:pPr>
            <a:r>
              <a:rPr lang="en-US" sz="2400" dirty="0"/>
              <a:t>Cost and time estimates prior to production</a:t>
            </a:r>
          </a:p>
          <a:p>
            <a:pPr marL="533400" indent="-533400">
              <a:lnSpc>
                <a:spcPct val="90000"/>
              </a:lnSpc>
              <a:spcAft>
                <a:spcPct val="40000"/>
              </a:spcAft>
              <a:buClr>
                <a:srgbClr val="BF0922"/>
              </a:buClr>
              <a:buFont typeface="Times" pitchFamily="18" charset="0"/>
              <a:buAutoNum type="arabicPeriod"/>
            </a:pPr>
            <a:r>
              <a:rPr lang="en-US" sz="2400" dirty="0"/>
              <a:t>Crew size and work balance(who does what in an assembly line)</a:t>
            </a:r>
          </a:p>
          <a:p>
            <a:pPr marL="533400" indent="-533400">
              <a:lnSpc>
                <a:spcPct val="90000"/>
              </a:lnSpc>
              <a:spcAft>
                <a:spcPct val="40000"/>
              </a:spcAft>
              <a:buClr>
                <a:srgbClr val="BF0922"/>
              </a:buClr>
              <a:buFont typeface="Times" pitchFamily="18" charset="0"/>
              <a:buAutoNum type="arabicPeriod"/>
            </a:pPr>
            <a:r>
              <a:rPr lang="en-US" sz="2400" dirty="0"/>
              <a:t>Expected production(to constitute a fair day’s work)</a:t>
            </a:r>
          </a:p>
          <a:p>
            <a:pPr marL="533400" indent="-533400">
              <a:lnSpc>
                <a:spcPct val="90000"/>
              </a:lnSpc>
              <a:spcAft>
                <a:spcPct val="40000"/>
              </a:spcAft>
              <a:buClr>
                <a:srgbClr val="BF0922"/>
              </a:buClr>
              <a:buFont typeface="Times" pitchFamily="18" charset="0"/>
              <a:buAutoNum type="arabicPeriod"/>
            </a:pPr>
            <a:r>
              <a:rPr lang="en-US" sz="2400" dirty="0"/>
              <a:t>Basis of wage-incentive plans(provides a reasonable incentive)</a:t>
            </a:r>
          </a:p>
          <a:p>
            <a:pPr marL="533400" indent="-533400">
              <a:lnSpc>
                <a:spcPct val="90000"/>
              </a:lnSpc>
              <a:spcAft>
                <a:spcPct val="40000"/>
              </a:spcAft>
              <a:buClr>
                <a:srgbClr val="BF0922"/>
              </a:buClr>
              <a:buFont typeface="Times" pitchFamily="18" charset="0"/>
              <a:buAutoNum type="arabicPeriod"/>
            </a:pPr>
            <a:r>
              <a:rPr lang="en-US" sz="2400" dirty="0"/>
              <a:t>Efficiency of employees and supervision(standard is necessary to determine)</a:t>
            </a:r>
          </a:p>
        </p:txBody>
      </p:sp>
      <p:grpSp>
        <p:nvGrpSpPr>
          <p:cNvPr id="5" name="Group 4"/>
          <p:cNvGrpSpPr/>
          <p:nvPr/>
        </p:nvGrpSpPr>
        <p:grpSpPr>
          <a:xfrm>
            <a:off x="0" y="6324600"/>
            <a:ext cx="8763000" cy="533400"/>
            <a:chOff x="0" y="6324600"/>
            <a:chExt cx="8763000" cy="533400"/>
          </a:xfrm>
        </p:grpSpPr>
        <p:sp>
          <p:nvSpPr>
            <p:cNvPr id="6" name="TextBox 5"/>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8" name="TextBox 7"/>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3 of 28</a:t>
              </a:r>
            </a:p>
          </p:txBody>
        </p:sp>
      </p:grpSp>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112643"/>
                                        </p:tgtEl>
                                        <p:attrNameLst>
                                          <p:attrName>style.visibility</p:attrName>
                                        </p:attrNameLst>
                                      </p:cBhvr>
                                      <p:to>
                                        <p:strVal val="visible"/>
                                      </p:to>
                                    </p:set>
                                    <p:animEffect transition="in" filter="strips(downRight)">
                                      <p:cBhvr>
                                        <p:cTn id="7" dur="1000"/>
                                        <p:tgtEl>
                                          <p:spTgt spid="112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ChangeArrowheads="1"/>
          </p:cNvSpPr>
          <p:nvPr>
            <p:ph type="title"/>
          </p:nvPr>
        </p:nvSpPr>
        <p:spPr>
          <a:xfrm>
            <a:off x="685800" y="434975"/>
            <a:ext cx="7772400" cy="1003300"/>
          </a:xfrm>
        </p:spPr>
        <p:txBody>
          <a:bodyPr/>
          <a:lstStyle/>
          <a:p>
            <a:r>
              <a:rPr lang="en-US" dirty="0">
                <a:solidFill>
                  <a:srgbClr val="0844BC"/>
                </a:solidFill>
                <a:latin typeface="Arial" pitchFamily="34" charset="0"/>
                <a:cs typeface="Arial" pitchFamily="34" charset="0"/>
              </a:rPr>
              <a:t>Labor Standards</a:t>
            </a:r>
          </a:p>
        </p:txBody>
      </p:sp>
      <p:sp>
        <p:nvSpPr>
          <p:cNvPr id="114691" name="Rectangle 3"/>
          <p:cNvSpPr>
            <a:spLocks noChangeArrowheads="1"/>
          </p:cNvSpPr>
          <p:nvPr/>
        </p:nvSpPr>
        <p:spPr bwMode="auto">
          <a:xfrm>
            <a:off x="583479" y="1930256"/>
            <a:ext cx="5154613" cy="978729"/>
          </a:xfrm>
          <a:prstGeom prst="rect">
            <a:avLst/>
          </a:prstGeom>
          <a:noFill/>
          <a:ln w="9525">
            <a:noFill/>
            <a:miter lim="800000"/>
            <a:headEnd/>
            <a:tailEnd/>
          </a:ln>
        </p:spPr>
        <p:txBody>
          <a:bodyPr>
            <a:spAutoFit/>
          </a:bodyPr>
          <a:lstStyle/>
          <a:p>
            <a:pPr>
              <a:lnSpc>
                <a:spcPct val="90000"/>
              </a:lnSpc>
            </a:pPr>
            <a:r>
              <a:rPr lang="en-US" sz="3200" dirty="0"/>
              <a:t>Four ways of establishing labor standards:</a:t>
            </a:r>
          </a:p>
        </p:txBody>
      </p:sp>
      <p:sp>
        <p:nvSpPr>
          <p:cNvPr id="114692" name="Rectangle 4"/>
          <p:cNvSpPr>
            <a:spLocks noChangeArrowheads="1"/>
          </p:cNvSpPr>
          <p:nvPr/>
        </p:nvSpPr>
        <p:spPr bwMode="auto">
          <a:xfrm>
            <a:off x="304800" y="2908985"/>
            <a:ext cx="8458200" cy="2456057"/>
          </a:xfrm>
          <a:prstGeom prst="rect">
            <a:avLst/>
          </a:prstGeom>
          <a:noFill/>
          <a:ln w="9525">
            <a:noFill/>
            <a:miter lim="800000"/>
            <a:headEnd/>
            <a:tailEnd/>
          </a:ln>
        </p:spPr>
        <p:txBody>
          <a:bodyPr wrap="square">
            <a:spAutoFit/>
          </a:bodyPr>
          <a:lstStyle/>
          <a:p>
            <a:pPr marL="533400" indent="-533400">
              <a:lnSpc>
                <a:spcPct val="90000"/>
              </a:lnSpc>
              <a:spcAft>
                <a:spcPct val="40000"/>
              </a:spcAft>
              <a:buClr>
                <a:schemeClr val="tx2"/>
              </a:buClr>
              <a:buFont typeface="Times" pitchFamily="18" charset="0"/>
              <a:buAutoNum type="arabicPeriod"/>
            </a:pPr>
            <a:r>
              <a:rPr lang="en-US" sz="3200" dirty="0"/>
              <a:t>Historical experience</a:t>
            </a:r>
          </a:p>
          <a:p>
            <a:pPr marL="533400" indent="-533400">
              <a:lnSpc>
                <a:spcPct val="90000"/>
              </a:lnSpc>
              <a:spcAft>
                <a:spcPct val="40000"/>
              </a:spcAft>
              <a:buClr>
                <a:schemeClr val="tx2"/>
              </a:buClr>
              <a:buFont typeface="Times" pitchFamily="18" charset="0"/>
              <a:buAutoNum type="arabicPeriod"/>
            </a:pPr>
            <a:r>
              <a:rPr lang="en-US" sz="3200" dirty="0"/>
              <a:t>Time studies</a:t>
            </a:r>
          </a:p>
          <a:p>
            <a:pPr marL="533400" indent="-533400">
              <a:lnSpc>
                <a:spcPct val="90000"/>
              </a:lnSpc>
              <a:spcAft>
                <a:spcPct val="40000"/>
              </a:spcAft>
              <a:buClr>
                <a:schemeClr val="tx2"/>
              </a:buClr>
              <a:buFont typeface="Times" pitchFamily="18" charset="0"/>
              <a:buAutoNum type="arabicPeriod"/>
            </a:pPr>
            <a:r>
              <a:rPr lang="en-US" sz="3200" dirty="0"/>
              <a:t>Predetermined time standards</a:t>
            </a:r>
          </a:p>
          <a:p>
            <a:pPr marL="533400" indent="-533400">
              <a:lnSpc>
                <a:spcPct val="90000"/>
              </a:lnSpc>
              <a:spcAft>
                <a:spcPct val="40000"/>
              </a:spcAft>
              <a:buClr>
                <a:schemeClr val="tx2"/>
              </a:buClr>
              <a:buFont typeface="Times" pitchFamily="18" charset="0"/>
              <a:buAutoNum type="arabicPeriod"/>
            </a:pPr>
            <a:r>
              <a:rPr lang="en-US" sz="3200" dirty="0"/>
              <a:t>Work sampling</a:t>
            </a:r>
          </a:p>
        </p:txBody>
      </p:sp>
      <p:grpSp>
        <p:nvGrpSpPr>
          <p:cNvPr id="14" name="Group 13"/>
          <p:cNvGrpSpPr/>
          <p:nvPr/>
        </p:nvGrpSpPr>
        <p:grpSpPr>
          <a:xfrm>
            <a:off x="0" y="6324600"/>
            <a:ext cx="8763000" cy="533400"/>
            <a:chOff x="0" y="6324600"/>
            <a:chExt cx="8763000" cy="533400"/>
          </a:xfrm>
        </p:grpSpPr>
        <p:sp>
          <p:nvSpPr>
            <p:cNvPr id="8" name="TextBox 7"/>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9" name="TextBox 8"/>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0" name="TextBox 9"/>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2 of 28</a:t>
              </a:r>
            </a:p>
          </p:txBody>
        </p:sp>
      </p:grpSp>
      <p:grpSp>
        <p:nvGrpSpPr>
          <p:cNvPr id="13" name="Group 12"/>
          <p:cNvGrpSpPr/>
          <p:nvPr/>
        </p:nvGrpSpPr>
        <p:grpSpPr>
          <a:xfrm>
            <a:off x="5943600" y="381001"/>
            <a:ext cx="2667000" cy="2502931"/>
            <a:chOff x="5943600" y="381001"/>
            <a:chExt cx="2667000" cy="2502931"/>
          </a:xfrm>
        </p:grpSpPr>
        <p:pic>
          <p:nvPicPr>
            <p:cNvPr id="11" name="Picture 10" descr="time-motion-study-22067085.jpg"/>
            <p:cNvPicPr>
              <a:picLocks noChangeAspect="1"/>
            </p:cNvPicPr>
            <p:nvPr/>
          </p:nvPicPr>
          <p:blipFill>
            <a:blip r:embed="rId2"/>
            <a:stretch>
              <a:fillRect/>
            </a:stretch>
          </p:blipFill>
          <p:spPr>
            <a:xfrm>
              <a:off x="5943600" y="381001"/>
              <a:ext cx="2628900" cy="2319618"/>
            </a:xfrm>
            <a:prstGeom prst="rect">
              <a:avLst/>
            </a:prstGeom>
          </p:spPr>
        </p:pic>
        <p:sp>
          <p:nvSpPr>
            <p:cNvPr id="12" name="TextBox 11"/>
            <p:cNvSpPr txBox="1"/>
            <p:nvPr/>
          </p:nvSpPr>
          <p:spPr>
            <a:xfrm>
              <a:off x="7620000" y="2514600"/>
              <a:ext cx="990600" cy="369332"/>
            </a:xfrm>
            <a:prstGeom prst="rect">
              <a:avLst/>
            </a:prstGeom>
            <a:solidFill>
              <a:schemeClr val="bg1"/>
            </a:solidFill>
          </p:spPr>
          <p:txBody>
            <a:bodyPr wrap="square" rtlCol="0">
              <a:spAutoFit/>
            </a:bodyPr>
            <a:lstStyle/>
            <a:p>
              <a:endParaRPr lang="en-US" dirty="0"/>
            </a:p>
          </p:txBody>
        </p:sp>
      </p:grpSp>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14691"/>
                                        </p:tgtEl>
                                        <p:attrNameLst>
                                          <p:attrName>style.visibility</p:attrName>
                                        </p:attrNameLst>
                                      </p:cBhvr>
                                      <p:to>
                                        <p:strVal val="visible"/>
                                      </p:to>
                                    </p:set>
                                    <p:animEffect transition="in" filter="wipe(left)">
                                      <p:cBhvr>
                                        <p:cTn id="7" dur="1000"/>
                                        <p:tgtEl>
                                          <p:spTgt spid="114691"/>
                                        </p:tgtEl>
                                      </p:cBhvr>
                                    </p:animEffect>
                                  </p:childTnLst>
                                </p:cTn>
                              </p:par>
                            </p:childTnLst>
                          </p:cTn>
                        </p:par>
                        <p:par>
                          <p:cTn id="8" fill="hold" nodeType="afterGroup">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114692"/>
                                        </p:tgtEl>
                                        <p:attrNameLst>
                                          <p:attrName>style.visibility</p:attrName>
                                        </p:attrNameLst>
                                      </p:cBhvr>
                                      <p:to>
                                        <p:strVal val="visible"/>
                                      </p:to>
                                    </p:set>
                                    <p:animEffect transition="in" filter="strips(downRight)">
                                      <p:cBhvr>
                                        <p:cTn id="11" dur="1000"/>
                                        <p:tgtEl>
                                          <p:spTgt spid="114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autoUpdateAnimBg="0"/>
      <p:bldP spid="11469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noChangeArrowheads="1"/>
          </p:cNvSpPr>
          <p:nvPr>
            <p:ph type="title"/>
          </p:nvPr>
        </p:nvSpPr>
        <p:spPr>
          <a:xfrm>
            <a:off x="457200" y="0"/>
            <a:ext cx="7467600" cy="1143000"/>
          </a:xfrm>
        </p:spPr>
        <p:txBody>
          <a:bodyPr/>
          <a:lstStyle/>
          <a:p>
            <a:r>
              <a:rPr lang="en-US" dirty="0">
                <a:solidFill>
                  <a:srgbClr val="0844BC"/>
                </a:solidFill>
                <a:latin typeface="Arial" pitchFamily="34" charset="0"/>
                <a:cs typeface="Arial" pitchFamily="34" charset="0"/>
              </a:rPr>
              <a:t>Historical Experience</a:t>
            </a:r>
          </a:p>
        </p:txBody>
      </p:sp>
      <p:sp>
        <p:nvSpPr>
          <p:cNvPr id="109570" name="Content Placeholder 1"/>
          <p:cNvSpPr>
            <a:spLocks noGrp="1"/>
          </p:cNvSpPr>
          <p:nvPr>
            <p:ph sz="quarter" idx="1"/>
          </p:nvPr>
        </p:nvSpPr>
        <p:spPr>
          <a:xfrm>
            <a:off x="736600" y="1600200"/>
            <a:ext cx="7670800" cy="4525963"/>
          </a:xfrm>
        </p:spPr>
        <p:txBody>
          <a:bodyPr/>
          <a:lstStyle/>
          <a:p>
            <a:pPr>
              <a:buFont typeface="Arial Unicode MS" pitchFamily="34" charset="-128"/>
              <a:buChar char="▶"/>
            </a:pPr>
            <a:r>
              <a:rPr lang="en-US" dirty="0">
                <a:latin typeface="Arial" pitchFamily="34" charset="0"/>
                <a:cs typeface="Arial" pitchFamily="34" charset="0"/>
              </a:rPr>
              <a:t>How the task was performed last time</a:t>
            </a:r>
          </a:p>
          <a:p>
            <a:pPr>
              <a:buFont typeface="Arial Unicode MS" pitchFamily="34" charset="-128"/>
              <a:buChar char="▶"/>
            </a:pPr>
            <a:r>
              <a:rPr lang="en-US" dirty="0">
                <a:latin typeface="Arial" pitchFamily="34" charset="0"/>
                <a:cs typeface="Arial" pitchFamily="34" charset="0"/>
              </a:rPr>
              <a:t>Easy and inexpensive</a:t>
            </a:r>
          </a:p>
          <a:p>
            <a:pPr>
              <a:buFont typeface="Arial Unicode MS" pitchFamily="34" charset="-128"/>
              <a:buChar char="▶"/>
            </a:pPr>
            <a:r>
              <a:rPr lang="en-US" dirty="0">
                <a:latin typeface="Arial" pitchFamily="34" charset="0"/>
                <a:cs typeface="Arial" pitchFamily="34" charset="0"/>
              </a:rPr>
              <a:t>Data available from production records or time cards</a:t>
            </a:r>
          </a:p>
          <a:p>
            <a:pPr>
              <a:buFont typeface="Arial Unicode MS" pitchFamily="34" charset="-128"/>
              <a:buChar char="▶"/>
            </a:pPr>
            <a:r>
              <a:rPr lang="en-US" dirty="0">
                <a:latin typeface="Arial" pitchFamily="34" charset="0"/>
                <a:cs typeface="Arial" pitchFamily="34" charset="0"/>
              </a:rPr>
              <a:t>Data is not objective and may be inaccurate</a:t>
            </a:r>
          </a:p>
          <a:p>
            <a:pPr>
              <a:buFont typeface="Arial Unicode MS" pitchFamily="34" charset="-128"/>
              <a:buChar char="▶"/>
            </a:pPr>
            <a:r>
              <a:rPr lang="en-US" dirty="0">
                <a:latin typeface="Arial" pitchFamily="34" charset="0"/>
                <a:cs typeface="Arial" pitchFamily="34" charset="0"/>
              </a:rPr>
              <a:t>Not recommended</a:t>
            </a:r>
          </a:p>
        </p:txBody>
      </p:sp>
      <p:grpSp>
        <p:nvGrpSpPr>
          <p:cNvPr id="4" name="Group 3"/>
          <p:cNvGrpSpPr/>
          <p:nvPr/>
        </p:nvGrpSpPr>
        <p:grpSpPr>
          <a:xfrm>
            <a:off x="0" y="6324600"/>
            <a:ext cx="8763000" cy="533400"/>
            <a:chOff x="0" y="6324600"/>
            <a:chExt cx="8763000" cy="533400"/>
          </a:xfrm>
        </p:grpSpPr>
        <p:sp>
          <p:nvSpPr>
            <p:cNvPr id="5" name="TextBox 4"/>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6" name="TextBox 5"/>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4 of 28</a:t>
              </a:r>
            </a:p>
          </p:txBody>
        </p:sp>
      </p:grpSp>
    </p:spTree>
  </p:cSld>
  <p:clrMapOvr>
    <a:masterClrMapping/>
  </p:clrMapOvr>
  <p:transition>
    <p:pull dir="l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noChangeArrowheads="1"/>
          </p:cNvSpPr>
          <p:nvPr>
            <p:ph type="title"/>
          </p:nvPr>
        </p:nvSpPr>
        <p:spPr>
          <a:xfrm>
            <a:off x="457200" y="228600"/>
            <a:ext cx="8229600" cy="1143000"/>
          </a:xfrm>
        </p:spPr>
        <p:txBody>
          <a:bodyPr/>
          <a:lstStyle/>
          <a:p>
            <a:r>
              <a:rPr lang="en-US" dirty="0">
                <a:solidFill>
                  <a:srgbClr val="0844BC"/>
                </a:solidFill>
                <a:latin typeface="Arial" pitchFamily="34" charset="0"/>
                <a:cs typeface="Arial" pitchFamily="34" charset="0"/>
              </a:rPr>
              <a:t>Time Studies</a:t>
            </a:r>
          </a:p>
        </p:txBody>
      </p:sp>
      <p:sp>
        <p:nvSpPr>
          <p:cNvPr id="110594" name="Content Placeholder 1"/>
          <p:cNvSpPr>
            <a:spLocks noGrp="1"/>
          </p:cNvSpPr>
          <p:nvPr>
            <p:ph sz="quarter" idx="1"/>
          </p:nvPr>
        </p:nvSpPr>
        <p:spPr>
          <a:xfrm>
            <a:off x="381000" y="1739900"/>
            <a:ext cx="7962900" cy="4152900"/>
          </a:xfrm>
        </p:spPr>
        <p:txBody>
          <a:bodyPr>
            <a:normAutofit/>
          </a:bodyPr>
          <a:lstStyle/>
          <a:p>
            <a:pPr>
              <a:buFont typeface="Arial Unicode MS" pitchFamily="34" charset="-128"/>
              <a:buChar char="▶"/>
            </a:pPr>
            <a:r>
              <a:rPr lang="en-US" sz="2000" dirty="0">
                <a:latin typeface="Arial" pitchFamily="34" charset="0"/>
                <a:cs typeface="Arial" pitchFamily="34" charset="0"/>
              </a:rPr>
              <a:t>Involves timing a sample of a worker’s </a:t>
            </a:r>
          </a:p>
          <a:p>
            <a:pPr>
              <a:buNone/>
            </a:pPr>
            <a:r>
              <a:rPr lang="en-US" sz="2000" dirty="0">
                <a:latin typeface="Arial" pitchFamily="34" charset="0"/>
                <a:cs typeface="Arial" pitchFamily="34" charset="0"/>
              </a:rPr>
              <a:t>    performance and using it to set a standard</a:t>
            </a:r>
          </a:p>
          <a:p>
            <a:pPr>
              <a:buFont typeface="Arial Unicode MS" pitchFamily="34" charset="-128"/>
              <a:buChar char="▶"/>
            </a:pPr>
            <a:r>
              <a:rPr lang="en-US" sz="2000" dirty="0">
                <a:latin typeface="Arial" pitchFamily="34" charset="0"/>
                <a:cs typeface="Arial" pitchFamily="34" charset="0"/>
              </a:rPr>
              <a:t>Requires trained and experienced observers</a:t>
            </a:r>
          </a:p>
          <a:p>
            <a:pPr>
              <a:buFont typeface="Arial Unicode MS" pitchFamily="34" charset="-128"/>
              <a:buChar char="▶"/>
            </a:pPr>
            <a:r>
              <a:rPr lang="en-US" sz="2000" dirty="0">
                <a:latin typeface="Arial" pitchFamily="34" charset="0"/>
                <a:cs typeface="Arial" pitchFamily="34" charset="0"/>
              </a:rPr>
              <a:t>Cannot be set before the work is performed</a:t>
            </a:r>
          </a:p>
        </p:txBody>
      </p:sp>
      <p:pic>
        <p:nvPicPr>
          <p:cNvPr id="4" name="Picture 3" descr="74210184.png"/>
          <p:cNvPicPr>
            <a:picLocks noChangeAspect="1"/>
          </p:cNvPicPr>
          <p:nvPr/>
        </p:nvPicPr>
        <p:blipFill>
          <a:blip r:embed="rId2"/>
          <a:stretch>
            <a:fillRect/>
          </a:stretch>
        </p:blipFill>
        <p:spPr>
          <a:xfrm>
            <a:off x="5791200" y="1295400"/>
            <a:ext cx="3029309" cy="3504829"/>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grpSp>
        <p:nvGrpSpPr>
          <p:cNvPr id="5" name="Group 4"/>
          <p:cNvGrpSpPr/>
          <p:nvPr/>
        </p:nvGrpSpPr>
        <p:grpSpPr>
          <a:xfrm>
            <a:off x="0" y="6324600"/>
            <a:ext cx="8763000" cy="533400"/>
            <a:chOff x="0" y="6324600"/>
            <a:chExt cx="8763000" cy="533400"/>
          </a:xfrm>
        </p:grpSpPr>
        <p:sp>
          <p:nvSpPr>
            <p:cNvPr id="6" name="TextBox 5"/>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8" name="TextBox 7"/>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5 of 28</a:t>
              </a:r>
            </a:p>
          </p:txBody>
        </p:sp>
      </p:grpSp>
    </p:spTree>
  </p:cSld>
  <p:clrMapOvr>
    <a:masterClrMapping/>
  </p:clrMapOvr>
  <p:transition>
    <p:pull dir="l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Grp="1" noChangeArrowheads="1"/>
          </p:cNvSpPr>
          <p:nvPr>
            <p:ph type="title"/>
          </p:nvPr>
        </p:nvSpPr>
        <p:spPr>
          <a:xfrm>
            <a:off x="685800" y="434975"/>
            <a:ext cx="7772400" cy="1003300"/>
          </a:xfrm>
        </p:spPr>
        <p:txBody>
          <a:bodyPr/>
          <a:lstStyle/>
          <a:p>
            <a:r>
              <a:rPr lang="en-US" dirty="0">
                <a:solidFill>
                  <a:srgbClr val="0844BC"/>
                </a:solidFill>
                <a:latin typeface="Arial" pitchFamily="34" charset="0"/>
                <a:cs typeface="Arial" pitchFamily="34" charset="0"/>
              </a:rPr>
              <a:t>Time Studies</a:t>
            </a:r>
          </a:p>
        </p:txBody>
      </p:sp>
      <p:sp>
        <p:nvSpPr>
          <p:cNvPr id="117763" name="Rectangle 3"/>
          <p:cNvSpPr>
            <a:spLocks noChangeArrowheads="1"/>
          </p:cNvSpPr>
          <p:nvPr/>
        </p:nvSpPr>
        <p:spPr bwMode="auto">
          <a:xfrm>
            <a:off x="779463" y="1954213"/>
            <a:ext cx="7559675" cy="3351212"/>
          </a:xfrm>
          <a:prstGeom prst="rect">
            <a:avLst/>
          </a:prstGeom>
          <a:noFill/>
          <a:ln w="9525">
            <a:noFill/>
            <a:miter lim="800000"/>
            <a:headEnd/>
            <a:tailEnd/>
          </a:ln>
        </p:spPr>
        <p:txBody>
          <a:bodyPr>
            <a:spAutoFit/>
          </a:bodyPr>
          <a:lstStyle/>
          <a:p>
            <a:pPr marL="533400" indent="-533400">
              <a:lnSpc>
                <a:spcPct val="90000"/>
              </a:lnSpc>
              <a:spcAft>
                <a:spcPct val="40000"/>
              </a:spcAft>
              <a:buClr>
                <a:srgbClr val="BF0922"/>
              </a:buClr>
              <a:buFont typeface="Times" pitchFamily="18" charset="0"/>
              <a:buAutoNum type="arabicPeriod"/>
            </a:pPr>
            <a:r>
              <a:rPr lang="en-US" sz="3200"/>
              <a:t>Define the task to be studied</a:t>
            </a:r>
          </a:p>
          <a:p>
            <a:pPr marL="533400" indent="-533400">
              <a:lnSpc>
                <a:spcPct val="90000"/>
              </a:lnSpc>
              <a:spcAft>
                <a:spcPct val="40000"/>
              </a:spcAft>
              <a:buClr>
                <a:srgbClr val="BF0922"/>
              </a:buClr>
              <a:buFont typeface="Times" pitchFamily="18" charset="0"/>
              <a:buAutoNum type="arabicPeriod"/>
            </a:pPr>
            <a:r>
              <a:rPr lang="en-US" sz="3200"/>
              <a:t>Divide the task into precise elements</a:t>
            </a:r>
          </a:p>
          <a:p>
            <a:pPr marL="533400" indent="-533400">
              <a:lnSpc>
                <a:spcPct val="90000"/>
              </a:lnSpc>
              <a:spcAft>
                <a:spcPct val="40000"/>
              </a:spcAft>
              <a:buClr>
                <a:srgbClr val="BF0922"/>
              </a:buClr>
              <a:buFont typeface="Times" pitchFamily="18" charset="0"/>
              <a:buAutoNum type="arabicPeriod"/>
            </a:pPr>
            <a:r>
              <a:rPr lang="en-US" sz="3200"/>
              <a:t>Decide how many times to measure the task</a:t>
            </a:r>
          </a:p>
          <a:p>
            <a:pPr marL="533400" indent="-533400">
              <a:lnSpc>
                <a:spcPct val="90000"/>
              </a:lnSpc>
              <a:spcAft>
                <a:spcPct val="40000"/>
              </a:spcAft>
              <a:buClr>
                <a:srgbClr val="BF0922"/>
              </a:buClr>
              <a:buFont typeface="Times" pitchFamily="18" charset="0"/>
              <a:buAutoNum type="arabicPeriod"/>
            </a:pPr>
            <a:r>
              <a:rPr lang="en-US" sz="3200"/>
              <a:t>Time and record element times and rating of performance</a:t>
            </a:r>
          </a:p>
        </p:txBody>
      </p:sp>
      <p:grpSp>
        <p:nvGrpSpPr>
          <p:cNvPr id="4" name="Group 3"/>
          <p:cNvGrpSpPr/>
          <p:nvPr/>
        </p:nvGrpSpPr>
        <p:grpSpPr>
          <a:xfrm>
            <a:off x="0" y="6324600"/>
            <a:ext cx="8763000" cy="533400"/>
            <a:chOff x="0" y="6324600"/>
            <a:chExt cx="8763000" cy="533400"/>
          </a:xfrm>
        </p:grpSpPr>
        <p:sp>
          <p:nvSpPr>
            <p:cNvPr id="5" name="TextBox 4"/>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6" name="TextBox 5"/>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6 of 28</a:t>
              </a:r>
            </a:p>
          </p:txBody>
        </p:sp>
      </p:gr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117763"/>
                                        </p:tgtEl>
                                        <p:attrNameLst>
                                          <p:attrName>style.visibility</p:attrName>
                                        </p:attrNameLst>
                                      </p:cBhvr>
                                      <p:to>
                                        <p:strVal val="visible"/>
                                      </p:to>
                                    </p:set>
                                    <p:animEffect transition="in" filter="strips(downRight)">
                                      <p:cBhvr>
                                        <p:cTn id="7" dur="1000"/>
                                        <p:tgtEl>
                                          <p:spTgt spid="117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ChangeArrowheads="1"/>
          </p:cNvSpPr>
          <p:nvPr>
            <p:ph type="title"/>
          </p:nvPr>
        </p:nvSpPr>
        <p:spPr>
          <a:xfrm>
            <a:off x="685800" y="434975"/>
            <a:ext cx="7772400" cy="1003300"/>
          </a:xfrm>
        </p:spPr>
        <p:txBody>
          <a:bodyPr/>
          <a:lstStyle/>
          <a:p>
            <a:r>
              <a:rPr lang="en-US" dirty="0">
                <a:solidFill>
                  <a:srgbClr val="0844BC"/>
                </a:solidFill>
                <a:latin typeface="Arial" pitchFamily="34" charset="0"/>
                <a:cs typeface="Arial" pitchFamily="34" charset="0"/>
              </a:rPr>
              <a:t>Time Studies</a:t>
            </a:r>
          </a:p>
        </p:txBody>
      </p:sp>
      <p:sp>
        <p:nvSpPr>
          <p:cNvPr id="118787" name="Rectangle 3"/>
          <p:cNvSpPr>
            <a:spLocks noChangeArrowheads="1"/>
          </p:cNvSpPr>
          <p:nvPr/>
        </p:nvSpPr>
        <p:spPr bwMode="auto">
          <a:xfrm>
            <a:off x="833438" y="1611313"/>
            <a:ext cx="6648450" cy="544512"/>
          </a:xfrm>
          <a:prstGeom prst="rect">
            <a:avLst/>
          </a:prstGeom>
          <a:noFill/>
          <a:ln w="9525">
            <a:noFill/>
            <a:miter lim="800000"/>
            <a:headEnd/>
            <a:tailEnd/>
          </a:ln>
        </p:spPr>
        <p:txBody>
          <a:bodyPr wrap="none">
            <a:spAutoFit/>
          </a:bodyPr>
          <a:lstStyle/>
          <a:p>
            <a:pPr marL="533400" indent="-533400">
              <a:lnSpc>
                <a:spcPct val="90000"/>
              </a:lnSpc>
              <a:spcBef>
                <a:spcPct val="40000"/>
              </a:spcBef>
              <a:buClr>
                <a:srgbClr val="BF0922"/>
              </a:buClr>
              <a:buFont typeface="Times" pitchFamily="18" charset="0"/>
              <a:buAutoNum type="arabicPeriod" startAt="5"/>
            </a:pPr>
            <a:r>
              <a:rPr lang="en-US" sz="3200"/>
              <a:t>Compute average observed time</a:t>
            </a:r>
          </a:p>
        </p:txBody>
      </p:sp>
      <p:grpSp>
        <p:nvGrpSpPr>
          <p:cNvPr id="2" name="Group 4"/>
          <p:cNvGrpSpPr>
            <a:grpSpLocks/>
          </p:cNvGrpSpPr>
          <p:nvPr/>
        </p:nvGrpSpPr>
        <p:grpSpPr bwMode="auto">
          <a:xfrm>
            <a:off x="1009650" y="2395538"/>
            <a:ext cx="6718300" cy="1316037"/>
            <a:chOff x="1142" y="1865"/>
            <a:chExt cx="4232" cy="829"/>
          </a:xfrm>
        </p:grpSpPr>
        <p:sp>
          <p:nvSpPr>
            <p:cNvPr id="112649" name="Rectangle 5"/>
            <p:cNvSpPr>
              <a:spLocks noChangeArrowheads="1"/>
            </p:cNvSpPr>
            <p:nvPr/>
          </p:nvSpPr>
          <p:spPr bwMode="auto">
            <a:xfrm>
              <a:off x="1142" y="2037"/>
              <a:ext cx="1187" cy="657"/>
            </a:xfrm>
            <a:prstGeom prst="rect">
              <a:avLst/>
            </a:prstGeom>
            <a:noFill/>
            <a:ln w="9525">
              <a:noFill/>
              <a:miter lim="800000"/>
              <a:headEnd/>
              <a:tailEnd/>
            </a:ln>
          </p:spPr>
          <p:txBody>
            <a:bodyPr>
              <a:spAutoFit/>
            </a:bodyPr>
            <a:lstStyle/>
            <a:p>
              <a:pPr algn="ctr">
                <a:lnSpc>
                  <a:spcPct val="85000"/>
                </a:lnSpc>
              </a:pPr>
              <a:r>
                <a:rPr lang="en-US" sz="2400"/>
                <a:t>Average observed</a:t>
              </a:r>
            </a:p>
            <a:p>
              <a:pPr algn="ctr">
                <a:lnSpc>
                  <a:spcPct val="85000"/>
                </a:lnSpc>
              </a:pPr>
              <a:r>
                <a:rPr lang="en-US" sz="2400"/>
                <a:t>time</a:t>
              </a:r>
            </a:p>
          </p:txBody>
        </p:sp>
        <p:grpSp>
          <p:nvGrpSpPr>
            <p:cNvPr id="3" name="Group 6"/>
            <p:cNvGrpSpPr>
              <a:grpSpLocks/>
            </p:cNvGrpSpPr>
            <p:nvPr/>
          </p:nvGrpSpPr>
          <p:grpSpPr bwMode="auto">
            <a:xfrm>
              <a:off x="2696" y="1865"/>
              <a:ext cx="2678" cy="750"/>
              <a:chOff x="2696" y="1945"/>
              <a:chExt cx="2678" cy="750"/>
            </a:xfrm>
          </p:grpSpPr>
          <p:sp>
            <p:nvSpPr>
              <p:cNvPr id="112652" name="Rectangle 7"/>
              <p:cNvSpPr>
                <a:spLocks noChangeArrowheads="1"/>
              </p:cNvSpPr>
              <p:nvPr/>
            </p:nvSpPr>
            <p:spPr bwMode="auto">
              <a:xfrm>
                <a:off x="2696" y="1945"/>
                <a:ext cx="2678" cy="750"/>
              </a:xfrm>
              <a:prstGeom prst="rect">
                <a:avLst/>
              </a:prstGeom>
              <a:noFill/>
              <a:ln w="9525">
                <a:noFill/>
                <a:miter lim="800000"/>
                <a:headEnd/>
                <a:tailEnd/>
              </a:ln>
            </p:spPr>
            <p:txBody>
              <a:bodyPr>
                <a:spAutoFit/>
              </a:bodyPr>
              <a:lstStyle/>
              <a:p>
                <a:pPr algn="ctr">
                  <a:lnSpc>
                    <a:spcPct val="85000"/>
                  </a:lnSpc>
                  <a:spcAft>
                    <a:spcPct val="40000"/>
                  </a:spcAft>
                </a:pPr>
                <a:r>
                  <a:rPr lang="en-US" sz="2400"/>
                  <a:t>Sum of the times recorded to perform each element</a:t>
                </a:r>
              </a:p>
              <a:p>
                <a:pPr algn="ctr">
                  <a:lnSpc>
                    <a:spcPct val="85000"/>
                  </a:lnSpc>
                  <a:spcAft>
                    <a:spcPct val="40000"/>
                  </a:spcAft>
                </a:pPr>
                <a:r>
                  <a:rPr lang="en-US" sz="2400"/>
                  <a:t>Number of observations</a:t>
                </a:r>
              </a:p>
            </p:txBody>
          </p:sp>
          <p:sp>
            <p:nvSpPr>
              <p:cNvPr id="112653" name="Line 8"/>
              <p:cNvSpPr>
                <a:spLocks noChangeShapeType="1"/>
              </p:cNvSpPr>
              <p:nvPr/>
            </p:nvSpPr>
            <p:spPr bwMode="auto">
              <a:xfrm>
                <a:off x="2728" y="2424"/>
                <a:ext cx="2632" cy="0"/>
              </a:xfrm>
              <a:prstGeom prst="line">
                <a:avLst/>
              </a:prstGeom>
              <a:noFill/>
              <a:ln w="28575">
                <a:solidFill>
                  <a:schemeClr val="tx1"/>
                </a:solidFill>
                <a:round/>
                <a:headEnd/>
                <a:tailEnd/>
              </a:ln>
            </p:spPr>
            <p:txBody>
              <a:bodyPr wrap="none" anchor="ctr"/>
              <a:lstStyle/>
              <a:p>
                <a:endParaRPr lang="en-US"/>
              </a:p>
            </p:txBody>
          </p:sp>
        </p:grpSp>
        <p:sp>
          <p:nvSpPr>
            <p:cNvPr id="112651" name="Rectangle 10"/>
            <p:cNvSpPr>
              <a:spLocks noChangeArrowheads="1"/>
            </p:cNvSpPr>
            <p:nvPr/>
          </p:nvSpPr>
          <p:spPr bwMode="auto">
            <a:xfrm>
              <a:off x="2342" y="2216"/>
              <a:ext cx="230" cy="291"/>
            </a:xfrm>
            <a:prstGeom prst="rect">
              <a:avLst/>
            </a:prstGeom>
            <a:noFill/>
            <a:ln w="9525">
              <a:noFill/>
              <a:miter lim="800000"/>
              <a:headEnd/>
              <a:tailEnd/>
            </a:ln>
          </p:spPr>
          <p:txBody>
            <a:bodyPr wrap="none">
              <a:spAutoFit/>
            </a:bodyPr>
            <a:lstStyle/>
            <a:p>
              <a:r>
                <a:rPr lang="en-US" sz="2400"/>
                <a:t>=</a:t>
              </a:r>
            </a:p>
          </p:txBody>
        </p:sp>
      </p:grpSp>
      <p:sp>
        <p:nvSpPr>
          <p:cNvPr id="118795" name="Rectangle 11"/>
          <p:cNvSpPr>
            <a:spLocks noChangeArrowheads="1"/>
          </p:cNvSpPr>
          <p:nvPr/>
        </p:nvSpPr>
        <p:spPr bwMode="auto">
          <a:xfrm>
            <a:off x="833438" y="3983038"/>
            <a:ext cx="7080250" cy="987425"/>
          </a:xfrm>
          <a:prstGeom prst="rect">
            <a:avLst/>
          </a:prstGeom>
          <a:noFill/>
          <a:ln w="9525">
            <a:noFill/>
            <a:miter lim="800000"/>
            <a:headEnd/>
            <a:tailEnd/>
          </a:ln>
        </p:spPr>
        <p:txBody>
          <a:bodyPr>
            <a:spAutoFit/>
          </a:bodyPr>
          <a:lstStyle/>
          <a:p>
            <a:pPr marL="533400" indent="-533400">
              <a:lnSpc>
                <a:spcPct val="90000"/>
              </a:lnSpc>
              <a:spcBef>
                <a:spcPct val="40000"/>
              </a:spcBef>
              <a:buClr>
                <a:srgbClr val="BF0922"/>
              </a:buClr>
              <a:buFont typeface="Times" pitchFamily="18" charset="0"/>
              <a:buAutoNum type="arabicPeriod" startAt="6"/>
            </a:pPr>
            <a:r>
              <a:rPr lang="en-US" sz="3200"/>
              <a:t>Determine performance rating and normal time</a:t>
            </a:r>
          </a:p>
        </p:txBody>
      </p:sp>
      <p:grpSp>
        <p:nvGrpSpPr>
          <p:cNvPr id="4" name="Group 12"/>
          <p:cNvGrpSpPr>
            <a:grpSpLocks/>
          </p:cNvGrpSpPr>
          <p:nvPr/>
        </p:nvGrpSpPr>
        <p:grpSpPr bwMode="auto">
          <a:xfrm>
            <a:off x="1484313" y="5200650"/>
            <a:ext cx="5610225" cy="1042988"/>
            <a:chOff x="855" y="3572"/>
            <a:chExt cx="3534" cy="657"/>
          </a:xfrm>
        </p:grpSpPr>
        <p:sp>
          <p:nvSpPr>
            <p:cNvPr id="112646" name="Rectangle 13"/>
            <p:cNvSpPr>
              <a:spLocks noChangeArrowheads="1"/>
            </p:cNvSpPr>
            <p:nvPr/>
          </p:nvSpPr>
          <p:spPr bwMode="auto">
            <a:xfrm>
              <a:off x="855" y="3677"/>
              <a:ext cx="3074" cy="291"/>
            </a:xfrm>
            <a:prstGeom prst="rect">
              <a:avLst/>
            </a:prstGeom>
            <a:noFill/>
            <a:ln w="9525">
              <a:noFill/>
              <a:miter lim="800000"/>
              <a:headEnd/>
              <a:tailEnd/>
            </a:ln>
          </p:spPr>
          <p:txBody>
            <a:bodyPr wrap="square">
              <a:spAutoFit/>
            </a:bodyPr>
            <a:lstStyle/>
            <a:p>
              <a:r>
                <a:rPr lang="en-US" sz="2400" dirty="0"/>
                <a:t>Normal time =                        x</a:t>
              </a:r>
            </a:p>
          </p:txBody>
        </p:sp>
        <p:sp>
          <p:nvSpPr>
            <p:cNvPr id="112647" name="Rectangle 15"/>
            <p:cNvSpPr>
              <a:spLocks noChangeArrowheads="1"/>
            </p:cNvSpPr>
            <p:nvPr/>
          </p:nvSpPr>
          <p:spPr bwMode="auto">
            <a:xfrm>
              <a:off x="2018" y="3572"/>
              <a:ext cx="990" cy="657"/>
            </a:xfrm>
            <a:prstGeom prst="rect">
              <a:avLst/>
            </a:prstGeom>
            <a:noFill/>
            <a:ln w="9525">
              <a:noFill/>
              <a:miter lim="800000"/>
              <a:headEnd/>
              <a:tailEnd/>
            </a:ln>
          </p:spPr>
          <p:txBody>
            <a:bodyPr>
              <a:spAutoFit/>
            </a:bodyPr>
            <a:lstStyle/>
            <a:p>
              <a:pPr algn="ctr">
                <a:lnSpc>
                  <a:spcPct val="85000"/>
                </a:lnSpc>
              </a:pPr>
              <a:r>
                <a:rPr lang="en-US" sz="2400"/>
                <a:t>Average </a:t>
              </a:r>
            </a:p>
            <a:p>
              <a:pPr algn="ctr">
                <a:lnSpc>
                  <a:spcPct val="85000"/>
                </a:lnSpc>
              </a:pPr>
              <a:r>
                <a:rPr lang="en-US" sz="2400"/>
                <a:t>observed </a:t>
              </a:r>
              <a:br>
                <a:rPr lang="en-US" sz="2400"/>
              </a:br>
              <a:r>
                <a:rPr lang="en-US" sz="2400"/>
                <a:t>time</a:t>
              </a:r>
            </a:p>
          </p:txBody>
        </p:sp>
        <p:sp>
          <p:nvSpPr>
            <p:cNvPr id="112648" name="Rectangle 18"/>
            <p:cNvSpPr>
              <a:spLocks noChangeArrowheads="1"/>
            </p:cNvSpPr>
            <p:nvPr/>
          </p:nvSpPr>
          <p:spPr bwMode="auto">
            <a:xfrm>
              <a:off x="3133" y="3623"/>
              <a:ext cx="1256" cy="459"/>
            </a:xfrm>
            <a:prstGeom prst="rect">
              <a:avLst/>
            </a:prstGeom>
            <a:noFill/>
            <a:ln w="9525">
              <a:noFill/>
              <a:miter lim="800000"/>
              <a:headEnd/>
              <a:tailEnd/>
            </a:ln>
          </p:spPr>
          <p:txBody>
            <a:bodyPr>
              <a:spAutoFit/>
            </a:bodyPr>
            <a:lstStyle/>
            <a:p>
              <a:pPr algn="ctr">
                <a:lnSpc>
                  <a:spcPct val="85000"/>
                </a:lnSpc>
              </a:pPr>
              <a:r>
                <a:rPr lang="en-US" sz="2400" dirty="0"/>
                <a:t>Performance </a:t>
              </a:r>
            </a:p>
            <a:p>
              <a:pPr algn="ctr">
                <a:lnSpc>
                  <a:spcPct val="85000"/>
                </a:lnSpc>
              </a:pPr>
              <a:r>
                <a:rPr lang="en-US" sz="2400" dirty="0"/>
                <a:t>rating factor</a:t>
              </a:r>
            </a:p>
          </p:txBody>
        </p:sp>
      </p:grpSp>
      <p:grpSp>
        <p:nvGrpSpPr>
          <p:cNvPr id="15" name="Group 14"/>
          <p:cNvGrpSpPr/>
          <p:nvPr/>
        </p:nvGrpSpPr>
        <p:grpSpPr>
          <a:xfrm>
            <a:off x="0" y="6324600"/>
            <a:ext cx="8763000" cy="533400"/>
            <a:chOff x="0" y="6324600"/>
            <a:chExt cx="8763000" cy="533400"/>
          </a:xfrm>
        </p:grpSpPr>
        <p:sp>
          <p:nvSpPr>
            <p:cNvPr id="16" name="TextBox 15"/>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7" name="TextBox 16"/>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8" name="TextBox 17"/>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7 of 28</a:t>
              </a:r>
            </a:p>
          </p:txBody>
        </p:sp>
      </p:gr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18787"/>
                                        </p:tgtEl>
                                        <p:attrNameLst>
                                          <p:attrName>style.visibility</p:attrName>
                                        </p:attrNameLst>
                                      </p:cBhvr>
                                      <p:to>
                                        <p:strVal val="visible"/>
                                      </p:to>
                                    </p:set>
                                    <p:animEffect transition="in" filter="wipe(left)">
                                      <p:cBhvr>
                                        <p:cTn id="7" dur="1000"/>
                                        <p:tgtEl>
                                          <p:spTgt spid="118787"/>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8795"/>
                                        </p:tgtEl>
                                        <p:attrNameLst>
                                          <p:attrName>style.visibility</p:attrName>
                                        </p:attrNameLst>
                                      </p:cBhvr>
                                      <p:to>
                                        <p:strVal val="visible"/>
                                      </p:to>
                                    </p:set>
                                    <p:animEffect transition="in" filter="wipe(left)">
                                      <p:cBhvr>
                                        <p:cTn id="16" dur="1000"/>
                                        <p:tgtEl>
                                          <p:spTgt spid="118795"/>
                                        </p:tgtEl>
                                      </p:cBhvr>
                                    </p:animEffect>
                                  </p:childTnLst>
                                </p:cTn>
                              </p:par>
                            </p:childTnLst>
                          </p:cTn>
                        </p:par>
                        <p:par>
                          <p:cTn id="17" fill="hold" nodeType="afterGroup">
                            <p:stCondLst>
                              <p:cond delay="1000"/>
                            </p:stCondLst>
                            <p:childTnLst>
                              <p:par>
                                <p:cTn id="18" presetID="22" presetClass="entr" presetSubtype="8" fill="hold" nodeType="afterEffect">
                                  <p:stCondLst>
                                    <p:cond delay="100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autoUpdateAnimBg="0"/>
      <p:bldP spid="118795"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ChangeArrowheads="1"/>
          </p:cNvSpPr>
          <p:nvPr>
            <p:ph type="title"/>
          </p:nvPr>
        </p:nvSpPr>
        <p:spPr>
          <a:xfrm>
            <a:off x="685800" y="520700"/>
            <a:ext cx="7772400" cy="1003300"/>
          </a:xfrm>
        </p:spPr>
        <p:txBody>
          <a:bodyPr/>
          <a:lstStyle/>
          <a:p>
            <a:r>
              <a:rPr lang="en-US" dirty="0">
                <a:solidFill>
                  <a:srgbClr val="0844BC"/>
                </a:solidFill>
                <a:latin typeface="Arial" pitchFamily="34" charset="0"/>
                <a:cs typeface="Arial" pitchFamily="34" charset="0"/>
              </a:rPr>
              <a:t>Time Studies</a:t>
            </a:r>
          </a:p>
        </p:txBody>
      </p:sp>
      <p:sp>
        <p:nvSpPr>
          <p:cNvPr id="119811" name="Rectangle 3"/>
          <p:cNvSpPr>
            <a:spLocks noChangeArrowheads="1"/>
          </p:cNvSpPr>
          <p:nvPr/>
        </p:nvSpPr>
        <p:spPr bwMode="auto">
          <a:xfrm>
            <a:off x="728663" y="1979613"/>
            <a:ext cx="7659687" cy="2070100"/>
          </a:xfrm>
          <a:prstGeom prst="rect">
            <a:avLst/>
          </a:prstGeom>
          <a:noFill/>
          <a:ln w="9525">
            <a:noFill/>
            <a:miter lim="800000"/>
            <a:headEnd/>
            <a:tailEnd/>
          </a:ln>
        </p:spPr>
        <p:txBody>
          <a:bodyPr>
            <a:spAutoFit/>
          </a:bodyPr>
          <a:lstStyle/>
          <a:p>
            <a:pPr marL="533400" indent="-533400">
              <a:lnSpc>
                <a:spcPct val="90000"/>
              </a:lnSpc>
              <a:spcAft>
                <a:spcPct val="40000"/>
              </a:spcAft>
              <a:buClr>
                <a:srgbClr val="BF0922"/>
              </a:buClr>
              <a:buFont typeface="Times" pitchFamily="18" charset="0"/>
              <a:buAutoNum type="arabicPeriod" startAt="7"/>
            </a:pPr>
            <a:r>
              <a:rPr lang="en-US" sz="3200"/>
              <a:t>Add the normal times for each element to develop the total normal time for the task</a:t>
            </a:r>
          </a:p>
          <a:p>
            <a:pPr marL="533400" indent="-533400">
              <a:lnSpc>
                <a:spcPct val="90000"/>
              </a:lnSpc>
              <a:spcAft>
                <a:spcPct val="40000"/>
              </a:spcAft>
              <a:buClr>
                <a:srgbClr val="BF0922"/>
              </a:buClr>
              <a:buFont typeface="Times" pitchFamily="18" charset="0"/>
              <a:buAutoNum type="arabicPeriod" startAt="7"/>
            </a:pPr>
            <a:r>
              <a:rPr lang="en-US" sz="3200"/>
              <a:t>Compute the standard time</a:t>
            </a:r>
          </a:p>
        </p:txBody>
      </p:sp>
      <p:grpSp>
        <p:nvGrpSpPr>
          <p:cNvPr id="2" name="Group 4"/>
          <p:cNvGrpSpPr>
            <a:grpSpLocks/>
          </p:cNvGrpSpPr>
          <p:nvPr/>
        </p:nvGrpSpPr>
        <p:grpSpPr bwMode="auto">
          <a:xfrm>
            <a:off x="1776413" y="4422775"/>
            <a:ext cx="5527675" cy="1000125"/>
            <a:chOff x="486" y="3138"/>
            <a:chExt cx="3482" cy="630"/>
          </a:xfrm>
        </p:grpSpPr>
        <p:sp>
          <p:nvSpPr>
            <p:cNvPr id="113668" name="Rectangle 5"/>
            <p:cNvSpPr>
              <a:spLocks noChangeArrowheads="1"/>
            </p:cNvSpPr>
            <p:nvPr/>
          </p:nvSpPr>
          <p:spPr bwMode="auto">
            <a:xfrm>
              <a:off x="486" y="3321"/>
              <a:ext cx="1544" cy="291"/>
            </a:xfrm>
            <a:prstGeom prst="rect">
              <a:avLst/>
            </a:prstGeom>
            <a:noFill/>
            <a:ln w="9525">
              <a:noFill/>
              <a:miter lim="800000"/>
              <a:headEnd/>
              <a:tailEnd/>
            </a:ln>
          </p:spPr>
          <p:txBody>
            <a:bodyPr wrap="none">
              <a:spAutoFit/>
            </a:bodyPr>
            <a:lstStyle/>
            <a:p>
              <a:r>
                <a:rPr lang="en-US" sz="2400"/>
                <a:t>Standard time  =</a:t>
              </a:r>
            </a:p>
          </p:txBody>
        </p:sp>
        <p:grpSp>
          <p:nvGrpSpPr>
            <p:cNvPr id="3" name="Group 6"/>
            <p:cNvGrpSpPr>
              <a:grpSpLocks/>
            </p:cNvGrpSpPr>
            <p:nvPr/>
          </p:nvGrpSpPr>
          <p:grpSpPr bwMode="auto">
            <a:xfrm>
              <a:off x="2112" y="3138"/>
              <a:ext cx="1856" cy="630"/>
              <a:chOff x="2360" y="3154"/>
              <a:chExt cx="1856" cy="630"/>
            </a:xfrm>
          </p:grpSpPr>
          <p:sp>
            <p:nvSpPr>
              <p:cNvPr id="113670" name="Rectangle 7"/>
              <p:cNvSpPr>
                <a:spLocks noChangeArrowheads="1"/>
              </p:cNvSpPr>
              <p:nvPr/>
            </p:nvSpPr>
            <p:spPr bwMode="auto">
              <a:xfrm>
                <a:off x="2386" y="3154"/>
                <a:ext cx="1808" cy="630"/>
              </a:xfrm>
              <a:prstGeom prst="rect">
                <a:avLst/>
              </a:prstGeom>
              <a:noFill/>
              <a:ln w="9525">
                <a:noFill/>
                <a:miter lim="800000"/>
                <a:headEnd/>
                <a:tailEnd/>
              </a:ln>
            </p:spPr>
            <p:txBody>
              <a:bodyPr wrap="none">
                <a:spAutoFit/>
              </a:bodyPr>
              <a:lstStyle/>
              <a:p>
                <a:pPr algn="ctr">
                  <a:lnSpc>
                    <a:spcPct val="125000"/>
                  </a:lnSpc>
                </a:pPr>
                <a:r>
                  <a:rPr lang="en-US" sz="2400"/>
                  <a:t>Total normal time</a:t>
                </a:r>
              </a:p>
              <a:p>
                <a:pPr algn="ctr">
                  <a:lnSpc>
                    <a:spcPct val="125000"/>
                  </a:lnSpc>
                </a:pPr>
                <a:r>
                  <a:rPr lang="en-US" sz="2400"/>
                  <a:t>1 - Allowance factor</a:t>
                </a:r>
              </a:p>
            </p:txBody>
          </p:sp>
          <p:sp>
            <p:nvSpPr>
              <p:cNvPr id="113671" name="Line 8"/>
              <p:cNvSpPr>
                <a:spLocks noChangeShapeType="1"/>
              </p:cNvSpPr>
              <p:nvPr/>
            </p:nvSpPr>
            <p:spPr bwMode="auto">
              <a:xfrm>
                <a:off x="2360" y="3488"/>
                <a:ext cx="1856" cy="0"/>
              </a:xfrm>
              <a:prstGeom prst="line">
                <a:avLst/>
              </a:prstGeom>
              <a:noFill/>
              <a:ln w="28575">
                <a:solidFill>
                  <a:schemeClr val="tx1"/>
                </a:solidFill>
                <a:round/>
                <a:headEnd/>
                <a:tailEnd/>
              </a:ln>
            </p:spPr>
            <p:txBody>
              <a:bodyPr wrap="none" anchor="ctr"/>
              <a:lstStyle/>
              <a:p>
                <a:endParaRPr lang="en-US"/>
              </a:p>
            </p:txBody>
          </p:sp>
        </p:grpSp>
      </p:grpSp>
      <p:grpSp>
        <p:nvGrpSpPr>
          <p:cNvPr id="9" name="Group 8"/>
          <p:cNvGrpSpPr/>
          <p:nvPr/>
        </p:nvGrpSpPr>
        <p:grpSpPr>
          <a:xfrm>
            <a:off x="0" y="6324600"/>
            <a:ext cx="8763000" cy="533400"/>
            <a:chOff x="0" y="6324600"/>
            <a:chExt cx="8763000" cy="533400"/>
          </a:xfrm>
        </p:grpSpPr>
        <p:sp>
          <p:nvSpPr>
            <p:cNvPr id="10" name="TextBox 9"/>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1" name="TextBox 10"/>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2" name="TextBox 11"/>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8 of 28</a:t>
              </a:r>
            </a:p>
          </p:txBody>
        </p:sp>
      </p:gr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19811"/>
                                        </p:tgtEl>
                                        <p:attrNameLst>
                                          <p:attrName>style.visibility</p:attrName>
                                        </p:attrNameLst>
                                      </p:cBhvr>
                                      <p:to>
                                        <p:strVal val="visible"/>
                                      </p:to>
                                    </p:set>
                                    <p:animEffect transition="in" filter="wipe(left)">
                                      <p:cBhvr>
                                        <p:cTn id="7" dur="1000"/>
                                        <p:tgtEl>
                                          <p:spTgt spid="119811"/>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noChangeArrowheads="1"/>
          </p:cNvSpPr>
          <p:nvPr>
            <p:ph type="title"/>
          </p:nvPr>
        </p:nvSpPr>
        <p:spPr/>
        <p:txBody>
          <a:bodyPr/>
          <a:lstStyle/>
          <a:p>
            <a:r>
              <a:rPr lang="en-US" dirty="0">
                <a:solidFill>
                  <a:srgbClr val="0844BC"/>
                </a:solidFill>
                <a:latin typeface="Arial" pitchFamily="34" charset="0"/>
                <a:cs typeface="Arial" pitchFamily="34" charset="0"/>
              </a:rPr>
              <a:t>Rest Allowances</a:t>
            </a:r>
          </a:p>
        </p:txBody>
      </p:sp>
      <p:sp>
        <p:nvSpPr>
          <p:cNvPr id="114690" name="Content Placeholder 1"/>
          <p:cNvSpPr>
            <a:spLocks noGrp="1"/>
          </p:cNvSpPr>
          <p:nvPr>
            <p:ph sz="quarter" idx="1"/>
          </p:nvPr>
        </p:nvSpPr>
        <p:spPr>
          <a:xfrm>
            <a:off x="673100" y="1600200"/>
            <a:ext cx="7810500" cy="4525963"/>
          </a:xfrm>
        </p:spPr>
        <p:txBody>
          <a:bodyPr>
            <a:normAutofit/>
          </a:bodyPr>
          <a:lstStyle/>
          <a:p>
            <a:pPr>
              <a:buFont typeface="Arial Unicode MS" pitchFamily="34" charset="-128"/>
              <a:buChar char="▶"/>
            </a:pPr>
            <a:r>
              <a:rPr lang="en-US" dirty="0">
                <a:latin typeface="Arial" pitchFamily="34" charset="0"/>
                <a:cs typeface="Arial" pitchFamily="34" charset="0"/>
              </a:rPr>
              <a:t>Personal time allowance</a:t>
            </a:r>
          </a:p>
          <a:p>
            <a:pPr lvl="1">
              <a:buFont typeface="Arial Unicode MS" pitchFamily="34" charset="-128"/>
              <a:buChar char="▶"/>
            </a:pPr>
            <a:r>
              <a:rPr lang="en-US" dirty="0">
                <a:latin typeface="Arial" pitchFamily="34" charset="0"/>
                <a:cs typeface="Arial" pitchFamily="34" charset="0"/>
              </a:rPr>
              <a:t>4% - 7% of total time for use of restroom, water fountain, etc.</a:t>
            </a:r>
          </a:p>
          <a:p>
            <a:pPr>
              <a:buFont typeface="Arial Unicode MS" pitchFamily="34" charset="-128"/>
              <a:buChar char="▶"/>
            </a:pPr>
            <a:r>
              <a:rPr lang="en-US" dirty="0">
                <a:latin typeface="Arial" pitchFamily="34" charset="0"/>
                <a:cs typeface="Arial" pitchFamily="34" charset="0"/>
              </a:rPr>
              <a:t>Delay allowance</a:t>
            </a:r>
          </a:p>
          <a:p>
            <a:pPr lvl="1">
              <a:buFont typeface="Arial Unicode MS" pitchFamily="34" charset="-128"/>
              <a:buChar char="▶"/>
            </a:pPr>
            <a:r>
              <a:rPr lang="en-US" dirty="0">
                <a:latin typeface="Arial" pitchFamily="34" charset="0"/>
                <a:cs typeface="Arial" pitchFamily="34" charset="0"/>
              </a:rPr>
              <a:t>Based upon actual delays that occur</a:t>
            </a:r>
          </a:p>
          <a:p>
            <a:pPr>
              <a:buFont typeface="Arial Unicode MS" pitchFamily="34" charset="-128"/>
              <a:buChar char="▶"/>
            </a:pPr>
            <a:r>
              <a:rPr lang="en-US" dirty="0">
                <a:latin typeface="Arial" pitchFamily="34" charset="0"/>
                <a:cs typeface="Arial" pitchFamily="34" charset="0"/>
              </a:rPr>
              <a:t>Fatigue allowance</a:t>
            </a:r>
          </a:p>
          <a:p>
            <a:pPr lvl="1">
              <a:buFont typeface="Arial Unicode MS" pitchFamily="34" charset="-128"/>
              <a:buChar char="▶"/>
            </a:pPr>
            <a:r>
              <a:rPr lang="en-US" dirty="0">
                <a:latin typeface="Arial" pitchFamily="34" charset="0"/>
                <a:cs typeface="Arial" pitchFamily="34" charset="0"/>
              </a:rPr>
              <a:t>Based on human energy expenditure under various physical and environmental conditions</a:t>
            </a:r>
          </a:p>
          <a:p>
            <a:pPr>
              <a:buFont typeface="Arial Unicode MS" pitchFamily="34" charset="-128"/>
              <a:buChar char="▶"/>
            </a:pPr>
            <a:endParaRPr lang="en-US" dirty="0">
              <a:latin typeface="Arial" pitchFamily="34" charset="0"/>
              <a:cs typeface="Arial" pitchFamily="34" charset="0"/>
            </a:endParaRPr>
          </a:p>
        </p:txBody>
      </p:sp>
      <p:grpSp>
        <p:nvGrpSpPr>
          <p:cNvPr id="4" name="Group 3"/>
          <p:cNvGrpSpPr/>
          <p:nvPr/>
        </p:nvGrpSpPr>
        <p:grpSpPr>
          <a:xfrm>
            <a:off x="0" y="6324600"/>
            <a:ext cx="8763000" cy="533400"/>
            <a:chOff x="0" y="6324600"/>
            <a:chExt cx="8763000" cy="533400"/>
          </a:xfrm>
        </p:grpSpPr>
        <p:sp>
          <p:nvSpPr>
            <p:cNvPr id="5" name="TextBox 4"/>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6" name="TextBox 5"/>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9 of 28</a:t>
              </a:r>
            </a:p>
          </p:txBody>
        </p:sp>
      </p:grpSp>
    </p:spTree>
  </p:cSld>
  <p:clrMapOvr>
    <a:masterClrMapping/>
  </p:clrMapOvr>
  <p:transition>
    <p:pull dir="l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1967992" y="802970"/>
            <a:ext cx="5208015" cy="553998"/>
          </a:xfrm>
        </p:spPr>
        <p:txBody>
          <a:bodyPr/>
          <a:lstStyle/>
          <a:p>
            <a:r>
              <a:rPr lang="en-US" sz="3600" dirty="0">
                <a:solidFill>
                  <a:srgbClr val="0844BC"/>
                </a:solidFill>
                <a:latin typeface="Arial" pitchFamily="34" charset="0"/>
                <a:cs typeface="Arial" pitchFamily="34" charset="0"/>
              </a:rPr>
              <a:t>Time Study Example 1</a:t>
            </a:r>
          </a:p>
        </p:txBody>
      </p:sp>
      <p:sp>
        <p:nvSpPr>
          <p:cNvPr id="5" name="Rectangle 3"/>
          <p:cNvSpPr>
            <a:spLocks noGrp="1" noChangeArrowheads="1"/>
          </p:cNvSpPr>
          <p:nvPr>
            <p:ph sz="quarter" idx="1"/>
          </p:nvPr>
        </p:nvSpPr>
        <p:spPr bwMode="auto">
          <a:xfrm>
            <a:off x="457200" y="1600200"/>
            <a:ext cx="5729132" cy="2693045"/>
          </a:xfrm>
          <a:prstGeom prst="rect">
            <a:avLst/>
          </a:prstGeom>
          <a:noFill/>
          <a:ln w="9525">
            <a:noFill/>
            <a:miter lim="800000"/>
            <a:headEnd/>
            <a:tailEnd/>
          </a:ln>
        </p:spPr>
        <p:txBody>
          <a:bodyPr wrap="none">
            <a:spAutoFit/>
          </a:bodyPr>
          <a:lstStyle/>
          <a:p>
            <a:r>
              <a:rPr lang="en-US" sz="2400" dirty="0"/>
              <a:t>Average observed time = 4.0 minutes</a:t>
            </a:r>
          </a:p>
          <a:p>
            <a:r>
              <a:rPr lang="en-US" sz="2400" dirty="0"/>
              <a:t>Worker rating = 85%</a:t>
            </a:r>
          </a:p>
          <a:p>
            <a:r>
              <a:rPr lang="en-US" sz="2400" dirty="0"/>
              <a:t>Allowance factor = 13%</a:t>
            </a:r>
          </a:p>
          <a:p>
            <a:endParaRPr lang="en-US" dirty="0"/>
          </a:p>
          <a:p>
            <a:endParaRPr lang="en-US" sz="2400" dirty="0"/>
          </a:p>
          <a:p>
            <a:r>
              <a:rPr lang="en-US" sz="2400" dirty="0"/>
              <a:t>               Standard time??</a:t>
            </a:r>
          </a:p>
        </p:txBody>
      </p:sp>
    </p:spTree>
    <p:extLst>
      <p:ext uri="{BB962C8B-B14F-4D97-AF65-F5344CB8AC3E}">
        <p14:creationId xmlns:p14="http://schemas.microsoft.com/office/powerpoint/2010/main" val="577970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a:spLocks noGrp="1" noChangeArrowheads="1"/>
          </p:cNvSpPr>
          <p:nvPr>
            <p:ph type="title"/>
          </p:nvPr>
        </p:nvSpPr>
        <p:spPr>
          <a:xfrm>
            <a:off x="1967992" y="802970"/>
            <a:ext cx="5208015" cy="553998"/>
          </a:xfrm>
        </p:spPr>
        <p:txBody>
          <a:bodyPr/>
          <a:lstStyle/>
          <a:p>
            <a:r>
              <a:rPr lang="en-US" sz="3600" dirty="0">
                <a:solidFill>
                  <a:srgbClr val="0844BC"/>
                </a:solidFill>
                <a:latin typeface="Arial" pitchFamily="34" charset="0"/>
                <a:cs typeface="Arial" pitchFamily="34" charset="0"/>
              </a:rPr>
              <a:t>Time Study Example 1</a:t>
            </a:r>
          </a:p>
        </p:txBody>
      </p:sp>
      <p:sp>
        <p:nvSpPr>
          <p:cNvPr id="125955" name="Rectangle 3"/>
          <p:cNvSpPr>
            <a:spLocks noChangeArrowheads="1"/>
          </p:cNvSpPr>
          <p:nvPr/>
        </p:nvSpPr>
        <p:spPr bwMode="auto">
          <a:xfrm>
            <a:off x="1112838" y="1514475"/>
            <a:ext cx="5299075" cy="1200150"/>
          </a:xfrm>
          <a:prstGeom prst="rect">
            <a:avLst/>
          </a:prstGeom>
          <a:noFill/>
          <a:ln w="9525">
            <a:noFill/>
            <a:miter lim="800000"/>
            <a:headEnd/>
            <a:tailEnd/>
          </a:ln>
        </p:spPr>
        <p:txBody>
          <a:bodyPr wrap="none">
            <a:spAutoFit/>
          </a:bodyPr>
          <a:lstStyle/>
          <a:p>
            <a:r>
              <a:rPr lang="en-US" sz="2400" dirty="0"/>
              <a:t>Average observed time = 4.0 minutes</a:t>
            </a:r>
          </a:p>
          <a:p>
            <a:r>
              <a:rPr lang="en-US" sz="2400" dirty="0"/>
              <a:t>Worker rating = 85%</a:t>
            </a:r>
          </a:p>
          <a:p>
            <a:r>
              <a:rPr lang="en-US" sz="2400" dirty="0"/>
              <a:t>Allowance factor = 13%</a:t>
            </a:r>
          </a:p>
        </p:txBody>
      </p:sp>
      <p:grpSp>
        <p:nvGrpSpPr>
          <p:cNvPr id="2" name="Group 4"/>
          <p:cNvGrpSpPr>
            <a:grpSpLocks/>
          </p:cNvGrpSpPr>
          <p:nvPr/>
        </p:nvGrpSpPr>
        <p:grpSpPr bwMode="auto">
          <a:xfrm>
            <a:off x="615950" y="2911475"/>
            <a:ext cx="7832725" cy="1406525"/>
            <a:chOff x="444" y="2066"/>
            <a:chExt cx="4934" cy="886"/>
          </a:xfrm>
        </p:grpSpPr>
        <p:sp>
          <p:nvSpPr>
            <p:cNvPr id="118801" name="Rectangle 5"/>
            <p:cNvSpPr>
              <a:spLocks noChangeArrowheads="1"/>
            </p:cNvSpPr>
            <p:nvPr/>
          </p:nvSpPr>
          <p:spPr bwMode="auto">
            <a:xfrm>
              <a:off x="444" y="2066"/>
              <a:ext cx="4934" cy="291"/>
            </a:xfrm>
            <a:prstGeom prst="rect">
              <a:avLst/>
            </a:prstGeom>
            <a:noFill/>
            <a:ln w="9525">
              <a:noFill/>
              <a:miter lim="800000"/>
              <a:headEnd/>
              <a:tailEnd/>
            </a:ln>
          </p:spPr>
          <p:txBody>
            <a:bodyPr wrap="none">
              <a:spAutoFit/>
            </a:bodyPr>
            <a:lstStyle/>
            <a:p>
              <a:r>
                <a:rPr lang="en-US" sz="2400"/>
                <a:t>Normal time = (Average observed time) x (Rating factor)</a:t>
              </a:r>
            </a:p>
          </p:txBody>
        </p:sp>
        <p:sp>
          <p:nvSpPr>
            <p:cNvPr id="118802" name="Rectangle 6"/>
            <p:cNvSpPr>
              <a:spLocks noChangeArrowheads="1"/>
            </p:cNvSpPr>
            <p:nvPr/>
          </p:nvSpPr>
          <p:spPr bwMode="auto">
            <a:xfrm>
              <a:off x="1535" y="2322"/>
              <a:ext cx="1286" cy="630"/>
            </a:xfrm>
            <a:prstGeom prst="rect">
              <a:avLst/>
            </a:prstGeom>
            <a:noFill/>
            <a:ln w="9525">
              <a:noFill/>
              <a:miter lim="800000"/>
              <a:headEnd/>
              <a:tailEnd/>
            </a:ln>
          </p:spPr>
          <p:txBody>
            <a:bodyPr wrap="none">
              <a:spAutoFit/>
            </a:bodyPr>
            <a:lstStyle/>
            <a:p>
              <a:pPr>
                <a:lnSpc>
                  <a:spcPct val="125000"/>
                </a:lnSpc>
              </a:pPr>
              <a:r>
                <a:rPr lang="en-US" sz="2400"/>
                <a:t>= (4.0)(.85)</a:t>
              </a:r>
            </a:p>
            <a:p>
              <a:pPr>
                <a:lnSpc>
                  <a:spcPct val="125000"/>
                </a:lnSpc>
              </a:pPr>
              <a:r>
                <a:rPr lang="en-US" sz="2400"/>
                <a:t>= 3.4 minutes</a:t>
              </a:r>
            </a:p>
          </p:txBody>
        </p:sp>
      </p:grpSp>
      <p:grpSp>
        <p:nvGrpSpPr>
          <p:cNvPr id="3" name="Group 7"/>
          <p:cNvGrpSpPr>
            <a:grpSpLocks/>
          </p:cNvGrpSpPr>
          <p:nvPr/>
        </p:nvGrpSpPr>
        <p:grpSpPr bwMode="auto">
          <a:xfrm>
            <a:off x="590550" y="4548188"/>
            <a:ext cx="7759700" cy="1427162"/>
            <a:chOff x="428" y="3097"/>
            <a:chExt cx="4888" cy="899"/>
          </a:xfrm>
        </p:grpSpPr>
        <p:grpSp>
          <p:nvGrpSpPr>
            <p:cNvPr id="4" name="Group 8"/>
            <p:cNvGrpSpPr>
              <a:grpSpLocks/>
            </p:cNvGrpSpPr>
            <p:nvPr/>
          </p:nvGrpSpPr>
          <p:grpSpPr bwMode="auto">
            <a:xfrm>
              <a:off x="428" y="3097"/>
              <a:ext cx="4888" cy="531"/>
              <a:chOff x="614" y="3089"/>
              <a:chExt cx="4888" cy="531"/>
            </a:xfrm>
          </p:grpSpPr>
          <p:sp>
            <p:nvSpPr>
              <p:cNvPr id="118791" name="Rectangle 9"/>
              <p:cNvSpPr>
                <a:spLocks noChangeArrowheads="1"/>
              </p:cNvSpPr>
              <p:nvPr/>
            </p:nvSpPr>
            <p:spPr bwMode="auto">
              <a:xfrm>
                <a:off x="614" y="3209"/>
                <a:ext cx="4518" cy="291"/>
              </a:xfrm>
              <a:prstGeom prst="rect">
                <a:avLst/>
              </a:prstGeom>
              <a:noFill/>
              <a:ln w="9525">
                <a:noFill/>
                <a:miter lim="800000"/>
                <a:headEnd/>
                <a:tailEnd/>
              </a:ln>
            </p:spPr>
            <p:txBody>
              <a:bodyPr wrap="none">
                <a:spAutoFit/>
              </a:bodyPr>
              <a:lstStyle/>
              <a:p>
                <a:r>
                  <a:rPr lang="en-US" sz="2400"/>
                  <a:t>Standard time =                                      =              =</a:t>
                </a:r>
              </a:p>
            </p:txBody>
          </p:sp>
          <p:grpSp>
            <p:nvGrpSpPr>
              <p:cNvPr id="5" name="Group 10"/>
              <p:cNvGrpSpPr>
                <a:grpSpLocks/>
              </p:cNvGrpSpPr>
              <p:nvPr/>
            </p:nvGrpSpPr>
            <p:grpSpPr bwMode="auto">
              <a:xfrm>
                <a:off x="2138" y="3097"/>
                <a:ext cx="1825" cy="523"/>
                <a:chOff x="2530" y="3185"/>
                <a:chExt cx="1825" cy="523"/>
              </a:xfrm>
            </p:grpSpPr>
            <p:sp>
              <p:nvSpPr>
                <p:cNvPr id="118799" name="Rectangle 11"/>
                <p:cNvSpPr>
                  <a:spLocks noChangeArrowheads="1"/>
                </p:cNvSpPr>
                <p:nvPr/>
              </p:nvSpPr>
              <p:spPr bwMode="auto">
                <a:xfrm>
                  <a:off x="2530" y="3185"/>
                  <a:ext cx="1808" cy="523"/>
                </a:xfrm>
                <a:prstGeom prst="rect">
                  <a:avLst/>
                </a:prstGeom>
                <a:noFill/>
                <a:ln w="9525">
                  <a:noFill/>
                  <a:miter lim="800000"/>
                  <a:headEnd/>
                  <a:tailEnd/>
                </a:ln>
              </p:spPr>
              <p:txBody>
                <a:bodyPr wrap="none">
                  <a:spAutoFit/>
                </a:bodyPr>
                <a:lstStyle/>
                <a:p>
                  <a:pPr algn="ctr"/>
                  <a:r>
                    <a:rPr lang="en-US" sz="2400"/>
                    <a:t>Normal time</a:t>
                  </a:r>
                </a:p>
                <a:p>
                  <a:pPr algn="ctr"/>
                  <a:r>
                    <a:rPr lang="en-US" sz="2400"/>
                    <a:t>1 - Allowance factor</a:t>
                  </a:r>
                </a:p>
              </p:txBody>
            </p:sp>
            <p:sp>
              <p:nvSpPr>
                <p:cNvPr id="118800" name="Line 12"/>
                <p:cNvSpPr>
                  <a:spLocks noChangeShapeType="1"/>
                </p:cNvSpPr>
                <p:nvPr/>
              </p:nvSpPr>
              <p:spPr bwMode="auto">
                <a:xfrm>
                  <a:off x="2531" y="3440"/>
                  <a:ext cx="1824" cy="0"/>
                </a:xfrm>
                <a:prstGeom prst="line">
                  <a:avLst/>
                </a:prstGeom>
                <a:noFill/>
                <a:ln w="28575">
                  <a:solidFill>
                    <a:schemeClr val="tx1"/>
                  </a:solidFill>
                  <a:round/>
                  <a:headEnd/>
                  <a:tailEnd/>
                </a:ln>
              </p:spPr>
              <p:txBody>
                <a:bodyPr wrap="none" anchor="ctr"/>
                <a:lstStyle/>
                <a:p>
                  <a:endParaRPr lang="en-US"/>
                </a:p>
              </p:txBody>
            </p:sp>
          </p:grpSp>
          <p:grpSp>
            <p:nvGrpSpPr>
              <p:cNvPr id="6" name="Group 13"/>
              <p:cNvGrpSpPr>
                <a:grpSpLocks/>
              </p:cNvGrpSpPr>
              <p:nvPr/>
            </p:nvGrpSpPr>
            <p:grpSpPr bwMode="auto">
              <a:xfrm>
                <a:off x="4196" y="3089"/>
                <a:ext cx="666" cy="523"/>
                <a:chOff x="3348" y="3625"/>
                <a:chExt cx="666" cy="523"/>
              </a:xfrm>
            </p:grpSpPr>
            <p:sp>
              <p:nvSpPr>
                <p:cNvPr id="118797" name="Rectangle 14"/>
                <p:cNvSpPr>
                  <a:spLocks noChangeArrowheads="1"/>
                </p:cNvSpPr>
                <p:nvPr/>
              </p:nvSpPr>
              <p:spPr bwMode="auto">
                <a:xfrm>
                  <a:off x="3348" y="3625"/>
                  <a:ext cx="666" cy="523"/>
                </a:xfrm>
                <a:prstGeom prst="rect">
                  <a:avLst/>
                </a:prstGeom>
                <a:noFill/>
                <a:ln w="9525">
                  <a:noFill/>
                  <a:miter lim="800000"/>
                  <a:headEnd/>
                  <a:tailEnd/>
                </a:ln>
              </p:spPr>
              <p:txBody>
                <a:bodyPr wrap="none">
                  <a:spAutoFit/>
                </a:bodyPr>
                <a:lstStyle/>
                <a:p>
                  <a:pPr algn="ctr"/>
                  <a:r>
                    <a:rPr lang="en-US" sz="2400"/>
                    <a:t>3.4</a:t>
                  </a:r>
                </a:p>
                <a:p>
                  <a:pPr algn="ctr"/>
                  <a:r>
                    <a:rPr lang="en-US" sz="2400"/>
                    <a:t>1 - .13</a:t>
                  </a:r>
                </a:p>
              </p:txBody>
            </p:sp>
            <p:sp>
              <p:nvSpPr>
                <p:cNvPr id="118798" name="Line 15"/>
                <p:cNvSpPr>
                  <a:spLocks noChangeShapeType="1"/>
                </p:cNvSpPr>
                <p:nvPr/>
              </p:nvSpPr>
              <p:spPr bwMode="auto">
                <a:xfrm>
                  <a:off x="3408" y="3888"/>
                  <a:ext cx="552" cy="0"/>
                </a:xfrm>
                <a:prstGeom prst="line">
                  <a:avLst/>
                </a:prstGeom>
                <a:noFill/>
                <a:ln w="28575">
                  <a:solidFill>
                    <a:schemeClr val="tx1"/>
                  </a:solidFill>
                  <a:round/>
                  <a:headEnd/>
                  <a:tailEnd/>
                </a:ln>
              </p:spPr>
              <p:txBody>
                <a:bodyPr wrap="none" anchor="ctr"/>
                <a:lstStyle/>
                <a:p>
                  <a:endParaRPr lang="en-US"/>
                </a:p>
              </p:txBody>
            </p:sp>
          </p:grpSp>
          <p:grpSp>
            <p:nvGrpSpPr>
              <p:cNvPr id="7" name="Group 16"/>
              <p:cNvGrpSpPr>
                <a:grpSpLocks/>
              </p:cNvGrpSpPr>
              <p:nvPr/>
            </p:nvGrpSpPr>
            <p:grpSpPr bwMode="auto">
              <a:xfrm>
                <a:off x="5116" y="3097"/>
                <a:ext cx="386" cy="523"/>
                <a:chOff x="4316" y="3689"/>
                <a:chExt cx="386" cy="523"/>
              </a:xfrm>
            </p:grpSpPr>
            <p:sp>
              <p:nvSpPr>
                <p:cNvPr id="118795" name="Rectangle 17"/>
                <p:cNvSpPr>
                  <a:spLocks noChangeArrowheads="1"/>
                </p:cNvSpPr>
                <p:nvPr/>
              </p:nvSpPr>
              <p:spPr bwMode="auto">
                <a:xfrm>
                  <a:off x="4316" y="3689"/>
                  <a:ext cx="386" cy="523"/>
                </a:xfrm>
                <a:prstGeom prst="rect">
                  <a:avLst/>
                </a:prstGeom>
                <a:noFill/>
                <a:ln w="9525">
                  <a:noFill/>
                  <a:miter lim="800000"/>
                  <a:headEnd/>
                  <a:tailEnd/>
                </a:ln>
              </p:spPr>
              <p:txBody>
                <a:bodyPr wrap="none">
                  <a:spAutoFit/>
                </a:bodyPr>
                <a:lstStyle/>
                <a:p>
                  <a:pPr algn="ctr"/>
                  <a:r>
                    <a:rPr lang="en-US" sz="2400"/>
                    <a:t>3.4</a:t>
                  </a:r>
                </a:p>
                <a:p>
                  <a:pPr algn="ctr"/>
                  <a:r>
                    <a:rPr lang="en-US" sz="2400"/>
                    <a:t>.87</a:t>
                  </a:r>
                </a:p>
              </p:txBody>
            </p:sp>
            <p:sp>
              <p:nvSpPr>
                <p:cNvPr id="118796" name="Line 18"/>
                <p:cNvSpPr>
                  <a:spLocks noChangeShapeType="1"/>
                </p:cNvSpPr>
                <p:nvPr/>
              </p:nvSpPr>
              <p:spPr bwMode="auto">
                <a:xfrm>
                  <a:off x="4344" y="3944"/>
                  <a:ext cx="336" cy="0"/>
                </a:xfrm>
                <a:prstGeom prst="line">
                  <a:avLst/>
                </a:prstGeom>
                <a:noFill/>
                <a:ln w="28575">
                  <a:solidFill>
                    <a:schemeClr val="tx1"/>
                  </a:solidFill>
                  <a:round/>
                  <a:headEnd/>
                  <a:tailEnd/>
                </a:ln>
              </p:spPr>
              <p:txBody>
                <a:bodyPr wrap="none" anchor="ctr"/>
                <a:lstStyle/>
                <a:p>
                  <a:endParaRPr lang="en-US"/>
                </a:p>
              </p:txBody>
            </p:sp>
          </p:grpSp>
        </p:grpSp>
        <p:sp>
          <p:nvSpPr>
            <p:cNvPr id="118790" name="Rectangle 19"/>
            <p:cNvSpPr>
              <a:spLocks noChangeArrowheads="1"/>
            </p:cNvSpPr>
            <p:nvPr/>
          </p:nvSpPr>
          <p:spPr bwMode="auto">
            <a:xfrm>
              <a:off x="1678" y="3705"/>
              <a:ext cx="1286" cy="291"/>
            </a:xfrm>
            <a:prstGeom prst="rect">
              <a:avLst/>
            </a:prstGeom>
            <a:noFill/>
            <a:ln w="9525">
              <a:noFill/>
              <a:miter lim="800000"/>
              <a:headEnd/>
              <a:tailEnd/>
            </a:ln>
          </p:spPr>
          <p:txBody>
            <a:bodyPr wrap="none">
              <a:spAutoFit/>
            </a:bodyPr>
            <a:lstStyle/>
            <a:p>
              <a:r>
                <a:rPr lang="en-US" sz="2400"/>
                <a:t>= 3.9 minutes</a:t>
              </a:r>
            </a:p>
          </p:txBody>
        </p:sp>
      </p:grpSp>
      <p:grpSp>
        <p:nvGrpSpPr>
          <p:cNvPr id="20" name="Group 19"/>
          <p:cNvGrpSpPr/>
          <p:nvPr/>
        </p:nvGrpSpPr>
        <p:grpSpPr>
          <a:xfrm>
            <a:off x="0" y="6324600"/>
            <a:ext cx="8763000" cy="533400"/>
            <a:chOff x="0" y="6324600"/>
            <a:chExt cx="8763000" cy="533400"/>
          </a:xfrm>
        </p:grpSpPr>
        <p:sp>
          <p:nvSpPr>
            <p:cNvPr id="21" name="TextBox 20"/>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22" name="TextBox 21"/>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23" name="TextBox 22"/>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10 of 28</a:t>
              </a:r>
            </a:p>
          </p:txBody>
        </p:sp>
      </p:grpSp>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25955"/>
                                        </p:tgtEl>
                                        <p:attrNameLst>
                                          <p:attrName>style.visibility</p:attrName>
                                        </p:attrNameLst>
                                      </p:cBhvr>
                                      <p:to>
                                        <p:strVal val="visible"/>
                                      </p:to>
                                    </p:set>
                                    <p:animEffect transition="in" filter="wipe(left)">
                                      <p:cBhvr>
                                        <p:cTn id="7" dur="1000"/>
                                        <p:tgtEl>
                                          <p:spTgt spid="125955"/>
                                        </p:tgtEl>
                                      </p:cBhvr>
                                    </p:animEffect>
                                  </p:childTnLst>
                                </p:cTn>
                              </p:par>
                            </p:childTnLst>
                          </p:cTn>
                        </p:par>
                        <p:par>
                          <p:cTn id="8" fill="hold" nodeType="afterGroup">
                            <p:stCondLst>
                              <p:cond delay="2000"/>
                            </p:stCondLst>
                            <p:childTnLst>
                              <p:par>
                                <p:cTn id="9" presetID="18" presetClass="entr" presetSubtype="6"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strips(downRight)">
                                      <p:cBhvr>
                                        <p:cTn id="11" dur="1000"/>
                                        <p:tgtEl>
                                          <p:spTgt spid="2"/>
                                        </p:tgtEl>
                                      </p:cBhvr>
                                    </p:animEffect>
                                  </p:childTnLst>
                                </p:cTn>
                              </p:par>
                            </p:childTnLst>
                          </p:cTn>
                        </p:par>
                        <p:par>
                          <p:cTn id="12" fill="hold" nodeType="afterGroup">
                            <p:stCondLst>
                              <p:cond delay="4000"/>
                            </p:stCondLst>
                            <p:childTnLst>
                              <p:par>
                                <p:cTn id="13" presetID="18" presetClass="entr" presetSubtype="6" fill="hold" nodeType="afterEffect">
                                  <p:stCondLst>
                                    <p:cond delay="1000"/>
                                  </p:stCondLst>
                                  <p:childTnLst>
                                    <p:set>
                                      <p:cBhvr>
                                        <p:cTn id="14" dur="1" fill="hold">
                                          <p:stCondLst>
                                            <p:cond delay="0"/>
                                          </p:stCondLst>
                                        </p:cTn>
                                        <p:tgtEl>
                                          <p:spTgt spid="3"/>
                                        </p:tgtEl>
                                        <p:attrNameLst>
                                          <p:attrName>style.visibility</p:attrName>
                                        </p:attrNameLst>
                                      </p:cBhvr>
                                      <p:to>
                                        <p:strVal val="visible"/>
                                      </p:to>
                                    </p:set>
                                    <p:animEffect transition="in" filter="strips(downRight)">
                                      <p:cBhvr>
                                        <p:cTn id="15"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1967992" y="802970"/>
            <a:ext cx="5208015" cy="553998"/>
          </a:xfrm>
        </p:spPr>
        <p:txBody>
          <a:bodyPr/>
          <a:lstStyle/>
          <a:p>
            <a:r>
              <a:rPr lang="en-US" sz="3600" dirty="0">
                <a:solidFill>
                  <a:srgbClr val="0844BC"/>
                </a:solidFill>
                <a:latin typeface="Arial" pitchFamily="34" charset="0"/>
                <a:cs typeface="Arial" pitchFamily="34" charset="0"/>
              </a:rPr>
              <a:t>Time Study Example 2</a:t>
            </a:r>
          </a:p>
        </p:txBody>
      </p:sp>
      <p:sp>
        <p:nvSpPr>
          <p:cNvPr id="4" name="Rectangle 3"/>
          <p:cNvSpPr>
            <a:spLocks noChangeArrowheads="1"/>
          </p:cNvSpPr>
          <p:nvPr/>
        </p:nvSpPr>
        <p:spPr bwMode="auto">
          <a:xfrm>
            <a:off x="744538" y="1438275"/>
            <a:ext cx="2884487" cy="374650"/>
          </a:xfrm>
          <a:prstGeom prst="rect">
            <a:avLst/>
          </a:prstGeom>
          <a:noFill/>
          <a:ln w="9525">
            <a:noFill/>
            <a:miter lim="800000"/>
            <a:headEnd/>
            <a:tailEnd/>
          </a:ln>
        </p:spPr>
        <p:txBody>
          <a:bodyPr wrap="none">
            <a:spAutoFit/>
          </a:bodyPr>
          <a:lstStyle/>
          <a:p>
            <a:pPr>
              <a:lnSpc>
                <a:spcPct val="90000"/>
              </a:lnSpc>
            </a:pPr>
            <a:r>
              <a:rPr lang="en-US" sz="2000" dirty="0"/>
              <a:t>Allowance factor = 15%</a:t>
            </a:r>
          </a:p>
        </p:txBody>
      </p:sp>
      <p:graphicFrame>
        <p:nvGraphicFramePr>
          <p:cNvPr id="5" name="Table 4"/>
          <p:cNvGraphicFramePr>
            <a:graphicFrameLocks noGrp="1"/>
          </p:cNvGraphicFramePr>
          <p:nvPr/>
        </p:nvGraphicFramePr>
        <p:xfrm>
          <a:off x="669925" y="2001838"/>
          <a:ext cx="7772401" cy="2026920"/>
        </p:xfrm>
        <a:graphic>
          <a:graphicData uri="http://schemas.openxmlformats.org/drawingml/2006/table">
            <a:tbl>
              <a:tblPr firstRow="1" bandRow="1">
                <a:tableStyleId>{2D5ABB26-0587-4C30-8999-92F81FD0307C}</a:tableStyleId>
              </a:tblPr>
              <a:tblGrid>
                <a:gridCol w="3203574">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gridCol w="2041527">
                  <a:extLst>
                    <a:ext uri="{9D8B030D-6E8A-4147-A177-3AD203B41FA5}">
                      <a16:colId xmlns:a16="http://schemas.microsoft.com/office/drawing/2014/main" val="20006"/>
                    </a:ext>
                  </a:extLst>
                </a:gridCol>
              </a:tblGrid>
              <a:tr h="0">
                <a:tc>
                  <a:txBody>
                    <a:bodyPr/>
                    <a:lstStyle/>
                    <a:p>
                      <a:endParaRPr lang="en-US" sz="1600" b="1" dirty="0">
                        <a:solidFill>
                          <a:srgbClr val="FFFFFF"/>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gridSpan="5">
                  <a:txBody>
                    <a:bodyPr/>
                    <a:lstStyle/>
                    <a:p>
                      <a:pPr algn="ctr"/>
                      <a:r>
                        <a:rPr lang="en-US" sz="1600" b="1" dirty="0">
                          <a:solidFill>
                            <a:srgbClr val="FFFFFF"/>
                          </a:solidFill>
                        </a:rPr>
                        <a:t>OBSERVATIONS (MIN)</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rowSpan="2">
                  <a:txBody>
                    <a:bodyPr/>
                    <a:lstStyle/>
                    <a:p>
                      <a:pPr algn="ctr"/>
                      <a:r>
                        <a:rPr lang="en-US" sz="1600" b="1" dirty="0">
                          <a:solidFill>
                            <a:srgbClr val="FFFFFF"/>
                          </a:solidFill>
                        </a:rPr>
                        <a:t>PERFORMANCE</a:t>
                      </a:r>
                      <a:r>
                        <a:rPr lang="en-US" sz="1600" b="1" baseline="0" dirty="0">
                          <a:solidFill>
                            <a:srgbClr val="FFFFFF"/>
                          </a:solidFill>
                        </a:rPr>
                        <a:t> RATING</a:t>
                      </a:r>
                      <a:endParaRPr lang="en-US" sz="1600" b="1" dirty="0">
                        <a:solidFill>
                          <a:srgbClr val="FFFFFF"/>
                        </a:solidFill>
                      </a:endParaRPr>
                    </a:p>
                  </a:txBody>
                  <a:tcPr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70840">
                <a:tc>
                  <a:txBody>
                    <a:bodyPr/>
                    <a:lstStyle/>
                    <a:p>
                      <a:r>
                        <a:rPr lang="en-US" sz="1600" b="1" dirty="0">
                          <a:solidFill>
                            <a:srgbClr val="FFFFFF"/>
                          </a:solidFill>
                        </a:rPr>
                        <a:t>JOB ELEMENT</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4</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v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355600" indent="-355600"/>
                      <a:r>
                        <a:rPr lang="en-US" sz="1600" dirty="0"/>
                        <a:t>(A)	Compose and type letter</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8</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9</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120%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355600" marR="0" indent="-355600" algn="l" defTabSz="457200" rtl="0" eaLnBrk="1" fontAlgn="auto" latinLnBrk="0" hangingPunct="1">
                        <a:lnSpc>
                          <a:spcPct val="100000"/>
                        </a:lnSpc>
                        <a:spcBef>
                          <a:spcPts val="0"/>
                        </a:spcBef>
                        <a:spcAft>
                          <a:spcPts val="0"/>
                        </a:spcAft>
                        <a:buClrTx/>
                        <a:buSzTx/>
                        <a:buFontTx/>
                        <a:buNone/>
                        <a:tabLst/>
                        <a:defRPr/>
                      </a:pPr>
                      <a:r>
                        <a:rPr lang="en-US" sz="1600" dirty="0"/>
                        <a:t>(B)	Type envelope address</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105%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355600" indent="-355600"/>
                      <a:r>
                        <a:rPr lang="en-US" sz="1600" dirty="0"/>
                        <a:t>(C)	Stuff, stamp, and seal envelopes</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110%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Rectangle 5"/>
          <p:cNvSpPr>
            <a:spLocks noChangeArrowheads="1"/>
          </p:cNvSpPr>
          <p:nvPr/>
        </p:nvSpPr>
        <p:spPr bwMode="auto">
          <a:xfrm>
            <a:off x="2743200" y="4876800"/>
            <a:ext cx="3175869" cy="369332"/>
          </a:xfrm>
          <a:prstGeom prst="rect">
            <a:avLst/>
          </a:prstGeom>
          <a:noFill/>
          <a:ln w="9525">
            <a:noFill/>
            <a:miter lim="800000"/>
            <a:headEnd/>
            <a:tailEnd/>
          </a:ln>
        </p:spPr>
        <p:txBody>
          <a:bodyPr wrap="none">
            <a:spAutoFit/>
          </a:bodyPr>
          <a:lstStyle/>
          <a:p>
            <a:pPr>
              <a:lnSpc>
                <a:spcPct val="90000"/>
              </a:lnSpc>
            </a:pPr>
            <a:r>
              <a:rPr lang="en-US" sz="2000" dirty="0"/>
              <a:t>Calculate Standard Time</a:t>
            </a:r>
          </a:p>
        </p:txBody>
      </p:sp>
    </p:spTree>
    <p:extLst>
      <p:ext uri="{BB962C8B-B14F-4D97-AF65-F5344CB8AC3E}">
        <p14:creationId xmlns:p14="http://schemas.microsoft.com/office/powerpoint/2010/main" val="271270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par>
                          <p:cTn id="8" fill="hold">
                            <p:stCondLst>
                              <p:cond delay="2000"/>
                            </p:stCondLst>
                            <p:childTnLst>
                              <p:par>
                                <p:cTn id="9" presetID="23" presetClass="entr" presetSubtype="272" fill="hold" nodeType="afterEffect">
                                  <p:stCondLst>
                                    <p:cond delay="1000"/>
                                  </p:stCondLst>
                                  <p:childTnLst>
                                    <p:set>
                                      <p:cBhvr>
                                        <p:cTn id="10" dur="1" fill="hold">
                                          <p:stCondLst>
                                            <p:cond delay="0"/>
                                          </p:stCondLst>
                                        </p:cTn>
                                        <p:tgtEl>
                                          <p:spTgt spid="5"/>
                                        </p:tgtEl>
                                        <p:attrNameLst>
                                          <p:attrName>style.visibility</p:attrName>
                                        </p:attrNameLst>
                                      </p:cBhvr>
                                      <p:to>
                                        <p:strVal val="visible"/>
                                      </p:to>
                                    </p:set>
                                    <p:anim calcmode="lin" valueType="num">
                                      <p:cBhvr>
                                        <p:cTn id="11" dur="1000" fill="hold"/>
                                        <p:tgtEl>
                                          <p:spTgt spid="5"/>
                                        </p:tgtEl>
                                        <p:attrNameLst>
                                          <p:attrName>ppt_w</p:attrName>
                                        </p:attrNameLst>
                                      </p:cBhvr>
                                      <p:tavLst>
                                        <p:tav tm="0">
                                          <p:val>
                                            <p:strVal val="2/3*#ppt_w"/>
                                          </p:val>
                                        </p:tav>
                                        <p:tav tm="100000">
                                          <p:val>
                                            <p:strVal val="#ppt_w"/>
                                          </p:val>
                                        </p:tav>
                                      </p:tavLst>
                                    </p:anim>
                                    <p:anim calcmode="lin" valueType="num">
                                      <p:cBhvr>
                                        <p:cTn id="12" dur="1000" fill="hold"/>
                                        <p:tgtEl>
                                          <p:spTgt spid="5"/>
                                        </p:tgtEl>
                                        <p:attrNameLst>
                                          <p:attrName>ppt_h</p:attrName>
                                        </p:attrNameLst>
                                      </p:cBhvr>
                                      <p:tavLst>
                                        <p:tav tm="0">
                                          <p:val>
                                            <p:strVal val="2/3*#ppt_h"/>
                                          </p:val>
                                        </p:tav>
                                        <p:tav tm="100000">
                                          <p:val>
                                            <p:strVal val="#ppt_h"/>
                                          </p:val>
                                        </p:tav>
                                      </p:tavLst>
                                    </p:anim>
                                  </p:childTnLst>
                                </p:cTn>
                              </p:par>
                            </p:childTnLst>
                          </p:cTn>
                        </p:par>
                        <p:par>
                          <p:cTn id="13" fill="hold">
                            <p:stCondLst>
                              <p:cond delay="4000"/>
                            </p:stCondLst>
                            <p:childTnLst>
                              <p:par>
                                <p:cTn id="14" presetID="22" presetClass="entr" presetSubtype="8" fill="hold" grpId="0" nodeType="afterEffect">
                                  <p:stCondLst>
                                    <p:cond delay="10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6"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noChangeArrowheads="1"/>
          </p:cNvSpPr>
          <p:nvPr>
            <p:ph type="title" idx="4294967295"/>
          </p:nvPr>
        </p:nvSpPr>
        <p:spPr>
          <a:xfrm>
            <a:off x="228600" y="381000"/>
            <a:ext cx="7772400" cy="889000"/>
          </a:xfrm>
        </p:spPr>
        <p:txBody>
          <a:bodyPr/>
          <a:lstStyle/>
          <a:p>
            <a:r>
              <a:rPr lang="en-US" dirty="0">
                <a:solidFill>
                  <a:srgbClr val="0844BC"/>
                </a:solidFill>
                <a:latin typeface="Arial" pitchFamily="34" charset="0"/>
                <a:cs typeface="Arial" pitchFamily="34" charset="0"/>
              </a:rPr>
              <a:t>Time Study Example 2</a:t>
            </a:r>
          </a:p>
        </p:txBody>
      </p:sp>
      <p:sp>
        <p:nvSpPr>
          <p:cNvPr id="128003" name="Rectangle 3"/>
          <p:cNvSpPr>
            <a:spLocks noChangeArrowheads="1"/>
          </p:cNvSpPr>
          <p:nvPr/>
        </p:nvSpPr>
        <p:spPr bwMode="auto">
          <a:xfrm>
            <a:off x="744538" y="1438275"/>
            <a:ext cx="2884487" cy="374650"/>
          </a:xfrm>
          <a:prstGeom prst="rect">
            <a:avLst/>
          </a:prstGeom>
          <a:noFill/>
          <a:ln w="9525">
            <a:noFill/>
            <a:miter lim="800000"/>
            <a:headEnd/>
            <a:tailEnd/>
          </a:ln>
        </p:spPr>
        <p:txBody>
          <a:bodyPr wrap="none">
            <a:spAutoFit/>
          </a:bodyPr>
          <a:lstStyle/>
          <a:p>
            <a:pPr>
              <a:lnSpc>
                <a:spcPct val="90000"/>
              </a:lnSpc>
            </a:pPr>
            <a:r>
              <a:rPr lang="en-US" sz="2000" dirty="0"/>
              <a:t>Allowance factor = 15%</a:t>
            </a:r>
          </a:p>
        </p:txBody>
      </p:sp>
      <p:sp>
        <p:nvSpPr>
          <p:cNvPr id="128010" name="Rectangle 10"/>
          <p:cNvSpPr>
            <a:spLocks noChangeArrowheads="1"/>
          </p:cNvSpPr>
          <p:nvPr/>
        </p:nvSpPr>
        <p:spPr bwMode="auto">
          <a:xfrm>
            <a:off x="614363" y="4316413"/>
            <a:ext cx="7404100" cy="708025"/>
          </a:xfrm>
          <a:prstGeom prst="rect">
            <a:avLst/>
          </a:prstGeom>
          <a:noFill/>
          <a:ln w="9525">
            <a:noFill/>
            <a:miter lim="800000"/>
            <a:headEnd/>
            <a:tailEnd/>
          </a:ln>
        </p:spPr>
        <p:txBody>
          <a:bodyPr wrap="none">
            <a:spAutoFit/>
          </a:bodyPr>
          <a:lstStyle/>
          <a:p>
            <a:pPr marL="381000" indent="-381000">
              <a:buFont typeface="Times" pitchFamily="18" charset="0"/>
              <a:buAutoNum type="arabicPeriod"/>
            </a:pPr>
            <a:r>
              <a:rPr lang="en-US" sz="2000"/>
              <a:t>Delete unusual or nonrecurring observations (marked with *)</a:t>
            </a:r>
          </a:p>
          <a:p>
            <a:pPr marL="381000" indent="-381000">
              <a:buFont typeface="Times" pitchFamily="18" charset="0"/>
              <a:buAutoNum type="arabicPeriod"/>
            </a:pPr>
            <a:r>
              <a:rPr lang="en-US" sz="2000"/>
              <a:t>Compute average times for each element</a:t>
            </a:r>
          </a:p>
        </p:txBody>
      </p:sp>
      <p:sp>
        <p:nvSpPr>
          <p:cNvPr id="128011" name="Rectangle 11"/>
          <p:cNvSpPr>
            <a:spLocks noChangeArrowheads="1"/>
          </p:cNvSpPr>
          <p:nvPr/>
        </p:nvSpPr>
        <p:spPr bwMode="auto">
          <a:xfrm>
            <a:off x="1223963" y="5092700"/>
            <a:ext cx="6645275" cy="1096963"/>
          </a:xfrm>
          <a:prstGeom prst="rect">
            <a:avLst/>
          </a:prstGeom>
          <a:noFill/>
          <a:ln w="9525">
            <a:noFill/>
            <a:miter lim="800000"/>
            <a:headEnd/>
            <a:tailEnd/>
          </a:ln>
        </p:spPr>
        <p:txBody>
          <a:bodyPr wrap="none">
            <a:spAutoFit/>
          </a:bodyPr>
          <a:lstStyle/>
          <a:p>
            <a:pPr>
              <a:lnSpc>
                <a:spcPct val="110000"/>
              </a:lnSpc>
            </a:pPr>
            <a:r>
              <a:rPr lang="en-US" sz="2000"/>
              <a:t>Average time for A = (8 + 10 + 9 + 11)/4 = 9.5 minutes</a:t>
            </a:r>
          </a:p>
          <a:p>
            <a:pPr>
              <a:lnSpc>
                <a:spcPct val="110000"/>
              </a:lnSpc>
            </a:pPr>
            <a:r>
              <a:rPr lang="en-US" sz="2000"/>
              <a:t>Average time for B = (2 + 3 + 2 + 1 + 3)/5 = 2.2 minutes</a:t>
            </a:r>
          </a:p>
          <a:p>
            <a:pPr>
              <a:lnSpc>
                <a:spcPct val="110000"/>
              </a:lnSpc>
            </a:pPr>
            <a:r>
              <a:rPr lang="en-US" sz="2000"/>
              <a:t>Average time for C = (2 + 1 + 2 + 1)/4 = 1.5 minutes</a:t>
            </a:r>
          </a:p>
        </p:txBody>
      </p:sp>
      <p:graphicFrame>
        <p:nvGraphicFramePr>
          <p:cNvPr id="2" name="Table 1"/>
          <p:cNvGraphicFramePr>
            <a:graphicFrameLocks noGrp="1"/>
          </p:cNvGraphicFramePr>
          <p:nvPr/>
        </p:nvGraphicFramePr>
        <p:xfrm>
          <a:off x="669925" y="2001838"/>
          <a:ext cx="7772401" cy="2026920"/>
        </p:xfrm>
        <a:graphic>
          <a:graphicData uri="http://schemas.openxmlformats.org/drawingml/2006/table">
            <a:tbl>
              <a:tblPr firstRow="1" bandRow="1">
                <a:tableStyleId>{2D5ABB26-0587-4C30-8999-92F81FD0307C}</a:tableStyleId>
              </a:tblPr>
              <a:tblGrid>
                <a:gridCol w="3203574">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gridCol w="2041527">
                  <a:extLst>
                    <a:ext uri="{9D8B030D-6E8A-4147-A177-3AD203B41FA5}">
                      <a16:colId xmlns:a16="http://schemas.microsoft.com/office/drawing/2014/main" val="20006"/>
                    </a:ext>
                  </a:extLst>
                </a:gridCol>
              </a:tblGrid>
              <a:tr h="0">
                <a:tc>
                  <a:txBody>
                    <a:bodyPr/>
                    <a:lstStyle/>
                    <a:p>
                      <a:endParaRPr lang="en-US" sz="1600" b="1" dirty="0">
                        <a:solidFill>
                          <a:srgbClr val="FFFFFF"/>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gridSpan="5">
                  <a:txBody>
                    <a:bodyPr/>
                    <a:lstStyle/>
                    <a:p>
                      <a:pPr algn="ctr"/>
                      <a:r>
                        <a:rPr lang="en-US" sz="1600" b="1" dirty="0">
                          <a:solidFill>
                            <a:srgbClr val="FFFFFF"/>
                          </a:solidFill>
                        </a:rPr>
                        <a:t>OBSERVATIONS (MIN)</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rowSpan="2">
                  <a:txBody>
                    <a:bodyPr/>
                    <a:lstStyle/>
                    <a:p>
                      <a:pPr algn="ctr"/>
                      <a:r>
                        <a:rPr lang="en-US" sz="1600" b="1" dirty="0">
                          <a:solidFill>
                            <a:srgbClr val="FFFFFF"/>
                          </a:solidFill>
                        </a:rPr>
                        <a:t>PERFORMANCE</a:t>
                      </a:r>
                      <a:r>
                        <a:rPr lang="en-US" sz="1600" b="1" baseline="0" dirty="0">
                          <a:solidFill>
                            <a:srgbClr val="FFFFFF"/>
                          </a:solidFill>
                        </a:rPr>
                        <a:t> RATING</a:t>
                      </a:r>
                      <a:endParaRPr lang="en-US" sz="1600" b="1" dirty="0">
                        <a:solidFill>
                          <a:srgbClr val="FFFFFF"/>
                        </a:solidFill>
                      </a:endParaRPr>
                    </a:p>
                  </a:txBody>
                  <a:tcPr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70840">
                <a:tc>
                  <a:txBody>
                    <a:bodyPr/>
                    <a:lstStyle/>
                    <a:p>
                      <a:r>
                        <a:rPr lang="en-US" sz="1600" b="1" dirty="0">
                          <a:solidFill>
                            <a:srgbClr val="FFFFFF"/>
                          </a:solidFill>
                        </a:rPr>
                        <a:t>JOB ELEMENT</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4</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v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355600" indent="-355600"/>
                      <a:r>
                        <a:rPr lang="en-US" sz="1600" dirty="0"/>
                        <a:t>(A)	Compose and type letter</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8</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9</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120%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355600" marR="0" indent="-355600" algn="l" defTabSz="457200" rtl="0" eaLnBrk="1" fontAlgn="auto" latinLnBrk="0" hangingPunct="1">
                        <a:lnSpc>
                          <a:spcPct val="100000"/>
                        </a:lnSpc>
                        <a:spcBef>
                          <a:spcPts val="0"/>
                        </a:spcBef>
                        <a:spcAft>
                          <a:spcPts val="0"/>
                        </a:spcAft>
                        <a:buClrTx/>
                        <a:buSzTx/>
                        <a:buFontTx/>
                        <a:buNone/>
                        <a:tabLst/>
                        <a:defRPr/>
                      </a:pPr>
                      <a:r>
                        <a:rPr lang="en-US" sz="1600" dirty="0"/>
                        <a:t>(B)	Type envelope address</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105%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355600" indent="-355600"/>
                      <a:r>
                        <a:rPr lang="en-US" sz="1600" dirty="0"/>
                        <a:t>(C)	Stuff, stamp, and seal envelopes</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110%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7" name="Group 6"/>
          <p:cNvGrpSpPr/>
          <p:nvPr/>
        </p:nvGrpSpPr>
        <p:grpSpPr>
          <a:xfrm>
            <a:off x="0" y="6324600"/>
            <a:ext cx="8763000" cy="533400"/>
            <a:chOff x="0" y="6324600"/>
            <a:chExt cx="8763000" cy="533400"/>
          </a:xfrm>
        </p:grpSpPr>
        <p:sp>
          <p:nvSpPr>
            <p:cNvPr id="8" name="TextBox 7"/>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9" name="TextBox 8"/>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0" name="TextBox 9"/>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11 of 28</a:t>
              </a:r>
            </a:p>
          </p:txBody>
        </p:sp>
      </p:gr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28003"/>
                                        </p:tgtEl>
                                        <p:attrNameLst>
                                          <p:attrName>style.visibility</p:attrName>
                                        </p:attrNameLst>
                                      </p:cBhvr>
                                      <p:to>
                                        <p:strVal val="visible"/>
                                      </p:to>
                                    </p:set>
                                    <p:animEffect transition="in" filter="wipe(left)">
                                      <p:cBhvr>
                                        <p:cTn id="7" dur="1000"/>
                                        <p:tgtEl>
                                          <p:spTgt spid="128003"/>
                                        </p:tgtEl>
                                      </p:cBhvr>
                                    </p:animEffect>
                                  </p:childTnLst>
                                </p:cTn>
                              </p:par>
                            </p:childTnLst>
                          </p:cTn>
                        </p:par>
                        <p:par>
                          <p:cTn id="8" fill="hold">
                            <p:stCondLst>
                              <p:cond delay="2000"/>
                            </p:stCondLst>
                            <p:childTnLst>
                              <p:par>
                                <p:cTn id="9" presetID="23" presetClass="entr" presetSubtype="272"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strVal val="2/3*#ppt_w"/>
                                          </p:val>
                                        </p:tav>
                                        <p:tav tm="100000">
                                          <p:val>
                                            <p:strVal val="#ppt_w"/>
                                          </p:val>
                                        </p:tav>
                                      </p:tavLst>
                                    </p:anim>
                                    <p:anim calcmode="lin" valueType="num">
                                      <p:cBhvr>
                                        <p:cTn id="12"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8010"/>
                                        </p:tgtEl>
                                        <p:attrNameLst>
                                          <p:attrName>style.visibility</p:attrName>
                                        </p:attrNameLst>
                                      </p:cBhvr>
                                      <p:to>
                                        <p:strVal val="visible"/>
                                      </p:to>
                                    </p:set>
                                    <p:animEffect transition="in" filter="wipe(left)">
                                      <p:cBhvr>
                                        <p:cTn id="17" dur="1000"/>
                                        <p:tgtEl>
                                          <p:spTgt spid="128010"/>
                                        </p:tgtEl>
                                      </p:cBhvr>
                                    </p:animEffect>
                                  </p:childTnLst>
                                </p:cTn>
                              </p:par>
                            </p:childTnLst>
                          </p:cTn>
                        </p:par>
                        <p:par>
                          <p:cTn id="18" fill="hold">
                            <p:stCondLst>
                              <p:cond delay="1000"/>
                            </p:stCondLst>
                            <p:childTnLst>
                              <p:par>
                                <p:cTn id="19" presetID="22" presetClass="entr" presetSubtype="8" fill="hold" grpId="0" nodeType="afterEffect">
                                  <p:stCondLst>
                                    <p:cond delay="1000"/>
                                  </p:stCondLst>
                                  <p:childTnLst>
                                    <p:set>
                                      <p:cBhvr>
                                        <p:cTn id="20" dur="1" fill="hold">
                                          <p:stCondLst>
                                            <p:cond delay="0"/>
                                          </p:stCondLst>
                                        </p:cTn>
                                        <p:tgtEl>
                                          <p:spTgt spid="128011"/>
                                        </p:tgtEl>
                                        <p:attrNameLst>
                                          <p:attrName>style.visibility</p:attrName>
                                        </p:attrNameLst>
                                      </p:cBhvr>
                                      <p:to>
                                        <p:strVal val="visible"/>
                                      </p:to>
                                    </p:set>
                                    <p:animEffect transition="in" filter="wipe(left)">
                                      <p:cBhvr>
                                        <p:cTn id="21" dur="1000"/>
                                        <p:tgtEl>
                                          <p:spTgt spid="128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autoUpdateAnimBg="0"/>
      <p:bldP spid="128010" grpId="0" autoUpdateAnimBg="0"/>
      <p:bldP spid="128011"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a:spLocks noGrp="1" noChangeArrowheads="1"/>
          </p:cNvSpPr>
          <p:nvPr>
            <p:ph type="title" idx="4294967295"/>
          </p:nvPr>
        </p:nvSpPr>
        <p:spPr>
          <a:xfrm>
            <a:off x="228600" y="381000"/>
            <a:ext cx="7772400" cy="889000"/>
          </a:xfrm>
        </p:spPr>
        <p:txBody>
          <a:bodyPr/>
          <a:lstStyle/>
          <a:p>
            <a:r>
              <a:rPr lang="en-US" dirty="0">
                <a:solidFill>
                  <a:srgbClr val="0844BC"/>
                </a:solidFill>
                <a:latin typeface="Arial" pitchFamily="34" charset="0"/>
                <a:cs typeface="Arial" pitchFamily="34" charset="0"/>
              </a:rPr>
              <a:t>Time Study Example 2</a:t>
            </a:r>
          </a:p>
        </p:txBody>
      </p:sp>
      <p:sp>
        <p:nvSpPr>
          <p:cNvPr id="130051" name="Rectangle 3"/>
          <p:cNvSpPr>
            <a:spLocks noChangeArrowheads="1"/>
          </p:cNvSpPr>
          <p:nvPr/>
        </p:nvSpPr>
        <p:spPr bwMode="auto">
          <a:xfrm>
            <a:off x="614363" y="1789113"/>
            <a:ext cx="6403975" cy="461962"/>
          </a:xfrm>
          <a:prstGeom prst="rect">
            <a:avLst/>
          </a:prstGeom>
          <a:noFill/>
          <a:ln w="9525">
            <a:noFill/>
            <a:miter lim="800000"/>
            <a:headEnd/>
            <a:tailEnd/>
          </a:ln>
        </p:spPr>
        <p:txBody>
          <a:bodyPr wrap="none">
            <a:spAutoFit/>
          </a:bodyPr>
          <a:lstStyle/>
          <a:p>
            <a:pPr marL="381000" indent="-381000">
              <a:buFont typeface="Times" pitchFamily="18" charset="0"/>
              <a:buAutoNum type="arabicPeriod" startAt="3"/>
            </a:pPr>
            <a:r>
              <a:rPr lang="en-US" sz="2400" dirty="0"/>
              <a:t>Compute the normal time for each element</a:t>
            </a:r>
          </a:p>
        </p:txBody>
      </p:sp>
      <p:sp>
        <p:nvSpPr>
          <p:cNvPr id="130052" name="Rectangle 4"/>
          <p:cNvSpPr>
            <a:spLocks noChangeArrowheads="1"/>
          </p:cNvSpPr>
          <p:nvPr/>
        </p:nvSpPr>
        <p:spPr bwMode="auto">
          <a:xfrm>
            <a:off x="1749425" y="3016250"/>
            <a:ext cx="6496050" cy="1304925"/>
          </a:xfrm>
          <a:prstGeom prst="rect">
            <a:avLst/>
          </a:prstGeom>
          <a:noFill/>
          <a:ln w="9525">
            <a:noFill/>
            <a:miter lim="800000"/>
            <a:headEnd/>
            <a:tailEnd/>
          </a:ln>
        </p:spPr>
        <p:txBody>
          <a:bodyPr wrap="none">
            <a:spAutoFit/>
          </a:bodyPr>
          <a:lstStyle/>
          <a:p>
            <a:pPr>
              <a:lnSpc>
                <a:spcPct val="110000"/>
              </a:lnSpc>
            </a:pPr>
            <a:r>
              <a:rPr lang="en-US" sz="2400"/>
              <a:t>Normal time for A = (9.5)(1.2) = 11.4 minutes</a:t>
            </a:r>
          </a:p>
          <a:p>
            <a:pPr>
              <a:lnSpc>
                <a:spcPct val="110000"/>
              </a:lnSpc>
            </a:pPr>
            <a:r>
              <a:rPr lang="en-US" sz="2400"/>
              <a:t>Normal time for B = (2.2)(1.05) = 2.31 minutes</a:t>
            </a:r>
          </a:p>
          <a:p>
            <a:pPr>
              <a:lnSpc>
                <a:spcPct val="110000"/>
              </a:lnSpc>
            </a:pPr>
            <a:r>
              <a:rPr lang="en-US" sz="2400"/>
              <a:t>Normal time for C = (1.5)(1.10) = 1.65 minutes</a:t>
            </a:r>
          </a:p>
        </p:txBody>
      </p:sp>
      <p:sp>
        <p:nvSpPr>
          <p:cNvPr id="130053" name="Rectangle 5"/>
          <p:cNvSpPr>
            <a:spLocks noChangeArrowheads="1"/>
          </p:cNvSpPr>
          <p:nvPr/>
        </p:nvSpPr>
        <p:spPr bwMode="auto">
          <a:xfrm>
            <a:off x="1176338" y="2436813"/>
            <a:ext cx="6978650" cy="461962"/>
          </a:xfrm>
          <a:prstGeom prst="rect">
            <a:avLst/>
          </a:prstGeom>
          <a:noFill/>
          <a:ln w="9525">
            <a:noFill/>
            <a:miter lim="800000"/>
            <a:headEnd/>
            <a:tailEnd/>
          </a:ln>
        </p:spPr>
        <p:txBody>
          <a:bodyPr wrap="none">
            <a:spAutoFit/>
          </a:bodyPr>
          <a:lstStyle/>
          <a:p>
            <a:r>
              <a:rPr lang="en-US" sz="2400" dirty="0"/>
              <a:t>Normal time = (Average observed time) x (Rating)</a:t>
            </a:r>
          </a:p>
        </p:txBody>
      </p:sp>
      <p:sp>
        <p:nvSpPr>
          <p:cNvPr id="130054" name="Rectangle 6"/>
          <p:cNvSpPr>
            <a:spLocks noChangeArrowheads="1"/>
          </p:cNvSpPr>
          <p:nvPr/>
        </p:nvSpPr>
        <p:spPr bwMode="auto">
          <a:xfrm>
            <a:off x="614363" y="4494213"/>
            <a:ext cx="7340600" cy="461962"/>
          </a:xfrm>
          <a:prstGeom prst="rect">
            <a:avLst/>
          </a:prstGeom>
          <a:noFill/>
          <a:ln w="9525">
            <a:noFill/>
            <a:miter lim="800000"/>
            <a:headEnd/>
            <a:tailEnd/>
          </a:ln>
        </p:spPr>
        <p:txBody>
          <a:bodyPr wrap="none">
            <a:spAutoFit/>
          </a:bodyPr>
          <a:lstStyle/>
          <a:p>
            <a:pPr marL="457200" indent="-457200">
              <a:buFont typeface="Times" pitchFamily="18" charset="0"/>
              <a:buAutoNum type="arabicPeriod" startAt="4"/>
            </a:pPr>
            <a:r>
              <a:rPr lang="en-US" sz="2400"/>
              <a:t>Add the normal times to find the total normal time</a:t>
            </a:r>
          </a:p>
        </p:txBody>
      </p:sp>
      <p:sp>
        <p:nvSpPr>
          <p:cNvPr id="130055" name="Rectangle 7"/>
          <p:cNvSpPr>
            <a:spLocks noChangeArrowheads="1"/>
          </p:cNvSpPr>
          <p:nvPr/>
        </p:nvSpPr>
        <p:spPr bwMode="auto">
          <a:xfrm>
            <a:off x="1176338" y="5218113"/>
            <a:ext cx="5546725" cy="830262"/>
          </a:xfrm>
          <a:prstGeom prst="rect">
            <a:avLst/>
          </a:prstGeom>
          <a:noFill/>
          <a:ln w="9525">
            <a:noFill/>
            <a:miter lim="800000"/>
            <a:headEnd/>
            <a:tailEnd/>
          </a:ln>
        </p:spPr>
        <p:txBody>
          <a:bodyPr wrap="none">
            <a:spAutoFit/>
          </a:bodyPr>
          <a:lstStyle/>
          <a:p>
            <a:pPr marL="2425700" indent="-2425700"/>
            <a:r>
              <a:rPr lang="en-US" sz="2400"/>
              <a:t>Total normal time	= 11.40 + 2.31 + 1.65 </a:t>
            </a:r>
          </a:p>
          <a:p>
            <a:pPr marL="2425700" indent="-2425700"/>
            <a:r>
              <a:rPr lang="en-US" sz="2400"/>
              <a:t>	= 15.36 minutes</a:t>
            </a:r>
          </a:p>
        </p:txBody>
      </p:sp>
      <p:grpSp>
        <p:nvGrpSpPr>
          <p:cNvPr id="8" name="Group 7"/>
          <p:cNvGrpSpPr/>
          <p:nvPr/>
        </p:nvGrpSpPr>
        <p:grpSpPr>
          <a:xfrm>
            <a:off x="0" y="6324600"/>
            <a:ext cx="8763000" cy="533400"/>
            <a:chOff x="0" y="6324600"/>
            <a:chExt cx="8763000" cy="533400"/>
          </a:xfrm>
        </p:grpSpPr>
        <p:sp>
          <p:nvSpPr>
            <p:cNvPr id="9" name="TextBox 8"/>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0" name="TextBox 9"/>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1" name="TextBox 10"/>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12 of 28</a:t>
              </a:r>
            </a:p>
          </p:txBody>
        </p:sp>
      </p:grpSp>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30051"/>
                                        </p:tgtEl>
                                        <p:attrNameLst>
                                          <p:attrName>style.visibility</p:attrName>
                                        </p:attrNameLst>
                                      </p:cBhvr>
                                      <p:to>
                                        <p:strVal val="visible"/>
                                      </p:to>
                                    </p:set>
                                    <p:animEffect transition="in" filter="wipe(left)">
                                      <p:cBhvr>
                                        <p:cTn id="7" dur="1000"/>
                                        <p:tgtEl>
                                          <p:spTgt spid="130051"/>
                                        </p:tgtEl>
                                      </p:cBhvr>
                                    </p:animEffect>
                                  </p:childTnLst>
                                </p:cTn>
                              </p:par>
                            </p:childTnLst>
                          </p:cTn>
                        </p:par>
                        <p:par>
                          <p:cTn id="8" fill="hold" nodeType="afterGroup">
                            <p:stCondLst>
                              <p:cond delay="2000"/>
                            </p:stCondLst>
                            <p:childTnLst>
                              <p:par>
                                <p:cTn id="9" presetID="22" presetClass="entr" presetSubtype="8" fill="hold" grpId="0" nodeType="afterEffect">
                                  <p:stCondLst>
                                    <p:cond delay="1000"/>
                                  </p:stCondLst>
                                  <p:childTnLst>
                                    <p:set>
                                      <p:cBhvr>
                                        <p:cTn id="10" dur="1" fill="hold">
                                          <p:stCondLst>
                                            <p:cond delay="0"/>
                                          </p:stCondLst>
                                        </p:cTn>
                                        <p:tgtEl>
                                          <p:spTgt spid="130053"/>
                                        </p:tgtEl>
                                        <p:attrNameLst>
                                          <p:attrName>style.visibility</p:attrName>
                                        </p:attrNameLst>
                                      </p:cBhvr>
                                      <p:to>
                                        <p:strVal val="visible"/>
                                      </p:to>
                                    </p:set>
                                    <p:animEffect transition="in" filter="wipe(left)">
                                      <p:cBhvr>
                                        <p:cTn id="11" dur="1000"/>
                                        <p:tgtEl>
                                          <p:spTgt spid="130053"/>
                                        </p:tgtEl>
                                      </p:cBhvr>
                                    </p:animEffect>
                                  </p:childTnLst>
                                </p:cTn>
                              </p:par>
                            </p:childTnLst>
                          </p:cTn>
                        </p:par>
                        <p:par>
                          <p:cTn id="12" fill="hold" nodeType="afterGroup">
                            <p:stCondLst>
                              <p:cond delay="4000"/>
                            </p:stCondLst>
                            <p:childTnLst>
                              <p:par>
                                <p:cTn id="13" presetID="22" presetClass="entr" presetSubtype="8" fill="hold" grpId="0" nodeType="afterEffect">
                                  <p:stCondLst>
                                    <p:cond delay="1000"/>
                                  </p:stCondLst>
                                  <p:childTnLst>
                                    <p:set>
                                      <p:cBhvr>
                                        <p:cTn id="14" dur="1" fill="hold">
                                          <p:stCondLst>
                                            <p:cond delay="0"/>
                                          </p:stCondLst>
                                        </p:cTn>
                                        <p:tgtEl>
                                          <p:spTgt spid="130052"/>
                                        </p:tgtEl>
                                        <p:attrNameLst>
                                          <p:attrName>style.visibility</p:attrName>
                                        </p:attrNameLst>
                                      </p:cBhvr>
                                      <p:to>
                                        <p:strVal val="visible"/>
                                      </p:to>
                                    </p:set>
                                    <p:animEffect transition="in" filter="wipe(left)">
                                      <p:cBhvr>
                                        <p:cTn id="15" dur="1000"/>
                                        <p:tgtEl>
                                          <p:spTgt spid="13005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0054"/>
                                        </p:tgtEl>
                                        <p:attrNameLst>
                                          <p:attrName>style.visibility</p:attrName>
                                        </p:attrNameLst>
                                      </p:cBhvr>
                                      <p:to>
                                        <p:strVal val="visible"/>
                                      </p:to>
                                    </p:set>
                                    <p:animEffect transition="in" filter="wipe(left)">
                                      <p:cBhvr>
                                        <p:cTn id="20" dur="1000"/>
                                        <p:tgtEl>
                                          <p:spTgt spid="130054"/>
                                        </p:tgtEl>
                                      </p:cBhvr>
                                    </p:animEffect>
                                  </p:childTnLst>
                                </p:cTn>
                              </p:par>
                            </p:childTnLst>
                          </p:cTn>
                        </p:par>
                        <p:par>
                          <p:cTn id="21" fill="hold" nodeType="afterGroup">
                            <p:stCondLst>
                              <p:cond delay="1000"/>
                            </p:stCondLst>
                            <p:childTnLst>
                              <p:par>
                                <p:cTn id="22" presetID="22" presetClass="entr" presetSubtype="8" fill="hold" grpId="0" nodeType="afterEffect">
                                  <p:stCondLst>
                                    <p:cond delay="1000"/>
                                  </p:stCondLst>
                                  <p:childTnLst>
                                    <p:set>
                                      <p:cBhvr>
                                        <p:cTn id="23" dur="1" fill="hold">
                                          <p:stCondLst>
                                            <p:cond delay="0"/>
                                          </p:stCondLst>
                                        </p:cTn>
                                        <p:tgtEl>
                                          <p:spTgt spid="130055"/>
                                        </p:tgtEl>
                                        <p:attrNameLst>
                                          <p:attrName>style.visibility</p:attrName>
                                        </p:attrNameLst>
                                      </p:cBhvr>
                                      <p:to>
                                        <p:strVal val="visible"/>
                                      </p:to>
                                    </p:set>
                                    <p:animEffect transition="in" filter="wipe(left)">
                                      <p:cBhvr>
                                        <p:cTn id="24" dur="1000"/>
                                        <p:tgtEl>
                                          <p:spTgt spid="130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autoUpdateAnimBg="0"/>
      <p:bldP spid="130052" grpId="0" autoUpdateAnimBg="0"/>
      <p:bldP spid="130053" grpId="0" autoUpdateAnimBg="0"/>
      <p:bldP spid="130054" grpId="0" autoUpdateAnimBg="0"/>
      <p:bldP spid="130055"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143000"/>
            <a:ext cx="7391400" cy="3416320"/>
          </a:xfrm>
          <a:prstGeom prst="rect">
            <a:avLst/>
          </a:prstGeom>
          <a:noFill/>
        </p:spPr>
        <p:txBody>
          <a:bodyPr wrap="square" rtlCol="0">
            <a:spAutoFit/>
          </a:bodyPr>
          <a:lstStyle/>
          <a:p>
            <a:r>
              <a:rPr lang="en-US" sz="2400" dirty="0"/>
              <a:t>5. Standard time for the job:</a:t>
            </a:r>
          </a:p>
          <a:p>
            <a:r>
              <a:rPr lang="en-US" sz="2400" dirty="0"/>
              <a:t>    </a:t>
            </a:r>
          </a:p>
          <a:p>
            <a:r>
              <a:rPr lang="en-US" sz="2400" dirty="0"/>
              <a:t>Standard time = Total normal time/( 1 - Allowance factor)</a:t>
            </a:r>
          </a:p>
          <a:p>
            <a:r>
              <a:rPr lang="en-US" sz="2400" dirty="0"/>
              <a:t>                         = 15.36/(1-.15)</a:t>
            </a:r>
          </a:p>
          <a:p>
            <a:r>
              <a:rPr lang="en-US" sz="2400" dirty="0"/>
              <a:t>                         =18.07 min</a:t>
            </a:r>
          </a:p>
          <a:p>
            <a:endParaRPr lang="en-US" sz="2400" dirty="0"/>
          </a:p>
          <a:p>
            <a:r>
              <a:rPr lang="en-US" sz="2400" dirty="0"/>
              <a:t>Thus, 18.07 minutes is the time standard for this job.</a:t>
            </a:r>
          </a:p>
        </p:txBody>
      </p:sp>
    </p:spTree>
    <p:extLst>
      <p:ext uri="{BB962C8B-B14F-4D97-AF65-F5344CB8AC3E}">
        <p14:creationId xmlns:p14="http://schemas.microsoft.com/office/powerpoint/2010/main" val="69246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rtlCol="0">
            <a:noAutofit/>
          </a:bodyPr>
          <a:lstStyle/>
          <a:p>
            <a:pPr fontAlgn="auto">
              <a:spcAft>
                <a:spcPts val="0"/>
              </a:spcAft>
              <a:defRPr/>
            </a:pPr>
            <a:r>
              <a:rPr lang="en-US" sz="2400" dirty="0">
                <a:solidFill>
                  <a:srgbClr val="0844BC"/>
                </a:solidFill>
              </a:rPr>
              <a:t>Predetermined Time Standards</a:t>
            </a:r>
          </a:p>
        </p:txBody>
      </p:sp>
      <p:sp>
        <p:nvSpPr>
          <p:cNvPr id="144386" name="Content Placeholder 1"/>
          <p:cNvSpPr>
            <a:spLocks noGrp="1"/>
          </p:cNvSpPr>
          <p:nvPr>
            <p:ph sz="quarter" idx="1"/>
          </p:nvPr>
        </p:nvSpPr>
        <p:spPr>
          <a:xfrm>
            <a:off x="711200" y="1600200"/>
            <a:ext cx="7734300" cy="2215991"/>
          </a:xfrm>
        </p:spPr>
        <p:txBody>
          <a:bodyPr/>
          <a:lstStyle/>
          <a:p>
            <a:pPr>
              <a:buFont typeface="Arial Unicode MS" pitchFamily="34" charset="-128"/>
              <a:buChar char="▶"/>
            </a:pPr>
            <a:r>
              <a:rPr lang="en-US" sz="2400" dirty="0">
                <a:latin typeface="Arial" pitchFamily="34" charset="0"/>
                <a:cs typeface="Arial" pitchFamily="34" charset="0"/>
              </a:rPr>
              <a:t>Divide manual work into small basic elements that have established times</a:t>
            </a:r>
          </a:p>
          <a:p>
            <a:pPr>
              <a:buFont typeface="Arial Unicode MS" pitchFamily="34" charset="-128"/>
              <a:buChar char="▶"/>
            </a:pPr>
            <a:r>
              <a:rPr lang="en-US" sz="2400" dirty="0">
                <a:latin typeface="Arial" pitchFamily="34" charset="0"/>
                <a:cs typeface="Arial" pitchFamily="34" charset="0"/>
              </a:rPr>
              <a:t>Can be done in a laboratory away from the actual production operation</a:t>
            </a:r>
          </a:p>
          <a:p>
            <a:pPr>
              <a:buFont typeface="Arial Unicode MS" pitchFamily="34" charset="-128"/>
              <a:buChar char="▶"/>
            </a:pPr>
            <a:r>
              <a:rPr lang="en-US" sz="2400" dirty="0">
                <a:latin typeface="Arial" pitchFamily="34" charset="0"/>
                <a:cs typeface="Arial" pitchFamily="34" charset="0"/>
              </a:rPr>
              <a:t>Can be set before the work is actually performed</a:t>
            </a:r>
          </a:p>
          <a:p>
            <a:pPr>
              <a:buFont typeface="Arial Unicode MS" pitchFamily="34" charset="-128"/>
              <a:buChar char="▶"/>
            </a:pPr>
            <a:r>
              <a:rPr lang="en-US" sz="2400" dirty="0">
                <a:latin typeface="Arial" pitchFamily="34" charset="0"/>
                <a:cs typeface="Arial" pitchFamily="34" charset="0"/>
              </a:rPr>
              <a:t>No performance ratings are necessary</a:t>
            </a:r>
          </a:p>
        </p:txBody>
      </p:sp>
      <p:grpSp>
        <p:nvGrpSpPr>
          <p:cNvPr id="4" name="Group 3"/>
          <p:cNvGrpSpPr/>
          <p:nvPr/>
        </p:nvGrpSpPr>
        <p:grpSpPr>
          <a:xfrm>
            <a:off x="0" y="6324600"/>
            <a:ext cx="8763000" cy="533400"/>
            <a:chOff x="0" y="6324600"/>
            <a:chExt cx="8763000" cy="533400"/>
          </a:xfrm>
        </p:grpSpPr>
        <p:sp>
          <p:nvSpPr>
            <p:cNvPr id="5" name="TextBox 4"/>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6" name="TextBox 5"/>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19 of 28</a:t>
              </a:r>
            </a:p>
          </p:txBody>
        </p:sp>
      </p:grpSp>
    </p:spTree>
  </p:cSld>
  <p:clrMapOvr>
    <a:masterClrMapping/>
  </p:clrMapOvr>
  <p:transition>
    <p:pull dir="l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rot="21310368">
            <a:off x="533400" y="457200"/>
            <a:ext cx="8305800" cy="4144963"/>
          </a:xfrm>
        </p:spPr>
        <p:txBody>
          <a:bodyPr>
            <a:noAutofit/>
          </a:bodyPr>
          <a:lstStyle/>
          <a:p>
            <a:pPr>
              <a:buNone/>
            </a:pPr>
            <a:r>
              <a:rPr lang="en-US" sz="5400" dirty="0"/>
              <a:t>                                  Thank You</a:t>
            </a:r>
          </a:p>
        </p:txBody>
      </p:sp>
      <p:pic>
        <p:nvPicPr>
          <p:cNvPr id="4" name="Picture 3" descr="IE_TimeMotion-graphic72.jpg"/>
          <p:cNvPicPr>
            <a:picLocks noChangeAspect="1"/>
          </p:cNvPicPr>
          <p:nvPr/>
        </p:nvPicPr>
        <p:blipFill>
          <a:blip r:embed="rId2"/>
          <a:stretch>
            <a:fillRect/>
          </a:stretch>
        </p:blipFill>
        <p:spPr>
          <a:xfrm>
            <a:off x="4800600" y="2743200"/>
            <a:ext cx="2540000" cy="25400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grpSp>
        <p:nvGrpSpPr>
          <p:cNvPr id="5" name="Group 4"/>
          <p:cNvGrpSpPr/>
          <p:nvPr/>
        </p:nvGrpSpPr>
        <p:grpSpPr>
          <a:xfrm>
            <a:off x="0" y="6324600"/>
            <a:ext cx="8763000" cy="533400"/>
            <a:chOff x="0" y="6324600"/>
            <a:chExt cx="8763000" cy="533400"/>
          </a:xfrm>
        </p:grpSpPr>
        <p:sp>
          <p:nvSpPr>
            <p:cNvPr id="6" name="TextBox 5"/>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8" name="TextBox 7"/>
            <p:cNvSpPr txBox="1"/>
            <p:nvPr/>
          </p:nvSpPr>
          <p:spPr>
            <a:xfrm>
              <a:off x="0" y="6324600"/>
              <a:ext cx="8763000" cy="307777"/>
            </a:xfrm>
            <a:prstGeom prst="rect">
              <a:avLst/>
            </a:prstGeom>
            <a:solidFill>
              <a:schemeClr val="accent1"/>
            </a:solidFill>
          </p:spPr>
          <p:txBody>
            <a:bodyPr wrap="square" rtlCol="0">
              <a:spAutoFit/>
            </a:bodyPr>
            <a:lstStyle/>
            <a:p>
              <a:endParaRPr lang="en-US" sz="1400" i="1" dirty="0">
                <a:latin typeface="Times New Roman" pitchFamily="18" charset="0"/>
                <a:cs typeface="Times New Roman" pitchFamily="18" charset="0"/>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241</TotalTime>
  <Words>3010</Words>
  <Application>Microsoft Office PowerPoint</Application>
  <PresentationFormat>On-screen Show (4:3)</PresentationFormat>
  <Paragraphs>757</Paragraphs>
  <Slides>43</Slides>
  <Notes>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Arial</vt:lpstr>
      <vt:lpstr>Arial Unicode MS</vt:lpstr>
      <vt:lpstr>Calibri</vt:lpstr>
      <vt:lpstr>Cooper Black</vt:lpstr>
      <vt:lpstr>Rockwell</vt:lpstr>
      <vt:lpstr>Times</vt:lpstr>
      <vt:lpstr>Times New Roman</vt:lpstr>
      <vt:lpstr>TimesNewRomanPS</vt:lpstr>
      <vt:lpstr>TimesNewRomanPS-Bold</vt:lpstr>
      <vt:lpstr>Trebuchet MS</vt:lpstr>
      <vt:lpstr>Wingdings</vt:lpstr>
      <vt:lpstr>Office Theme</vt:lpstr>
      <vt:lpstr>PowerPoint Presentation</vt:lpstr>
      <vt:lpstr>Learning Outcome</vt:lpstr>
      <vt:lpstr>Scheduling</vt:lpstr>
      <vt:lpstr>PowerPoint Presentation</vt:lpstr>
      <vt:lpstr>Sequencing Jobs</vt:lpstr>
      <vt:lpstr>Priority Rules for Dispatching Jobs</vt:lpstr>
      <vt:lpstr>Sequencing Example</vt:lpstr>
      <vt:lpstr>Sequencing Example</vt:lpstr>
      <vt:lpstr>PowerPoint Presentation</vt:lpstr>
      <vt:lpstr>Sequencing Example</vt:lpstr>
      <vt:lpstr>Sequencing Example</vt:lpstr>
      <vt:lpstr>Sequencing Example</vt:lpstr>
      <vt:lpstr>Sequencing Example</vt:lpstr>
      <vt:lpstr>Sequencing Example</vt:lpstr>
      <vt:lpstr>Sequencing Example</vt:lpstr>
      <vt:lpstr>Sequencing Example</vt:lpstr>
      <vt:lpstr>Sequencing Example</vt:lpstr>
      <vt:lpstr>Comparison of  Sequencing Rules</vt:lpstr>
      <vt:lpstr>Sequencing N Jobs on Two  Machines: Johnson’s Rule</vt:lpstr>
      <vt:lpstr>Johnson’s Rule</vt:lpstr>
      <vt:lpstr>Johnson’s Rule Example</vt:lpstr>
      <vt:lpstr>Johnson’s Rule Example</vt:lpstr>
      <vt:lpstr>Johnson’s Rule Example</vt:lpstr>
      <vt:lpstr>Johnson’s Rule Example</vt:lpstr>
      <vt:lpstr>PowerPoint Presentation</vt:lpstr>
      <vt:lpstr>PowerPoint Presentation</vt:lpstr>
      <vt:lpstr>PowerPoint Presentation</vt:lpstr>
      <vt:lpstr>Meaningful Standards Help a firm to Determine-</vt:lpstr>
      <vt:lpstr>Labor Standards</vt:lpstr>
      <vt:lpstr>Historical Experience</vt:lpstr>
      <vt:lpstr>Time Studies</vt:lpstr>
      <vt:lpstr>Time Studies</vt:lpstr>
      <vt:lpstr>Time Studies</vt:lpstr>
      <vt:lpstr>Time Studies</vt:lpstr>
      <vt:lpstr>Rest Allowances</vt:lpstr>
      <vt:lpstr>Time Study Example 1</vt:lpstr>
      <vt:lpstr>Time Study Example 1</vt:lpstr>
      <vt:lpstr>Time Study Example 2</vt:lpstr>
      <vt:lpstr>Time Study Example 2</vt:lpstr>
      <vt:lpstr>Time Study Example 2</vt:lpstr>
      <vt:lpstr>PowerPoint Presentation</vt:lpstr>
      <vt:lpstr>Predetermined Time Standards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Short-Term Scheduling</dc:title>
  <dc:subject>Heizer/Render 9E</dc:subject>
  <dc:creator>Jeff Heyl</dc:creator>
  <cp:lastModifiedBy>Ahmadul Karim Chowdhury</cp:lastModifiedBy>
  <cp:revision>19</cp:revision>
  <dcterms:created xsi:type="dcterms:W3CDTF">2022-11-14T13:09:31Z</dcterms:created>
  <dcterms:modified xsi:type="dcterms:W3CDTF">2022-12-15T02:16:43Z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2021-02-22T00:00:00Z</vt:filetime>
  </property>
  <property fmtid="{D5CDD505-2E9C-101B-9397-08002B2CF9AE}" pid="3" name="Creator">
    <vt:lpwstr>Microsoft® PowerPoint® 2013</vt:lpwstr>
  </property>
  <property fmtid="{D5CDD505-2E9C-101B-9397-08002B2CF9AE}" pid="4" name="LastSaved">
    <vt:filetime>2022-11-14T00:00:00Z</vt:filetime>
  </property>
</Properties>
</file>