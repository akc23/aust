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sldIdLst>
    <p:sldId id="336" r:id="rId2"/>
    <p:sldId id="344" r:id="rId3"/>
    <p:sldId id="290" r:id="rId4"/>
    <p:sldId id="329" r:id="rId5"/>
    <p:sldId id="337" r:id="rId6"/>
    <p:sldId id="331" r:id="rId7"/>
    <p:sldId id="293" r:id="rId8"/>
    <p:sldId id="338" r:id="rId9"/>
    <p:sldId id="324" r:id="rId10"/>
    <p:sldId id="325" r:id="rId11"/>
    <p:sldId id="326" r:id="rId12"/>
    <p:sldId id="327" r:id="rId13"/>
    <p:sldId id="299" r:id="rId14"/>
    <p:sldId id="339" r:id="rId15"/>
    <p:sldId id="340" r:id="rId16"/>
    <p:sldId id="341" r:id="rId17"/>
    <p:sldId id="342" r:id="rId18"/>
    <p:sldId id="328" r:id="rId19"/>
    <p:sldId id="306" r:id="rId20"/>
    <p:sldId id="343" r:id="rId21"/>
    <p:sldId id="309" r:id="rId22"/>
    <p:sldId id="315" r:id="rId23"/>
    <p:sldId id="317" r:id="rId24"/>
    <p:sldId id="280" r:id="rId25"/>
    <p:sldId id="319" r:id="rId26"/>
    <p:sldId id="320" r:id="rId27"/>
    <p:sldId id="334" r:id="rId28"/>
    <p:sldId id="321" r:id="rId29"/>
    <p:sldId id="345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outom Dey" initials="GD" lastIdx="14" clrIdx="0">
    <p:extLst>
      <p:ext uri="{19B8F6BF-5375-455C-9EA6-DF929625EA0E}">
        <p15:presenceInfo xmlns:p15="http://schemas.microsoft.com/office/powerpoint/2012/main" userId="Goutom D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C0C0C0"/>
    <a:srgbClr val="CC3300"/>
    <a:srgbClr val="CC0000"/>
    <a:srgbClr val="3366CC"/>
    <a:srgbClr val="336600"/>
    <a:srgbClr val="9966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4" autoAdjust="0"/>
    <p:restoredTop sz="94660"/>
  </p:normalViewPr>
  <p:slideViewPr>
    <p:cSldViewPr>
      <p:cViewPr>
        <p:scale>
          <a:sx n="75" d="100"/>
          <a:sy n="75" d="100"/>
        </p:scale>
        <p:origin x="1230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8053D8DA-30B5-4247-ACC8-247AAC4DD3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13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6256BCA0-081D-46D2-B51A-D42AF87C6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833B18-264C-4AC2-B372-F73A50522949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BFA0F97-7F00-47C8-BBD7-DBF4CFFC9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C913B5F-5094-42A7-BD7E-1786DD15B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8FAFE82-062A-4EAB-A92A-F9DDC7E2D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B659FC-99A4-471D-8C29-8A9DAD8D5823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1B55489-310D-4B33-BB02-8093FA80C7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35A367D-B4D4-49FF-A907-379DAEE8E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82BC253-95F4-43A0-9274-D5875FB9F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92E67C-41A2-4726-908D-1F33D81A36AE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ACAC804-AAFF-4DC7-8C35-0670C32600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8508BC4-EC9A-4AD9-ACFF-BD776178C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22D0A12-EEAD-4842-8AB7-06A6CB917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8EFCB50-DBFA-40CC-88BB-AEFEA8B426C1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FA9081A-1A03-49B7-A3D2-79A7A29C76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8C09A31-B5DF-44DB-BDD0-A97391E15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EADFEC5-0014-4B8A-9FE6-447FBC784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EBC7AE-51C0-4AC3-A4EA-0BCD2668F1B9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D33761D-832E-4DCF-9EBE-985F0EA978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D00ADAA-4F09-4949-9E18-009BD1707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EBC3D79F-76E8-4D29-BEDB-354FDBBF6F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500512F-6542-425D-B574-F23963C04B83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FC9473E-B34F-45BF-9263-CD8FC105C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71E82C3-EED0-478E-A6C6-3CFD8C448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8511452-1F56-4AF7-B3C1-44CF9BA98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C06D1E-62C5-4E5C-B8E9-5F12AB0DFAC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096135B-FB87-4707-881D-F5F80767BA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B6E5D53-D305-449F-A4F8-76A31D338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D109B60A-6552-4DE7-8D64-63598641AC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D3E63C-814D-4391-9E19-092ABE3D1666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EEEF8-0D86-4A44-A2BB-BF7F94ACA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660C9B9-98D2-4A2F-A12B-D89815741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DAB34BA-5F1C-4BBC-A0BD-8AE05569A1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8179B11-7601-4E09-8E7E-80B580E26226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EAE9ADD-58AC-4348-A14B-8C06CDEBC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616C090-4125-4286-9FC5-D1292A541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525CC98E-B05F-46BA-87C6-9F7B5760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9A9AC5-DC3A-4AD8-9C39-D6C8B0E87817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EE28902-A42E-4FAA-92AD-4190323B5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9675B9D-765D-4FF7-BBE7-175937D17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8DF72AFD-FF2E-4F8C-A5F8-2983D02DF2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610E670-F230-43D3-8C06-D32D1915F58A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FB63506-4230-4E4F-935C-D2E634441A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86C9BDF-CE2F-4318-9663-C344AC343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32633948-4DA2-4FD7-A507-7E4815135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B28E90-6043-4BBD-997B-62BAAEC670B6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1BC8B4B-DA9A-4538-865A-A989AC3DF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87CA3CE-F17E-4363-B11A-5FFAE6310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28633CC4-06F2-4C33-AA67-794B4CE239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60962D-8D8B-491A-91EE-D65958501D14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1A1305FC-D322-46D4-9C65-DC5E0715DE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D3A3721-5D17-430B-B69D-80AB9B552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0007E453-B366-486F-BE19-AD70ED1DAC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121E34-1BDC-486B-A1E9-8BC2F55D20DA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6B89D08-A094-4F36-9851-43CAA12C59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AD748B5-83C6-45B0-9ED4-BE6911C5D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DE343C26-A325-48B3-8E66-8268D9199F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532E14-A7ED-46E3-9578-4DECFC08E276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7B0E33D-1B49-4B8F-8EA6-46E8659F0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EC26B63-0D9B-4CDB-BAF6-9E051723A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4BAED66F-39E7-48D1-A22E-72E56650A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1901A2-0F40-42B4-86B7-D853FBADAE96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9614E29-64E4-403D-9B1F-DD0D12F20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5F62BA9D-B709-44D7-B207-2202D4867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8750F53-C997-4D12-9E0A-F7DEABCD7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F90BFB-6E7B-42ED-AD99-51B99C961FAF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C9C5411-AC45-45E7-9882-1F8297362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00F1A702-B317-4D63-B0DD-8B2D0379E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21E5084-46B3-4209-8ADD-F1B44E24F4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A445D9E-FC88-40F1-BAA1-A41819948019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EA35463E-C3A3-4AB2-B6E1-FFCDE8662D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29C4530-82C8-4884-AFCE-FF72F933C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DFE5DFCE-9EEE-4BF0-9D86-8A427F84DF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C67941B-6DA2-4E18-ACE8-8B108408A268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49DB82D-4DFC-4022-B1A2-ABA0D75A4D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D163DC9-DCCA-4C77-AA6F-7F22B586C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F3C55FE-281C-43ED-88BC-7F4C1D21D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1CEDB1-84E8-4E06-AD82-F98BE2F91FFC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EE1573D-5858-4211-AD1E-81E4070F38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138B2A6-18D6-480D-95D2-F5B6916AD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224A7A02-0241-4DE8-B8F6-4AACA2E58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2B97FCA-6A77-413C-B44C-31282612C9AE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E533CF3-7621-40A3-AEFC-A2942E5DF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902A900-EE7C-4BED-91DC-40C682FDE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6DEA58-EC82-4B35-936A-FBA8EA9EB6C6}" type="slidenum">
              <a:rPr lang="en-US"/>
              <a:pPr/>
              <a:t>24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E5641004-26A9-47EE-949A-F080BA0DD0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FEF184-2856-4741-8C85-C2DC32757EE6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4B0C16B-E69C-4D9D-A133-223637909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7405B90-8B8B-405C-A2CF-9DC73FB89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FF9ED149-362C-48A9-8A7B-D49E5A652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8819025-A438-40AC-B924-075D08C16080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F1A6E25-C241-49B1-9E35-7CD266202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43BF54A-2AE9-41F0-8DD6-790FEB4CC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9120C20-C389-4B27-B31C-B741FBF6D1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B1E55F-A63A-4FDC-BF62-3D9D0FF71813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46DC757E-ADFE-4821-807F-50D477462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C41C4BB-166D-4D22-BAD6-FDBB29C28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D0D83-DEEB-4FEE-A101-7B56188C268C}" type="slidenum">
              <a:rPr lang="en-US"/>
              <a:pPr/>
              <a:t>28</a:t>
            </a:fld>
            <a:endParaRPr lang="en-US"/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8" name="Picture 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81000"/>
            <a:ext cx="899160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7467600" y="2560638"/>
            <a:ext cx="1143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C0C0C0">
                <a:alpha val="50000"/>
              </a:srgbClr>
            </a:outerShdw>
          </a:effectLst>
        </p:spPr>
        <p:txBody>
          <a:bodyPr lIns="0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b="1">
                <a:solidFill>
                  <a:srgbClr val="CC6600"/>
                </a:solidFill>
              </a:rPr>
              <a:t>ninth edition</a:t>
            </a:r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3175000" y="2879725"/>
            <a:ext cx="2438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969696"/>
                </a:solidFill>
              </a:rPr>
              <a:t>STEPHEN P. ROBBINS</a:t>
            </a:r>
          </a:p>
        </p:txBody>
      </p:sp>
      <p:sp>
        <p:nvSpPr>
          <p:cNvPr id="5143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3886200" y="3673475"/>
            <a:ext cx="4648200" cy="1752600"/>
          </a:xfrm>
        </p:spPr>
        <p:txBody>
          <a:bodyPr/>
          <a:lstStyle>
            <a:lvl1pPr>
              <a:defRPr>
                <a:solidFill>
                  <a:srgbClr val="CC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5" name="Rectangle 25"/>
          <p:cNvSpPr>
            <a:spLocks noGrp="1" noChangeArrowheads="1"/>
          </p:cNvSpPr>
          <p:nvPr>
            <p:ph type="ftr" sz="quarter" idx="3"/>
          </p:nvPr>
        </p:nvSpPr>
        <p:spPr>
          <a:xfrm>
            <a:off x="274638" y="6308725"/>
            <a:ext cx="2468562" cy="384175"/>
          </a:xfrm>
        </p:spPr>
        <p:txBody>
          <a:bodyPr lIns="91440" rIns="91440"/>
          <a:lstStyle>
            <a:lvl1pPr>
              <a:defRPr sz="9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© 2007 Prentice Hall, Inc. </a:t>
            </a:r>
            <a:br>
              <a:rPr lang="en-US"/>
            </a:br>
            <a:r>
              <a:rPr lang="en-US"/>
              <a:t>All rights reserved.</a:t>
            </a:r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6400800" y="6327775"/>
            <a:ext cx="25288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9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PowerPoint Presentation by Charlie Cook</a:t>
            </a:r>
            <a:br>
              <a:rPr lang="en-US" sz="9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9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University of West Alabama</a:t>
            </a:r>
          </a:p>
        </p:txBody>
      </p:sp>
      <p:pic>
        <p:nvPicPr>
          <p:cNvPr id="5147" name="Picture 27" descr="ph-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7363" y="6276975"/>
            <a:ext cx="549275" cy="414338"/>
          </a:xfrm>
          <a:prstGeom prst="rect">
            <a:avLst/>
          </a:prstGeom>
          <a:noFill/>
          <a:effectLst>
            <a:outerShdw dist="35921" dir="2700000" algn="ctr" rotWithShape="0">
              <a:schemeClr val="bg2"/>
            </a:outerShdw>
          </a:effectLst>
        </p:spPr>
      </p:pic>
      <p:sp>
        <p:nvSpPr>
          <p:cNvPr id="5149" name="Text Box 29"/>
          <p:cNvSpPr txBox="1">
            <a:spLocks noChangeArrowheads="1"/>
          </p:cNvSpPr>
          <p:nvPr/>
        </p:nvSpPr>
        <p:spPr bwMode="auto">
          <a:xfrm>
            <a:off x="6705600" y="2879725"/>
            <a:ext cx="20113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b="1">
                <a:solidFill>
                  <a:srgbClr val="969696"/>
                </a:solidFill>
              </a:rPr>
              <a:t>MARY COULTER</a:t>
            </a:r>
          </a:p>
        </p:txBody>
      </p:sp>
      <p:sp>
        <p:nvSpPr>
          <p:cNvPr id="5151" name="Rectangle 3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81200" y="3683000"/>
            <a:ext cx="17526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3366CC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DD723550-7164-4BB6-AAE0-D022FCF03C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3769A733-7F4D-4CFE-BD83-1827B6964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066800"/>
            <a:ext cx="39751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066800"/>
            <a:ext cx="39751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48D801B0-C4DD-4D85-BC4F-1B20CCDA2E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2667DD62-34E4-4B48-8E2C-BF1FF5456F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8242F6F9-E823-4A4D-8180-F2BCF03E29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CA727525-2410-42F5-B785-93144BE07D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7A87F15D-B6AB-4E3D-BB4D-AA6954AACD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97C286F1-7F23-45F2-B604-E50B46116B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9F28E59B-3808-4F92-B653-1BA986BCC4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81000"/>
            <a:ext cx="20256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245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2–</a:t>
            </a:r>
            <a:fld id="{0F715A07-9564-441E-8757-3D420132AF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066800"/>
            <a:ext cx="8102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172200"/>
            <a:ext cx="403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>
              <a:defRPr sz="1000" b="1"/>
            </a:lvl1pPr>
          </a:lstStyle>
          <a:p>
            <a:r>
              <a:rPr lang="en-US"/>
              <a:t>© 2007 Prentice Hall, Inc. All rights reserved. 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1722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 algn="r">
              <a:defRPr sz="1000" b="1">
                <a:cs typeface="Times New Roman" pitchFamily="18" charset="0"/>
              </a:defRPr>
            </a:lvl1pPr>
          </a:lstStyle>
          <a:p>
            <a:r>
              <a:rPr lang="en-US"/>
              <a:t>2–</a:t>
            </a:r>
            <a:fld id="{EBB0DAA8-4B69-47F1-80D8-1E1E9767853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9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9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9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9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9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25475" indent="-284163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Ø"/>
        <a:defRPr sz="2400">
          <a:solidFill>
            <a:srgbClr val="996633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974725" indent="-23495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v"/>
        <a:defRPr sz="20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311275" indent="-222250" algn="l" rtl="0" fontAlgn="base">
        <a:spcBef>
          <a:spcPct val="20000"/>
        </a:spcBef>
        <a:spcAft>
          <a:spcPct val="0"/>
        </a:spcAft>
        <a:buClr>
          <a:schemeClr val="bg2"/>
        </a:buClr>
        <a:buChar char="–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16573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1145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5717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0289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4861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rgbClr val="0100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8F66AA47-92AA-4AB6-9409-CC26F25D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828800"/>
            <a:ext cx="8001000" cy="2768600"/>
          </a:xfrm>
          <a:prstGeom prst="rect">
            <a:avLst/>
          </a:prstGeom>
          <a:solidFill>
            <a:srgbClr val="336699"/>
          </a:solidFill>
          <a:ln w="9525">
            <a:solidFill>
              <a:srgbClr val="99663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6000" b="1" dirty="0">
                <a:solidFill>
                  <a:schemeClr val="bg1"/>
                </a:solidFill>
                <a:latin typeface="Calibri" panose="020F0502020204030204" pitchFamily="34" charset="0"/>
              </a:rPr>
              <a:t>Organizational </a:t>
            </a:r>
          </a:p>
          <a:p>
            <a:pPr algn="ctr" eaLnBrk="1" hangingPunct="1"/>
            <a:r>
              <a:rPr lang="en-US" altLang="en-US" sz="6000" b="1" dirty="0">
                <a:solidFill>
                  <a:schemeClr val="bg1"/>
                </a:solidFill>
                <a:latin typeface="Calibri" panose="020F0502020204030204" pitchFamily="34" charset="0"/>
              </a:rPr>
              <a:t>Structure &amp; Design</a:t>
            </a:r>
          </a:p>
          <a:p>
            <a:pPr algn="ctr" eaLnBrk="1" hangingPunct="1"/>
            <a:endParaRPr lang="en-US" altLang="en-US" sz="1800" b="1" dirty="0">
              <a:solidFill>
                <a:schemeClr val="bg1"/>
              </a:solidFill>
            </a:endParaRPr>
          </a:p>
          <a:p>
            <a:pPr algn="ctr" eaLnBrk="1" hangingPunct="1"/>
            <a:r>
              <a:rPr lang="en-US" altLang="en-US" sz="1800" b="1" dirty="0">
                <a:solidFill>
                  <a:schemeClr val="bg1"/>
                </a:solidFill>
              </a:rPr>
              <a:t>Management by Robbins &amp; Coulter, Chapter 10 &amp; 11 (11</a:t>
            </a:r>
            <a:r>
              <a:rPr lang="en-US" altLang="en-US" sz="1800" b="1" baseline="30000" dirty="0">
                <a:solidFill>
                  <a:schemeClr val="bg1"/>
                </a:solidFill>
              </a:rPr>
              <a:t>th</a:t>
            </a:r>
            <a:r>
              <a:rPr lang="en-US" altLang="en-US" sz="1800" b="1" dirty="0">
                <a:solidFill>
                  <a:schemeClr val="bg1"/>
                </a:solidFill>
              </a:rPr>
              <a:t> Edition)</a:t>
            </a:r>
          </a:p>
          <a:p>
            <a:pPr algn="ctr" eaLnBrk="1" hangingPunct="1"/>
            <a:endParaRPr lang="en-US" altLang="en-US" sz="1800" b="1" dirty="0">
              <a:solidFill>
                <a:srgbClr val="336699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DDD0-B35B-4C32-A58F-85D3F3C8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Organization?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65E1A-AA24-4A67-9EB6-7CE28A97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295400"/>
            <a:ext cx="8102600" cy="4800600"/>
          </a:xfrm>
        </p:spPr>
        <p:txBody>
          <a:bodyPr/>
          <a:lstStyle/>
          <a:p>
            <a:r>
              <a:rPr lang="en-US" sz="2400" dirty="0"/>
              <a:t>A deliberate arrangement of people to accomplish some specific purpose (that individuals independently could not accomplish)</a:t>
            </a:r>
          </a:p>
          <a:p>
            <a:endParaRPr lang="en-US" sz="2400" dirty="0"/>
          </a:p>
          <a:p>
            <a:r>
              <a:rPr lang="en-US" sz="2400" dirty="0"/>
              <a:t>Common characteristics of organizations</a:t>
            </a:r>
          </a:p>
          <a:p>
            <a:pPr lvl="1"/>
            <a:r>
              <a:rPr lang="en-US" sz="2000" dirty="0"/>
              <a:t>Have a distinct purpose (goal)</a:t>
            </a:r>
          </a:p>
          <a:p>
            <a:pPr lvl="1"/>
            <a:r>
              <a:rPr lang="en-US" sz="2000" dirty="0"/>
              <a:t>Composed of people</a:t>
            </a:r>
          </a:p>
          <a:p>
            <a:pPr lvl="1"/>
            <a:r>
              <a:rPr lang="en-US" sz="2000" dirty="0"/>
              <a:t>Have a deliberate structure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endParaRPr lang="en-US" sz="2400" dirty="0"/>
          </a:p>
        </p:txBody>
      </p:sp>
      <p:pic>
        <p:nvPicPr>
          <p:cNvPr id="6" name="Picture 4" descr="BD20204_">
            <a:extLst>
              <a:ext uri="{FF2B5EF4-FFF2-40B4-BE49-F238E27FC236}">
                <a16:creationId xmlns:a16="http://schemas.microsoft.com/office/drawing/2014/main" id="{676BB5DB-2186-4526-90E5-EFE1D94A5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4038600"/>
            <a:ext cx="2581128" cy="1828801"/>
          </a:xfrm>
          <a:prstGeom prst="rect">
            <a:avLst/>
          </a:prstGeom>
          <a:noFill/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D0D1C85-61C9-4963-8FDD-2C63CBCF2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400800" y="6172200"/>
            <a:ext cx="22098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A17F5E-22A2-4CE2-A674-43A7FA25F8E0}" type="slidenum">
              <a:rPr lang="en-US" altLang="en-US" sz="1000"/>
              <a:pPr eaLnBrk="1" hangingPunct="1"/>
              <a:t>2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68107506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3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ED6EC937-D877-4738-AB0C-5993284C0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A17F5E-22A2-4CE2-A674-43A7FA25F8E0}" type="slidenum">
              <a:rPr lang="en-US" altLang="en-US" sz="1000"/>
              <a:pPr eaLnBrk="1" hangingPunct="1"/>
              <a:t>3</a:t>
            </a:fld>
            <a:endParaRPr lang="en-US" altLang="en-US" sz="1000"/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1F1B05AA-04F4-4B26-9CE7-9FA98CFC0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Organizational Structure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BD0C82C3-4ABA-4C1E-8948-1FB910514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1219200"/>
          </a:xfrm>
        </p:spPr>
        <p:txBody>
          <a:bodyPr/>
          <a:lstStyle/>
          <a:p>
            <a:pPr lvl="1" eaLnBrk="1" hangingPunct="1"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dirty="0"/>
              <a:t>The formal arrangement of jobs within an organization.</a:t>
            </a:r>
          </a:p>
        </p:txBody>
      </p:sp>
      <p:pic>
        <p:nvPicPr>
          <p:cNvPr id="4101" name="Picture 6" descr="simple-organizational-structure-8319451.jpg">
            <a:extLst>
              <a:ext uri="{FF2B5EF4-FFF2-40B4-BE49-F238E27FC236}">
                <a16:creationId xmlns:a16="http://schemas.microsoft.com/office/drawing/2014/main" id="{D018B0B6-D77A-445F-8A36-E8FB19E51E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67"/>
          <a:stretch>
            <a:fillRect/>
          </a:stretch>
        </p:blipFill>
        <p:spPr bwMode="auto">
          <a:xfrm>
            <a:off x="2135981" y="2567368"/>
            <a:ext cx="487203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30051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0BD7FBAD-ED1A-4910-944C-5616E1779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F8B293-21BD-4F04-B36D-7DEF44992F34}" type="slidenum">
              <a:rPr lang="en-US" altLang="en-US" sz="1000"/>
              <a:pPr eaLnBrk="1" hangingPunct="1"/>
              <a:t>4</a:t>
            </a:fld>
            <a:endParaRPr lang="en-US" altLang="en-US" sz="1000"/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FCD22706-15E7-4B6D-B399-55604E6E9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563562"/>
            <a:ext cx="8077200" cy="57943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Organizational Design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3D07CA32-419B-4E79-BD3A-03EA9AC58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6868" y="1452562"/>
            <a:ext cx="8229600" cy="3657600"/>
          </a:xfrm>
        </p:spPr>
        <p:txBody>
          <a:bodyPr/>
          <a:lstStyle/>
          <a:p>
            <a:pPr lvl="1" eaLnBrk="1" hangingPunct="1">
              <a:spcBef>
                <a:spcPct val="35000"/>
              </a:spcBef>
              <a:buFont typeface="Wingdings" panose="05000000000000000000" pitchFamily="2" charset="2"/>
              <a:buNone/>
              <a:defRPr/>
            </a:pPr>
            <a:r>
              <a:rPr lang="en-US" dirty="0"/>
              <a:t>A process involving decisions about six key elements: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Work specialization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Departmentalization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Chain of command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Span of control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Centralization and decentralization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Formalization</a:t>
            </a:r>
          </a:p>
        </p:txBody>
      </p:sp>
      <p:pic>
        <p:nvPicPr>
          <p:cNvPr id="5125" name="Picture 5" descr="images.jpg">
            <a:extLst>
              <a:ext uri="{FF2B5EF4-FFF2-40B4-BE49-F238E27FC236}">
                <a16:creationId xmlns:a16="http://schemas.microsoft.com/office/drawing/2014/main" id="{90CE696E-4024-402F-916D-F7B1A832A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14800"/>
            <a:ext cx="229552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30051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0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00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>
            <a:extLst>
              <a:ext uri="{FF2B5EF4-FFF2-40B4-BE49-F238E27FC236}">
                <a16:creationId xmlns:a16="http://schemas.microsoft.com/office/drawing/2014/main" id="{593B1B04-4D3A-4C41-B444-6FE6FB13A1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1A54D2-1307-4C49-AE09-6493D539B787}" type="slidenum">
              <a:rPr lang="en-US" altLang="en-US" sz="1000"/>
              <a:pPr eaLnBrk="1" hangingPunct="1"/>
              <a:t>5</a:t>
            </a:fld>
            <a:endParaRPr lang="en-US" altLang="en-US" sz="1000"/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0FD2D825-D765-47E7-AC7F-813B4F0F2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Work Specialization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51959C94-2161-4E4A-92E7-25D68A619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52400" y="1524000"/>
            <a:ext cx="8839200" cy="1447800"/>
          </a:xfrm>
        </p:spPr>
        <p:txBody>
          <a:bodyPr/>
          <a:lstStyle/>
          <a:p>
            <a:pPr marL="739775" lvl="2" indent="0" algn="ctr">
              <a:buNone/>
              <a:defRPr/>
            </a:pPr>
            <a:r>
              <a:rPr lang="en-US" sz="2400" dirty="0">
                <a:solidFill>
                  <a:srgbClr val="996633"/>
                </a:solidFill>
              </a:rPr>
              <a:t>The degree to which tasks in the organization are divided into separate jobs with each step completed by a different person</a:t>
            </a:r>
            <a:r>
              <a:rPr lang="en-US" dirty="0"/>
              <a:t>.</a:t>
            </a:r>
          </a:p>
        </p:txBody>
      </p:sp>
      <p:pic>
        <p:nvPicPr>
          <p:cNvPr id="6149" name="Picture 6" descr="2.45_102224.jpg">
            <a:extLst>
              <a:ext uri="{FF2B5EF4-FFF2-40B4-BE49-F238E27FC236}">
                <a16:creationId xmlns:a16="http://schemas.microsoft.com/office/drawing/2014/main" id="{6B5BA405-E64D-4210-8DDB-019A828A1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9" b="9712"/>
          <a:stretch>
            <a:fillRect/>
          </a:stretch>
        </p:blipFill>
        <p:spPr bwMode="auto">
          <a:xfrm>
            <a:off x="2494429" y="3859568"/>
            <a:ext cx="415514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34147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6BBA9FE7-CE99-498C-A36A-AF7AD60244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3DCF96-D2BC-4B90-8FB6-7EB860BE0460}" type="slidenum">
              <a:rPr lang="en-US" altLang="en-US" sz="1000"/>
              <a:pPr eaLnBrk="1" hangingPunct="1"/>
              <a:t>6</a:t>
            </a:fld>
            <a:endParaRPr lang="en-US" altLang="en-US" sz="1000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AF63E21E-049D-432A-83D6-AED89BFBB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1226344"/>
            <a:ext cx="8102600" cy="1447800"/>
          </a:xfrm>
        </p:spPr>
        <p:txBody>
          <a:bodyPr/>
          <a:lstStyle/>
          <a:p>
            <a:pPr lvl="1"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Overspecialization can result in human diseconomies from boredom, fatigue, stress, poor quality and  increased absenteeism.</a:t>
            </a:r>
          </a:p>
        </p:txBody>
      </p:sp>
      <p:pic>
        <p:nvPicPr>
          <p:cNvPr id="7172" name="Picture 24" descr="PE06637_">
            <a:extLst>
              <a:ext uri="{FF2B5EF4-FFF2-40B4-BE49-F238E27FC236}">
                <a16:creationId xmlns:a16="http://schemas.microsoft.com/office/drawing/2014/main" id="{47539251-9310-4A42-9D75-7B60EE6AA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429000"/>
            <a:ext cx="26670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678576A-1282-471E-9A4A-7D5AE5D28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Work Specialization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34147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41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41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ED44ED9B-32D6-4036-BBEF-8A62CFD0A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7755DF-413B-40E5-8FD8-02E9C6928A21}" type="slidenum">
              <a:rPr lang="en-US" altLang="en-US" sz="1000"/>
              <a:pPr eaLnBrk="1" hangingPunct="1"/>
              <a:t>7</a:t>
            </a:fld>
            <a:endParaRPr lang="en-US" altLang="en-US" sz="1000" dirty="0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C544F639-B08C-4AB0-84CC-EBE710792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Departmentalization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820B2F8-B4A2-4E8B-9B9F-9CD715D885E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399" y="1219200"/>
            <a:ext cx="7620001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/>
              <a:t>Functional 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Grouping jobs by functions performed</a:t>
            </a:r>
          </a:p>
          <a:p>
            <a:pPr marL="341312" lvl="1" indent="0" eaLnBrk="1" hangingPunct="1">
              <a:buNone/>
              <a:defRPr/>
            </a:pPr>
            <a:endParaRPr lang="en-US" sz="1100" b="1" dirty="0"/>
          </a:p>
          <a:p>
            <a:pPr eaLnBrk="1" hangingPunct="1">
              <a:defRPr/>
            </a:pPr>
            <a:r>
              <a:rPr lang="en-US" sz="2400" b="1" dirty="0"/>
              <a:t>Product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Grouping jobs by product line</a:t>
            </a:r>
          </a:p>
          <a:p>
            <a:pPr marL="341312" lvl="1" indent="0" eaLnBrk="1" hangingPunct="1">
              <a:buNone/>
              <a:defRPr/>
            </a:pPr>
            <a:endParaRPr lang="en-US" sz="1100" b="1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sz="2400" b="1" dirty="0"/>
              <a:t>Geographical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Grouping jobs on the basis of territory or geography</a:t>
            </a:r>
          </a:p>
          <a:p>
            <a:pPr marL="341312" lvl="1" indent="0" eaLnBrk="1" hangingPunct="1">
              <a:buNone/>
              <a:defRPr/>
            </a:pPr>
            <a:endParaRPr lang="en-US" sz="1100" dirty="0"/>
          </a:p>
          <a:p>
            <a:pPr eaLnBrk="1" hangingPunct="1">
              <a:defRPr/>
            </a:pPr>
            <a:r>
              <a:rPr lang="en-US" sz="2400" b="1" dirty="0"/>
              <a:t>Process 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Grouping jobs on the basis of product or customer flow</a:t>
            </a:r>
          </a:p>
          <a:p>
            <a:pPr marL="341312" lvl="1" indent="0" eaLnBrk="1" hangingPunct="1">
              <a:buNone/>
              <a:defRPr/>
            </a:pPr>
            <a:endParaRPr lang="en-US" sz="1100" dirty="0"/>
          </a:p>
          <a:p>
            <a:pPr eaLnBrk="1" hangingPunct="1">
              <a:defRPr/>
            </a:pPr>
            <a:r>
              <a:rPr lang="en-US" sz="2400" b="1" dirty="0"/>
              <a:t>Customer</a:t>
            </a:r>
          </a:p>
          <a:p>
            <a:pPr lvl="1" eaLnBrk="1" hangingPunct="1">
              <a:defRPr/>
            </a:pPr>
            <a:r>
              <a:rPr lang="en-US" sz="2000" dirty="0">
                <a:solidFill>
                  <a:schemeClr val="tx1"/>
                </a:solidFill>
              </a:rPr>
              <a:t>Grouping jobs by type of customer and needs</a:t>
            </a:r>
          </a:p>
          <a:p>
            <a:pPr marL="341312" lvl="1" indent="0" eaLnBrk="1" hangingPunct="1">
              <a:buNone/>
              <a:defRPr/>
            </a:pPr>
            <a:endParaRPr lang="en-US" sz="2000" b="1" dirty="0"/>
          </a:p>
        </p:txBody>
      </p:sp>
      <p:pic>
        <p:nvPicPr>
          <p:cNvPr id="8197" name="Picture 5" descr="banner-geography.jpg">
            <a:extLst>
              <a:ext uri="{FF2B5EF4-FFF2-40B4-BE49-F238E27FC236}">
                <a16:creationId xmlns:a16="http://schemas.microsoft.com/office/drawing/2014/main" id="{33418C7B-B3D7-421E-86FB-E82FDD1853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86"/>
          <a:stretch/>
        </p:blipFill>
        <p:spPr bwMode="auto">
          <a:xfrm>
            <a:off x="7647586" y="1488818"/>
            <a:ext cx="1086222" cy="76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 descr="cross-functional-1024x1024.jpg">
            <a:extLst>
              <a:ext uri="{FF2B5EF4-FFF2-40B4-BE49-F238E27FC236}">
                <a16:creationId xmlns:a16="http://schemas.microsoft.com/office/drawing/2014/main" id="{512E7955-F07B-43B1-8819-FF74FC0AF6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19"/>
          <a:stretch/>
        </p:blipFill>
        <p:spPr bwMode="auto">
          <a:xfrm>
            <a:off x="7653504" y="381000"/>
            <a:ext cx="1137770" cy="78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8" descr="stock-photo-product-word-cloud-business-concept-280178585.jpg">
            <a:extLst>
              <a:ext uri="{FF2B5EF4-FFF2-40B4-BE49-F238E27FC236}">
                <a16:creationId xmlns:a16="http://schemas.microsoft.com/office/drawing/2014/main" id="{3C0B4F3D-1AA9-4129-827B-3FB936FDA4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9"/>
          <a:stretch>
            <a:fillRect/>
          </a:stretch>
        </p:blipFill>
        <p:spPr bwMode="auto">
          <a:xfrm>
            <a:off x="6496235" y="1005732"/>
            <a:ext cx="1086223" cy="78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stock-vector-process-word-cloud-business-concept-252572524.jpg">
            <a:extLst>
              <a:ext uri="{FF2B5EF4-FFF2-40B4-BE49-F238E27FC236}">
                <a16:creationId xmlns:a16="http://schemas.microsoft.com/office/drawing/2014/main" id="{15924C43-9600-454F-B6EA-12296859907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/>
        </p:blipFill>
        <p:spPr bwMode="auto">
          <a:xfrm>
            <a:off x="6477000" y="2108603"/>
            <a:ext cx="108622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stock-vector-customer-word-cloud-business-concept-254121730.jpg">
            <a:extLst>
              <a:ext uri="{FF2B5EF4-FFF2-40B4-BE49-F238E27FC236}">
                <a16:creationId xmlns:a16="http://schemas.microsoft.com/office/drawing/2014/main" id="{EAAD386F-6B3B-4EBD-93B9-8CA067B93A3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/>
        </p:blipFill>
        <p:spPr bwMode="auto">
          <a:xfrm>
            <a:off x="7647586" y="2635194"/>
            <a:ext cx="1086222" cy="793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C396DB61-7E9E-44F1-A9C4-4FD656F369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659A58-6443-4B0F-81D0-2E507A57A4DD}" type="slidenum">
              <a:rPr lang="en-US" altLang="en-US" sz="1000"/>
              <a:pPr eaLnBrk="1" hangingPunct="1"/>
              <a:t>8</a:t>
            </a:fld>
            <a:endParaRPr lang="en-US" altLang="en-US" sz="10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12FBE477-CA1C-480E-B230-6CD70A153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830262"/>
          </a:xfrm>
        </p:spPr>
        <p:txBody>
          <a:bodyPr/>
          <a:lstStyle/>
          <a:p>
            <a:pPr marL="1597025" indent="-1597025" eaLnBrk="1" hangingPunct="1">
              <a:defRPr/>
            </a:pPr>
            <a:r>
              <a:rPr lang="en-US" sz="2400" dirty="0"/>
              <a:t>Functional Departmentalization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499CDD10-9A68-4E1C-A62A-5612C26F3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45" name="Line 4">
            <a:extLst>
              <a:ext uri="{FF2B5EF4-FFF2-40B4-BE49-F238E27FC236}">
                <a16:creationId xmlns:a16="http://schemas.microsoft.com/office/drawing/2014/main" id="{BB63A4D1-83AC-4579-9716-FBA4088F50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0246" name="Picture 5">
            <a:extLst>
              <a:ext uri="{FF2B5EF4-FFF2-40B4-BE49-F238E27FC236}">
                <a16:creationId xmlns:a16="http://schemas.microsoft.com/office/drawing/2014/main" id="{5BA462BD-A6F6-4D42-8C73-8D0D81D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42326"/>
            <a:ext cx="8077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7">
            <a:extLst>
              <a:ext uri="{FF2B5EF4-FFF2-40B4-BE49-F238E27FC236}">
                <a16:creationId xmlns:a16="http://schemas.microsoft.com/office/drawing/2014/main" id="{DB31E7DC-03DE-4E47-A7D2-F33A442CC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428" y="3760285"/>
            <a:ext cx="7730971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19063" indent="-119063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3225" indent="-1206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2575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 Efficiencies from putting together similar specialties and people with     common skills, knowledge, and orientations</a:t>
            </a:r>
          </a:p>
          <a:p>
            <a:pPr marL="282575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 Coordination within functional area</a:t>
            </a:r>
          </a:p>
          <a:p>
            <a:pPr marL="282575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 In-depth specialization</a:t>
            </a:r>
          </a:p>
          <a:p>
            <a:pPr marL="282575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</a:t>
            </a:r>
            <a:r>
              <a:rPr lang="en-US" altLang="en-US" sz="1600" b="1" dirty="0">
                <a:solidFill>
                  <a:srgbClr val="C00000"/>
                </a:solidFill>
              </a:rPr>
              <a:t> </a:t>
            </a:r>
            <a:r>
              <a:rPr lang="en-US" altLang="en-US" sz="1600" b="1" dirty="0"/>
              <a:t>Poor communication across functional areas</a:t>
            </a:r>
          </a:p>
          <a:p>
            <a:pPr marL="282575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</a:t>
            </a:r>
            <a:r>
              <a:rPr lang="en-US" altLang="en-US" sz="1600" b="1" dirty="0"/>
              <a:t> Limited view of organizational goals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EE696585-EDB7-4ABA-8A55-E6B6969EFA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1E85886-1732-415D-A11C-FE0AE6E450A6}" type="slidenum">
              <a:rPr lang="en-US" altLang="en-US" sz="1000"/>
              <a:pPr eaLnBrk="1" hangingPunct="1"/>
              <a:t>9</a:t>
            </a:fld>
            <a:endParaRPr lang="en-US" altLang="en-US" sz="1000"/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2F752AAE-C6DC-46A8-9247-AF70C2AA6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830262"/>
          </a:xfrm>
        </p:spPr>
        <p:txBody>
          <a:bodyPr/>
          <a:lstStyle/>
          <a:p>
            <a:pPr marL="1597025" indent="-1597025" eaLnBrk="1" hangingPunct="1">
              <a:tabLst>
                <a:tab pos="2511425" algn="l"/>
              </a:tabLst>
              <a:defRPr/>
            </a:pPr>
            <a:r>
              <a:rPr lang="en-US" sz="2400" dirty="0"/>
              <a:t>Product Departmentalization    	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053CFC3A-A48A-4292-9AB3-598DABFAA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69" name="Line 4">
            <a:extLst>
              <a:ext uri="{FF2B5EF4-FFF2-40B4-BE49-F238E27FC236}">
                <a16:creationId xmlns:a16="http://schemas.microsoft.com/office/drawing/2014/main" id="{933C3BBA-5457-4392-8BE1-B63BB2C35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1270" name="Picture 5">
            <a:extLst>
              <a:ext uri="{FF2B5EF4-FFF2-40B4-BE49-F238E27FC236}">
                <a16:creationId xmlns:a16="http://schemas.microsoft.com/office/drawing/2014/main" id="{82DC50A2-A408-4419-BAA5-74C6BAFA5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80772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 Box 6">
            <a:extLst>
              <a:ext uri="{FF2B5EF4-FFF2-40B4-BE49-F238E27FC236}">
                <a16:creationId xmlns:a16="http://schemas.microsoft.com/office/drawing/2014/main" id="{97208D2B-8ED4-430D-BE5E-232E1694B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643884"/>
            <a:ext cx="6264275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	Allows specialization in particular products and services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	Managers can become experts in their industry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	Closer to customers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</a:t>
            </a:r>
            <a:r>
              <a:rPr lang="en-US" altLang="en-US" sz="1600" b="1" dirty="0">
                <a:cs typeface="Arial" panose="020B0604020202020204" pitchFamily="34" charset="0"/>
              </a:rPr>
              <a:t>	</a:t>
            </a:r>
            <a:r>
              <a:rPr lang="en-US" altLang="en-US" sz="1600" b="1" dirty="0"/>
              <a:t>Duplication of functions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</a:t>
            </a:r>
            <a:r>
              <a:rPr lang="en-US" altLang="en-US" sz="1600" b="1" dirty="0">
                <a:cs typeface="Arial" panose="020B0604020202020204" pitchFamily="34" charset="0"/>
              </a:rPr>
              <a:t>	</a:t>
            </a:r>
            <a:r>
              <a:rPr lang="en-US" altLang="en-US" sz="1600" b="1" dirty="0"/>
              <a:t>Limited view of organizational goals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4675F68C-BA6C-402B-8C54-D0DD232D4A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C18E9B4-7BA6-48A1-8E3D-5F8E8D233FE4}" type="slidenum">
              <a:rPr lang="en-US" altLang="en-US" sz="1000"/>
              <a:pPr eaLnBrk="1" hangingPunct="1"/>
              <a:t>10</a:t>
            </a:fld>
            <a:endParaRPr lang="en-US" altLang="en-US" sz="1000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86C9189D-9BF5-4716-A89F-F666E7B15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461962"/>
          </a:xfrm>
        </p:spPr>
        <p:txBody>
          <a:bodyPr/>
          <a:lstStyle/>
          <a:p>
            <a:pPr marL="1597025" indent="-1597025" eaLnBrk="1" hangingPunct="1">
              <a:tabLst>
                <a:tab pos="2511425" algn="l"/>
              </a:tabLst>
              <a:defRPr/>
            </a:pPr>
            <a:r>
              <a:rPr lang="en-US" sz="2400" dirty="0"/>
              <a:t>Geographical Departmentalization</a:t>
            </a:r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8DCE4116-334E-4F82-8588-8C3B2C193B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293" name="Line 4">
            <a:extLst>
              <a:ext uri="{FF2B5EF4-FFF2-40B4-BE49-F238E27FC236}">
                <a16:creationId xmlns:a16="http://schemas.microsoft.com/office/drawing/2014/main" id="{7FA893B6-5563-4C59-BE5D-C7F0880E3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2294" name="Picture 5">
            <a:extLst>
              <a:ext uri="{FF2B5EF4-FFF2-40B4-BE49-F238E27FC236}">
                <a16:creationId xmlns:a16="http://schemas.microsoft.com/office/drawing/2014/main" id="{AE1F220F-2188-4B2A-B6E0-F2B1FD855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8077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6">
            <a:extLst>
              <a:ext uri="{FF2B5EF4-FFF2-40B4-BE49-F238E27FC236}">
                <a16:creationId xmlns:a16="http://schemas.microsoft.com/office/drawing/2014/main" id="{8FE64AB6-DCF0-4D92-B79B-2EADD5729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72" y="4038600"/>
            <a:ext cx="8229600" cy="129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63550" indent="-12065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 </a:t>
            </a:r>
            <a:r>
              <a:rPr lang="en-US" altLang="en-US" sz="1600" b="1" dirty="0"/>
              <a:t>More effective and efficient handling of specific regional issues that arise</a:t>
            </a:r>
          </a:p>
          <a:p>
            <a:pPr marL="342900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 </a:t>
            </a:r>
            <a:r>
              <a:rPr lang="en-US" altLang="en-US" sz="1600" b="1" dirty="0"/>
              <a:t>Serve needs of unique geographic markets better</a:t>
            </a:r>
          </a:p>
          <a:p>
            <a:pPr marL="342900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 </a:t>
            </a:r>
            <a:r>
              <a:rPr lang="en-US" altLang="en-US" sz="1600" b="1" dirty="0"/>
              <a:t>Duplication of functions</a:t>
            </a:r>
          </a:p>
          <a:p>
            <a:pPr marL="342900" lvl="1" indent="0"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 </a:t>
            </a:r>
            <a:r>
              <a:rPr lang="en-US" altLang="en-US" sz="1600" b="1" dirty="0"/>
              <a:t>Can feel isolated from other organizational areas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5661A3A1-6C63-4CD3-9BC9-911B35AFF1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150272-2A10-4B2F-BDF7-0BE1ADB21D2C}" type="slidenum">
              <a:rPr lang="en-US" altLang="en-US" sz="1000"/>
              <a:pPr eaLnBrk="1" hangingPunct="1"/>
              <a:t>11</a:t>
            </a:fld>
            <a:endParaRPr lang="en-US" altLang="en-US" sz="1000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6EEDF090-EC6A-4904-B5A8-8F428874A9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830262"/>
          </a:xfrm>
        </p:spPr>
        <p:txBody>
          <a:bodyPr/>
          <a:lstStyle/>
          <a:p>
            <a:pPr marL="1597025" indent="-1597025" eaLnBrk="1" hangingPunct="1">
              <a:tabLst>
                <a:tab pos="2511425" algn="l"/>
              </a:tabLst>
              <a:defRPr/>
            </a:pPr>
            <a:r>
              <a:rPr lang="en-US" sz="2400" dirty="0"/>
              <a:t>Process Departmentalization	</a:t>
            </a:r>
            <a:r>
              <a:rPr lang="en-US" sz="2400" dirty="0">
                <a:solidFill>
                  <a:srgbClr val="FF0000"/>
                </a:solidFill>
              </a:rPr>
              <a:t/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AE62C391-8F93-4A48-9E5C-C70AA022B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317" name="Line 4">
            <a:extLst>
              <a:ext uri="{FF2B5EF4-FFF2-40B4-BE49-F238E27FC236}">
                <a16:creationId xmlns:a16="http://schemas.microsoft.com/office/drawing/2014/main" id="{6EC68EA4-A4C7-4F47-9745-631C8EF10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3318" name="Picture 5">
            <a:extLst>
              <a:ext uri="{FF2B5EF4-FFF2-40B4-BE49-F238E27FC236}">
                <a16:creationId xmlns:a16="http://schemas.microsoft.com/office/drawing/2014/main" id="{F885D482-5351-4027-BF79-5CB37A2FA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89612"/>
            <a:ext cx="8077200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 Box 6">
            <a:extLst>
              <a:ext uri="{FF2B5EF4-FFF2-40B4-BE49-F238E27FC236}">
                <a16:creationId xmlns:a16="http://schemas.microsoft.com/office/drawing/2014/main" id="{C7766868-212F-4365-A424-B2FE8876D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4069025"/>
            <a:ext cx="553085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 </a:t>
            </a:r>
            <a:r>
              <a:rPr lang="en-US" altLang="en-US" sz="1600" b="1" dirty="0"/>
              <a:t>	More efficient flow of work activities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 </a:t>
            </a:r>
            <a:r>
              <a:rPr lang="en-US" altLang="en-US" sz="1600" b="1" dirty="0">
                <a:cs typeface="Arial" panose="020B0604020202020204" pitchFamily="34" charset="0"/>
              </a:rPr>
              <a:t>	</a:t>
            </a:r>
            <a:r>
              <a:rPr lang="en-US" altLang="en-US" sz="1600" b="1" dirty="0"/>
              <a:t>Can only be used with certain types of products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E0E0399A-DAE0-4C6F-A002-6A59097C22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EB4526-06ED-40B2-B4D5-3064255E7444}" type="slidenum">
              <a:rPr lang="en-US" altLang="en-US" sz="1000"/>
              <a:pPr eaLnBrk="1" hangingPunct="1"/>
              <a:t>12</a:t>
            </a:fld>
            <a:endParaRPr lang="en-US" altLang="en-US" sz="1000"/>
          </a:p>
        </p:txBody>
      </p:sp>
      <p:sp>
        <p:nvSpPr>
          <p:cNvPr id="205826" name="Rectangle 2">
            <a:extLst>
              <a:ext uri="{FF2B5EF4-FFF2-40B4-BE49-F238E27FC236}">
                <a16:creationId xmlns:a16="http://schemas.microsoft.com/office/drawing/2014/main" id="{53F9479B-CCF4-41DF-8B7B-70DAB6D08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461962"/>
          </a:xfrm>
        </p:spPr>
        <p:txBody>
          <a:bodyPr/>
          <a:lstStyle/>
          <a:p>
            <a:pPr marL="1597025" indent="-1597025" eaLnBrk="1" hangingPunct="1">
              <a:tabLst>
                <a:tab pos="2511425" algn="l"/>
              </a:tabLst>
              <a:defRPr/>
            </a:pPr>
            <a:r>
              <a:rPr lang="en-US" sz="2400" dirty="0"/>
              <a:t>Customer Departmentalization</a:t>
            </a:r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C710674F-73D3-42E2-9C3E-729567C8A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341" name="Line 4">
            <a:extLst>
              <a:ext uri="{FF2B5EF4-FFF2-40B4-BE49-F238E27FC236}">
                <a16:creationId xmlns:a16="http://schemas.microsoft.com/office/drawing/2014/main" id="{FA8038EE-CA05-4D72-9ACB-04F552FDAD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4342" name="Picture 5">
            <a:extLst>
              <a:ext uri="{FF2B5EF4-FFF2-40B4-BE49-F238E27FC236}">
                <a16:creationId xmlns:a16="http://schemas.microsoft.com/office/drawing/2014/main" id="{C4305C1F-F83D-451E-9AC0-6968B97B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981200"/>
            <a:ext cx="721995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 Box 6">
            <a:extLst>
              <a:ext uri="{FF2B5EF4-FFF2-40B4-BE49-F238E27FC236}">
                <a16:creationId xmlns:a16="http://schemas.microsoft.com/office/drawing/2014/main" id="{B03B782B-E9D3-44B4-B023-74A2999F1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81449"/>
            <a:ext cx="641667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chemeClr val="accent1"/>
                </a:solidFill>
              </a:rPr>
              <a:t>+</a:t>
            </a:r>
            <a:r>
              <a:rPr lang="en-US" altLang="en-US" sz="1600" b="1" dirty="0"/>
              <a:t> Customers’ needs and problems can be met by specialists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</a:t>
            </a:r>
            <a:r>
              <a:rPr lang="en-US" altLang="en-US" sz="1600" b="1" dirty="0"/>
              <a:t> Duplication of functions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en-US" sz="1600" b="1" dirty="0">
                <a:solidFill>
                  <a:srgbClr val="C00000"/>
                </a:solidFill>
                <a:cs typeface="Arial" panose="020B0604020202020204" pitchFamily="34" charset="0"/>
              </a:rPr>
              <a:t>– </a:t>
            </a:r>
            <a:r>
              <a:rPr lang="en-US" altLang="en-US" sz="1600" b="1" dirty="0"/>
              <a:t>Limited view of organizational goals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8A664A51-4014-4C74-959D-B0F6D2199B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6AEDF6-BE0E-4399-A80B-7B1B544C4323}" type="slidenum">
              <a:rPr lang="en-US" altLang="en-US" sz="1000"/>
              <a:pPr eaLnBrk="1" hangingPunct="1"/>
              <a:t>13</a:t>
            </a:fld>
            <a:endParaRPr lang="en-US" altLang="en-US" sz="100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DE3EB074-6B37-4921-AC37-EE137E035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Chain of Command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9FF81D0A-46FC-4A41-BE23-5868937D5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The continuous line of authority </a:t>
            </a:r>
            <a:r>
              <a:rPr lang="en-US" dirty="0" smtClean="0"/>
              <a:t>extends </a:t>
            </a:r>
            <a:r>
              <a:rPr lang="en-US" dirty="0"/>
              <a:t>from </a:t>
            </a:r>
            <a:r>
              <a:rPr lang="en-US" dirty="0" smtClean="0"/>
              <a:t>the upper </a:t>
            </a:r>
            <a:r>
              <a:rPr lang="en-US" dirty="0"/>
              <a:t>levels of an organization to the lowest levels of the organization and clarifies who reports to </a:t>
            </a:r>
            <a:r>
              <a:rPr lang="en-US" dirty="0" smtClean="0"/>
              <a:t>whom.</a:t>
            </a:r>
            <a:endParaRPr lang="en-US" dirty="0"/>
          </a:p>
          <a:p>
            <a:pPr marL="341312" lvl="1" indent="0" eaLnBrk="1" hangingPunct="1">
              <a:buNone/>
              <a:defRPr/>
            </a:pPr>
            <a:endParaRPr lang="en-US" dirty="0"/>
          </a:p>
        </p:txBody>
      </p:sp>
      <p:pic>
        <p:nvPicPr>
          <p:cNvPr id="15365" name="Picture 4" descr="j0090344">
            <a:extLst>
              <a:ext uri="{FF2B5EF4-FFF2-40B4-BE49-F238E27FC236}">
                <a16:creationId xmlns:a16="http://schemas.microsoft.com/office/drawing/2014/main" id="{ED90FA24-82F7-48C1-9137-3D5F87520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429000"/>
            <a:ext cx="3335338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 descr="linkchain380x260_crop380w_crop380w.jpg">
            <a:extLst>
              <a:ext uri="{FF2B5EF4-FFF2-40B4-BE49-F238E27FC236}">
                <a16:creationId xmlns:a16="http://schemas.microsoft.com/office/drawing/2014/main" id="{BBFDDFF3-936A-4ABF-ABB2-960FA2A6E7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301148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48483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84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848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84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848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84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848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84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848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84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848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859E1F90-B14C-47FF-96E0-F591DCBCE4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23F04C4-A0F1-4F5E-AD6E-1C7058F3FE29}" type="slidenum">
              <a:rPr lang="en-US" altLang="en-US" sz="1000"/>
              <a:pPr eaLnBrk="1" hangingPunct="1"/>
              <a:t>14</a:t>
            </a:fld>
            <a:endParaRPr lang="en-US" altLang="en-US" sz="10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FC6DBF06-959D-473E-8E86-7CFDB01AA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defRPr/>
            </a:pPr>
            <a:r>
              <a:rPr lang="en-US" dirty="0"/>
              <a:t>Span of Control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6C598FF0-81A3-4D39-9400-89733EDEF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spcBef>
                <a:spcPct val="30000"/>
              </a:spcBef>
              <a:defRPr/>
            </a:pPr>
            <a:r>
              <a:rPr lang="en-US" dirty="0"/>
              <a:t>The number of employees who can be effectively and efficiently supervised by a manager.</a:t>
            </a:r>
          </a:p>
          <a:p>
            <a:pPr lvl="1" eaLnBrk="1" hangingPunct="1"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lvl="1" eaLnBrk="1" hangingPunct="1">
              <a:spcBef>
                <a:spcPct val="30000"/>
              </a:spcBef>
              <a:defRPr/>
            </a:pPr>
            <a:r>
              <a:rPr lang="en-US" dirty="0"/>
              <a:t>Width of span is affected by: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Skills and abilities of the manager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Employee characteristics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Characteristics of the work being done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Similarity of tasks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Complexity of tasks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Physical proximity of subordinates</a:t>
            </a:r>
          </a:p>
          <a:p>
            <a:pPr lvl="2" eaLnBrk="1" hangingPunct="1">
              <a:spcBef>
                <a:spcPct val="30000"/>
              </a:spcBef>
              <a:defRPr/>
            </a:pPr>
            <a:r>
              <a:rPr lang="en-US" dirty="0"/>
              <a:t>Standardization of tasks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52579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5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257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5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257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5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257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5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257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25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25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43ADBDC5-AD45-47C1-820B-7ABD5E61DD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B2AA25-D549-4238-8EC3-BE725DCA3755}" type="slidenum">
              <a:rPr lang="en-US" altLang="en-US" sz="1000"/>
              <a:pPr eaLnBrk="1" hangingPunct="1"/>
              <a:t>15</a:t>
            </a:fld>
            <a:endParaRPr lang="en-US" altLang="en-US" sz="10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B92D402E-C8A9-4F82-B5C1-B0F3352DC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400050"/>
          </a:xfrm>
        </p:spPr>
        <p:txBody>
          <a:bodyPr/>
          <a:lstStyle/>
          <a:p>
            <a:pPr marL="1597025" indent="-1597025" eaLnBrk="1" hangingPunct="1">
              <a:defRPr/>
            </a:pPr>
            <a:r>
              <a:rPr lang="en-US" sz="2000" dirty="0"/>
              <a:t>Contrasting Spans of Control</a:t>
            </a:r>
          </a:p>
        </p:txBody>
      </p:sp>
      <p:sp>
        <p:nvSpPr>
          <p:cNvPr id="17412" name="Line 3">
            <a:extLst>
              <a:ext uri="{FF2B5EF4-FFF2-40B4-BE49-F238E27FC236}">
                <a16:creationId xmlns:a16="http://schemas.microsoft.com/office/drawing/2014/main" id="{53F65BA1-6782-4E56-990C-8F040AF82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9906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3" name="Line 4">
            <a:extLst>
              <a:ext uri="{FF2B5EF4-FFF2-40B4-BE49-F238E27FC236}">
                <a16:creationId xmlns:a16="http://schemas.microsoft.com/office/drawing/2014/main" id="{4BE74D94-D8BC-42BC-8CDA-6E0F4A632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7414" name="Picture 5">
            <a:extLst>
              <a:ext uri="{FF2B5EF4-FFF2-40B4-BE49-F238E27FC236}">
                <a16:creationId xmlns:a16="http://schemas.microsoft.com/office/drawing/2014/main" id="{F73B5E52-8668-4862-B845-BA4258C1E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1676400"/>
            <a:ext cx="733425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E6B947A3-D02A-4C3B-ACBF-7E6B83CA5D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9CCC75-4C43-4165-998B-CF695C0F734E}" type="slidenum">
              <a:rPr lang="en-US" altLang="en-US" sz="1000"/>
              <a:pPr eaLnBrk="1" hangingPunct="1"/>
              <a:t>16</a:t>
            </a:fld>
            <a:endParaRPr lang="en-US" altLang="en-US" sz="10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0966B4F4-C2AF-4469-BBEB-B188CF86C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Centralization &amp; Decentralization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4DE45C3D-22A9-489D-81D1-48102AD32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102600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Centralization</a:t>
            </a:r>
          </a:p>
          <a:p>
            <a:pPr lvl="1" eaLnBrk="1" hangingPunct="1">
              <a:defRPr/>
            </a:pPr>
            <a:r>
              <a:rPr lang="en-US" dirty="0"/>
              <a:t>The degree to which decision-making is concentrated at a single point in the organizations.</a:t>
            </a:r>
          </a:p>
          <a:p>
            <a:pPr lvl="2" eaLnBrk="1" hangingPunct="1">
              <a:defRPr/>
            </a:pPr>
            <a:r>
              <a:rPr lang="en-US" dirty="0"/>
              <a:t>Organizations in which top managers make all the decisions and lower-level employees simply carry out those orders.</a:t>
            </a:r>
          </a:p>
          <a:p>
            <a:pPr marL="739775" lvl="2" indent="0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Decentralization</a:t>
            </a:r>
          </a:p>
          <a:p>
            <a:pPr lvl="1" eaLnBrk="1" hangingPunct="1">
              <a:defRPr/>
            </a:pPr>
            <a:r>
              <a:rPr lang="en-US" dirty="0"/>
              <a:t>Organizations in which decision-making is pushed down to the managers who are closest to the action.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56675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667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667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667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667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667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A02A23DC-8926-4B70-9FB4-6E0AE261F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DBA881-C464-4F1B-AB8C-363674678EC3}" type="slidenum">
              <a:rPr lang="en-US" altLang="en-US" sz="1000"/>
              <a:pPr eaLnBrk="1" hangingPunct="1"/>
              <a:t>17</a:t>
            </a:fld>
            <a:endParaRPr lang="en-US" altLang="en-US" sz="10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8DF11179-4EBD-4829-BEDB-2556BA9F3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077200" cy="400050"/>
          </a:xfrm>
        </p:spPr>
        <p:txBody>
          <a:bodyPr/>
          <a:lstStyle/>
          <a:p>
            <a:pPr marL="1597025" indent="-1597025" eaLnBrk="1" hangingPunct="1">
              <a:defRPr/>
            </a:pPr>
            <a:r>
              <a:rPr lang="en-US" sz="2000" dirty="0"/>
              <a:t>Factors that Influence the Amount of Centralization</a:t>
            </a:r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21638117-2CF6-4F81-8D05-2D6B9208D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968375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461" name="Line 4">
            <a:extLst>
              <a:ext uri="{FF2B5EF4-FFF2-40B4-BE49-F238E27FC236}">
                <a16:creationId xmlns:a16="http://schemas.microsoft.com/office/drawing/2014/main" id="{42088075-8CA7-402A-BF3B-9E55E0971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F4F2F27A-D3F2-4A8A-BE1D-0130383D8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81026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2250" indent="-222250">
              <a:spcBef>
                <a:spcPct val="4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400" b="1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More Centralization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Environment is stable.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Lower-level managers are not as capable or experienced at making decisions as upper-level managers.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Lower-level managers do not want to have a say in decisions.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Decisions are relatively minor.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Organization is facing a crisis or the risk of company failure.</a:t>
            </a:r>
          </a:p>
          <a:p>
            <a:pPr marL="625475" lvl="1" indent="-284163">
              <a:spcBef>
                <a:spcPct val="40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Company is large.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32FC1BE8-F039-4FD7-AA41-97FE2104AE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E5F04E5-2D03-4ED3-92F8-3C0024A16533}" type="slidenum">
              <a:rPr lang="en-US" altLang="en-US" sz="1000"/>
              <a:pPr eaLnBrk="1" hangingPunct="1"/>
              <a:t>18</a:t>
            </a:fld>
            <a:endParaRPr lang="en-US" altLang="en-US" sz="1000"/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F014EA88-CC97-4307-A710-5DDAB227C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79438"/>
            <a:ext cx="8229600" cy="400050"/>
          </a:xfrm>
        </p:spPr>
        <p:txBody>
          <a:bodyPr/>
          <a:lstStyle/>
          <a:p>
            <a:pPr marL="1597025" indent="-1597025" eaLnBrk="1" hangingPunct="1">
              <a:tabLst>
                <a:tab pos="2290763" algn="l"/>
              </a:tabLst>
              <a:defRPr/>
            </a:pPr>
            <a:r>
              <a:rPr lang="en-US" sz="2000" dirty="0"/>
              <a:t>Factors that Influence the Amount of Decentralization</a:t>
            </a:r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BC9E320B-FED0-4599-97B3-2869D56E2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968375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5" name="Line 4">
            <a:extLst>
              <a:ext uri="{FF2B5EF4-FFF2-40B4-BE49-F238E27FC236}">
                <a16:creationId xmlns:a16="http://schemas.microsoft.com/office/drawing/2014/main" id="{4EB14C4D-354E-483E-AEE2-DB155A708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56515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7877" name="Rectangle 5">
            <a:extLst>
              <a:ext uri="{FF2B5EF4-FFF2-40B4-BE49-F238E27FC236}">
                <a16:creationId xmlns:a16="http://schemas.microsoft.com/office/drawing/2014/main" id="{B3208D84-D49F-4358-926E-F71F7AABF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81026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2250" indent="-222250">
              <a:spcBef>
                <a:spcPct val="35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400" b="1" dirty="0"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More Decentralization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Environment is complex, uncertain.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Lower-level managers are capable and experienced at making decisions.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Lower-level managers want a voice in decisions.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Decisions are significant.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Corporate culture is open to allowing managers to have a say in what happens.</a:t>
            </a:r>
          </a:p>
          <a:p>
            <a:pPr marL="625475" lvl="1" indent="-284163"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221E1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Company is geographically dispersed.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D3186774-A603-4831-9172-59F6289F7F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E32572-42D1-410C-9982-0E43705D2151}" type="slidenum">
              <a:rPr lang="en-US" altLang="en-US" sz="1000"/>
              <a:pPr eaLnBrk="1" hangingPunct="1"/>
              <a:t>19</a:t>
            </a:fld>
            <a:endParaRPr lang="en-US" altLang="en-US" sz="10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E994B7DA-5F2B-47EB-A4A1-F86E09FB3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Formalization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41DE08FC-A0CB-4B8C-A37B-EF359AE1F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02600" cy="5029200"/>
          </a:xfrm>
        </p:spPr>
        <p:txBody>
          <a:bodyPr/>
          <a:lstStyle/>
          <a:p>
            <a:pPr lvl="1"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/>
              <a:t>The degree to which jobs within the organization are standardized and the extent to which employee behavior is guided by rules and procedures.</a:t>
            </a:r>
          </a:p>
          <a:p>
            <a:pPr lvl="2" eaLnBrk="1" hangingPunct="1">
              <a:defRPr/>
            </a:pPr>
            <a:r>
              <a:rPr lang="en-US" dirty="0"/>
              <a:t>Highly formalized jobs offer little discretion over what is to be done.</a:t>
            </a:r>
          </a:p>
          <a:p>
            <a:pPr lvl="2" eaLnBrk="1" hangingPunct="1">
              <a:defRPr/>
            </a:pPr>
            <a:r>
              <a:rPr lang="en-US" dirty="0"/>
              <a:t>Low formalization means fewer constraints on how employees do their work.</a:t>
            </a:r>
          </a:p>
        </p:txBody>
      </p:sp>
      <p:pic>
        <p:nvPicPr>
          <p:cNvPr id="21509" name="Picture 5" descr="clipart-man-toasting-with-martini-glass-fotosearch-search-clip-1735002.jpg">
            <a:extLst>
              <a:ext uri="{FF2B5EF4-FFF2-40B4-BE49-F238E27FC236}">
                <a16:creationId xmlns:a16="http://schemas.microsoft.com/office/drawing/2014/main" id="{DD04A17D-299C-4110-9B7D-71709B55C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82"/>
          <a:stretch>
            <a:fillRect/>
          </a:stretch>
        </p:blipFill>
        <p:spPr bwMode="auto">
          <a:xfrm>
            <a:off x="6019800" y="3657600"/>
            <a:ext cx="25765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62819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281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281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281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281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8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28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4F341B06-ADD5-402B-92B0-E762DCFB22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7CC98A-9777-44D8-ADCD-F8202CC8627B}" type="slidenum">
              <a:rPr lang="en-US" altLang="en-US" sz="1000"/>
              <a:pPr eaLnBrk="1" hangingPunct="1"/>
              <a:t>20</a:t>
            </a:fld>
            <a:endParaRPr lang="en-US" altLang="en-US" sz="1000"/>
          </a:p>
        </p:txBody>
      </p:sp>
      <p:pic>
        <p:nvPicPr>
          <p:cNvPr id="22531" name="Picture 15">
            <a:extLst>
              <a:ext uri="{FF2B5EF4-FFF2-40B4-BE49-F238E27FC236}">
                <a16:creationId xmlns:a16="http://schemas.microsoft.com/office/drawing/2014/main" id="{C558938A-554A-41F2-8361-425340C5A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71550"/>
            <a:ext cx="404812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16">
            <a:extLst>
              <a:ext uri="{FF2B5EF4-FFF2-40B4-BE49-F238E27FC236}">
                <a16:creationId xmlns:a16="http://schemas.microsoft.com/office/drawing/2014/main" id="{E0A1D872-2E82-47D0-901B-BD3ECA63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404574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17">
            <a:extLst>
              <a:ext uri="{FF2B5EF4-FFF2-40B4-BE49-F238E27FC236}">
                <a16:creationId xmlns:a16="http://schemas.microsoft.com/office/drawing/2014/main" id="{A2E5F8A0-6FFC-48FD-B861-1826F0F74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2" y="2894664"/>
            <a:ext cx="3886201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High specialization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Rigid departmentalization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Clear chain of command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Narrow spans of control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Centralization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High formalization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</a:t>
            </a:r>
            <a:r>
              <a:rPr lang="en-US" sz="2000" b="1" dirty="0"/>
              <a:t>Limited information network</a:t>
            </a:r>
            <a:endParaRPr lang="en-US" altLang="en-US" sz="2000" b="1" dirty="0"/>
          </a:p>
          <a:p>
            <a:pPr eaLnBrk="1" hangingPunct="1">
              <a:spcBef>
                <a:spcPct val="50000"/>
              </a:spcBef>
            </a:pPr>
            <a:endParaRPr lang="en-US" altLang="en-US" sz="2000" b="1" dirty="0"/>
          </a:p>
        </p:txBody>
      </p:sp>
      <p:sp>
        <p:nvSpPr>
          <p:cNvPr id="22534" name="Rectangle 18">
            <a:extLst>
              <a:ext uri="{FF2B5EF4-FFF2-40B4-BE49-F238E27FC236}">
                <a16:creationId xmlns:a16="http://schemas.microsoft.com/office/drawing/2014/main" id="{C12B2165-2A51-48D9-9BDD-E795229CD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962" y="2894664"/>
            <a:ext cx="4110038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Cross-functional teams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Cross-hierarchical teams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Free flow of information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Wide spans of control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Decentralization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Low formalization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 dirty="0"/>
              <a:t>• </a:t>
            </a:r>
            <a:r>
              <a:rPr lang="en-US" sz="2000" b="1" dirty="0"/>
              <a:t>Open communication network</a:t>
            </a:r>
          </a:p>
          <a:p>
            <a:pPr eaLnBrk="1" hangingPunct="1">
              <a:spcBef>
                <a:spcPct val="50000"/>
              </a:spcBef>
            </a:pPr>
            <a:endParaRPr lang="en-US" altLang="en-US" sz="2000" b="1" dirty="0"/>
          </a:p>
          <a:p>
            <a:pPr eaLnBrk="1" hangingPunct="1">
              <a:spcBef>
                <a:spcPct val="50000"/>
              </a:spcBef>
            </a:pPr>
            <a:endParaRPr lang="en-US" altLang="en-US" sz="2000" b="1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EF22DE0-B296-4FB9-90FD-BFC3C206A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0779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Organizational Design Decisions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BBD8D9-90B1-47E8-821F-9EB10AB8138D}"/>
              </a:ext>
            </a:extLst>
          </p:cNvPr>
          <p:cNvSpPr/>
          <p:nvPr/>
        </p:nvSpPr>
        <p:spPr>
          <a:xfrm>
            <a:off x="4572000" y="204946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800100" lvl="1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en-US" sz="2000"/>
              <a:t>Highly flexible and adaptable structure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42F7E7-6950-4391-8561-DD2958907D15}"/>
              </a:ext>
            </a:extLst>
          </p:cNvPr>
          <p:cNvSpPr/>
          <p:nvPr/>
        </p:nvSpPr>
        <p:spPr>
          <a:xfrm>
            <a:off x="0" y="2049463"/>
            <a:ext cx="4267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spcBef>
                <a:spcPct val="35000"/>
              </a:spcBef>
              <a:buFont typeface="Wingdings" panose="05000000000000000000" pitchFamily="2" charset="2"/>
              <a:buChar char="Ø"/>
            </a:pPr>
            <a:r>
              <a:rPr lang="en-US" sz="2000" dirty="0"/>
              <a:t>A rigid and tightly controlled structure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339F7C2C-C38D-4ABB-B5D7-8C2FBA75A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93DFBB-F911-475E-9FD2-5948EA667799}" type="slidenum">
              <a:rPr lang="en-US" altLang="en-US" sz="1000"/>
              <a:pPr eaLnBrk="1" hangingPunct="1"/>
              <a:t>21</a:t>
            </a:fld>
            <a:endParaRPr lang="en-US" altLang="en-US" sz="10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646AE350-DFF6-42FC-9168-3CCDF344D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Contingency Factors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99583A0C-FB49-4D12-9D04-8F1A1A8B26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Structural decisions are influenced by:</a:t>
            </a:r>
          </a:p>
          <a:p>
            <a:pPr lvl="1" eaLnBrk="1" hangingPunct="1">
              <a:defRPr/>
            </a:pPr>
            <a:r>
              <a:rPr lang="en-US"/>
              <a:t>Overall strategy of the organization</a:t>
            </a:r>
          </a:p>
          <a:p>
            <a:pPr lvl="2" eaLnBrk="1" hangingPunct="1">
              <a:defRPr/>
            </a:pPr>
            <a:r>
              <a:rPr lang="en-US"/>
              <a:t>Organizational structure follows strategy.</a:t>
            </a:r>
          </a:p>
          <a:p>
            <a:pPr lvl="1" eaLnBrk="1" hangingPunct="1">
              <a:defRPr/>
            </a:pPr>
            <a:r>
              <a:rPr lang="en-US"/>
              <a:t>Size of the organization</a:t>
            </a:r>
          </a:p>
          <a:p>
            <a:pPr lvl="2" eaLnBrk="1" hangingPunct="1">
              <a:defRPr/>
            </a:pPr>
            <a:r>
              <a:rPr lang="en-US"/>
              <a:t>Firms change from organic to mechanistic organizations as they grow in size.</a:t>
            </a:r>
          </a:p>
          <a:p>
            <a:pPr lvl="1" eaLnBrk="1" hangingPunct="1">
              <a:defRPr/>
            </a:pPr>
            <a:r>
              <a:rPr lang="en-US"/>
              <a:t>Technology use by the organization</a:t>
            </a:r>
          </a:p>
          <a:p>
            <a:pPr lvl="2" eaLnBrk="1" hangingPunct="1">
              <a:defRPr/>
            </a:pPr>
            <a:r>
              <a:rPr lang="en-US"/>
              <a:t>Firms adapt their structure to the technology they use.</a:t>
            </a:r>
          </a:p>
          <a:p>
            <a:pPr lvl="1" eaLnBrk="1" hangingPunct="1">
              <a:defRPr/>
            </a:pPr>
            <a:r>
              <a:rPr lang="en-US"/>
              <a:t>Degree of environmental uncertainty</a:t>
            </a:r>
          </a:p>
          <a:p>
            <a:pPr lvl="2" eaLnBrk="1" hangingPunct="1">
              <a:defRPr/>
            </a:pPr>
            <a:r>
              <a:rPr lang="en-US"/>
              <a:t>Dynamic environments require organic structures; mechanistic structures need stable environments.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68963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89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896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89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896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89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896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89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896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89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896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C013B9E2-FA99-43FD-ACA5-AD74473AB2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C75C4D8-C2CB-4866-B02A-FDD4095851A0}" type="slidenum">
              <a:rPr lang="en-US" altLang="en-US" sz="1000"/>
              <a:pPr eaLnBrk="1" hangingPunct="1"/>
              <a:t>22</a:t>
            </a:fld>
            <a:endParaRPr lang="en-US" altLang="en-US" sz="1000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FD2CD99F-D22D-4C9D-BF5E-BA7C3DD02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Common Organizational Designs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B88571AB-73BD-40B7-8FF4-D469FA328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Traditional Designs		</a:t>
            </a:r>
            <a:endParaRPr lang="en-US" sz="3200" dirty="0"/>
          </a:p>
          <a:p>
            <a:pPr lvl="1" eaLnBrk="1" hangingPunct="1">
              <a:defRPr/>
            </a:pPr>
            <a:r>
              <a:rPr lang="en-US" dirty="0"/>
              <a:t>Simple structure</a:t>
            </a:r>
          </a:p>
          <a:p>
            <a:pPr lvl="2" eaLnBrk="1" hangingPunct="1">
              <a:defRPr/>
            </a:pPr>
            <a:r>
              <a:rPr lang="en-US" dirty="0"/>
              <a:t>Low departmentalization, wide spans of control, centralized authority, little formalization</a:t>
            </a:r>
          </a:p>
          <a:p>
            <a:pPr lvl="1" eaLnBrk="1" hangingPunct="1">
              <a:defRPr/>
            </a:pPr>
            <a:r>
              <a:rPr lang="en-US" dirty="0"/>
              <a:t>Functional structure</a:t>
            </a:r>
          </a:p>
          <a:p>
            <a:pPr lvl="2" eaLnBrk="1" hangingPunct="1">
              <a:defRPr/>
            </a:pPr>
            <a:r>
              <a:rPr lang="en-US" dirty="0"/>
              <a:t>Departmentalization by function</a:t>
            </a:r>
          </a:p>
          <a:p>
            <a:pPr lvl="3" eaLnBrk="1" hangingPunct="1">
              <a:defRPr/>
            </a:pPr>
            <a:r>
              <a:rPr lang="en-US" dirty="0"/>
              <a:t>Operations, finance, human resources, and product research and development</a:t>
            </a:r>
          </a:p>
          <a:p>
            <a:pPr lvl="1" eaLnBrk="1" hangingPunct="1">
              <a:defRPr/>
            </a:pPr>
            <a:r>
              <a:rPr lang="en-US" dirty="0"/>
              <a:t>Divisional structure</a:t>
            </a:r>
          </a:p>
          <a:p>
            <a:pPr lvl="2" eaLnBrk="1" hangingPunct="1">
              <a:defRPr/>
            </a:pPr>
            <a:r>
              <a:rPr lang="en-US" dirty="0"/>
              <a:t>Composed of separate business units or divisions with limited autonomy under the coordination and control the parent corporation.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81251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125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125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125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125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2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12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138973B0-2879-480F-9B52-5C67966B89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723049-CD36-4F42-A597-5765CAA4C938}" type="slidenum">
              <a:rPr lang="en-US" altLang="en-US" sz="1000"/>
              <a:pPr eaLnBrk="1" hangingPunct="1"/>
              <a:t>23</a:t>
            </a:fld>
            <a:endParaRPr lang="en-US" altLang="en-US" sz="1000"/>
          </a:p>
        </p:txBody>
      </p:sp>
      <p:sp>
        <p:nvSpPr>
          <p:cNvPr id="185346" name="Rectangle 2">
            <a:extLst>
              <a:ext uri="{FF2B5EF4-FFF2-40B4-BE49-F238E27FC236}">
                <a16:creationId xmlns:a16="http://schemas.microsoft.com/office/drawing/2014/main" id="{94D0422C-EF68-46C3-9B47-839FA994C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dirty="0"/>
              <a:t>Common Organizational Designs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C38A030C-E61A-40B3-8D6E-07E49C78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rgbClr val="000000"/>
              </a:buClr>
              <a:defRPr/>
            </a:pPr>
            <a:r>
              <a:rPr lang="en-US" dirty="0"/>
              <a:t>Contemporary Designs		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dirty="0"/>
              <a:t>Team structures</a:t>
            </a:r>
          </a:p>
          <a:p>
            <a:pPr lvl="2" eaLnBrk="1" hangingPunct="1">
              <a:spcBef>
                <a:spcPct val="40000"/>
              </a:spcBef>
              <a:defRPr/>
            </a:pPr>
            <a:r>
              <a:rPr lang="en-US" dirty="0"/>
              <a:t>The entire organization is made up of work groups or self-managed teams of empowered employees.</a:t>
            </a:r>
          </a:p>
          <a:p>
            <a:pPr lvl="2" eaLnBrk="1" hangingPunct="1">
              <a:spcBef>
                <a:spcPct val="40000"/>
              </a:spcBef>
              <a:defRPr/>
            </a:pPr>
            <a:endParaRPr lang="en-US" dirty="0"/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dirty="0"/>
              <a:t>Matrix- Project structures</a:t>
            </a:r>
          </a:p>
          <a:p>
            <a:pPr lvl="2" eaLnBrk="1" hangingPunct="1">
              <a:spcBef>
                <a:spcPct val="40000"/>
              </a:spcBef>
              <a:defRPr/>
            </a:pPr>
            <a:r>
              <a:rPr lang="en-US" dirty="0"/>
              <a:t>Specialists from different functional departments are assigned to work on projects led by project managers.</a:t>
            </a:r>
          </a:p>
          <a:p>
            <a:pPr lvl="2" eaLnBrk="1" hangingPunct="1">
              <a:spcBef>
                <a:spcPct val="40000"/>
              </a:spcBef>
              <a:defRPr/>
            </a:pPr>
            <a:r>
              <a:rPr lang="en-US" dirty="0"/>
              <a:t>Matrix structures have two managers.</a:t>
            </a:r>
          </a:p>
          <a:p>
            <a:pPr lvl="2" eaLnBrk="1" hangingPunct="1">
              <a:spcBef>
                <a:spcPct val="40000"/>
              </a:spcBef>
              <a:defRPr/>
            </a:pPr>
            <a:r>
              <a:rPr lang="en-US" dirty="0"/>
              <a:t>In dedicated structures, employees work continuously on projects; moving on to another project as each project is completed.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85347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53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534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53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534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53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534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53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534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53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53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6BE09-0D2F-4701-BA02-2BF9E812210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00088"/>
            <a:ext cx="8077200" cy="366712"/>
          </a:xfrm>
        </p:spPr>
        <p:txBody>
          <a:bodyPr/>
          <a:lstStyle/>
          <a:p>
            <a:pPr marL="1597025" indent="-1597025"/>
            <a:r>
              <a:rPr lang="en-US" sz="1800" dirty="0">
                <a:solidFill>
                  <a:schemeClr val="tx1"/>
                </a:solidFill>
              </a:rPr>
              <a:t>Exhibit 10–9	An Example of a Matrix Organization</a:t>
            </a:r>
          </a:p>
        </p:txBody>
      </p:sp>
      <p:sp>
        <p:nvSpPr>
          <p:cNvPr id="108547" name="Line 3"/>
          <p:cNvSpPr>
            <a:spLocks noChangeShapeType="1"/>
          </p:cNvSpPr>
          <p:nvPr/>
        </p:nvSpPr>
        <p:spPr bwMode="auto">
          <a:xfrm>
            <a:off x="609600" y="1089025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08548" name="Line 4"/>
          <p:cNvSpPr>
            <a:spLocks noChangeShapeType="1"/>
          </p:cNvSpPr>
          <p:nvPr/>
        </p:nvSpPr>
        <p:spPr bwMode="auto">
          <a:xfrm>
            <a:off x="609600" y="685800"/>
            <a:ext cx="7924800" cy="0"/>
          </a:xfrm>
          <a:prstGeom prst="line">
            <a:avLst/>
          </a:prstGeom>
          <a:noFill/>
          <a:ln w="1905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pic>
        <p:nvPicPr>
          <p:cNvPr id="10855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622425"/>
            <a:ext cx="82962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3495A306-AD62-4C84-B593-6D229A65A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6DC70D-0129-4EA5-92D8-F9A9B548D8C9}" type="slidenum">
              <a:rPr lang="en-US" altLang="en-US" sz="1000"/>
              <a:pPr eaLnBrk="1" hangingPunct="1"/>
              <a:t>25</a:t>
            </a:fld>
            <a:endParaRPr lang="en-US" altLang="en-US" sz="1000"/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F5C4F971-6E98-4AB3-8CEA-3BFC2AFEE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dirty="0"/>
              <a:t>Common Organizational Designs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8DCFD9DD-7308-4260-BCBC-64C0AC941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102600" cy="5029200"/>
          </a:xfrm>
        </p:spPr>
        <p:txBody>
          <a:bodyPr/>
          <a:lstStyle/>
          <a:p>
            <a:pPr lvl="1" eaLnBrk="1" hangingPunct="1">
              <a:spcBef>
                <a:spcPct val="35000"/>
              </a:spcBef>
              <a:defRPr/>
            </a:pPr>
            <a:r>
              <a:rPr lang="en-US" dirty="0"/>
              <a:t>Boundary less Organization  	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A flexible and unstructured organizational design that is intended to break down external barriers between the organization and its customers and suppliers.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Removes internal (horizontal) boundaries:</a:t>
            </a:r>
          </a:p>
          <a:p>
            <a:pPr lvl="3" eaLnBrk="1" hangingPunct="1">
              <a:spcBef>
                <a:spcPct val="35000"/>
              </a:spcBef>
              <a:defRPr/>
            </a:pPr>
            <a:r>
              <a:rPr lang="en-US" dirty="0"/>
              <a:t>Eliminates the chain of command</a:t>
            </a:r>
          </a:p>
          <a:p>
            <a:pPr lvl="3" eaLnBrk="1" hangingPunct="1">
              <a:spcBef>
                <a:spcPct val="35000"/>
              </a:spcBef>
              <a:defRPr/>
            </a:pPr>
            <a:r>
              <a:rPr lang="en-US" dirty="0"/>
              <a:t>Has limitless spans of control</a:t>
            </a:r>
          </a:p>
          <a:p>
            <a:pPr lvl="3" eaLnBrk="1" hangingPunct="1">
              <a:spcBef>
                <a:spcPct val="35000"/>
              </a:spcBef>
              <a:defRPr/>
            </a:pPr>
            <a:r>
              <a:rPr lang="en-US" dirty="0"/>
              <a:t>Uses empowered teams rather than departments</a:t>
            </a:r>
          </a:p>
          <a:p>
            <a:pPr lvl="2" eaLnBrk="1" hangingPunct="1">
              <a:spcBef>
                <a:spcPct val="35000"/>
              </a:spcBef>
              <a:defRPr/>
            </a:pPr>
            <a:r>
              <a:rPr lang="en-US" dirty="0"/>
              <a:t>Eliminates external boundaries:</a:t>
            </a:r>
          </a:p>
          <a:p>
            <a:pPr lvl="3" eaLnBrk="1" hangingPunct="1">
              <a:spcBef>
                <a:spcPct val="35000"/>
              </a:spcBef>
              <a:defRPr/>
            </a:pPr>
            <a:r>
              <a:rPr lang="en-US" dirty="0"/>
              <a:t>Uses virtual, and network organizational structures to get closer to stakeholders.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725BD389-CEEB-461D-BF47-58AF5BC5F7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A65CF0-F1F3-44C4-9009-3E2CBCD54C91}" type="slidenum">
              <a:rPr lang="en-US" altLang="en-US" sz="1000"/>
              <a:pPr eaLnBrk="1" hangingPunct="1"/>
              <a:t>26</a:t>
            </a:fld>
            <a:endParaRPr lang="en-US" altLang="en-US" sz="1000"/>
          </a:p>
        </p:txBody>
      </p:sp>
      <p:sp>
        <p:nvSpPr>
          <p:cNvPr id="191490" name="Rectangle 2">
            <a:extLst>
              <a:ext uri="{FF2B5EF4-FFF2-40B4-BE49-F238E27FC236}">
                <a16:creationId xmlns:a16="http://schemas.microsoft.com/office/drawing/2014/main" id="{4E6FD283-8D85-4B4A-8CA5-57F8F35B2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Removing External Boundaries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7B766C4D-28E5-4339-889B-AF46618C4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sz="2400" b="1" dirty="0"/>
              <a:t>Virtual Organization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sz="2000" b="1" dirty="0"/>
              <a:t>An organization that consists of a small core of full-time employees and that temporarily hires specialists to work on opportunities that arise.</a:t>
            </a:r>
          </a:p>
        </p:txBody>
      </p:sp>
      <p:pic>
        <p:nvPicPr>
          <p:cNvPr id="27653" name="Picture 5" descr="2.jpg">
            <a:extLst>
              <a:ext uri="{FF2B5EF4-FFF2-40B4-BE49-F238E27FC236}">
                <a16:creationId xmlns:a16="http://schemas.microsoft.com/office/drawing/2014/main" id="{C306F1EA-278F-4755-A1D9-79D0D54D8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895600"/>
            <a:ext cx="64770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91491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E191BE2B-0DEF-4164-A01C-22FB8746F9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940385-33A2-404B-B18C-CAA1ECD01C89}" type="slidenum">
              <a:rPr lang="en-US" altLang="en-US" sz="1000"/>
              <a:pPr eaLnBrk="1" hangingPunct="1"/>
              <a:t>27</a:t>
            </a:fld>
            <a:endParaRPr lang="en-US" altLang="en-US" sz="1000"/>
          </a:p>
        </p:txBody>
      </p:sp>
      <p:sp>
        <p:nvSpPr>
          <p:cNvPr id="191490" name="Rectangle 2">
            <a:extLst>
              <a:ext uri="{FF2B5EF4-FFF2-40B4-BE49-F238E27FC236}">
                <a16:creationId xmlns:a16="http://schemas.microsoft.com/office/drawing/2014/main" id="{A11BAB06-859E-4BA9-BDF2-F3B14545E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Removing External Boundaries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8B525FAB-AABA-4753-8785-007C40EA4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sz="2400" b="1" dirty="0"/>
              <a:t>Network Organization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sz="2000" b="1" dirty="0"/>
              <a:t>A small core organization that outsources its major business functions (e.g., manufacturing) in order to concentrate what it does best.</a:t>
            </a:r>
          </a:p>
        </p:txBody>
      </p:sp>
      <p:pic>
        <p:nvPicPr>
          <p:cNvPr id="28677" name="Picture 5" descr="image-of-retail-rail-with-used-clothing-on-hangers.jpg">
            <a:extLst>
              <a:ext uri="{FF2B5EF4-FFF2-40B4-BE49-F238E27FC236}">
                <a16:creationId xmlns:a16="http://schemas.microsoft.com/office/drawing/2014/main" id="{FFF8857E-6529-451A-922E-76BDC3711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819400"/>
            <a:ext cx="388620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91491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4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149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A0C2E0-D5FC-4FC7-A908-77E447E0960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Designs (cont’d)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30000"/>
              </a:spcBef>
            </a:pPr>
            <a:r>
              <a:rPr lang="en-US" dirty="0"/>
              <a:t>The Learning Organization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An organization that has developed the capacity to continuously learn, adapt, and change through the practice of knowledge management by employees.</a:t>
            </a:r>
          </a:p>
          <a:p>
            <a:pPr lvl="1">
              <a:spcBef>
                <a:spcPct val="30000"/>
              </a:spcBef>
            </a:pPr>
            <a:r>
              <a:rPr lang="en-US" dirty="0"/>
              <a:t>Characteristics of a learning organization: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An open team-based organization design that empowers employees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Extensive and open information sharing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Leadership that provides a shared vision of the organization’s future, support and encouragement</a:t>
            </a:r>
          </a:p>
          <a:p>
            <a:pPr lvl="2">
              <a:spcBef>
                <a:spcPct val="30000"/>
              </a:spcBef>
            </a:pPr>
            <a:r>
              <a:rPr lang="en-US" dirty="0"/>
              <a:t>A strong culture of shared values, trust, openness, and a sense of community.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  <p:bldLst>
      <p:bldP spid="193539" grpId="0" uiExpand="1" build="p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3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353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3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353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3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353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3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353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35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353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684A17-D6D3-4DC0-8239-652802FC0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2024063"/>
            <a:ext cx="3810000" cy="352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4683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obbins and Coulter 9e.">
  <a:themeElements>
    <a:clrScheme name="Robbins and Coulter 9e.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Robbins and Coulter 9e.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obbins and Coulter 9e.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obbins and Coulter 9e.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obbins and Coulter 9e.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obbins and Coulter 9e.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2367</TotalTime>
  <Words>933</Words>
  <Application>Microsoft Office PowerPoint</Application>
  <PresentationFormat>On-screen Show (4:3)</PresentationFormat>
  <Paragraphs>227</Paragraphs>
  <Slides>29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Robbins and Coulter 9e.</vt:lpstr>
      <vt:lpstr>PowerPoint Presentation</vt:lpstr>
      <vt:lpstr>What Is An Organization?</vt:lpstr>
      <vt:lpstr>Organizational Structure</vt:lpstr>
      <vt:lpstr>Organizational Design</vt:lpstr>
      <vt:lpstr>Work Specialization</vt:lpstr>
      <vt:lpstr>Work Specialization</vt:lpstr>
      <vt:lpstr>Departmentalization</vt:lpstr>
      <vt:lpstr>Functional Departmentalization </vt:lpstr>
      <vt:lpstr>Product Departmentalization      </vt:lpstr>
      <vt:lpstr>Geographical Departmentalization</vt:lpstr>
      <vt:lpstr>Process Departmentalization  </vt:lpstr>
      <vt:lpstr>Customer Departmentalization</vt:lpstr>
      <vt:lpstr>Chain of Command</vt:lpstr>
      <vt:lpstr>Span of Control</vt:lpstr>
      <vt:lpstr>Contrasting Spans of Control</vt:lpstr>
      <vt:lpstr>Centralization &amp; Decentralization</vt:lpstr>
      <vt:lpstr>Factors that Influence the Amount of Centralization</vt:lpstr>
      <vt:lpstr>Factors that Influence the Amount of Decentralization</vt:lpstr>
      <vt:lpstr>Formalization</vt:lpstr>
      <vt:lpstr>Organizational Design Decisions </vt:lpstr>
      <vt:lpstr>Contingency Factors</vt:lpstr>
      <vt:lpstr>Common Organizational Designs</vt:lpstr>
      <vt:lpstr>Common Organizational Designs</vt:lpstr>
      <vt:lpstr>Exhibit 10–9 An Example of a Matrix Organization</vt:lpstr>
      <vt:lpstr>Common Organizational Designs</vt:lpstr>
      <vt:lpstr>Removing External Boundaries</vt:lpstr>
      <vt:lpstr>Removing External Boundaries</vt:lpstr>
      <vt:lpstr>Organizational Designs (cont’d)</vt:lpstr>
      <vt:lpstr>PowerPoint Presentation</vt:lpstr>
    </vt:vector>
  </TitlesOfParts>
  <Manager>Denise Vaughn</Manager>
  <Company>Prentice Hall,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9e.- Robbins and Coulter</dc:title>
  <dc:subject>Chapter 2</dc:subject>
  <dc:creator>Charlie Cook, University of West Alabama</dc:creator>
  <cp:lastModifiedBy>USER</cp:lastModifiedBy>
  <cp:revision>111</cp:revision>
  <dcterms:created xsi:type="dcterms:W3CDTF">2003-08-08T20:04:45Z</dcterms:created>
  <dcterms:modified xsi:type="dcterms:W3CDTF">2023-02-02T05:20:30Z</dcterms:modified>
</cp:coreProperties>
</file>