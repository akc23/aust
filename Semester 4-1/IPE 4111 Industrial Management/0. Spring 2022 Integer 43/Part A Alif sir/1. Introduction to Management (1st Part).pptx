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7881600" cy="10058400"/>
  <p:notesSz cx="7772400" cy="10058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49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14222" autoAdjust="0"/>
    <p:restoredTop sz="94660"/>
  </p:normalViewPr>
  <p:slideViewPr>
    <p:cSldViewPr>
      <p:cViewPr varScale="1">
        <p:scale>
          <a:sx n="45" d="100"/>
          <a:sy n="45" d="100"/>
        </p:scale>
        <p:origin x="1308" y="66"/>
      </p:cViewPr>
      <p:guideLst>
        <p:guide orient="horz" pos="2880"/>
        <p:guide pos="496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E66738-C67A-4397-A1FE-60FF131CA71A}" type="datetimeFigureOut">
              <a:rPr lang="en-US" smtClean="0"/>
              <a:t>1/21/2023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76A897-EC7D-44C1-9515-ED474C6AB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180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76A897-EC7D-44C1-9515-ED474C6ABCF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9839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35200" y="1646133"/>
            <a:ext cx="13411200" cy="3501813"/>
          </a:xfrm>
        </p:spPr>
        <p:txBody>
          <a:bodyPr anchor="b"/>
          <a:lstStyle>
            <a:lvl1pPr algn="ctr"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35200" y="5282989"/>
            <a:ext cx="13411200" cy="2428451"/>
          </a:xfrm>
        </p:spPr>
        <p:txBody>
          <a:bodyPr/>
          <a:lstStyle>
            <a:lvl1pPr marL="0" indent="0" algn="ctr">
              <a:buNone/>
              <a:defRPr sz="3520"/>
            </a:lvl1pPr>
            <a:lvl2pPr marL="670575" indent="0" algn="ctr">
              <a:buNone/>
              <a:defRPr sz="2933"/>
            </a:lvl2pPr>
            <a:lvl3pPr marL="1341150" indent="0" algn="ctr">
              <a:buNone/>
              <a:defRPr sz="2640"/>
            </a:lvl3pPr>
            <a:lvl4pPr marL="2011726" indent="0" algn="ctr">
              <a:buNone/>
              <a:defRPr sz="2347"/>
            </a:lvl4pPr>
            <a:lvl5pPr marL="2682301" indent="0" algn="ctr">
              <a:buNone/>
              <a:defRPr sz="2347"/>
            </a:lvl5pPr>
            <a:lvl6pPr marL="3352876" indent="0" algn="ctr">
              <a:buNone/>
              <a:defRPr sz="2347"/>
            </a:lvl6pPr>
            <a:lvl7pPr marL="4023451" indent="0" algn="ctr">
              <a:buNone/>
              <a:defRPr sz="2347"/>
            </a:lvl7pPr>
            <a:lvl8pPr marL="4694027" indent="0" algn="ctr">
              <a:buNone/>
              <a:defRPr sz="2347"/>
            </a:lvl8pPr>
            <a:lvl9pPr marL="5364602" indent="0" algn="ctr">
              <a:buNone/>
              <a:defRPr sz="234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D332D-4131-4015-A0E5-92C3D6A5453C}" type="datetime1">
              <a:rPr lang="en-US" smtClean="0"/>
              <a:t>1/21/2023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621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D2F47-868B-4468-9446-2294F5334B59}" type="datetime1">
              <a:rPr lang="en-US" smtClean="0"/>
              <a:t>1/21/2023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352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0047" y="2507617"/>
            <a:ext cx="15422880" cy="4184014"/>
          </a:xfrm>
        </p:spPr>
        <p:txBody>
          <a:bodyPr anchor="b"/>
          <a:lstStyle>
            <a:lvl1pPr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0047" y="6731213"/>
            <a:ext cx="15422880" cy="2200274"/>
          </a:xfrm>
        </p:spPr>
        <p:txBody>
          <a:bodyPr/>
          <a:lstStyle>
            <a:lvl1pPr marL="0" indent="0">
              <a:buNone/>
              <a:defRPr sz="3520">
                <a:solidFill>
                  <a:schemeClr val="tx1">
                    <a:tint val="75000"/>
                  </a:schemeClr>
                </a:solidFill>
              </a:defRPr>
            </a:lvl1pPr>
            <a:lvl2pPr marL="670575" indent="0">
              <a:buNone/>
              <a:defRPr sz="2933">
                <a:solidFill>
                  <a:schemeClr val="tx1">
                    <a:tint val="75000"/>
                  </a:schemeClr>
                </a:solidFill>
              </a:defRPr>
            </a:lvl2pPr>
            <a:lvl3pPr marL="1341150" indent="0">
              <a:buNone/>
              <a:defRPr sz="2640">
                <a:solidFill>
                  <a:schemeClr val="tx1">
                    <a:tint val="75000"/>
                  </a:schemeClr>
                </a:solidFill>
              </a:defRPr>
            </a:lvl3pPr>
            <a:lvl4pPr marL="2011726" indent="0">
              <a:buNone/>
              <a:defRPr sz="2347">
                <a:solidFill>
                  <a:schemeClr val="tx1">
                    <a:tint val="75000"/>
                  </a:schemeClr>
                </a:solidFill>
              </a:defRPr>
            </a:lvl4pPr>
            <a:lvl5pPr marL="2682301" indent="0">
              <a:buNone/>
              <a:defRPr sz="2347">
                <a:solidFill>
                  <a:schemeClr val="tx1">
                    <a:tint val="75000"/>
                  </a:schemeClr>
                </a:solidFill>
              </a:defRPr>
            </a:lvl5pPr>
            <a:lvl6pPr marL="3352876" indent="0">
              <a:buNone/>
              <a:defRPr sz="2347">
                <a:solidFill>
                  <a:schemeClr val="tx1">
                    <a:tint val="75000"/>
                  </a:schemeClr>
                </a:solidFill>
              </a:defRPr>
            </a:lvl6pPr>
            <a:lvl7pPr marL="4023451" indent="0">
              <a:buNone/>
              <a:defRPr sz="2347">
                <a:solidFill>
                  <a:schemeClr val="tx1">
                    <a:tint val="75000"/>
                  </a:schemeClr>
                </a:solidFill>
              </a:defRPr>
            </a:lvl7pPr>
            <a:lvl8pPr marL="4694027" indent="0">
              <a:buNone/>
              <a:defRPr sz="2347">
                <a:solidFill>
                  <a:schemeClr val="tx1">
                    <a:tint val="75000"/>
                  </a:schemeClr>
                </a:solidFill>
              </a:defRPr>
            </a:lvl8pPr>
            <a:lvl9pPr marL="5364602" indent="0">
              <a:buNone/>
              <a:defRPr sz="234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D3561-690B-44DB-8218-9B7209A56728}" type="datetime1">
              <a:rPr lang="en-US" smtClean="0"/>
              <a:t>1/21/2023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161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29360" y="2677584"/>
            <a:ext cx="759968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052560" y="2677584"/>
            <a:ext cx="759968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BBDE0-AD58-49EF-9A9F-DBC6941A9A3A}" type="datetime1">
              <a:rPr lang="en-US" smtClean="0"/>
              <a:t>1/21/2023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278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1689" y="535517"/>
            <a:ext cx="15422880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1690" y="2465706"/>
            <a:ext cx="7564754" cy="1208404"/>
          </a:xfrm>
        </p:spPr>
        <p:txBody>
          <a:bodyPr anchor="b"/>
          <a:lstStyle>
            <a:lvl1pPr marL="0" indent="0">
              <a:buNone/>
              <a:defRPr sz="3520" b="1"/>
            </a:lvl1pPr>
            <a:lvl2pPr marL="670575" indent="0">
              <a:buNone/>
              <a:defRPr sz="2933" b="1"/>
            </a:lvl2pPr>
            <a:lvl3pPr marL="1341150" indent="0">
              <a:buNone/>
              <a:defRPr sz="2640" b="1"/>
            </a:lvl3pPr>
            <a:lvl4pPr marL="2011726" indent="0">
              <a:buNone/>
              <a:defRPr sz="2347" b="1"/>
            </a:lvl4pPr>
            <a:lvl5pPr marL="2682301" indent="0">
              <a:buNone/>
              <a:defRPr sz="2347" b="1"/>
            </a:lvl5pPr>
            <a:lvl6pPr marL="3352876" indent="0">
              <a:buNone/>
              <a:defRPr sz="2347" b="1"/>
            </a:lvl6pPr>
            <a:lvl7pPr marL="4023451" indent="0">
              <a:buNone/>
              <a:defRPr sz="2347" b="1"/>
            </a:lvl7pPr>
            <a:lvl8pPr marL="4694027" indent="0">
              <a:buNone/>
              <a:defRPr sz="2347" b="1"/>
            </a:lvl8pPr>
            <a:lvl9pPr marL="5364602" indent="0">
              <a:buNone/>
              <a:defRPr sz="234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1690" y="3674110"/>
            <a:ext cx="7564754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052560" y="2465706"/>
            <a:ext cx="7602009" cy="1208404"/>
          </a:xfrm>
        </p:spPr>
        <p:txBody>
          <a:bodyPr anchor="b"/>
          <a:lstStyle>
            <a:lvl1pPr marL="0" indent="0">
              <a:buNone/>
              <a:defRPr sz="3520" b="1"/>
            </a:lvl1pPr>
            <a:lvl2pPr marL="670575" indent="0">
              <a:buNone/>
              <a:defRPr sz="2933" b="1"/>
            </a:lvl2pPr>
            <a:lvl3pPr marL="1341150" indent="0">
              <a:buNone/>
              <a:defRPr sz="2640" b="1"/>
            </a:lvl3pPr>
            <a:lvl4pPr marL="2011726" indent="0">
              <a:buNone/>
              <a:defRPr sz="2347" b="1"/>
            </a:lvl4pPr>
            <a:lvl5pPr marL="2682301" indent="0">
              <a:buNone/>
              <a:defRPr sz="2347" b="1"/>
            </a:lvl5pPr>
            <a:lvl6pPr marL="3352876" indent="0">
              <a:buNone/>
              <a:defRPr sz="2347" b="1"/>
            </a:lvl6pPr>
            <a:lvl7pPr marL="4023451" indent="0">
              <a:buNone/>
              <a:defRPr sz="2347" b="1"/>
            </a:lvl7pPr>
            <a:lvl8pPr marL="4694027" indent="0">
              <a:buNone/>
              <a:defRPr sz="2347" b="1"/>
            </a:lvl8pPr>
            <a:lvl9pPr marL="5364602" indent="0">
              <a:buNone/>
              <a:defRPr sz="234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052560" y="3674110"/>
            <a:ext cx="760200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92785-CE45-4FB6-BB24-A29E65AECC49}" type="datetime1">
              <a:rPr lang="en-US" smtClean="0"/>
              <a:t>1/21/2023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498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D487-40E6-478F-9B46-AF50F56BAAFD}" type="datetime1">
              <a:rPr lang="en-US" smtClean="0"/>
              <a:t>1/21/2023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879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0B27B-E4FB-46AC-AAAB-1D73CE221D57}" type="datetime1">
              <a:rPr lang="en-US" smtClean="0"/>
              <a:t>1/21/2023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633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1690" y="670560"/>
            <a:ext cx="5767281" cy="2346960"/>
          </a:xfrm>
        </p:spPr>
        <p:txBody>
          <a:bodyPr anchor="b"/>
          <a:lstStyle>
            <a:lvl1pPr>
              <a:defRPr sz="469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02009" y="1448224"/>
            <a:ext cx="9052560" cy="7147983"/>
          </a:xfrm>
        </p:spPr>
        <p:txBody>
          <a:bodyPr/>
          <a:lstStyle>
            <a:lvl1pPr>
              <a:defRPr sz="4693"/>
            </a:lvl1pPr>
            <a:lvl2pPr>
              <a:defRPr sz="4107"/>
            </a:lvl2pPr>
            <a:lvl3pPr>
              <a:defRPr sz="3520"/>
            </a:lvl3pPr>
            <a:lvl4pPr>
              <a:defRPr sz="2933"/>
            </a:lvl4pPr>
            <a:lvl5pPr>
              <a:defRPr sz="2933"/>
            </a:lvl5pPr>
            <a:lvl6pPr>
              <a:defRPr sz="2933"/>
            </a:lvl6pPr>
            <a:lvl7pPr>
              <a:defRPr sz="2933"/>
            </a:lvl7pPr>
            <a:lvl8pPr>
              <a:defRPr sz="2933"/>
            </a:lvl8pPr>
            <a:lvl9pPr>
              <a:defRPr sz="29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1690" y="3017520"/>
            <a:ext cx="5767281" cy="5590329"/>
          </a:xfrm>
        </p:spPr>
        <p:txBody>
          <a:bodyPr/>
          <a:lstStyle>
            <a:lvl1pPr marL="0" indent="0">
              <a:buNone/>
              <a:defRPr sz="2347"/>
            </a:lvl1pPr>
            <a:lvl2pPr marL="670575" indent="0">
              <a:buNone/>
              <a:defRPr sz="2053"/>
            </a:lvl2pPr>
            <a:lvl3pPr marL="1341150" indent="0">
              <a:buNone/>
              <a:defRPr sz="1760"/>
            </a:lvl3pPr>
            <a:lvl4pPr marL="2011726" indent="0">
              <a:buNone/>
              <a:defRPr sz="1467"/>
            </a:lvl4pPr>
            <a:lvl5pPr marL="2682301" indent="0">
              <a:buNone/>
              <a:defRPr sz="1467"/>
            </a:lvl5pPr>
            <a:lvl6pPr marL="3352876" indent="0">
              <a:buNone/>
              <a:defRPr sz="1467"/>
            </a:lvl6pPr>
            <a:lvl7pPr marL="4023451" indent="0">
              <a:buNone/>
              <a:defRPr sz="1467"/>
            </a:lvl7pPr>
            <a:lvl8pPr marL="4694027" indent="0">
              <a:buNone/>
              <a:defRPr sz="1467"/>
            </a:lvl8pPr>
            <a:lvl9pPr marL="5364602" indent="0">
              <a:buNone/>
              <a:defRPr sz="14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DC9E2-A867-466C-A323-B8359E213891}" type="datetime1">
              <a:rPr lang="en-US" smtClean="0"/>
              <a:t>1/21/2023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87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1690" y="670560"/>
            <a:ext cx="5767281" cy="2346960"/>
          </a:xfrm>
        </p:spPr>
        <p:txBody>
          <a:bodyPr anchor="b"/>
          <a:lstStyle>
            <a:lvl1pPr>
              <a:defRPr sz="469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02009" y="1448224"/>
            <a:ext cx="9052560" cy="7147983"/>
          </a:xfrm>
        </p:spPr>
        <p:txBody>
          <a:bodyPr anchor="t"/>
          <a:lstStyle>
            <a:lvl1pPr marL="0" indent="0">
              <a:buNone/>
              <a:defRPr sz="4693"/>
            </a:lvl1pPr>
            <a:lvl2pPr marL="670575" indent="0">
              <a:buNone/>
              <a:defRPr sz="4107"/>
            </a:lvl2pPr>
            <a:lvl3pPr marL="1341150" indent="0">
              <a:buNone/>
              <a:defRPr sz="3520"/>
            </a:lvl3pPr>
            <a:lvl4pPr marL="2011726" indent="0">
              <a:buNone/>
              <a:defRPr sz="2933"/>
            </a:lvl4pPr>
            <a:lvl5pPr marL="2682301" indent="0">
              <a:buNone/>
              <a:defRPr sz="2933"/>
            </a:lvl5pPr>
            <a:lvl6pPr marL="3352876" indent="0">
              <a:buNone/>
              <a:defRPr sz="2933"/>
            </a:lvl6pPr>
            <a:lvl7pPr marL="4023451" indent="0">
              <a:buNone/>
              <a:defRPr sz="2933"/>
            </a:lvl7pPr>
            <a:lvl8pPr marL="4694027" indent="0">
              <a:buNone/>
              <a:defRPr sz="2933"/>
            </a:lvl8pPr>
            <a:lvl9pPr marL="5364602" indent="0">
              <a:buNone/>
              <a:defRPr sz="29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1690" y="3017520"/>
            <a:ext cx="5767281" cy="5590329"/>
          </a:xfrm>
        </p:spPr>
        <p:txBody>
          <a:bodyPr/>
          <a:lstStyle>
            <a:lvl1pPr marL="0" indent="0">
              <a:buNone/>
              <a:defRPr sz="2347"/>
            </a:lvl1pPr>
            <a:lvl2pPr marL="670575" indent="0">
              <a:buNone/>
              <a:defRPr sz="2053"/>
            </a:lvl2pPr>
            <a:lvl3pPr marL="1341150" indent="0">
              <a:buNone/>
              <a:defRPr sz="1760"/>
            </a:lvl3pPr>
            <a:lvl4pPr marL="2011726" indent="0">
              <a:buNone/>
              <a:defRPr sz="1467"/>
            </a:lvl4pPr>
            <a:lvl5pPr marL="2682301" indent="0">
              <a:buNone/>
              <a:defRPr sz="1467"/>
            </a:lvl5pPr>
            <a:lvl6pPr marL="3352876" indent="0">
              <a:buNone/>
              <a:defRPr sz="1467"/>
            </a:lvl6pPr>
            <a:lvl7pPr marL="4023451" indent="0">
              <a:buNone/>
              <a:defRPr sz="1467"/>
            </a:lvl7pPr>
            <a:lvl8pPr marL="4694027" indent="0">
              <a:buNone/>
              <a:defRPr sz="1467"/>
            </a:lvl8pPr>
            <a:lvl9pPr marL="5364602" indent="0">
              <a:buNone/>
              <a:defRPr sz="14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AECBF-37BA-49BC-B30C-D5F7C0701A38}" type="datetime1">
              <a:rPr lang="en-US" smtClean="0"/>
              <a:t>1/21/2023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460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29667-BCF4-4CAF-9CBB-961685844C09}" type="datetime1">
              <a:rPr lang="en-US" smtClean="0"/>
              <a:t>1/21/2023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689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796520" y="535517"/>
            <a:ext cx="3855720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29360" y="535517"/>
            <a:ext cx="11343640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8979D-9A32-40B3-8625-4CB4AD1996E8}" type="datetime1">
              <a:rPr lang="en-US" smtClean="0"/>
              <a:t>1/21/2023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404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29360" y="535517"/>
            <a:ext cx="15422880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360" y="2677584"/>
            <a:ext cx="15422880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29360" y="9322647"/>
            <a:ext cx="402336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241F91-47FE-4B5F-B6F3-1D1C08BDCAA4}" type="datetime1">
              <a:rPr lang="en-US" smtClean="0"/>
              <a:t>1/21/2023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23280" y="9322647"/>
            <a:ext cx="603504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628880" y="9322647"/>
            <a:ext cx="402336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551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hf hdr="0" ftr="0" dt="0"/>
  <p:txStyles>
    <p:titleStyle>
      <a:lvl1pPr algn="l" defTabSz="1341150" rtl="0" eaLnBrk="1" latinLnBrk="0" hangingPunct="1">
        <a:lnSpc>
          <a:spcPct val="90000"/>
        </a:lnSpc>
        <a:spcBef>
          <a:spcPct val="0"/>
        </a:spcBef>
        <a:buNone/>
        <a:defRPr sz="645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5288" indent="-335288" algn="l" defTabSz="1341150" rtl="0" eaLnBrk="1" latinLnBrk="0" hangingPunct="1">
        <a:lnSpc>
          <a:spcPct val="90000"/>
        </a:lnSpc>
        <a:spcBef>
          <a:spcPts val="1467"/>
        </a:spcBef>
        <a:buFont typeface="Arial" panose="020B0604020202020204" pitchFamily="34" charset="0"/>
        <a:buChar char="•"/>
        <a:defRPr sz="4107" kern="1200">
          <a:solidFill>
            <a:schemeClr val="tx1"/>
          </a:solidFill>
          <a:latin typeface="+mn-lt"/>
          <a:ea typeface="+mn-ea"/>
          <a:cs typeface="+mn-cs"/>
        </a:defRPr>
      </a:lvl1pPr>
      <a:lvl2pPr marL="1005863" indent="-335288" algn="l" defTabSz="1341150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3520" kern="1200">
          <a:solidFill>
            <a:schemeClr val="tx1"/>
          </a:solidFill>
          <a:latin typeface="+mn-lt"/>
          <a:ea typeface="+mn-ea"/>
          <a:cs typeface="+mn-cs"/>
        </a:defRPr>
      </a:lvl2pPr>
      <a:lvl3pPr marL="1676438" indent="-335288" algn="l" defTabSz="1341150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933" kern="1200">
          <a:solidFill>
            <a:schemeClr val="tx1"/>
          </a:solidFill>
          <a:latin typeface="+mn-lt"/>
          <a:ea typeface="+mn-ea"/>
          <a:cs typeface="+mn-cs"/>
        </a:defRPr>
      </a:lvl3pPr>
      <a:lvl4pPr marL="2347013" indent="-335288" algn="l" defTabSz="1341150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4pPr>
      <a:lvl5pPr marL="3017589" indent="-335288" algn="l" defTabSz="1341150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5pPr>
      <a:lvl6pPr marL="3688164" indent="-335288" algn="l" defTabSz="1341150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6pPr>
      <a:lvl7pPr marL="4358739" indent="-335288" algn="l" defTabSz="1341150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7pPr>
      <a:lvl8pPr marL="5029314" indent="-335288" algn="l" defTabSz="1341150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8pPr>
      <a:lvl9pPr marL="5699890" indent="-335288" algn="l" defTabSz="1341150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1pPr>
      <a:lvl2pPr marL="670575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341150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3pPr>
      <a:lvl4pPr marL="2011726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4pPr>
      <a:lvl5pPr marL="2682301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76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6pPr>
      <a:lvl7pPr marL="4023451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7pPr>
      <a:lvl8pPr marL="4694027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8pPr>
      <a:lvl9pPr marL="5364602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26" Type="http://schemas.openxmlformats.org/officeDocument/2006/relationships/image" Target="../media/image30.png"/><Relationship Id="rId39" Type="http://schemas.openxmlformats.org/officeDocument/2006/relationships/image" Target="../media/image43.png"/><Relationship Id="rId21" Type="http://schemas.openxmlformats.org/officeDocument/2006/relationships/image" Target="../media/image25.png"/><Relationship Id="rId34" Type="http://schemas.openxmlformats.org/officeDocument/2006/relationships/image" Target="../media/image38.png"/><Relationship Id="rId42" Type="http://schemas.openxmlformats.org/officeDocument/2006/relationships/image" Target="../media/image46.png"/><Relationship Id="rId47" Type="http://schemas.openxmlformats.org/officeDocument/2006/relationships/image" Target="../media/image51.png"/><Relationship Id="rId50" Type="http://schemas.openxmlformats.org/officeDocument/2006/relationships/image" Target="../media/image54.png"/><Relationship Id="rId55" Type="http://schemas.openxmlformats.org/officeDocument/2006/relationships/image" Target="../media/image59.png"/><Relationship Id="rId63" Type="http://schemas.openxmlformats.org/officeDocument/2006/relationships/image" Target="../media/image6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9" Type="http://schemas.openxmlformats.org/officeDocument/2006/relationships/image" Target="../media/image33.png"/><Relationship Id="rId11" Type="http://schemas.openxmlformats.org/officeDocument/2006/relationships/image" Target="../media/image15.png"/><Relationship Id="rId24" Type="http://schemas.openxmlformats.org/officeDocument/2006/relationships/image" Target="../media/image28.png"/><Relationship Id="rId32" Type="http://schemas.openxmlformats.org/officeDocument/2006/relationships/image" Target="../media/image36.png"/><Relationship Id="rId37" Type="http://schemas.openxmlformats.org/officeDocument/2006/relationships/image" Target="../media/image41.png"/><Relationship Id="rId40" Type="http://schemas.openxmlformats.org/officeDocument/2006/relationships/image" Target="../media/image44.png"/><Relationship Id="rId45" Type="http://schemas.openxmlformats.org/officeDocument/2006/relationships/image" Target="../media/image49.png"/><Relationship Id="rId53" Type="http://schemas.openxmlformats.org/officeDocument/2006/relationships/image" Target="../media/image57.png"/><Relationship Id="rId58" Type="http://schemas.openxmlformats.org/officeDocument/2006/relationships/image" Target="../media/image62.png"/><Relationship Id="rId5" Type="http://schemas.openxmlformats.org/officeDocument/2006/relationships/image" Target="../media/image9.png"/><Relationship Id="rId61" Type="http://schemas.openxmlformats.org/officeDocument/2006/relationships/image" Target="../media/image65.png"/><Relationship Id="rId19" Type="http://schemas.openxmlformats.org/officeDocument/2006/relationships/image" Target="../media/image23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Relationship Id="rId27" Type="http://schemas.openxmlformats.org/officeDocument/2006/relationships/image" Target="../media/image31.png"/><Relationship Id="rId30" Type="http://schemas.openxmlformats.org/officeDocument/2006/relationships/image" Target="../media/image34.png"/><Relationship Id="rId35" Type="http://schemas.openxmlformats.org/officeDocument/2006/relationships/image" Target="../media/image39.png"/><Relationship Id="rId43" Type="http://schemas.openxmlformats.org/officeDocument/2006/relationships/image" Target="../media/image47.png"/><Relationship Id="rId48" Type="http://schemas.openxmlformats.org/officeDocument/2006/relationships/image" Target="../media/image52.png"/><Relationship Id="rId56" Type="http://schemas.openxmlformats.org/officeDocument/2006/relationships/image" Target="../media/image60.png"/><Relationship Id="rId8" Type="http://schemas.openxmlformats.org/officeDocument/2006/relationships/image" Target="../media/image12.png"/><Relationship Id="rId51" Type="http://schemas.openxmlformats.org/officeDocument/2006/relationships/image" Target="../media/image55.png"/><Relationship Id="rId3" Type="http://schemas.openxmlformats.org/officeDocument/2006/relationships/image" Target="../media/image7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5" Type="http://schemas.openxmlformats.org/officeDocument/2006/relationships/image" Target="../media/image29.png"/><Relationship Id="rId33" Type="http://schemas.openxmlformats.org/officeDocument/2006/relationships/image" Target="../media/image37.png"/><Relationship Id="rId38" Type="http://schemas.openxmlformats.org/officeDocument/2006/relationships/image" Target="../media/image42.png"/><Relationship Id="rId46" Type="http://schemas.openxmlformats.org/officeDocument/2006/relationships/image" Target="../media/image50.png"/><Relationship Id="rId59" Type="http://schemas.openxmlformats.org/officeDocument/2006/relationships/image" Target="../media/image63.png"/><Relationship Id="rId20" Type="http://schemas.openxmlformats.org/officeDocument/2006/relationships/image" Target="../media/image24.png"/><Relationship Id="rId41" Type="http://schemas.openxmlformats.org/officeDocument/2006/relationships/image" Target="../media/image45.png"/><Relationship Id="rId54" Type="http://schemas.openxmlformats.org/officeDocument/2006/relationships/image" Target="../media/image58.png"/><Relationship Id="rId6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28" Type="http://schemas.openxmlformats.org/officeDocument/2006/relationships/image" Target="../media/image32.png"/><Relationship Id="rId36" Type="http://schemas.openxmlformats.org/officeDocument/2006/relationships/image" Target="../media/image40.png"/><Relationship Id="rId49" Type="http://schemas.openxmlformats.org/officeDocument/2006/relationships/image" Target="../media/image53.png"/><Relationship Id="rId57" Type="http://schemas.openxmlformats.org/officeDocument/2006/relationships/image" Target="../media/image61.png"/><Relationship Id="rId10" Type="http://schemas.openxmlformats.org/officeDocument/2006/relationships/image" Target="../media/image14.png"/><Relationship Id="rId31" Type="http://schemas.openxmlformats.org/officeDocument/2006/relationships/image" Target="../media/image35.png"/><Relationship Id="rId44" Type="http://schemas.openxmlformats.org/officeDocument/2006/relationships/image" Target="../media/image48.png"/><Relationship Id="rId52" Type="http://schemas.openxmlformats.org/officeDocument/2006/relationships/image" Target="../media/image56.png"/><Relationship Id="rId60" Type="http://schemas.openxmlformats.org/officeDocument/2006/relationships/image" Target="../media/image6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10" Type="http://schemas.openxmlformats.org/officeDocument/2006/relationships/image" Target="../media/image76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88.png"/><Relationship Id="rId18" Type="http://schemas.openxmlformats.org/officeDocument/2006/relationships/image" Target="../media/image93.png"/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12" Type="http://schemas.openxmlformats.org/officeDocument/2006/relationships/image" Target="../media/image87.png"/><Relationship Id="rId17" Type="http://schemas.openxmlformats.org/officeDocument/2006/relationships/image" Target="../media/image92.png"/><Relationship Id="rId2" Type="http://schemas.openxmlformats.org/officeDocument/2006/relationships/image" Target="../media/image77.png"/><Relationship Id="rId16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11" Type="http://schemas.openxmlformats.org/officeDocument/2006/relationships/image" Target="../media/image86.png"/><Relationship Id="rId5" Type="http://schemas.openxmlformats.org/officeDocument/2006/relationships/image" Target="../media/image80.png"/><Relationship Id="rId15" Type="http://schemas.openxmlformats.org/officeDocument/2006/relationships/image" Target="../media/image90.png"/><Relationship Id="rId10" Type="http://schemas.openxmlformats.org/officeDocument/2006/relationships/image" Target="../media/image85.png"/><Relationship Id="rId4" Type="http://schemas.openxmlformats.org/officeDocument/2006/relationships/image" Target="../media/image79.png"/><Relationship Id="rId9" Type="http://schemas.openxmlformats.org/officeDocument/2006/relationships/image" Target="../media/image84.png"/><Relationship Id="rId14" Type="http://schemas.openxmlformats.org/officeDocument/2006/relationships/image" Target="../media/image8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102.png"/><Relationship Id="rId7" Type="http://schemas.openxmlformats.org/officeDocument/2006/relationships/image" Target="../media/image106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3" Type="http://schemas.openxmlformats.org/officeDocument/2006/relationships/image" Target="../media/image112.png"/><Relationship Id="rId7" Type="http://schemas.openxmlformats.org/officeDocument/2006/relationships/image" Target="../media/image116.png"/><Relationship Id="rId12" Type="http://schemas.openxmlformats.org/officeDocument/2006/relationships/image" Target="../media/image121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5.png"/><Relationship Id="rId11" Type="http://schemas.openxmlformats.org/officeDocument/2006/relationships/image" Target="../media/image120.png"/><Relationship Id="rId5" Type="http://schemas.openxmlformats.org/officeDocument/2006/relationships/image" Target="../media/image114.png"/><Relationship Id="rId10" Type="http://schemas.openxmlformats.org/officeDocument/2006/relationships/image" Target="../media/image119.png"/><Relationship Id="rId4" Type="http://schemas.openxmlformats.org/officeDocument/2006/relationships/image" Target="../media/image113.png"/><Relationship Id="rId9" Type="http://schemas.openxmlformats.org/officeDocument/2006/relationships/image" Target="../media/image1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6.png"/><Relationship Id="rId4" Type="http://schemas.openxmlformats.org/officeDocument/2006/relationships/image" Target="../media/image1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0.png"/><Relationship Id="rId4" Type="http://schemas.openxmlformats.org/officeDocument/2006/relationships/image" Target="../media/image1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9.png"/><Relationship Id="rId5" Type="http://schemas.openxmlformats.org/officeDocument/2006/relationships/image" Target="../media/image138.png"/><Relationship Id="rId4" Type="http://schemas.openxmlformats.org/officeDocument/2006/relationships/image" Target="../media/image13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5.png"/><Relationship Id="rId4" Type="http://schemas.openxmlformats.org/officeDocument/2006/relationships/image" Target="../media/image14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png"/><Relationship Id="rId3" Type="http://schemas.openxmlformats.org/officeDocument/2006/relationships/image" Target="../media/image147.png"/><Relationship Id="rId7" Type="http://schemas.openxmlformats.org/officeDocument/2006/relationships/image" Target="../media/image151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png"/><Relationship Id="rId5" Type="http://schemas.openxmlformats.org/officeDocument/2006/relationships/image" Target="../media/image149.png"/><Relationship Id="rId4" Type="http://schemas.openxmlformats.org/officeDocument/2006/relationships/image" Target="../media/image14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6.png"/><Relationship Id="rId5" Type="http://schemas.openxmlformats.org/officeDocument/2006/relationships/image" Target="../media/image155.png"/><Relationship Id="rId4" Type="http://schemas.openxmlformats.org/officeDocument/2006/relationships/image" Target="../media/image15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7.png"/><Relationship Id="rId4" Type="http://schemas.openxmlformats.org/officeDocument/2006/relationships/image" Target="../media/image15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1.jpg"/><Relationship Id="rId4" Type="http://schemas.openxmlformats.org/officeDocument/2006/relationships/image" Target="../media/image16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1.png"/><Relationship Id="rId4" Type="http://schemas.openxmlformats.org/officeDocument/2006/relationships/image" Target="../media/image17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1.png"/><Relationship Id="rId4" Type="http://schemas.openxmlformats.org/officeDocument/2006/relationships/image" Target="../media/image17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1.png"/><Relationship Id="rId4" Type="http://schemas.openxmlformats.org/officeDocument/2006/relationships/image" Target="../media/image17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png"/><Relationship Id="rId3" Type="http://schemas.openxmlformats.org/officeDocument/2006/relationships/image" Target="../media/image173.png"/><Relationship Id="rId7" Type="http://schemas.openxmlformats.org/officeDocument/2006/relationships/image" Target="../media/image177.png"/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6.png"/><Relationship Id="rId5" Type="http://schemas.openxmlformats.org/officeDocument/2006/relationships/image" Target="../media/image175.png"/><Relationship Id="rId4" Type="http://schemas.openxmlformats.org/officeDocument/2006/relationships/image" Target="../media/image174.png"/><Relationship Id="rId9" Type="http://schemas.openxmlformats.org/officeDocument/2006/relationships/image" Target="../media/image179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png"/><Relationship Id="rId13" Type="http://schemas.openxmlformats.org/officeDocument/2006/relationships/image" Target="../media/image191.png"/><Relationship Id="rId18" Type="http://schemas.openxmlformats.org/officeDocument/2006/relationships/image" Target="../media/image196.png"/><Relationship Id="rId3" Type="http://schemas.openxmlformats.org/officeDocument/2006/relationships/image" Target="../media/image181.png"/><Relationship Id="rId7" Type="http://schemas.openxmlformats.org/officeDocument/2006/relationships/image" Target="../media/image185.png"/><Relationship Id="rId12" Type="http://schemas.openxmlformats.org/officeDocument/2006/relationships/image" Target="../media/image190.png"/><Relationship Id="rId17" Type="http://schemas.openxmlformats.org/officeDocument/2006/relationships/image" Target="../media/image195.png"/><Relationship Id="rId2" Type="http://schemas.openxmlformats.org/officeDocument/2006/relationships/image" Target="../media/image180.png"/><Relationship Id="rId16" Type="http://schemas.openxmlformats.org/officeDocument/2006/relationships/image" Target="../media/image1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4.png"/><Relationship Id="rId11" Type="http://schemas.openxmlformats.org/officeDocument/2006/relationships/image" Target="../media/image189.png"/><Relationship Id="rId5" Type="http://schemas.openxmlformats.org/officeDocument/2006/relationships/image" Target="../media/image183.png"/><Relationship Id="rId15" Type="http://schemas.openxmlformats.org/officeDocument/2006/relationships/image" Target="../media/image193.png"/><Relationship Id="rId10" Type="http://schemas.openxmlformats.org/officeDocument/2006/relationships/image" Target="../media/image188.png"/><Relationship Id="rId4" Type="http://schemas.openxmlformats.org/officeDocument/2006/relationships/image" Target="../media/image182.png"/><Relationship Id="rId9" Type="http://schemas.openxmlformats.org/officeDocument/2006/relationships/image" Target="../media/image187.png"/><Relationship Id="rId14" Type="http://schemas.openxmlformats.org/officeDocument/2006/relationships/image" Target="../media/image19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png"/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7.png"/><Relationship Id="rId5" Type="http://schemas.openxmlformats.org/officeDocument/2006/relationships/image" Target="../media/image175.png"/><Relationship Id="rId4" Type="http://schemas.openxmlformats.org/officeDocument/2006/relationships/image" Target="../media/image17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png"/><Relationship Id="rId2" Type="http://schemas.openxmlformats.org/officeDocument/2006/relationships/image" Target="../media/image19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1.png"/><Relationship Id="rId4" Type="http://schemas.openxmlformats.org/officeDocument/2006/relationships/image" Target="../media/image20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png"/><Relationship Id="rId2" Type="http://schemas.openxmlformats.org/officeDocument/2006/relationships/image" Target="../media/image20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4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1.png"/><Relationship Id="rId3" Type="http://schemas.openxmlformats.org/officeDocument/2006/relationships/image" Target="../media/image206.png"/><Relationship Id="rId7" Type="http://schemas.openxmlformats.org/officeDocument/2006/relationships/image" Target="../media/image210.png"/><Relationship Id="rId2" Type="http://schemas.openxmlformats.org/officeDocument/2006/relationships/image" Target="../media/image20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9.png"/><Relationship Id="rId5" Type="http://schemas.openxmlformats.org/officeDocument/2006/relationships/image" Target="../media/image208.png"/><Relationship Id="rId10" Type="http://schemas.openxmlformats.org/officeDocument/2006/relationships/image" Target="../media/image213.png"/><Relationship Id="rId4" Type="http://schemas.openxmlformats.org/officeDocument/2006/relationships/image" Target="../media/image207.png"/><Relationship Id="rId9" Type="http://schemas.openxmlformats.org/officeDocument/2006/relationships/image" Target="../media/image212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png"/><Relationship Id="rId3" Type="http://schemas.openxmlformats.org/officeDocument/2006/relationships/image" Target="../media/image215.png"/><Relationship Id="rId7" Type="http://schemas.openxmlformats.org/officeDocument/2006/relationships/image" Target="../media/image219.png"/><Relationship Id="rId2" Type="http://schemas.openxmlformats.org/officeDocument/2006/relationships/image" Target="../media/image2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8.png"/><Relationship Id="rId5" Type="http://schemas.openxmlformats.org/officeDocument/2006/relationships/image" Target="../media/image217.png"/><Relationship Id="rId10" Type="http://schemas.openxmlformats.org/officeDocument/2006/relationships/image" Target="../media/image222.png"/><Relationship Id="rId4" Type="http://schemas.openxmlformats.org/officeDocument/2006/relationships/image" Target="../media/image216.png"/><Relationship Id="rId9" Type="http://schemas.openxmlformats.org/officeDocument/2006/relationships/image" Target="../media/image221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9289226"/>
            <a:ext cx="17881600" cy="771363"/>
            <a:chOff x="0" y="6880859"/>
            <a:chExt cx="7772400" cy="335280"/>
          </a:xfrm>
        </p:grpSpPr>
        <p:sp>
          <p:nvSpPr>
            <p:cNvPr id="3" name="object 3"/>
            <p:cNvSpPr/>
            <p:nvPr/>
          </p:nvSpPr>
          <p:spPr>
            <a:xfrm>
              <a:off x="1523" y="6923531"/>
              <a:ext cx="7771130" cy="292735"/>
            </a:xfrm>
            <a:custGeom>
              <a:avLst/>
              <a:gdLst/>
              <a:ahLst/>
              <a:cxnLst/>
              <a:rect l="l" t="t" r="r" b="b"/>
              <a:pathLst>
                <a:path w="7771130" h="292734">
                  <a:moveTo>
                    <a:pt x="7770876" y="292607"/>
                  </a:moveTo>
                  <a:lnTo>
                    <a:pt x="0" y="292607"/>
                  </a:lnTo>
                  <a:lnTo>
                    <a:pt x="0" y="0"/>
                  </a:lnTo>
                  <a:lnTo>
                    <a:pt x="7770876" y="0"/>
                  </a:lnTo>
                  <a:lnTo>
                    <a:pt x="7770876" y="292607"/>
                  </a:lnTo>
                  <a:close/>
                </a:path>
              </a:pathLst>
            </a:custGeom>
            <a:solidFill>
              <a:srgbClr val="BC572B"/>
            </a:solidFill>
          </p:spPr>
          <p:txBody>
            <a:bodyPr wrap="square" lIns="0" tIns="0" rIns="0" bIns="0" rtlCol="0"/>
            <a:lstStyle/>
            <a:p>
              <a:endParaRPr sz="4141"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880859"/>
              <a:ext cx="7771130" cy="41275"/>
            </a:xfrm>
            <a:custGeom>
              <a:avLst/>
              <a:gdLst/>
              <a:ahLst/>
              <a:cxnLst/>
              <a:rect l="l" t="t" r="r" b="b"/>
              <a:pathLst>
                <a:path w="7771130" h="41275">
                  <a:moveTo>
                    <a:pt x="7770876" y="41147"/>
                  </a:moveTo>
                  <a:lnTo>
                    <a:pt x="0" y="41147"/>
                  </a:lnTo>
                  <a:lnTo>
                    <a:pt x="0" y="0"/>
                  </a:lnTo>
                  <a:lnTo>
                    <a:pt x="7770876" y="0"/>
                  </a:lnTo>
                  <a:lnTo>
                    <a:pt x="7770876" y="41147"/>
                  </a:lnTo>
                  <a:close/>
                </a:path>
              </a:pathLst>
            </a:custGeom>
            <a:solidFill>
              <a:srgbClr val="E48311"/>
            </a:solidFill>
          </p:spPr>
          <p:txBody>
            <a:bodyPr wrap="square" lIns="0" tIns="0" rIns="0" bIns="0" rtlCol="0"/>
            <a:lstStyle/>
            <a:p>
              <a:endParaRPr sz="4141"/>
            </a:p>
          </p:txBody>
        </p:sp>
      </p:grpSp>
      <p:sp>
        <p:nvSpPr>
          <p:cNvPr id="5" name="object 5"/>
          <p:cNvSpPr/>
          <p:nvPr/>
        </p:nvSpPr>
        <p:spPr>
          <a:xfrm>
            <a:off x="1770639" y="6368565"/>
            <a:ext cx="14484973" cy="0"/>
          </a:xfrm>
          <a:custGeom>
            <a:avLst/>
            <a:gdLst/>
            <a:ahLst/>
            <a:cxnLst/>
            <a:rect l="l" t="t" r="r" b="b"/>
            <a:pathLst>
              <a:path w="6296025">
                <a:moveTo>
                  <a:pt x="0" y="0"/>
                </a:moveTo>
                <a:lnTo>
                  <a:pt x="6295644" y="0"/>
                </a:lnTo>
              </a:path>
            </a:pathLst>
          </a:custGeom>
          <a:ln w="4572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 sz="4141"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042646" y="1659281"/>
            <a:ext cx="3903565" cy="1248045"/>
          </a:xfrm>
          <a:prstGeom prst="rect">
            <a:avLst/>
          </a:prstGeom>
        </p:spPr>
        <p:txBody>
          <a:bodyPr vert="horz" wrap="square" lIns="0" tIns="36523" rIns="0" bIns="0" rtlCol="0" anchor="ctr">
            <a:spAutoFit/>
          </a:bodyPr>
          <a:lstStyle/>
          <a:p>
            <a:pPr marL="29221">
              <a:spcBef>
                <a:spcPts val="288"/>
              </a:spcBef>
            </a:pPr>
            <a:r>
              <a:rPr sz="8745" spc="-69" dirty="0">
                <a:solidFill>
                  <a:srgbClr val="212121"/>
                </a:solidFill>
              </a:rPr>
              <a:t>IPE</a:t>
            </a:r>
            <a:r>
              <a:rPr sz="8745" spc="-276" dirty="0">
                <a:solidFill>
                  <a:srgbClr val="212121"/>
                </a:solidFill>
              </a:rPr>
              <a:t> </a:t>
            </a:r>
            <a:r>
              <a:rPr sz="8745" spc="-46" dirty="0">
                <a:solidFill>
                  <a:srgbClr val="212121"/>
                </a:solidFill>
              </a:rPr>
              <a:t>4111</a:t>
            </a:r>
            <a:endParaRPr sz="8745"/>
          </a:p>
        </p:txBody>
      </p:sp>
      <p:sp>
        <p:nvSpPr>
          <p:cNvPr id="7" name="object 7"/>
          <p:cNvSpPr txBox="1"/>
          <p:nvPr/>
        </p:nvSpPr>
        <p:spPr>
          <a:xfrm>
            <a:off x="2565454" y="3874316"/>
            <a:ext cx="12864818" cy="1382633"/>
          </a:xfrm>
          <a:prstGeom prst="rect">
            <a:avLst/>
          </a:prstGeom>
        </p:spPr>
        <p:txBody>
          <a:bodyPr vert="horz" wrap="square" lIns="0" tIns="36523" rIns="0" bIns="0" rtlCol="0">
            <a:spAutoFit/>
          </a:bodyPr>
          <a:lstStyle/>
          <a:p>
            <a:pPr marL="29221">
              <a:spcBef>
                <a:spcPts val="288"/>
              </a:spcBef>
            </a:pPr>
            <a:r>
              <a:rPr sz="8745" spc="-127" dirty="0">
                <a:solidFill>
                  <a:srgbClr val="212121"/>
                </a:solidFill>
                <a:latin typeface="Calibri"/>
                <a:cs typeface="Calibri"/>
              </a:rPr>
              <a:t>Introduction</a:t>
            </a:r>
            <a:r>
              <a:rPr sz="8745" spc="-138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8745" spc="-161" dirty="0">
                <a:solidFill>
                  <a:srgbClr val="212121"/>
                </a:solidFill>
                <a:latin typeface="Calibri"/>
                <a:cs typeface="Calibri"/>
              </a:rPr>
              <a:t>to</a:t>
            </a:r>
            <a:r>
              <a:rPr sz="8745" spc="-69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8745" spc="-115" dirty="0">
                <a:solidFill>
                  <a:srgbClr val="212121"/>
                </a:solidFill>
                <a:latin typeface="Calibri"/>
                <a:cs typeface="Calibri"/>
              </a:rPr>
              <a:t>Management</a:t>
            </a:r>
            <a:endParaRPr sz="8745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794486" y="6280203"/>
            <a:ext cx="5424378" cy="1532350"/>
          </a:xfrm>
          <a:prstGeom prst="rect">
            <a:avLst/>
          </a:prstGeom>
        </p:spPr>
        <p:txBody>
          <a:bodyPr vert="horz" wrap="square" lIns="0" tIns="249816" rIns="0" bIns="0" rtlCol="0">
            <a:spAutoFit/>
          </a:bodyPr>
          <a:lstStyle/>
          <a:p>
            <a:pPr marR="11690" algn="r">
              <a:spcBef>
                <a:spcPts val="1967"/>
              </a:spcBef>
            </a:pPr>
            <a:r>
              <a:rPr sz="3451" spc="242" dirty="0">
                <a:solidFill>
                  <a:srgbClr val="627052"/>
                </a:solidFill>
                <a:latin typeface="Calibri"/>
                <a:cs typeface="Calibri"/>
              </a:rPr>
              <a:t>COURSE</a:t>
            </a:r>
            <a:r>
              <a:rPr sz="3451" spc="368" dirty="0">
                <a:solidFill>
                  <a:srgbClr val="627052"/>
                </a:solidFill>
                <a:latin typeface="Calibri"/>
                <a:cs typeface="Calibri"/>
              </a:rPr>
              <a:t> </a:t>
            </a:r>
            <a:r>
              <a:rPr sz="3451" spc="262" dirty="0">
                <a:solidFill>
                  <a:srgbClr val="627052"/>
                </a:solidFill>
                <a:latin typeface="Calibri"/>
                <a:cs typeface="Calibri"/>
              </a:rPr>
              <a:t>TEACHER</a:t>
            </a:r>
            <a:endParaRPr sz="3451">
              <a:latin typeface="Calibri"/>
              <a:cs typeface="Calibri"/>
            </a:endParaRPr>
          </a:p>
          <a:p>
            <a:pPr marR="13149" algn="r">
              <a:spcBef>
                <a:spcPts val="1703"/>
              </a:spcBef>
            </a:pPr>
            <a:r>
              <a:rPr sz="3451" spc="12" dirty="0">
                <a:solidFill>
                  <a:srgbClr val="627052"/>
                </a:solidFill>
                <a:latin typeface="Calibri"/>
                <a:cs typeface="Calibri"/>
              </a:rPr>
              <a:t>-</a:t>
            </a:r>
            <a:r>
              <a:rPr sz="3451" spc="575" dirty="0">
                <a:solidFill>
                  <a:srgbClr val="627052"/>
                </a:solidFill>
                <a:latin typeface="Calibri"/>
                <a:cs typeface="Calibri"/>
              </a:rPr>
              <a:t> </a:t>
            </a:r>
            <a:r>
              <a:rPr sz="3451" spc="196" dirty="0">
                <a:solidFill>
                  <a:srgbClr val="627052"/>
                </a:solidFill>
                <a:latin typeface="Calibri"/>
                <a:cs typeface="Calibri"/>
              </a:rPr>
              <a:t>NUR</a:t>
            </a:r>
            <a:r>
              <a:rPr sz="3451" spc="564" dirty="0">
                <a:solidFill>
                  <a:srgbClr val="627052"/>
                </a:solidFill>
                <a:latin typeface="Calibri"/>
                <a:cs typeface="Calibri"/>
              </a:rPr>
              <a:t> </a:t>
            </a:r>
            <a:r>
              <a:rPr sz="3451" spc="173" dirty="0">
                <a:solidFill>
                  <a:srgbClr val="627052"/>
                </a:solidFill>
                <a:latin typeface="Calibri"/>
                <a:cs typeface="Calibri"/>
              </a:rPr>
              <a:t>MD.</a:t>
            </a:r>
            <a:r>
              <a:rPr sz="3451" spc="575" dirty="0">
                <a:solidFill>
                  <a:srgbClr val="627052"/>
                </a:solidFill>
                <a:latin typeface="Calibri"/>
                <a:cs typeface="Calibri"/>
              </a:rPr>
              <a:t> </a:t>
            </a:r>
            <a:r>
              <a:rPr sz="3451" spc="219" dirty="0">
                <a:solidFill>
                  <a:srgbClr val="627052"/>
                </a:solidFill>
                <a:latin typeface="Calibri"/>
                <a:cs typeface="Calibri"/>
              </a:rPr>
              <a:t>ALIF</a:t>
            </a:r>
            <a:r>
              <a:rPr sz="3451" spc="575" dirty="0">
                <a:solidFill>
                  <a:srgbClr val="627052"/>
                </a:solidFill>
                <a:latin typeface="Calibri"/>
                <a:cs typeface="Calibri"/>
              </a:rPr>
              <a:t> </a:t>
            </a:r>
            <a:r>
              <a:rPr sz="3451" spc="150" dirty="0">
                <a:solidFill>
                  <a:srgbClr val="627052"/>
                </a:solidFill>
                <a:latin typeface="Calibri"/>
                <a:cs typeface="Calibri"/>
              </a:rPr>
              <a:t>UL</a:t>
            </a:r>
            <a:r>
              <a:rPr sz="3451" spc="527" dirty="0">
                <a:solidFill>
                  <a:srgbClr val="627052"/>
                </a:solidFill>
                <a:latin typeface="Calibri"/>
                <a:cs typeface="Calibri"/>
              </a:rPr>
              <a:t> </a:t>
            </a:r>
            <a:r>
              <a:rPr sz="3451" spc="230" dirty="0">
                <a:solidFill>
                  <a:srgbClr val="627052"/>
                </a:solidFill>
                <a:latin typeface="Calibri"/>
                <a:cs typeface="Calibri"/>
              </a:rPr>
              <a:t>ISLAM</a:t>
            </a:r>
            <a:endParaRPr sz="3451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183583" y="9582780"/>
            <a:ext cx="159240" cy="265467"/>
          </a:xfrm>
          <a:prstGeom prst="rect">
            <a:avLst/>
          </a:prstGeom>
        </p:spPr>
        <p:txBody>
          <a:bodyPr vert="horz" wrap="square" lIns="0" tIns="35062" rIns="0" bIns="0" rtlCol="0">
            <a:spAutoFit/>
          </a:bodyPr>
          <a:lstStyle/>
          <a:p>
            <a:pPr marL="29221">
              <a:spcBef>
                <a:spcPts val="276"/>
              </a:spcBef>
            </a:pPr>
            <a:r>
              <a:rPr sz="1495" spc="23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495">
              <a:latin typeface="Calibri"/>
              <a:cs typeface="Calibri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714AC07-D9E9-227F-4255-F4F46E6A3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49589" y="2546813"/>
            <a:ext cx="14617916" cy="0"/>
          </a:xfrm>
          <a:custGeom>
            <a:avLst/>
            <a:gdLst/>
            <a:ahLst/>
            <a:cxnLst/>
            <a:rect l="l" t="t" r="r" b="b"/>
            <a:pathLst>
              <a:path w="6353809">
                <a:moveTo>
                  <a:pt x="0" y="0"/>
                </a:moveTo>
                <a:lnTo>
                  <a:pt x="6353556" y="0"/>
                </a:lnTo>
              </a:path>
            </a:pathLst>
          </a:custGeom>
          <a:ln w="4572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 sz="4141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7442" y="1731620"/>
            <a:ext cx="2650684" cy="70123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54483" y="1735129"/>
            <a:ext cx="3187130" cy="55748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15916" y="2820294"/>
            <a:ext cx="326076" cy="37866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558420" y="2597874"/>
            <a:ext cx="5625984" cy="4105234"/>
          </a:xfrm>
          <a:prstGeom prst="rect">
            <a:avLst/>
          </a:prstGeom>
        </p:spPr>
        <p:txBody>
          <a:bodyPr vert="horz" wrap="square" lIns="0" tIns="27757" rIns="0" bIns="0" rtlCol="0">
            <a:spAutoFit/>
          </a:bodyPr>
          <a:lstStyle/>
          <a:p>
            <a:pPr marL="29221" marR="11690">
              <a:lnSpc>
                <a:spcPct val="110100"/>
              </a:lnSpc>
              <a:spcBef>
                <a:spcPts val="219"/>
              </a:spcBef>
            </a:pP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What is Management?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Functions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of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Management </a:t>
            </a:r>
            <a:r>
              <a:rPr sz="4026" spc="-88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Nature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of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Management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Who</a:t>
            </a:r>
            <a:r>
              <a:rPr sz="4026" spc="-23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are</a:t>
            </a:r>
            <a:r>
              <a:rPr sz="4026" spc="-12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Managers?</a:t>
            </a:r>
            <a:endParaRPr sz="4026">
              <a:latin typeface="Calibri"/>
              <a:cs typeface="Calibri"/>
            </a:endParaRPr>
          </a:p>
          <a:p>
            <a:pPr marL="29221" marR="791864">
              <a:lnSpc>
                <a:spcPts val="5338"/>
              </a:lnSpc>
              <a:spcBef>
                <a:spcPts val="196"/>
              </a:spcBef>
            </a:pP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Roles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of Manager 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Management</a:t>
            </a:r>
            <a:r>
              <a:rPr sz="4026" spc="-58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Theories</a:t>
            </a:r>
            <a:endParaRPr sz="4026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15916" y="3496990"/>
            <a:ext cx="326076" cy="37866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15916" y="4170182"/>
            <a:ext cx="326076" cy="37866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15916" y="4846878"/>
            <a:ext cx="326076" cy="37866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15916" y="5520065"/>
            <a:ext cx="326076" cy="37866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15916" y="6196761"/>
            <a:ext cx="326076" cy="37866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6113330" y="9491464"/>
            <a:ext cx="229364" cy="436666"/>
          </a:xfrm>
          <a:prstGeom prst="rect">
            <a:avLst/>
          </a:prstGeom>
        </p:spPr>
        <p:txBody>
          <a:bodyPr vert="horz" wrap="square" lIns="0" tIns="29218" rIns="0" bIns="0" rtlCol="0">
            <a:spAutoFit/>
          </a:bodyPr>
          <a:lstStyle/>
          <a:p>
            <a:pPr marL="29221">
              <a:spcBef>
                <a:spcPts val="230"/>
              </a:spcBef>
            </a:pPr>
            <a:r>
              <a:rPr sz="2646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2646">
              <a:latin typeface="Calibri"/>
              <a:cs typeface="Calibri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BD6A59C2-1E2E-783C-BC24-60DFC7703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49589" y="2546813"/>
            <a:ext cx="14617916" cy="0"/>
          </a:xfrm>
          <a:custGeom>
            <a:avLst/>
            <a:gdLst/>
            <a:ahLst/>
            <a:cxnLst/>
            <a:rect l="l" t="t" r="r" b="b"/>
            <a:pathLst>
              <a:path w="6353809">
                <a:moveTo>
                  <a:pt x="0" y="0"/>
                </a:moveTo>
                <a:lnTo>
                  <a:pt x="6353556" y="0"/>
                </a:lnTo>
              </a:path>
            </a:pathLst>
          </a:custGeom>
          <a:ln w="4572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 sz="4141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7442" y="1700075"/>
            <a:ext cx="2983773" cy="592545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5019128" y="1700064"/>
            <a:ext cx="655951" cy="593132"/>
            <a:chOff x="2181605" y="3582161"/>
            <a:chExt cx="285115" cy="25781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81605" y="3658361"/>
              <a:ext cx="161544" cy="18135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357627" y="3587495"/>
              <a:ext cx="104139" cy="245745"/>
            </a:xfrm>
            <a:custGeom>
              <a:avLst/>
              <a:gdLst/>
              <a:ahLst/>
              <a:cxnLst/>
              <a:rect l="l" t="t" r="r" b="b"/>
              <a:pathLst>
                <a:path w="104139" h="245745">
                  <a:moveTo>
                    <a:pt x="102107" y="12191"/>
                  </a:moveTo>
                  <a:lnTo>
                    <a:pt x="102107" y="10667"/>
                  </a:lnTo>
                  <a:lnTo>
                    <a:pt x="102107" y="9143"/>
                  </a:lnTo>
                  <a:lnTo>
                    <a:pt x="102107" y="7619"/>
                  </a:lnTo>
                  <a:lnTo>
                    <a:pt x="100583" y="6095"/>
                  </a:lnTo>
                  <a:lnTo>
                    <a:pt x="99059" y="6095"/>
                  </a:lnTo>
                  <a:lnTo>
                    <a:pt x="97535" y="4571"/>
                  </a:lnTo>
                  <a:lnTo>
                    <a:pt x="96011" y="3047"/>
                  </a:lnTo>
                  <a:lnTo>
                    <a:pt x="94487" y="3047"/>
                  </a:lnTo>
                  <a:lnTo>
                    <a:pt x="91439" y="1523"/>
                  </a:lnTo>
                  <a:lnTo>
                    <a:pt x="88391" y="1523"/>
                  </a:lnTo>
                  <a:lnTo>
                    <a:pt x="83819" y="0"/>
                  </a:lnTo>
                  <a:lnTo>
                    <a:pt x="80771" y="0"/>
                  </a:lnTo>
                  <a:lnTo>
                    <a:pt x="76199" y="0"/>
                  </a:lnTo>
                  <a:lnTo>
                    <a:pt x="68579" y="0"/>
                  </a:lnTo>
                  <a:lnTo>
                    <a:pt x="60959" y="1523"/>
                  </a:lnTo>
                  <a:lnTo>
                    <a:pt x="30479" y="32003"/>
                  </a:lnTo>
                  <a:lnTo>
                    <a:pt x="28955" y="59435"/>
                  </a:lnTo>
                  <a:lnTo>
                    <a:pt x="28955" y="77723"/>
                  </a:lnTo>
                  <a:lnTo>
                    <a:pt x="4571" y="77723"/>
                  </a:lnTo>
                  <a:lnTo>
                    <a:pt x="3047" y="77723"/>
                  </a:lnTo>
                  <a:lnTo>
                    <a:pt x="1523" y="77723"/>
                  </a:lnTo>
                  <a:lnTo>
                    <a:pt x="1523" y="79247"/>
                  </a:lnTo>
                  <a:lnTo>
                    <a:pt x="0" y="80771"/>
                  </a:lnTo>
                  <a:lnTo>
                    <a:pt x="0" y="82295"/>
                  </a:lnTo>
                  <a:lnTo>
                    <a:pt x="0" y="83819"/>
                  </a:lnTo>
                  <a:lnTo>
                    <a:pt x="0" y="85343"/>
                  </a:lnTo>
                  <a:lnTo>
                    <a:pt x="0" y="86867"/>
                  </a:lnTo>
                  <a:lnTo>
                    <a:pt x="0" y="89915"/>
                  </a:lnTo>
                  <a:lnTo>
                    <a:pt x="0" y="92963"/>
                  </a:lnTo>
                  <a:lnTo>
                    <a:pt x="0" y="94487"/>
                  </a:lnTo>
                  <a:lnTo>
                    <a:pt x="1523" y="96011"/>
                  </a:lnTo>
                  <a:lnTo>
                    <a:pt x="3047" y="96011"/>
                  </a:lnTo>
                  <a:lnTo>
                    <a:pt x="4571" y="96011"/>
                  </a:lnTo>
                  <a:lnTo>
                    <a:pt x="28955" y="96011"/>
                  </a:lnTo>
                  <a:lnTo>
                    <a:pt x="28955" y="240791"/>
                  </a:lnTo>
                  <a:lnTo>
                    <a:pt x="28955" y="242315"/>
                  </a:lnTo>
                  <a:lnTo>
                    <a:pt x="28955" y="243839"/>
                  </a:lnTo>
                  <a:lnTo>
                    <a:pt x="30479" y="243839"/>
                  </a:lnTo>
                  <a:lnTo>
                    <a:pt x="32003" y="245363"/>
                  </a:lnTo>
                  <a:lnTo>
                    <a:pt x="33527" y="245363"/>
                  </a:lnTo>
                  <a:lnTo>
                    <a:pt x="45719" y="245363"/>
                  </a:lnTo>
                  <a:lnTo>
                    <a:pt x="47243" y="243839"/>
                  </a:lnTo>
                  <a:lnTo>
                    <a:pt x="48767" y="243839"/>
                  </a:lnTo>
                  <a:lnTo>
                    <a:pt x="48767" y="242315"/>
                  </a:lnTo>
                  <a:lnTo>
                    <a:pt x="50291" y="242315"/>
                  </a:lnTo>
                  <a:lnTo>
                    <a:pt x="50291" y="240791"/>
                  </a:lnTo>
                  <a:lnTo>
                    <a:pt x="50291" y="96011"/>
                  </a:lnTo>
                  <a:lnTo>
                    <a:pt x="88391" y="96011"/>
                  </a:lnTo>
                  <a:lnTo>
                    <a:pt x="89915" y="96011"/>
                  </a:lnTo>
                  <a:lnTo>
                    <a:pt x="91439" y="96011"/>
                  </a:lnTo>
                  <a:lnTo>
                    <a:pt x="92963" y="94487"/>
                  </a:lnTo>
                  <a:lnTo>
                    <a:pt x="92963" y="92963"/>
                  </a:lnTo>
                  <a:lnTo>
                    <a:pt x="94487" y="89915"/>
                  </a:lnTo>
                  <a:lnTo>
                    <a:pt x="94487" y="86867"/>
                  </a:lnTo>
                  <a:lnTo>
                    <a:pt x="94487" y="85343"/>
                  </a:lnTo>
                  <a:lnTo>
                    <a:pt x="92963" y="83819"/>
                  </a:lnTo>
                  <a:lnTo>
                    <a:pt x="92963" y="82295"/>
                  </a:lnTo>
                  <a:lnTo>
                    <a:pt x="92963" y="80771"/>
                  </a:lnTo>
                  <a:lnTo>
                    <a:pt x="91439" y="79247"/>
                  </a:lnTo>
                  <a:lnTo>
                    <a:pt x="91439" y="77723"/>
                  </a:lnTo>
                  <a:lnTo>
                    <a:pt x="89915" y="77723"/>
                  </a:lnTo>
                  <a:lnTo>
                    <a:pt x="88391" y="77723"/>
                  </a:lnTo>
                  <a:lnTo>
                    <a:pt x="50291" y="77723"/>
                  </a:lnTo>
                  <a:lnTo>
                    <a:pt x="50291" y="59435"/>
                  </a:lnTo>
                  <a:lnTo>
                    <a:pt x="50291" y="51815"/>
                  </a:lnTo>
                  <a:lnTo>
                    <a:pt x="50291" y="45719"/>
                  </a:lnTo>
                  <a:lnTo>
                    <a:pt x="50291" y="41147"/>
                  </a:lnTo>
                  <a:lnTo>
                    <a:pt x="51815" y="35051"/>
                  </a:lnTo>
                  <a:lnTo>
                    <a:pt x="53339" y="32003"/>
                  </a:lnTo>
                  <a:lnTo>
                    <a:pt x="54863" y="27431"/>
                  </a:lnTo>
                  <a:lnTo>
                    <a:pt x="57911" y="24383"/>
                  </a:lnTo>
                  <a:lnTo>
                    <a:pt x="59435" y="22859"/>
                  </a:lnTo>
                  <a:lnTo>
                    <a:pt x="64007" y="21335"/>
                  </a:lnTo>
                  <a:lnTo>
                    <a:pt x="67055" y="19811"/>
                  </a:lnTo>
                  <a:lnTo>
                    <a:pt x="70103" y="18287"/>
                  </a:lnTo>
                  <a:lnTo>
                    <a:pt x="76199" y="18287"/>
                  </a:lnTo>
                  <a:lnTo>
                    <a:pt x="79247" y="18287"/>
                  </a:lnTo>
                  <a:lnTo>
                    <a:pt x="82295" y="18287"/>
                  </a:lnTo>
                  <a:lnTo>
                    <a:pt x="85343" y="19811"/>
                  </a:lnTo>
                  <a:lnTo>
                    <a:pt x="86867" y="19811"/>
                  </a:lnTo>
                  <a:lnTo>
                    <a:pt x="89915" y="19811"/>
                  </a:lnTo>
                  <a:lnTo>
                    <a:pt x="91439" y="21335"/>
                  </a:lnTo>
                  <a:lnTo>
                    <a:pt x="92963" y="21335"/>
                  </a:lnTo>
                  <a:lnTo>
                    <a:pt x="94487" y="22859"/>
                  </a:lnTo>
                  <a:lnTo>
                    <a:pt x="96011" y="22859"/>
                  </a:lnTo>
                  <a:lnTo>
                    <a:pt x="97535" y="24383"/>
                  </a:lnTo>
                  <a:lnTo>
                    <a:pt x="99059" y="24383"/>
                  </a:lnTo>
                  <a:lnTo>
                    <a:pt x="100583" y="24383"/>
                  </a:lnTo>
                  <a:lnTo>
                    <a:pt x="100583" y="22859"/>
                  </a:lnTo>
                  <a:lnTo>
                    <a:pt x="102107" y="22859"/>
                  </a:lnTo>
                  <a:lnTo>
                    <a:pt x="102107" y="21335"/>
                  </a:lnTo>
                  <a:lnTo>
                    <a:pt x="102107" y="19811"/>
                  </a:lnTo>
                  <a:lnTo>
                    <a:pt x="103631" y="18287"/>
                  </a:lnTo>
                  <a:lnTo>
                    <a:pt x="103631" y="16763"/>
                  </a:lnTo>
                  <a:lnTo>
                    <a:pt x="103631" y="15239"/>
                  </a:lnTo>
                  <a:lnTo>
                    <a:pt x="102107" y="13715"/>
                  </a:lnTo>
                  <a:lnTo>
                    <a:pt x="102107" y="12191"/>
                  </a:lnTo>
                  <a:close/>
                </a:path>
              </a:pathLst>
            </a:custGeom>
            <a:ln w="10668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4141"/>
            </a:p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67617" y="1742141"/>
            <a:ext cx="4175880" cy="690721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713447" y="1473273"/>
            <a:ext cx="8378348" cy="923211"/>
          </a:xfrm>
          <a:prstGeom prst="rect">
            <a:avLst/>
          </a:prstGeom>
        </p:spPr>
        <p:txBody>
          <a:bodyPr vert="horz" wrap="square" lIns="0" tIns="30679" rIns="0" bIns="0" rtlCol="0" anchor="ctr">
            <a:spAutoFit/>
          </a:bodyPr>
          <a:lstStyle/>
          <a:p>
            <a:pPr marL="29221">
              <a:spcBef>
                <a:spcPts val="242"/>
              </a:spcBef>
            </a:pPr>
            <a:r>
              <a:rPr sz="6442" spc="-161" dirty="0">
                <a:solidFill>
                  <a:srgbClr val="BF0000"/>
                </a:solidFill>
              </a:rPr>
              <a:t>D</a:t>
            </a:r>
            <a:r>
              <a:rPr sz="6442" spc="-207" dirty="0">
                <a:solidFill>
                  <a:srgbClr val="BF0000"/>
                </a:solidFill>
              </a:rPr>
              <a:t>e</a:t>
            </a:r>
            <a:r>
              <a:rPr sz="6442" spc="-161" dirty="0">
                <a:solidFill>
                  <a:srgbClr val="BF0000"/>
                </a:solidFill>
              </a:rPr>
              <a:t>fi</a:t>
            </a:r>
            <a:r>
              <a:rPr sz="6442" spc="-196" dirty="0">
                <a:solidFill>
                  <a:srgbClr val="BF0000"/>
                </a:solidFill>
              </a:rPr>
              <a:t>n</a:t>
            </a:r>
            <a:r>
              <a:rPr sz="6442" spc="-161" dirty="0">
                <a:solidFill>
                  <a:srgbClr val="BF0000"/>
                </a:solidFill>
              </a:rPr>
              <a:t>iti</a:t>
            </a:r>
            <a:r>
              <a:rPr sz="6442" spc="-184" dirty="0">
                <a:solidFill>
                  <a:srgbClr val="BF0000"/>
                </a:solidFill>
              </a:rPr>
              <a:t>o</a:t>
            </a:r>
            <a:r>
              <a:rPr sz="6442" spc="-35" dirty="0">
                <a:solidFill>
                  <a:srgbClr val="BF0000"/>
                </a:solidFill>
              </a:rPr>
              <a:t>n</a:t>
            </a:r>
            <a:r>
              <a:rPr sz="6442" spc="-262" dirty="0">
                <a:solidFill>
                  <a:srgbClr val="BF0000"/>
                </a:solidFill>
              </a:rPr>
              <a:t> </a:t>
            </a:r>
            <a:r>
              <a:rPr sz="6442" spc="-184" dirty="0">
                <a:solidFill>
                  <a:srgbClr val="BF0000"/>
                </a:solidFill>
              </a:rPr>
              <a:t>o</a:t>
            </a:r>
            <a:r>
              <a:rPr sz="6442" spc="-46" dirty="0">
                <a:solidFill>
                  <a:srgbClr val="BF0000"/>
                </a:solidFill>
              </a:rPr>
              <a:t>f</a:t>
            </a:r>
            <a:r>
              <a:rPr sz="6442" spc="-276" dirty="0">
                <a:solidFill>
                  <a:srgbClr val="BF0000"/>
                </a:solidFill>
              </a:rPr>
              <a:t> </a:t>
            </a:r>
            <a:r>
              <a:rPr sz="6442" spc="-219" dirty="0">
                <a:solidFill>
                  <a:srgbClr val="BF0000"/>
                </a:solidFill>
              </a:rPr>
              <a:t>M</a:t>
            </a:r>
            <a:r>
              <a:rPr sz="6442" spc="-161" dirty="0">
                <a:solidFill>
                  <a:srgbClr val="BF0000"/>
                </a:solidFill>
              </a:rPr>
              <a:t>ana</a:t>
            </a:r>
            <a:r>
              <a:rPr sz="6442" spc="-207" dirty="0">
                <a:solidFill>
                  <a:srgbClr val="BF0000"/>
                </a:solidFill>
              </a:rPr>
              <a:t>g</a:t>
            </a:r>
            <a:r>
              <a:rPr sz="6442" spc="-150" dirty="0">
                <a:solidFill>
                  <a:srgbClr val="BF0000"/>
                </a:solidFill>
              </a:rPr>
              <a:t>e</a:t>
            </a:r>
            <a:r>
              <a:rPr sz="6442" spc="-253" dirty="0">
                <a:solidFill>
                  <a:srgbClr val="BF0000"/>
                </a:solidFill>
              </a:rPr>
              <a:t>m</a:t>
            </a:r>
            <a:r>
              <a:rPr sz="6442" spc="-150" dirty="0">
                <a:solidFill>
                  <a:srgbClr val="BF0000"/>
                </a:solidFill>
              </a:rPr>
              <a:t>e</a:t>
            </a:r>
            <a:r>
              <a:rPr sz="6442" spc="-253" dirty="0">
                <a:solidFill>
                  <a:srgbClr val="BF0000"/>
                </a:solidFill>
              </a:rPr>
              <a:t>n</a:t>
            </a:r>
            <a:r>
              <a:rPr sz="6442" spc="-46" dirty="0">
                <a:solidFill>
                  <a:srgbClr val="BF0000"/>
                </a:solidFill>
              </a:rPr>
              <a:t>t</a:t>
            </a:r>
            <a:endParaRPr sz="6442"/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77641" y="2841342"/>
            <a:ext cx="3004810" cy="448791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4954263" y="2862379"/>
            <a:ext cx="267347" cy="340393"/>
            <a:chOff x="2153411" y="4087367"/>
            <a:chExt cx="116205" cy="147955"/>
          </a:xfrm>
        </p:grpSpPr>
        <p:sp>
          <p:nvSpPr>
            <p:cNvPr id="11" name="object 11"/>
            <p:cNvSpPr/>
            <p:nvPr/>
          </p:nvSpPr>
          <p:spPr>
            <a:xfrm>
              <a:off x="2153411" y="4087367"/>
              <a:ext cx="22860" cy="146685"/>
            </a:xfrm>
            <a:custGeom>
              <a:avLst/>
              <a:gdLst/>
              <a:ahLst/>
              <a:cxnLst/>
              <a:rect l="l" t="t" r="r" b="b"/>
              <a:pathLst>
                <a:path w="22860" h="146685">
                  <a:moveTo>
                    <a:pt x="16764" y="42672"/>
                  </a:moveTo>
                  <a:lnTo>
                    <a:pt x="4572" y="42672"/>
                  </a:lnTo>
                  <a:lnTo>
                    <a:pt x="4572" y="41148"/>
                  </a:lnTo>
                  <a:lnTo>
                    <a:pt x="16764" y="41148"/>
                  </a:lnTo>
                  <a:lnTo>
                    <a:pt x="16764" y="42672"/>
                  </a:lnTo>
                  <a:close/>
                </a:path>
                <a:path w="22860" h="146685">
                  <a:moveTo>
                    <a:pt x="19812" y="144780"/>
                  </a:moveTo>
                  <a:lnTo>
                    <a:pt x="1524" y="144780"/>
                  </a:lnTo>
                  <a:lnTo>
                    <a:pt x="1524" y="42672"/>
                  </a:lnTo>
                  <a:lnTo>
                    <a:pt x="19812" y="42672"/>
                  </a:lnTo>
                  <a:lnTo>
                    <a:pt x="19812" y="144780"/>
                  </a:lnTo>
                  <a:close/>
                </a:path>
                <a:path w="22860" h="146685">
                  <a:moveTo>
                    <a:pt x="18288" y="146304"/>
                  </a:moveTo>
                  <a:lnTo>
                    <a:pt x="3048" y="146304"/>
                  </a:lnTo>
                  <a:lnTo>
                    <a:pt x="3048" y="144780"/>
                  </a:lnTo>
                  <a:lnTo>
                    <a:pt x="18288" y="144780"/>
                  </a:lnTo>
                  <a:lnTo>
                    <a:pt x="18288" y="146304"/>
                  </a:lnTo>
                  <a:close/>
                </a:path>
                <a:path w="22860" h="146685">
                  <a:moveTo>
                    <a:pt x="18288" y="21336"/>
                  </a:moveTo>
                  <a:lnTo>
                    <a:pt x="4572" y="21336"/>
                  </a:lnTo>
                  <a:lnTo>
                    <a:pt x="1524" y="18288"/>
                  </a:lnTo>
                  <a:lnTo>
                    <a:pt x="0" y="15240"/>
                  </a:lnTo>
                  <a:lnTo>
                    <a:pt x="0" y="6096"/>
                  </a:lnTo>
                  <a:lnTo>
                    <a:pt x="4572" y="1524"/>
                  </a:lnTo>
                  <a:lnTo>
                    <a:pt x="7620" y="0"/>
                  </a:lnTo>
                  <a:lnTo>
                    <a:pt x="15240" y="0"/>
                  </a:lnTo>
                  <a:lnTo>
                    <a:pt x="18288" y="1524"/>
                  </a:lnTo>
                  <a:lnTo>
                    <a:pt x="22860" y="6096"/>
                  </a:lnTo>
                  <a:lnTo>
                    <a:pt x="22860" y="15240"/>
                  </a:lnTo>
                  <a:lnTo>
                    <a:pt x="21336" y="18288"/>
                  </a:lnTo>
                  <a:lnTo>
                    <a:pt x="18288" y="21336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 sz="4141"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99131" y="4126991"/>
              <a:ext cx="70104" cy="108204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5367986" y="2844850"/>
            <a:ext cx="677865" cy="357924"/>
            <a:chOff x="2333244" y="4079748"/>
            <a:chExt cx="294640" cy="155575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33244" y="4101084"/>
              <a:ext cx="65532" cy="13411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23159" y="4079748"/>
              <a:ext cx="86868" cy="15392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535936" y="4126992"/>
              <a:ext cx="91440" cy="108204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6212985" y="2893927"/>
            <a:ext cx="565374" cy="309714"/>
            <a:chOff x="2700527" y="4101084"/>
            <a:chExt cx="245745" cy="134620"/>
          </a:xfrm>
        </p:grpSpPr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700527" y="4126992"/>
              <a:ext cx="82296" cy="10820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14828" y="4101084"/>
              <a:ext cx="131063" cy="134112"/>
            </a:xfrm>
            <a:prstGeom prst="rect">
              <a:avLst/>
            </a:prstGeom>
          </p:spPr>
        </p:pic>
      </p:grpSp>
      <p:pic>
        <p:nvPicPr>
          <p:cNvPr id="20" name="object 2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935264" y="2841331"/>
            <a:ext cx="2524459" cy="448793"/>
          </a:xfrm>
          <a:prstGeom prst="rect">
            <a:avLst/>
          </a:prstGeom>
        </p:spPr>
      </p:pic>
      <p:grpSp>
        <p:nvGrpSpPr>
          <p:cNvPr id="21" name="object 21"/>
          <p:cNvGrpSpPr/>
          <p:nvPr/>
        </p:nvGrpSpPr>
        <p:grpSpPr>
          <a:xfrm>
            <a:off x="9610481" y="2844850"/>
            <a:ext cx="1034328" cy="357924"/>
            <a:chOff x="4177283" y="4079748"/>
            <a:chExt cx="449580" cy="155575"/>
          </a:xfrm>
        </p:grpSpPr>
        <p:pic>
          <p:nvPicPr>
            <p:cNvPr id="22" name="object 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177283" y="4128516"/>
              <a:ext cx="150876" cy="10515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349495" y="4079748"/>
              <a:ext cx="86868" cy="15392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462271" y="4101084"/>
              <a:ext cx="164592" cy="134112"/>
            </a:xfrm>
            <a:prstGeom prst="rect">
              <a:avLst/>
            </a:prstGeom>
          </p:spPr>
        </p:pic>
      </p:grpSp>
      <p:grpSp>
        <p:nvGrpSpPr>
          <p:cNvPr id="25" name="object 25"/>
          <p:cNvGrpSpPr/>
          <p:nvPr/>
        </p:nvGrpSpPr>
        <p:grpSpPr>
          <a:xfrm>
            <a:off x="10788563" y="2953540"/>
            <a:ext cx="730458" cy="337471"/>
            <a:chOff x="4689347" y="4126992"/>
            <a:chExt cx="317500" cy="146685"/>
          </a:xfrm>
        </p:grpSpPr>
        <p:pic>
          <p:nvPicPr>
            <p:cNvPr id="26" name="object 2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689347" y="4126992"/>
              <a:ext cx="205739" cy="146303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920995" y="4128516"/>
              <a:ext cx="85344" cy="106680"/>
            </a:xfrm>
            <a:prstGeom prst="rect">
              <a:avLst/>
            </a:prstGeom>
          </p:spPr>
        </p:pic>
      </p:grpSp>
      <p:grpSp>
        <p:nvGrpSpPr>
          <p:cNvPr id="28" name="object 28"/>
          <p:cNvGrpSpPr/>
          <p:nvPr/>
        </p:nvGrpSpPr>
        <p:grpSpPr>
          <a:xfrm>
            <a:off x="11689668" y="2893927"/>
            <a:ext cx="1031404" cy="309714"/>
            <a:chOff x="5081016" y="4101084"/>
            <a:chExt cx="448309" cy="134620"/>
          </a:xfrm>
        </p:grpSpPr>
        <p:pic>
          <p:nvPicPr>
            <p:cNvPr id="29" name="object 2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081016" y="4126992"/>
              <a:ext cx="246887" cy="108204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359908" y="4101084"/>
              <a:ext cx="169163" cy="134112"/>
            </a:xfrm>
            <a:prstGeom prst="rect">
              <a:avLst/>
            </a:prstGeom>
          </p:spPr>
        </p:pic>
      </p:grpSp>
      <p:pic>
        <p:nvPicPr>
          <p:cNvPr id="31" name="object 31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2864241" y="2893927"/>
            <a:ext cx="413729" cy="308545"/>
          </a:xfrm>
          <a:prstGeom prst="rect">
            <a:avLst/>
          </a:prstGeom>
        </p:spPr>
      </p:pic>
      <p:grpSp>
        <p:nvGrpSpPr>
          <p:cNvPr id="32" name="object 32"/>
          <p:cNvGrpSpPr/>
          <p:nvPr/>
        </p:nvGrpSpPr>
        <p:grpSpPr>
          <a:xfrm>
            <a:off x="13442759" y="2841334"/>
            <a:ext cx="708544" cy="362307"/>
            <a:chOff x="5843015" y="4078224"/>
            <a:chExt cx="307975" cy="157480"/>
          </a:xfrm>
        </p:grpSpPr>
        <p:pic>
          <p:nvPicPr>
            <p:cNvPr id="33" name="object 3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843015" y="4079748"/>
              <a:ext cx="91440" cy="155448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961888" y="4078224"/>
              <a:ext cx="188975" cy="156971"/>
            </a:xfrm>
            <a:prstGeom prst="rect">
              <a:avLst/>
            </a:prstGeom>
          </p:spPr>
        </p:pic>
      </p:grpSp>
      <p:grpSp>
        <p:nvGrpSpPr>
          <p:cNvPr id="35" name="object 35"/>
          <p:cNvGrpSpPr/>
          <p:nvPr/>
        </p:nvGrpSpPr>
        <p:grpSpPr>
          <a:xfrm>
            <a:off x="14329824" y="2844850"/>
            <a:ext cx="733379" cy="357924"/>
            <a:chOff x="6228588" y="4079748"/>
            <a:chExt cx="318770" cy="155575"/>
          </a:xfrm>
        </p:grpSpPr>
        <p:pic>
          <p:nvPicPr>
            <p:cNvPr id="36" name="object 3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228588" y="4126992"/>
              <a:ext cx="82296" cy="108204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342887" y="4126992"/>
              <a:ext cx="86868" cy="10668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455663" y="4079748"/>
              <a:ext cx="91440" cy="155448"/>
            </a:xfrm>
            <a:prstGeom prst="rect">
              <a:avLst/>
            </a:prstGeom>
          </p:spPr>
        </p:pic>
      </p:grpSp>
      <p:grpSp>
        <p:nvGrpSpPr>
          <p:cNvPr id="39" name="object 39"/>
          <p:cNvGrpSpPr/>
          <p:nvPr/>
        </p:nvGrpSpPr>
        <p:grpSpPr>
          <a:xfrm>
            <a:off x="15230916" y="2844850"/>
            <a:ext cx="936444" cy="357924"/>
            <a:chOff x="6620256" y="4079748"/>
            <a:chExt cx="407034" cy="155575"/>
          </a:xfrm>
        </p:grpSpPr>
        <p:pic>
          <p:nvPicPr>
            <p:cNvPr id="40" name="object 40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620256" y="4101084"/>
              <a:ext cx="65532" cy="134112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708648" y="4079748"/>
              <a:ext cx="86868" cy="153924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821424" y="4126992"/>
              <a:ext cx="91440" cy="108204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940296" y="4126992"/>
              <a:ext cx="86868" cy="106680"/>
            </a:xfrm>
            <a:prstGeom prst="rect">
              <a:avLst/>
            </a:prstGeom>
          </p:spPr>
        </p:pic>
      </p:grpSp>
      <p:sp>
        <p:nvSpPr>
          <p:cNvPr id="44" name="object 44"/>
          <p:cNvSpPr/>
          <p:nvPr/>
        </p:nvSpPr>
        <p:spPr>
          <a:xfrm>
            <a:off x="4175850" y="4268385"/>
            <a:ext cx="645724" cy="59895"/>
          </a:xfrm>
          <a:custGeom>
            <a:avLst/>
            <a:gdLst/>
            <a:ahLst/>
            <a:cxnLst/>
            <a:rect l="l" t="t" r="r" b="b"/>
            <a:pathLst>
              <a:path w="280669" h="26035">
                <a:moveTo>
                  <a:pt x="22860" y="3048"/>
                </a:moveTo>
                <a:lnTo>
                  <a:pt x="19812" y="1524"/>
                </a:lnTo>
                <a:lnTo>
                  <a:pt x="18288" y="0"/>
                </a:lnTo>
                <a:lnTo>
                  <a:pt x="4572" y="0"/>
                </a:lnTo>
                <a:lnTo>
                  <a:pt x="1524" y="3048"/>
                </a:lnTo>
                <a:lnTo>
                  <a:pt x="0" y="7620"/>
                </a:lnTo>
                <a:lnTo>
                  <a:pt x="0" y="18288"/>
                </a:lnTo>
                <a:lnTo>
                  <a:pt x="1524" y="21336"/>
                </a:lnTo>
                <a:lnTo>
                  <a:pt x="4572" y="24384"/>
                </a:lnTo>
                <a:lnTo>
                  <a:pt x="7620" y="25908"/>
                </a:lnTo>
                <a:lnTo>
                  <a:pt x="15240" y="25908"/>
                </a:lnTo>
                <a:lnTo>
                  <a:pt x="18288" y="24384"/>
                </a:lnTo>
                <a:lnTo>
                  <a:pt x="19812" y="22860"/>
                </a:lnTo>
                <a:lnTo>
                  <a:pt x="22860" y="21336"/>
                </a:lnTo>
                <a:lnTo>
                  <a:pt x="22860" y="3048"/>
                </a:lnTo>
                <a:close/>
              </a:path>
              <a:path w="280669" h="26035">
                <a:moveTo>
                  <a:pt x="73152" y="3048"/>
                </a:moveTo>
                <a:lnTo>
                  <a:pt x="71628" y="1524"/>
                </a:lnTo>
                <a:lnTo>
                  <a:pt x="68580" y="0"/>
                </a:lnTo>
                <a:lnTo>
                  <a:pt x="54864" y="0"/>
                </a:lnTo>
                <a:lnTo>
                  <a:pt x="51816" y="3048"/>
                </a:lnTo>
                <a:lnTo>
                  <a:pt x="50292" y="7620"/>
                </a:lnTo>
                <a:lnTo>
                  <a:pt x="50292" y="18288"/>
                </a:lnTo>
                <a:lnTo>
                  <a:pt x="51816" y="21336"/>
                </a:lnTo>
                <a:lnTo>
                  <a:pt x="54864" y="24384"/>
                </a:lnTo>
                <a:lnTo>
                  <a:pt x="57912" y="25908"/>
                </a:lnTo>
                <a:lnTo>
                  <a:pt x="65532" y="25908"/>
                </a:lnTo>
                <a:lnTo>
                  <a:pt x="68580" y="24384"/>
                </a:lnTo>
                <a:lnTo>
                  <a:pt x="70104" y="22860"/>
                </a:lnTo>
                <a:lnTo>
                  <a:pt x="73152" y="21336"/>
                </a:lnTo>
                <a:lnTo>
                  <a:pt x="73152" y="3048"/>
                </a:lnTo>
                <a:close/>
              </a:path>
              <a:path w="280669" h="26035">
                <a:moveTo>
                  <a:pt x="123444" y="3048"/>
                </a:moveTo>
                <a:lnTo>
                  <a:pt x="120396" y="1524"/>
                </a:lnTo>
                <a:lnTo>
                  <a:pt x="118872" y="0"/>
                </a:lnTo>
                <a:lnTo>
                  <a:pt x="105156" y="0"/>
                </a:lnTo>
                <a:lnTo>
                  <a:pt x="102108" y="3048"/>
                </a:lnTo>
                <a:lnTo>
                  <a:pt x="100584" y="7620"/>
                </a:lnTo>
                <a:lnTo>
                  <a:pt x="100584" y="18288"/>
                </a:lnTo>
                <a:lnTo>
                  <a:pt x="102108" y="21336"/>
                </a:lnTo>
                <a:lnTo>
                  <a:pt x="105156" y="24384"/>
                </a:lnTo>
                <a:lnTo>
                  <a:pt x="108204" y="25908"/>
                </a:lnTo>
                <a:lnTo>
                  <a:pt x="115824" y="25908"/>
                </a:lnTo>
                <a:lnTo>
                  <a:pt x="118872" y="24384"/>
                </a:lnTo>
                <a:lnTo>
                  <a:pt x="120396" y="22860"/>
                </a:lnTo>
                <a:lnTo>
                  <a:pt x="123444" y="21336"/>
                </a:lnTo>
                <a:lnTo>
                  <a:pt x="123444" y="3048"/>
                </a:lnTo>
                <a:close/>
              </a:path>
              <a:path w="280669" h="26035">
                <a:moveTo>
                  <a:pt x="179832" y="7620"/>
                </a:moveTo>
                <a:lnTo>
                  <a:pt x="178308" y="3048"/>
                </a:lnTo>
                <a:lnTo>
                  <a:pt x="175260" y="0"/>
                </a:lnTo>
                <a:lnTo>
                  <a:pt x="161544" y="0"/>
                </a:lnTo>
                <a:lnTo>
                  <a:pt x="158496" y="1524"/>
                </a:lnTo>
                <a:lnTo>
                  <a:pt x="156972" y="3048"/>
                </a:lnTo>
                <a:lnTo>
                  <a:pt x="156972" y="21336"/>
                </a:lnTo>
                <a:lnTo>
                  <a:pt x="160020" y="24384"/>
                </a:lnTo>
                <a:lnTo>
                  <a:pt x="163068" y="25908"/>
                </a:lnTo>
                <a:lnTo>
                  <a:pt x="172212" y="25908"/>
                </a:lnTo>
                <a:lnTo>
                  <a:pt x="175260" y="24384"/>
                </a:lnTo>
                <a:lnTo>
                  <a:pt x="178308" y="21336"/>
                </a:lnTo>
                <a:lnTo>
                  <a:pt x="179832" y="16764"/>
                </a:lnTo>
                <a:lnTo>
                  <a:pt x="179832" y="7620"/>
                </a:lnTo>
                <a:close/>
              </a:path>
              <a:path w="280669" h="26035">
                <a:moveTo>
                  <a:pt x="230124" y="7620"/>
                </a:moveTo>
                <a:lnTo>
                  <a:pt x="228600" y="3048"/>
                </a:lnTo>
                <a:lnTo>
                  <a:pt x="225552" y="0"/>
                </a:lnTo>
                <a:lnTo>
                  <a:pt x="211836" y="0"/>
                </a:lnTo>
                <a:lnTo>
                  <a:pt x="208788" y="1524"/>
                </a:lnTo>
                <a:lnTo>
                  <a:pt x="207264" y="3048"/>
                </a:lnTo>
                <a:lnTo>
                  <a:pt x="207264" y="21336"/>
                </a:lnTo>
                <a:lnTo>
                  <a:pt x="210312" y="24384"/>
                </a:lnTo>
                <a:lnTo>
                  <a:pt x="213360" y="25908"/>
                </a:lnTo>
                <a:lnTo>
                  <a:pt x="222504" y="25908"/>
                </a:lnTo>
                <a:lnTo>
                  <a:pt x="225552" y="24384"/>
                </a:lnTo>
                <a:lnTo>
                  <a:pt x="228600" y="21336"/>
                </a:lnTo>
                <a:lnTo>
                  <a:pt x="230124" y="16764"/>
                </a:lnTo>
                <a:lnTo>
                  <a:pt x="230124" y="7620"/>
                </a:lnTo>
                <a:close/>
              </a:path>
              <a:path w="280669" h="26035">
                <a:moveTo>
                  <a:pt x="280416" y="7620"/>
                </a:moveTo>
                <a:lnTo>
                  <a:pt x="278892" y="3048"/>
                </a:lnTo>
                <a:lnTo>
                  <a:pt x="275844" y="0"/>
                </a:lnTo>
                <a:lnTo>
                  <a:pt x="262128" y="0"/>
                </a:lnTo>
                <a:lnTo>
                  <a:pt x="259080" y="1524"/>
                </a:lnTo>
                <a:lnTo>
                  <a:pt x="257556" y="3048"/>
                </a:lnTo>
                <a:lnTo>
                  <a:pt x="257556" y="21336"/>
                </a:lnTo>
                <a:lnTo>
                  <a:pt x="260604" y="24384"/>
                </a:lnTo>
                <a:lnTo>
                  <a:pt x="263652" y="25908"/>
                </a:lnTo>
                <a:lnTo>
                  <a:pt x="272796" y="25908"/>
                </a:lnTo>
                <a:lnTo>
                  <a:pt x="275844" y="24384"/>
                </a:lnTo>
                <a:lnTo>
                  <a:pt x="278892" y="21336"/>
                </a:lnTo>
                <a:lnTo>
                  <a:pt x="280416" y="16764"/>
                </a:lnTo>
                <a:lnTo>
                  <a:pt x="280416" y="762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 sz="4141"/>
          </a:p>
        </p:txBody>
      </p:sp>
      <p:pic>
        <p:nvPicPr>
          <p:cNvPr id="45" name="object 45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788158" y="4822340"/>
            <a:ext cx="2776907" cy="420741"/>
          </a:xfrm>
          <a:prstGeom prst="rect">
            <a:avLst/>
          </a:prstGeom>
        </p:spPr>
      </p:pic>
      <p:grpSp>
        <p:nvGrpSpPr>
          <p:cNvPr id="46" name="object 46"/>
          <p:cNvGrpSpPr/>
          <p:nvPr/>
        </p:nvGrpSpPr>
        <p:grpSpPr>
          <a:xfrm>
            <a:off x="4726363" y="4906489"/>
            <a:ext cx="407595" cy="249816"/>
            <a:chOff x="2054352" y="4975859"/>
            <a:chExt cx="177165" cy="108585"/>
          </a:xfrm>
        </p:grpSpPr>
        <p:pic>
          <p:nvPicPr>
            <p:cNvPr id="47" name="object 47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054352" y="4975859"/>
              <a:ext cx="82296" cy="108204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161032" y="4975860"/>
              <a:ext cx="70104" cy="108204"/>
            </a:xfrm>
            <a:prstGeom prst="rect">
              <a:avLst/>
            </a:prstGeom>
          </p:spPr>
        </p:pic>
      </p:grpSp>
      <p:pic>
        <p:nvPicPr>
          <p:cNvPr id="49" name="object 49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5297860" y="4906483"/>
            <a:ext cx="189335" cy="248940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5680048" y="4906481"/>
            <a:ext cx="1546230" cy="336595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7405096" y="4794293"/>
            <a:ext cx="2240457" cy="448791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9810347" y="4794295"/>
            <a:ext cx="417235" cy="361136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10378351" y="4797791"/>
            <a:ext cx="1886331" cy="445287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12446996" y="4815330"/>
            <a:ext cx="2247472" cy="427754"/>
          </a:xfrm>
          <a:prstGeom prst="rect">
            <a:avLst/>
          </a:prstGeom>
        </p:spPr>
      </p:pic>
      <p:sp>
        <p:nvSpPr>
          <p:cNvPr id="55" name="object 55"/>
          <p:cNvSpPr txBox="1"/>
          <p:nvPr/>
        </p:nvSpPr>
        <p:spPr>
          <a:xfrm>
            <a:off x="1713307" y="3211716"/>
            <a:ext cx="14146040" cy="2600468"/>
          </a:xfrm>
          <a:prstGeom prst="rect">
            <a:avLst/>
          </a:prstGeom>
        </p:spPr>
        <p:txBody>
          <a:bodyPr vert="horz" wrap="square" lIns="0" tIns="39445" rIns="0" bIns="0" rtlCol="0">
            <a:spAutoFit/>
          </a:bodyPr>
          <a:lstStyle/>
          <a:p>
            <a:pPr marL="29221">
              <a:lnSpc>
                <a:spcPts val="4634"/>
              </a:lnSpc>
              <a:spcBef>
                <a:spcPts val="311"/>
              </a:spcBef>
            </a:pP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seeing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that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it</a:t>
            </a:r>
            <a:r>
              <a:rPr sz="4026" spc="-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is done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in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the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 best 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and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 cheapest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-69" dirty="0">
                <a:solidFill>
                  <a:srgbClr val="3D3D3D"/>
                </a:solidFill>
                <a:latin typeface="Calibri"/>
                <a:cs typeface="Calibri"/>
              </a:rPr>
              <a:t>way.</a:t>
            </a:r>
            <a:endParaRPr sz="4026">
              <a:latin typeface="Calibri"/>
              <a:cs typeface="Calibri"/>
            </a:endParaRPr>
          </a:p>
          <a:p>
            <a:pPr marL="3142623">
              <a:lnSpc>
                <a:spcPts val="4634"/>
              </a:lnSpc>
            </a:pPr>
            <a:r>
              <a:rPr sz="4026" spc="-150" dirty="0">
                <a:solidFill>
                  <a:srgbClr val="3D3D3D"/>
                </a:solidFill>
                <a:latin typeface="Calibri"/>
                <a:cs typeface="Calibri"/>
              </a:rPr>
              <a:t>F.W.Taylor</a:t>
            </a:r>
            <a:endParaRPr sz="4026">
              <a:latin typeface="Calibri"/>
              <a:cs typeface="Calibri"/>
            </a:endParaRPr>
          </a:p>
          <a:p>
            <a:pPr>
              <a:spcBef>
                <a:spcPts val="35"/>
              </a:spcBef>
            </a:pPr>
            <a:endParaRPr sz="4947">
              <a:latin typeface="Calibri"/>
              <a:cs typeface="Calibri"/>
            </a:endParaRPr>
          </a:p>
          <a:p>
            <a:pPr marL="29221">
              <a:spcBef>
                <a:spcPts val="12"/>
              </a:spcBef>
            </a:pP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actuating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 and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controlling,</a:t>
            </a:r>
            <a:r>
              <a:rPr sz="4026" spc="81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performed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to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determine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and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accomplish</a:t>
            </a:r>
            <a:endParaRPr sz="4026">
              <a:latin typeface="Calibri"/>
              <a:cs typeface="Calibri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1749592" y="5923288"/>
            <a:ext cx="677865" cy="357924"/>
            <a:chOff x="760476" y="5417820"/>
            <a:chExt cx="294640" cy="155575"/>
          </a:xfrm>
        </p:grpSpPr>
        <p:pic>
          <p:nvPicPr>
            <p:cNvPr id="57" name="object 57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760476" y="5439156"/>
              <a:ext cx="65532" cy="134112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850392" y="5417820"/>
              <a:ext cx="86868" cy="153924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963168" y="5465063"/>
              <a:ext cx="91440" cy="108204"/>
            </a:xfrm>
            <a:prstGeom prst="rect">
              <a:avLst/>
            </a:prstGeom>
          </p:spPr>
        </p:pic>
      </p:grpSp>
      <p:pic>
        <p:nvPicPr>
          <p:cNvPr id="60" name="object 60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2594583" y="5923290"/>
            <a:ext cx="1886333" cy="445285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4663251" y="5923290"/>
            <a:ext cx="459309" cy="445285"/>
          </a:xfrm>
          <a:prstGeom prst="rect">
            <a:avLst/>
          </a:prstGeom>
        </p:spPr>
      </p:pic>
      <p:grpSp>
        <p:nvGrpSpPr>
          <p:cNvPr id="62" name="object 62"/>
          <p:cNvGrpSpPr/>
          <p:nvPr/>
        </p:nvGrpSpPr>
        <p:grpSpPr>
          <a:xfrm>
            <a:off x="5259294" y="5923288"/>
            <a:ext cx="677865" cy="357924"/>
            <a:chOff x="2286000" y="5417820"/>
            <a:chExt cx="294640" cy="155575"/>
          </a:xfrm>
        </p:grpSpPr>
        <p:pic>
          <p:nvPicPr>
            <p:cNvPr id="63" name="object 63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2286000" y="5439156"/>
              <a:ext cx="65532" cy="134112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2375915" y="5417820"/>
              <a:ext cx="86868" cy="153924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2488692" y="5465063"/>
              <a:ext cx="91440" cy="108204"/>
            </a:xfrm>
            <a:prstGeom prst="rect">
              <a:avLst/>
            </a:prstGeom>
          </p:spPr>
        </p:pic>
      </p:grpSp>
      <p:grpSp>
        <p:nvGrpSpPr>
          <p:cNvPr id="66" name="object 66"/>
          <p:cNvGrpSpPr/>
          <p:nvPr/>
        </p:nvGrpSpPr>
        <p:grpSpPr>
          <a:xfrm>
            <a:off x="6118320" y="6031978"/>
            <a:ext cx="670560" cy="249816"/>
            <a:chOff x="2659380" y="5465063"/>
            <a:chExt cx="291465" cy="108585"/>
          </a:xfrm>
        </p:grpSpPr>
        <p:pic>
          <p:nvPicPr>
            <p:cNvPr id="67" name="object 67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2659380" y="5466587"/>
              <a:ext cx="85344" cy="106680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2769108" y="5465064"/>
              <a:ext cx="70104" cy="108204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2859024" y="5465063"/>
              <a:ext cx="91440" cy="108204"/>
            </a:xfrm>
            <a:prstGeom prst="rect">
              <a:avLst/>
            </a:prstGeom>
          </p:spPr>
        </p:pic>
      </p:grpSp>
      <p:pic>
        <p:nvPicPr>
          <p:cNvPr id="70" name="object 70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6959797" y="5919774"/>
            <a:ext cx="413731" cy="361138"/>
          </a:xfrm>
          <a:prstGeom prst="rect">
            <a:avLst/>
          </a:prstGeom>
        </p:spPr>
      </p:pic>
      <p:grpSp>
        <p:nvGrpSpPr>
          <p:cNvPr id="71" name="object 71"/>
          <p:cNvGrpSpPr/>
          <p:nvPr/>
        </p:nvGrpSpPr>
        <p:grpSpPr>
          <a:xfrm>
            <a:off x="7524294" y="5923288"/>
            <a:ext cx="1396635" cy="445579"/>
            <a:chOff x="3270503" y="5417820"/>
            <a:chExt cx="607060" cy="193675"/>
          </a:xfrm>
        </p:grpSpPr>
        <p:pic>
          <p:nvPicPr>
            <p:cNvPr id="72" name="object 72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3270503" y="5465064"/>
              <a:ext cx="91440" cy="146304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3383279" y="5465063"/>
              <a:ext cx="91440" cy="108204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3496055" y="5465064"/>
              <a:ext cx="99060" cy="108204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3621024" y="5465064"/>
              <a:ext cx="91440" cy="146304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3741419" y="5417820"/>
              <a:ext cx="18415" cy="154305"/>
            </a:xfrm>
            <a:custGeom>
              <a:avLst/>
              <a:gdLst/>
              <a:ahLst/>
              <a:cxnLst/>
              <a:rect l="l" t="t" r="r" b="b"/>
              <a:pathLst>
                <a:path w="18414" h="154304">
                  <a:moveTo>
                    <a:pt x="15240" y="1524"/>
                  </a:moveTo>
                  <a:lnTo>
                    <a:pt x="1524" y="1524"/>
                  </a:lnTo>
                  <a:lnTo>
                    <a:pt x="1524" y="0"/>
                  </a:lnTo>
                  <a:lnTo>
                    <a:pt x="15240" y="0"/>
                  </a:lnTo>
                  <a:lnTo>
                    <a:pt x="15240" y="1524"/>
                  </a:lnTo>
                  <a:close/>
                </a:path>
                <a:path w="18414" h="154304">
                  <a:moveTo>
                    <a:pt x="15240" y="153924"/>
                  </a:moveTo>
                  <a:lnTo>
                    <a:pt x="1524" y="153924"/>
                  </a:lnTo>
                  <a:lnTo>
                    <a:pt x="0" y="152400"/>
                  </a:lnTo>
                  <a:lnTo>
                    <a:pt x="0" y="1524"/>
                  </a:lnTo>
                  <a:lnTo>
                    <a:pt x="16764" y="1524"/>
                  </a:lnTo>
                  <a:lnTo>
                    <a:pt x="16764" y="3048"/>
                  </a:lnTo>
                  <a:lnTo>
                    <a:pt x="18288" y="3048"/>
                  </a:lnTo>
                  <a:lnTo>
                    <a:pt x="18288" y="150876"/>
                  </a:lnTo>
                  <a:lnTo>
                    <a:pt x="15240" y="153924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 sz="4141"/>
            </a:p>
          </p:txBody>
        </p:sp>
        <p:pic>
          <p:nvPicPr>
            <p:cNvPr id="77" name="object 77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3785616" y="5465063"/>
              <a:ext cx="91440" cy="108204"/>
            </a:xfrm>
            <a:prstGeom prst="rect">
              <a:avLst/>
            </a:prstGeom>
          </p:spPr>
        </p:pic>
      </p:grpSp>
      <p:grpSp>
        <p:nvGrpSpPr>
          <p:cNvPr id="78" name="object 78"/>
          <p:cNvGrpSpPr/>
          <p:nvPr/>
        </p:nvGrpSpPr>
        <p:grpSpPr>
          <a:xfrm>
            <a:off x="9088058" y="5923288"/>
            <a:ext cx="733379" cy="357924"/>
            <a:chOff x="3950207" y="5417820"/>
            <a:chExt cx="318770" cy="155575"/>
          </a:xfrm>
        </p:grpSpPr>
        <p:pic>
          <p:nvPicPr>
            <p:cNvPr id="79" name="object 79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3950207" y="5465063"/>
              <a:ext cx="82296" cy="108204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4064507" y="5465064"/>
              <a:ext cx="86868" cy="106680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4177283" y="5417820"/>
              <a:ext cx="91440" cy="155448"/>
            </a:xfrm>
            <a:prstGeom prst="rect">
              <a:avLst/>
            </a:prstGeom>
          </p:spPr>
        </p:pic>
      </p:grpSp>
      <p:pic>
        <p:nvPicPr>
          <p:cNvPr id="82" name="object 82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10017200" y="5919774"/>
            <a:ext cx="2282534" cy="361138"/>
          </a:xfrm>
          <a:prstGeom prst="rect">
            <a:avLst/>
          </a:prstGeom>
        </p:spPr>
      </p:pic>
      <p:pic>
        <p:nvPicPr>
          <p:cNvPr id="83" name="object 83"/>
          <p:cNvPicPr/>
          <p:nvPr/>
        </p:nvPicPr>
        <p:blipFill>
          <a:blip r:embed="rId60" cstate="print"/>
          <a:stretch>
            <a:fillRect/>
          </a:stretch>
        </p:blipFill>
        <p:spPr>
          <a:xfrm>
            <a:off x="4733375" y="6768282"/>
            <a:ext cx="2194876" cy="424247"/>
          </a:xfrm>
          <a:prstGeom prst="rect">
            <a:avLst/>
          </a:prstGeom>
        </p:spPr>
      </p:pic>
      <p:grpSp>
        <p:nvGrpSpPr>
          <p:cNvPr id="84" name="object 84"/>
          <p:cNvGrpSpPr/>
          <p:nvPr/>
        </p:nvGrpSpPr>
        <p:grpSpPr>
          <a:xfrm>
            <a:off x="7117578" y="6771782"/>
            <a:ext cx="333089" cy="330167"/>
            <a:chOff x="3093720" y="5786628"/>
            <a:chExt cx="144780" cy="143510"/>
          </a:xfrm>
        </p:grpSpPr>
        <p:pic>
          <p:nvPicPr>
            <p:cNvPr id="85" name="object 85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3093720" y="5786628"/>
              <a:ext cx="96012" cy="143256"/>
            </a:xfrm>
            <a:prstGeom prst="rect">
              <a:avLst/>
            </a:prstGeom>
          </p:spPr>
        </p:pic>
        <p:sp>
          <p:nvSpPr>
            <p:cNvPr id="86" name="object 86"/>
            <p:cNvSpPr/>
            <p:nvPr/>
          </p:nvSpPr>
          <p:spPr>
            <a:xfrm>
              <a:off x="3215639" y="5903975"/>
              <a:ext cx="22860" cy="26034"/>
            </a:xfrm>
            <a:custGeom>
              <a:avLst/>
              <a:gdLst/>
              <a:ahLst/>
              <a:cxnLst/>
              <a:rect l="l" t="t" r="r" b="b"/>
              <a:pathLst>
                <a:path w="22860" h="26035">
                  <a:moveTo>
                    <a:pt x="18288" y="25908"/>
                  </a:moveTo>
                  <a:lnTo>
                    <a:pt x="3048" y="25908"/>
                  </a:lnTo>
                  <a:lnTo>
                    <a:pt x="0" y="22860"/>
                  </a:lnTo>
                  <a:lnTo>
                    <a:pt x="0" y="4572"/>
                  </a:lnTo>
                  <a:lnTo>
                    <a:pt x="1524" y="3048"/>
                  </a:lnTo>
                  <a:lnTo>
                    <a:pt x="7620" y="0"/>
                  </a:lnTo>
                  <a:lnTo>
                    <a:pt x="15240" y="0"/>
                  </a:lnTo>
                  <a:lnTo>
                    <a:pt x="19812" y="1524"/>
                  </a:lnTo>
                  <a:lnTo>
                    <a:pt x="21336" y="3048"/>
                  </a:lnTo>
                  <a:lnTo>
                    <a:pt x="22860" y="4572"/>
                  </a:lnTo>
                  <a:lnTo>
                    <a:pt x="22860" y="22860"/>
                  </a:lnTo>
                  <a:lnTo>
                    <a:pt x="21336" y="24384"/>
                  </a:lnTo>
                  <a:lnTo>
                    <a:pt x="18288" y="25908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 sz="4141"/>
            </a:p>
          </p:txBody>
        </p:sp>
      </p:grpSp>
      <p:grpSp>
        <p:nvGrpSpPr>
          <p:cNvPr id="87" name="object 87"/>
          <p:cNvGrpSpPr/>
          <p:nvPr/>
        </p:nvGrpSpPr>
        <p:grpSpPr>
          <a:xfrm>
            <a:off x="7615458" y="6771777"/>
            <a:ext cx="1051859" cy="420744"/>
            <a:chOff x="3310128" y="5786627"/>
            <a:chExt cx="457200" cy="182880"/>
          </a:xfrm>
        </p:grpSpPr>
        <p:pic>
          <p:nvPicPr>
            <p:cNvPr id="88" name="object 88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3310128" y="5786627"/>
              <a:ext cx="190499" cy="144780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3528060" y="5823203"/>
              <a:ext cx="58419" cy="106680"/>
            </a:xfrm>
            <a:custGeom>
              <a:avLst/>
              <a:gdLst/>
              <a:ahLst/>
              <a:cxnLst/>
              <a:rect l="l" t="t" r="r" b="b"/>
              <a:pathLst>
                <a:path w="58420" h="106679">
                  <a:moveTo>
                    <a:pt x="45720" y="1524"/>
                  </a:moveTo>
                  <a:lnTo>
                    <a:pt x="39624" y="1524"/>
                  </a:lnTo>
                  <a:lnTo>
                    <a:pt x="41148" y="0"/>
                  </a:lnTo>
                  <a:lnTo>
                    <a:pt x="44196" y="0"/>
                  </a:lnTo>
                  <a:lnTo>
                    <a:pt x="45720" y="1524"/>
                  </a:lnTo>
                  <a:close/>
                </a:path>
                <a:path w="58420" h="106679">
                  <a:moveTo>
                    <a:pt x="10668" y="3048"/>
                  </a:moveTo>
                  <a:lnTo>
                    <a:pt x="4572" y="3048"/>
                  </a:lnTo>
                  <a:lnTo>
                    <a:pt x="6096" y="1524"/>
                  </a:lnTo>
                  <a:lnTo>
                    <a:pt x="9144" y="1524"/>
                  </a:lnTo>
                  <a:lnTo>
                    <a:pt x="10668" y="3048"/>
                  </a:lnTo>
                  <a:close/>
                </a:path>
                <a:path w="58420" h="106679">
                  <a:moveTo>
                    <a:pt x="35052" y="19812"/>
                  </a:moveTo>
                  <a:lnTo>
                    <a:pt x="16764" y="19812"/>
                  </a:lnTo>
                  <a:lnTo>
                    <a:pt x="18288" y="16764"/>
                  </a:lnTo>
                  <a:lnTo>
                    <a:pt x="21336" y="12192"/>
                  </a:lnTo>
                  <a:lnTo>
                    <a:pt x="24384" y="10668"/>
                  </a:lnTo>
                  <a:lnTo>
                    <a:pt x="25908" y="7620"/>
                  </a:lnTo>
                  <a:lnTo>
                    <a:pt x="28956" y="6096"/>
                  </a:lnTo>
                  <a:lnTo>
                    <a:pt x="32004" y="3048"/>
                  </a:lnTo>
                  <a:lnTo>
                    <a:pt x="35052" y="1524"/>
                  </a:lnTo>
                  <a:lnTo>
                    <a:pt x="53340" y="1524"/>
                  </a:lnTo>
                  <a:lnTo>
                    <a:pt x="53340" y="3048"/>
                  </a:lnTo>
                  <a:lnTo>
                    <a:pt x="56388" y="3048"/>
                  </a:lnTo>
                  <a:lnTo>
                    <a:pt x="56388" y="4572"/>
                  </a:lnTo>
                  <a:lnTo>
                    <a:pt x="57912" y="4572"/>
                  </a:lnTo>
                  <a:lnTo>
                    <a:pt x="57912" y="16764"/>
                  </a:lnTo>
                  <a:lnTo>
                    <a:pt x="39624" y="16764"/>
                  </a:lnTo>
                  <a:lnTo>
                    <a:pt x="38100" y="18288"/>
                  </a:lnTo>
                  <a:lnTo>
                    <a:pt x="36576" y="18288"/>
                  </a:lnTo>
                  <a:lnTo>
                    <a:pt x="35052" y="19812"/>
                  </a:lnTo>
                  <a:close/>
                </a:path>
                <a:path w="58420" h="106679">
                  <a:moveTo>
                    <a:pt x="16764" y="106680"/>
                  </a:moveTo>
                  <a:lnTo>
                    <a:pt x="0" y="106680"/>
                  </a:lnTo>
                  <a:lnTo>
                    <a:pt x="0" y="3048"/>
                  </a:lnTo>
                  <a:lnTo>
                    <a:pt x="15240" y="3048"/>
                  </a:lnTo>
                  <a:lnTo>
                    <a:pt x="15240" y="4572"/>
                  </a:lnTo>
                  <a:lnTo>
                    <a:pt x="16764" y="4572"/>
                  </a:lnTo>
                  <a:lnTo>
                    <a:pt x="16764" y="19812"/>
                  </a:lnTo>
                  <a:lnTo>
                    <a:pt x="35052" y="19812"/>
                  </a:lnTo>
                  <a:lnTo>
                    <a:pt x="33528" y="21336"/>
                  </a:lnTo>
                  <a:lnTo>
                    <a:pt x="30480" y="22860"/>
                  </a:lnTo>
                  <a:lnTo>
                    <a:pt x="24384" y="28956"/>
                  </a:lnTo>
                  <a:lnTo>
                    <a:pt x="22860" y="32004"/>
                  </a:lnTo>
                  <a:lnTo>
                    <a:pt x="19812" y="35052"/>
                  </a:lnTo>
                  <a:lnTo>
                    <a:pt x="18288" y="39624"/>
                  </a:lnTo>
                  <a:lnTo>
                    <a:pt x="18288" y="105156"/>
                  </a:lnTo>
                  <a:lnTo>
                    <a:pt x="16764" y="105156"/>
                  </a:lnTo>
                  <a:lnTo>
                    <a:pt x="16764" y="106680"/>
                  </a:lnTo>
                  <a:close/>
                </a:path>
                <a:path w="58420" h="106679">
                  <a:moveTo>
                    <a:pt x="57912" y="18288"/>
                  </a:moveTo>
                  <a:lnTo>
                    <a:pt x="45720" y="18288"/>
                  </a:lnTo>
                  <a:lnTo>
                    <a:pt x="44196" y="16764"/>
                  </a:lnTo>
                  <a:lnTo>
                    <a:pt x="57912" y="16764"/>
                  </a:lnTo>
                  <a:lnTo>
                    <a:pt x="57912" y="18288"/>
                  </a:lnTo>
                  <a:close/>
                </a:path>
                <a:path w="58420" h="106679">
                  <a:moveTo>
                    <a:pt x="56388" y="19812"/>
                  </a:moveTo>
                  <a:lnTo>
                    <a:pt x="50292" y="19812"/>
                  </a:lnTo>
                  <a:lnTo>
                    <a:pt x="50292" y="18288"/>
                  </a:lnTo>
                  <a:lnTo>
                    <a:pt x="56388" y="18288"/>
                  </a:lnTo>
                  <a:lnTo>
                    <a:pt x="56388" y="19812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 sz="4141"/>
            </a:p>
          </p:txBody>
        </p:sp>
        <p:pic>
          <p:nvPicPr>
            <p:cNvPr id="90" name="object 90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3607308" y="5823203"/>
              <a:ext cx="160020" cy="146304"/>
            </a:xfrm>
            <a:prstGeom prst="rect">
              <a:avLst/>
            </a:prstGeom>
          </p:spPr>
        </p:pic>
      </p:grpSp>
      <p:sp>
        <p:nvSpPr>
          <p:cNvPr id="91" name="object 91"/>
          <p:cNvSpPr txBox="1"/>
          <p:nvPr/>
        </p:nvSpPr>
        <p:spPr>
          <a:xfrm>
            <a:off x="16113330" y="9491464"/>
            <a:ext cx="229364" cy="436666"/>
          </a:xfrm>
          <a:prstGeom prst="rect">
            <a:avLst/>
          </a:prstGeom>
        </p:spPr>
        <p:txBody>
          <a:bodyPr vert="horz" wrap="square" lIns="0" tIns="29218" rIns="0" bIns="0" rtlCol="0">
            <a:spAutoFit/>
          </a:bodyPr>
          <a:lstStyle/>
          <a:p>
            <a:pPr marL="29221">
              <a:spcBef>
                <a:spcPts val="230"/>
              </a:spcBef>
            </a:pPr>
            <a:r>
              <a:rPr sz="2646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2646">
              <a:latin typeface="Calibri"/>
              <a:cs typeface="Calibri"/>
            </a:endParaRPr>
          </a:p>
        </p:txBody>
      </p:sp>
      <p:sp>
        <p:nvSpPr>
          <p:cNvPr id="92" name="Slide Number Placeholder 91">
            <a:extLst>
              <a:ext uri="{FF2B5EF4-FFF2-40B4-BE49-F238E27FC236}">
                <a16:creationId xmlns:a16="http://schemas.microsoft.com/office/drawing/2014/main" id="{0053B919-3F5A-AB52-EACF-940A14AF7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49589" y="2546813"/>
            <a:ext cx="14617916" cy="0"/>
          </a:xfrm>
          <a:custGeom>
            <a:avLst/>
            <a:gdLst/>
            <a:ahLst/>
            <a:cxnLst/>
            <a:rect l="l" t="t" r="r" b="b"/>
            <a:pathLst>
              <a:path w="6353809">
                <a:moveTo>
                  <a:pt x="0" y="0"/>
                </a:moveTo>
                <a:lnTo>
                  <a:pt x="6353556" y="0"/>
                </a:lnTo>
              </a:path>
            </a:pathLst>
          </a:custGeom>
          <a:ln w="4572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 sz="4141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4616" y="4892466"/>
            <a:ext cx="161283" cy="1612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24616" y="5877710"/>
            <a:ext cx="161283" cy="16128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24616" y="6866455"/>
            <a:ext cx="161283" cy="16128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24616" y="7855204"/>
            <a:ext cx="161283" cy="16128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681931" y="2509620"/>
            <a:ext cx="14230773" cy="5749851"/>
          </a:xfrm>
          <a:prstGeom prst="rect">
            <a:avLst/>
          </a:prstGeom>
        </p:spPr>
        <p:txBody>
          <a:bodyPr vert="horz" wrap="square" lIns="0" tIns="26296" rIns="0" bIns="0" rtlCol="0">
            <a:spAutoFit/>
          </a:bodyPr>
          <a:lstStyle/>
          <a:p>
            <a:pPr marL="29221" marR="11690">
              <a:lnSpc>
                <a:spcPct val="142900"/>
              </a:lnSpc>
              <a:spcBef>
                <a:spcPts val="207"/>
              </a:spcBef>
            </a:pP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There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are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-12" dirty="0">
                <a:solidFill>
                  <a:srgbClr val="3D3D3D"/>
                </a:solidFill>
                <a:latin typeface="Calibri"/>
                <a:cs typeface="Calibri"/>
              </a:rPr>
              <a:t>four</a:t>
            </a:r>
            <a:r>
              <a:rPr sz="4026" spc="81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such</a:t>
            </a:r>
            <a:r>
              <a:rPr sz="4026" spc="58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orientations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have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been</a:t>
            </a:r>
            <a:r>
              <a:rPr sz="4026" spc="58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adopted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in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 defining</a:t>
            </a:r>
            <a:r>
              <a:rPr sz="4026" spc="81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the </a:t>
            </a:r>
            <a:r>
              <a:rPr sz="4026" spc="-874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management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process:</a:t>
            </a:r>
            <a:endParaRPr sz="4026" dirty="0">
              <a:latin typeface="Calibri"/>
              <a:cs typeface="Calibri"/>
            </a:endParaRPr>
          </a:p>
          <a:p>
            <a:pPr marL="859072" marR="6174209">
              <a:lnSpc>
                <a:spcPts val="7753"/>
              </a:lnSpc>
              <a:spcBef>
                <a:spcPts val="469"/>
              </a:spcBef>
            </a:pP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Production-or</a:t>
            </a:r>
            <a:r>
              <a:rPr sz="4026" spc="69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efficiency-oriented, </a:t>
            </a:r>
            <a:r>
              <a:rPr sz="4026" spc="-874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Decision-oriented,</a:t>
            </a:r>
            <a:endParaRPr sz="4026" dirty="0">
              <a:latin typeface="Calibri"/>
              <a:cs typeface="Calibri"/>
            </a:endParaRPr>
          </a:p>
          <a:p>
            <a:pPr marL="859072" marR="8893140">
              <a:lnSpc>
                <a:spcPts val="7772"/>
              </a:lnSpc>
            </a:pP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People-oriented,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and </a:t>
            </a:r>
            <a:r>
              <a:rPr sz="4026" spc="-897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Function-oriented.</a:t>
            </a:r>
            <a:endParaRPr sz="4026" dirty="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39157" y="1465162"/>
            <a:ext cx="2769893" cy="59254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626423" y="1545800"/>
            <a:ext cx="2377201" cy="511902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7221009" y="1465154"/>
            <a:ext cx="663255" cy="593132"/>
            <a:chOff x="3138677" y="3480054"/>
            <a:chExt cx="288290" cy="257810"/>
          </a:xfrm>
        </p:grpSpPr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38677" y="3556254"/>
              <a:ext cx="161544" cy="18135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317748" y="3485388"/>
              <a:ext cx="104139" cy="245745"/>
            </a:xfrm>
            <a:custGeom>
              <a:avLst/>
              <a:gdLst/>
              <a:ahLst/>
              <a:cxnLst/>
              <a:rect l="l" t="t" r="r" b="b"/>
              <a:pathLst>
                <a:path w="104139" h="245745">
                  <a:moveTo>
                    <a:pt x="103632" y="12192"/>
                  </a:moveTo>
                  <a:lnTo>
                    <a:pt x="103632" y="10668"/>
                  </a:lnTo>
                  <a:lnTo>
                    <a:pt x="103632" y="9144"/>
                  </a:lnTo>
                  <a:lnTo>
                    <a:pt x="102108" y="7620"/>
                  </a:lnTo>
                  <a:lnTo>
                    <a:pt x="102108" y="6096"/>
                  </a:lnTo>
                  <a:lnTo>
                    <a:pt x="100584" y="6096"/>
                  </a:lnTo>
                  <a:lnTo>
                    <a:pt x="99060" y="4572"/>
                  </a:lnTo>
                  <a:lnTo>
                    <a:pt x="97536" y="4572"/>
                  </a:lnTo>
                  <a:lnTo>
                    <a:pt x="96012" y="3048"/>
                  </a:lnTo>
                  <a:lnTo>
                    <a:pt x="92964" y="3048"/>
                  </a:lnTo>
                  <a:lnTo>
                    <a:pt x="89916" y="1524"/>
                  </a:lnTo>
                  <a:lnTo>
                    <a:pt x="85344" y="1524"/>
                  </a:lnTo>
                  <a:lnTo>
                    <a:pt x="82296" y="0"/>
                  </a:lnTo>
                  <a:lnTo>
                    <a:pt x="77724" y="0"/>
                  </a:lnTo>
                  <a:lnTo>
                    <a:pt x="70104" y="0"/>
                  </a:lnTo>
                  <a:lnTo>
                    <a:pt x="35052" y="25908"/>
                  </a:lnTo>
                  <a:lnTo>
                    <a:pt x="28956" y="60960"/>
                  </a:lnTo>
                  <a:lnTo>
                    <a:pt x="28956" y="77724"/>
                  </a:lnTo>
                  <a:lnTo>
                    <a:pt x="6096" y="77724"/>
                  </a:lnTo>
                  <a:lnTo>
                    <a:pt x="4572" y="77724"/>
                  </a:lnTo>
                  <a:lnTo>
                    <a:pt x="3048" y="79248"/>
                  </a:lnTo>
                  <a:lnTo>
                    <a:pt x="1524" y="79248"/>
                  </a:lnTo>
                  <a:lnTo>
                    <a:pt x="1524" y="80772"/>
                  </a:lnTo>
                  <a:lnTo>
                    <a:pt x="1524" y="82296"/>
                  </a:lnTo>
                  <a:lnTo>
                    <a:pt x="1524" y="83820"/>
                  </a:lnTo>
                  <a:lnTo>
                    <a:pt x="0" y="83820"/>
                  </a:lnTo>
                  <a:lnTo>
                    <a:pt x="0" y="85344"/>
                  </a:lnTo>
                  <a:lnTo>
                    <a:pt x="0" y="86868"/>
                  </a:lnTo>
                  <a:lnTo>
                    <a:pt x="0" y="89916"/>
                  </a:lnTo>
                  <a:lnTo>
                    <a:pt x="1524" y="92964"/>
                  </a:lnTo>
                  <a:lnTo>
                    <a:pt x="1524" y="94488"/>
                  </a:lnTo>
                  <a:lnTo>
                    <a:pt x="3048" y="96012"/>
                  </a:lnTo>
                  <a:lnTo>
                    <a:pt x="4572" y="96012"/>
                  </a:lnTo>
                  <a:lnTo>
                    <a:pt x="6096" y="96012"/>
                  </a:lnTo>
                  <a:lnTo>
                    <a:pt x="28956" y="96012"/>
                  </a:lnTo>
                  <a:lnTo>
                    <a:pt x="28956" y="240792"/>
                  </a:lnTo>
                  <a:lnTo>
                    <a:pt x="28956" y="242316"/>
                  </a:lnTo>
                  <a:lnTo>
                    <a:pt x="30480" y="243840"/>
                  </a:lnTo>
                  <a:lnTo>
                    <a:pt x="32004" y="243840"/>
                  </a:lnTo>
                  <a:lnTo>
                    <a:pt x="32004" y="245364"/>
                  </a:lnTo>
                  <a:lnTo>
                    <a:pt x="33528" y="245364"/>
                  </a:lnTo>
                  <a:lnTo>
                    <a:pt x="35052" y="245364"/>
                  </a:lnTo>
                  <a:lnTo>
                    <a:pt x="36576" y="245364"/>
                  </a:lnTo>
                  <a:lnTo>
                    <a:pt x="38100" y="245364"/>
                  </a:lnTo>
                  <a:lnTo>
                    <a:pt x="39624" y="245364"/>
                  </a:lnTo>
                  <a:lnTo>
                    <a:pt x="42672" y="245364"/>
                  </a:lnTo>
                  <a:lnTo>
                    <a:pt x="44196" y="245364"/>
                  </a:lnTo>
                  <a:lnTo>
                    <a:pt x="45720" y="245364"/>
                  </a:lnTo>
                  <a:lnTo>
                    <a:pt x="47244" y="245364"/>
                  </a:lnTo>
                  <a:lnTo>
                    <a:pt x="48768" y="243840"/>
                  </a:lnTo>
                  <a:lnTo>
                    <a:pt x="50292" y="243840"/>
                  </a:lnTo>
                  <a:lnTo>
                    <a:pt x="50292" y="242316"/>
                  </a:lnTo>
                  <a:lnTo>
                    <a:pt x="50292" y="240792"/>
                  </a:lnTo>
                  <a:lnTo>
                    <a:pt x="50292" y="96012"/>
                  </a:lnTo>
                  <a:lnTo>
                    <a:pt x="89916" y="96012"/>
                  </a:lnTo>
                  <a:lnTo>
                    <a:pt x="91440" y="96012"/>
                  </a:lnTo>
                  <a:lnTo>
                    <a:pt x="92964" y="96012"/>
                  </a:lnTo>
                  <a:lnTo>
                    <a:pt x="92964" y="94488"/>
                  </a:lnTo>
                  <a:lnTo>
                    <a:pt x="94488" y="92964"/>
                  </a:lnTo>
                  <a:lnTo>
                    <a:pt x="94488" y="89916"/>
                  </a:lnTo>
                  <a:lnTo>
                    <a:pt x="94488" y="86868"/>
                  </a:lnTo>
                  <a:lnTo>
                    <a:pt x="94488" y="80772"/>
                  </a:lnTo>
                  <a:lnTo>
                    <a:pt x="92964" y="80772"/>
                  </a:lnTo>
                  <a:lnTo>
                    <a:pt x="92964" y="79248"/>
                  </a:lnTo>
                  <a:lnTo>
                    <a:pt x="91440" y="79248"/>
                  </a:lnTo>
                  <a:lnTo>
                    <a:pt x="91440" y="77724"/>
                  </a:lnTo>
                  <a:lnTo>
                    <a:pt x="89916" y="77724"/>
                  </a:lnTo>
                  <a:lnTo>
                    <a:pt x="50292" y="77724"/>
                  </a:lnTo>
                  <a:lnTo>
                    <a:pt x="50292" y="59436"/>
                  </a:lnTo>
                  <a:lnTo>
                    <a:pt x="50292" y="53340"/>
                  </a:lnTo>
                  <a:lnTo>
                    <a:pt x="51816" y="45720"/>
                  </a:lnTo>
                  <a:lnTo>
                    <a:pt x="51816" y="41148"/>
                  </a:lnTo>
                  <a:lnTo>
                    <a:pt x="53340" y="36576"/>
                  </a:lnTo>
                  <a:lnTo>
                    <a:pt x="54864" y="32004"/>
                  </a:lnTo>
                  <a:lnTo>
                    <a:pt x="56388" y="28956"/>
                  </a:lnTo>
                  <a:lnTo>
                    <a:pt x="57912" y="24384"/>
                  </a:lnTo>
                  <a:lnTo>
                    <a:pt x="60960" y="22860"/>
                  </a:lnTo>
                  <a:lnTo>
                    <a:pt x="64008" y="21336"/>
                  </a:lnTo>
                  <a:lnTo>
                    <a:pt x="68580" y="19812"/>
                  </a:lnTo>
                  <a:lnTo>
                    <a:pt x="71628" y="18288"/>
                  </a:lnTo>
                  <a:lnTo>
                    <a:pt x="76200" y="18288"/>
                  </a:lnTo>
                  <a:lnTo>
                    <a:pt x="80772" y="18288"/>
                  </a:lnTo>
                  <a:lnTo>
                    <a:pt x="83820" y="18288"/>
                  </a:lnTo>
                  <a:lnTo>
                    <a:pt x="85344" y="19812"/>
                  </a:lnTo>
                  <a:lnTo>
                    <a:pt x="88392" y="19812"/>
                  </a:lnTo>
                  <a:lnTo>
                    <a:pt x="91440" y="21336"/>
                  </a:lnTo>
                  <a:lnTo>
                    <a:pt x="92964" y="21336"/>
                  </a:lnTo>
                  <a:lnTo>
                    <a:pt x="94488" y="22860"/>
                  </a:lnTo>
                  <a:lnTo>
                    <a:pt x="96012" y="22860"/>
                  </a:lnTo>
                  <a:lnTo>
                    <a:pt x="97536" y="22860"/>
                  </a:lnTo>
                  <a:lnTo>
                    <a:pt x="99060" y="24384"/>
                  </a:lnTo>
                  <a:lnTo>
                    <a:pt x="100584" y="24384"/>
                  </a:lnTo>
                  <a:lnTo>
                    <a:pt x="102108" y="24384"/>
                  </a:lnTo>
                  <a:lnTo>
                    <a:pt x="103632" y="22860"/>
                  </a:lnTo>
                  <a:lnTo>
                    <a:pt x="103632" y="21336"/>
                  </a:lnTo>
                  <a:lnTo>
                    <a:pt x="103632" y="19812"/>
                  </a:lnTo>
                  <a:lnTo>
                    <a:pt x="103632" y="18288"/>
                  </a:lnTo>
                  <a:lnTo>
                    <a:pt x="103632" y="16764"/>
                  </a:lnTo>
                  <a:lnTo>
                    <a:pt x="103632" y="15240"/>
                  </a:lnTo>
                  <a:lnTo>
                    <a:pt x="103632" y="13716"/>
                  </a:lnTo>
                  <a:lnTo>
                    <a:pt x="103632" y="12192"/>
                  </a:lnTo>
                  <a:close/>
                </a:path>
              </a:pathLst>
            </a:custGeom>
            <a:ln w="10668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4400">
                <a:solidFill>
                  <a:srgbClr val="FF0000"/>
                </a:solidFill>
              </a:endParaRPr>
            </a:p>
          </p:txBody>
        </p:sp>
      </p:grpSp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066012" y="1465162"/>
            <a:ext cx="2577052" cy="732793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881490" y="1545800"/>
            <a:ext cx="4224964" cy="652150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6113330" y="9491464"/>
            <a:ext cx="229364" cy="436666"/>
          </a:xfrm>
          <a:prstGeom prst="rect">
            <a:avLst/>
          </a:prstGeom>
        </p:spPr>
        <p:txBody>
          <a:bodyPr vert="horz" wrap="square" lIns="0" tIns="29218" rIns="0" bIns="0" rtlCol="0">
            <a:spAutoFit/>
          </a:bodyPr>
          <a:lstStyle/>
          <a:p>
            <a:pPr marL="29221">
              <a:spcBef>
                <a:spcPts val="230"/>
              </a:spcBef>
            </a:pPr>
            <a:r>
              <a:rPr sz="2646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2646">
              <a:latin typeface="Calibri"/>
              <a:cs typeface="Calibri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0308BF0-CF4D-006C-8554-4BB2155EC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49589" y="2546813"/>
            <a:ext cx="14617916" cy="0"/>
          </a:xfrm>
          <a:custGeom>
            <a:avLst/>
            <a:gdLst/>
            <a:ahLst/>
            <a:cxnLst/>
            <a:rect l="l" t="t" r="r" b="b"/>
            <a:pathLst>
              <a:path w="6353809">
                <a:moveTo>
                  <a:pt x="0" y="0"/>
                </a:moveTo>
                <a:lnTo>
                  <a:pt x="6353556" y="0"/>
                </a:lnTo>
              </a:path>
            </a:pathLst>
          </a:custGeom>
          <a:ln w="4572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 sz="4141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3677" y="1384509"/>
            <a:ext cx="3379971" cy="539954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5506481" y="1542288"/>
            <a:ext cx="613584" cy="382760"/>
            <a:chOff x="2393442" y="3513582"/>
            <a:chExt cx="266700" cy="16637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93442" y="3513582"/>
              <a:ext cx="147827" cy="16611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70226" y="3513582"/>
              <a:ext cx="89915" cy="164591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37447" y="1384507"/>
            <a:ext cx="5396036" cy="66617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992952" y="1384507"/>
            <a:ext cx="2976758" cy="539954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2173850" y="3682821"/>
            <a:ext cx="182614" cy="137326"/>
          </a:xfrm>
          <a:custGeom>
            <a:avLst/>
            <a:gdLst/>
            <a:ahLst/>
            <a:cxnLst/>
            <a:rect l="l" t="t" r="r" b="b"/>
            <a:pathLst>
              <a:path w="79375" h="59689">
                <a:moveTo>
                  <a:pt x="74676" y="1524"/>
                </a:moveTo>
                <a:lnTo>
                  <a:pt x="68580" y="1524"/>
                </a:lnTo>
                <a:lnTo>
                  <a:pt x="70104" y="0"/>
                </a:lnTo>
                <a:lnTo>
                  <a:pt x="73152" y="0"/>
                </a:lnTo>
                <a:lnTo>
                  <a:pt x="74676" y="1524"/>
                </a:lnTo>
                <a:close/>
              </a:path>
              <a:path w="79375" h="59689">
                <a:moveTo>
                  <a:pt x="65532" y="57912"/>
                </a:moveTo>
                <a:lnTo>
                  <a:pt x="42672" y="57912"/>
                </a:lnTo>
                <a:lnTo>
                  <a:pt x="42672" y="56388"/>
                </a:lnTo>
                <a:lnTo>
                  <a:pt x="41148" y="54864"/>
                </a:lnTo>
                <a:lnTo>
                  <a:pt x="41148" y="39624"/>
                </a:lnTo>
                <a:lnTo>
                  <a:pt x="42672" y="38100"/>
                </a:lnTo>
                <a:lnTo>
                  <a:pt x="42672" y="33528"/>
                </a:lnTo>
                <a:lnTo>
                  <a:pt x="44196" y="32004"/>
                </a:lnTo>
                <a:lnTo>
                  <a:pt x="44196" y="30480"/>
                </a:lnTo>
                <a:lnTo>
                  <a:pt x="45720" y="27432"/>
                </a:lnTo>
                <a:lnTo>
                  <a:pt x="48768" y="24384"/>
                </a:lnTo>
                <a:lnTo>
                  <a:pt x="60960" y="4572"/>
                </a:lnTo>
                <a:lnTo>
                  <a:pt x="62484" y="4572"/>
                </a:lnTo>
                <a:lnTo>
                  <a:pt x="62484" y="3048"/>
                </a:lnTo>
                <a:lnTo>
                  <a:pt x="64008" y="3048"/>
                </a:lnTo>
                <a:lnTo>
                  <a:pt x="64008" y="1524"/>
                </a:lnTo>
                <a:lnTo>
                  <a:pt x="79248" y="1524"/>
                </a:lnTo>
                <a:lnTo>
                  <a:pt x="79248" y="4572"/>
                </a:lnTo>
                <a:lnTo>
                  <a:pt x="67056" y="33528"/>
                </a:lnTo>
                <a:lnTo>
                  <a:pt x="67056" y="53340"/>
                </a:lnTo>
                <a:lnTo>
                  <a:pt x="65532" y="54864"/>
                </a:lnTo>
                <a:lnTo>
                  <a:pt x="65532" y="57912"/>
                </a:lnTo>
                <a:close/>
              </a:path>
              <a:path w="79375" h="59689">
                <a:moveTo>
                  <a:pt x="62484" y="59436"/>
                </a:moveTo>
                <a:lnTo>
                  <a:pt x="44196" y="59436"/>
                </a:lnTo>
                <a:lnTo>
                  <a:pt x="44196" y="57912"/>
                </a:lnTo>
                <a:lnTo>
                  <a:pt x="64008" y="57912"/>
                </a:lnTo>
                <a:lnTo>
                  <a:pt x="62484" y="59436"/>
                </a:lnTo>
                <a:close/>
              </a:path>
              <a:path w="79375" h="59689">
                <a:moveTo>
                  <a:pt x="33528" y="1524"/>
                </a:moveTo>
                <a:lnTo>
                  <a:pt x="27432" y="1524"/>
                </a:lnTo>
                <a:lnTo>
                  <a:pt x="28956" y="0"/>
                </a:lnTo>
                <a:lnTo>
                  <a:pt x="32004" y="0"/>
                </a:lnTo>
                <a:lnTo>
                  <a:pt x="33528" y="1524"/>
                </a:lnTo>
                <a:close/>
              </a:path>
              <a:path w="79375" h="59689">
                <a:moveTo>
                  <a:pt x="24384" y="57912"/>
                </a:moveTo>
                <a:lnTo>
                  <a:pt x="1524" y="57912"/>
                </a:lnTo>
                <a:lnTo>
                  <a:pt x="1524" y="56388"/>
                </a:lnTo>
                <a:lnTo>
                  <a:pt x="0" y="54864"/>
                </a:lnTo>
                <a:lnTo>
                  <a:pt x="0" y="39624"/>
                </a:lnTo>
                <a:lnTo>
                  <a:pt x="1524" y="38100"/>
                </a:lnTo>
                <a:lnTo>
                  <a:pt x="1524" y="33528"/>
                </a:lnTo>
                <a:lnTo>
                  <a:pt x="3048" y="32004"/>
                </a:lnTo>
                <a:lnTo>
                  <a:pt x="3048" y="30480"/>
                </a:lnTo>
                <a:lnTo>
                  <a:pt x="4572" y="27432"/>
                </a:lnTo>
                <a:lnTo>
                  <a:pt x="7620" y="24384"/>
                </a:lnTo>
                <a:lnTo>
                  <a:pt x="19812" y="4572"/>
                </a:lnTo>
                <a:lnTo>
                  <a:pt x="21336" y="4572"/>
                </a:lnTo>
                <a:lnTo>
                  <a:pt x="21336" y="3048"/>
                </a:lnTo>
                <a:lnTo>
                  <a:pt x="22860" y="3048"/>
                </a:lnTo>
                <a:lnTo>
                  <a:pt x="22860" y="1524"/>
                </a:lnTo>
                <a:lnTo>
                  <a:pt x="38100" y="1524"/>
                </a:lnTo>
                <a:lnTo>
                  <a:pt x="38100" y="4572"/>
                </a:lnTo>
                <a:lnTo>
                  <a:pt x="25908" y="33528"/>
                </a:lnTo>
                <a:lnTo>
                  <a:pt x="25908" y="53340"/>
                </a:lnTo>
                <a:lnTo>
                  <a:pt x="24384" y="54864"/>
                </a:lnTo>
                <a:lnTo>
                  <a:pt x="24384" y="57912"/>
                </a:lnTo>
                <a:close/>
              </a:path>
              <a:path w="79375" h="59689">
                <a:moveTo>
                  <a:pt x="21336" y="59436"/>
                </a:moveTo>
                <a:lnTo>
                  <a:pt x="3048" y="59436"/>
                </a:lnTo>
                <a:lnTo>
                  <a:pt x="3048" y="57912"/>
                </a:lnTo>
                <a:lnTo>
                  <a:pt x="22860" y="57912"/>
                </a:lnTo>
                <a:lnTo>
                  <a:pt x="21336" y="59436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 sz="4141"/>
          </a:p>
        </p:txBody>
      </p:sp>
      <p:sp>
        <p:nvSpPr>
          <p:cNvPr id="11" name="object 11"/>
          <p:cNvSpPr txBox="1"/>
          <p:nvPr/>
        </p:nvSpPr>
        <p:spPr>
          <a:xfrm>
            <a:off x="2330533" y="3502873"/>
            <a:ext cx="12883810" cy="615113"/>
          </a:xfrm>
          <a:prstGeom prst="rect">
            <a:avLst/>
          </a:prstGeom>
        </p:spPr>
        <p:txBody>
          <a:bodyPr vert="horz" wrap="square" lIns="0" tIns="30679" rIns="0" bIns="0" rtlCol="0">
            <a:spAutoFit/>
          </a:bodyPr>
          <a:lstStyle/>
          <a:p>
            <a:pPr marL="29221">
              <a:spcBef>
                <a:spcPts val="242"/>
              </a:spcBef>
            </a:pPr>
            <a:r>
              <a:rPr sz="3796" spc="-12" dirty="0">
                <a:solidFill>
                  <a:srgbClr val="3D3D3D"/>
                </a:solidFill>
                <a:latin typeface="Calibri"/>
                <a:cs typeface="Calibri"/>
              </a:rPr>
              <a:t>Management</a:t>
            </a:r>
            <a:r>
              <a:rPr sz="3796" spc="-4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796" spc="12" dirty="0">
                <a:solidFill>
                  <a:srgbClr val="3D3D3D"/>
                </a:solidFill>
                <a:latin typeface="Calibri"/>
                <a:cs typeface="Calibri"/>
              </a:rPr>
              <a:t>is</a:t>
            </a:r>
            <a:r>
              <a:rPr sz="3796" spc="-58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796" spc="12" dirty="0">
                <a:solidFill>
                  <a:srgbClr val="3D3D3D"/>
                </a:solidFill>
                <a:latin typeface="Calibri"/>
                <a:cs typeface="Calibri"/>
              </a:rPr>
              <a:t>the</a:t>
            </a:r>
            <a:r>
              <a:rPr sz="3796" spc="-12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796" dirty="0">
                <a:solidFill>
                  <a:srgbClr val="3D3D3D"/>
                </a:solidFill>
                <a:latin typeface="Calibri"/>
                <a:cs typeface="Calibri"/>
              </a:rPr>
              <a:t>art of</a:t>
            </a:r>
            <a:r>
              <a:rPr sz="3796" spc="4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796" dirty="0">
                <a:solidFill>
                  <a:srgbClr val="3D3D3D"/>
                </a:solidFill>
                <a:latin typeface="Calibri"/>
                <a:cs typeface="Calibri"/>
              </a:rPr>
              <a:t>knowing</a:t>
            </a:r>
            <a:r>
              <a:rPr sz="3796" spc="-23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796" dirty="0">
                <a:solidFill>
                  <a:srgbClr val="3D3D3D"/>
                </a:solidFill>
                <a:latin typeface="Calibri"/>
                <a:cs typeface="Calibri"/>
              </a:rPr>
              <a:t>what </a:t>
            </a:r>
            <a:r>
              <a:rPr sz="3796" spc="-23" dirty="0">
                <a:solidFill>
                  <a:srgbClr val="3D3D3D"/>
                </a:solidFill>
                <a:latin typeface="Calibri"/>
                <a:cs typeface="Calibri"/>
              </a:rPr>
              <a:t>you</a:t>
            </a:r>
            <a:r>
              <a:rPr sz="3796" spc="-12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796" spc="-23" dirty="0">
                <a:solidFill>
                  <a:srgbClr val="3D3D3D"/>
                </a:solidFill>
                <a:latin typeface="Calibri"/>
                <a:cs typeface="Calibri"/>
              </a:rPr>
              <a:t>want</a:t>
            </a:r>
            <a:r>
              <a:rPr sz="379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796" spc="12" dirty="0">
                <a:solidFill>
                  <a:srgbClr val="3D3D3D"/>
                </a:solidFill>
                <a:latin typeface="Calibri"/>
                <a:cs typeface="Calibri"/>
              </a:rPr>
              <a:t>to</a:t>
            </a:r>
            <a:r>
              <a:rPr sz="379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796" spc="-12" dirty="0">
                <a:solidFill>
                  <a:srgbClr val="3D3D3D"/>
                </a:solidFill>
                <a:latin typeface="Calibri"/>
                <a:cs typeface="Calibri"/>
              </a:rPr>
              <a:t>do </a:t>
            </a:r>
            <a:r>
              <a:rPr sz="3796" dirty="0">
                <a:solidFill>
                  <a:srgbClr val="3D3D3D"/>
                </a:solidFill>
                <a:latin typeface="Calibri"/>
                <a:cs typeface="Calibri"/>
              </a:rPr>
              <a:t>and</a:t>
            </a:r>
            <a:r>
              <a:rPr sz="3796" spc="4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796" dirty="0">
                <a:solidFill>
                  <a:srgbClr val="3D3D3D"/>
                </a:solidFill>
                <a:latin typeface="Calibri"/>
                <a:cs typeface="Calibri"/>
              </a:rPr>
              <a:t>then</a:t>
            </a:r>
            <a:endParaRPr sz="3796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61798" y="4850394"/>
            <a:ext cx="2149296" cy="41372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165369" y="4867926"/>
            <a:ext cx="227900" cy="315555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4551042" y="4867915"/>
            <a:ext cx="245434" cy="315558"/>
            <a:chOff x="1978152" y="4959096"/>
            <a:chExt cx="106680" cy="137160"/>
          </a:xfrm>
        </p:grpSpPr>
        <p:sp>
          <p:nvSpPr>
            <p:cNvPr id="15" name="object 15"/>
            <p:cNvSpPr/>
            <p:nvPr/>
          </p:nvSpPr>
          <p:spPr>
            <a:xfrm>
              <a:off x="1978152" y="4959096"/>
              <a:ext cx="21590" cy="135890"/>
            </a:xfrm>
            <a:custGeom>
              <a:avLst/>
              <a:gdLst/>
              <a:ahLst/>
              <a:cxnLst/>
              <a:rect l="l" t="t" r="r" b="b"/>
              <a:pathLst>
                <a:path w="21589" h="135889">
                  <a:moveTo>
                    <a:pt x="15240" y="39624"/>
                  </a:moveTo>
                  <a:lnTo>
                    <a:pt x="3048" y="39624"/>
                  </a:lnTo>
                  <a:lnTo>
                    <a:pt x="3048" y="38100"/>
                  </a:lnTo>
                  <a:lnTo>
                    <a:pt x="15240" y="38100"/>
                  </a:lnTo>
                  <a:lnTo>
                    <a:pt x="15240" y="39624"/>
                  </a:lnTo>
                  <a:close/>
                </a:path>
                <a:path w="21589" h="135889">
                  <a:moveTo>
                    <a:pt x="16764" y="134112"/>
                  </a:moveTo>
                  <a:lnTo>
                    <a:pt x="1524" y="134112"/>
                  </a:lnTo>
                  <a:lnTo>
                    <a:pt x="1524" y="39624"/>
                  </a:lnTo>
                  <a:lnTo>
                    <a:pt x="16764" y="39624"/>
                  </a:lnTo>
                  <a:lnTo>
                    <a:pt x="18288" y="41148"/>
                  </a:lnTo>
                  <a:lnTo>
                    <a:pt x="18288" y="132588"/>
                  </a:lnTo>
                  <a:lnTo>
                    <a:pt x="16764" y="134112"/>
                  </a:lnTo>
                  <a:close/>
                </a:path>
                <a:path w="21589" h="135889">
                  <a:moveTo>
                    <a:pt x="15240" y="135636"/>
                  </a:moveTo>
                  <a:lnTo>
                    <a:pt x="3048" y="135636"/>
                  </a:lnTo>
                  <a:lnTo>
                    <a:pt x="3048" y="134112"/>
                  </a:lnTo>
                  <a:lnTo>
                    <a:pt x="15240" y="134112"/>
                  </a:lnTo>
                  <a:lnTo>
                    <a:pt x="15240" y="135636"/>
                  </a:lnTo>
                  <a:close/>
                </a:path>
                <a:path w="21589" h="135889">
                  <a:moveTo>
                    <a:pt x="16764" y="19812"/>
                  </a:moveTo>
                  <a:lnTo>
                    <a:pt x="3048" y="19812"/>
                  </a:lnTo>
                  <a:lnTo>
                    <a:pt x="0" y="16764"/>
                  </a:lnTo>
                  <a:lnTo>
                    <a:pt x="0" y="3048"/>
                  </a:lnTo>
                  <a:lnTo>
                    <a:pt x="3048" y="0"/>
                  </a:lnTo>
                  <a:lnTo>
                    <a:pt x="16764" y="0"/>
                  </a:lnTo>
                  <a:lnTo>
                    <a:pt x="19812" y="3048"/>
                  </a:lnTo>
                  <a:lnTo>
                    <a:pt x="21336" y="6096"/>
                  </a:lnTo>
                  <a:lnTo>
                    <a:pt x="21336" y="13716"/>
                  </a:lnTo>
                  <a:lnTo>
                    <a:pt x="19812" y="16764"/>
                  </a:lnTo>
                  <a:lnTo>
                    <a:pt x="16764" y="19812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 sz="4141"/>
            </a:p>
          </p:txBody>
        </p:sp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19300" y="4995671"/>
              <a:ext cx="65532" cy="100584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4947243" y="4850382"/>
            <a:ext cx="964204" cy="333089"/>
            <a:chOff x="2150364" y="4951475"/>
            <a:chExt cx="419100" cy="144780"/>
          </a:xfrm>
        </p:grpSpPr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150364" y="4951475"/>
              <a:ext cx="85344" cy="14478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261616" y="4995672"/>
              <a:ext cx="92964" cy="10058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378963" y="4995672"/>
              <a:ext cx="80772" cy="9906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484120" y="4995672"/>
              <a:ext cx="85344" cy="100584"/>
            </a:xfrm>
            <a:prstGeom prst="rect">
              <a:avLst/>
            </a:prstGeom>
          </p:spPr>
        </p:pic>
      </p:grpSp>
      <p:grpSp>
        <p:nvGrpSpPr>
          <p:cNvPr id="22" name="object 22"/>
          <p:cNvGrpSpPr/>
          <p:nvPr/>
        </p:nvGrpSpPr>
        <p:grpSpPr>
          <a:xfrm>
            <a:off x="6072742" y="4867915"/>
            <a:ext cx="302409" cy="312636"/>
            <a:chOff x="2639568" y="4959096"/>
            <a:chExt cx="131445" cy="135890"/>
          </a:xfrm>
        </p:grpSpPr>
        <p:sp>
          <p:nvSpPr>
            <p:cNvPr id="23" name="object 23"/>
            <p:cNvSpPr/>
            <p:nvPr/>
          </p:nvSpPr>
          <p:spPr>
            <a:xfrm>
              <a:off x="2639568" y="4959096"/>
              <a:ext cx="21590" cy="135890"/>
            </a:xfrm>
            <a:custGeom>
              <a:avLst/>
              <a:gdLst/>
              <a:ahLst/>
              <a:cxnLst/>
              <a:rect l="l" t="t" r="r" b="b"/>
              <a:pathLst>
                <a:path w="21589" h="135889">
                  <a:moveTo>
                    <a:pt x="16764" y="39624"/>
                  </a:moveTo>
                  <a:lnTo>
                    <a:pt x="3048" y="39624"/>
                  </a:lnTo>
                  <a:lnTo>
                    <a:pt x="3048" y="38100"/>
                  </a:lnTo>
                  <a:lnTo>
                    <a:pt x="15240" y="38100"/>
                  </a:lnTo>
                  <a:lnTo>
                    <a:pt x="16764" y="39624"/>
                  </a:lnTo>
                  <a:close/>
                </a:path>
                <a:path w="21589" h="135889">
                  <a:moveTo>
                    <a:pt x="18288" y="134112"/>
                  </a:moveTo>
                  <a:lnTo>
                    <a:pt x="1524" y="134112"/>
                  </a:lnTo>
                  <a:lnTo>
                    <a:pt x="1524" y="39624"/>
                  </a:lnTo>
                  <a:lnTo>
                    <a:pt x="18288" y="39624"/>
                  </a:lnTo>
                  <a:lnTo>
                    <a:pt x="18288" y="134112"/>
                  </a:lnTo>
                  <a:close/>
                </a:path>
                <a:path w="21589" h="135889">
                  <a:moveTo>
                    <a:pt x="15240" y="135636"/>
                  </a:moveTo>
                  <a:lnTo>
                    <a:pt x="3048" y="135636"/>
                  </a:lnTo>
                  <a:lnTo>
                    <a:pt x="3048" y="134112"/>
                  </a:lnTo>
                  <a:lnTo>
                    <a:pt x="16764" y="134112"/>
                  </a:lnTo>
                  <a:lnTo>
                    <a:pt x="15240" y="135636"/>
                  </a:lnTo>
                  <a:close/>
                </a:path>
                <a:path w="21589" h="135889">
                  <a:moveTo>
                    <a:pt x="16764" y="19812"/>
                  </a:moveTo>
                  <a:lnTo>
                    <a:pt x="3048" y="19812"/>
                  </a:lnTo>
                  <a:lnTo>
                    <a:pt x="0" y="16764"/>
                  </a:lnTo>
                  <a:lnTo>
                    <a:pt x="0" y="3048"/>
                  </a:lnTo>
                  <a:lnTo>
                    <a:pt x="3048" y="0"/>
                  </a:lnTo>
                  <a:lnTo>
                    <a:pt x="16764" y="0"/>
                  </a:lnTo>
                  <a:lnTo>
                    <a:pt x="19812" y="3048"/>
                  </a:lnTo>
                  <a:lnTo>
                    <a:pt x="21336" y="6096"/>
                  </a:lnTo>
                  <a:lnTo>
                    <a:pt x="21336" y="13716"/>
                  </a:lnTo>
                  <a:lnTo>
                    <a:pt x="19812" y="16764"/>
                  </a:lnTo>
                  <a:lnTo>
                    <a:pt x="16764" y="19812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 sz="4141"/>
            </a:p>
          </p:txBody>
        </p:sp>
        <p:pic>
          <p:nvPicPr>
            <p:cNvPr id="24" name="object 2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689860" y="4995672"/>
              <a:ext cx="80772" cy="99060"/>
            </a:xfrm>
            <a:prstGeom prst="rect">
              <a:avLst/>
            </a:prstGeom>
          </p:spPr>
        </p:pic>
      </p:grpSp>
      <p:grpSp>
        <p:nvGrpSpPr>
          <p:cNvPr id="25" name="object 25"/>
          <p:cNvGrpSpPr/>
          <p:nvPr/>
        </p:nvGrpSpPr>
        <p:grpSpPr>
          <a:xfrm>
            <a:off x="6525031" y="4850384"/>
            <a:ext cx="628193" cy="333089"/>
            <a:chOff x="2836164" y="4951476"/>
            <a:chExt cx="273050" cy="144780"/>
          </a:xfrm>
        </p:grpSpPr>
        <p:sp>
          <p:nvSpPr>
            <p:cNvPr id="26" name="object 26"/>
            <p:cNvSpPr/>
            <p:nvPr/>
          </p:nvSpPr>
          <p:spPr>
            <a:xfrm>
              <a:off x="2836164" y="4971287"/>
              <a:ext cx="60960" cy="125095"/>
            </a:xfrm>
            <a:custGeom>
              <a:avLst/>
              <a:gdLst/>
              <a:ahLst/>
              <a:cxnLst/>
              <a:rect l="l" t="t" r="r" b="b"/>
              <a:pathLst>
                <a:path w="60960" h="125095">
                  <a:moveTo>
                    <a:pt x="30480" y="1524"/>
                  </a:moveTo>
                  <a:lnTo>
                    <a:pt x="18288" y="1524"/>
                  </a:lnTo>
                  <a:lnTo>
                    <a:pt x="18288" y="0"/>
                  </a:lnTo>
                  <a:lnTo>
                    <a:pt x="30480" y="0"/>
                  </a:lnTo>
                  <a:lnTo>
                    <a:pt x="30480" y="1524"/>
                  </a:lnTo>
                  <a:close/>
                </a:path>
                <a:path w="60960" h="125095">
                  <a:moveTo>
                    <a:pt x="33528" y="25908"/>
                  </a:moveTo>
                  <a:lnTo>
                    <a:pt x="16764" y="25908"/>
                  </a:lnTo>
                  <a:lnTo>
                    <a:pt x="16764" y="1524"/>
                  </a:lnTo>
                  <a:lnTo>
                    <a:pt x="32004" y="1524"/>
                  </a:lnTo>
                  <a:lnTo>
                    <a:pt x="33528" y="3048"/>
                  </a:lnTo>
                  <a:lnTo>
                    <a:pt x="33528" y="25908"/>
                  </a:lnTo>
                  <a:close/>
                </a:path>
                <a:path w="60960" h="125095">
                  <a:moveTo>
                    <a:pt x="59436" y="39624"/>
                  </a:moveTo>
                  <a:lnTo>
                    <a:pt x="1524" y="39624"/>
                  </a:lnTo>
                  <a:lnTo>
                    <a:pt x="0" y="38100"/>
                  </a:lnTo>
                  <a:lnTo>
                    <a:pt x="0" y="27432"/>
                  </a:lnTo>
                  <a:lnTo>
                    <a:pt x="1524" y="25908"/>
                  </a:lnTo>
                  <a:lnTo>
                    <a:pt x="59436" y="25908"/>
                  </a:lnTo>
                  <a:lnTo>
                    <a:pt x="59436" y="28956"/>
                  </a:lnTo>
                  <a:lnTo>
                    <a:pt x="60960" y="30480"/>
                  </a:lnTo>
                  <a:lnTo>
                    <a:pt x="60960" y="35052"/>
                  </a:lnTo>
                  <a:lnTo>
                    <a:pt x="59436" y="36576"/>
                  </a:lnTo>
                  <a:lnTo>
                    <a:pt x="59436" y="39624"/>
                  </a:lnTo>
                  <a:close/>
                </a:path>
                <a:path w="60960" h="125095">
                  <a:moveTo>
                    <a:pt x="50292" y="124968"/>
                  </a:moveTo>
                  <a:lnTo>
                    <a:pt x="35052" y="124968"/>
                  </a:lnTo>
                  <a:lnTo>
                    <a:pt x="30480" y="123444"/>
                  </a:lnTo>
                  <a:lnTo>
                    <a:pt x="24384" y="120396"/>
                  </a:lnTo>
                  <a:lnTo>
                    <a:pt x="22860" y="117348"/>
                  </a:lnTo>
                  <a:lnTo>
                    <a:pt x="19812" y="114300"/>
                  </a:lnTo>
                  <a:lnTo>
                    <a:pt x="18288" y="111252"/>
                  </a:lnTo>
                  <a:lnTo>
                    <a:pt x="18288" y="108204"/>
                  </a:lnTo>
                  <a:lnTo>
                    <a:pt x="16764" y="103632"/>
                  </a:lnTo>
                  <a:lnTo>
                    <a:pt x="16764" y="39624"/>
                  </a:lnTo>
                  <a:lnTo>
                    <a:pt x="33528" y="39624"/>
                  </a:lnTo>
                  <a:lnTo>
                    <a:pt x="33528" y="102108"/>
                  </a:lnTo>
                  <a:lnTo>
                    <a:pt x="36576" y="105156"/>
                  </a:lnTo>
                  <a:lnTo>
                    <a:pt x="38100" y="108204"/>
                  </a:lnTo>
                  <a:lnTo>
                    <a:pt x="41148" y="109728"/>
                  </a:lnTo>
                  <a:lnTo>
                    <a:pt x="59436" y="109728"/>
                  </a:lnTo>
                  <a:lnTo>
                    <a:pt x="60960" y="111252"/>
                  </a:lnTo>
                  <a:lnTo>
                    <a:pt x="60960" y="117348"/>
                  </a:lnTo>
                  <a:lnTo>
                    <a:pt x="59436" y="118872"/>
                  </a:lnTo>
                  <a:lnTo>
                    <a:pt x="59436" y="120396"/>
                  </a:lnTo>
                  <a:lnTo>
                    <a:pt x="57912" y="121920"/>
                  </a:lnTo>
                  <a:lnTo>
                    <a:pt x="56388" y="121920"/>
                  </a:lnTo>
                  <a:lnTo>
                    <a:pt x="54864" y="123444"/>
                  </a:lnTo>
                  <a:lnTo>
                    <a:pt x="51816" y="123444"/>
                  </a:lnTo>
                  <a:lnTo>
                    <a:pt x="50292" y="124968"/>
                  </a:lnTo>
                  <a:close/>
                </a:path>
                <a:path w="60960" h="125095">
                  <a:moveTo>
                    <a:pt x="59436" y="109728"/>
                  </a:moveTo>
                  <a:lnTo>
                    <a:pt x="50292" y="109728"/>
                  </a:lnTo>
                  <a:lnTo>
                    <a:pt x="51816" y="108204"/>
                  </a:lnTo>
                  <a:lnTo>
                    <a:pt x="54864" y="108204"/>
                  </a:lnTo>
                  <a:lnTo>
                    <a:pt x="56388" y="106680"/>
                  </a:lnTo>
                  <a:lnTo>
                    <a:pt x="59436" y="106680"/>
                  </a:lnTo>
                  <a:lnTo>
                    <a:pt x="59436" y="109728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 sz="4141"/>
            </a:p>
          </p:txBody>
        </p:sp>
        <p:pic>
          <p:nvPicPr>
            <p:cNvPr id="27" name="object 2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918460" y="4951476"/>
              <a:ext cx="80772" cy="14325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023616" y="4995672"/>
              <a:ext cx="85344" cy="100584"/>
            </a:xfrm>
            <a:prstGeom prst="rect">
              <a:avLst/>
            </a:prstGeom>
          </p:spPr>
        </p:pic>
      </p:grpSp>
      <p:pic>
        <p:nvPicPr>
          <p:cNvPr id="29" name="object 29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7317439" y="4850382"/>
            <a:ext cx="1616354" cy="333089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9102093" y="4846876"/>
            <a:ext cx="2829498" cy="417237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16113330" y="9491464"/>
            <a:ext cx="229364" cy="436666"/>
          </a:xfrm>
          <a:prstGeom prst="rect">
            <a:avLst/>
          </a:prstGeom>
        </p:spPr>
        <p:txBody>
          <a:bodyPr vert="horz" wrap="square" lIns="0" tIns="29218" rIns="0" bIns="0" rtlCol="0">
            <a:spAutoFit/>
          </a:bodyPr>
          <a:lstStyle/>
          <a:p>
            <a:pPr marL="29221">
              <a:spcBef>
                <a:spcPts val="230"/>
              </a:spcBef>
            </a:pPr>
            <a:r>
              <a:rPr sz="2646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2646">
              <a:latin typeface="Calibri"/>
              <a:cs typeface="Calibri"/>
            </a:endParaRPr>
          </a:p>
        </p:txBody>
      </p:sp>
      <p:sp>
        <p:nvSpPr>
          <p:cNvPr id="34" name="Slide Number Placeholder 33">
            <a:extLst>
              <a:ext uri="{FF2B5EF4-FFF2-40B4-BE49-F238E27FC236}">
                <a16:creationId xmlns:a16="http://schemas.microsoft.com/office/drawing/2014/main" id="{AB7E06A7-66E1-6945-07E4-634647176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49589" y="2546813"/>
            <a:ext cx="14617916" cy="0"/>
          </a:xfrm>
          <a:custGeom>
            <a:avLst/>
            <a:gdLst/>
            <a:ahLst/>
            <a:cxnLst/>
            <a:rect l="l" t="t" r="r" b="b"/>
            <a:pathLst>
              <a:path w="6353809">
                <a:moveTo>
                  <a:pt x="0" y="0"/>
                </a:moveTo>
                <a:lnTo>
                  <a:pt x="6353556" y="0"/>
                </a:lnTo>
              </a:path>
            </a:pathLst>
          </a:custGeom>
          <a:ln w="4572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 sz="4141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6142" y="1282827"/>
            <a:ext cx="5627442" cy="58904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31087" y="1279323"/>
            <a:ext cx="3583332" cy="59254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822008" y="1052632"/>
            <a:ext cx="9675640" cy="923211"/>
          </a:xfrm>
          <a:prstGeom prst="rect">
            <a:avLst/>
          </a:prstGeom>
        </p:spPr>
        <p:txBody>
          <a:bodyPr vert="horz" wrap="square" lIns="0" tIns="30679" rIns="0" bIns="0" rtlCol="0" anchor="ctr">
            <a:spAutoFit/>
          </a:bodyPr>
          <a:lstStyle/>
          <a:p>
            <a:pPr marL="29221">
              <a:spcBef>
                <a:spcPts val="242"/>
              </a:spcBef>
            </a:pPr>
            <a:r>
              <a:rPr sz="6442" spc="-92" dirty="0">
                <a:solidFill>
                  <a:srgbClr val="BF0000"/>
                </a:solidFill>
              </a:rPr>
              <a:t>Decision-oriented</a:t>
            </a:r>
            <a:r>
              <a:rPr sz="6442" spc="-184" dirty="0">
                <a:solidFill>
                  <a:srgbClr val="BF0000"/>
                </a:solidFill>
              </a:rPr>
              <a:t> </a:t>
            </a:r>
            <a:r>
              <a:rPr sz="6442" spc="-92" dirty="0">
                <a:solidFill>
                  <a:srgbClr val="BF0000"/>
                </a:solidFill>
              </a:rPr>
              <a:t>Definitions:</a:t>
            </a:r>
            <a:endParaRPr sz="6442" dirty="0"/>
          </a:p>
        </p:txBody>
      </p:sp>
      <p:sp>
        <p:nvSpPr>
          <p:cNvPr id="6" name="object 6"/>
          <p:cNvSpPr/>
          <p:nvPr/>
        </p:nvSpPr>
        <p:spPr>
          <a:xfrm>
            <a:off x="1707518" y="3917736"/>
            <a:ext cx="186997" cy="140248"/>
          </a:xfrm>
          <a:custGeom>
            <a:avLst/>
            <a:gdLst/>
            <a:ahLst/>
            <a:cxnLst/>
            <a:rect l="l" t="t" r="r" b="b"/>
            <a:pathLst>
              <a:path w="81280" h="60960">
                <a:moveTo>
                  <a:pt x="77724" y="1524"/>
                </a:moveTo>
                <a:lnTo>
                  <a:pt x="73152" y="1524"/>
                </a:lnTo>
                <a:lnTo>
                  <a:pt x="73152" y="0"/>
                </a:lnTo>
                <a:lnTo>
                  <a:pt x="77724" y="0"/>
                </a:lnTo>
                <a:lnTo>
                  <a:pt x="77724" y="1524"/>
                </a:lnTo>
                <a:close/>
              </a:path>
              <a:path w="81280" h="60960">
                <a:moveTo>
                  <a:pt x="60960" y="60960"/>
                </a:moveTo>
                <a:lnTo>
                  <a:pt x="45720" y="60960"/>
                </a:lnTo>
                <a:lnTo>
                  <a:pt x="45720" y="59436"/>
                </a:lnTo>
                <a:lnTo>
                  <a:pt x="44196" y="59436"/>
                </a:lnTo>
                <a:lnTo>
                  <a:pt x="44196" y="56388"/>
                </a:lnTo>
                <a:lnTo>
                  <a:pt x="42672" y="56388"/>
                </a:lnTo>
                <a:lnTo>
                  <a:pt x="42672" y="45720"/>
                </a:lnTo>
                <a:lnTo>
                  <a:pt x="44196" y="42672"/>
                </a:lnTo>
                <a:lnTo>
                  <a:pt x="44196" y="39624"/>
                </a:lnTo>
                <a:lnTo>
                  <a:pt x="45720" y="38100"/>
                </a:lnTo>
                <a:lnTo>
                  <a:pt x="45720" y="36576"/>
                </a:lnTo>
                <a:lnTo>
                  <a:pt x="47244" y="33528"/>
                </a:lnTo>
                <a:lnTo>
                  <a:pt x="47244" y="32004"/>
                </a:lnTo>
                <a:lnTo>
                  <a:pt x="50292" y="28956"/>
                </a:lnTo>
                <a:lnTo>
                  <a:pt x="65532" y="4572"/>
                </a:lnTo>
                <a:lnTo>
                  <a:pt x="65532" y="3048"/>
                </a:lnTo>
                <a:lnTo>
                  <a:pt x="67056" y="3048"/>
                </a:lnTo>
                <a:lnTo>
                  <a:pt x="67056" y="1524"/>
                </a:lnTo>
                <a:lnTo>
                  <a:pt x="80772" y="1524"/>
                </a:lnTo>
                <a:lnTo>
                  <a:pt x="80772" y="4572"/>
                </a:lnTo>
                <a:lnTo>
                  <a:pt x="64008" y="36576"/>
                </a:lnTo>
                <a:lnTo>
                  <a:pt x="64008" y="57912"/>
                </a:lnTo>
                <a:lnTo>
                  <a:pt x="60960" y="60960"/>
                </a:lnTo>
                <a:close/>
              </a:path>
              <a:path w="81280" h="60960">
                <a:moveTo>
                  <a:pt x="36576" y="1524"/>
                </a:moveTo>
                <a:lnTo>
                  <a:pt x="30480" y="1524"/>
                </a:lnTo>
                <a:lnTo>
                  <a:pt x="32004" y="0"/>
                </a:lnTo>
                <a:lnTo>
                  <a:pt x="35052" y="0"/>
                </a:lnTo>
                <a:lnTo>
                  <a:pt x="36576" y="1524"/>
                </a:lnTo>
                <a:close/>
              </a:path>
              <a:path w="81280" h="60960">
                <a:moveTo>
                  <a:pt x="18288" y="60960"/>
                </a:moveTo>
                <a:lnTo>
                  <a:pt x="4572" y="60960"/>
                </a:lnTo>
                <a:lnTo>
                  <a:pt x="1524" y="57912"/>
                </a:lnTo>
                <a:lnTo>
                  <a:pt x="1524" y="56388"/>
                </a:lnTo>
                <a:lnTo>
                  <a:pt x="0" y="53340"/>
                </a:lnTo>
                <a:lnTo>
                  <a:pt x="0" y="47244"/>
                </a:lnTo>
                <a:lnTo>
                  <a:pt x="1524" y="45720"/>
                </a:lnTo>
                <a:lnTo>
                  <a:pt x="1524" y="39624"/>
                </a:lnTo>
                <a:lnTo>
                  <a:pt x="3048" y="38100"/>
                </a:lnTo>
                <a:lnTo>
                  <a:pt x="3048" y="36576"/>
                </a:lnTo>
                <a:lnTo>
                  <a:pt x="4572" y="33528"/>
                </a:lnTo>
                <a:lnTo>
                  <a:pt x="4572" y="32004"/>
                </a:lnTo>
                <a:lnTo>
                  <a:pt x="7620" y="28956"/>
                </a:lnTo>
                <a:lnTo>
                  <a:pt x="22860" y="4572"/>
                </a:lnTo>
                <a:lnTo>
                  <a:pt x="25908" y="1524"/>
                </a:lnTo>
                <a:lnTo>
                  <a:pt x="38100" y="1524"/>
                </a:lnTo>
                <a:lnTo>
                  <a:pt x="38100" y="4572"/>
                </a:lnTo>
                <a:lnTo>
                  <a:pt x="22860" y="36576"/>
                </a:lnTo>
                <a:lnTo>
                  <a:pt x="22860" y="56388"/>
                </a:lnTo>
                <a:lnTo>
                  <a:pt x="21336" y="56388"/>
                </a:lnTo>
                <a:lnTo>
                  <a:pt x="21336" y="59436"/>
                </a:lnTo>
                <a:lnTo>
                  <a:pt x="19812" y="59436"/>
                </a:lnTo>
                <a:lnTo>
                  <a:pt x="18288" y="6096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 sz="4141"/>
          </a:p>
        </p:txBody>
      </p:sp>
      <p:sp>
        <p:nvSpPr>
          <p:cNvPr id="7" name="object 7"/>
          <p:cNvSpPr txBox="1"/>
          <p:nvPr/>
        </p:nvSpPr>
        <p:spPr>
          <a:xfrm>
            <a:off x="1776363" y="3713386"/>
            <a:ext cx="14274601" cy="2982171"/>
          </a:xfrm>
          <a:prstGeom prst="rect">
            <a:avLst/>
          </a:prstGeom>
        </p:spPr>
        <p:txBody>
          <a:bodyPr vert="horz" wrap="square" lIns="0" tIns="30679" rIns="0" bIns="0" rtlCol="0">
            <a:spAutoFit/>
          </a:bodyPr>
          <a:lstStyle/>
          <a:p>
            <a:pPr marL="130031">
              <a:spcBef>
                <a:spcPts val="242"/>
              </a:spcBef>
            </a:pPr>
            <a:r>
              <a:rPr sz="4371" spc="-12" dirty="0">
                <a:solidFill>
                  <a:srgbClr val="3D3D3D"/>
                </a:solidFill>
                <a:latin typeface="Calibri"/>
                <a:cs typeface="Calibri"/>
              </a:rPr>
              <a:t>Management</a:t>
            </a:r>
            <a:r>
              <a:rPr sz="4371" spc="95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371" spc="-23" dirty="0">
                <a:solidFill>
                  <a:srgbClr val="3D3D3D"/>
                </a:solidFill>
                <a:latin typeface="Calibri"/>
                <a:cs typeface="Calibri"/>
              </a:rPr>
              <a:t>is</a:t>
            </a:r>
            <a:r>
              <a:rPr sz="4371" spc="932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371" dirty="0">
                <a:solidFill>
                  <a:srgbClr val="3D3D3D"/>
                </a:solidFill>
                <a:latin typeface="Calibri"/>
                <a:cs typeface="Calibri"/>
              </a:rPr>
              <a:t>simply</a:t>
            </a:r>
            <a:r>
              <a:rPr sz="4371" spc="932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371" dirty="0">
                <a:solidFill>
                  <a:srgbClr val="3D3D3D"/>
                </a:solidFill>
                <a:latin typeface="Calibri"/>
                <a:cs typeface="Calibri"/>
              </a:rPr>
              <a:t>the</a:t>
            </a:r>
            <a:r>
              <a:rPr sz="4371" spc="95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371" spc="-12" dirty="0">
                <a:solidFill>
                  <a:srgbClr val="3D3D3D"/>
                </a:solidFill>
                <a:latin typeface="Calibri"/>
                <a:cs typeface="Calibri"/>
              </a:rPr>
              <a:t>process</a:t>
            </a:r>
            <a:r>
              <a:rPr sz="4371" spc="92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371" spc="12" dirty="0">
                <a:solidFill>
                  <a:srgbClr val="3D3D3D"/>
                </a:solidFill>
                <a:latin typeface="Calibri"/>
                <a:cs typeface="Calibri"/>
              </a:rPr>
              <a:t>of</a:t>
            </a:r>
            <a:r>
              <a:rPr sz="4371" spc="92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371" dirty="0">
                <a:solidFill>
                  <a:srgbClr val="3D3D3D"/>
                </a:solidFill>
                <a:latin typeface="Calibri"/>
                <a:cs typeface="Calibri"/>
              </a:rPr>
              <a:t>decision</a:t>
            </a:r>
            <a:r>
              <a:rPr sz="4371" spc="92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371" dirty="0">
                <a:solidFill>
                  <a:srgbClr val="3D3D3D"/>
                </a:solidFill>
                <a:latin typeface="Calibri"/>
                <a:cs typeface="Calibri"/>
              </a:rPr>
              <a:t>making</a:t>
            </a:r>
            <a:r>
              <a:rPr sz="4371" spc="932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371" spc="12" dirty="0">
                <a:solidFill>
                  <a:srgbClr val="3D3D3D"/>
                </a:solidFill>
                <a:latin typeface="Calibri"/>
                <a:cs typeface="Calibri"/>
              </a:rPr>
              <a:t>and</a:t>
            </a:r>
            <a:endParaRPr sz="4371" dirty="0">
              <a:latin typeface="Calibri"/>
              <a:cs typeface="Calibri"/>
            </a:endParaRPr>
          </a:p>
          <a:p>
            <a:pPr marL="29221" marR="17531">
              <a:lnSpc>
                <a:spcPct val="181100"/>
              </a:lnSpc>
              <a:spcBef>
                <a:spcPts val="23"/>
              </a:spcBef>
            </a:pPr>
            <a:r>
              <a:rPr sz="4371" spc="-23" dirty="0">
                <a:solidFill>
                  <a:srgbClr val="3D3D3D"/>
                </a:solidFill>
                <a:latin typeface="Calibri"/>
                <a:cs typeface="Calibri"/>
              </a:rPr>
              <a:t>control</a:t>
            </a:r>
            <a:r>
              <a:rPr sz="4371" spc="-12" dirty="0">
                <a:solidFill>
                  <a:srgbClr val="3D3D3D"/>
                </a:solidFill>
                <a:latin typeface="Calibri"/>
                <a:cs typeface="Calibri"/>
              </a:rPr>
              <a:t> over</a:t>
            </a:r>
            <a:r>
              <a:rPr sz="4371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371" spc="12" dirty="0">
                <a:solidFill>
                  <a:srgbClr val="3D3D3D"/>
                </a:solidFill>
                <a:latin typeface="Calibri"/>
                <a:cs typeface="Calibri"/>
              </a:rPr>
              <a:t>the</a:t>
            </a:r>
            <a:r>
              <a:rPr sz="4371" spc="23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371" dirty="0">
                <a:solidFill>
                  <a:srgbClr val="3D3D3D"/>
                </a:solidFill>
                <a:latin typeface="Calibri"/>
                <a:cs typeface="Calibri"/>
              </a:rPr>
              <a:t>action</a:t>
            </a:r>
            <a:r>
              <a:rPr sz="4371" spc="12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371" spc="-12" dirty="0">
                <a:solidFill>
                  <a:srgbClr val="3D3D3D"/>
                </a:solidFill>
                <a:latin typeface="Calibri"/>
                <a:cs typeface="Calibri"/>
              </a:rPr>
              <a:t>of</a:t>
            </a:r>
            <a:r>
              <a:rPr sz="4371" dirty="0">
                <a:solidFill>
                  <a:srgbClr val="3D3D3D"/>
                </a:solidFill>
                <a:latin typeface="Calibri"/>
                <a:cs typeface="Calibri"/>
              </a:rPr>
              <a:t> human</a:t>
            </a:r>
            <a:r>
              <a:rPr sz="4371" spc="12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371" spc="-12" dirty="0">
                <a:solidFill>
                  <a:srgbClr val="3D3D3D"/>
                </a:solidFill>
                <a:latin typeface="Calibri"/>
                <a:cs typeface="Calibri"/>
              </a:rPr>
              <a:t>beings</a:t>
            </a:r>
            <a:r>
              <a:rPr sz="4371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371" spc="-35" dirty="0">
                <a:solidFill>
                  <a:srgbClr val="3D3D3D"/>
                </a:solidFill>
                <a:latin typeface="Calibri"/>
                <a:cs typeface="Calibri"/>
              </a:rPr>
              <a:t>for</a:t>
            </a:r>
            <a:r>
              <a:rPr sz="4371" spc="-23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371" spc="12" dirty="0">
                <a:solidFill>
                  <a:srgbClr val="3D3D3D"/>
                </a:solidFill>
                <a:latin typeface="Calibri"/>
                <a:cs typeface="Calibri"/>
              </a:rPr>
              <a:t>the</a:t>
            </a:r>
            <a:r>
              <a:rPr sz="4371" spc="23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371" spc="-12" dirty="0">
                <a:solidFill>
                  <a:srgbClr val="3D3D3D"/>
                </a:solidFill>
                <a:latin typeface="Calibri"/>
                <a:cs typeface="Calibri"/>
              </a:rPr>
              <a:t>expressed </a:t>
            </a:r>
            <a:r>
              <a:rPr sz="4371" spc="-95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371" dirty="0">
                <a:solidFill>
                  <a:srgbClr val="3D3D3D"/>
                </a:solidFill>
                <a:latin typeface="Calibri"/>
                <a:cs typeface="Calibri"/>
              </a:rPr>
              <a:t>purpose</a:t>
            </a:r>
            <a:r>
              <a:rPr sz="4371" spc="58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371" spc="12" dirty="0">
                <a:solidFill>
                  <a:srgbClr val="3D3D3D"/>
                </a:solidFill>
                <a:latin typeface="Calibri"/>
                <a:cs typeface="Calibri"/>
              </a:rPr>
              <a:t>of</a:t>
            </a:r>
            <a:r>
              <a:rPr sz="4371" spc="-12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371" spc="-23" dirty="0">
                <a:solidFill>
                  <a:srgbClr val="3D3D3D"/>
                </a:solidFill>
                <a:latin typeface="Calibri"/>
                <a:cs typeface="Calibri"/>
              </a:rPr>
              <a:t>attaining</a:t>
            </a:r>
            <a:r>
              <a:rPr sz="4371" spc="12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371" spc="-12" dirty="0">
                <a:solidFill>
                  <a:srgbClr val="3D3D3D"/>
                </a:solidFill>
                <a:latin typeface="Calibri"/>
                <a:cs typeface="Calibri"/>
              </a:rPr>
              <a:t>predetermined</a:t>
            </a:r>
            <a:r>
              <a:rPr lang="en-US" sz="4371" spc="-12" dirty="0">
                <a:solidFill>
                  <a:srgbClr val="3D3D3D"/>
                </a:solidFill>
                <a:latin typeface="Calibri"/>
                <a:cs typeface="Calibri"/>
              </a:rPr>
              <a:t> goals</a:t>
            </a:r>
            <a:endParaRPr sz="4371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113330" y="9491464"/>
            <a:ext cx="229364" cy="436666"/>
          </a:xfrm>
          <a:prstGeom prst="rect">
            <a:avLst/>
          </a:prstGeom>
        </p:spPr>
        <p:txBody>
          <a:bodyPr vert="horz" wrap="square" lIns="0" tIns="29218" rIns="0" bIns="0" rtlCol="0">
            <a:spAutoFit/>
          </a:bodyPr>
          <a:lstStyle/>
          <a:p>
            <a:pPr marL="29221">
              <a:spcBef>
                <a:spcPts val="230"/>
              </a:spcBef>
            </a:pPr>
            <a:r>
              <a:rPr sz="2646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2646">
              <a:latin typeface="Calibri"/>
              <a:cs typeface="Calibri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243F1B7-158B-3656-0E56-E719D5305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49589" y="2546813"/>
            <a:ext cx="14617916" cy="0"/>
          </a:xfrm>
          <a:custGeom>
            <a:avLst/>
            <a:gdLst/>
            <a:ahLst/>
            <a:cxnLst/>
            <a:rect l="l" t="t" r="r" b="b"/>
            <a:pathLst>
              <a:path w="6353809">
                <a:moveTo>
                  <a:pt x="0" y="0"/>
                </a:moveTo>
                <a:lnTo>
                  <a:pt x="6353556" y="0"/>
                </a:lnTo>
              </a:path>
            </a:pathLst>
          </a:custGeom>
          <a:ln w="4572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 sz="4141"/>
          </a:p>
        </p:txBody>
      </p:sp>
      <p:grpSp>
        <p:nvGrpSpPr>
          <p:cNvPr id="3" name="object 3"/>
          <p:cNvGrpSpPr/>
          <p:nvPr/>
        </p:nvGrpSpPr>
        <p:grpSpPr>
          <a:xfrm>
            <a:off x="1817960" y="1654486"/>
            <a:ext cx="1928408" cy="666177"/>
            <a:chOff x="790193" y="3562350"/>
            <a:chExt cx="838200" cy="2895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0193" y="3579113"/>
              <a:ext cx="611124" cy="27279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435607" y="3567683"/>
              <a:ext cx="18415" cy="222885"/>
            </a:xfrm>
            <a:custGeom>
              <a:avLst/>
              <a:gdLst/>
              <a:ahLst/>
              <a:cxnLst/>
              <a:rect l="l" t="t" r="r" b="b"/>
              <a:pathLst>
                <a:path w="18415" h="222885">
                  <a:moveTo>
                    <a:pt x="18287" y="4572"/>
                  </a:moveTo>
                  <a:lnTo>
                    <a:pt x="18287" y="3048"/>
                  </a:lnTo>
                  <a:lnTo>
                    <a:pt x="18287" y="1524"/>
                  </a:lnTo>
                  <a:lnTo>
                    <a:pt x="16763" y="1524"/>
                  </a:lnTo>
                  <a:lnTo>
                    <a:pt x="16763" y="0"/>
                  </a:lnTo>
                  <a:lnTo>
                    <a:pt x="1523" y="0"/>
                  </a:lnTo>
                  <a:lnTo>
                    <a:pt x="1523" y="1524"/>
                  </a:lnTo>
                  <a:lnTo>
                    <a:pt x="0" y="1524"/>
                  </a:lnTo>
                  <a:lnTo>
                    <a:pt x="0" y="3048"/>
                  </a:lnTo>
                  <a:lnTo>
                    <a:pt x="0" y="4572"/>
                  </a:lnTo>
                  <a:lnTo>
                    <a:pt x="0" y="217932"/>
                  </a:lnTo>
                  <a:lnTo>
                    <a:pt x="0" y="219455"/>
                  </a:lnTo>
                  <a:lnTo>
                    <a:pt x="0" y="219455"/>
                  </a:lnTo>
                  <a:lnTo>
                    <a:pt x="1523" y="220979"/>
                  </a:lnTo>
                  <a:lnTo>
                    <a:pt x="3047" y="220979"/>
                  </a:lnTo>
                  <a:lnTo>
                    <a:pt x="4571" y="222503"/>
                  </a:lnTo>
                  <a:lnTo>
                    <a:pt x="6095" y="222503"/>
                  </a:lnTo>
                  <a:lnTo>
                    <a:pt x="13715" y="222503"/>
                  </a:lnTo>
                  <a:lnTo>
                    <a:pt x="15239" y="220979"/>
                  </a:lnTo>
                  <a:lnTo>
                    <a:pt x="16763" y="220979"/>
                  </a:lnTo>
                  <a:lnTo>
                    <a:pt x="18287" y="220979"/>
                  </a:lnTo>
                  <a:lnTo>
                    <a:pt x="18287" y="219455"/>
                  </a:lnTo>
                  <a:lnTo>
                    <a:pt x="18287" y="217932"/>
                  </a:lnTo>
                  <a:lnTo>
                    <a:pt x="18287" y="4572"/>
                  </a:lnTo>
                  <a:close/>
                </a:path>
              </a:pathLst>
            </a:custGeom>
            <a:ln w="10668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4141"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91233" y="3630929"/>
              <a:ext cx="137159" cy="166115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49730" y="1654486"/>
            <a:ext cx="2440312" cy="53995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649511" y="1654486"/>
            <a:ext cx="3260760" cy="539954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731086" y="1447873"/>
            <a:ext cx="8255631" cy="840623"/>
          </a:xfrm>
          <a:prstGeom prst="rect">
            <a:avLst/>
          </a:prstGeom>
        </p:spPr>
        <p:txBody>
          <a:bodyPr vert="horz" wrap="square" lIns="0" tIns="27757" rIns="0" bIns="0" rtlCol="0" anchor="ctr">
            <a:spAutoFit/>
          </a:bodyPr>
          <a:lstStyle/>
          <a:p>
            <a:pPr marL="29221">
              <a:spcBef>
                <a:spcPts val="219"/>
              </a:spcBef>
            </a:pPr>
            <a:r>
              <a:rPr sz="5867" spc="-104" dirty="0">
                <a:solidFill>
                  <a:srgbClr val="BF0000"/>
                </a:solidFill>
              </a:rPr>
              <a:t>People</a:t>
            </a:r>
            <a:r>
              <a:rPr sz="5867" spc="-138" dirty="0">
                <a:solidFill>
                  <a:srgbClr val="BF0000"/>
                </a:solidFill>
              </a:rPr>
              <a:t> </a:t>
            </a:r>
            <a:r>
              <a:rPr sz="5867" spc="-92" dirty="0">
                <a:solidFill>
                  <a:srgbClr val="BF0000"/>
                </a:solidFill>
              </a:rPr>
              <a:t>oriented</a:t>
            </a:r>
            <a:r>
              <a:rPr sz="5867" spc="-150" dirty="0">
                <a:solidFill>
                  <a:srgbClr val="BF0000"/>
                </a:solidFill>
              </a:rPr>
              <a:t> </a:t>
            </a:r>
            <a:r>
              <a:rPr sz="5867" spc="-92" dirty="0">
                <a:solidFill>
                  <a:srgbClr val="BF0000"/>
                </a:solidFill>
              </a:rPr>
              <a:t>Definitions:</a:t>
            </a:r>
            <a:endParaRPr sz="5867"/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510434" y="3255062"/>
            <a:ext cx="3218688" cy="48034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699320" y="3050544"/>
            <a:ext cx="15278249" cy="2043966"/>
          </a:xfrm>
          <a:prstGeom prst="rect">
            <a:avLst/>
          </a:prstGeom>
        </p:spPr>
        <p:txBody>
          <a:bodyPr vert="horz" wrap="square" lIns="0" tIns="30679" rIns="0" bIns="0" rtlCol="0">
            <a:spAutoFit/>
          </a:bodyPr>
          <a:lstStyle/>
          <a:p>
            <a:pPr marL="4305583">
              <a:spcBef>
                <a:spcPts val="242"/>
              </a:spcBef>
            </a:pPr>
            <a:r>
              <a:rPr sz="4371" dirty="0">
                <a:solidFill>
                  <a:srgbClr val="3D3D3D"/>
                </a:solidFill>
                <a:latin typeface="Calibri"/>
                <a:cs typeface="Calibri"/>
              </a:rPr>
              <a:t>is</a:t>
            </a:r>
            <a:r>
              <a:rPr sz="4371" spc="107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371" spc="12" dirty="0">
                <a:solidFill>
                  <a:srgbClr val="3D3D3D"/>
                </a:solidFill>
                <a:latin typeface="Calibri"/>
                <a:cs typeface="Calibri"/>
              </a:rPr>
              <a:t>the </a:t>
            </a:r>
            <a:r>
              <a:rPr sz="4371" spc="4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371" spc="-12" dirty="0">
                <a:solidFill>
                  <a:srgbClr val="3D3D3D"/>
                </a:solidFill>
                <a:latin typeface="Calibri"/>
                <a:cs typeface="Calibri"/>
              </a:rPr>
              <a:t>accomplishment</a:t>
            </a:r>
            <a:r>
              <a:rPr sz="4371" spc="105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371" spc="12" dirty="0">
                <a:solidFill>
                  <a:srgbClr val="3D3D3D"/>
                </a:solidFill>
                <a:latin typeface="Calibri"/>
                <a:cs typeface="Calibri"/>
              </a:rPr>
              <a:t>of </a:t>
            </a:r>
            <a:r>
              <a:rPr sz="4371" spc="58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371" spc="-12" dirty="0">
                <a:solidFill>
                  <a:srgbClr val="3D3D3D"/>
                </a:solidFill>
                <a:latin typeface="Calibri"/>
                <a:cs typeface="Calibri"/>
              </a:rPr>
              <a:t>results</a:t>
            </a:r>
            <a:r>
              <a:rPr sz="4371" spc="1081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371" spc="-12" dirty="0">
                <a:solidFill>
                  <a:srgbClr val="3D3D3D"/>
                </a:solidFill>
                <a:latin typeface="Calibri"/>
                <a:cs typeface="Calibri"/>
              </a:rPr>
              <a:t>through</a:t>
            </a:r>
            <a:r>
              <a:rPr sz="4371" spc="105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371" dirty="0">
                <a:solidFill>
                  <a:srgbClr val="3D3D3D"/>
                </a:solidFill>
                <a:latin typeface="Calibri"/>
                <a:cs typeface="Calibri"/>
              </a:rPr>
              <a:t>the</a:t>
            </a:r>
            <a:endParaRPr sz="4371" dirty="0">
              <a:latin typeface="Calibri"/>
              <a:cs typeface="Calibri"/>
            </a:endParaRPr>
          </a:p>
          <a:p>
            <a:pPr>
              <a:spcBef>
                <a:spcPts val="138"/>
              </a:spcBef>
            </a:pPr>
            <a:endParaRPr sz="4256" dirty="0">
              <a:latin typeface="Calibri"/>
              <a:cs typeface="Calibri"/>
            </a:endParaRPr>
          </a:p>
          <a:p>
            <a:pPr marL="29221"/>
            <a:r>
              <a:rPr sz="4371" spc="-23" dirty="0">
                <a:solidFill>
                  <a:srgbClr val="3D3D3D"/>
                </a:solidFill>
                <a:latin typeface="Calibri"/>
                <a:cs typeface="Calibri"/>
              </a:rPr>
              <a:t>efforts</a:t>
            </a:r>
            <a:r>
              <a:rPr sz="4371" spc="-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371" spc="12" dirty="0">
                <a:solidFill>
                  <a:srgbClr val="3D3D3D"/>
                </a:solidFill>
                <a:latin typeface="Calibri"/>
                <a:cs typeface="Calibri"/>
              </a:rPr>
              <a:t>of</a:t>
            </a:r>
            <a:r>
              <a:rPr sz="4371" spc="-58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371" dirty="0">
                <a:solidFill>
                  <a:srgbClr val="3D3D3D"/>
                </a:solidFill>
                <a:latin typeface="Calibri"/>
                <a:cs typeface="Calibri"/>
              </a:rPr>
              <a:t>other</a:t>
            </a:r>
            <a:r>
              <a:rPr lang="en-US" sz="4371" dirty="0">
                <a:solidFill>
                  <a:srgbClr val="3D3D3D"/>
                </a:solidFill>
                <a:latin typeface="Calibri"/>
                <a:cs typeface="Calibri"/>
              </a:rPr>
              <a:t> people</a:t>
            </a:r>
            <a:endParaRPr sz="4371" dirty="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113330" y="9491464"/>
            <a:ext cx="229364" cy="436666"/>
          </a:xfrm>
          <a:prstGeom prst="rect">
            <a:avLst/>
          </a:prstGeom>
        </p:spPr>
        <p:txBody>
          <a:bodyPr vert="horz" wrap="square" lIns="0" tIns="29218" rIns="0" bIns="0" rtlCol="0">
            <a:spAutoFit/>
          </a:bodyPr>
          <a:lstStyle/>
          <a:p>
            <a:pPr marL="29221">
              <a:spcBef>
                <a:spcPts val="230"/>
              </a:spcBef>
            </a:pPr>
            <a:r>
              <a:rPr sz="2646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endParaRPr sz="2646">
              <a:latin typeface="Calibri"/>
              <a:cs typeface="Calibri"/>
            </a:endParaRP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DE8ADAF-87F7-7829-9198-1E5CFF140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49589" y="2546813"/>
            <a:ext cx="14617916" cy="0"/>
          </a:xfrm>
          <a:custGeom>
            <a:avLst/>
            <a:gdLst/>
            <a:ahLst/>
            <a:cxnLst/>
            <a:rect l="l" t="t" r="r" b="b"/>
            <a:pathLst>
              <a:path w="6353809">
                <a:moveTo>
                  <a:pt x="0" y="0"/>
                </a:moveTo>
                <a:lnTo>
                  <a:pt x="6353556" y="0"/>
                </a:lnTo>
              </a:path>
            </a:pathLst>
          </a:custGeom>
          <a:ln w="4572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 sz="4141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93273" y="1682544"/>
            <a:ext cx="2475374" cy="50839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93047" y="1650980"/>
            <a:ext cx="2443816" cy="53995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92812" y="1650980"/>
            <a:ext cx="3264269" cy="53995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906379" y="1444243"/>
            <a:ext cx="8826849" cy="840623"/>
          </a:xfrm>
          <a:prstGeom prst="rect">
            <a:avLst/>
          </a:prstGeom>
        </p:spPr>
        <p:txBody>
          <a:bodyPr vert="horz" wrap="square" lIns="0" tIns="27757" rIns="0" bIns="0" rtlCol="0" anchor="ctr">
            <a:spAutoFit/>
          </a:bodyPr>
          <a:lstStyle/>
          <a:p>
            <a:pPr marL="29221">
              <a:spcBef>
                <a:spcPts val="219"/>
              </a:spcBef>
            </a:pPr>
            <a:r>
              <a:rPr sz="5867" spc="-69" dirty="0">
                <a:solidFill>
                  <a:srgbClr val="BF0000"/>
                </a:solidFill>
              </a:rPr>
              <a:t>Function</a:t>
            </a:r>
            <a:r>
              <a:rPr sz="5867" spc="-138" dirty="0">
                <a:solidFill>
                  <a:srgbClr val="BF0000"/>
                </a:solidFill>
              </a:rPr>
              <a:t> </a:t>
            </a:r>
            <a:r>
              <a:rPr sz="5867" spc="-92" dirty="0">
                <a:solidFill>
                  <a:srgbClr val="BF0000"/>
                </a:solidFill>
              </a:rPr>
              <a:t>oriented</a:t>
            </a:r>
            <a:r>
              <a:rPr sz="5867" spc="-173" dirty="0">
                <a:solidFill>
                  <a:srgbClr val="BF0000"/>
                </a:solidFill>
              </a:rPr>
              <a:t> </a:t>
            </a:r>
            <a:r>
              <a:rPr sz="5867" spc="-92" dirty="0">
                <a:solidFill>
                  <a:srgbClr val="BF0000"/>
                </a:solidFill>
              </a:rPr>
              <a:t>Definitions:</a:t>
            </a:r>
            <a:endParaRPr sz="5867"/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159825" y="3304152"/>
            <a:ext cx="666175" cy="36113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874771" y="3110198"/>
            <a:ext cx="14869193" cy="2035120"/>
          </a:xfrm>
          <a:prstGeom prst="rect">
            <a:avLst/>
          </a:prstGeom>
        </p:spPr>
        <p:txBody>
          <a:bodyPr vert="horz" wrap="square" lIns="0" tIns="39445" rIns="0" bIns="0" rtlCol="0">
            <a:spAutoFit/>
          </a:bodyPr>
          <a:lstStyle/>
          <a:p>
            <a:pPr marL="1101598">
              <a:spcBef>
                <a:spcPts val="311"/>
              </a:spcBef>
            </a:pP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manage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is</a:t>
            </a:r>
            <a:r>
              <a:rPr sz="4026" spc="92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to</a:t>
            </a:r>
            <a:r>
              <a:rPr sz="4026" spc="11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forecast</a:t>
            </a:r>
            <a:r>
              <a:rPr sz="4026" spc="81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and</a:t>
            </a:r>
            <a:r>
              <a:rPr sz="4026" spc="81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to</a:t>
            </a:r>
            <a:r>
              <a:rPr sz="4026" spc="11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plan,</a:t>
            </a:r>
            <a:r>
              <a:rPr sz="4026" spc="104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to</a:t>
            </a:r>
            <a:r>
              <a:rPr sz="4026" spc="11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organize,</a:t>
            </a:r>
            <a:r>
              <a:rPr sz="4026" spc="104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to</a:t>
            </a:r>
            <a:r>
              <a:rPr sz="4026" spc="69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coordinate</a:t>
            </a:r>
            <a:r>
              <a:rPr sz="4026" spc="11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and</a:t>
            </a:r>
            <a:endParaRPr sz="4026">
              <a:latin typeface="Calibri"/>
              <a:cs typeface="Calibri"/>
            </a:endParaRPr>
          </a:p>
          <a:p>
            <a:pPr>
              <a:spcBef>
                <a:spcPts val="127"/>
              </a:spcBef>
            </a:pPr>
            <a:endParaRPr sz="4831">
              <a:latin typeface="Calibri"/>
              <a:cs typeface="Calibri"/>
            </a:endParaRPr>
          </a:p>
          <a:p>
            <a:pPr marL="29221"/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to</a:t>
            </a:r>
            <a:endParaRPr sz="4026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489397" y="4682087"/>
            <a:ext cx="1662521" cy="362307"/>
            <a:chOff x="1082039" y="4878324"/>
            <a:chExt cx="722630" cy="157480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82039" y="4927091"/>
              <a:ext cx="193548" cy="10820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01495" y="4901183"/>
              <a:ext cx="169163" cy="13411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95043" y="4927091"/>
              <a:ext cx="167640" cy="10820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688579" y="4878336"/>
              <a:ext cx="116205" cy="155575"/>
            </a:xfrm>
            <a:custGeom>
              <a:avLst/>
              <a:gdLst/>
              <a:ahLst/>
              <a:cxnLst/>
              <a:rect l="l" t="t" r="r" b="b"/>
              <a:pathLst>
                <a:path w="116205" h="155575">
                  <a:moveTo>
                    <a:pt x="18288" y="3048"/>
                  </a:moveTo>
                  <a:lnTo>
                    <a:pt x="16764" y="3048"/>
                  </a:lnTo>
                  <a:lnTo>
                    <a:pt x="15240" y="1524"/>
                  </a:lnTo>
                  <a:lnTo>
                    <a:pt x="3048" y="1524"/>
                  </a:lnTo>
                  <a:lnTo>
                    <a:pt x="3048" y="3048"/>
                  </a:lnTo>
                  <a:lnTo>
                    <a:pt x="0" y="3048"/>
                  </a:lnTo>
                  <a:lnTo>
                    <a:pt x="0" y="153924"/>
                  </a:lnTo>
                  <a:lnTo>
                    <a:pt x="1524" y="153924"/>
                  </a:lnTo>
                  <a:lnTo>
                    <a:pt x="1524" y="155448"/>
                  </a:lnTo>
                  <a:lnTo>
                    <a:pt x="16764" y="155448"/>
                  </a:lnTo>
                  <a:lnTo>
                    <a:pt x="16764" y="153924"/>
                  </a:lnTo>
                  <a:lnTo>
                    <a:pt x="18288" y="153924"/>
                  </a:lnTo>
                  <a:lnTo>
                    <a:pt x="18288" y="3048"/>
                  </a:lnTo>
                  <a:close/>
                </a:path>
                <a:path w="116205" h="155575">
                  <a:moveTo>
                    <a:pt x="76200" y="6096"/>
                  </a:moveTo>
                  <a:lnTo>
                    <a:pt x="74676" y="4572"/>
                  </a:lnTo>
                  <a:lnTo>
                    <a:pt x="74676" y="3048"/>
                  </a:lnTo>
                  <a:lnTo>
                    <a:pt x="73152" y="1524"/>
                  </a:lnTo>
                  <a:lnTo>
                    <a:pt x="71628" y="1524"/>
                  </a:lnTo>
                  <a:lnTo>
                    <a:pt x="70104" y="0"/>
                  </a:lnTo>
                  <a:lnTo>
                    <a:pt x="60960" y="0"/>
                  </a:lnTo>
                  <a:lnTo>
                    <a:pt x="59436" y="1524"/>
                  </a:lnTo>
                  <a:lnTo>
                    <a:pt x="57912" y="1524"/>
                  </a:lnTo>
                  <a:lnTo>
                    <a:pt x="56388" y="3048"/>
                  </a:lnTo>
                  <a:lnTo>
                    <a:pt x="56388" y="4572"/>
                  </a:lnTo>
                  <a:lnTo>
                    <a:pt x="54864" y="6096"/>
                  </a:lnTo>
                  <a:lnTo>
                    <a:pt x="54864" y="22860"/>
                  </a:lnTo>
                  <a:lnTo>
                    <a:pt x="41148" y="53340"/>
                  </a:lnTo>
                  <a:lnTo>
                    <a:pt x="39624" y="54864"/>
                  </a:lnTo>
                  <a:lnTo>
                    <a:pt x="41148" y="54864"/>
                  </a:lnTo>
                  <a:lnTo>
                    <a:pt x="41148" y="56388"/>
                  </a:lnTo>
                  <a:lnTo>
                    <a:pt x="51816" y="56388"/>
                  </a:lnTo>
                  <a:lnTo>
                    <a:pt x="51816" y="54864"/>
                  </a:lnTo>
                  <a:lnTo>
                    <a:pt x="53340" y="54864"/>
                  </a:lnTo>
                  <a:lnTo>
                    <a:pt x="53340" y="53340"/>
                  </a:lnTo>
                  <a:lnTo>
                    <a:pt x="54864" y="53340"/>
                  </a:lnTo>
                  <a:lnTo>
                    <a:pt x="70104" y="30480"/>
                  </a:lnTo>
                  <a:lnTo>
                    <a:pt x="70104" y="28956"/>
                  </a:lnTo>
                  <a:lnTo>
                    <a:pt x="73152" y="25908"/>
                  </a:lnTo>
                  <a:lnTo>
                    <a:pt x="73152" y="24384"/>
                  </a:lnTo>
                  <a:lnTo>
                    <a:pt x="74676" y="22860"/>
                  </a:lnTo>
                  <a:lnTo>
                    <a:pt x="74676" y="16764"/>
                  </a:lnTo>
                  <a:lnTo>
                    <a:pt x="76200" y="15240"/>
                  </a:lnTo>
                  <a:lnTo>
                    <a:pt x="76200" y="6096"/>
                  </a:lnTo>
                  <a:close/>
                </a:path>
                <a:path w="116205" h="155575">
                  <a:moveTo>
                    <a:pt x="115824" y="6096"/>
                  </a:moveTo>
                  <a:lnTo>
                    <a:pt x="114300" y="4572"/>
                  </a:lnTo>
                  <a:lnTo>
                    <a:pt x="114300" y="3048"/>
                  </a:lnTo>
                  <a:lnTo>
                    <a:pt x="112776" y="1524"/>
                  </a:lnTo>
                  <a:lnTo>
                    <a:pt x="111252" y="1524"/>
                  </a:lnTo>
                  <a:lnTo>
                    <a:pt x="109728" y="0"/>
                  </a:lnTo>
                  <a:lnTo>
                    <a:pt x="100584" y="0"/>
                  </a:lnTo>
                  <a:lnTo>
                    <a:pt x="99060" y="1524"/>
                  </a:lnTo>
                  <a:lnTo>
                    <a:pt x="97536" y="1524"/>
                  </a:lnTo>
                  <a:lnTo>
                    <a:pt x="96012" y="3048"/>
                  </a:lnTo>
                  <a:lnTo>
                    <a:pt x="96012" y="6096"/>
                  </a:lnTo>
                  <a:lnTo>
                    <a:pt x="94488" y="7620"/>
                  </a:lnTo>
                  <a:lnTo>
                    <a:pt x="94488" y="22860"/>
                  </a:lnTo>
                  <a:lnTo>
                    <a:pt x="80772" y="53340"/>
                  </a:lnTo>
                  <a:lnTo>
                    <a:pt x="80772" y="56388"/>
                  </a:lnTo>
                  <a:lnTo>
                    <a:pt x="91440" y="56388"/>
                  </a:lnTo>
                  <a:lnTo>
                    <a:pt x="91440" y="54864"/>
                  </a:lnTo>
                  <a:lnTo>
                    <a:pt x="92964" y="54864"/>
                  </a:lnTo>
                  <a:lnTo>
                    <a:pt x="94488" y="53340"/>
                  </a:lnTo>
                  <a:lnTo>
                    <a:pt x="109728" y="30480"/>
                  </a:lnTo>
                  <a:lnTo>
                    <a:pt x="109728" y="28956"/>
                  </a:lnTo>
                  <a:lnTo>
                    <a:pt x="112776" y="25908"/>
                  </a:lnTo>
                  <a:lnTo>
                    <a:pt x="112776" y="24384"/>
                  </a:lnTo>
                  <a:lnTo>
                    <a:pt x="114300" y="22860"/>
                  </a:lnTo>
                  <a:lnTo>
                    <a:pt x="114300" y="16764"/>
                  </a:lnTo>
                  <a:lnTo>
                    <a:pt x="115824" y="15240"/>
                  </a:lnTo>
                  <a:lnTo>
                    <a:pt x="115824" y="6096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 sz="4141"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6113330" y="9491464"/>
            <a:ext cx="229364" cy="436666"/>
          </a:xfrm>
          <a:prstGeom prst="rect">
            <a:avLst/>
          </a:prstGeom>
        </p:spPr>
        <p:txBody>
          <a:bodyPr vert="horz" wrap="square" lIns="0" tIns="29218" rIns="0" bIns="0" rtlCol="0">
            <a:spAutoFit/>
          </a:bodyPr>
          <a:lstStyle/>
          <a:p>
            <a:pPr marL="29221">
              <a:spcBef>
                <a:spcPts val="230"/>
              </a:spcBef>
            </a:pPr>
            <a:r>
              <a:rPr sz="2646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endParaRPr sz="2646">
              <a:latin typeface="Calibri"/>
              <a:cs typeface="Calibri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57B95C7-DDCC-7293-BE71-7DABB4BAC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49589" y="2546813"/>
            <a:ext cx="14617916" cy="0"/>
          </a:xfrm>
          <a:custGeom>
            <a:avLst/>
            <a:gdLst/>
            <a:ahLst/>
            <a:cxnLst/>
            <a:rect l="l" t="t" r="r" b="b"/>
            <a:pathLst>
              <a:path w="6353809">
                <a:moveTo>
                  <a:pt x="0" y="0"/>
                </a:moveTo>
                <a:lnTo>
                  <a:pt x="6353556" y="0"/>
                </a:lnTo>
              </a:path>
            </a:pathLst>
          </a:custGeom>
          <a:ln w="4572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 sz="4141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8366" y="1700065"/>
            <a:ext cx="1711021" cy="592547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704294" y="1738635"/>
            <a:ext cx="417822" cy="555148"/>
            <a:chOff x="1610105" y="3598926"/>
            <a:chExt cx="181610" cy="241300"/>
          </a:xfrm>
        </p:grpSpPr>
        <p:sp>
          <p:nvSpPr>
            <p:cNvPr id="5" name="object 5"/>
            <p:cNvSpPr/>
            <p:nvPr/>
          </p:nvSpPr>
          <p:spPr>
            <a:xfrm>
              <a:off x="1615439" y="3604260"/>
              <a:ext cx="21590" cy="228600"/>
            </a:xfrm>
            <a:custGeom>
              <a:avLst/>
              <a:gdLst/>
              <a:ahLst/>
              <a:cxnLst/>
              <a:rect l="l" t="t" r="r" b="b"/>
              <a:pathLst>
                <a:path w="21589" h="228600">
                  <a:moveTo>
                    <a:pt x="21336" y="4572"/>
                  </a:moveTo>
                  <a:lnTo>
                    <a:pt x="21336" y="3048"/>
                  </a:lnTo>
                  <a:lnTo>
                    <a:pt x="19812" y="1524"/>
                  </a:lnTo>
                  <a:lnTo>
                    <a:pt x="18288" y="1524"/>
                  </a:lnTo>
                  <a:lnTo>
                    <a:pt x="16764" y="0"/>
                  </a:lnTo>
                  <a:lnTo>
                    <a:pt x="4572" y="0"/>
                  </a:lnTo>
                  <a:lnTo>
                    <a:pt x="3048" y="1524"/>
                  </a:lnTo>
                  <a:lnTo>
                    <a:pt x="1524" y="1524"/>
                  </a:lnTo>
                  <a:lnTo>
                    <a:pt x="0" y="3048"/>
                  </a:lnTo>
                  <a:lnTo>
                    <a:pt x="0" y="4572"/>
                  </a:lnTo>
                  <a:lnTo>
                    <a:pt x="0" y="224028"/>
                  </a:lnTo>
                  <a:lnTo>
                    <a:pt x="0" y="225552"/>
                  </a:lnTo>
                  <a:lnTo>
                    <a:pt x="1524" y="227076"/>
                  </a:lnTo>
                  <a:lnTo>
                    <a:pt x="3048" y="227076"/>
                  </a:lnTo>
                  <a:lnTo>
                    <a:pt x="4572" y="228600"/>
                  </a:lnTo>
                  <a:lnTo>
                    <a:pt x="6096" y="228600"/>
                  </a:lnTo>
                  <a:lnTo>
                    <a:pt x="15240" y="228600"/>
                  </a:lnTo>
                  <a:lnTo>
                    <a:pt x="16764" y="228600"/>
                  </a:lnTo>
                  <a:lnTo>
                    <a:pt x="18288" y="227076"/>
                  </a:lnTo>
                  <a:lnTo>
                    <a:pt x="19812" y="227076"/>
                  </a:lnTo>
                  <a:lnTo>
                    <a:pt x="21336" y="225552"/>
                  </a:lnTo>
                  <a:lnTo>
                    <a:pt x="21336" y="224028"/>
                  </a:lnTo>
                  <a:lnTo>
                    <a:pt x="21336" y="4572"/>
                  </a:lnTo>
                  <a:close/>
                </a:path>
              </a:pathLst>
            </a:custGeom>
            <a:ln w="10668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4141"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74113" y="3658361"/>
              <a:ext cx="117347" cy="181356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66975" y="1714102"/>
            <a:ext cx="4533509" cy="71876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713299" y="3264526"/>
            <a:ext cx="12899880" cy="1801353"/>
          </a:xfrm>
          <a:prstGeom prst="rect">
            <a:avLst/>
          </a:prstGeom>
        </p:spPr>
        <p:txBody>
          <a:bodyPr vert="horz" wrap="square" lIns="0" tIns="90577" rIns="0" bIns="0" rtlCol="0">
            <a:spAutoFit/>
          </a:bodyPr>
          <a:lstStyle/>
          <a:p>
            <a:pPr marL="29221" marR="11690">
              <a:lnSpc>
                <a:spcPct val="91700"/>
              </a:lnSpc>
              <a:spcBef>
                <a:spcPts val="713"/>
              </a:spcBef>
            </a:pPr>
            <a:r>
              <a:rPr sz="4026" b="1" spc="23" dirty="0">
                <a:solidFill>
                  <a:srgbClr val="3D3D3D"/>
                </a:solidFill>
                <a:latin typeface="Calibri"/>
                <a:cs typeface="Calibri"/>
              </a:rPr>
              <a:t>Management</a:t>
            </a:r>
            <a:r>
              <a:rPr sz="4026" b="1" spc="92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involves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 coordinating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and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overseeing</a:t>
            </a:r>
            <a:r>
              <a:rPr sz="4026" spc="58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the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work </a:t>
            </a:r>
            <a:r>
              <a:rPr sz="4026" spc="-88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activities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of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others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so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that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their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activities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are completed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efficiently</a:t>
            </a:r>
            <a:r>
              <a:rPr sz="4026" spc="-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and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-23" dirty="0">
                <a:solidFill>
                  <a:srgbClr val="3D3D3D"/>
                </a:solidFill>
                <a:latin typeface="Calibri"/>
                <a:cs typeface="Calibri"/>
              </a:rPr>
              <a:t>effectively.</a:t>
            </a:r>
            <a:endParaRPr sz="4026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113330" y="9491464"/>
            <a:ext cx="229364" cy="436666"/>
          </a:xfrm>
          <a:prstGeom prst="rect">
            <a:avLst/>
          </a:prstGeom>
        </p:spPr>
        <p:txBody>
          <a:bodyPr vert="horz" wrap="square" lIns="0" tIns="29218" rIns="0" bIns="0" rtlCol="0">
            <a:spAutoFit/>
          </a:bodyPr>
          <a:lstStyle/>
          <a:p>
            <a:pPr marL="29221">
              <a:spcBef>
                <a:spcPts val="230"/>
              </a:spcBef>
            </a:pPr>
            <a:r>
              <a:rPr sz="2646" dirty="0">
                <a:solidFill>
                  <a:srgbClr val="FFFFFF"/>
                </a:solidFill>
                <a:latin typeface="Calibri"/>
                <a:cs typeface="Calibri"/>
              </a:rPr>
              <a:t>9</a:t>
            </a:r>
            <a:endParaRPr sz="2646">
              <a:latin typeface="Calibri"/>
              <a:cs typeface="Calibri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0E5623F-80D5-DE4B-D562-4FE36EB48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49589" y="2546813"/>
            <a:ext cx="14617916" cy="0"/>
          </a:xfrm>
          <a:custGeom>
            <a:avLst/>
            <a:gdLst/>
            <a:ahLst/>
            <a:cxnLst/>
            <a:rect l="l" t="t" r="r" b="b"/>
            <a:pathLst>
              <a:path w="6353809">
                <a:moveTo>
                  <a:pt x="0" y="0"/>
                </a:moveTo>
                <a:lnTo>
                  <a:pt x="6353556" y="0"/>
                </a:lnTo>
              </a:path>
            </a:pathLst>
          </a:custGeom>
          <a:ln w="4572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 sz="4141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6541" y="1268803"/>
            <a:ext cx="1560255" cy="539954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623651" y="1303866"/>
            <a:ext cx="382760" cy="505477"/>
            <a:chOff x="1575053" y="3409950"/>
            <a:chExt cx="166370" cy="219710"/>
          </a:xfrm>
        </p:grpSpPr>
        <p:sp>
          <p:nvSpPr>
            <p:cNvPr id="5" name="object 5"/>
            <p:cNvSpPr/>
            <p:nvPr/>
          </p:nvSpPr>
          <p:spPr>
            <a:xfrm>
              <a:off x="1580387" y="3415283"/>
              <a:ext cx="20320" cy="207645"/>
            </a:xfrm>
            <a:custGeom>
              <a:avLst/>
              <a:gdLst/>
              <a:ahLst/>
              <a:cxnLst/>
              <a:rect l="l" t="t" r="r" b="b"/>
              <a:pathLst>
                <a:path w="20319" h="207645">
                  <a:moveTo>
                    <a:pt x="19812" y="3048"/>
                  </a:moveTo>
                  <a:lnTo>
                    <a:pt x="19812" y="1524"/>
                  </a:lnTo>
                  <a:lnTo>
                    <a:pt x="18288" y="1524"/>
                  </a:lnTo>
                  <a:lnTo>
                    <a:pt x="18288" y="0"/>
                  </a:lnTo>
                  <a:lnTo>
                    <a:pt x="16764" y="0"/>
                  </a:lnTo>
                  <a:lnTo>
                    <a:pt x="15240" y="0"/>
                  </a:lnTo>
                  <a:lnTo>
                    <a:pt x="13716" y="0"/>
                  </a:lnTo>
                  <a:lnTo>
                    <a:pt x="12192" y="0"/>
                  </a:lnTo>
                  <a:lnTo>
                    <a:pt x="9144" y="0"/>
                  </a:lnTo>
                  <a:lnTo>
                    <a:pt x="7620" y="0"/>
                  </a:lnTo>
                  <a:lnTo>
                    <a:pt x="6096" y="0"/>
                  </a:lnTo>
                  <a:lnTo>
                    <a:pt x="4572" y="0"/>
                  </a:lnTo>
                  <a:lnTo>
                    <a:pt x="3048" y="0"/>
                  </a:lnTo>
                  <a:lnTo>
                    <a:pt x="1524" y="1524"/>
                  </a:lnTo>
                  <a:lnTo>
                    <a:pt x="0" y="1524"/>
                  </a:lnTo>
                  <a:lnTo>
                    <a:pt x="0" y="3048"/>
                  </a:lnTo>
                  <a:lnTo>
                    <a:pt x="0" y="202691"/>
                  </a:lnTo>
                  <a:lnTo>
                    <a:pt x="0" y="204216"/>
                  </a:lnTo>
                  <a:lnTo>
                    <a:pt x="1524" y="205740"/>
                  </a:lnTo>
                  <a:lnTo>
                    <a:pt x="3048" y="205740"/>
                  </a:lnTo>
                  <a:lnTo>
                    <a:pt x="4572" y="205740"/>
                  </a:lnTo>
                  <a:lnTo>
                    <a:pt x="4572" y="207264"/>
                  </a:lnTo>
                  <a:lnTo>
                    <a:pt x="15240" y="207264"/>
                  </a:lnTo>
                  <a:lnTo>
                    <a:pt x="15240" y="205740"/>
                  </a:lnTo>
                  <a:lnTo>
                    <a:pt x="16764" y="205740"/>
                  </a:lnTo>
                  <a:lnTo>
                    <a:pt x="18288" y="205740"/>
                  </a:lnTo>
                  <a:lnTo>
                    <a:pt x="19812" y="204216"/>
                  </a:lnTo>
                  <a:lnTo>
                    <a:pt x="19812" y="202691"/>
                  </a:lnTo>
                  <a:lnTo>
                    <a:pt x="19812" y="3048"/>
                  </a:lnTo>
                  <a:close/>
                </a:path>
              </a:pathLst>
            </a:custGeom>
            <a:ln w="10668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4141"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32965" y="3463289"/>
              <a:ext cx="108203" cy="166115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23221" y="1279323"/>
            <a:ext cx="4109260" cy="65565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37100" y="3931763"/>
            <a:ext cx="147260" cy="147260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2300072" y="4633008"/>
            <a:ext cx="109569" cy="109569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8956" y="47244"/>
                </a:moveTo>
                <a:lnTo>
                  <a:pt x="16764" y="47244"/>
                </a:lnTo>
                <a:lnTo>
                  <a:pt x="10668" y="44196"/>
                </a:lnTo>
                <a:lnTo>
                  <a:pt x="1524" y="35052"/>
                </a:lnTo>
                <a:lnTo>
                  <a:pt x="0" y="30480"/>
                </a:lnTo>
                <a:lnTo>
                  <a:pt x="0" y="16764"/>
                </a:lnTo>
                <a:lnTo>
                  <a:pt x="1524" y="10668"/>
                </a:lnTo>
                <a:lnTo>
                  <a:pt x="10668" y="1524"/>
                </a:lnTo>
                <a:lnTo>
                  <a:pt x="16764" y="0"/>
                </a:lnTo>
                <a:lnTo>
                  <a:pt x="28956" y="0"/>
                </a:lnTo>
                <a:lnTo>
                  <a:pt x="35052" y="1524"/>
                </a:lnTo>
                <a:lnTo>
                  <a:pt x="41148" y="7620"/>
                </a:lnTo>
                <a:lnTo>
                  <a:pt x="18288" y="7620"/>
                </a:lnTo>
                <a:lnTo>
                  <a:pt x="15240" y="9144"/>
                </a:lnTo>
                <a:lnTo>
                  <a:pt x="9144" y="15240"/>
                </a:lnTo>
                <a:lnTo>
                  <a:pt x="7620" y="18288"/>
                </a:lnTo>
                <a:lnTo>
                  <a:pt x="7620" y="27432"/>
                </a:lnTo>
                <a:lnTo>
                  <a:pt x="9144" y="32004"/>
                </a:lnTo>
                <a:lnTo>
                  <a:pt x="15240" y="38100"/>
                </a:lnTo>
                <a:lnTo>
                  <a:pt x="18288" y="39624"/>
                </a:lnTo>
                <a:lnTo>
                  <a:pt x="39624" y="39624"/>
                </a:lnTo>
                <a:lnTo>
                  <a:pt x="35052" y="44196"/>
                </a:lnTo>
                <a:lnTo>
                  <a:pt x="28956" y="47244"/>
                </a:lnTo>
                <a:close/>
              </a:path>
              <a:path w="47625" h="47625">
                <a:moveTo>
                  <a:pt x="39624" y="39624"/>
                </a:moveTo>
                <a:lnTo>
                  <a:pt x="27432" y="39624"/>
                </a:lnTo>
                <a:lnTo>
                  <a:pt x="32004" y="38100"/>
                </a:lnTo>
                <a:lnTo>
                  <a:pt x="38100" y="32004"/>
                </a:lnTo>
                <a:lnTo>
                  <a:pt x="39624" y="27432"/>
                </a:lnTo>
                <a:lnTo>
                  <a:pt x="39624" y="18288"/>
                </a:lnTo>
                <a:lnTo>
                  <a:pt x="38100" y="15240"/>
                </a:lnTo>
                <a:lnTo>
                  <a:pt x="35052" y="12192"/>
                </a:lnTo>
                <a:lnTo>
                  <a:pt x="30480" y="9144"/>
                </a:lnTo>
                <a:lnTo>
                  <a:pt x="27432" y="7620"/>
                </a:lnTo>
                <a:lnTo>
                  <a:pt x="41148" y="7620"/>
                </a:lnTo>
                <a:lnTo>
                  <a:pt x="44196" y="10668"/>
                </a:lnTo>
                <a:lnTo>
                  <a:pt x="47244" y="16764"/>
                </a:lnTo>
                <a:lnTo>
                  <a:pt x="47244" y="30480"/>
                </a:lnTo>
                <a:lnTo>
                  <a:pt x="44196" y="35052"/>
                </a:lnTo>
                <a:lnTo>
                  <a:pt x="39624" y="39624"/>
                </a:lnTo>
                <a:close/>
              </a:path>
            </a:pathLst>
          </a:custGeom>
          <a:solidFill>
            <a:srgbClr val="E48311"/>
          </a:solidFill>
        </p:spPr>
        <p:txBody>
          <a:bodyPr wrap="square" lIns="0" tIns="0" rIns="0" bIns="0" rtlCol="0"/>
          <a:lstStyle/>
          <a:p>
            <a:endParaRPr sz="4141"/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573548" y="4531318"/>
            <a:ext cx="2401744" cy="382175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5122550" y="4531318"/>
            <a:ext cx="993422" cy="382760"/>
            <a:chOff x="2226563" y="4812791"/>
            <a:chExt cx="431800" cy="16637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26563" y="4820411"/>
              <a:ext cx="184404" cy="15849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30780" y="4812791"/>
              <a:ext cx="227075" cy="134111"/>
            </a:xfrm>
            <a:prstGeom prst="rect">
              <a:avLst/>
            </a:prstGeom>
          </p:spPr>
        </p:pic>
      </p:grpSp>
      <p:sp>
        <p:nvSpPr>
          <p:cNvPr id="15" name="object 15"/>
          <p:cNvSpPr/>
          <p:nvPr/>
        </p:nvSpPr>
        <p:spPr>
          <a:xfrm>
            <a:off x="2566543" y="5225557"/>
            <a:ext cx="109569" cy="109569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30480" y="47244"/>
                </a:moveTo>
                <a:lnTo>
                  <a:pt x="16764" y="47244"/>
                </a:lnTo>
                <a:lnTo>
                  <a:pt x="12192" y="45720"/>
                </a:lnTo>
                <a:lnTo>
                  <a:pt x="3048" y="36576"/>
                </a:lnTo>
                <a:lnTo>
                  <a:pt x="0" y="30480"/>
                </a:lnTo>
                <a:lnTo>
                  <a:pt x="0" y="18288"/>
                </a:lnTo>
                <a:lnTo>
                  <a:pt x="3048" y="12192"/>
                </a:lnTo>
                <a:lnTo>
                  <a:pt x="12192" y="3048"/>
                </a:lnTo>
                <a:lnTo>
                  <a:pt x="16764" y="0"/>
                </a:lnTo>
                <a:lnTo>
                  <a:pt x="30480" y="0"/>
                </a:lnTo>
                <a:lnTo>
                  <a:pt x="35052" y="3048"/>
                </a:lnTo>
                <a:lnTo>
                  <a:pt x="41148" y="7620"/>
                </a:lnTo>
                <a:lnTo>
                  <a:pt x="19812" y="7620"/>
                </a:lnTo>
                <a:lnTo>
                  <a:pt x="15240" y="9144"/>
                </a:lnTo>
                <a:lnTo>
                  <a:pt x="12192" y="12192"/>
                </a:lnTo>
                <a:lnTo>
                  <a:pt x="9144" y="16764"/>
                </a:lnTo>
                <a:lnTo>
                  <a:pt x="7620" y="19812"/>
                </a:lnTo>
                <a:lnTo>
                  <a:pt x="7620" y="28956"/>
                </a:lnTo>
                <a:lnTo>
                  <a:pt x="9144" y="32004"/>
                </a:lnTo>
                <a:lnTo>
                  <a:pt x="15240" y="38100"/>
                </a:lnTo>
                <a:lnTo>
                  <a:pt x="19812" y="39624"/>
                </a:lnTo>
                <a:lnTo>
                  <a:pt x="42672" y="39624"/>
                </a:lnTo>
                <a:lnTo>
                  <a:pt x="36576" y="45720"/>
                </a:lnTo>
                <a:lnTo>
                  <a:pt x="30480" y="47244"/>
                </a:lnTo>
                <a:close/>
              </a:path>
              <a:path w="47625" h="47625">
                <a:moveTo>
                  <a:pt x="42672" y="39624"/>
                </a:moveTo>
                <a:lnTo>
                  <a:pt x="28956" y="39624"/>
                </a:lnTo>
                <a:lnTo>
                  <a:pt x="32004" y="38100"/>
                </a:lnTo>
                <a:lnTo>
                  <a:pt x="38100" y="32004"/>
                </a:lnTo>
                <a:lnTo>
                  <a:pt x="39624" y="28956"/>
                </a:lnTo>
                <a:lnTo>
                  <a:pt x="39624" y="19812"/>
                </a:lnTo>
                <a:lnTo>
                  <a:pt x="38100" y="15240"/>
                </a:lnTo>
                <a:lnTo>
                  <a:pt x="32004" y="9144"/>
                </a:lnTo>
                <a:lnTo>
                  <a:pt x="27432" y="7620"/>
                </a:lnTo>
                <a:lnTo>
                  <a:pt x="41148" y="7620"/>
                </a:lnTo>
                <a:lnTo>
                  <a:pt x="45720" y="12192"/>
                </a:lnTo>
                <a:lnTo>
                  <a:pt x="47244" y="18288"/>
                </a:lnTo>
                <a:lnTo>
                  <a:pt x="47244" y="30480"/>
                </a:lnTo>
                <a:lnTo>
                  <a:pt x="45720" y="36576"/>
                </a:lnTo>
                <a:lnTo>
                  <a:pt x="42672" y="39624"/>
                </a:lnTo>
                <a:close/>
              </a:path>
            </a:pathLst>
          </a:custGeom>
          <a:solidFill>
            <a:srgbClr val="E48311"/>
          </a:solidFill>
        </p:spPr>
        <p:txBody>
          <a:bodyPr wrap="square" lIns="0" tIns="0" rIns="0" bIns="0" rtlCol="0"/>
          <a:lstStyle/>
          <a:p>
            <a:endParaRPr sz="4141"/>
          </a:p>
        </p:txBody>
      </p: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037100" y="5874191"/>
            <a:ext cx="147260" cy="147260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2300072" y="6578947"/>
            <a:ext cx="109569" cy="109569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8956" y="47244"/>
                </a:moveTo>
                <a:lnTo>
                  <a:pt x="16764" y="47244"/>
                </a:lnTo>
                <a:lnTo>
                  <a:pt x="10668" y="44196"/>
                </a:lnTo>
                <a:lnTo>
                  <a:pt x="1524" y="35052"/>
                </a:lnTo>
                <a:lnTo>
                  <a:pt x="0" y="28956"/>
                </a:lnTo>
                <a:lnTo>
                  <a:pt x="0" y="16764"/>
                </a:lnTo>
                <a:lnTo>
                  <a:pt x="1524" y="10668"/>
                </a:lnTo>
                <a:lnTo>
                  <a:pt x="10668" y="1524"/>
                </a:lnTo>
                <a:lnTo>
                  <a:pt x="16764" y="0"/>
                </a:lnTo>
                <a:lnTo>
                  <a:pt x="28956" y="0"/>
                </a:lnTo>
                <a:lnTo>
                  <a:pt x="35052" y="1524"/>
                </a:lnTo>
                <a:lnTo>
                  <a:pt x="41148" y="7620"/>
                </a:lnTo>
                <a:lnTo>
                  <a:pt x="18288" y="7620"/>
                </a:lnTo>
                <a:lnTo>
                  <a:pt x="15240" y="9144"/>
                </a:lnTo>
                <a:lnTo>
                  <a:pt x="9144" y="15240"/>
                </a:lnTo>
                <a:lnTo>
                  <a:pt x="7620" y="18288"/>
                </a:lnTo>
                <a:lnTo>
                  <a:pt x="7620" y="27432"/>
                </a:lnTo>
                <a:lnTo>
                  <a:pt x="9144" y="30480"/>
                </a:lnTo>
                <a:lnTo>
                  <a:pt x="12192" y="33528"/>
                </a:lnTo>
                <a:lnTo>
                  <a:pt x="15240" y="38100"/>
                </a:lnTo>
                <a:lnTo>
                  <a:pt x="18288" y="39624"/>
                </a:lnTo>
                <a:lnTo>
                  <a:pt x="39624" y="39624"/>
                </a:lnTo>
                <a:lnTo>
                  <a:pt x="35052" y="44196"/>
                </a:lnTo>
                <a:lnTo>
                  <a:pt x="28956" y="47244"/>
                </a:lnTo>
                <a:close/>
              </a:path>
              <a:path w="47625" h="47625">
                <a:moveTo>
                  <a:pt x="39624" y="39624"/>
                </a:moveTo>
                <a:lnTo>
                  <a:pt x="27432" y="39624"/>
                </a:lnTo>
                <a:lnTo>
                  <a:pt x="32004" y="38100"/>
                </a:lnTo>
                <a:lnTo>
                  <a:pt x="35052" y="33528"/>
                </a:lnTo>
                <a:lnTo>
                  <a:pt x="38100" y="30480"/>
                </a:lnTo>
                <a:lnTo>
                  <a:pt x="39624" y="27432"/>
                </a:lnTo>
                <a:lnTo>
                  <a:pt x="39624" y="18288"/>
                </a:lnTo>
                <a:lnTo>
                  <a:pt x="38100" y="15240"/>
                </a:lnTo>
                <a:lnTo>
                  <a:pt x="35052" y="12192"/>
                </a:lnTo>
                <a:lnTo>
                  <a:pt x="30480" y="9144"/>
                </a:lnTo>
                <a:lnTo>
                  <a:pt x="27432" y="7620"/>
                </a:lnTo>
                <a:lnTo>
                  <a:pt x="41148" y="7620"/>
                </a:lnTo>
                <a:lnTo>
                  <a:pt x="44196" y="10668"/>
                </a:lnTo>
                <a:lnTo>
                  <a:pt x="47244" y="16764"/>
                </a:lnTo>
                <a:lnTo>
                  <a:pt x="47244" y="28956"/>
                </a:lnTo>
                <a:lnTo>
                  <a:pt x="44196" y="35052"/>
                </a:lnTo>
                <a:lnTo>
                  <a:pt x="39624" y="39624"/>
                </a:lnTo>
                <a:close/>
              </a:path>
            </a:pathLst>
          </a:custGeom>
          <a:solidFill>
            <a:srgbClr val="E48311"/>
          </a:solidFill>
        </p:spPr>
        <p:txBody>
          <a:bodyPr wrap="square" lIns="0" tIns="0" rIns="0" bIns="0" rtlCol="0"/>
          <a:lstStyle/>
          <a:p>
            <a:endParaRPr sz="4141"/>
          </a:p>
        </p:txBody>
      </p:sp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573548" y="6477267"/>
            <a:ext cx="1896852" cy="382173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624678" y="6477267"/>
            <a:ext cx="2180852" cy="382173"/>
          </a:xfrm>
          <a:prstGeom prst="rect">
            <a:avLst/>
          </a:prstGeom>
        </p:spPr>
      </p:pic>
      <p:sp>
        <p:nvSpPr>
          <p:cNvPr id="20" name="object 20"/>
          <p:cNvSpPr/>
          <p:nvPr/>
        </p:nvSpPr>
        <p:spPr>
          <a:xfrm>
            <a:off x="2566543" y="7171496"/>
            <a:ext cx="109569" cy="109569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30480" y="47244"/>
                </a:moveTo>
                <a:lnTo>
                  <a:pt x="16764" y="47244"/>
                </a:lnTo>
                <a:lnTo>
                  <a:pt x="12192" y="45720"/>
                </a:lnTo>
                <a:lnTo>
                  <a:pt x="7620" y="41148"/>
                </a:lnTo>
                <a:lnTo>
                  <a:pt x="3048" y="35052"/>
                </a:lnTo>
                <a:lnTo>
                  <a:pt x="0" y="30480"/>
                </a:lnTo>
                <a:lnTo>
                  <a:pt x="0" y="16764"/>
                </a:lnTo>
                <a:lnTo>
                  <a:pt x="3048" y="12192"/>
                </a:lnTo>
                <a:lnTo>
                  <a:pt x="12192" y="3048"/>
                </a:lnTo>
                <a:lnTo>
                  <a:pt x="16764" y="0"/>
                </a:lnTo>
                <a:lnTo>
                  <a:pt x="30480" y="0"/>
                </a:lnTo>
                <a:lnTo>
                  <a:pt x="35052" y="3048"/>
                </a:lnTo>
                <a:lnTo>
                  <a:pt x="41148" y="7620"/>
                </a:lnTo>
                <a:lnTo>
                  <a:pt x="19812" y="7620"/>
                </a:lnTo>
                <a:lnTo>
                  <a:pt x="15240" y="9144"/>
                </a:lnTo>
                <a:lnTo>
                  <a:pt x="9144" y="15240"/>
                </a:lnTo>
                <a:lnTo>
                  <a:pt x="7620" y="19812"/>
                </a:lnTo>
                <a:lnTo>
                  <a:pt x="7620" y="28956"/>
                </a:lnTo>
                <a:lnTo>
                  <a:pt x="9144" y="32004"/>
                </a:lnTo>
                <a:lnTo>
                  <a:pt x="15240" y="38100"/>
                </a:lnTo>
                <a:lnTo>
                  <a:pt x="19812" y="39624"/>
                </a:lnTo>
                <a:lnTo>
                  <a:pt x="42672" y="39624"/>
                </a:lnTo>
                <a:lnTo>
                  <a:pt x="36576" y="45720"/>
                </a:lnTo>
                <a:lnTo>
                  <a:pt x="30480" y="47244"/>
                </a:lnTo>
                <a:close/>
              </a:path>
              <a:path w="47625" h="47625">
                <a:moveTo>
                  <a:pt x="42672" y="39624"/>
                </a:moveTo>
                <a:lnTo>
                  <a:pt x="28956" y="39624"/>
                </a:lnTo>
                <a:lnTo>
                  <a:pt x="32004" y="38100"/>
                </a:lnTo>
                <a:lnTo>
                  <a:pt x="38100" y="32004"/>
                </a:lnTo>
                <a:lnTo>
                  <a:pt x="39624" y="28956"/>
                </a:lnTo>
                <a:lnTo>
                  <a:pt x="39624" y="19812"/>
                </a:lnTo>
                <a:lnTo>
                  <a:pt x="38100" y="15240"/>
                </a:lnTo>
                <a:lnTo>
                  <a:pt x="32004" y="9144"/>
                </a:lnTo>
                <a:lnTo>
                  <a:pt x="27432" y="7620"/>
                </a:lnTo>
                <a:lnTo>
                  <a:pt x="41148" y="7620"/>
                </a:lnTo>
                <a:lnTo>
                  <a:pt x="45720" y="12192"/>
                </a:lnTo>
                <a:lnTo>
                  <a:pt x="47244" y="16764"/>
                </a:lnTo>
                <a:lnTo>
                  <a:pt x="47244" y="30480"/>
                </a:lnTo>
                <a:lnTo>
                  <a:pt x="45720" y="36576"/>
                </a:lnTo>
                <a:lnTo>
                  <a:pt x="42672" y="39624"/>
                </a:lnTo>
                <a:close/>
              </a:path>
            </a:pathLst>
          </a:custGeom>
          <a:solidFill>
            <a:srgbClr val="E48311"/>
          </a:solidFill>
        </p:spPr>
        <p:txBody>
          <a:bodyPr wrap="square" lIns="0" tIns="0" rIns="0" bIns="0" rtlCol="0"/>
          <a:lstStyle/>
          <a:p>
            <a:endParaRPr sz="4141"/>
          </a:p>
        </p:txBody>
      </p:sp>
      <p:sp>
        <p:nvSpPr>
          <p:cNvPr id="21" name="object 21"/>
          <p:cNvSpPr txBox="1"/>
          <p:nvPr/>
        </p:nvSpPr>
        <p:spPr>
          <a:xfrm>
            <a:off x="1832697" y="2762954"/>
            <a:ext cx="8927652" cy="4728417"/>
          </a:xfrm>
          <a:prstGeom prst="rect">
            <a:avLst/>
          </a:prstGeom>
        </p:spPr>
        <p:txBody>
          <a:bodyPr vert="horz" wrap="square" lIns="0" tIns="26296" rIns="0" bIns="0" rtlCol="0">
            <a:spAutoFit/>
          </a:bodyPr>
          <a:lstStyle/>
          <a:p>
            <a:pPr marL="29221">
              <a:spcBef>
                <a:spcPts val="207"/>
              </a:spcBef>
            </a:pPr>
            <a:r>
              <a:rPr sz="5292" spc="-12" dirty="0">
                <a:solidFill>
                  <a:srgbClr val="3D3D3D"/>
                </a:solidFill>
                <a:latin typeface="Calibri"/>
                <a:cs typeface="Calibri"/>
              </a:rPr>
              <a:t>Managerial</a:t>
            </a:r>
            <a:r>
              <a:rPr sz="5292" spc="-15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5292" spc="-12" dirty="0">
                <a:solidFill>
                  <a:srgbClr val="3D3D3D"/>
                </a:solidFill>
                <a:latin typeface="Calibri"/>
                <a:cs typeface="Calibri"/>
              </a:rPr>
              <a:t>Concerns</a:t>
            </a:r>
            <a:endParaRPr sz="5292" dirty="0">
              <a:latin typeface="Calibri"/>
              <a:cs typeface="Calibri"/>
            </a:endParaRPr>
          </a:p>
          <a:p>
            <a:pPr marL="442685">
              <a:spcBef>
                <a:spcPts val="58"/>
              </a:spcBef>
            </a:pPr>
            <a:r>
              <a:rPr sz="4716" spc="-46" dirty="0">
                <a:solidFill>
                  <a:srgbClr val="3D3D3D"/>
                </a:solidFill>
                <a:latin typeface="Calibri"/>
                <a:cs typeface="Calibri"/>
              </a:rPr>
              <a:t>Efficiency</a:t>
            </a:r>
            <a:endParaRPr sz="4716" dirty="0">
              <a:latin typeface="Calibri"/>
              <a:cs typeface="Calibri"/>
            </a:endParaRPr>
          </a:p>
          <a:p>
            <a:pPr>
              <a:spcBef>
                <a:spcPts val="69"/>
              </a:spcBef>
            </a:pPr>
            <a:endParaRPr sz="4256" dirty="0">
              <a:latin typeface="Calibri"/>
              <a:cs typeface="Calibri"/>
            </a:endParaRPr>
          </a:p>
          <a:p>
            <a:pPr marL="978872"/>
            <a:r>
              <a:rPr sz="3451" spc="12" dirty="0">
                <a:solidFill>
                  <a:srgbClr val="3D3D3D"/>
                </a:solidFill>
                <a:latin typeface="Calibri"/>
                <a:cs typeface="Calibri"/>
              </a:rPr>
              <a:t>Getting the</a:t>
            </a:r>
            <a:r>
              <a:rPr sz="3451" spc="23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451" spc="12" dirty="0">
                <a:solidFill>
                  <a:srgbClr val="3D3D3D"/>
                </a:solidFill>
                <a:latin typeface="Calibri"/>
                <a:cs typeface="Calibri"/>
              </a:rPr>
              <a:t>most</a:t>
            </a:r>
            <a:r>
              <a:rPr sz="3451" spc="-4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451" spc="23" dirty="0">
                <a:solidFill>
                  <a:srgbClr val="3D3D3D"/>
                </a:solidFill>
                <a:latin typeface="Calibri"/>
                <a:cs typeface="Calibri"/>
              </a:rPr>
              <a:t>output</a:t>
            </a:r>
            <a:r>
              <a:rPr sz="3451" dirty="0">
                <a:solidFill>
                  <a:srgbClr val="3D3D3D"/>
                </a:solidFill>
                <a:latin typeface="Calibri"/>
                <a:cs typeface="Calibri"/>
              </a:rPr>
              <a:t> for</a:t>
            </a:r>
            <a:r>
              <a:rPr sz="3451" spc="12" dirty="0">
                <a:solidFill>
                  <a:srgbClr val="3D3D3D"/>
                </a:solidFill>
                <a:latin typeface="Calibri"/>
                <a:cs typeface="Calibri"/>
              </a:rPr>
              <a:t> the</a:t>
            </a:r>
            <a:r>
              <a:rPr sz="3451" spc="-23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451" spc="12" dirty="0">
                <a:solidFill>
                  <a:srgbClr val="3D3D3D"/>
                </a:solidFill>
                <a:latin typeface="Calibri"/>
                <a:cs typeface="Calibri"/>
              </a:rPr>
              <a:t>least</a:t>
            </a:r>
            <a:r>
              <a:rPr sz="3451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451" spc="23" dirty="0">
                <a:solidFill>
                  <a:srgbClr val="3D3D3D"/>
                </a:solidFill>
                <a:latin typeface="Calibri"/>
                <a:cs typeface="Calibri"/>
              </a:rPr>
              <a:t>inputs</a:t>
            </a:r>
            <a:endParaRPr sz="3451" dirty="0">
              <a:latin typeface="Calibri"/>
              <a:cs typeface="Calibri"/>
            </a:endParaRPr>
          </a:p>
          <a:p>
            <a:pPr marL="442685">
              <a:spcBef>
                <a:spcPts val="219"/>
              </a:spcBef>
            </a:pPr>
            <a:r>
              <a:rPr sz="4716" spc="-46" dirty="0">
                <a:solidFill>
                  <a:srgbClr val="3D3D3D"/>
                </a:solidFill>
                <a:latin typeface="Calibri"/>
                <a:cs typeface="Calibri"/>
              </a:rPr>
              <a:t>Effectiveness</a:t>
            </a:r>
            <a:endParaRPr sz="4716" dirty="0">
              <a:latin typeface="Calibri"/>
              <a:cs typeface="Calibri"/>
            </a:endParaRPr>
          </a:p>
          <a:p>
            <a:pPr>
              <a:spcBef>
                <a:spcPts val="104"/>
              </a:spcBef>
            </a:pPr>
            <a:endParaRPr sz="4256" dirty="0">
              <a:latin typeface="Calibri"/>
              <a:cs typeface="Calibri"/>
            </a:endParaRPr>
          </a:p>
          <a:p>
            <a:pPr marL="978872"/>
            <a:r>
              <a:rPr sz="3451" dirty="0">
                <a:solidFill>
                  <a:srgbClr val="3D3D3D"/>
                </a:solidFill>
                <a:latin typeface="Calibri"/>
                <a:cs typeface="Calibri"/>
              </a:rPr>
              <a:t>Attaining</a:t>
            </a:r>
            <a:r>
              <a:rPr sz="3451" spc="-23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451" dirty="0">
                <a:solidFill>
                  <a:srgbClr val="3D3D3D"/>
                </a:solidFill>
                <a:latin typeface="Calibri"/>
                <a:cs typeface="Calibri"/>
              </a:rPr>
              <a:t>organizational</a:t>
            </a:r>
            <a:r>
              <a:rPr sz="3451" spc="-23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451" spc="12" dirty="0">
                <a:solidFill>
                  <a:srgbClr val="3D3D3D"/>
                </a:solidFill>
                <a:latin typeface="Calibri"/>
                <a:cs typeface="Calibri"/>
              </a:rPr>
              <a:t>goals</a:t>
            </a:r>
            <a:endParaRPr sz="3451" dirty="0">
              <a:latin typeface="Calibri"/>
              <a:cs typeface="Calibri"/>
            </a:endParaRPr>
          </a:p>
        </p:txBody>
      </p:sp>
      <p:pic>
        <p:nvPicPr>
          <p:cNvPr id="22" name="object 2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3414712" y="3237534"/>
            <a:ext cx="4263532" cy="5406554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15945064" y="9491460"/>
            <a:ext cx="397369" cy="436666"/>
          </a:xfrm>
          <a:prstGeom prst="rect">
            <a:avLst/>
          </a:prstGeom>
        </p:spPr>
        <p:txBody>
          <a:bodyPr vert="horz" wrap="square" lIns="0" tIns="29218" rIns="0" bIns="0" rtlCol="0">
            <a:spAutoFit/>
          </a:bodyPr>
          <a:lstStyle/>
          <a:p>
            <a:pPr marL="29221">
              <a:spcBef>
                <a:spcPts val="230"/>
              </a:spcBef>
            </a:pPr>
            <a:r>
              <a:rPr sz="2646" spc="-23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sz="2646" dirty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endParaRPr sz="2646">
              <a:latin typeface="Calibri"/>
              <a:cs typeface="Calibri"/>
            </a:endParaRP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0DE21E8F-DAD6-BDA2-3771-A2DC0C689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49589" y="2546813"/>
            <a:ext cx="14617916" cy="0"/>
          </a:xfrm>
          <a:custGeom>
            <a:avLst/>
            <a:gdLst/>
            <a:ahLst/>
            <a:cxnLst/>
            <a:rect l="l" t="t" r="r" b="b"/>
            <a:pathLst>
              <a:path w="6353809">
                <a:moveTo>
                  <a:pt x="0" y="0"/>
                </a:moveTo>
                <a:lnTo>
                  <a:pt x="6353556" y="0"/>
                </a:lnTo>
              </a:path>
            </a:pathLst>
          </a:custGeom>
          <a:ln w="4572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 sz="4141"/>
          </a:p>
        </p:txBody>
      </p:sp>
      <p:sp>
        <p:nvSpPr>
          <p:cNvPr id="3" name="object 3"/>
          <p:cNvSpPr/>
          <p:nvPr/>
        </p:nvSpPr>
        <p:spPr>
          <a:xfrm>
            <a:off x="8849639" y="9752046"/>
            <a:ext cx="99342" cy="17531"/>
          </a:xfrm>
          <a:custGeom>
            <a:avLst/>
            <a:gdLst/>
            <a:ahLst/>
            <a:cxnLst/>
            <a:rect l="l" t="t" r="r" b="b"/>
            <a:pathLst>
              <a:path w="43179" h="7620">
                <a:moveTo>
                  <a:pt x="42672" y="7619"/>
                </a:moveTo>
                <a:lnTo>
                  <a:pt x="0" y="7619"/>
                </a:lnTo>
                <a:lnTo>
                  <a:pt x="0" y="0"/>
                </a:lnTo>
                <a:lnTo>
                  <a:pt x="42672" y="0"/>
                </a:lnTo>
                <a:lnTo>
                  <a:pt x="42672" y="76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4141"/>
          </a:p>
        </p:txBody>
      </p:sp>
      <p:sp>
        <p:nvSpPr>
          <p:cNvPr id="4" name="object 4"/>
          <p:cNvSpPr txBox="1"/>
          <p:nvPr/>
        </p:nvSpPr>
        <p:spPr>
          <a:xfrm>
            <a:off x="8725952" y="9611005"/>
            <a:ext cx="436814" cy="231548"/>
          </a:xfrm>
          <a:prstGeom prst="rect">
            <a:avLst/>
          </a:prstGeom>
        </p:spPr>
        <p:txBody>
          <a:bodyPr vert="horz" wrap="square" lIns="0" tIns="36523" rIns="0" bIns="0" rtlCol="0">
            <a:spAutoFit/>
          </a:bodyPr>
          <a:lstStyle/>
          <a:p>
            <a:pPr marL="29221">
              <a:spcBef>
                <a:spcPts val="288"/>
              </a:spcBef>
            </a:pPr>
            <a:r>
              <a:rPr sz="1265" spc="23" dirty="0">
                <a:latin typeface="Arial MT"/>
                <a:cs typeface="Arial MT"/>
              </a:rPr>
              <a:t>1</a:t>
            </a:r>
            <a:r>
              <a:rPr sz="1265" spc="242" dirty="0">
                <a:latin typeface="Arial MT"/>
                <a:cs typeface="Arial MT"/>
              </a:rPr>
              <a:t> </a:t>
            </a:r>
            <a:r>
              <a:rPr sz="1265" spc="23" dirty="0">
                <a:latin typeface="Arial MT"/>
                <a:cs typeface="Arial MT"/>
              </a:rPr>
              <a:t>11</a:t>
            </a:r>
            <a:endParaRPr sz="1265">
              <a:latin typeface="Arial MT"/>
              <a:cs typeface="Arial MT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1701800" y="1445377"/>
            <a:ext cx="12480597" cy="840623"/>
          </a:xfrm>
          <a:prstGeom prst="rect">
            <a:avLst/>
          </a:prstGeom>
        </p:spPr>
        <p:txBody>
          <a:bodyPr vert="horz" wrap="square" lIns="0" tIns="27757" rIns="0" bIns="0" rtlCol="0" anchor="ctr">
            <a:spAutoFit/>
          </a:bodyPr>
          <a:lstStyle/>
          <a:p>
            <a:pPr marL="29221">
              <a:spcBef>
                <a:spcPts val="219"/>
              </a:spcBef>
            </a:pPr>
            <a:r>
              <a:rPr sz="5867" spc="-184" dirty="0">
                <a:solidFill>
                  <a:srgbClr val="BF0000"/>
                </a:solidFill>
              </a:rPr>
              <a:t>Effectiveness</a:t>
            </a:r>
            <a:r>
              <a:rPr sz="5867" spc="-242" dirty="0">
                <a:solidFill>
                  <a:srgbClr val="BF0000"/>
                </a:solidFill>
              </a:rPr>
              <a:t> </a:t>
            </a:r>
            <a:r>
              <a:rPr sz="5867" spc="-115" dirty="0">
                <a:solidFill>
                  <a:srgbClr val="BF0000"/>
                </a:solidFill>
              </a:rPr>
              <a:t>and</a:t>
            </a:r>
            <a:r>
              <a:rPr sz="5867" spc="-276" dirty="0">
                <a:solidFill>
                  <a:srgbClr val="BF0000"/>
                </a:solidFill>
              </a:rPr>
              <a:t> </a:t>
            </a:r>
            <a:r>
              <a:rPr sz="5867" spc="-161" dirty="0">
                <a:solidFill>
                  <a:srgbClr val="BF0000"/>
                </a:solidFill>
              </a:rPr>
              <a:t>Efficiency</a:t>
            </a:r>
            <a:r>
              <a:rPr sz="5867" spc="-288" dirty="0">
                <a:solidFill>
                  <a:srgbClr val="BF0000"/>
                </a:solidFill>
              </a:rPr>
              <a:t> </a:t>
            </a:r>
            <a:r>
              <a:rPr sz="5867" spc="-104" dirty="0">
                <a:solidFill>
                  <a:srgbClr val="BF0000"/>
                </a:solidFill>
              </a:rPr>
              <a:t>in</a:t>
            </a:r>
            <a:r>
              <a:rPr sz="5867" spc="-219" dirty="0">
                <a:solidFill>
                  <a:srgbClr val="BF0000"/>
                </a:solidFill>
              </a:rPr>
              <a:t> </a:t>
            </a:r>
            <a:r>
              <a:rPr sz="5867" spc="-184" dirty="0">
                <a:solidFill>
                  <a:srgbClr val="BF0000"/>
                </a:solidFill>
              </a:rPr>
              <a:t>Management</a:t>
            </a:r>
            <a:endParaRPr sz="5867" dirty="0"/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1220" y="3251558"/>
            <a:ext cx="10231078" cy="6055201"/>
          </a:xfrm>
          <a:prstGeom prst="rect">
            <a:avLst/>
          </a:prstGeom>
        </p:spPr>
      </p:pic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559332E-BDB4-04AF-0A75-D2D3070A1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49589" y="2546813"/>
            <a:ext cx="14617916" cy="0"/>
          </a:xfrm>
          <a:custGeom>
            <a:avLst/>
            <a:gdLst/>
            <a:ahLst/>
            <a:cxnLst/>
            <a:rect l="l" t="t" r="r" b="b"/>
            <a:pathLst>
              <a:path w="6353809">
                <a:moveTo>
                  <a:pt x="0" y="0"/>
                </a:moveTo>
                <a:lnTo>
                  <a:pt x="6353556" y="0"/>
                </a:lnTo>
              </a:path>
            </a:pathLst>
          </a:custGeom>
          <a:ln w="4572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 sz="4141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2774" y="1500214"/>
            <a:ext cx="2980267" cy="560991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4896413" y="1468658"/>
            <a:ext cx="655951" cy="593132"/>
            <a:chOff x="2128266" y="3481578"/>
            <a:chExt cx="285115" cy="25781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28266" y="3557778"/>
              <a:ext cx="161544" cy="18135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304288" y="3486912"/>
              <a:ext cx="104139" cy="245745"/>
            </a:xfrm>
            <a:custGeom>
              <a:avLst/>
              <a:gdLst/>
              <a:ahLst/>
              <a:cxnLst/>
              <a:rect l="l" t="t" r="r" b="b"/>
              <a:pathLst>
                <a:path w="104139" h="245745">
                  <a:moveTo>
                    <a:pt x="103631" y="10668"/>
                  </a:moveTo>
                  <a:lnTo>
                    <a:pt x="103631" y="9144"/>
                  </a:lnTo>
                  <a:lnTo>
                    <a:pt x="103631" y="7620"/>
                  </a:lnTo>
                  <a:lnTo>
                    <a:pt x="102107" y="6096"/>
                  </a:lnTo>
                  <a:lnTo>
                    <a:pt x="100583" y="4572"/>
                  </a:lnTo>
                  <a:lnTo>
                    <a:pt x="99059" y="4572"/>
                  </a:lnTo>
                  <a:lnTo>
                    <a:pt x="97535" y="3048"/>
                  </a:lnTo>
                  <a:lnTo>
                    <a:pt x="96011" y="1524"/>
                  </a:lnTo>
                  <a:lnTo>
                    <a:pt x="92963" y="1524"/>
                  </a:lnTo>
                  <a:lnTo>
                    <a:pt x="88391" y="0"/>
                  </a:lnTo>
                  <a:lnTo>
                    <a:pt x="85343" y="0"/>
                  </a:lnTo>
                  <a:lnTo>
                    <a:pt x="80771" y="0"/>
                  </a:lnTo>
                  <a:lnTo>
                    <a:pt x="77723" y="0"/>
                  </a:lnTo>
                  <a:lnTo>
                    <a:pt x="70103" y="0"/>
                  </a:lnTo>
                  <a:lnTo>
                    <a:pt x="62483" y="0"/>
                  </a:lnTo>
                  <a:lnTo>
                    <a:pt x="56387" y="3048"/>
                  </a:lnTo>
                  <a:lnTo>
                    <a:pt x="30884" y="38004"/>
                  </a:lnTo>
                  <a:lnTo>
                    <a:pt x="28955" y="59436"/>
                  </a:lnTo>
                  <a:lnTo>
                    <a:pt x="28955" y="77724"/>
                  </a:lnTo>
                  <a:lnTo>
                    <a:pt x="6095" y="77724"/>
                  </a:lnTo>
                  <a:lnTo>
                    <a:pt x="4571" y="77724"/>
                  </a:lnTo>
                  <a:lnTo>
                    <a:pt x="3047" y="77724"/>
                  </a:lnTo>
                  <a:lnTo>
                    <a:pt x="1523" y="79248"/>
                  </a:lnTo>
                  <a:lnTo>
                    <a:pt x="1523" y="80772"/>
                  </a:lnTo>
                  <a:lnTo>
                    <a:pt x="1523" y="82296"/>
                  </a:lnTo>
                  <a:lnTo>
                    <a:pt x="0" y="83820"/>
                  </a:lnTo>
                  <a:lnTo>
                    <a:pt x="0" y="85344"/>
                  </a:lnTo>
                  <a:lnTo>
                    <a:pt x="0" y="86868"/>
                  </a:lnTo>
                  <a:lnTo>
                    <a:pt x="0" y="89916"/>
                  </a:lnTo>
                  <a:lnTo>
                    <a:pt x="1523" y="91440"/>
                  </a:lnTo>
                  <a:lnTo>
                    <a:pt x="1523" y="92964"/>
                  </a:lnTo>
                  <a:lnTo>
                    <a:pt x="3047" y="94488"/>
                  </a:lnTo>
                  <a:lnTo>
                    <a:pt x="4571" y="96012"/>
                  </a:lnTo>
                  <a:lnTo>
                    <a:pt x="6095" y="96012"/>
                  </a:lnTo>
                  <a:lnTo>
                    <a:pt x="28955" y="96012"/>
                  </a:lnTo>
                  <a:lnTo>
                    <a:pt x="28955" y="240792"/>
                  </a:lnTo>
                  <a:lnTo>
                    <a:pt x="30479" y="242316"/>
                  </a:lnTo>
                  <a:lnTo>
                    <a:pt x="30479" y="243840"/>
                  </a:lnTo>
                  <a:lnTo>
                    <a:pt x="32003" y="243840"/>
                  </a:lnTo>
                  <a:lnTo>
                    <a:pt x="33527" y="243840"/>
                  </a:lnTo>
                  <a:lnTo>
                    <a:pt x="35051" y="243840"/>
                  </a:lnTo>
                  <a:lnTo>
                    <a:pt x="36575" y="243840"/>
                  </a:lnTo>
                  <a:lnTo>
                    <a:pt x="38099" y="245363"/>
                  </a:lnTo>
                  <a:lnTo>
                    <a:pt x="39623" y="245363"/>
                  </a:lnTo>
                  <a:lnTo>
                    <a:pt x="42671" y="245363"/>
                  </a:lnTo>
                  <a:lnTo>
                    <a:pt x="44195" y="243840"/>
                  </a:lnTo>
                  <a:lnTo>
                    <a:pt x="45719" y="243840"/>
                  </a:lnTo>
                  <a:lnTo>
                    <a:pt x="47243" y="243840"/>
                  </a:lnTo>
                  <a:lnTo>
                    <a:pt x="48767" y="243840"/>
                  </a:lnTo>
                  <a:lnTo>
                    <a:pt x="50291" y="242316"/>
                  </a:lnTo>
                  <a:lnTo>
                    <a:pt x="50291" y="240792"/>
                  </a:lnTo>
                  <a:lnTo>
                    <a:pt x="50291" y="96012"/>
                  </a:lnTo>
                  <a:lnTo>
                    <a:pt x="89915" y="96012"/>
                  </a:lnTo>
                  <a:lnTo>
                    <a:pt x="91439" y="96012"/>
                  </a:lnTo>
                  <a:lnTo>
                    <a:pt x="92963" y="94488"/>
                  </a:lnTo>
                  <a:lnTo>
                    <a:pt x="92963" y="92964"/>
                  </a:lnTo>
                  <a:lnTo>
                    <a:pt x="94487" y="91440"/>
                  </a:lnTo>
                  <a:lnTo>
                    <a:pt x="94487" y="89916"/>
                  </a:lnTo>
                  <a:lnTo>
                    <a:pt x="94487" y="86868"/>
                  </a:lnTo>
                  <a:lnTo>
                    <a:pt x="94487" y="85344"/>
                  </a:lnTo>
                  <a:lnTo>
                    <a:pt x="94487" y="83820"/>
                  </a:lnTo>
                  <a:lnTo>
                    <a:pt x="94487" y="82296"/>
                  </a:lnTo>
                  <a:lnTo>
                    <a:pt x="94487" y="80772"/>
                  </a:lnTo>
                  <a:lnTo>
                    <a:pt x="92963" y="79248"/>
                  </a:lnTo>
                  <a:lnTo>
                    <a:pt x="92963" y="77724"/>
                  </a:lnTo>
                  <a:lnTo>
                    <a:pt x="91439" y="77724"/>
                  </a:lnTo>
                  <a:lnTo>
                    <a:pt x="89915" y="77724"/>
                  </a:lnTo>
                  <a:lnTo>
                    <a:pt x="50291" y="77724"/>
                  </a:lnTo>
                  <a:lnTo>
                    <a:pt x="50291" y="59436"/>
                  </a:lnTo>
                  <a:lnTo>
                    <a:pt x="50291" y="51816"/>
                  </a:lnTo>
                  <a:lnTo>
                    <a:pt x="51815" y="45720"/>
                  </a:lnTo>
                  <a:lnTo>
                    <a:pt x="51815" y="39624"/>
                  </a:lnTo>
                  <a:lnTo>
                    <a:pt x="53339" y="35052"/>
                  </a:lnTo>
                  <a:lnTo>
                    <a:pt x="54863" y="30480"/>
                  </a:lnTo>
                  <a:lnTo>
                    <a:pt x="56387" y="27432"/>
                  </a:lnTo>
                  <a:lnTo>
                    <a:pt x="57911" y="24384"/>
                  </a:lnTo>
                  <a:lnTo>
                    <a:pt x="60959" y="21336"/>
                  </a:lnTo>
                  <a:lnTo>
                    <a:pt x="64007" y="19812"/>
                  </a:lnTo>
                  <a:lnTo>
                    <a:pt x="68579" y="18288"/>
                  </a:lnTo>
                  <a:lnTo>
                    <a:pt x="71627" y="18288"/>
                  </a:lnTo>
                  <a:lnTo>
                    <a:pt x="76199" y="18288"/>
                  </a:lnTo>
                  <a:lnTo>
                    <a:pt x="80771" y="18288"/>
                  </a:lnTo>
                  <a:lnTo>
                    <a:pt x="83819" y="18288"/>
                  </a:lnTo>
                  <a:lnTo>
                    <a:pt x="85343" y="18288"/>
                  </a:lnTo>
                  <a:lnTo>
                    <a:pt x="88391" y="19812"/>
                  </a:lnTo>
                  <a:lnTo>
                    <a:pt x="91439" y="19812"/>
                  </a:lnTo>
                  <a:lnTo>
                    <a:pt x="92963" y="19812"/>
                  </a:lnTo>
                  <a:lnTo>
                    <a:pt x="94487" y="21336"/>
                  </a:lnTo>
                  <a:lnTo>
                    <a:pt x="96011" y="21336"/>
                  </a:lnTo>
                  <a:lnTo>
                    <a:pt x="97535" y="22860"/>
                  </a:lnTo>
                  <a:lnTo>
                    <a:pt x="99059" y="22860"/>
                  </a:lnTo>
                  <a:lnTo>
                    <a:pt x="100583" y="22860"/>
                  </a:lnTo>
                  <a:lnTo>
                    <a:pt x="102107" y="22860"/>
                  </a:lnTo>
                  <a:lnTo>
                    <a:pt x="103631" y="21336"/>
                  </a:lnTo>
                  <a:lnTo>
                    <a:pt x="103631" y="19812"/>
                  </a:lnTo>
                  <a:lnTo>
                    <a:pt x="103631" y="18288"/>
                  </a:lnTo>
                  <a:lnTo>
                    <a:pt x="103631" y="16764"/>
                  </a:lnTo>
                  <a:lnTo>
                    <a:pt x="103631" y="15240"/>
                  </a:lnTo>
                  <a:lnTo>
                    <a:pt x="103631" y="13716"/>
                  </a:lnTo>
                  <a:lnTo>
                    <a:pt x="103631" y="12192"/>
                  </a:lnTo>
                  <a:lnTo>
                    <a:pt x="103631" y="10668"/>
                  </a:lnTo>
                  <a:close/>
                </a:path>
              </a:pathLst>
            </a:custGeom>
            <a:ln w="10668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4141"/>
            </a:p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48406" y="1510738"/>
            <a:ext cx="4175880" cy="690718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618902" y="1241721"/>
            <a:ext cx="8353510" cy="923211"/>
          </a:xfrm>
          <a:prstGeom prst="rect">
            <a:avLst/>
          </a:prstGeom>
        </p:spPr>
        <p:txBody>
          <a:bodyPr vert="horz" wrap="square" lIns="0" tIns="30679" rIns="0" bIns="0" rtlCol="0" anchor="ctr">
            <a:spAutoFit/>
          </a:bodyPr>
          <a:lstStyle/>
          <a:p>
            <a:pPr marL="29221">
              <a:spcBef>
                <a:spcPts val="242"/>
              </a:spcBef>
            </a:pPr>
            <a:r>
              <a:rPr sz="6442" spc="-92" dirty="0">
                <a:solidFill>
                  <a:srgbClr val="BF0000"/>
                </a:solidFill>
              </a:rPr>
              <a:t>F</a:t>
            </a:r>
            <a:r>
              <a:rPr sz="6442" spc="-196" dirty="0">
                <a:solidFill>
                  <a:srgbClr val="BF0000"/>
                </a:solidFill>
              </a:rPr>
              <a:t>u</a:t>
            </a:r>
            <a:r>
              <a:rPr sz="6442" spc="-161" dirty="0">
                <a:solidFill>
                  <a:srgbClr val="BF0000"/>
                </a:solidFill>
              </a:rPr>
              <a:t>n</a:t>
            </a:r>
            <a:r>
              <a:rPr sz="6442" spc="-104" dirty="0">
                <a:solidFill>
                  <a:srgbClr val="BF0000"/>
                </a:solidFill>
              </a:rPr>
              <a:t>c</a:t>
            </a:r>
            <a:r>
              <a:rPr sz="6442" spc="-161" dirty="0">
                <a:solidFill>
                  <a:srgbClr val="BF0000"/>
                </a:solidFill>
              </a:rPr>
              <a:t>ti</a:t>
            </a:r>
            <a:r>
              <a:rPr sz="6442" spc="-207" dirty="0">
                <a:solidFill>
                  <a:srgbClr val="BF0000"/>
                </a:solidFill>
              </a:rPr>
              <a:t>o</a:t>
            </a:r>
            <a:r>
              <a:rPr sz="6442" spc="-196" dirty="0">
                <a:solidFill>
                  <a:srgbClr val="BF0000"/>
                </a:solidFill>
              </a:rPr>
              <a:t>n</a:t>
            </a:r>
            <a:r>
              <a:rPr sz="6442" spc="-23" dirty="0">
                <a:solidFill>
                  <a:srgbClr val="BF0000"/>
                </a:solidFill>
              </a:rPr>
              <a:t>s</a:t>
            </a:r>
            <a:r>
              <a:rPr sz="6442" spc="-262" dirty="0">
                <a:solidFill>
                  <a:srgbClr val="BF0000"/>
                </a:solidFill>
              </a:rPr>
              <a:t> </a:t>
            </a:r>
            <a:r>
              <a:rPr sz="6442" spc="-150" dirty="0">
                <a:solidFill>
                  <a:srgbClr val="BF0000"/>
                </a:solidFill>
              </a:rPr>
              <a:t>o</a:t>
            </a:r>
            <a:r>
              <a:rPr sz="6442" spc="-46" dirty="0">
                <a:solidFill>
                  <a:srgbClr val="BF0000"/>
                </a:solidFill>
              </a:rPr>
              <a:t>f</a:t>
            </a:r>
            <a:r>
              <a:rPr sz="6442" spc="-253" dirty="0">
                <a:solidFill>
                  <a:srgbClr val="BF0000"/>
                </a:solidFill>
              </a:rPr>
              <a:t> </a:t>
            </a:r>
            <a:r>
              <a:rPr sz="6442" spc="-219" dirty="0">
                <a:solidFill>
                  <a:srgbClr val="BF0000"/>
                </a:solidFill>
              </a:rPr>
              <a:t>M</a:t>
            </a:r>
            <a:r>
              <a:rPr sz="6442" spc="-173" dirty="0">
                <a:solidFill>
                  <a:srgbClr val="BF0000"/>
                </a:solidFill>
              </a:rPr>
              <a:t>a</a:t>
            </a:r>
            <a:r>
              <a:rPr sz="6442" spc="-161" dirty="0">
                <a:solidFill>
                  <a:srgbClr val="BF0000"/>
                </a:solidFill>
              </a:rPr>
              <a:t>na</a:t>
            </a:r>
            <a:r>
              <a:rPr sz="6442" spc="-196" dirty="0">
                <a:solidFill>
                  <a:srgbClr val="BF0000"/>
                </a:solidFill>
              </a:rPr>
              <a:t>g</a:t>
            </a:r>
            <a:r>
              <a:rPr sz="6442" spc="-161" dirty="0">
                <a:solidFill>
                  <a:srgbClr val="BF0000"/>
                </a:solidFill>
              </a:rPr>
              <a:t>e</a:t>
            </a:r>
            <a:r>
              <a:rPr sz="6442" spc="-242" dirty="0">
                <a:solidFill>
                  <a:srgbClr val="BF0000"/>
                </a:solidFill>
              </a:rPr>
              <a:t>m</a:t>
            </a:r>
            <a:r>
              <a:rPr sz="6442" spc="-161" dirty="0">
                <a:solidFill>
                  <a:srgbClr val="BF0000"/>
                </a:solidFill>
              </a:rPr>
              <a:t>e</a:t>
            </a:r>
            <a:r>
              <a:rPr sz="6442" spc="-253" dirty="0">
                <a:solidFill>
                  <a:srgbClr val="BF0000"/>
                </a:solidFill>
              </a:rPr>
              <a:t>n</a:t>
            </a:r>
            <a:r>
              <a:rPr sz="6442" spc="-46" dirty="0">
                <a:solidFill>
                  <a:srgbClr val="BF0000"/>
                </a:solidFill>
              </a:rPr>
              <a:t>t</a:t>
            </a:r>
            <a:endParaRPr sz="6442"/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39367" y="2683565"/>
            <a:ext cx="15585042" cy="5480182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5945064" y="9491460"/>
            <a:ext cx="397369" cy="436666"/>
          </a:xfrm>
          <a:prstGeom prst="rect">
            <a:avLst/>
          </a:prstGeom>
        </p:spPr>
        <p:txBody>
          <a:bodyPr vert="horz" wrap="square" lIns="0" tIns="29218" rIns="0" bIns="0" rtlCol="0">
            <a:spAutoFit/>
          </a:bodyPr>
          <a:lstStyle/>
          <a:p>
            <a:pPr marL="29221">
              <a:spcBef>
                <a:spcPts val="230"/>
              </a:spcBef>
            </a:pPr>
            <a:r>
              <a:rPr sz="2646" spc="-23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sz="2646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2646">
              <a:latin typeface="Calibri"/>
              <a:cs typeface="Calibri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EB63F13-54B5-92D8-8BF2-6534E60AF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49589" y="2546813"/>
            <a:ext cx="14617916" cy="0"/>
          </a:xfrm>
          <a:custGeom>
            <a:avLst/>
            <a:gdLst/>
            <a:ahLst/>
            <a:cxnLst/>
            <a:rect l="l" t="t" r="r" b="b"/>
            <a:pathLst>
              <a:path w="6353809">
                <a:moveTo>
                  <a:pt x="0" y="0"/>
                </a:moveTo>
                <a:lnTo>
                  <a:pt x="6353556" y="0"/>
                </a:lnTo>
              </a:path>
            </a:pathLst>
          </a:custGeom>
          <a:ln w="4572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 sz="4141"/>
          </a:p>
        </p:txBody>
      </p:sp>
      <p:grpSp>
        <p:nvGrpSpPr>
          <p:cNvPr id="3" name="object 3"/>
          <p:cNvGrpSpPr/>
          <p:nvPr/>
        </p:nvGrpSpPr>
        <p:grpSpPr>
          <a:xfrm>
            <a:off x="1807444" y="1738643"/>
            <a:ext cx="487946" cy="550765"/>
            <a:chOff x="785622" y="3598926"/>
            <a:chExt cx="212090" cy="2393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5622" y="3598926"/>
              <a:ext cx="137160" cy="23774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61644" y="3799332"/>
              <a:ext cx="30480" cy="33655"/>
            </a:xfrm>
            <a:custGeom>
              <a:avLst/>
              <a:gdLst/>
              <a:ahLst/>
              <a:cxnLst/>
              <a:rect l="l" t="t" r="r" b="b"/>
              <a:pathLst>
                <a:path w="30480" h="33654">
                  <a:moveTo>
                    <a:pt x="25908" y="3048"/>
                  </a:moveTo>
                  <a:lnTo>
                    <a:pt x="24384" y="1524"/>
                  </a:lnTo>
                  <a:lnTo>
                    <a:pt x="19812" y="0"/>
                  </a:lnTo>
                  <a:lnTo>
                    <a:pt x="15240" y="0"/>
                  </a:lnTo>
                  <a:lnTo>
                    <a:pt x="9144" y="0"/>
                  </a:lnTo>
                  <a:lnTo>
                    <a:pt x="4572" y="1524"/>
                  </a:lnTo>
                  <a:lnTo>
                    <a:pt x="3048" y="3048"/>
                  </a:lnTo>
                  <a:lnTo>
                    <a:pt x="0" y="6096"/>
                  </a:lnTo>
                  <a:lnTo>
                    <a:pt x="0" y="10668"/>
                  </a:lnTo>
                  <a:lnTo>
                    <a:pt x="0" y="16764"/>
                  </a:lnTo>
                  <a:lnTo>
                    <a:pt x="0" y="24384"/>
                  </a:lnTo>
                  <a:lnTo>
                    <a:pt x="0" y="28956"/>
                  </a:lnTo>
                  <a:lnTo>
                    <a:pt x="3048" y="30480"/>
                  </a:lnTo>
                  <a:lnTo>
                    <a:pt x="4572" y="32004"/>
                  </a:lnTo>
                  <a:lnTo>
                    <a:pt x="9144" y="33528"/>
                  </a:lnTo>
                  <a:lnTo>
                    <a:pt x="13716" y="33528"/>
                  </a:lnTo>
                  <a:lnTo>
                    <a:pt x="19812" y="33528"/>
                  </a:lnTo>
                  <a:lnTo>
                    <a:pt x="24384" y="32004"/>
                  </a:lnTo>
                  <a:lnTo>
                    <a:pt x="25908" y="30480"/>
                  </a:lnTo>
                  <a:lnTo>
                    <a:pt x="28956" y="27432"/>
                  </a:lnTo>
                  <a:lnTo>
                    <a:pt x="30480" y="22860"/>
                  </a:lnTo>
                  <a:lnTo>
                    <a:pt x="30480" y="16764"/>
                  </a:lnTo>
                  <a:lnTo>
                    <a:pt x="30480" y="10668"/>
                  </a:lnTo>
                  <a:lnTo>
                    <a:pt x="28956" y="6096"/>
                  </a:lnTo>
                  <a:lnTo>
                    <a:pt x="25908" y="3048"/>
                  </a:lnTo>
                  <a:close/>
                </a:path>
              </a:pathLst>
            </a:custGeom>
            <a:ln w="10668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4141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2568294" y="1700065"/>
            <a:ext cx="2636952" cy="733379"/>
            <a:chOff x="1116329" y="3582161"/>
            <a:chExt cx="1146175" cy="31877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6329" y="3600450"/>
              <a:ext cx="140207" cy="2377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87017" y="3582161"/>
              <a:ext cx="975360" cy="318516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713440" y="1473272"/>
            <a:ext cx="3535414" cy="923211"/>
          </a:xfrm>
          <a:prstGeom prst="rect">
            <a:avLst/>
          </a:prstGeom>
        </p:spPr>
        <p:txBody>
          <a:bodyPr vert="horz" wrap="square" lIns="0" tIns="30679" rIns="0" bIns="0" rtlCol="0" anchor="ctr">
            <a:spAutoFit/>
          </a:bodyPr>
          <a:lstStyle/>
          <a:p>
            <a:pPr marL="29221">
              <a:spcBef>
                <a:spcPts val="242"/>
              </a:spcBef>
            </a:pPr>
            <a:r>
              <a:rPr sz="6442" spc="-104" dirty="0">
                <a:solidFill>
                  <a:srgbClr val="BF0000"/>
                </a:solidFill>
              </a:rPr>
              <a:t>1</a:t>
            </a:r>
            <a:r>
              <a:rPr sz="6442" spc="-46" dirty="0">
                <a:solidFill>
                  <a:srgbClr val="BF0000"/>
                </a:solidFill>
              </a:rPr>
              <a:t>.</a:t>
            </a:r>
            <a:r>
              <a:rPr sz="6442" spc="-196" dirty="0">
                <a:solidFill>
                  <a:srgbClr val="BF0000"/>
                </a:solidFill>
              </a:rPr>
              <a:t> P</a:t>
            </a:r>
            <a:r>
              <a:rPr sz="6442" spc="-161" dirty="0">
                <a:solidFill>
                  <a:srgbClr val="BF0000"/>
                </a:solidFill>
              </a:rPr>
              <a:t>l</a:t>
            </a:r>
            <a:r>
              <a:rPr sz="6442" spc="-173" dirty="0">
                <a:solidFill>
                  <a:srgbClr val="BF0000"/>
                </a:solidFill>
              </a:rPr>
              <a:t>a</a:t>
            </a:r>
            <a:r>
              <a:rPr sz="6442" spc="-196" dirty="0">
                <a:solidFill>
                  <a:srgbClr val="BF0000"/>
                </a:solidFill>
              </a:rPr>
              <a:t>nn</a:t>
            </a:r>
            <a:r>
              <a:rPr sz="6442" spc="-161" dirty="0">
                <a:solidFill>
                  <a:srgbClr val="BF0000"/>
                </a:solidFill>
              </a:rPr>
              <a:t>i</a:t>
            </a:r>
            <a:r>
              <a:rPr sz="6442" spc="-196" dirty="0">
                <a:solidFill>
                  <a:srgbClr val="BF0000"/>
                </a:solidFill>
              </a:rPr>
              <a:t>n</a:t>
            </a:r>
            <a:r>
              <a:rPr sz="6442" spc="-12" dirty="0">
                <a:solidFill>
                  <a:srgbClr val="BF0000"/>
                </a:solidFill>
              </a:rPr>
              <a:t>g</a:t>
            </a:r>
            <a:endParaRPr sz="6442" dirty="0"/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51418" y="4201735"/>
            <a:ext cx="301533" cy="35062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51418" y="5583179"/>
            <a:ext cx="301533" cy="35062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51418" y="6442195"/>
            <a:ext cx="301533" cy="35062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51418" y="7301215"/>
            <a:ext cx="301533" cy="350620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713419" y="2657779"/>
            <a:ext cx="14682196" cy="5661513"/>
          </a:xfrm>
          <a:prstGeom prst="rect">
            <a:avLst/>
          </a:prstGeom>
        </p:spPr>
        <p:txBody>
          <a:bodyPr vert="horz" wrap="square" lIns="0" tIns="94959" rIns="0" bIns="0" rtlCol="0">
            <a:spAutoFit/>
          </a:bodyPr>
          <a:lstStyle/>
          <a:p>
            <a:pPr marL="29221" marR="13149">
              <a:lnSpc>
                <a:spcPts val="4116"/>
              </a:lnSpc>
              <a:spcBef>
                <a:spcPts val="748"/>
              </a:spcBef>
            </a:pPr>
            <a:r>
              <a:rPr sz="3796" spc="-12" dirty="0">
                <a:solidFill>
                  <a:srgbClr val="3D3D3D"/>
                </a:solidFill>
                <a:latin typeface="Calibri"/>
                <a:cs typeface="Calibri"/>
              </a:rPr>
              <a:t>It</a:t>
            </a:r>
            <a:r>
              <a:rPr sz="3796" spc="65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796" dirty="0">
                <a:solidFill>
                  <a:srgbClr val="3D3D3D"/>
                </a:solidFill>
                <a:latin typeface="Calibri"/>
                <a:cs typeface="Calibri"/>
              </a:rPr>
              <a:t>is</a:t>
            </a:r>
            <a:r>
              <a:rPr sz="3796" spc="633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796" dirty="0">
                <a:solidFill>
                  <a:srgbClr val="3D3D3D"/>
                </a:solidFill>
                <a:latin typeface="Calibri"/>
                <a:cs typeface="Calibri"/>
              </a:rPr>
              <a:t>a</a:t>
            </a:r>
            <a:r>
              <a:rPr sz="3796" spc="598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796" spc="-23" dirty="0">
                <a:solidFill>
                  <a:srgbClr val="3D3D3D"/>
                </a:solidFill>
                <a:latin typeface="Calibri"/>
                <a:cs typeface="Calibri"/>
              </a:rPr>
              <a:t>process</a:t>
            </a:r>
            <a:r>
              <a:rPr sz="3796" spc="633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796" dirty="0">
                <a:solidFill>
                  <a:srgbClr val="3D3D3D"/>
                </a:solidFill>
                <a:latin typeface="Calibri"/>
                <a:cs typeface="Calibri"/>
              </a:rPr>
              <a:t>of</a:t>
            </a:r>
            <a:r>
              <a:rPr sz="3796" spc="621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796" dirty="0">
                <a:solidFill>
                  <a:srgbClr val="3D3D3D"/>
                </a:solidFill>
                <a:latin typeface="Calibri"/>
                <a:cs typeface="Calibri"/>
              </a:rPr>
              <a:t>deciding</a:t>
            </a:r>
            <a:r>
              <a:rPr sz="3796" spc="633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796" dirty="0">
                <a:solidFill>
                  <a:srgbClr val="3D3D3D"/>
                </a:solidFill>
                <a:latin typeface="Calibri"/>
                <a:cs typeface="Calibri"/>
              </a:rPr>
              <a:t>the</a:t>
            </a:r>
            <a:r>
              <a:rPr sz="3796" spc="621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796" spc="-12" dirty="0">
                <a:solidFill>
                  <a:srgbClr val="3D3D3D"/>
                </a:solidFill>
                <a:latin typeface="Calibri"/>
                <a:cs typeface="Calibri"/>
              </a:rPr>
              <a:t>business</a:t>
            </a:r>
            <a:r>
              <a:rPr sz="3796" spc="598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796" spc="-12" dirty="0">
                <a:solidFill>
                  <a:srgbClr val="3D3D3D"/>
                </a:solidFill>
                <a:latin typeface="Calibri"/>
                <a:cs typeface="Calibri"/>
              </a:rPr>
              <a:t>objectives</a:t>
            </a:r>
            <a:r>
              <a:rPr sz="3796" spc="633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796" spc="-12" dirty="0">
                <a:solidFill>
                  <a:srgbClr val="3D3D3D"/>
                </a:solidFill>
                <a:latin typeface="Calibri"/>
                <a:cs typeface="Calibri"/>
              </a:rPr>
              <a:t>and</a:t>
            </a:r>
            <a:r>
              <a:rPr sz="3796" spc="621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796" dirty="0">
                <a:solidFill>
                  <a:srgbClr val="3D3D3D"/>
                </a:solidFill>
                <a:latin typeface="Calibri"/>
                <a:cs typeface="Calibri"/>
              </a:rPr>
              <a:t>charting</a:t>
            </a:r>
            <a:r>
              <a:rPr sz="3796" spc="598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796" dirty="0">
                <a:solidFill>
                  <a:srgbClr val="3D3D3D"/>
                </a:solidFill>
                <a:latin typeface="Calibri"/>
                <a:cs typeface="Calibri"/>
              </a:rPr>
              <a:t>out</a:t>
            </a:r>
            <a:r>
              <a:rPr sz="3796" spc="584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796" spc="12" dirty="0">
                <a:solidFill>
                  <a:srgbClr val="3D3D3D"/>
                </a:solidFill>
                <a:latin typeface="Calibri"/>
                <a:cs typeface="Calibri"/>
              </a:rPr>
              <a:t>the </a:t>
            </a:r>
            <a:r>
              <a:rPr sz="3796" spc="-817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796" dirty="0">
                <a:solidFill>
                  <a:srgbClr val="3D3D3D"/>
                </a:solidFill>
                <a:latin typeface="Calibri"/>
                <a:cs typeface="Calibri"/>
              </a:rPr>
              <a:t>plan/</a:t>
            </a:r>
            <a:r>
              <a:rPr sz="3796" spc="-12" dirty="0">
                <a:solidFill>
                  <a:srgbClr val="3D3D3D"/>
                </a:solidFill>
                <a:latin typeface="Calibri"/>
                <a:cs typeface="Calibri"/>
              </a:rPr>
              <a:t> method</a:t>
            </a:r>
            <a:r>
              <a:rPr sz="3796" spc="-4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796" spc="-23" dirty="0">
                <a:solidFill>
                  <a:srgbClr val="3D3D3D"/>
                </a:solidFill>
                <a:latin typeface="Calibri"/>
                <a:cs typeface="Calibri"/>
              </a:rPr>
              <a:t>for</a:t>
            </a:r>
            <a:r>
              <a:rPr sz="3796" spc="23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796" dirty="0">
                <a:solidFill>
                  <a:srgbClr val="3D3D3D"/>
                </a:solidFill>
                <a:latin typeface="Calibri"/>
                <a:cs typeface="Calibri"/>
              </a:rPr>
              <a:t>achieving</a:t>
            </a:r>
            <a:r>
              <a:rPr sz="3796" spc="-23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796" spc="12" dirty="0">
                <a:solidFill>
                  <a:srgbClr val="3D3D3D"/>
                </a:solidFill>
                <a:latin typeface="Calibri"/>
                <a:cs typeface="Calibri"/>
              </a:rPr>
              <a:t>the</a:t>
            </a:r>
            <a:r>
              <a:rPr sz="3796" spc="-58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796" dirty="0">
                <a:solidFill>
                  <a:srgbClr val="3D3D3D"/>
                </a:solidFill>
                <a:latin typeface="Calibri"/>
                <a:cs typeface="Calibri"/>
              </a:rPr>
              <a:t>same. This</a:t>
            </a:r>
            <a:r>
              <a:rPr sz="3796" spc="-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796" dirty="0">
                <a:solidFill>
                  <a:srgbClr val="3D3D3D"/>
                </a:solidFill>
                <a:latin typeface="Calibri"/>
                <a:cs typeface="Calibri"/>
              </a:rPr>
              <a:t>includes</a:t>
            </a:r>
            <a:endParaRPr sz="3796">
              <a:latin typeface="Calibri"/>
              <a:cs typeface="Calibri"/>
            </a:endParaRPr>
          </a:p>
          <a:p>
            <a:pPr marL="29221" marR="11690" indent="251292">
              <a:lnSpc>
                <a:spcPts val="4116"/>
              </a:lnSpc>
              <a:spcBef>
                <a:spcPts val="2634"/>
              </a:spcBef>
            </a:pPr>
            <a:r>
              <a:rPr sz="3796" spc="-12" dirty="0">
                <a:solidFill>
                  <a:srgbClr val="3D3D3D"/>
                </a:solidFill>
                <a:latin typeface="Calibri"/>
                <a:cs typeface="Calibri"/>
              </a:rPr>
              <a:t>Determination</a:t>
            </a:r>
            <a:r>
              <a:rPr sz="3796" spc="368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796" dirty="0">
                <a:solidFill>
                  <a:srgbClr val="3D3D3D"/>
                </a:solidFill>
                <a:latin typeface="Calibri"/>
                <a:cs typeface="Calibri"/>
              </a:rPr>
              <a:t>of</a:t>
            </a:r>
            <a:r>
              <a:rPr sz="3796" spc="38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796" dirty="0">
                <a:solidFill>
                  <a:srgbClr val="3D3D3D"/>
                </a:solidFill>
                <a:latin typeface="Calibri"/>
                <a:cs typeface="Calibri"/>
              </a:rPr>
              <a:t>what</a:t>
            </a:r>
            <a:r>
              <a:rPr sz="3796" spc="391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796" spc="12" dirty="0">
                <a:solidFill>
                  <a:srgbClr val="3D3D3D"/>
                </a:solidFill>
                <a:latin typeface="Calibri"/>
                <a:cs typeface="Calibri"/>
              </a:rPr>
              <a:t>is</a:t>
            </a:r>
            <a:r>
              <a:rPr sz="3796" spc="391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796" spc="-12" dirty="0">
                <a:solidFill>
                  <a:srgbClr val="3D3D3D"/>
                </a:solidFill>
                <a:latin typeface="Calibri"/>
                <a:cs typeface="Calibri"/>
              </a:rPr>
              <a:t>to</a:t>
            </a:r>
            <a:r>
              <a:rPr sz="3796" spc="38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796" spc="12" dirty="0">
                <a:solidFill>
                  <a:srgbClr val="3D3D3D"/>
                </a:solidFill>
                <a:latin typeface="Calibri"/>
                <a:cs typeface="Calibri"/>
              </a:rPr>
              <a:t>be</a:t>
            </a:r>
            <a:r>
              <a:rPr sz="3796" spc="414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796" spc="-12" dirty="0">
                <a:solidFill>
                  <a:srgbClr val="3D3D3D"/>
                </a:solidFill>
                <a:latin typeface="Calibri"/>
                <a:cs typeface="Calibri"/>
              </a:rPr>
              <a:t>done,</a:t>
            </a:r>
            <a:r>
              <a:rPr sz="3796" spc="437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796" spc="-92" dirty="0">
                <a:solidFill>
                  <a:srgbClr val="3D3D3D"/>
                </a:solidFill>
                <a:latin typeface="Calibri"/>
                <a:cs typeface="Calibri"/>
              </a:rPr>
              <a:t>how,</a:t>
            </a:r>
            <a:r>
              <a:rPr sz="3796" spc="437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796" spc="-12" dirty="0">
                <a:solidFill>
                  <a:srgbClr val="3D3D3D"/>
                </a:solidFill>
                <a:latin typeface="Calibri"/>
                <a:cs typeface="Calibri"/>
              </a:rPr>
              <a:t>and</a:t>
            </a:r>
            <a:r>
              <a:rPr sz="3796" spc="42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796" spc="-12" dirty="0">
                <a:solidFill>
                  <a:srgbClr val="3D3D3D"/>
                </a:solidFill>
                <a:latin typeface="Calibri"/>
                <a:cs typeface="Calibri"/>
              </a:rPr>
              <a:t>where</a:t>
            </a:r>
            <a:r>
              <a:rPr sz="3796" spc="46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796" dirty="0">
                <a:solidFill>
                  <a:srgbClr val="3D3D3D"/>
                </a:solidFill>
                <a:latin typeface="Calibri"/>
                <a:cs typeface="Calibri"/>
              </a:rPr>
              <a:t>it</a:t>
            </a:r>
            <a:r>
              <a:rPr sz="3796" spc="38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796" spc="12" dirty="0">
                <a:solidFill>
                  <a:srgbClr val="3D3D3D"/>
                </a:solidFill>
                <a:latin typeface="Calibri"/>
                <a:cs typeface="Calibri"/>
              </a:rPr>
              <a:t>is</a:t>
            </a:r>
            <a:r>
              <a:rPr sz="3796" spc="368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796" spc="-12" dirty="0">
                <a:solidFill>
                  <a:srgbClr val="3D3D3D"/>
                </a:solidFill>
                <a:latin typeface="Calibri"/>
                <a:cs typeface="Calibri"/>
              </a:rPr>
              <a:t>to</a:t>
            </a:r>
            <a:r>
              <a:rPr sz="3796" spc="414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796" spc="12" dirty="0">
                <a:solidFill>
                  <a:srgbClr val="3D3D3D"/>
                </a:solidFill>
                <a:latin typeface="Calibri"/>
                <a:cs typeface="Calibri"/>
              </a:rPr>
              <a:t>be</a:t>
            </a:r>
            <a:r>
              <a:rPr sz="3796" spc="368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796" dirty="0">
                <a:solidFill>
                  <a:srgbClr val="3D3D3D"/>
                </a:solidFill>
                <a:latin typeface="Calibri"/>
                <a:cs typeface="Calibri"/>
              </a:rPr>
              <a:t>done, </a:t>
            </a:r>
            <a:r>
              <a:rPr sz="3796" spc="-817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796" spc="12" dirty="0">
                <a:solidFill>
                  <a:srgbClr val="3D3D3D"/>
                </a:solidFill>
                <a:latin typeface="Calibri"/>
                <a:cs typeface="Calibri"/>
              </a:rPr>
              <a:t>who</a:t>
            </a:r>
            <a:r>
              <a:rPr sz="3796" spc="-23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796" dirty="0">
                <a:solidFill>
                  <a:srgbClr val="3D3D3D"/>
                </a:solidFill>
                <a:latin typeface="Calibri"/>
                <a:cs typeface="Calibri"/>
              </a:rPr>
              <a:t>will</a:t>
            </a:r>
            <a:r>
              <a:rPr sz="3796" spc="-23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796" spc="12" dirty="0">
                <a:solidFill>
                  <a:srgbClr val="3D3D3D"/>
                </a:solidFill>
                <a:latin typeface="Calibri"/>
                <a:cs typeface="Calibri"/>
              </a:rPr>
              <a:t>do</a:t>
            </a:r>
            <a:r>
              <a:rPr sz="3796" spc="23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796" dirty="0">
                <a:solidFill>
                  <a:srgbClr val="3D3D3D"/>
                </a:solidFill>
                <a:latin typeface="Calibri"/>
                <a:cs typeface="Calibri"/>
              </a:rPr>
              <a:t>it</a:t>
            </a:r>
            <a:r>
              <a:rPr sz="3796" spc="-12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796" dirty="0">
                <a:solidFill>
                  <a:srgbClr val="3D3D3D"/>
                </a:solidFill>
                <a:latin typeface="Calibri"/>
                <a:cs typeface="Calibri"/>
              </a:rPr>
              <a:t>and</a:t>
            </a:r>
            <a:r>
              <a:rPr sz="3796" spc="-12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796" dirty="0">
                <a:solidFill>
                  <a:srgbClr val="3D3D3D"/>
                </a:solidFill>
                <a:latin typeface="Calibri"/>
                <a:cs typeface="Calibri"/>
              </a:rPr>
              <a:t>how</a:t>
            </a:r>
            <a:r>
              <a:rPr sz="3796" spc="-12" dirty="0">
                <a:solidFill>
                  <a:srgbClr val="3D3D3D"/>
                </a:solidFill>
                <a:latin typeface="Calibri"/>
                <a:cs typeface="Calibri"/>
              </a:rPr>
              <a:t> result are to </a:t>
            </a:r>
            <a:r>
              <a:rPr sz="3796" spc="12" dirty="0">
                <a:solidFill>
                  <a:srgbClr val="3D3D3D"/>
                </a:solidFill>
                <a:latin typeface="Calibri"/>
                <a:cs typeface="Calibri"/>
              </a:rPr>
              <a:t>be</a:t>
            </a:r>
            <a:r>
              <a:rPr sz="3796" spc="-12" dirty="0">
                <a:solidFill>
                  <a:srgbClr val="3D3D3D"/>
                </a:solidFill>
                <a:latin typeface="Calibri"/>
                <a:cs typeface="Calibri"/>
              </a:rPr>
              <a:t> evaluated.</a:t>
            </a:r>
            <a:endParaRPr sz="3796">
              <a:latin typeface="Calibri"/>
              <a:cs typeface="Calibri"/>
            </a:endParaRPr>
          </a:p>
          <a:p>
            <a:pPr marL="280513" marR="1973819">
              <a:lnSpc>
                <a:spcPts val="6764"/>
              </a:lnSpc>
              <a:spcBef>
                <a:spcPts val="527"/>
              </a:spcBef>
            </a:pPr>
            <a:r>
              <a:rPr sz="3796" spc="-12" dirty="0">
                <a:solidFill>
                  <a:srgbClr val="3D3D3D"/>
                </a:solidFill>
                <a:latin typeface="Calibri"/>
                <a:cs typeface="Calibri"/>
              </a:rPr>
              <a:t>Determination </a:t>
            </a:r>
            <a:r>
              <a:rPr sz="3796" dirty="0">
                <a:solidFill>
                  <a:srgbClr val="3D3D3D"/>
                </a:solidFill>
                <a:latin typeface="Calibri"/>
                <a:cs typeface="Calibri"/>
              </a:rPr>
              <a:t>of</a:t>
            </a:r>
            <a:r>
              <a:rPr sz="3796" spc="23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796" dirty="0">
                <a:solidFill>
                  <a:srgbClr val="3D3D3D"/>
                </a:solidFill>
                <a:latin typeface="Calibri"/>
                <a:cs typeface="Calibri"/>
              </a:rPr>
              <a:t>long</a:t>
            </a:r>
            <a:r>
              <a:rPr sz="3796" spc="81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796" spc="-12" dirty="0">
                <a:solidFill>
                  <a:srgbClr val="3D3D3D"/>
                </a:solidFill>
                <a:latin typeface="Calibri"/>
                <a:cs typeface="Calibri"/>
              </a:rPr>
              <a:t>and</a:t>
            </a:r>
            <a:r>
              <a:rPr sz="3796" spc="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796" spc="-12" dirty="0">
                <a:solidFill>
                  <a:srgbClr val="3D3D3D"/>
                </a:solidFill>
                <a:latin typeface="Calibri"/>
                <a:cs typeface="Calibri"/>
              </a:rPr>
              <a:t>short-range</a:t>
            </a:r>
            <a:r>
              <a:rPr sz="3796" spc="-23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796" dirty="0">
                <a:solidFill>
                  <a:srgbClr val="3D3D3D"/>
                </a:solidFill>
                <a:latin typeface="Calibri"/>
                <a:cs typeface="Calibri"/>
              </a:rPr>
              <a:t>objectives. </a:t>
            </a:r>
            <a:r>
              <a:rPr sz="3796" spc="12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796" spc="-12" dirty="0">
                <a:solidFill>
                  <a:srgbClr val="3D3D3D"/>
                </a:solidFill>
                <a:latin typeface="Calibri"/>
                <a:cs typeface="Calibri"/>
              </a:rPr>
              <a:t>Development</a:t>
            </a:r>
            <a:r>
              <a:rPr sz="3796" spc="-4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796" spc="-12" dirty="0">
                <a:solidFill>
                  <a:srgbClr val="3D3D3D"/>
                </a:solidFill>
                <a:latin typeface="Calibri"/>
                <a:cs typeface="Calibri"/>
              </a:rPr>
              <a:t>of</a:t>
            </a:r>
            <a:r>
              <a:rPr sz="3796" spc="4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796" spc="-12" dirty="0">
                <a:solidFill>
                  <a:srgbClr val="3D3D3D"/>
                </a:solidFill>
                <a:latin typeface="Calibri"/>
                <a:cs typeface="Calibri"/>
              </a:rPr>
              <a:t>strategies</a:t>
            </a:r>
            <a:r>
              <a:rPr sz="3796" spc="-104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796" dirty="0">
                <a:solidFill>
                  <a:srgbClr val="3D3D3D"/>
                </a:solidFill>
                <a:latin typeface="Calibri"/>
                <a:cs typeface="Calibri"/>
              </a:rPr>
              <a:t>and </a:t>
            </a:r>
            <a:r>
              <a:rPr sz="3796" spc="-12" dirty="0">
                <a:solidFill>
                  <a:srgbClr val="3D3D3D"/>
                </a:solidFill>
                <a:latin typeface="Calibri"/>
                <a:cs typeface="Calibri"/>
              </a:rPr>
              <a:t>courses</a:t>
            </a:r>
            <a:r>
              <a:rPr sz="3796" spc="-69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796" dirty="0">
                <a:solidFill>
                  <a:srgbClr val="3D3D3D"/>
                </a:solidFill>
                <a:latin typeface="Calibri"/>
                <a:cs typeface="Calibri"/>
              </a:rPr>
              <a:t>of</a:t>
            </a:r>
            <a:r>
              <a:rPr sz="3796" spc="4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796" dirty="0">
                <a:solidFill>
                  <a:srgbClr val="3D3D3D"/>
                </a:solidFill>
                <a:latin typeface="Calibri"/>
                <a:cs typeface="Calibri"/>
              </a:rPr>
              <a:t>action</a:t>
            </a:r>
            <a:r>
              <a:rPr sz="3796" spc="-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796" spc="-12" dirty="0">
                <a:solidFill>
                  <a:srgbClr val="3D3D3D"/>
                </a:solidFill>
                <a:latin typeface="Calibri"/>
                <a:cs typeface="Calibri"/>
              </a:rPr>
              <a:t>to</a:t>
            </a:r>
            <a:r>
              <a:rPr sz="3796" spc="23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796" spc="12" dirty="0">
                <a:solidFill>
                  <a:srgbClr val="3D3D3D"/>
                </a:solidFill>
                <a:latin typeface="Calibri"/>
                <a:cs typeface="Calibri"/>
              </a:rPr>
              <a:t>be</a:t>
            </a:r>
            <a:r>
              <a:rPr sz="379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796" spc="-23" dirty="0">
                <a:solidFill>
                  <a:srgbClr val="3D3D3D"/>
                </a:solidFill>
                <a:latin typeface="Calibri"/>
                <a:cs typeface="Calibri"/>
              </a:rPr>
              <a:t>followed</a:t>
            </a:r>
            <a:endParaRPr sz="3796">
              <a:latin typeface="Calibri"/>
              <a:cs typeface="Calibri"/>
            </a:endParaRPr>
          </a:p>
          <a:p>
            <a:pPr marL="29221" marR="11690" indent="251292">
              <a:lnSpc>
                <a:spcPts val="4116"/>
              </a:lnSpc>
              <a:spcBef>
                <a:spcPts val="2114"/>
              </a:spcBef>
              <a:tabLst>
                <a:tab pos="3082719" algn="l"/>
                <a:tab pos="3876047" algn="l"/>
                <a:tab pos="5864475" algn="l"/>
                <a:tab pos="8478211" algn="l"/>
                <a:tab pos="9610489" algn="l"/>
                <a:tab pos="10964844" algn="l"/>
                <a:tab pos="11913038" algn="l"/>
              </a:tabLst>
            </a:pPr>
            <a:r>
              <a:rPr sz="3796" spc="-46" dirty="0">
                <a:solidFill>
                  <a:srgbClr val="3D3D3D"/>
                </a:solidFill>
                <a:latin typeface="Calibri"/>
                <a:cs typeface="Calibri"/>
              </a:rPr>
              <a:t>F</a:t>
            </a:r>
            <a:r>
              <a:rPr sz="3796" dirty="0">
                <a:solidFill>
                  <a:srgbClr val="3D3D3D"/>
                </a:solidFill>
                <a:latin typeface="Calibri"/>
                <a:cs typeface="Calibri"/>
              </a:rPr>
              <a:t>orm</a:t>
            </a:r>
            <a:r>
              <a:rPr sz="3796" spc="-23" dirty="0">
                <a:solidFill>
                  <a:srgbClr val="3D3D3D"/>
                </a:solidFill>
                <a:latin typeface="Calibri"/>
                <a:cs typeface="Calibri"/>
              </a:rPr>
              <a:t>u</a:t>
            </a:r>
            <a:r>
              <a:rPr sz="3796" dirty="0">
                <a:solidFill>
                  <a:srgbClr val="3D3D3D"/>
                </a:solidFill>
                <a:latin typeface="Calibri"/>
                <a:cs typeface="Calibri"/>
              </a:rPr>
              <a:t>l</a:t>
            </a:r>
            <a:r>
              <a:rPr sz="3796" spc="-35" dirty="0">
                <a:solidFill>
                  <a:srgbClr val="3D3D3D"/>
                </a:solidFill>
                <a:latin typeface="Calibri"/>
                <a:cs typeface="Calibri"/>
              </a:rPr>
              <a:t>a</a:t>
            </a:r>
            <a:r>
              <a:rPr sz="3796" spc="12" dirty="0">
                <a:solidFill>
                  <a:srgbClr val="3D3D3D"/>
                </a:solidFill>
                <a:latin typeface="Calibri"/>
                <a:cs typeface="Calibri"/>
              </a:rPr>
              <a:t>t</a:t>
            </a:r>
            <a:r>
              <a:rPr sz="3796" dirty="0">
                <a:solidFill>
                  <a:srgbClr val="3D3D3D"/>
                </a:solidFill>
                <a:latin typeface="Calibri"/>
                <a:cs typeface="Calibri"/>
              </a:rPr>
              <a:t>ion	of	</a:t>
            </a:r>
            <a:r>
              <a:rPr sz="3796" spc="12" dirty="0">
                <a:solidFill>
                  <a:srgbClr val="3D3D3D"/>
                </a:solidFill>
                <a:latin typeface="Calibri"/>
                <a:cs typeface="Calibri"/>
              </a:rPr>
              <a:t>p</a:t>
            </a:r>
            <a:r>
              <a:rPr sz="3796" dirty="0">
                <a:solidFill>
                  <a:srgbClr val="3D3D3D"/>
                </a:solidFill>
                <a:latin typeface="Calibri"/>
                <a:cs typeface="Calibri"/>
              </a:rPr>
              <a:t>o</a:t>
            </a:r>
            <a:r>
              <a:rPr sz="3796" spc="-46" dirty="0">
                <a:solidFill>
                  <a:srgbClr val="3D3D3D"/>
                </a:solidFill>
                <a:latin typeface="Calibri"/>
                <a:cs typeface="Calibri"/>
              </a:rPr>
              <a:t>l</a:t>
            </a:r>
            <a:r>
              <a:rPr sz="3796" dirty="0">
                <a:solidFill>
                  <a:srgbClr val="3D3D3D"/>
                </a:solidFill>
                <a:latin typeface="Calibri"/>
                <a:cs typeface="Calibri"/>
              </a:rPr>
              <a:t>i</a:t>
            </a:r>
            <a:r>
              <a:rPr sz="3796" spc="23" dirty="0">
                <a:solidFill>
                  <a:srgbClr val="3D3D3D"/>
                </a:solidFill>
                <a:latin typeface="Calibri"/>
                <a:cs typeface="Calibri"/>
              </a:rPr>
              <a:t>c</a:t>
            </a:r>
            <a:r>
              <a:rPr sz="3796" spc="-46" dirty="0">
                <a:solidFill>
                  <a:srgbClr val="3D3D3D"/>
                </a:solidFill>
                <a:latin typeface="Calibri"/>
                <a:cs typeface="Calibri"/>
              </a:rPr>
              <a:t>i</a:t>
            </a:r>
            <a:r>
              <a:rPr sz="3796" dirty="0">
                <a:solidFill>
                  <a:srgbClr val="3D3D3D"/>
                </a:solidFill>
                <a:latin typeface="Calibri"/>
                <a:cs typeface="Calibri"/>
              </a:rPr>
              <a:t>e</a:t>
            </a:r>
            <a:r>
              <a:rPr sz="3796" spc="23" dirty="0">
                <a:solidFill>
                  <a:srgbClr val="3D3D3D"/>
                </a:solidFill>
                <a:latin typeface="Calibri"/>
                <a:cs typeface="Calibri"/>
              </a:rPr>
              <a:t>s</a:t>
            </a:r>
            <a:r>
              <a:rPr sz="3796" dirty="0">
                <a:solidFill>
                  <a:srgbClr val="3D3D3D"/>
                </a:solidFill>
                <a:latin typeface="Calibri"/>
                <a:cs typeface="Calibri"/>
              </a:rPr>
              <a:t>,	</a:t>
            </a:r>
            <a:r>
              <a:rPr sz="3796" spc="12" dirty="0">
                <a:solidFill>
                  <a:srgbClr val="3D3D3D"/>
                </a:solidFill>
                <a:latin typeface="Calibri"/>
                <a:cs typeface="Calibri"/>
              </a:rPr>
              <a:t>p</a:t>
            </a:r>
            <a:r>
              <a:rPr sz="3796" spc="-35" dirty="0">
                <a:solidFill>
                  <a:srgbClr val="3D3D3D"/>
                </a:solidFill>
                <a:latin typeface="Calibri"/>
                <a:cs typeface="Calibri"/>
              </a:rPr>
              <a:t>r</a:t>
            </a:r>
            <a:r>
              <a:rPr sz="3796" dirty="0">
                <a:solidFill>
                  <a:srgbClr val="3D3D3D"/>
                </a:solidFill>
                <a:latin typeface="Calibri"/>
                <a:cs typeface="Calibri"/>
              </a:rPr>
              <a:t>o</a:t>
            </a:r>
            <a:r>
              <a:rPr sz="3796" spc="-58" dirty="0">
                <a:solidFill>
                  <a:srgbClr val="3D3D3D"/>
                </a:solidFill>
                <a:latin typeface="Calibri"/>
                <a:cs typeface="Calibri"/>
              </a:rPr>
              <a:t>c</a:t>
            </a:r>
            <a:r>
              <a:rPr sz="3796" dirty="0">
                <a:solidFill>
                  <a:srgbClr val="3D3D3D"/>
                </a:solidFill>
                <a:latin typeface="Calibri"/>
                <a:cs typeface="Calibri"/>
              </a:rPr>
              <a:t>e</a:t>
            </a:r>
            <a:r>
              <a:rPr sz="3796" spc="12" dirty="0">
                <a:solidFill>
                  <a:srgbClr val="3D3D3D"/>
                </a:solidFill>
                <a:latin typeface="Calibri"/>
                <a:cs typeface="Calibri"/>
              </a:rPr>
              <a:t>d</a:t>
            </a:r>
            <a:r>
              <a:rPr sz="3796" spc="-23" dirty="0">
                <a:solidFill>
                  <a:srgbClr val="3D3D3D"/>
                </a:solidFill>
                <a:latin typeface="Calibri"/>
                <a:cs typeface="Calibri"/>
              </a:rPr>
              <a:t>u</a:t>
            </a:r>
            <a:r>
              <a:rPr sz="3796" spc="-35" dirty="0">
                <a:solidFill>
                  <a:srgbClr val="3D3D3D"/>
                </a:solidFill>
                <a:latin typeface="Calibri"/>
                <a:cs typeface="Calibri"/>
              </a:rPr>
              <a:t>re</a:t>
            </a:r>
            <a:r>
              <a:rPr sz="3796" dirty="0">
                <a:solidFill>
                  <a:srgbClr val="3D3D3D"/>
                </a:solidFill>
                <a:latin typeface="Calibri"/>
                <a:cs typeface="Calibri"/>
              </a:rPr>
              <a:t>s	</a:t>
            </a:r>
            <a:r>
              <a:rPr sz="3796" spc="-35" dirty="0">
                <a:solidFill>
                  <a:srgbClr val="3D3D3D"/>
                </a:solidFill>
                <a:latin typeface="Calibri"/>
                <a:cs typeface="Calibri"/>
              </a:rPr>
              <a:t>a</a:t>
            </a:r>
            <a:r>
              <a:rPr sz="3796" spc="12" dirty="0">
                <a:solidFill>
                  <a:srgbClr val="3D3D3D"/>
                </a:solidFill>
                <a:latin typeface="Calibri"/>
                <a:cs typeface="Calibri"/>
              </a:rPr>
              <a:t>n</a:t>
            </a:r>
            <a:r>
              <a:rPr sz="3796" dirty="0">
                <a:solidFill>
                  <a:srgbClr val="3D3D3D"/>
                </a:solidFill>
                <a:latin typeface="Calibri"/>
                <a:cs typeface="Calibri"/>
              </a:rPr>
              <a:t>d	</a:t>
            </a:r>
            <a:r>
              <a:rPr sz="3796" spc="-35" dirty="0">
                <a:solidFill>
                  <a:srgbClr val="3D3D3D"/>
                </a:solidFill>
                <a:latin typeface="Calibri"/>
                <a:cs typeface="Calibri"/>
              </a:rPr>
              <a:t>r</a:t>
            </a:r>
            <a:r>
              <a:rPr sz="3796" spc="12" dirty="0">
                <a:solidFill>
                  <a:srgbClr val="3D3D3D"/>
                </a:solidFill>
                <a:latin typeface="Calibri"/>
                <a:cs typeface="Calibri"/>
              </a:rPr>
              <a:t>u</a:t>
            </a:r>
            <a:r>
              <a:rPr sz="3796" dirty="0">
                <a:solidFill>
                  <a:srgbClr val="3D3D3D"/>
                </a:solidFill>
                <a:latin typeface="Calibri"/>
                <a:cs typeface="Calibri"/>
              </a:rPr>
              <a:t>les	</a:t>
            </a:r>
            <a:r>
              <a:rPr sz="3796" spc="-138" dirty="0">
                <a:solidFill>
                  <a:srgbClr val="3D3D3D"/>
                </a:solidFill>
                <a:latin typeface="Calibri"/>
                <a:cs typeface="Calibri"/>
              </a:rPr>
              <a:t>f</a:t>
            </a:r>
            <a:r>
              <a:rPr sz="3796" dirty="0">
                <a:solidFill>
                  <a:srgbClr val="3D3D3D"/>
                </a:solidFill>
                <a:latin typeface="Calibri"/>
                <a:cs typeface="Calibri"/>
              </a:rPr>
              <a:t>or	</a:t>
            </a:r>
            <a:r>
              <a:rPr sz="3796" spc="35" dirty="0">
                <a:solidFill>
                  <a:srgbClr val="3D3D3D"/>
                </a:solidFill>
                <a:latin typeface="Calibri"/>
                <a:cs typeface="Calibri"/>
              </a:rPr>
              <a:t>i</a:t>
            </a:r>
            <a:r>
              <a:rPr sz="3796" spc="-35" dirty="0">
                <a:solidFill>
                  <a:srgbClr val="3D3D3D"/>
                </a:solidFill>
                <a:latin typeface="Calibri"/>
                <a:cs typeface="Calibri"/>
              </a:rPr>
              <a:t>m</a:t>
            </a:r>
            <a:r>
              <a:rPr sz="3796" spc="12" dirty="0">
                <a:solidFill>
                  <a:srgbClr val="3D3D3D"/>
                </a:solidFill>
                <a:latin typeface="Calibri"/>
                <a:cs typeface="Calibri"/>
              </a:rPr>
              <a:t>p</a:t>
            </a:r>
            <a:r>
              <a:rPr sz="3796" dirty="0">
                <a:solidFill>
                  <a:srgbClr val="3D3D3D"/>
                </a:solidFill>
                <a:latin typeface="Calibri"/>
                <a:cs typeface="Calibri"/>
              </a:rPr>
              <a:t>le</a:t>
            </a:r>
            <a:r>
              <a:rPr sz="3796" spc="-35" dirty="0">
                <a:solidFill>
                  <a:srgbClr val="3D3D3D"/>
                </a:solidFill>
                <a:latin typeface="Calibri"/>
                <a:cs typeface="Calibri"/>
              </a:rPr>
              <a:t>m</a:t>
            </a:r>
            <a:r>
              <a:rPr sz="3796" dirty="0">
                <a:solidFill>
                  <a:srgbClr val="3D3D3D"/>
                </a:solidFill>
                <a:latin typeface="Calibri"/>
                <a:cs typeface="Calibri"/>
              </a:rPr>
              <a:t>e</a:t>
            </a:r>
            <a:r>
              <a:rPr sz="3796" spc="-23" dirty="0">
                <a:solidFill>
                  <a:srgbClr val="3D3D3D"/>
                </a:solidFill>
                <a:latin typeface="Calibri"/>
                <a:cs typeface="Calibri"/>
              </a:rPr>
              <a:t>n</a:t>
            </a:r>
            <a:r>
              <a:rPr sz="3796" spc="12" dirty="0">
                <a:solidFill>
                  <a:srgbClr val="3D3D3D"/>
                </a:solidFill>
                <a:latin typeface="Calibri"/>
                <a:cs typeface="Calibri"/>
              </a:rPr>
              <a:t>t</a:t>
            </a:r>
            <a:r>
              <a:rPr sz="3796" dirty="0">
                <a:solidFill>
                  <a:srgbClr val="3D3D3D"/>
                </a:solidFill>
                <a:latin typeface="Calibri"/>
                <a:cs typeface="Calibri"/>
              </a:rPr>
              <a:t>i</a:t>
            </a:r>
            <a:r>
              <a:rPr sz="3796" spc="-23" dirty="0">
                <a:solidFill>
                  <a:srgbClr val="3D3D3D"/>
                </a:solidFill>
                <a:latin typeface="Calibri"/>
                <a:cs typeface="Calibri"/>
              </a:rPr>
              <a:t>n</a:t>
            </a:r>
            <a:r>
              <a:rPr sz="3796" dirty="0">
                <a:solidFill>
                  <a:srgbClr val="3D3D3D"/>
                </a:solidFill>
                <a:latin typeface="Calibri"/>
                <a:cs typeface="Calibri"/>
              </a:rPr>
              <a:t>g  </a:t>
            </a:r>
            <a:r>
              <a:rPr sz="3796" spc="-23" dirty="0">
                <a:solidFill>
                  <a:srgbClr val="3D3D3D"/>
                </a:solidFill>
                <a:latin typeface="Calibri"/>
                <a:cs typeface="Calibri"/>
              </a:rPr>
              <a:t>strategies</a:t>
            </a:r>
            <a:r>
              <a:rPr sz="3796" spc="-81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796" dirty="0">
                <a:solidFill>
                  <a:srgbClr val="3D3D3D"/>
                </a:solidFill>
                <a:latin typeface="Calibri"/>
                <a:cs typeface="Calibri"/>
              </a:rPr>
              <a:t>and</a:t>
            </a:r>
            <a:r>
              <a:rPr sz="3796" spc="-12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796" dirty="0">
                <a:solidFill>
                  <a:srgbClr val="3D3D3D"/>
                </a:solidFill>
                <a:latin typeface="Calibri"/>
                <a:cs typeface="Calibri"/>
              </a:rPr>
              <a:t>plans.</a:t>
            </a:r>
            <a:endParaRPr sz="3796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913539" y="9501937"/>
            <a:ext cx="430970" cy="436666"/>
          </a:xfrm>
          <a:prstGeom prst="rect">
            <a:avLst/>
          </a:prstGeom>
        </p:spPr>
        <p:txBody>
          <a:bodyPr vert="horz" wrap="square" lIns="0" tIns="29218" rIns="0" bIns="0" rtlCol="0">
            <a:spAutoFit/>
          </a:bodyPr>
          <a:lstStyle/>
          <a:p>
            <a:pPr marL="29221">
              <a:spcBef>
                <a:spcPts val="230"/>
              </a:spcBef>
            </a:pPr>
            <a:r>
              <a:rPr sz="2646" spc="-23" dirty="0">
                <a:latin typeface="Arial MT"/>
                <a:cs typeface="Arial MT"/>
              </a:rPr>
              <a:t>1</a:t>
            </a:r>
            <a:r>
              <a:rPr sz="2646" dirty="0">
                <a:latin typeface="Arial MT"/>
                <a:cs typeface="Arial MT"/>
              </a:rPr>
              <a:t>3</a:t>
            </a:r>
            <a:endParaRPr sz="2646">
              <a:latin typeface="Arial MT"/>
              <a:cs typeface="Arial MT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905B3395-946E-678C-1008-223AD02D9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49589" y="2546813"/>
            <a:ext cx="14617916" cy="0"/>
          </a:xfrm>
          <a:custGeom>
            <a:avLst/>
            <a:gdLst/>
            <a:ahLst/>
            <a:cxnLst/>
            <a:rect l="l" t="t" r="r" b="b"/>
            <a:pathLst>
              <a:path w="6353809">
                <a:moveTo>
                  <a:pt x="0" y="0"/>
                </a:moveTo>
                <a:lnTo>
                  <a:pt x="6353556" y="0"/>
                </a:lnTo>
              </a:path>
            </a:pathLst>
          </a:custGeom>
          <a:ln w="4572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 sz="4141"/>
          </a:p>
        </p:txBody>
      </p:sp>
      <p:grpSp>
        <p:nvGrpSpPr>
          <p:cNvPr id="3" name="object 3"/>
          <p:cNvGrpSpPr/>
          <p:nvPr/>
        </p:nvGrpSpPr>
        <p:grpSpPr>
          <a:xfrm>
            <a:off x="1782911" y="1735126"/>
            <a:ext cx="512781" cy="555148"/>
            <a:chOff x="774954" y="3597401"/>
            <a:chExt cx="222885" cy="2413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4954" y="3597401"/>
              <a:ext cx="146304" cy="23926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61644" y="3799331"/>
              <a:ext cx="30480" cy="33655"/>
            </a:xfrm>
            <a:custGeom>
              <a:avLst/>
              <a:gdLst/>
              <a:ahLst/>
              <a:cxnLst/>
              <a:rect l="l" t="t" r="r" b="b"/>
              <a:pathLst>
                <a:path w="30480" h="33654">
                  <a:moveTo>
                    <a:pt x="25908" y="3048"/>
                  </a:moveTo>
                  <a:lnTo>
                    <a:pt x="24384" y="1524"/>
                  </a:lnTo>
                  <a:lnTo>
                    <a:pt x="19812" y="0"/>
                  </a:lnTo>
                  <a:lnTo>
                    <a:pt x="15240" y="0"/>
                  </a:lnTo>
                  <a:lnTo>
                    <a:pt x="9144" y="0"/>
                  </a:lnTo>
                  <a:lnTo>
                    <a:pt x="4572" y="1524"/>
                  </a:lnTo>
                  <a:lnTo>
                    <a:pt x="3048" y="3048"/>
                  </a:lnTo>
                  <a:lnTo>
                    <a:pt x="0" y="6096"/>
                  </a:lnTo>
                  <a:lnTo>
                    <a:pt x="0" y="10668"/>
                  </a:lnTo>
                  <a:lnTo>
                    <a:pt x="0" y="16764"/>
                  </a:lnTo>
                  <a:lnTo>
                    <a:pt x="0" y="24384"/>
                  </a:lnTo>
                  <a:lnTo>
                    <a:pt x="0" y="28956"/>
                  </a:lnTo>
                  <a:lnTo>
                    <a:pt x="3048" y="30480"/>
                  </a:lnTo>
                  <a:lnTo>
                    <a:pt x="4572" y="32004"/>
                  </a:lnTo>
                  <a:lnTo>
                    <a:pt x="9144" y="33528"/>
                  </a:lnTo>
                  <a:lnTo>
                    <a:pt x="13716" y="33528"/>
                  </a:lnTo>
                  <a:lnTo>
                    <a:pt x="19812" y="33528"/>
                  </a:lnTo>
                  <a:lnTo>
                    <a:pt x="24384" y="32004"/>
                  </a:lnTo>
                  <a:lnTo>
                    <a:pt x="25908" y="30480"/>
                  </a:lnTo>
                  <a:lnTo>
                    <a:pt x="28956" y="27432"/>
                  </a:lnTo>
                  <a:lnTo>
                    <a:pt x="30480" y="22860"/>
                  </a:lnTo>
                  <a:lnTo>
                    <a:pt x="30480" y="16764"/>
                  </a:lnTo>
                  <a:lnTo>
                    <a:pt x="30480" y="10668"/>
                  </a:lnTo>
                  <a:lnTo>
                    <a:pt x="28956" y="6096"/>
                  </a:lnTo>
                  <a:lnTo>
                    <a:pt x="25908" y="3048"/>
                  </a:lnTo>
                  <a:close/>
                </a:path>
              </a:pathLst>
            </a:custGeom>
            <a:ln w="10668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4141"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6743" y="1731620"/>
            <a:ext cx="3295822" cy="70123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713439" y="1473273"/>
            <a:ext cx="4163608" cy="923211"/>
          </a:xfrm>
          <a:prstGeom prst="rect">
            <a:avLst/>
          </a:prstGeom>
        </p:spPr>
        <p:txBody>
          <a:bodyPr vert="horz" wrap="square" lIns="0" tIns="30679" rIns="0" bIns="0" rtlCol="0" anchor="ctr">
            <a:spAutoFit/>
          </a:bodyPr>
          <a:lstStyle/>
          <a:p>
            <a:pPr marL="29221">
              <a:spcBef>
                <a:spcPts val="242"/>
              </a:spcBef>
            </a:pPr>
            <a:r>
              <a:rPr sz="6442" spc="-104" dirty="0">
                <a:solidFill>
                  <a:srgbClr val="BF0000"/>
                </a:solidFill>
              </a:rPr>
              <a:t>2</a:t>
            </a:r>
            <a:r>
              <a:rPr sz="6442" spc="-46" dirty="0">
                <a:solidFill>
                  <a:srgbClr val="BF0000"/>
                </a:solidFill>
              </a:rPr>
              <a:t>.</a:t>
            </a:r>
            <a:r>
              <a:rPr sz="6442" spc="-196" dirty="0">
                <a:solidFill>
                  <a:srgbClr val="BF0000"/>
                </a:solidFill>
              </a:rPr>
              <a:t> O</a:t>
            </a:r>
            <a:r>
              <a:rPr sz="6442" spc="-242" dirty="0">
                <a:solidFill>
                  <a:srgbClr val="BF0000"/>
                </a:solidFill>
              </a:rPr>
              <a:t>r</a:t>
            </a:r>
            <a:r>
              <a:rPr sz="6442" spc="-253" dirty="0">
                <a:solidFill>
                  <a:srgbClr val="BF0000"/>
                </a:solidFill>
              </a:rPr>
              <a:t>g</a:t>
            </a:r>
            <a:r>
              <a:rPr sz="6442" spc="-196" dirty="0">
                <a:solidFill>
                  <a:srgbClr val="BF0000"/>
                </a:solidFill>
              </a:rPr>
              <a:t>a</a:t>
            </a:r>
            <a:r>
              <a:rPr sz="6442" spc="-161" dirty="0">
                <a:solidFill>
                  <a:srgbClr val="BF0000"/>
                </a:solidFill>
              </a:rPr>
              <a:t>nizi</a:t>
            </a:r>
            <a:r>
              <a:rPr sz="6442" spc="-196" dirty="0">
                <a:solidFill>
                  <a:srgbClr val="BF0000"/>
                </a:solidFill>
              </a:rPr>
              <a:t>n</a:t>
            </a:r>
            <a:r>
              <a:rPr sz="6442" spc="-12" dirty="0">
                <a:solidFill>
                  <a:srgbClr val="BF0000"/>
                </a:solidFill>
              </a:rPr>
              <a:t>g</a:t>
            </a:r>
            <a:endParaRPr sz="6442"/>
          </a:p>
        </p:txBody>
      </p:sp>
      <p:sp>
        <p:nvSpPr>
          <p:cNvPr id="8" name="object 8"/>
          <p:cNvSpPr/>
          <p:nvPr/>
        </p:nvSpPr>
        <p:spPr>
          <a:xfrm>
            <a:off x="1949447" y="3840599"/>
            <a:ext cx="154857" cy="157779"/>
          </a:xfrm>
          <a:custGeom>
            <a:avLst/>
            <a:gdLst/>
            <a:ahLst/>
            <a:cxnLst/>
            <a:rect l="l" t="t" r="r" b="b"/>
            <a:pathLst>
              <a:path w="67309" h="68579">
                <a:moveTo>
                  <a:pt x="67056" y="68579"/>
                </a:moveTo>
                <a:lnTo>
                  <a:pt x="0" y="68579"/>
                </a:lnTo>
                <a:lnTo>
                  <a:pt x="0" y="0"/>
                </a:lnTo>
                <a:lnTo>
                  <a:pt x="67056" y="0"/>
                </a:lnTo>
                <a:lnTo>
                  <a:pt x="67056" y="68579"/>
                </a:lnTo>
                <a:close/>
              </a:path>
            </a:pathLst>
          </a:custGeom>
          <a:solidFill>
            <a:srgbClr val="E48311"/>
          </a:solidFill>
        </p:spPr>
        <p:txBody>
          <a:bodyPr wrap="square" lIns="0" tIns="0" rIns="0" bIns="0" rtlCol="0"/>
          <a:lstStyle/>
          <a:p>
            <a:endParaRPr sz="4141"/>
          </a:p>
        </p:txBody>
      </p:sp>
      <p:sp>
        <p:nvSpPr>
          <p:cNvPr id="9" name="object 9"/>
          <p:cNvSpPr/>
          <p:nvPr/>
        </p:nvSpPr>
        <p:spPr>
          <a:xfrm>
            <a:off x="1949447" y="4990629"/>
            <a:ext cx="154857" cy="157779"/>
          </a:xfrm>
          <a:custGeom>
            <a:avLst/>
            <a:gdLst/>
            <a:ahLst/>
            <a:cxnLst/>
            <a:rect l="l" t="t" r="r" b="b"/>
            <a:pathLst>
              <a:path w="67309" h="68579">
                <a:moveTo>
                  <a:pt x="67056" y="68580"/>
                </a:moveTo>
                <a:lnTo>
                  <a:pt x="0" y="68580"/>
                </a:lnTo>
                <a:lnTo>
                  <a:pt x="0" y="0"/>
                </a:lnTo>
                <a:lnTo>
                  <a:pt x="67056" y="0"/>
                </a:lnTo>
                <a:lnTo>
                  <a:pt x="67056" y="68580"/>
                </a:lnTo>
                <a:close/>
              </a:path>
            </a:pathLst>
          </a:custGeom>
          <a:solidFill>
            <a:srgbClr val="E48311"/>
          </a:solidFill>
        </p:spPr>
        <p:txBody>
          <a:bodyPr wrap="square" lIns="0" tIns="0" rIns="0" bIns="0" rtlCol="0"/>
          <a:lstStyle/>
          <a:p>
            <a:endParaRPr sz="4141"/>
          </a:p>
        </p:txBody>
      </p:sp>
      <p:sp>
        <p:nvSpPr>
          <p:cNvPr id="10" name="object 10"/>
          <p:cNvSpPr/>
          <p:nvPr/>
        </p:nvSpPr>
        <p:spPr>
          <a:xfrm>
            <a:off x="1949447" y="5639278"/>
            <a:ext cx="154857" cy="157779"/>
          </a:xfrm>
          <a:custGeom>
            <a:avLst/>
            <a:gdLst/>
            <a:ahLst/>
            <a:cxnLst/>
            <a:rect l="l" t="t" r="r" b="b"/>
            <a:pathLst>
              <a:path w="67309" h="68579">
                <a:moveTo>
                  <a:pt x="67056" y="68579"/>
                </a:moveTo>
                <a:lnTo>
                  <a:pt x="0" y="68579"/>
                </a:lnTo>
                <a:lnTo>
                  <a:pt x="0" y="0"/>
                </a:lnTo>
                <a:lnTo>
                  <a:pt x="67056" y="0"/>
                </a:lnTo>
                <a:lnTo>
                  <a:pt x="67056" y="68579"/>
                </a:lnTo>
                <a:close/>
              </a:path>
            </a:pathLst>
          </a:custGeom>
          <a:solidFill>
            <a:srgbClr val="E48311"/>
          </a:solidFill>
        </p:spPr>
        <p:txBody>
          <a:bodyPr wrap="square" lIns="0" tIns="0" rIns="0" bIns="0" rtlCol="0"/>
          <a:lstStyle/>
          <a:p>
            <a:endParaRPr sz="4141"/>
          </a:p>
        </p:txBody>
      </p:sp>
      <p:sp>
        <p:nvSpPr>
          <p:cNvPr id="11" name="object 11"/>
          <p:cNvSpPr/>
          <p:nvPr/>
        </p:nvSpPr>
        <p:spPr>
          <a:xfrm>
            <a:off x="1949447" y="6291428"/>
            <a:ext cx="154857" cy="157779"/>
          </a:xfrm>
          <a:custGeom>
            <a:avLst/>
            <a:gdLst/>
            <a:ahLst/>
            <a:cxnLst/>
            <a:rect l="l" t="t" r="r" b="b"/>
            <a:pathLst>
              <a:path w="67309" h="68579">
                <a:moveTo>
                  <a:pt x="67056" y="68580"/>
                </a:moveTo>
                <a:lnTo>
                  <a:pt x="0" y="68580"/>
                </a:lnTo>
                <a:lnTo>
                  <a:pt x="0" y="0"/>
                </a:lnTo>
                <a:lnTo>
                  <a:pt x="67056" y="0"/>
                </a:lnTo>
                <a:lnTo>
                  <a:pt x="67056" y="68580"/>
                </a:lnTo>
                <a:close/>
              </a:path>
            </a:pathLst>
          </a:custGeom>
          <a:solidFill>
            <a:srgbClr val="E48311"/>
          </a:solidFill>
        </p:spPr>
        <p:txBody>
          <a:bodyPr wrap="square" lIns="0" tIns="0" rIns="0" bIns="0" rtlCol="0"/>
          <a:lstStyle/>
          <a:p>
            <a:endParaRPr sz="4141"/>
          </a:p>
        </p:txBody>
      </p:sp>
      <p:sp>
        <p:nvSpPr>
          <p:cNvPr id="12" name="object 12"/>
          <p:cNvSpPr/>
          <p:nvPr/>
        </p:nvSpPr>
        <p:spPr>
          <a:xfrm>
            <a:off x="1949447" y="7441461"/>
            <a:ext cx="154857" cy="157779"/>
          </a:xfrm>
          <a:custGeom>
            <a:avLst/>
            <a:gdLst/>
            <a:ahLst/>
            <a:cxnLst/>
            <a:rect l="l" t="t" r="r" b="b"/>
            <a:pathLst>
              <a:path w="67309" h="68579">
                <a:moveTo>
                  <a:pt x="67056" y="68580"/>
                </a:moveTo>
                <a:lnTo>
                  <a:pt x="0" y="68580"/>
                </a:lnTo>
                <a:lnTo>
                  <a:pt x="0" y="0"/>
                </a:lnTo>
                <a:lnTo>
                  <a:pt x="67056" y="0"/>
                </a:lnTo>
                <a:lnTo>
                  <a:pt x="67056" y="68580"/>
                </a:lnTo>
                <a:close/>
              </a:path>
            </a:pathLst>
          </a:custGeom>
          <a:solidFill>
            <a:srgbClr val="E48311"/>
          </a:solidFill>
        </p:spPr>
        <p:txBody>
          <a:bodyPr wrap="square" lIns="0" tIns="0" rIns="0" bIns="0" rtlCol="0"/>
          <a:lstStyle/>
          <a:p>
            <a:endParaRPr sz="4141"/>
          </a:p>
        </p:txBody>
      </p:sp>
      <p:sp>
        <p:nvSpPr>
          <p:cNvPr id="13" name="object 13"/>
          <p:cNvSpPr txBox="1"/>
          <p:nvPr/>
        </p:nvSpPr>
        <p:spPr>
          <a:xfrm>
            <a:off x="1713309" y="2906887"/>
            <a:ext cx="15636174" cy="4951944"/>
          </a:xfrm>
          <a:prstGeom prst="rect">
            <a:avLst/>
          </a:prstGeom>
        </p:spPr>
        <p:txBody>
          <a:bodyPr vert="horz" wrap="square" lIns="0" tIns="39445" rIns="0" bIns="0" rtlCol="0">
            <a:spAutoFit/>
          </a:bodyPr>
          <a:lstStyle/>
          <a:p>
            <a:pPr marL="29221">
              <a:spcBef>
                <a:spcPts val="311"/>
              </a:spcBef>
            </a:pP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Organizing</a:t>
            </a:r>
            <a:r>
              <a:rPr sz="4026" spc="-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involves:</a:t>
            </a:r>
            <a:endParaRPr sz="4026">
              <a:latin typeface="Calibri"/>
              <a:cs typeface="Calibri"/>
            </a:endParaRPr>
          </a:p>
          <a:p>
            <a:pPr marL="460216" marR="11690">
              <a:lnSpc>
                <a:spcPts val="3911"/>
              </a:lnSpc>
              <a:spcBef>
                <a:spcPts val="1208"/>
              </a:spcBef>
            </a:pP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Identification</a:t>
            </a:r>
            <a:r>
              <a:rPr sz="4026" spc="633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of</a:t>
            </a:r>
            <a:r>
              <a:rPr sz="4026" spc="679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activities</a:t>
            </a:r>
            <a:r>
              <a:rPr sz="4026" spc="69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required</a:t>
            </a:r>
            <a:r>
              <a:rPr sz="4026" spc="679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-12" dirty="0">
                <a:solidFill>
                  <a:srgbClr val="3D3D3D"/>
                </a:solidFill>
                <a:latin typeface="Calibri"/>
                <a:cs typeface="Calibri"/>
              </a:rPr>
              <a:t>for</a:t>
            </a:r>
            <a:r>
              <a:rPr sz="4026" spc="702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the</a:t>
            </a:r>
            <a:r>
              <a:rPr sz="4026" spc="667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achievement</a:t>
            </a:r>
            <a:r>
              <a:rPr sz="4026" spc="69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of</a:t>
            </a:r>
            <a:r>
              <a:rPr sz="4026" spc="713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objectives </a:t>
            </a:r>
            <a:r>
              <a:rPr sz="4026" spc="-874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and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implementation</a:t>
            </a:r>
            <a:r>
              <a:rPr sz="4026" spc="92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of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plans.</a:t>
            </a:r>
            <a:endParaRPr sz="4026">
              <a:latin typeface="Calibri"/>
              <a:cs typeface="Calibri"/>
            </a:endParaRPr>
          </a:p>
          <a:p>
            <a:pPr marL="460216" marR="3350084">
              <a:lnSpc>
                <a:spcPct val="106300"/>
              </a:lnSpc>
            </a:pP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Grouping</a:t>
            </a:r>
            <a:r>
              <a:rPr sz="4026" spc="81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of activities</a:t>
            </a:r>
            <a:r>
              <a:rPr sz="4026" spc="81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so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as 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to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create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 self-contained</a:t>
            </a:r>
            <a:r>
              <a:rPr sz="4026" spc="104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jobs </a:t>
            </a:r>
            <a:r>
              <a:rPr sz="4026" spc="-874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Assignment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 of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jobs 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to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employees</a:t>
            </a:r>
            <a:endParaRPr sz="4026">
              <a:latin typeface="Calibri"/>
              <a:cs typeface="Calibri"/>
            </a:endParaRPr>
          </a:p>
          <a:p>
            <a:pPr marL="460216" marR="14612">
              <a:lnSpc>
                <a:spcPts val="3957"/>
              </a:lnSpc>
              <a:spcBef>
                <a:spcPts val="1139"/>
              </a:spcBef>
            </a:pP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Delegation</a:t>
            </a:r>
            <a:r>
              <a:rPr sz="4026" spc="173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of</a:t>
            </a:r>
            <a:r>
              <a:rPr sz="4026" spc="173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authority</a:t>
            </a:r>
            <a:r>
              <a:rPr sz="4026" spc="15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so</a:t>
            </a:r>
            <a:r>
              <a:rPr sz="4026" spc="161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as</a:t>
            </a:r>
            <a:r>
              <a:rPr sz="4026" spc="161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to</a:t>
            </a:r>
            <a:r>
              <a:rPr sz="4026" spc="207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enable</a:t>
            </a:r>
            <a:r>
              <a:rPr sz="4026" spc="161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them</a:t>
            </a:r>
            <a:r>
              <a:rPr sz="4026" spc="207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to</a:t>
            </a:r>
            <a:r>
              <a:rPr sz="4026" spc="161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perform</a:t>
            </a:r>
            <a:r>
              <a:rPr sz="4026" spc="173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their</a:t>
            </a:r>
            <a:r>
              <a:rPr sz="4026" spc="19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jobs</a:t>
            </a:r>
            <a:r>
              <a:rPr sz="4026" spc="19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and </a:t>
            </a:r>
            <a:r>
              <a:rPr sz="4026" spc="-874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to</a:t>
            </a:r>
            <a:r>
              <a:rPr sz="4026" spc="-12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command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the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resources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 needed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for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their</a:t>
            </a:r>
            <a:r>
              <a:rPr sz="4026" spc="81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performance</a:t>
            </a:r>
            <a:endParaRPr sz="4026">
              <a:latin typeface="Calibri"/>
              <a:cs typeface="Calibri"/>
            </a:endParaRPr>
          </a:p>
          <a:p>
            <a:pPr marL="460216">
              <a:spcBef>
                <a:spcPts val="276"/>
              </a:spcBef>
            </a:pP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Establishment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 of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a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network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of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 coordinating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relationships.</a:t>
            </a:r>
            <a:endParaRPr sz="4026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913539" y="9501937"/>
            <a:ext cx="430970" cy="436666"/>
          </a:xfrm>
          <a:prstGeom prst="rect">
            <a:avLst/>
          </a:prstGeom>
        </p:spPr>
        <p:txBody>
          <a:bodyPr vert="horz" wrap="square" lIns="0" tIns="29218" rIns="0" bIns="0" rtlCol="0">
            <a:spAutoFit/>
          </a:bodyPr>
          <a:lstStyle/>
          <a:p>
            <a:pPr marL="29221">
              <a:spcBef>
                <a:spcPts val="230"/>
              </a:spcBef>
            </a:pPr>
            <a:r>
              <a:rPr sz="2646" spc="-23" dirty="0">
                <a:latin typeface="Arial MT"/>
                <a:cs typeface="Arial MT"/>
              </a:rPr>
              <a:t>1</a:t>
            </a:r>
            <a:r>
              <a:rPr sz="2646" dirty="0">
                <a:latin typeface="Arial MT"/>
                <a:cs typeface="Arial MT"/>
              </a:rPr>
              <a:t>4</a:t>
            </a:r>
            <a:endParaRPr sz="2646">
              <a:latin typeface="Arial MT"/>
              <a:cs typeface="Arial MT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BD8DDD06-2DCF-A7F2-3BF9-E7CE79E93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49589" y="2546813"/>
            <a:ext cx="14617916" cy="0"/>
          </a:xfrm>
          <a:custGeom>
            <a:avLst/>
            <a:gdLst/>
            <a:ahLst/>
            <a:cxnLst/>
            <a:rect l="l" t="t" r="r" b="b"/>
            <a:pathLst>
              <a:path w="6353809">
                <a:moveTo>
                  <a:pt x="0" y="0"/>
                </a:moveTo>
                <a:lnTo>
                  <a:pt x="6353556" y="0"/>
                </a:lnTo>
              </a:path>
            </a:pathLst>
          </a:custGeom>
          <a:ln w="4572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 sz="4141"/>
          </a:p>
        </p:txBody>
      </p:sp>
      <p:grpSp>
        <p:nvGrpSpPr>
          <p:cNvPr id="3" name="object 3"/>
          <p:cNvGrpSpPr/>
          <p:nvPr/>
        </p:nvGrpSpPr>
        <p:grpSpPr>
          <a:xfrm>
            <a:off x="1775886" y="1735129"/>
            <a:ext cx="520086" cy="558070"/>
            <a:chOff x="771905" y="3597402"/>
            <a:chExt cx="226060" cy="2425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1905" y="3597402"/>
              <a:ext cx="146303" cy="24231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61644" y="3799332"/>
              <a:ext cx="30480" cy="33655"/>
            </a:xfrm>
            <a:custGeom>
              <a:avLst/>
              <a:gdLst/>
              <a:ahLst/>
              <a:cxnLst/>
              <a:rect l="l" t="t" r="r" b="b"/>
              <a:pathLst>
                <a:path w="30480" h="33654">
                  <a:moveTo>
                    <a:pt x="25908" y="3048"/>
                  </a:moveTo>
                  <a:lnTo>
                    <a:pt x="24384" y="1524"/>
                  </a:lnTo>
                  <a:lnTo>
                    <a:pt x="19812" y="0"/>
                  </a:lnTo>
                  <a:lnTo>
                    <a:pt x="15240" y="0"/>
                  </a:lnTo>
                  <a:lnTo>
                    <a:pt x="9144" y="0"/>
                  </a:lnTo>
                  <a:lnTo>
                    <a:pt x="4572" y="1524"/>
                  </a:lnTo>
                  <a:lnTo>
                    <a:pt x="3048" y="3048"/>
                  </a:lnTo>
                  <a:lnTo>
                    <a:pt x="0" y="6096"/>
                  </a:lnTo>
                  <a:lnTo>
                    <a:pt x="0" y="10668"/>
                  </a:lnTo>
                  <a:lnTo>
                    <a:pt x="0" y="16764"/>
                  </a:lnTo>
                  <a:lnTo>
                    <a:pt x="0" y="24384"/>
                  </a:lnTo>
                  <a:lnTo>
                    <a:pt x="0" y="28956"/>
                  </a:lnTo>
                  <a:lnTo>
                    <a:pt x="3048" y="30480"/>
                  </a:lnTo>
                  <a:lnTo>
                    <a:pt x="4572" y="32004"/>
                  </a:lnTo>
                  <a:lnTo>
                    <a:pt x="9144" y="33528"/>
                  </a:lnTo>
                  <a:lnTo>
                    <a:pt x="13716" y="33528"/>
                  </a:lnTo>
                  <a:lnTo>
                    <a:pt x="19812" y="33528"/>
                  </a:lnTo>
                  <a:lnTo>
                    <a:pt x="24384" y="32004"/>
                  </a:lnTo>
                  <a:lnTo>
                    <a:pt x="25908" y="30480"/>
                  </a:lnTo>
                  <a:lnTo>
                    <a:pt x="28956" y="27432"/>
                  </a:lnTo>
                  <a:lnTo>
                    <a:pt x="30480" y="22860"/>
                  </a:lnTo>
                  <a:lnTo>
                    <a:pt x="30480" y="16764"/>
                  </a:lnTo>
                  <a:lnTo>
                    <a:pt x="30480" y="10668"/>
                  </a:lnTo>
                  <a:lnTo>
                    <a:pt x="28956" y="6096"/>
                  </a:lnTo>
                  <a:lnTo>
                    <a:pt x="25908" y="3048"/>
                  </a:lnTo>
                  <a:close/>
                </a:path>
              </a:pathLst>
            </a:custGeom>
            <a:ln w="10668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4141"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22706" y="1700075"/>
            <a:ext cx="2345645" cy="73279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713442" y="1473272"/>
            <a:ext cx="3199404" cy="923211"/>
          </a:xfrm>
          <a:prstGeom prst="rect">
            <a:avLst/>
          </a:prstGeom>
        </p:spPr>
        <p:txBody>
          <a:bodyPr vert="horz" wrap="square" lIns="0" tIns="30679" rIns="0" bIns="0" rtlCol="0" anchor="ctr">
            <a:spAutoFit/>
          </a:bodyPr>
          <a:lstStyle/>
          <a:p>
            <a:pPr marL="29221">
              <a:spcBef>
                <a:spcPts val="242"/>
              </a:spcBef>
            </a:pPr>
            <a:r>
              <a:rPr sz="6442" spc="-104" dirty="0">
                <a:solidFill>
                  <a:srgbClr val="BF0000"/>
                </a:solidFill>
              </a:rPr>
              <a:t>3</a:t>
            </a:r>
            <a:r>
              <a:rPr sz="6442" spc="-46" dirty="0">
                <a:solidFill>
                  <a:srgbClr val="BF0000"/>
                </a:solidFill>
              </a:rPr>
              <a:t>.</a:t>
            </a:r>
            <a:r>
              <a:rPr sz="6442" spc="-196" dirty="0">
                <a:solidFill>
                  <a:srgbClr val="BF0000"/>
                </a:solidFill>
              </a:rPr>
              <a:t> S</a:t>
            </a:r>
            <a:r>
              <a:rPr sz="6442" spc="-242" dirty="0">
                <a:solidFill>
                  <a:srgbClr val="BF0000"/>
                </a:solidFill>
              </a:rPr>
              <a:t>t</a:t>
            </a:r>
            <a:r>
              <a:rPr sz="6442" spc="-219" dirty="0">
                <a:solidFill>
                  <a:srgbClr val="BF0000"/>
                </a:solidFill>
              </a:rPr>
              <a:t>af</a:t>
            </a:r>
            <a:r>
              <a:rPr sz="6442" spc="-184" dirty="0">
                <a:solidFill>
                  <a:srgbClr val="BF0000"/>
                </a:solidFill>
              </a:rPr>
              <a:t>f</a:t>
            </a:r>
            <a:r>
              <a:rPr sz="6442" spc="-161" dirty="0">
                <a:solidFill>
                  <a:srgbClr val="BF0000"/>
                </a:solidFill>
              </a:rPr>
              <a:t>i</a:t>
            </a:r>
            <a:r>
              <a:rPr sz="6442" spc="-196" dirty="0">
                <a:solidFill>
                  <a:srgbClr val="BF0000"/>
                </a:solidFill>
              </a:rPr>
              <a:t>n</a:t>
            </a:r>
            <a:r>
              <a:rPr sz="6442" spc="-12" dirty="0">
                <a:solidFill>
                  <a:srgbClr val="BF0000"/>
                </a:solidFill>
              </a:rPr>
              <a:t>g</a:t>
            </a:r>
            <a:endParaRPr sz="6442"/>
          </a:p>
        </p:txBody>
      </p:sp>
      <p:sp>
        <p:nvSpPr>
          <p:cNvPr id="8" name="object 8"/>
          <p:cNvSpPr/>
          <p:nvPr/>
        </p:nvSpPr>
        <p:spPr>
          <a:xfrm>
            <a:off x="2215916" y="4797789"/>
            <a:ext cx="154857" cy="157779"/>
          </a:xfrm>
          <a:custGeom>
            <a:avLst/>
            <a:gdLst/>
            <a:ahLst/>
            <a:cxnLst/>
            <a:rect l="l" t="t" r="r" b="b"/>
            <a:pathLst>
              <a:path w="67309" h="68579">
                <a:moveTo>
                  <a:pt x="67056" y="68580"/>
                </a:moveTo>
                <a:lnTo>
                  <a:pt x="0" y="68580"/>
                </a:lnTo>
                <a:lnTo>
                  <a:pt x="0" y="0"/>
                </a:lnTo>
                <a:lnTo>
                  <a:pt x="67056" y="0"/>
                </a:lnTo>
                <a:lnTo>
                  <a:pt x="67056" y="68580"/>
                </a:lnTo>
                <a:close/>
              </a:path>
            </a:pathLst>
          </a:custGeom>
          <a:solidFill>
            <a:srgbClr val="E48311"/>
          </a:solidFill>
        </p:spPr>
        <p:txBody>
          <a:bodyPr wrap="square" lIns="0" tIns="0" rIns="0" bIns="0" rtlCol="0"/>
          <a:lstStyle/>
          <a:p>
            <a:endParaRPr sz="4141"/>
          </a:p>
        </p:txBody>
      </p:sp>
      <p:sp>
        <p:nvSpPr>
          <p:cNvPr id="9" name="object 9"/>
          <p:cNvSpPr/>
          <p:nvPr/>
        </p:nvSpPr>
        <p:spPr>
          <a:xfrm>
            <a:off x="2215916" y="5509549"/>
            <a:ext cx="154857" cy="157779"/>
          </a:xfrm>
          <a:custGeom>
            <a:avLst/>
            <a:gdLst/>
            <a:ahLst/>
            <a:cxnLst/>
            <a:rect l="l" t="t" r="r" b="b"/>
            <a:pathLst>
              <a:path w="67309" h="68579">
                <a:moveTo>
                  <a:pt x="67056" y="68580"/>
                </a:moveTo>
                <a:lnTo>
                  <a:pt x="0" y="68580"/>
                </a:lnTo>
                <a:lnTo>
                  <a:pt x="0" y="0"/>
                </a:lnTo>
                <a:lnTo>
                  <a:pt x="67056" y="0"/>
                </a:lnTo>
                <a:lnTo>
                  <a:pt x="67056" y="68580"/>
                </a:lnTo>
                <a:close/>
              </a:path>
            </a:pathLst>
          </a:custGeom>
          <a:solidFill>
            <a:srgbClr val="E48311"/>
          </a:solidFill>
        </p:spPr>
        <p:txBody>
          <a:bodyPr wrap="square" lIns="0" tIns="0" rIns="0" bIns="0" rtlCol="0"/>
          <a:lstStyle/>
          <a:p>
            <a:endParaRPr sz="4141"/>
          </a:p>
        </p:txBody>
      </p:sp>
      <p:sp>
        <p:nvSpPr>
          <p:cNvPr id="10" name="object 10"/>
          <p:cNvSpPr/>
          <p:nvPr/>
        </p:nvSpPr>
        <p:spPr>
          <a:xfrm>
            <a:off x="2215916" y="6221307"/>
            <a:ext cx="154857" cy="157779"/>
          </a:xfrm>
          <a:custGeom>
            <a:avLst/>
            <a:gdLst/>
            <a:ahLst/>
            <a:cxnLst/>
            <a:rect l="l" t="t" r="r" b="b"/>
            <a:pathLst>
              <a:path w="67309" h="68579">
                <a:moveTo>
                  <a:pt x="67056" y="68579"/>
                </a:moveTo>
                <a:lnTo>
                  <a:pt x="0" y="68579"/>
                </a:lnTo>
                <a:lnTo>
                  <a:pt x="0" y="0"/>
                </a:lnTo>
                <a:lnTo>
                  <a:pt x="67056" y="0"/>
                </a:lnTo>
                <a:lnTo>
                  <a:pt x="67056" y="68579"/>
                </a:lnTo>
                <a:close/>
              </a:path>
            </a:pathLst>
          </a:custGeom>
          <a:solidFill>
            <a:srgbClr val="E48311"/>
          </a:solidFill>
        </p:spPr>
        <p:txBody>
          <a:bodyPr wrap="square" lIns="0" tIns="0" rIns="0" bIns="0" rtlCol="0"/>
          <a:lstStyle/>
          <a:p>
            <a:endParaRPr sz="4141"/>
          </a:p>
        </p:txBody>
      </p:sp>
      <p:sp>
        <p:nvSpPr>
          <p:cNvPr id="11" name="object 11"/>
          <p:cNvSpPr/>
          <p:nvPr/>
        </p:nvSpPr>
        <p:spPr>
          <a:xfrm>
            <a:off x="2215916" y="6936568"/>
            <a:ext cx="154857" cy="157779"/>
          </a:xfrm>
          <a:custGeom>
            <a:avLst/>
            <a:gdLst/>
            <a:ahLst/>
            <a:cxnLst/>
            <a:rect l="l" t="t" r="r" b="b"/>
            <a:pathLst>
              <a:path w="67309" h="68579">
                <a:moveTo>
                  <a:pt x="67056" y="68580"/>
                </a:moveTo>
                <a:lnTo>
                  <a:pt x="0" y="68580"/>
                </a:lnTo>
                <a:lnTo>
                  <a:pt x="0" y="0"/>
                </a:lnTo>
                <a:lnTo>
                  <a:pt x="67056" y="0"/>
                </a:lnTo>
                <a:lnTo>
                  <a:pt x="67056" y="68580"/>
                </a:lnTo>
                <a:close/>
              </a:path>
            </a:pathLst>
          </a:custGeom>
          <a:solidFill>
            <a:srgbClr val="E48311"/>
          </a:solidFill>
        </p:spPr>
        <p:txBody>
          <a:bodyPr wrap="square" lIns="0" tIns="0" rIns="0" bIns="0" rtlCol="0"/>
          <a:lstStyle/>
          <a:p>
            <a:endParaRPr sz="4141"/>
          </a:p>
        </p:txBody>
      </p:sp>
      <p:sp>
        <p:nvSpPr>
          <p:cNvPr id="12" name="object 12"/>
          <p:cNvSpPr/>
          <p:nvPr/>
        </p:nvSpPr>
        <p:spPr>
          <a:xfrm>
            <a:off x="2215916" y="7648328"/>
            <a:ext cx="154857" cy="157779"/>
          </a:xfrm>
          <a:custGeom>
            <a:avLst/>
            <a:gdLst/>
            <a:ahLst/>
            <a:cxnLst/>
            <a:rect l="l" t="t" r="r" b="b"/>
            <a:pathLst>
              <a:path w="67309" h="68579">
                <a:moveTo>
                  <a:pt x="67056" y="68579"/>
                </a:moveTo>
                <a:lnTo>
                  <a:pt x="0" y="68579"/>
                </a:lnTo>
                <a:lnTo>
                  <a:pt x="0" y="0"/>
                </a:lnTo>
                <a:lnTo>
                  <a:pt x="67056" y="0"/>
                </a:lnTo>
                <a:lnTo>
                  <a:pt x="67056" y="68579"/>
                </a:lnTo>
                <a:close/>
              </a:path>
            </a:pathLst>
          </a:custGeom>
          <a:solidFill>
            <a:srgbClr val="E48311"/>
          </a:solidFill>
        </p:spPr>
        <p:txBody>
          <a:bodyPr wrap="square" lIns="0" tIns="0" rIns="0" bIns="0" rtlCol="0"/>
          <a:lstStyle/>
          <a:p>
            <a:endParaRPr sz="4141"/>
          </a:p>
        </p:txBody>
      </p:sp>
      <p:sp>
        <p:nvSpPr>
          <p:cNvPr id="13" name="object 13"/>
          <p:cNvSpPr txBox="1"/>
          <p:nvPr/>
        </p:nvSpPr>
        <p:spPr>
          <a:xfrm>
            <a:off x="1713299" y="3236468"/>
            <a:ext cx="15266562" cy="4812179"/>
          </a:xfrm>
          <a:prstGeom prst="rect">
            <a:avLst/>
          </a:prstGeom>
        </p:spPr>
        <p:txBody>
          <a:bodyPr vert="horz" wrap="square" lIns="0" tIns="100803" rIns="0" bIns="0" rtlCol="0">
            <a:spAutoFit/>
          </a:bodyPr>
          <a:lstStyle/>
          <a:p>
            <a:pPr marL="29221" marR="11690">
              <a:lnSpc>
                <a:spcPts val="4440"/>
              </a:lnSpc>
              <a:spcBef>
                <a:spcPts val="794"/>
              </a:spcBef>
            </a:pP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Manpower</a:t>
            </a:r>
            <a:r>
              <a:rPr sz="4026" spc="173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planning:</a:t>
            </a:r>
            <a:r>
              <a:rPr sz="4026" spc="173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determination</a:t>
            </a:r>
            <a:r>
              <a:rPr sz="4026" spc="19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of</a:t>
            </a:r>
            <a:r>
              <a:rPr sz="4026" spc="15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no.</a:t>
            </a:r>
            <a:r>
              <a:rPr sz="4026" spc="15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of</a:t>
            </a:r>
            <a:r>
              <a:rPr sz="4026" spc="161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and</a:t>
            </a:r>
            <a:r>
              <a:rPr sz="4026" spc="138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the</a:t>
            </a:r>
            <a:r>
              <a:rPr sz="4026" spc="173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kind</a:t>
            </a:r>
            <a:r>
              <a:rPr sz="4026" spc="15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of</a:t>
            </a:r>
            <a:r>
              <a:rPr sz="4026" spc="184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personnel </a:t>
            </a:r>
            <a:r>
              <a:rPr sz="4026" spc="-874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required.</a:t>
            </a:r>
            <a:endParaRPr sz="4026">
              <a:latin typeface="Calibri"/>
              <a:cs typeface="Calibri"/>
            </a:endParaRPr>
          </a:p>
          <a:p>
            <a:pPr marL="726119" marR="5586884">
              <a:lnSpc>
                <a:spcPts val="5614"/>
              </a:lnSpc>
              <a:spcBef>
                <a:spcPts val="253"/>
              </a:spcBef>
            </a:pP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Recruitments</a:t>
            </a:r>
            <a:r>
              <a:rPr sz="4026" spc="58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of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suitable</a:t>
            </a:r>
            <a:r>
              <a:rPr sz="4026" spc="-12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no.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 of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employees </a:t>
            </a:r>
            <a:r>
              <a:rPr sz="4026" spc="-874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Selection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of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most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suitable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employees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Placement,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induction</a:t>
            </a:r>
            <a:r>
              <a:rPr sz="4026" spc="81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and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orientation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-69" dirty="0">
                <a:solidFill>
                  <a:srgbClr val="3D3D3D"/>
                </a:solidFill>
                <a:latin typeface="Calibri"/>
                <a:cs typeface="Calibri"/>
              </a:rPr>
              <a:t>Transfer,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 promotions</a:t>
            </a:r>
            <a:r>
              <a:rPr sz="4026" spc="58" dirty="0">
                <a:solidFill>
                  <a:srgbClr val="3D3D3D"/>
                </a:solidFill>
                <a:latin typeface="Calibri"/>
                <a:cs typeface="Calibri"/>
              </a:rPr>
              <a:t> &amp;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terminations</a:t>
            </a:r>
            <a:endParaRPr sz="4026">
              <a:latin typeface="Calibri"/>
              <a:cs typeface="Calibri"/>
            </a:endParaRPr>
          </a:p>
          <a:p>
            <a:pPr marL="726119">
              <a:spcBef>
                <a:spcPts val="449"/>
              </a:spcBef>
            </a:pPr>
            <a:r>
              <a:rPr sz="4026" spc="-12" dirty="0">
                <a:solidFill>
                  <a:srgbClr val="3D3D3D"/>
                </a:solidFill>
                <a:latin typeface="Calibri"/>
                <a:cs typeface="Calibri"/>
              </a:rPr>
              <a:t>Trainings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and</a:t>
            </a:r>
            <a:r>
              <a:rPr sz="4026" spc="-4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developments</a:t>
            </a:r>
            <a:endParaRPr sz="4026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913539" y="9501937"/>
            <a:ext cx="430970" cy="436666"/>
          </a:xfrm>
          <a:prstGeom prst="rect">
            <a:avLst/>
          </a:prstGeom>
        </p:spPr>
        <p:txBody>
          <a:bodyPr vert="horz" wrap="square" lIns="0" tIns="29218" rIns="0" bIns="0" rtlCol="0">
            <a:spAutoFit/>
          </a:bodyPr>
          <a:lstStyle/>
          <a:p>
            <a:pPr marL="29221">
              <a:spcBef>
                <a:spcPts val="230"/>
              </a:spcBef>
            </a:pPr>
            <a:r>
              <a:rPr sz="2646" spc="-23" dirty="0">
                <a:latin typeface="Arial MT"/>
                <a:cs typeface="Arial MT"/>
              </a:rPr>
              <a:t>1</a:t>
            </a:r>
            <a:r>
              <a:rPr sz="2646" dirty="0">
                <a:latin typeface="Arial MT"/>
                <a:cs typeface="Arial MT"/>
              </a:rPr>
              <a:t>5</a:t>
            </a:r>
            <a:endParaRPr sz="2646">
              <a:latin typeface="Arial MT"/>
              <a:cs typeface="Arial MT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83D84BC-11B5-FD2D-2098-BAF319C97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49589" y="2546813"/>
            <a:ext cx="14617916" cy="0"/>
          </a:xfrm>
          <a:custGeom>
            <a:avLst/>
            <a:gdLst/>
            <a:ahLst/>
            <a:cxnLst/>
            <a:rect l="l" t="t" r="r" b="b"/>
            <a:pathLst>
              <a:path w="6353809">
                <a:moveTo>
                  <a:pt x="0" y="0"/>
                </a:moveTo>
                <a:lnTo>
                  <a:pt x="6353556" y="0"/>
                </a:lnTo>
              </a:path>
            </a:pathLst>
          </a:custGeom>
          <a:ln w="4572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 sz="4141"/>
          </a:p>
        </p:txBody>
      </p:sp>
      <p:grpSp>
        <p:nvGrpSpPr>
          <p:cNvPr id="3" name="object 3"/>
          <p:cNvGrpSpPr/>
          <p:nvPr/>
        </p:nvGrpSpPr>
        <p:grpSpPr>
          <a:xfrm>
            <a:off x="1751345" y="1738643"/>
            <a:ext cx="543460" cy="550765"/>
            <a:chOff x="761238" y="3598926"/>
            <a:chExt cx="236220" cy="2393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1238" y="3598926"/>
              <a:ext cx="170687" cy="23926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61643" y="3799332"/>
              <a:ext cx="30480" cy="33655"/>
            </a:xfrm>
            <a:custGeom>
              <a:avLst/>
              <a:gdLst/>
              <a:ahLst/>
              <a:cxnLst/>
              <a:rect l="l" t="t" r="r" b="b"/>
              <a:pathLst>
                <a:path w="30480" h="33654">
                  <a:moveTo>
                    <a:pt x="25908" y="3048"/>
                  </a:moveTo>
                  <a:lnTo>
                    <a:pt x="24384" y="1524"/>
                  </a:lnTo>
                  <a:lnTo>
                    <a:pt x="19812" y="0"/>
                  </a:lnTo>
                  <a:lnTo>
                    <a:pt x="15240" y="0"/>
                  </a:lnTo>
                  <a:lnTo>
                    <a:pt x="9144" y="0"/>
                  </a:lnTo>
                  <a:lnTo>
                    <a:pt x="4572" y="1524"/>
                  </a:lnTo>
                  <a:lnTo>
                    <a:pt x="3048" y="3048"/>
                  </a:lnTo>
                  <a:lnTo>
                    <a:pt x="0" y="6096"/>
                  </a:lnTo>
                  <a:lnTo>
                    <a:pt x="0" y="10668"/>
                  </a:lnTo>
                  <a:lnTo>
                    <a:pt x="0" y="16764"/>
                  </a:lnTo>
                  <a:lnTo>
                    <a:pt x="0" y="24384"/>
                  </a:lnTo>
                  <a:lnTo>
                    <a:pt x="0" y="28956"/>
                  </a:lnTo>
                  <a:lnTo>
                    <a:pt x="3048" y="30480"/>
                  </a:lnTo>
                  <a:lnTo>
                    <a:pt x="4572" y="32004"/>
                  </a:lnTo>
                  <a:lnTo>
                    <a:pt x="9144" y="33528"/>
                  </a:lnTo>
                  <a:lnTo>
                    <a:pt x="13716" y="33528"/>
                  </a:lnTo>
                  <a:lnTo>
                    <a:pt x="19812" y="33528"/>
                  </a:lnTo>
                  <a:lnTo>
                    <a:pt x="24384" y="32004"/>
                  </a:lnTo>
                  <a:lnTo>
                    <a:pt x="25908" y="30480"/>
                  </a:lnTo>
                  <a:lnTo>
                    <a:pt x="28956" y="27432"/>
                  </a:lnTo>
                  <a:lnTo>
                    <a:pt x="30480" y="22860"/>
                  </a:lnTo>
                  <a:lnTo>
                    <a:pt x="30480" y="16764"/>
                  </a:lnTo>
                  <a:lnTo>
                    <a:pt x="30480" y="10668"/>
                  </a:lnTo>
                  <a:lnTo>
                    <a:pt x="28956" y="6096"/>
                  </a:lnTo>
                  <a:lnTo>
                    <a:pt x="25908" y="3048"/>
                  </a:lnTo>
                  <a:close/>
                </a:path>
              </a:pathLst>
            </a:custGeom>
            <a:ln w="10668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4141"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8288" y="1731620"/>
            <a:ext cx="2766389" cy="70123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713447" y="1473272"/>
            <a:ext cx="3665436" cy="923211"/>
          </a:xfrm>
          <a:prstGeom prst="rect">
            <a:avLst/>
          </a:prstGeom>
        </p:spPr>
        <p:txBody>
          <a:bodyPr vert="horz" wrap="square" lIns="0" tIns="30679" rIns="0" bIns="0" rtlCol="0" anchor="ctr">
            <a:spAutoFit/>
          </a:bodyPr>
          <a:lstStyle/>
          <a:p>
            <a:pPr marL="29221">
              <a:spcBef>
                <a:spcPts val="242"/>
              </a:spcBef>
            </a:pPr>
            <a:r>
              <a:rPr sz="6442" spc="-104" dirty="0">
                <a:solidFill>
                  <a:srgbClr val="BF0000"/>
                </a:solidFill>
              </a:rPr>
              <a:t>4</a:t>
            </a:r>
            <a:r>
              <a:rPr sz="6442" spc="-46" dirty="0">
                <a:solidFill>
                  <a:srgbClr val="BF0000"/>
                </a:solidFill>
              </a:rPr>
              <a:t>.</a:t>
            </a:r>
            <a:r>
              <a:rPr sz="6442" spc="-196" dirty="0">
                <a:solidFill>
                  <a:srgbClr val="BF0000"/>
                </a:solidFill>
              </a:rPr>
              <a:t> D</a:t>
            </a:r>
            <a:r>
              <a:rPr sz="6442" spc="-161" dirty="0">
                <a:solidFill>
                  <a:srgbClr val="BF0000"/>
                </a:solidFill>
              </a:rPr>
              <a:t>i</a:t>
            </a:r>
            <a:r>
              <a:rPr sz="6442" spc="-207" dirty="0">
                <a:solidFill>
                  <a:srgbClr val="BF0000"/>
                </a:solidFill>
              </a:rPr>
              <a:t>r</a:t>
            </a:r>
            <a:r>
              <a:rPr sz="6442" spc="-161" dirty="0">
                <a:solidFill>
                  <a:srgbClr val="BF0000"/>
                </a:solidFill>
              </a:rPr>
              <a:t>e</a:t>
            </a:r>
            <a:r>
              <a:rPr sz="6442" spc="-104" dirty="0">
                <a:solidFill>
                  <a:srgbClr val="BF0000"/>
                </a:solidFill>
              </a:rPr>
              <a:t>c</a:t>
            </a:r>
            <a:r>
              <a:rPr sz="6442" spc="-184" dirty="0">
                <a:solidFill>
                  <a:srgbClr val="BF0000"/>
                </a:solidFill>
              </a:rPr>
              <a:t>t</a:t>
            </a:r>
            <a:r>
              <a:rPr sz="6442" spc="-161" dirty="0">
                <a:solidFill>
                  <a:srgbClr val="BF0000"/>
                </a:solidFill>
              </a:rPr>
              <a:t>i</a:t>
            </a:r>
            <a:r>
              <a:rPr sz="6442" spc="-196" dirty="0">
                <a:solidFill>
                  <a:srgbClr val="BF0000"/>
                </a:solidFill>
              </a:rPr>
              <a:t>n</a:t>
            </a:r>
            <a:r>
              <a:rPr sz="6442" spc="-12" dirty="0">
                <a:solidFill>
                  <a:srgbClr val="BF0000"/>
                </a:solidFill>
              </a:rPr>
              <a:t>g</a:t>
            </a:r>
            <a:endParaRPr sz="6442"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58431" y="3963327"/>
            <a:ext cx="161285" cy="16128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58431" y="5537604"/>
            <a:ext cx="161285" cy="16128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58431" y="7111891"/>
            <a:ext cx="161285" cy="16128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713307" y="2647461"/>
            <a:ext cx="14195711" cy="5404247"/>
          </a:xfrm>
          <a:prstGeom prst="rect">
            <a:avLst/>
          </a:prstGeom>
        </p:spPr>
        <p:txBody>
          <a:bodyPr vert="horz" wrap="square" lIns="0" tIns="39445" rIns="0" bIns="0" rtlCol="0">
            <a:spAutoFit/>
          </a:bodyPr>
          <a:lstStyle/>
          <a:p>
            <a:pPr marL="29221">
              <a:spcBef>
                <a:spcPts val="311"/>
              </a:spcBef>
            </a:pP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Directing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involves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communication,</a:t>
            </a:r>
            <a:r>
              <a:rPr sz="4026" spc="92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leadership</a:t>
            </a:r>
            <a:r>
              <a:rPr sz="4026" spc="69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and</a:t>
            </a:r>
            <a:r>
              <a:rPr sz="4026" spc="69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motivation.</a:t>
            </a:r>
            <a:endParaRPr sz="4026">
              <a:latin typeface="Calibri"/>
              <a:cs typeface="Calibri"/>
            </a:endParaRPr>
          </a:p>
          <a:p>
            <a:pPr marL="29221" marR="1063611" indent="128568">
              <a:lnSpc>
                <a:spcPts val="4440"/>
              </a:lnSpc>
              <a:spcBef>
                <a:spcPts val="3601"/>
              </a:spcBef>
            </a:pP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Communication is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the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process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of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passing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the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information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and </a:t>
            </a:r>
            <a:r>
              <a:rPr sz="4026" spc="-88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understanding</a:t>
            </a:r>
            <a:r>
              <a:rPr sz="4026" spc="58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it</a:t>
            </a:r>
            <a:r>
              <a:rPr sz="4026" spc="-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from</a:t>
            </a:r>
            <a:r>
              <a:rPr sz="4026" spc="-12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one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person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to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other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person.</a:t>
            </a:r>
            <a:endParaRPr sz="4026">
              <a:latin typeface="Calibri"/>
              <a:cs typeface="Calibri"/>
            </a:endParaRPr>
          </a:p>
          <a:p>
            <a:pPr marL="29221" marR="11690" indent="128568">
              <a:lnSpc>
                <a:spcPts val="4440"/>
              </a:lnSpc>
              <a:spcBef>
                <a:spcPts val="3509"/>
              </a:spcBef>
            </a:pP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Leadership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is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the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function whereby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 the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person </a:t>
            </a:r>
            <a:r>
              <a:rPr sz="4026" spc="58" dirty="0">
                <a:solidFill>
                  <a:srgbClr val="3D3D3D"/>
                </a:solidFill>
                <a:latin typeface="Calibri"/>
                <a:cs typeface="Calibri"/>
              </a:rPr>
              <a:t>or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manager guides </a:t>
            </a:r>
            <a:r>
              <a:rPr sz="4026" spc="-88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and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influences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the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work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 of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his</a:t>
            </a:r>
            <a:r>
              <a:rPr sz="4026" spc="-23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subordinates.</a:t>
            </a:r>
            <a:endParaRPr sz="4026">
              <a:latin typeface="Calibri"/>
              <a:cs typeface="Calibri"/>
            </a:endParaRPr>
          </a:p>
          <a:p>
            <a:pPr marL="29221" marR="577098" indent="128568">
              <a:lnSpc>
                <a:spcPts val="4440"/>
              </a:lnSpc>
              <a:spcBef>
                <a:spcPts val="3520"/>
              </a:spcBef>
            </a:pP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Motivation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 is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to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motivate</a:t>
            </a:r>
            <a:r>
              <a:rPr sz="4026" spc="58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the</a:t>
            </a:r>
            <a:r>
              <a:rPr sz="4026" spc="58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employee</a:t>
            </a:r>
            <a:r>
              <a:rPr sz="4026" spc="58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to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give their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best</a:t>
            </a:r>
            <a:r>
              <a:rPr sz="4026" spc="58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to</a:t>
            </a:r>
            <a:r>
              <a:rPr sz="4026" spc="58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the </a:t>
            </a:r>
            <a:r>
              <a:rPr sz="4026" spc="-874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organization.</a:t>
            </a:r>
            <a:endParaRPr sz="4026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913539" y="9501937"/>
            <a:ext cx="430970" cy="436666"/>
          </a:xfrm>
          <a:prstGeom prst="rect">
            <a:avLst/>
          </a:prstGeom>
        </p:spPr>
        <p:txBody>
          <a:bodyPr vert="horz" wrap="square" lIns="0" tIns="29218" rIns="0" bIns="0" rtlCol="0">
            <a:spAutoFit/>
          </a:bodyPr>
          <a:lstStyle/>
          <a:p>
            <a:pPr marL="29221">
              <a:spcBef>
                <a:spcPts val="230"/>
              </a:spcBef>
            </a:pPr>
            <a:r>
              <a:rPr sz="2646" spc="-23" dirty="0">
                <a:latin typeface="Arial MT"/>
                <a:cs typeface="Arial MT"/>
              </a:rPr>
              <a:t>1</a:t>
            </a:r>
            <a:r>
              <a:rPr sz="2646" dirty="0">
                <a:latin typeface="Arial MT"/>
                <a:cs typeface="Arial MT"/>
              </a:rPr>
              <a:t>6</a:t>
            </a:r>
            <a:endParaRPr sz="2646">
              <a:latin typeface="Arial MT"/>
              <a:cs typeface="Arial MT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DB20145-1E7E-E730-7A86-4D3F0F149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49589" y="2546813"/>
            <a:ext cx="14617916" cy="0"/>
          </a:xfrm>
          <a:custGeom>
            <a:avLst/>
            <a:gdLst/>
            <a:ahLst/>
            <a:cxnLst/>
            <a:rect l="l" t="t" r="r" b="b"/>
            <a:pathLst>
              <a:path w="6353809">
                <a:moveTo>
                  <a:pt x="0" y="0"/>
                </a:moveTo>
                <a:lnTo>
                  <a:pt x="6353556" y="0"/>
                </a:lnTo>
              </a:path>
            </a:pathLst>
          </a:custGeom>
          <a:ln w="4572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 sz="4141"/>
          </a:p>
        </p:txBody>
      </p:sp>
      <p:grpSp>
        <p:nvGrpSpPr>
          <p:cNvPr id="3" name="object 3"/>
          <p:cNvGrpSpPr/>
          <p:nvPr/>
        </p:nvGrpSpPr>
        <p:grpSpPr>
          <a:xfrm>
            <a:off x="1772388" y="1742149"/>
            <a:ext cx="523005" cy="550765"/>
            <a:chOff x="770381" y="3600450"/>
            <a:chExt cx="227329" cy="2393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0381" y="3600450"/>
              <a:ext cx="149352" cy="23926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61643" y="3799332"/>
              <a:ext cx="30480" cy="33655"/>
            </a:xfrm>
            <a:custGeom>
              <a:avLst/>
              <a:gdLst/>
              <a:ahLst/>
              <a:cxnLst/>
              <a:rect l="l" t="t" r="r" b="b"/>
              <a:pathLst>
                <a:path w="30480" h="33654">
                  <a:moveTo>
                    <a:pt x="25908" y="3048"/>
                  </a:moveTo>
                  <a:lnTo>
                    <a:pt x="24384" y="1524"/>
                  </a:lnTo>
                  <a:lnTo>
                    <a:pt x="19812" y="0"/>
                  </a:lnTo>
                  <a:lnTo>
                    <a:pt x="15240" y="0"/>
                  </a:lnTo>
                  <a:lnTo>
                    <a:pt x="9144" y="0"/>
                  </a:lnTo>
                  <a:lnTo>
                    <a:pt x="4572" y="1524"/>
                  </a:lnTo>
                  <a:lnTo>
                    <a:pt x="3048" y="3048"/>
                  </a:lnTo>
                  <a:lnTo>
                    <a:pt x="0" y="6096"/>
                  </a:lnTo>
                  <a:lnTo>
                    <a:pt x="0" y="10668"/>
                  </a:lnTo>
                  <a:lnTo>
                    <a:pt x="0" y="16764"/>
                  </a:lnTo>
                  <a:lnTo>
                    <a:pt x="0" y="24384"/>
                  </a:lnTo>
                  <a:lnTo>
                    <a:pt x="0" y="28956"/>
                  </a:lnTo>
                  <a:lnTo>
                    <a:pt x="3048" y="30480"/>
                  </a:lnTo>
                  <a:lnTo>
                    <a:pt x="4572" y="32004"/>
                  </a:lnTo>
                  <a:lnTo>
                    <a:pt x="9144" y="33528"/>
                  </a:lnTo>
                  <a:lnTo>
                    <a:pt x="13716" y="33528"/>
                  </a:lnTo>
                  <a:lnTo>
                    <a:pt x="19812" y="33528"/>
                  </a:lnTo>
                  <a:lnTo>
                    <a:pt x="24384" y="32004"/>
                  </a:lnTo>
                  <a:lnTo>
                    <a:pt x="25908" y="30480"/>
                  </a:lnTo>
                  <a:lnTo>
                    <a:pt x="28956" y="27432"/>
                  </a:lnTo>
                  <a:lnTo>
                    <a:pt x="30480" y="22860"/>
                  </a:lnTo>
                  <a:lnTo>
                    <a:pt x="30480" y="16764"/>
                  </a:lnTo>
                  <a:lnTo>
                    <a:pt x="30480" y="10668"/>
                  </a:lnTo>
                  <a:lnTo>
                    <a:pt x="28956" y="6096"/>
                  </a:lnTo>
                  <a:lnTo>
                    <a:pt x="25908" y="3048"/>
                  </a:lnTo>
                  <a:close/>
                </a:path>
              </a:pathLst>
            </a:custGeom>
            <a:ln w="10668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4141"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3235" y="1703579"/>
            <a:ext cx="4021605" cy="729286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713450" y="1473272"/>
            <a:ext cx="4886761" cy="923211"/>
          </a:xfrm>
          <a:prstGeom prst="rect">
            <a:avLst/>
          </a:prstGeom>
        </p:spPr>
        <p:txBody>
          <a:bodyPr vert="horz" wrap="square" lIns="0" tIns="30679" rIns="0" bIns="0" rtlCol="0" anchor="ctr">
            <a:spAutoFit/>
          </a:bodyPr>
          <a:lstStyle/>
          <a:p>
            <a:pPr marL="29221">
              <a:spcBef>
                <a:spcPts val="242"/>
              </a:spcBef>
            </a:pPr>
            <a:r>
              <a:rPr sz="6442" spc="-104" dirty="0">
                <a:solidFill>
                  <a:srgbClr val="BF0000"/>
                </a:solidFill>
              </a:rPr>
              <a:t>5</a:t>
            </a:r>
            <a:r>
              <a:rPr sz="6442" spc="-46" dirty="0">
                <a:solidFill>
                  <a:srgbClr val="BF0000"/>
                </a:solidFill>
              </a:rPr>
              <a:t>.</a:t>
            </a:r>
            <a:r>
              <a:rPr sz="6442" spc="-196" dirty="0">
                <a:solidFill>
                  <a:srgbClr val="BF0000"/>
                </a:solidFill>
              </a:rPr>
              <a:t> </a:t>
            </a:r>
            <a:r>
              <a:rPr sz="6442" spc="-138" dirty="0">
                <a:solidFill>
                  <a:srgbClr val="BF0000"/>
                </a:solidFill>
              </a:rPr>
              <a:t>C</a:t>
            </a:r>
            <a:r>
              <a:rPr sz="6442" spc="-150" dirty="0">
                <a:solidFill>
                  <a:srgbClr val="BF0000"/>
                </a:solidFill>
              </a:rPr>
              <a:t>o</a:t>
            </a:r>
            <a:r>
              <a:rPr sz="6442" spc="-184" dirty="0">
                <a:solidFill>
                  <a:srgbClr val="BF0000"/>
                </a:solidFill>
              </a:rPr>
              <a:t>o</a:t>
            </a:r>
            <a:r>
              <a:rPr sz="6442" spc="-242" dirty="0">
                <a:solidFill>
                  <a:srgbClr val="BF0000"/>
                </a:solidFill>
              </a:rPr>
              <a:t>r</a:t>
            </a:r>
            <a:r>
              <a:rPr sz="6442" spc="-196" dirty="0">
                <a:solidFill>
                  <a:srgbClr val="BF0000"/>
                </a:solidFill>
              </a:rPr>
              <a:t>d</a:t>
            </a:r>
            <a:r>
              <a:rPr sz="6442" spc="-161" dirty="0">
                <a:solidFill>
                  <a:srgbClr val="BF0000"/>
                </a:solidFill>
              </a:rPr>
              <a:t>i</a:t>
            </a:r>
            <a:r>
              <a:rPr sz="6442" spc="-196" dirty="0">
                <a:solidFill>
                  <a:srgbClr val="BF0000"/>
                </a:solidFill>
              </a:rPr>
              <a:t>n</a:t>
            </a:r>
            <a:r>
              <a:rPr sz="6442" spc="-242" dirty="0">
                <a:solidFill>
                  <a:srgbClr val="BF0000"/>
                </a:solidFill>
              </a:rPr>
              <a:t>a</a:t>
            </a:r>
            <a:r>
              <a:rPr sz="6442" spc="-161" dirty="0">
                <a:solidFill>
                  <a:srgbClr val="BF0000"/>
                </a:solidFill>
              </a:rPr>
              <a:t>tin</a:t>
            </a:r>
            <a:r>
              <a:rPr sz="6442" spc="-12" dirty="0">
                <a:solidFill>
                  <a:srgbClr val="BF0000"/>
                </a:solidFill>
              </a:rPr>
              <a:t>g</a:t>
            </a:r>
            <a:endParaRPr sz="6442"/>
          </a:p>
        </p:txBody>
      </p:sp>
      <p:sp>
        <p:nvSpPr>
          <p:cNvPr id="8" name="object 8"/>
          <p:cNvSpPr/>
          <p:nvPr/>
        </p:nvSpPr>
        <p:spPr>
          <a:xfrm>
            <a:off x="2215916" y="4054475"/>
            <a:ext cx="154857" cy="157779"/>
          </a:xfrm>
          <a:custGeom>
            <a:avLst/>
            <a:gdLst/>
            <a:ahLst/>
            <a:cxnLst/>
            <a:rect l="l" t="t" r="r" b="b"/>
            <a:pathLst>
              <a:path w="67309" h="68579">
                <a:moveTo>
                  <a:pt x="67056" y="68580"/>
                </a:moveTo>
                <a:lnTo>
                  <a:pt x="0" y="68580"/>
                </a:lnTo>
                <a:lnTo>
                  <a:pt x="0" y="0"/>
                </a:lnTo>
                <a:lnTo>
                  <a:pt x="67056" y="0"/>
                </a:lnTo>
                <a:lnTo>
                  <a:pt x="67056" y="68580"/>
                </a:lnTo>
                <a:close/>
              </a:path>
            </a:pathLst>
          </a:custGeom>
          <a:solidFill>
            <a:srgbClr val="E48311"/>
          </a:solidFill>
        </p:spPr>
        <p:txBody>
          <a:bodyPr wrap="square" lIns="0" tIns="0" rIns="0" bIns="0" rtlCol="0"/>
          <a:lstStyle/>
          <a:p>
            <a:endParaRPr sz="4141"/>
          </a:p>
        </p:txBody>
      </p:sp>
      <p:sp>
        <p:nvSpPr>
          <p:cNvPr id="9" name="object 9"/>
          <p:cNvSpPr/>
          <p:nvPr/>
        </p:nvSpPr>
        <p:spPr>
          <a:xfrm>
            <a:off x="2215916" y="4878431"/>
            <a:ext cx="154857" cy="157779"/>
          </a:xfrm>
          <a:custGeom>
            <a:avLst/>
            <a:gdLst/>
            <a:ahLst/>
            <a:cxnLst/>
            <a:rect l="l" t="t" r="r" b="b"/>
            <a:pathLst>
              <a:path w="67309" h="68579">
                <a:moveTo>
                  <a:pt x="67056" y="68580"/>
                </a:moveTo>
                <a:lnTo>
                  <a:pt x="0" y="68580"/>
                </a:lnTo>
                <a:lnTo>
                  <a:pt x="0" y="0"/>
                </a:lnTo>
                <a:lnTo>
                  <a:pt x="67056" y="0"/>
                </a:lnTo>
                <a:lnTo>
                  <a:pt x="67056" y="68580"/>
                </a:lnTo>
                <a:close/>
              </a:path>
            </a:pathLst>
          </a:custGeom>
          <a:solidFill>
            <a:srgbClr val="E48311"/>
          </a:solidFill>
        </p:spPr>
        <p:txBody>
          <a:bodyPr wrap="square" lIns="0" tIns="0" rIns="0" bIns="0" rtlCol="0"/>
          <a:lstStyle/>
          <a:p>
            <a:endParaRPr sz="4141"/>
          </a:p>
        </p:txBody>
      </p:sp>
      <p:sp>
        <p:nvSpPr>
          <p:cNvPr id="10" name="object 10"/>
          <p:cNvSpPr/>
          <p:nvPr/>
        </p:nvSpPr>
        <p:spPr>
          <a:xfrm>
            <a:off x="2215916" y="5702387"/>
            <a:ext cx="154857" cy="157779"/>
          </a:xfrm>
          <a:custGeom>
            <a:avLst/>
            <a:gdLst/>
            <a:ahLst/>
            <a:cxnLst/>
            <a:rect l="l" t="t" r="r" b="b"/>
            <a:pathLst>
              <a:path w="67309" h="68579">
                <a:moveTo>
                  <a:pt x="67056" y="68580"/>
                </a:moveTo>
                <a:lnTo>
                  <a:pt x="0" y="68580"/>
                </a:lnTo>
                <a:lnTo>
                  <a:pt x="0" y="0"/>
                </a:lnTo>
                <a:lnTo>
                  <a:pt x="67056" y="0"/>
                </a:lnTo>
                <a:lnTo>
                  <a:pt x="67056" y="68580"/>
                </a:lnTo>
                <a:close/>
              </a:path>
            </a:pathLst>
          </a:custGeom>
          <a:solidFill>
            <a:srgbClr val="E48311"/>
          </a:solidFill>
        </p:spPr>
        <p:txBody>
          <a:bodyPr wrap="square" lIns="0" tIns="0" rIns="0" bIns="0" rtlCol="0"/>
          <a:lstStyle/>
          <a:p>
            <a:endParaRPr sz="4141"/>
          </a:p>
        </p:txBody>
      </p:sp>
      <p:sp>
        <p:nvSpPr>
          <p:cNvPr id="11" name="object 11"/>
          <p:cNvSpPr/>
          <p:nvPr/>
        </p:nvSpPr>
        <p:spPr>
          <a:xfrm>
            <a:off x="2215916" y="6526343"/>
            <a:ext cx="154857" cy="157779"/>
          </a:xfrm>
          <a:custGeom>
            <a:avLst/>
            <a:gdLst/>
            <a:ahLst/>
            <a:cxnLst/>
            <a:rect l="l" t="t" r="r" b="b"/>
            <a:pathLst>
              <a:path w="67309" h="68579">
                <a:moveTo>
                  <a:pt x="67056" y="68580"/>
                </a:moveTo>
                <a:lnTo>
                  <a:pt x="0" y="68580"/>
                </a:lnTo>
                <a:lnTo>
                  <a:pt x="0" y="0"/>
                </a:lnTo>
                <a:lnTo>
                  <a:pt x="67056" y="0"/>
                </a:lnTo>
                <a:lnTo>
                  <a:pt x="67056" y="68580"/>
                </a:lnTo>
                <a:close/>
              </a:path>
            </a:pathLst>
          </a:custGeom>
          <a:solidFill>
            <a:srgbClr val="E48311"/>
          </a:solidFill>
        </p:spPr>
        <p:txBody>
          <a:bodyPr wrap="square" lIns="0" tIns="0" rIns="0" bIns="0" rtlCol="0"/>
          <a:lstStyle/>
          <a:p>
            <a:endParaRPr sz="4141"/>
          </a:p>
        </p:txBody>
      </p:sp>
      <p:sp>
        <p:nvSpPr>
          <p:cNvPr id="12" name="object 12"/>
          <p:cNvSpPr txBox="1"/>
          <p:nvPr/>
        </p:nvSpPr>
        <p:spPr>
          <a:xfrm>
            <a:off x="1713299" y="2748376"/>
            <a:ext cx="11751601" cy="4106131"/>
          </a:xfrm>
          <a:prstGeom prst="rect">
            <a:avLst/>
          </a:prstGeom>
        </p:spPr>
        <p:txBody>
          <a:bodyPr vert="horz" wrap="square" lIns="0" tIns="26296" rIns="0" bIns="0" rtlCol="0">
            <a:spAutoFit/>
          </a:bodyPr>
          <a:lstStyle/>
          <a:p>
            <a:pPr marL="726119" marR="11690" indent="-698361">
              <a:lnSpc>
                <a:spcPct val="134300"/>
              </a:lnSpc>
              <a:spcBef>
                <a:spcPts val="207"/>
              </a:spcBef>
            </a:pP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Clear</a:t>
            </a:r>
            <a:r>
              <a:rPr sz="4026" spc="69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definition</a:t>
            </a:r>
            <a:r>
              <a:rPr sz="4026" spc="92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of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 authority-responsibility</a:t>
            </a:r>
            <a:r>
              <a:rPr sz="4026" spc="104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relationships </a:t>
            </a:r>
            <a:r>
              <a:rPr sz="4026" spc="-874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Unity</a:t>
            </a:r>
            <a:r>
              <a:rPr sz="4026" spc="-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of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 direction</a:t>
            </a:r>
            <a:endParaRPr sz="4026">
              <a:latin typeface="Calibri"/>
              <a:cs typeface="Calibri"/>
            </a:endParaRPr>
          </a:p>
          <a:p>
            <a:pPr marL="726119" marR="5800189">
              <a:lnSpc>
                <a:spcPct val="134300"/>
              </a:lnSpc>
              <a:spcBef>
                <a:spcPts val="23"/>
              </a:spcBef>
            </a:pP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Unity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of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command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-92" dirty="0">
                <a:solidFill>
                  <a:srgbClr val="3D3D3D"/>
                </a:solidFill>
                <a:latin typeface="Calibri"/>
                <a:cs typeface="Calibri"/>
              </a:rPr>
              <a:t>E</a:t>
            </a:r>
            <a:r>
              <a:rPr sz="4026" spc="-46" dirty="0">
                <a:solidFill>
                  <a:srgbClr val="3D3D3D"/>
                </a:solidFill>
                <a:latin typeface="Calibri"/>
                <a:cs typeface="Calibri"/>
              </a:rPr>
              <a:t>f</a:t>
            </a:r>
            <a:r>
              <a:rPr sz="4026" spc="-81" dirty="0">
                <a:solidFill>
                  <a:srgbClr val="3D3D3D"/>
                </a:solidFill>
                <a:latin typeface="Calibri"/>
                <a:cs typeface="Calibri"/>
              </a:rPr>
              <a:t>f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e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ct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i</a:t>
            </a:r>
            <a:r>
              <a:rPr sz="4026" spc="-58" dirty="0">
                <a:solidFill>
                  <a:srgbClr val="3D3D3D"/>
                </a:solidFill>
                <a:latin typeface="Calibri"/>
                <a:cs typeface="Calibri"/>
              </a:rPr>
              <a:t>v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e</a:t>
            </a:r>
            <a:r>
              <a:rPr sz="4026" spc="-4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c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o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m</a:t>
            </a:r>
            <a:r>
              <a:rPr sz="4026" spc="69" dirty="0">
                <a:solidFill>
                  <a:srgbClr val="3D3D3D"/>
                </a:solidFill>
                <a:latin typeface="Calibri"/>
                <a:cs typeface="Calibri"/>
              </a:rPr>
              <a:t>m</a:t>
            </a:r>
            <a:r>
              <a:rPr sz="4026" spc="58" dirty="0">
                <a:solidFill>
                  <a:srgbClr val="3D3D3D"/>
                </a:solidFill>
                <a:latin typeface="Calibri"/>
                <a:cs typeface="Calibri"/>
              </a:rPr>
              <a:t>u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n</a:t>
            </a:r>
            <a:r>
              <a:rPr sz="4026" spc="-35" dirty="0">
                <a:solidFill>
                  <a:srgbClr val="3D3D3D"/>
                </a:solidFill>
                <a:latin typeface="Calibri"/>
                <a:cs typeface="Calibri"/>
              </a:rPr>
              <a:t>i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c</a:t>
            </a:r>
            <a:r>
              <a:rPr sz="4026" spc="-12" dirty="0">
                <a:solidFill>
                  <a:srgbClr val="3D3D3D"/>
                </a:solidFill>
                <a:latin typeface="Calibri"/>
                <a:cs typeface="Calibri"/>
              </a:rPr>
              <a:t>a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t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io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n  </a:t>
            </a:r>
            <a:r>
              <a:rPr sz="4026" spc="-12" dirty="0">
                <a:solidFill>
                  <a:srgbClr val="3D3D3D"/>
                </a:solidFill>
                <a:latin typeface="Calibri"/>
                <a:cs typeface="Calibri"/>
              </a:rPr>
              <a:t>Effective</a:t>
            </a:r>
            <a:r>
              <a:rPr sz="4026" spc="-58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leadership</a:t>
            </a:r>
            <a:endParaRPr sz="4026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913539" y="9501937"/>
            <a:ext cx="430970" cy="436666"/>
          </a:xfrm>
          <a:prstGeom prst="rect">
            <a:avLst/>
          </a:prstGeom>
        </p:spPr>
        <p:txBody>
          <a:bodyPr vert="horz" wrap="square" lIns="0" tIns="29218" rIns="0" bIns="0" rtlCol="0">
            <a:spAutoFit/>
          </a:bodyPr>
          <a:lstStyle/>
          <a:p>
            <a:pPr marL="29221">
              <a:spcBef>
                <a:spcPts val="230"/>
              </a:spcBef>
            </a:pPr>
            <a:r>
              <a:rPr sz="2646" spc="-23" dirty="0">
                <a:latin typeface="Arial MT"/>
                <a:cs typeface="Arial MT"/>
              </a:rPr>
              <a:t>1</a:t>
            </a:r>
            <a:r>
              <a:rPr sz="2646" dirty="0">
                <a:latin typeface="Arial MT"/>
                <a:cs typeface="Arial MT"/>
              </a:rPr>
              <a:t>7</a:t>
            </a:r>
            <a:endParaRPr sz="2646">
              <a:latin typeface="Arial MT"/>
              <a:cs typeface="Arial MT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595AC27D-2857-6437-A1AA-0B8310D3A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49589" y="2546813"/>
            <a:ext cx="14617916" cy="0"/>
          </a:xfrm>
          <a:custGeom>
            <a:avLst/>
            <a:gdLst/>
            <a:ahLst/>
            <a:cxnLst/>
            <a:rect l="l" t="t" r="r" b="b"/>
            <a:pathLst>
              <a:path w="6353809">
                <a:moveTo>
                  <a:pt x="0" y="0"/>
                </a:moveTo>
                <a:lnTo>
                  <a:pt x="6353556" y="0"/>
                </a:lnTo>
              </a:path>
            </a:pathLst>
          </a:custGeom>
          <a:ln w="4572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 sz="4141"/>
          </a:p>
        </p:txBody>
      </p:sp>
      <p:grpSp>
        <p:nvGrpSpPr>
          <p:cNvPr id="3" name="object 3"/>
          <p:cNvGrpSpPr/>
          <p:nvPr/>
        </p:nvGrpSpPr>
        <p:grpSpPr>
          <a:xfrm>
            <a:off x="1779392" y="1735129"/>
            <a:ext cx="515701" cy="558070"/>
            <a:chOff x="773429" y="3597402"/>
            <a:chExt cx="224154" cy="2425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3429" y="3597402"/>
              <a:ext cx="155447" cy="24231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61643" y="3799332"/>
              <a:ext cx="30480" cy="33655"/>
            </a:xfrm>
            <a:custGeom>
              <a:avLst/>
              <a:gdLst/>
              <a:ahLst/>
              <a:cxnLst/>
              <a:rect l="l" t="t" r="r" b="b"/>
              <a:pathLst>
                <a:path w="30480" h="33654">
                  <a:moveTo>
                    <a:pt x="25908" y="3048"/>
                  </a:moveTo>
                  <a:lnTo>
                    <a:pt x="24384" y="1524"/>
                  </a:lnTo>
                  <a:lnTo>
                    <a:pt x="19812" y="0"/>
                  </a:lnTo>
                  <a:lnTo>
                    <a:pt x="15240" y="0"/>
                  </a:lnTo>
                  <a:lnTo>
                    <a:pt x="9144" y="0"/>
                  </a:lnTo>
                  <a:lnTo>
                    <a:pt x="4572" y="1524"/>
                  </a:lnTo>
                  <a:lnTo>
                    <a:pt x="3048" y="3048"/>
                  </a:lnTo>
                  <a:lnTo>
                    <a:pt x="0" y="6096"/>
                  </a:lnTo>
                  <a:lnTo>
                    <a:pt x="0" y="10668"/>
                  </a:lnTo>
                  <a:lnTo>
                    <a:pt x="0" y="16764"/>
                  </a:lnTo>
                  <a:lnTo>
                    <a:pt x="0" y="24384"/>
                  </a:lnTo>
                  <a:lnTo>
                    <a:pt x="0" y="28956"/>
                  </a:lnTo>
                  <a:lnTo>
                    <a:pt x="3048" y="30480"/>
                  </a:lnTo>
                  <a:lnTo>
                    <a:pt x="4572" y="32004"/>
                  </a:lnTo>
                  <a:lnTo>
                    <a:pt x="9144" y="33528"/>
                  </a:lnTo>
                  <a:lnTo>
                    <a:pt x="13716" y="33528"/>
                  </a:lnTo>
                  <a:lnTo>
                    <a:pt x="19812" y="33528"/>
                  </a:lnTo>
                  <a:lnTo>
                    <a:pt x="24384" y="32004"/>
                  </a:lnTo>
                  <a:lnTo>
                    <a:pt x="25908" y="30480"/>
                  </a:lnTo>
                  <a:lnTo>
                    <a:pt x="28956" y="27432"/>
                  </a:lnTo>
                  <a:lnTo>
                    <a:pt x="30480" y="22860"/>
                  </a:lnTo>
                  <a:lnTo>
                    <a:pt x="30480" y="16764"/>
                  </a:lnTo>
                  <a:lnTo>
                    <a:pt x="30480" y="10668"/>
                  </a:lnTo>
                  <a:lnTo>
                    <a:pt x="28956" y="6096"/>
                  </a:lnTo>
                  <a:lnTo>
                    <a:pt x="25908" y="3048"/>
                  </a:lnTo>
                  <a:close/>
                </a:path>
              </a:pathLst>
            </a:custGeom>
            <a:ln w="10668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4141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2533235" y="1699922"/>
            <a:ext cx="3002180" cy="593132"/>
            <a:chOff x="1101089" y="3582098"/>
            <a:chExt cx="1304925" cy="25781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1089" y="3597401"/>
              <a:ext cx="918971" cy="24231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054352" y="3587495"/>
              <a:ext cx="21590" cy="245745"/>
            </a:xfrm>
            <a:custGeom>
              <a:avLst/>
              <a:gdLst/>
              <a:ahLst/>
              <a:cxnLst/>
              <a:rect l="l" t="t" r="r" b="b"/>
              <a:pathLst>
                <a:path w="21589" h="245745">
                  <a:moveTo>
                    <a:pt x="21336" y="4572"/>
                  </a:moveTo>
                  <a:lnTo>
                    <a:pt x="21336" y="3048"/>
                  </a:lnTo>
                  <a:lnTo>
                    <a:pt x="19812" y="1524"/>
                  </a:lnTo>
                  <a:lnTo>
                    <a:pt x="18288" y="1524"/>
                  </a:lnTo>
                  <a:lnTo>
                    <a:pt x="16764" y="0"/>
                  </a:lnTo>
                  <a:lnTo>
                    <a:pt x="15240" y="0"/>
                  </a:lnTo>
                  <a:lnTo>
                    <a:pt x="13716" y="0"/>
                  </a:lnTo>
                  <a:lnTo>
                    <a:pt x="12192" y="0"/>
                  </a:lnTo>
                  <a:lnTo>
                    <a:pt x="10668" y="0"/>
                  </a:lnTo>
                  <a:lnTo>
                    <a:pt x="7620" y="0"/>
                  </a:lnTo>
                  <a:lnTo>
                    <a:pt x="6096" y="0"/>
                  </a:lnTo>
                  <a:lnTo>
                    <a:pt x="4572" y="0"/>
                  </a:lnTo>
                  <a:lnTo>
                    <a:pt x="3048" y="1524"/>
                  </a:lnTo>
                  <a:lnTo>
                    <a:pt x="1524" y="1524"/>
                  </a:lnTo>
                  <a:lnTo>
                    <a:pt x="0" y="1524"/>
                  </a:lnTo>
                  <a:lnTo>
                    <a:pt x="0" y="3048"/>
                  </a:lnTo>
                  <a:lnTo>
                    <a:pt x="0" y="4572"/>
                  </a:lnTo>
                  <a:lnTo>
                    <a:pt x="0" y="242315"/>
                  </a:lnTo>
                  <a:lnTo>
                    <a:pt x="0" y="243840"/>
                  </a:lnTo>
                  <a:lnTo>
                    <a:pt x="1524" y="243840"/>
                  </a:lnTo>
                  <a:lnTo>
                    <a:pt x="3048" y="243840"/>
                  </a:lnTo>
                  <a:lnTo>
                    <a:pt x="4572" y="245364"/>
                  </a:lnTo>
                  <a:lnTo>
                    <a:pt x="6096" y="245364"/>
                  </a:lnTo>
                  <a:lnTo>
                    <a:pt x="16764" y="245364"/>
                  </a:lnTo>
                  <a:lnTo>
                    <a:pt x="18288" y="243840"/>
                  </a:lnTo>
                  <a:lnTo>
                    <a:pt x="19812" y="243840"/>
                  </a:lnTo>
                  <a:lnTo>
                    <a:pt x="21336" y="242315"/>
                  </a:lnTo>
                  <a:lnTo>
                    <a:pt x="21336" y="240791"/>
                  </a:lnTo>
                  <a:lnTo>
                    <a:pt x="21336" y="4572"/>
                  </a:lnTo>
                  <a:close/>
                </a:path>
              </a:pathLst>
            </a:custGeom>
            <a:ln w="10668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4141"/>
            </a:p>
          </p:txBody>
        </p:sp>
        <p:sp>
          <p:nvSpPr>
            <p:cNvPr id="9" name="object 9"/>
            <p:cNvSpPr/>
            <p:nvPr/>
          </p:nvSpPr>
          <p:spPr>
            <a:xfrm>
              <a:off x="2127504" y="3587495"/>
              <a:ext cx="21590" cy="245745"/>
            </a:xfrm>
            <a:custGeom>
              <a:avLst/>
              <a:gdLst/>
              <a:ahLst/>
              <a:cxnLst/>
              <a:rect l="l" t="t" r="r" b="b"/>
              <a:pathLst>
                <a:path w="21589" h="245745">
                  <a:moveTo>
                    <a:pt x="21336" y="4572"/>
                  </a:moveTo>
                  <a:lnTo>
                    <a:pt x="19812" y="3048"/>
                  </a:lnTo>
                  <a:lnTo>
                    <a:pt x="16764" y="0"/>
                  </a:lnTo>
                  <a:lnTo>
                    <a:pt x="15240" y="0"/>
                  </a:lnTo>
                  <a:lnTo>
                    <a:pt x="3048" y="0"/>
                  </a:lnTo>
                  <a:lnTo>
                    <a:pt x="3048" y="1524"/>
                  </a:lnTo>
                  <a:lnTo>
                    <a:pt x="1524" y="1524"/>
                  </a:lnTo>
                  <a:lnTo>
                    <a:pt x="0" y="1524"/>
                  </a:lnTo>
                  <a:lnTo>
                    <a:pt x="0" y="3048"/>
                  </a:lnTo>
                  <a:lnTo>
                    <a:pt x="0" y="4572"/>
                  </a:lnTo>
                  <a:lnTo>
                    <a:pt x="0" y="240791"/>
                  </a:lnTo>
                  <a:lnTo>
                    <a:pt x="0" y="242315"/>
                  </a:lnTo>
                  <a:lnTo>
                    <a:pt x="0" y="243840"/>
                  </a:lnTo>
                  <a:lnTo>
                    <a:pt x="1524" y="243840"/>
                  </a:lnTo>
                  <a:lnTo>
                    <a:pt x="3048" y="243840"/>
                  </a:lnTo>
                  <a:lnTo>
                    <a:pt x="3048" y="245364"/>
                  </a:lnTo>
                  <a:lnTo>
                    <a:pt x="16764" y="245364"/>
                  </a:lnTo>
                  <a:lnTo>
                    <a:pt x="18288" y="243840"/>
                  </a:lnTo>
                  <a:lnTo>
                    <a:pt x="19812" y="243840"/>
                  </a:lnTo>
                  <a:lnTo>
                    <a:pt x="19812" y="242315"/>
                  </a:lnTo>
                  <a:lnTo>
                    <a:pt x="21336" y="242315"/>
                  </a:lnTo>
                  <a:lnTo>
                    <a:pt x="21336" y="240791"/>
                  </a:lnTo>
                  <a:lnTo>
                    <a:pt x="21336" y="4572"/>
                  </a:lnTo>
                  <a:close/>
                </a:path>
              </a:pathLst>
            </a:custGeom>
            <a:ln w="10668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4141"/>
            </a:p>
          </p:txBody>
        </p:sp>
        <p:sp>
          <p:nvSpPr>
            <p:cNvPr id="10" name="object 10"/>
            <p:cNvSpPr/>
            <p:nvPr/>
          </p:nvSpPr>
          <p:spPr>
            <a:xfrm>
              <a:off x="2199131" y="3665219"/>
              <a:ext cx="21590" cy="167640"/>
            </a:xfrm>
            <a:custGeom>
              <a:avLst/>
              <a:gdLst/>
              <a:ahLst/>
              <a:cxnLst/>
              <a:rect l="l" t="t" r="r" b="b"/>
              <a:pathLst>
                <a:path w="21589" h="167639">
                  <a:moveTo>
                    <a:pt x="21336" y="4572"/>
                  </a:moveTo>
                  <a:lnTo>
                    <a:pt x="21336" y="3048"/>
                  </a:lnTo>
                  <a:lnTo>
                    <a:pt x="21336" y="1524"/>
                  </a:lnTo>
                  <a:lnTo>
                    <a:pt x="19812" y="1524"/>
                  </a:lnTo>
                  <a:lnTo>
                    <a:pt x="18288" y="1524"/>
                  </a:lnTo>
                  <a:lnTo>
                    <a:pt x="18288" y="0"/>
                  </a:lnTo>
                  <a:lnTo>
                    <a:pt x="4572" y="0"/>
                  </a:lnTo>
                  <a:lnTo>
                    <a:pt x="3048" y="1524"/>
                  </a:lnTo>
                  <a:lnTo>
                    <a:pt x="1524" y="1524"/>
                  </a:lnTo>
                  <a:lnTo>
                    <a:pt x="1524" y="3048"/>
                  </a:lnTo>
                  <a:lnTo>
                    <a:pt x="0" y="3048"/>
                  </a:lnTo>
                  <a:lnTo>
                    <a:pt x="0" y="4572"/>
                  </a:lnTo>
                  <a:lnTo>
                    <a:pt x="0" y="163067"/>
                  </a:lnTo>
                  <a:lnTo>
                    <a:pt x="0" y="164591"/>
                  </a:lnTo>
                  <a:lnTo>
                    <a:pt x="1524" y="164591"/>
                  </a:lnTo>
                  <a:lnTo>
                    <a:pt x="1524" y="166115"/>
                  </a:lnTo>
                  <a:lnTo>
                    <a:pt x="3048" y="166115"/>
                  </a:lnTo>
                  <a:lnTo>
                    <a:pt x="4572" y="167640"/>
                  </a:lnTo>
                  <a:lnTo>
                    <a:pt x="6096" y="167640"/>
                  </a:lnTo>
                  <a:lnTo>
                    <a:pt x="18288" y="167640"/>
                  </a:lnTo>
                  <a:lnTo>
                    <a:pt x="18288" y="166115"/>
                  </a:lnTo>
                  <a:lnTo>
                    <a:pt x="19812" y="166115"/>
                  </a:lnTo>
                  <a:lnTo>
                    <a:pt x="21336" y="166115"/>
                  </a:lnTo>
                  <a:lnTo>
                    <a:pt x="21336" y="164591"/>
                  </a:lnTo>
                  <a:lnTo>
                    <a:pt x="21336" y="163067"/>
                  </a:lnTo>
                  <a:lnTo>
                    <a:pt x="21336" y="4572"/>
                  </a:lnTo>
                  <a:close/>
                </a:path>
              </a:pathLst>
            </a:custGeom>
            <a:ln w="10668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4141"/>
            </a:p>
          </p:txBody>
        </p:sp>
        <p:sp>
          <p:nvSpPr>
            <p:cNvPr id="11" name="object 11"/>
            <p:cNvSpPr/>
            <p:nvPr/>
          </p:nvSpPr>
          <p:spPr>
            <a:xfrm>
              <a:off x="2196083" y="3601211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5" h="29210">
                  <a:moveTo>
                    <a:pt x="24383" y="3048"/>
                  </a:moveTo>
                  <a:lnTo>
                    <a:pt x="21335" y="1524"/>
                  </a:lnTo>
                  <a:lnTo>
                    <a:pt x="18287" y="0"/>
                  </a:lnTo>
                  <a:lnTo>
                    <a:pt x="13715" y="0"/>
                  </a:lnTo>
                  <a:lnTo>
                    <a:pt x="9143" y="0"/>
                  </a:lnTo>
                  <a:lnTo>
                    <a:pt x="4571" y="1524"/>
                  </a:lnTo>
                  <a:lnTo>
                    <a:pt x="3047" y="3048"/>
                  </a:lnTo>
                  <a:lnTo>
                    <a:pt x="1523" y="4572"/>
                  </a:lnTo>
                  <a:lnTo>
                    <a:pt x="0" y="9144"/>
                  </a:lnTo>
                  <a:lnTo>
                    <a:pt x="0" y="15240"/>
                  </a:lnTo>
                  <a:lnTo>
                    <a:pt x="0" y="19812"/>
                  </a:lnTo>
                  <a:lnTo>
                    <a:pt x="1523" y="24384"/>
                  </a:lnTo>
                  <a:lnTo>
                    <a:pt x="3047" y="25908"/>
                  </a:lnTo>
                  <a:lnTo>
                    <a:pt x="4571" y="27432"/>
                  </a:lnTo>
                  <a:lnTo>
                    <a:pt x="9143" y="28956"/>
                  </a:lnTo>
                  <a:lnTo>
                    <a:pt x="13715" y="28956"/>
                  </a:lnTo>
                  <a:lnTo>
                    <a:pt x="18287" y="28956"/>
                  </a:lnTo>
                  <a:lnTo>
                    <a:pt x="21335" y="27432"/>
                  </a:lnTo>
                  <a:lnTo>
                    <a:pt x="22859" y="25908"/>
                  </a:lnTo>
                  <a:lnTo>
                    <a:pt x="25907" y="24384"/>
                  </a:lnTo>
                  <a:lnTo>
                    <a:pt x="25907" y="19812"/>
                  </a:lnTo>
                  <a:lnTo>
                    <a:pt x="25907" y="15240"/>
                  </a:lnTo>
                  <a:lnTo>
                    <a:pt x="25907" y="9144"/>
                  </a:lnTo>
                  <a:lnTo>
                    <a:pt x="25907" y="4572"/>
                  </a:lnTo>
                  <a:lnTo>
                    <a:pt x="24383" y="3048"/>
                  </a:lnTo>
                  <a:close/>
                </a:path>
              </a:pathLst>
            </a:custGeom>
            <a:ln w="10668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4141"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66950" y="3658361"/>
              <a:ext cx="138683" cy="179832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713439" y="1473272"/>
            <a:ext cx="4268794" cy="923211"/>
          </a:xfrm>
          <a:prstGeom prst="rect">
            <a:avLst/>
          </a:prstGeom>
        </p:spPr>
        <p:txBody>
          <a:bodyPr vert="horz" wrap="square" lIns="0" tIns="30679" rIns="0" bIns="0" rtlCol="0" anchor="ctr">
            <a:spAutoFit/>
          </a:bodyPr>
          <a:lstStyle/>
          <a:p>
            <a:pPr marL="29221">
              <a:spcBef>
                <a:spcPts val="242"/>
              </a:spcBef>
            </a:pPr>
            <a:r>
              <a:rPr sz="6442" spc="-104" dirty="0">
                <a:solidFill>
                  <a:srgbClr val="BF0000"/>
                </a:solidFill>
              </a:rPr>
              <a:t>6</a:t>
            </a:r>
            <a:r>
              <a:rPr sz="6442" spc="-46" dirty="0">
                <a:solidFill>
                  <a:srgbClr val="BF0000"/>
                </a:solidFill>
              </a:rPr>
              <a:t>.</a:t>
            </a:r>
            <a:r>
              <a:rPr sz="6442" spc="-196" dirty="0">
                <a:solidFill>
                  <a:srgbClr val="BF0000"/>
                </a:solidFill>
              </a:rPr>
              <a:t> </a:t>
            </a:r>
            <a:r>
              <a:rPr sz="6442" spc="-138" dirty="0">
                <a:solidFill>
                  <a:srgbClr val="BF0000"/>
                </a:solidFill>
              </a:rPr>
              <a:t>C</a:t>
            </a:r>
            <a:r>
              <a:rPr sz="6442" spc="-150" dirty="0">
                <a:solidFill>
                  <a:srgbClr val="BF0000"/>
                </a:solidFill>
              </a:rPr>
              <a:t>o</a:t>
            </a:r>
            <a:r>
              <a:rPr sz="6442" spc="-253" dirty="0">
                <a:solidFill>
                  <a:srgbClr val="BF0000"/>
                </a:solidFill>
              </a:rPr>
              <a:t>n</a:t>
            </a:r>
            <a:r>
              <a:rPr sz="6442" spc="-161" dirty="0">
                <a:solidFill>
                  <a:srgbClr val="BF0000"/>
                </a:solidFill>
              </a:rPr>
              <a:t>t</a:t>
            </a:r>
            <a:r>
              <a:rPr sz="6442" spc="-262" dirty="0">
                <a:solidFill>
                  <a:srgbClr val="BF0000"/>
                </a:solidFill>
              </a:rPr>
              <a:t>r</a:t>
            </a:r>
            <a:r>
              <a:rPr sz="6442" spc="-184" dirty="0">
                <a:solidFill>
                  <a:srgbClr val="BF0000"/>
                </a:solidFill>
              </a:rPr>
              <a:t>o</a:t>
            </a:r>
            <a:r>
              <a:rPr sz="6442" spc="-161" dirty="0">
                <a:solidFill>
                  <a:srgbClr val="BF0000"/>
                </a:solidFill>
              </a:rPr>
              <a:t>l</a:t>
            </a:r>
            <a:r>
              <a:rPr sz="6442" spc="-196" dirty="0">
                <a:solidFill>
                  <a:srgbClr val="BF0000"/>
                </a:solidFill>
              </a:rPr>
              <a:t>l</a:t>
            </a:r>
            <a:r>
              <a:rPr sz="6442" spc="-161" dirty="0">
                <a:solidFill>
                  <a:srgbClr val="BF0000"/>
                </a:solidFill>
              </a:rPr>
              <a:t>i</a:t>
            </a:r>
            <a:r>
              <a:rPr sz="6442" spc="-196" dirty="0">
                <a:solidFill>
                  <a:srgbClr val="BF0000"/>
                </a:solidFill>
              </a:rPr>
              <a:t>n</a:t>
            </a:r>
            <a:r>
              <a:rPr sz="6442" spc="-12" dirty="0">
                <a:solidFill>
                  <a:srgbClr val="BF0000"/>
                </a:solidFill>
              </a:rPr>
              <a:t>g</a:t>
            </a:r>
            <a:endParaRPr sz="6442"/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83625" y="1875374"/>
            <a:ext cx="354124" cy="557485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580142" y="2278497"/>
            <a:ext cx="14816600" cy="5216018"/>
          </a:xfrm>
          <a:prstGeom prst="rect">
            <a:avLst/>
          </a:prstGeom>
        </p:spPr>
        <p:txBody>
          <a:bodyPr vert="horz" wrap="square" lIns="0" tIns="359385" rIns="0" bIns="0" rtlCol="0">
            <a:spAutoFit/>
          </a:bodyPr>
          <a:lstStyle/>
          <a:p>
            <a:pPr marL="162172">
              <a:spcBef>
                <a:spcPts val="2830"/>
              </a:spcBef>
            </a:pP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The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controlling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involves-</a:t>
            </a:r>
            <a:endParaRPr sz="4026">
              <a:latin typeface="Calibri"/>
              <a:cs typeface="Calibri"/>
            </a:endParaRPr>
          </a:p>
          <a:p>
            <a:pPr marL="546416" indent="-518658">
              <a:spcBef>
                <a:spcPts val="2623"/>
              </a:spcBef>
              <a:buAutoNum type="arabicPeriod"/>
              <a:tabLst>
                <a:tab pos="547877" algn="l"/>
              </a:tabLst>
            </a:pP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Establishing</a:t>
            </a:r>
            <a:r>
              <a:rPr sz="4026" spc="104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standards</a:t>
            </a:r>
            <a:r>
              <a:rPr sz="4026" spc="69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of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 performance.</a:t>
            </a:r>
            <a:endParaRPr sz="4026">
              <a:latin typeface="Calibri"/>
              <a:cs typeface="Calibri"/>
            </a:endParaRPr>
          </a:p>
          <a:p>
            <a:pPr marL="162172" marR="11690" indent="-134411">
              <a:lnSpc>
                <a:spcPts val="3957"/>
              </a:lnSpc>
              <a:spcBef>
                <a:spcPts val="3509"/>
              </a:spcBef>
              <a:buAutoNum type="arabicPeriod"/>
              <a:tabLst>
                <a:tab pos="547877" algn="l"/>
                <a:tab pos="8073515" algn="l"/>
              </a:tabLst>
            </a:pP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Measuring</a:t>
            </a:r>
            <a:r>
              <a:rPr sz="4026" spc="127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current</a:t>
            </a:r>
            <a:r>
              <a:rPr sz="4026" spc="104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performance	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and</a:t>
            </a:r>
            <a:r>
              <a:rPr sz="4026" spc="403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comparing</a:t>
            </a:r>
            <a:r>
              <a:rPr sz="4026" spc="391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it</a:t>
            </a:r>
            <a:r>
              <a:rPr sz="4026" spc="368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against</a:t>
            </a:r>
            <a:r>
              <a:rPr sz="4026" spc="42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the </a:t>
            </a:r>
            <a:r>
              <a:rPr sz="4026" spc="-88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established</a:t>
            </a:r>
            <a:r>
              <a:rPr sz="4026" spc="81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standard.</a:t>
            </a:r>
            <a:endParaRPr sz="4026">
              <a:latin typeface="Calibri"/>
              <a:cs typeface="Calibri"/>
            </a:endParaRPr>
          </a:p>
          <a:p>
            <a:pPr marL="29221" marR="2130147">
              <a:lnSpc>
                <a:spcPct val="154300"/>
              </a:lnSpc>
              <a:spcBef>
                <a:spcPts val="12"/>
              </a:spcBef>
              <a:buAutoNum type="arabicPeriod"/>
              <a:tabLst>
                <a:tab pos="547877" algn="l"/>
              </a:tabLst>
            </a:pPr>
            <a:r>
              <a:rPr sz="4026" spc="-35" dirty="0">
                <a:solidFill>
                  <a:srgbClr val="3D3D3D"/>
                </a:solidFill>
                <a:latin typeface="Calibri"/>
                <a:cs typeface="Calibri"/>
              </a:rPr>
              <a:t>Taking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 corrective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action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that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does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not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meet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the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standard. </a:t>
            </a:r>
            <a:r>
              <a:rPr sz="4026" spc="-874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Control</a:t>
            </a:r>
            <a:r>
              <a:rPr sz="4026" spc="-23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compels</a:t>
            </a:r>
            <a:r>
              <a:rPr sz="4026" spc="69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the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events</a:t>
            </a:r>
            <a:r>
              <a:rPr sz="4026" spc="69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to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confirm 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to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plans.</a:t>
            </a:r>
            <a:endParaRPr sz="4026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913539" y="9501937"/>
            <a:ext cx="430970" cy="436666"/>
          </a:xfrm>
          <a:prstGeom prst="rect">
            <a:avLst/>
          </a:prstGeom>
        </p:spPr>
        <p:txBody>
          <a:bodyPr vert="horz" wrap="square" lIns="0" tIns="29218" rIns="0" bIns="0" rtlCol="0">
            <a:spAutoFit/>
          </a:bodyPr>
          <a:lstStyle/>
          <a:p>
            <a:pPr marL="29221">
              <a:spcBef>
                <a:spcPts val="230"/>
              </a:spcBef>
            </a:pPr>
            <a:r>
              <a:rPr sz="2646" spc="-23" dirty="0">
                <a:latin typeface="Arial MT"/>
                <a:cs typeface="Arial MT"/>
              </a:rPr>
              <a:t>1</a:t>
            </a:r>
            <a:r>
              <a:rPr sz="2646" dirty="0">
                <a:latin typeface="Arial MT"/>
                <a:cs typeface="Arial MT"/>
              </a:rPr>
              <a:t>8</a:t>
            </a:r>
            <a:endParaRPr sz="2646">
              <a:latin typeface="Arial MT"/>
              <a:cs typeface="Arial MT"/>
            </a:endParaRP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0CB32F4-F142-0368-4B3A-DF0162869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49589" y="2546813"/>
            <a:ext cx="14617916" cy="0"/>
          </a:xfrm>
          <a:custGeom>
            <a:avLst/>
            <a:gdLst/>
            <a:ahLst/>
            <a:cxnLst/>
            <a:rect l="l" t="t" r="r" b="b"/>
            <a:pathLst>
              <a:path w="6353809">
                <a:moveTo>
                  <a:pt x="0" y="0"/>
                </a:moveTo>
                <a:lnTo>
                  <a:pt x="6353556" y="0"/>
                </a:lnTo>
              </a:path>
            </a:pathLst>
          </a:custGeom>
          <a:ln w="4572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 sz="4141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7452" y="1679027"/>
            <a:ext cx="2156308" cy="557485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4163608" y="1679027"/>
            <a:ext cx="841487" cy="558070"/>
            <a:chOff x="1809750" y="3573017"/>
            <a:chExt cx="365760" cy="24257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09750" y="3573017"/>
              <a:ext cx="205739" cy="24231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50542" y="3576066"/>
              <a:ext cx="124967" cy="237744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247033" y="1679027"/>
            <a:ext cx="4842054" cy="55748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54922" y="3430372"/>
            <a:ext cx="378669" cy="37866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046455" y="3257385"/>
            <a:ext cx="14484973" cy="659359"/>
          </a:xfrm>
          <a:prstGeom prst="rect">
            <a:avLst/>
          </a:prstGeom>
        </p:spPr>
        <p:txBody>
          <a:bodyPr vert="horz" wrap="square" lIns="0" tIns="39445" rIns="0" bIns="0" rtlCol="0">
            <a:spAutoFit/>
          </a:bodyPr>
          <a:lstStyle/>
          <a:p>
            <a:pPr marL="29221">
              <a:spcBef>
                <a:spcPts val="311"/>
              </a:spcBef>
              <a:tabLst>
                <a:tab pos="2081931" algn="l"/>
                <a:tab pos="3821990" algn="l"/>
                <a:tab pos="5619025" algn="l"/>
                <a:tab pos="7363466" algn="l"/>
                <a:tab pos="10022496" algn="l"/>
                <a:tab pos="10880105" algn="l"/>
                <a:tab pos="12813015" algn="l"/>
              </a:tabLst>
            </a:pPr>
            <a:r>
              <a:rPr sz="4026" spc="-58" dirty="0">
                <a:solidFill>
                  <a:srgbClr val="3D3D3D"/>
                </a:solidFill>
                <a:latin typeface="Calibri"/>
                <a:cs typeface="Calibri"/>
              </a:rPr>
              <a:t>L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O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W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ER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	</a:t>
            </a:r>
            <a:r>
              <a:rPr sz="4026" spc="-12" dirty="0">
                <a:solidFill>
                  <a:srgbClr val="3D3D3D"/>
                </a:solidFill>
                <a:latin typeface="Calibri"/>
                <a:cs typeface="Calibri"/>
              </a:rPr>
              <a:t>L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E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V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EL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	(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FI</a:t>
            </a:r>
            <a:r>
              <a:rPr sz="4026" spc="-58" dirty="0">
                <a:solidFill>
                  <a:srgbClr val="3D3D3D"/>
                </a:solidFill>
                <a:latin typeface="Calibri"/>
                <a:cs typeface="Calibri"/>
              </a:rPr>
              <a:t>R</a:t>
            </a:r>
            <a:r>
              <a:rPr sz="4026" spc="-12" dirty="0">
                <a:solidFill>
                  <a:srgbClr val="3D3D3D"/>
                </a:solidFill>
                <a:latin typeface="Calibri"/>
                <a:cs typeface="Calibri"/>
              </a:rPr>
              <a:t>S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T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	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L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I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N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E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)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: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	</a:t>
            </a:r>
            <a:r>
              <a:rPr sz="4026" spc="-12" dirty="0">
                <a:solidFill>
                  <a:srgbClr val="3D3D3D"/>
                </a:solidFill>
                <a:latin typeface="Calibri"/>
                <a:cs typeface="Calibri"/>
              </a:rPr>
              <a:t>F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O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R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E</a:t>
            </a:r>
            <a:r>
              <a:rPr sz="4026" spc="81" dirty="0">
                <a:solidFill>
                  <a:srgbClr val="3D3D3D"/>
                </a:solidFill>
                <a:latin typeface="Calibri"/>
                <a:cs typeface="Calibri"/>
              </a:rPr>
              <a:t>M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EN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	</a:t>
            </a:r>
            <a:r>
              <a:rPr sz="4026" spc="58" dirty="0">
                <a:solidFill>
                  <a:srgbClr val="3D3D3D"/>
                </a:solidFill>
                <a:latin typeface="Calibri"/>
                <a:cs typeface="Calibri"/>
              </a:rPr>
              <a:t>&amp;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	</a:t>
            </a:r>
            <a:r>
              <a:rPr sz="4026" spc="69" dirty="0">
                <a:solidFill>
                  <a:srgbClr val="3D3D3D"/>
                </a:solidFill>
                <a:latin typeface="Calibri"/>
                <a:cs typeface="Calibri"/>
              </a:rPr>
              <a:t>W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H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I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TE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	</a:t>
            </a:r>
            <a:r>
              <a:rPr sz="4026" spc="-12" dirty="0">
                <a:solidFill>
                  <a:srgbClr val="3D3D3D"/>
                </a:solidFill>
                <a:latin typeface="Calibri"/>
                <a:cs typeface="Calibri"/>
              </a:rPr>
              <a:t>C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OLL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AR</a:t>
            </a:r>
            <a:endParaRPr sz="4026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54922" y="4818828"/>
            <a:ext cx="378669" cy="37866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713299" y="3624860"/>
            <a:ext cx="14816600" cy="1696045"/>
          </a:xfrm>
          <a:prstGeom prst="rect">
            <a:avLst/>
          </a:prstGeom>
        </p:spPr>
        <p:txBody>
          <a:bodyPr vert="horz" wrap="square" lIns="0" tIns="236668" rIns="0" bIns="0" rtlCol="0">
            <a:spAutoFit/>
          </a:bodyPr>
          <a:lstStyle/>
          <a:p>
            <a:pPr marL="29221">
              <a:spcBef>
                <a:spcPts val="1864"/>
              </a:spcBef>
            </a:pP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SUPERVISOR</a:t>
            </a:r>
            <a:endParaRPr sz="4026">
              <a:latin typeface="Calibri"/>
              <a:cs typeface="Calibri"/>
            </a:endParaRPr>
          </a:p>
          <a:p>
            <a:pPr marL="362330">
              <a:spcBef>
                <a:spcPts val="1657"/>
              </a:spcBef>
              <a:tabLst>
                <a:tab pos="2796363" algn="l"/>
                <a:tab pos="6903250" algn="l"/>
                <a:tab pos="8898983" algn="l"/>
                <a:tab pos="12257833" algn="l"/>
              </a:tabLst>
            </a:pP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MIDDLE	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MANAGEMENT:	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SALES	MANAGERS,	PERSONNEL</a:t>
            </a:r>
            <a:endParaRPr sz="4026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54922" y="6203773"/>
            <a:ext cx="378669" cy="37866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713309" y="5016888"/>
            <a:ext cx="14820983" cy="2253376"/>
          </a:xfrm>
          <a:prstGeom prst="rect">
            <a:avLst/>
          </a:prstGeom>
        </p:spPr>
        <p:txBody>
          <a:bodyPr vert="horz" wrap="square" lIns="0" tIns="233746" rIns="0" bIns="0" rtlCol="0">
            <a:spAutoFit/>
          </a:bodyPr>
          <a:lstStyle/>
          <a:p>
            <a:pPr marL="29221">
              <a:spcBef>
                <a:spcPts val="1841"/>
              </a:spcBef>
            </a:pP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MANAGERS,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OTHER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-23" dirty="0">
                <a:solidFill>
                  <a:srgbClr val="3D3D3D"/>
                </a:solidFill>
                <a:latin typeface="Calibri"/>
                <a:cs typeface="Calibri"/>
              </a:rPr>
              <a:t>DEPARTMENTAL</a:t>
            </a:r>
            <a:r>
              <a:rPr sz="4026" spc="69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HEADS</a:t>
            </a:r>
            <a:endParaRPr sz="4026">
              <a:latin typeface="Calibri"/>
              <a:cs typeface="Calibri"/>
            </a:endParaRPr>
          </a:p>
          <a:p>
            <a:pPr marL="29221" marR="11690" indent="333109">
              <a:lnSpc>
                <a:spcPts val="4440"/>
              </a:lnSpc>
              <a:spcBef>
                <a:spcPts val="2094"/>
              </a:spcBef>
              <a:tabLst>
                <a:tab pos="1547205" algn="l"/>
                <a:tab pos="5246470" algn="l"/>
                <a:tab pos="7775469" algn="l"/>
                <a:tab pos="10809977" algn="l"/>
                <a:tab pos="13829876" algn="l"/>
              </a:tabLst>
            </a:pPr>
            <a:r>
              <a:rPr sz="4026" spc="-81" dirty="0">
                <a:solidFill>
                  <a:srgbClr val="3D3D3D"/>
                </a:solidFill>
                <a:latin typeface="Calibri"/>
                <a:cs typeface="Calibri"/>
              </a:rPr>
              <a:t>T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O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P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	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MA</a:t>
            </a:r>
            <a:r>
              <a:rPr sz="4026" spc="58" dirty="0">
                <a:solidFill>
                  <a:srgbClr val="3D3D3D"/>
                </a:solidFill>
                <a:latin typeface="Calibri"/>
                <a:cs typeface="Calibri"/>
              </a:rPr>
              <a:t>N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A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G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E</a:t>
            </a:r>
            <a:r>
              <a:rPr sz="4026" spc="81" dirty="0">
                <a:solidFill>
                  <a:srgbClr val="3D3D3D"/>
                </a:solidFill>
                <a:latin typeface="Calibri"/>
                <a:cs typeface="Calibri"/>
              </a:rPr>
              <a:t>M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E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N</a:t>
            </a:r>
            <a:r>
              <a:rPr sz="4026" spc="-207" dirty="0">
                <a:solidFill>
                  <a:srgbClr val="3D3D3D"/>
                </a:solidFill>
                <a:latin typeface="Calibri"/>
                <a:cs typeface="Calibri"/>
              </a:rPr>
              <a:t>T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: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	</a:t>
            </a:r>
            <a:r>
              <a:rPr sz="4026" spc="-12" dirty="0">
                <a:solidFill>
                  <a:srgbClr val="3D3D3D"/>
                </a:solidFill>
                <a:latin typeface="Calibri"/>
                <a:cs typeface="Calibri"/>
              </a:rPr>
              <a:t>C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OM</a:t>
            </a:r>
            <a:r>
              <a:rPr sz="4026" spc="-242" dirty="0">
                <a:solidFill>
                  <a:srgbClr val="3D3D3D"/>
                </a:solidFill>
                <a:latin typeface="Calibri"/>
                <a:cs typeface="Calibri"/>
              </a:rPr>
              <a:t>P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A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N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Y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	P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R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E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SI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D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E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N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TS,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	E</a:t>
            </a:r>
            <a:r>
              <a:rPr sz="4026" spc="69" dirty="0">
                <a:solidFill>
                  <a:srgbClr val="3D3D3D"/>
                </a:solidFill>
                <a:latin typeface="Calibri"/>
                <a:cs typeface="Calibri"/>
              </a:rPr>
              <a:t>X</a:t>
            </a:r>
            <a:r>
              <a:rPr sz="4026" spc="-46" dirty="0">
                <a:solidFill>
                  <a:srgbClr val="3D3D3D"/>
                </a:solidFill>
                <a:latin typeface="Calibri"/>
                <a:cs typeface="Calibri"/>
              </a:rPr>
              <a:t>E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C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UTI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VE</a:t>
            </a:r>
            <a:r>
              <a:rPr sz="4026" spc="-12" dirty="0">
                <a:solidFill>
                  <a:srgbClr val="3D3D3D"/>
                </a:solidFill>
                <a:latin typeface="Calibri"/>
                <a:cs typeface="Calibri"/>
              </a:rPr>
              <a:t>S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,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	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V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I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CE  PRESIDENTS</a:t>
            </a:r>
            <a:endParaRPr sz="4026">
              <a:latin typeface="Calibri"/>
              <a:cs typeface="Calibri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80D1DFCD-6C29-2664-F2E4-C69592305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49589" y="2546813"/>
            <a:ext cx="14617916" cy="0"/>
          </a:xfrm>
          <a:custGeom>
            <a:avLst/>
            <a:gdLst/>
            <a:ahLst/>
            <a:cxnLst/>
            <a:rect l="l" t="t" r="r" b="b"/>
            <a:pathLst>
              <a:path w="6353809">
                <a:moveTo>
                  <a:pt x="0" y="0"/>
                </a:moveTo>
                <a:lnTo>
                  <a:pt x="6353556" y="0"/>
                </a:lnTo>
              </a:path>
            </a:pathLst>
          </a:custGeom>
          <a:ln w="4572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 sz="4141"/>
          </a:p>
        </p:txBody>
      </p:sp>
      <p:grpSp>
        <p:nvGrpSpPr>
          <p:cNvPr id="3" name="object 3"/>
          <p:cNvGrpSpPr/>
          <p:nvPr/>
        </p:nvGrpSpPr>
        <p:grpSpPr>
          <a:xfrm>
            <a:off x="1807444" y="1700065"/>
            <a:ext cx="3447759" cy="733379"/>
            <a:chOff x="785622" y="3582161"/>
            <a:chExt cx="1498600" cy="31877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5622" y="3595877"/>
              <a:ext cx="1426463" cy="3048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257044" y="3587495"/>
              <a:ext cx="21590" cy="245745"/>
            </a:xfrm>
            <a:custGeom>
              <a:avLst/>
              <a:gdLst/>
              <a:ahLst/>
              <a:cxnLst/>
              <a:rect l="l" t="t" r="r" b="b"/>
              <a:pathLst>
                <a:path w="21589" h="245745">
                  <a:moveTo>
                    <a:pt x="21336" y="4572"/>
                  </a:moveTo>
                  <a:lnTo>
                    <a:pt x="19812" y="3048"/>
                  </a:lnTo>
                  <a:lnTo>
                    <a:pt x="16764" y="0"/>
                  </a:lnTo>
                  <a:lnTo>
                    <a:pt x="15240" y="0"/>
                  </a:lnTo>
                  <a:lnTo>
                    <a:pt x="3048" y="0"/>
                  </a:lnTo>
                  <a:lnTo>
                    <a:pt x="1524" y="1524"/>
                  </a:lnTo>
                  <a:lnTo>
                    <a:pt x="0" y="1524"/>
                  </a:lnTo>
                  <a:lnTo>
                    <a:pt x="0" y="3048"/>
                  </a:lnTo>
                  <a:lnTo>
                    <a:pt x="0" y="4572"/>
                  </a:lnTo>
                  <a:lnTo>
                    <a:pt x="0" y="240791"/>
                  </a:lnTo>
                  <a:lnTo>
                    <a:pt x="0" y="242315"/>
                  </a:lnTo>
                  <a:lnTo>
                    <a:pt x="0" y="243840"/>
                  </a:lnTo>
                  <a:lnTo>
                    <a:pt x="1524" y="243840"/>
                  </a:lnTo>
                  <a:lnTo>
                    <a:pt x="3048" y="245364"/>
                  </a:lnTo>
                  <a:lnTo>
                    <a:pt x="4572" y="245364"/>
                  </a:lnTo>
                  <a:lnTo>
                    <a:pt x="16764" y="245364"/>
                  </a:lnTo>
                  <a:lnTo>
                    <a:pt x="18288" y="243840"/>
                  </a:lnTo>
                  <a:lnTo>
                    <a:pt x="19812" y="243840"/>
                  </a:lnTo>
                  <a:lnTo>
                    <a:pt x="19812" y="242315"/>
                  </a:lnTo>
                  <a:lnTo>
                    <a:pt x="21336" y="242315"/>
                  </a:lnTo>
                  <a:lnTo>
                    <a:pt x="21336" y="240791"/>
                  </a:lnTo>
                  <a:lnTo>
                    <a:pt x="21336" y="4572"/>
                  </a:lnTo>
                  <a:close/>
                </a:path>
              </a:pathLst>
            </a:custGeom>
            <a:ln w="10668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4141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5478442" y="1699922"/>
            <a:ext cx="1146818" cy="593132"/>
            <a:chOff x="2381250" y="3582098"/>
            <a:chExt cx="498475" cy="25781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81250" y="3597401"/>
              <a:ext cx="144779" cy="24231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557271" y="3587496"/>
              <a:ext cx="120650" cy="245745"/>
            </a:xfrm>
            <a:custGeom>
              <a:avLst/>
              <a:gdLst/>
              <a:ahLst/>
              <a:cxnLst/>
              <a:rect l="l" t="t" r="r" b="b"/>
              <a:pathLst>
                <a:path w="120650" h="245745">
                  <a:moveTo>
                    <a:pt x="118872" y="237743"/>
                  </a:moveTo>
                  <a:lnTo>
                    <a:pt x="118872" y="236219"/>
                  </a:lnTo>
                  <a:lnTo>
                    <a:pt x="117348" y="236219"/>
                  </a:lnTo>
                  <a:lnTo>
                    <a:pt x="115824" y="233171"/>
                  </a:lnTo>
                  <a:lnTo>
                    <a:pt x="45720" y="149351"/>
                  </a:lnTo>
                  <a:lnTo>
                    <a:pt x="108204" y="89915"/>
                  </a:lnTo>
                  <a:lnTo>
                    <a:pt x="111252" y="88391"/>
                  </a:lnTo>
                  <a:lnTo>
                    <a:pt x="111252" y="86867"/>
                  </a:lnTo>
                  <a:lnTo>
                    <a:pt x="112776" y="85343"/>
                  </a:lnTo>
                  <a:lnTo>
                    <a:pt x="112776" y="83819"/>
                  </a:lnTo>
                  <a:lnTo>
                    <a:pt x="114300" y="83819"/>
                  </a:lnTo>
                  <a:lnTo>
                    <a:pt x="114300" y="82295"/>
                  </a:lnTo>
                  <a:lnTo>
                    <a:pt x="114300" y="80771"/>
                  </a:lnTo>
                  <a:lnTo>
                    <a:pt x="112776" y="80771"/>
                  </a:lnTo>
                  <a:lnTo>
                    <a:pt x="112776" y="79248"/>
                  </a:lnTo>
                  <a:lnTo>
                    <a:pt x="111252" y="79248"/>
                  </a:lnTo>
                  <a:lnTo>
                    <a:pt x="109728" y="77724"/>
                  </a:lnTo>
                  <a:lnTo>
                    <a:pt x="108204" y="77724"/>
                  </a:lnTo>
                  <a:lnTo>
                    <a:pt x="96012" y="77724"/>
                  </a:lnTo>
                  <a:lnTo>
                    <a:pt x="94488" y="79248"/>
                  </a:lnTo>
                  <a:lnTo>
                    <a:pt x="92964" y="79248"/>
                  </a:lnTo>
                  <a:lnTo>
                    <a:pt x="91440" y="79248"/>
                  </a:lnTo>
                  <a:lnTo>
                    <a:pt x="89916" y="80771"/>
                  </a:lnTo>
                  <a:lnTo>
                    <a:pt x="88392" y="82295"/>
                  </a:lnTo>
                  <a:lnTo>
                    <a:pt x="88392" y="83819"/>
                  </a:lnTo>
                  <a:lnTo>
                    <a:pt x="21336" y="150875"/>
                  </a:lnTo>
                  <a:lnTo>
                    <a:pt x="21336" y="4571"/>
                  </a:lnTo>
                  <a:lnTo>
                    <a:pt x="21336" y="4571"/>
                  </a:lnTo>
                  <a:lnTo>
                    <a:pt x="16764" y="0"/>
                  </a:lnTo>
                  <a:lnTo>
                    <a:pt x="15240" y="0"/>
                  </a:lnTo>
                  <a:lnTo>
                    <a:pt x="3048" y="0"/>
                  </a:lnTo>
                  <a:lnTo>
                    <a:pt x="1524" y="1524"/>
                  </a:lnTo>
                  <a:lnTo>
                    <a:pt x="0" y="1524"/>
                  </a:lnTo>
                  <a:lnTo>
                    <a:pt x="0" y="3048"/>
                  </a:lnTo>
                  <a:lnTo>
                    <a:pt x="0" y="4571"/>
                  </a:lnTo>
                  <a:lnTo>
                    <a:pt x="0" y="240791"/>
                  </a:lnTo>
                  <a:lnTo>
                    <a:pt x="0" y="242315"/>
                  </a:lnTo>
                  <a:lnTo>
                    <a:pt x="0" y="243839"/>
                  </a:lnTo>
                  <a:lnTo>
                    <a:pt x="1524" y="243839"/>
                  </a:lnTo>
                  <a:lnTo>
                    <a:pt x="3048" y="245363"/>
                  </a:lnTo>
                  <a:lnTo>
                    <a:pt x="4572" y="245363"/>
                  </a:lnTo>
                  <a:lnTo>
                    <a:pt x="16764" y="245363"/>
                  </a:lnTo>
                  <a:lnTo>
                    <a:pt x="18288" y="243839"/>
                  </a:lnTo>
                  <a:lnTo>
                    <a:pt x="19812" y="243839"/>
                  </a:lnTo>
                  <a:lnTo>
                    <a:pt x="19812" y="242315"/>
                  </a:lnTo>
                  <a:lnTo>
                    <a:pt x="21336" y="242315"/>
                  </a:lnTo>
                  <a:lnTo>
                    <a:pt x="21336" y="240791"/>
                  </a:lnTo>
                  <a:lnTo>
                    <a:pt x="21336" y="150875"/>
                  </a:lnTo>
                  <a:lnTo>
                    <a:pt x="96012" y="240791"/>
                  </a:lnTo>
                  <a:lnTo>
                    <a:pt x="96012" y="242315"/>
                  </a:lnTo>
                  <a:lnTo>
                    <a:pt x="97536" y="242315"/>
                  </a:lnTo>
                  <a:lnTo>
                    <a:pt x="97536" y="243839"/>
                  </a:lnTo>
                  <a:lnTo>
                    <a:pt x="99060" y="243839"/>
                  </a:lnTo>
                  <a:lnTo>
                    <a:pt x="100584" y="243839"/>
                  </a:lnTo>
                  <a:lnTo>
                    <a:pt x="100584" y="245363"/>
                  </a:lnTo>
                  <a:lnTo>
                    <a:pt x="102108" y="245363"/>
                  </a:lnTo>
                  <a:lnTo>
                    <a:pt x="115824" y="245363"/>
                  </a:lnTo>
                  <a:lnTo>
                    <a:pt x="117348" y="243839"/>
                  </a:lnTo>
                  <a:lnTo>
                    <a:pt x="118872" y="243839"/>
                  </a:lnTo>
                  <a:lnTo>
                    <a:pt x="118872" y="242315"/>
                  </a:lnTo>
                  <a:lnTo>
                    <a:pt x="120396" y="240791"/>
                  </a:lnTo>
                  <a:lnTo>
                    <a:pt x="120396" y="239267"/>
                  </a:lnTo>
                  <a:lnTo>
                    <a:pt x="118872" y="239267"/>
                  </a:lnTo>
                  <a:lnTo>
                    <a:pt x="118872" y="237743"/>
                  </a:lnTo>
                  <a:close/>
                </a:path>
              </a:pathLst>
            </a:custGeom>
            <a:ln w="10668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4141"/>
            </a:p>
          </p:txBody>
        </p:sp>
        <p:sp>
          <p:nvSpPr>
            <p:cNvPr id="9" name="object 9"/>
            <p:cNvSpPr/>
            <p:nvPr/>
          </p:nvSpPr>
          <p:spPr>
            <a:xfrm>
              <a:off x="2706623" y="3665219"/>
              <a:ext cx="21590" cy="167640"/>
            </a:xfrm>
            <a:custGeom>
              <a:avLst/>
              <a:gdLst/>
              <a:ahLst/>
              <a:cxnLst/>
              <a:rect l="l" t="t" r="r" b="b"/>
              <a:pathLst>
                <a:path w="21589" h="167639">
                  <a:moveTo>
                    <a:pt x="21336" y="4572"/>
                  </a:moveTo>
                  <a:lnTo>
                    <a:pt x="21336" y="3048"/>
                  </a:lnTo>
                  <a:lnTo>
                    <a:pt x="21336" y="1524"/>
                  </a:lnTo>
                  <a:lnTo>
                    <a:pt x="19812" y="1524"/>
                  </a:lnTo>
                  <a:lnTo>
                    <a:pt x="18288" y="1524"/>
                  </a:lnTo>
                  <a:lnTo>
                    <a:pt x="18288" y="0"/>
                  </a:lnTo>
                  <a:lnTo>
                    <a:pt x="4572" y="0"/>
                  </a:lnTo>
                  <a:lnTo>
                    <a:pt x="3048" y="1524"/>
                  </a:lnTo>
                  <a:lnTo>
                    <a:pt x="1524" y="1524"/>
                  </a:lnTo>
                  <a:lnTo>
                    <a:pt x="1524" y="3048"/>
                  </a:lnTo>
                  <a:lnTo>
                    <a:pt x="0" y="3048"/>
                  </a:lnTo>
                  <a:lnTo>
                    <a:pt x="0" y="4572"/>
                  </a:lnTo>
                  <a:lnTo>
                    <a:pt x="0" y="163067"/>
                  </a:lnTo>
                  <a:lnTo>
                    <a:pt x="0" y="164591"/>
                  </a:lnTo>
                  <a:lnTo>
                    <a:pt x="1524" y="164591"/>
                  </a:lnTo>
                  <a:lnTo>
                    <a:pt x="1524" y="166115"/>
                  </a:lnTo>
                  <a:lnTo>
                    <a:pt x="3048" y="166115"/>
                  </a:lnTo>
                  <a:lnTo>
                    <a:pt x="4572" y="167640"/>
                  </a:lnTo>
                  <a:lnTo>
                    <a:pt x="6096" y="167640"/>
                  </a:lnTo>
                  <a:lnTo>
                    <a:pt x="18288" y="167640"/>
                  </a:lnTo>
                  <a:lnTo>
                    <a:pt x="18288" y="166115"/>
                  </a:lnTo>
                  <a:lnTo>
                    <a:pt x="19812" y="166115"/>
                  </a:lnTo>
                  <a:lnTo>
                    <a:pt x="21336" y="166115"/>
                  </a:lnTo>
                  <a:lnTo>
                    <a:pt x="21336" y="164591"/>
                  </a:lnTo>
                  <a:lnTo>
                    <a:pt x="21336" y="163067"/>
                  </a:lnTo>
                  <a:lnTo>
                    <a:pt x="21336" y="4572"/>
                  </a:lnTo>
                  <a:close/>
                </a:path>
              </a:pathLst>
            </a:custGeom>
            <a:ln w="10668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4141"/>
            </a:p>
          </p:txBody>
        </p:sp>
        <p:sp>
          <p:nvSpPr>
            <p:cNvPr id="10" name="object 10"/>
            <p:cNvSpPr/>
            <p:nvPr/>
          </p:nvSpPr>
          <p:spPr>
            <a:xfrm>
              <a:off x="2703575" y="3601211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5" h="29210">
                  <a:moveTo>
                    <a:pt x="22860" y="3048"/>
                  </a:moveTo>
                  <a:lnTo>
                    <a:pt x="21336" y="1524"/>
                  </a:lnTo>
                  <a:lnTo>
                    <a:pt x="18288" y="0"/>
                  </a:lnTo>
                  <a:lnTo>
                    <a:pt x="13716" y="0"/>
                  </a:lnTo>
                  <a:lnTo>
                    <a:pt x="9144" y="0"/>
                  </a:lnTo>
                  <a:lnTo>
                    <a:pt x="4572" y="1524"/>
                  </a:lnTo>
                  <a:lnTo>
                    <a:pt x="3048" y="3048"/>
                  </a:lnTo>
                  <a:lnTo>
                    <a:pt x="1524" y="4572"/>
                  </a:lnTo>
                  <a:lnTo>
                    <a:pt x="0" y="9144"/>
                  </a:lnTo>
                  <a:lnTo>
                    <a:pt x="0" y="15240"/>
                  </a:lnTo>
                  <a:lnTo>
                    <a:pt x="0" y="19812"/>
                  </a:lnTo>
                  <a:lnTo>
                    <a:pt x="1524" y="24384"/>
                  </a:lnTo>
                  <a:lnTo>
                    <a:pt x="3048" y="25908"/>
                  </a:lnTo>
                  <a:lnTo>
                    <a:pt x="4572" y="27432"/>
                  </a:lnTo>
                  <a:lnTo>
                    <a:pt x="7620" y="28956"/>
                  </a:lnTo>
                  <a:lnTo>
                    <a:pt x="13716" y="28956"/>
                  </a:lnTo>
                  <a:lnTo>
                    <a:pt x="18288" y="28956"/>
                  </a:lnTo>
                  <a:lnTo>
                    <a:pt x="21336" y="27432"/>
                  </a:lnTo>
                  <a:lnTo>
                    <a:pt x="22860" y="25908"/>
                  </a:lnTo>
                  <a:lnTo>
                    <a:pt x="25908" y="24384"/>
                  </a:lnTo>
                  <a:lnTo>
                    <a:pt x="25908" y="19812"/>
                  </a:lnTo>
                  <a:lnTo>
                    <a:pt x="25908" y="15240"/>
                  </a:lnTo>
                  <a:lnTo>
                    <a:pt x="25908" y="9144"/>
                  </a:lnTo>
                  <a:lnTo>
                    <a:pt x="25908" y="4572"/>
                  </a:lnTo>
                  <a:lnTo>
                    <a:pt x="22860" y="3048"/>
                  </a:lnTo>
                  <a:close/>
                </a:path>
              </a:pathLst>
            </a:custGeom>
            <a:ln w="10668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4141"/>
            </a:p>
          </p:txBody>
        </p:sp>
        <p:sp>
          <p:nvSpPr>
            <p:cNvPr id="11" name="object 11"/>
            <p:cNvSpPr/>
            <p:nvPr/>
          </p:nvSpPr>
          <p:spPr>
            <a:xfrm>
              <a:off x="2779775" y="3587495"/>
              <a:ext cx="21590" cy="245745"/>
            </a:xfrm>
            <a:custGeom>
              <a:avLst/>
              <a:gdLst/>
              <a:ahLst/>
              <a:cxnLst/>
              <a:rect l="l" t="t" r="r" b="b"/>
              <a:pathLst>
                <a:path w="21589" h="245745">
                  <a:moveTo>
                    <a:pt x="21336" y="4572"/>
                  </a:moveTo>
                  <a:lnTo>
                    <a:pt x="21336" y="3048"/>
                  </a:lnTo>
                  <a:lnTo>
                    <a:pt x="19812" y="1524"/>
                  </a:lnTo>
                  <a:lnTo>
                    <a:pt x="18288" y="1524"/>
                  </a:lnTo>
                  <a:lnTo>
                    <a:pt x="16764" y="0"/>
                  </a:lnTo>
                  <a:lnTo>
                    <a:pt x="4572" y="0"/>
                  </a:lnTo>
                  <a:lnTo>
                    <a:pt x="3048" y="1524"/>
                  </a:lnTo>
                  <a:lnTo>
                    <a:pt x="1524" y="1524"/>
                  </a:lnTo>
                  <a:lnTo>
                    <a:pt x="0" y="1524"/>
                  </a:lnTo>
                  <a:lnTo>
                    <a:pt x="0" y="3048"/>
                  </a:lnTo>
                  <a:lnTo>
                    <a:pt x="0" y="4572"/>
                  </a:lnTo>
                  <a:lnTo>
                    <a:pt x="0" y="242315"/>
                  </a:lnTo>
                  <a:lnTo>
                    <a:pt x="0" y="243840"/>
                  </a:lnTo>
                  <a:lnTo>
                    <a:pt x="1524" y="243840"/>
                  </a:lnTo>
                  <a:lnTo>
                    <a:pt x="3048" y="243840"/>
                  </a:lnTo>
                  <a:lnTo>
                    <a:pt x="4572" y="245364"/>
                  </a:lnTo>
                  <a:lnTo>
                    <a:pt x="6096" y="245364"/>
                  </a:lnTo>
                  <a:lnTo>
                    <a:pt x="16764" y="245364"/>
                  </a:lnTo>
                  <a:lnTo>
                    <a:pt x="18288" y="243840"/>
                  </a:lnTo>
                  <a:lnTo>
                    <a:pt x="19812" y="243840"/>
                  </a:lnTo>
                  <a:lnTo>
                    <a:pt x="21336" y="242315"/>
                  </a:lnTo>
                  <a:lnTo>
                    <a:pt x="21336" y="240791"/>
                  </a:lnTo>
                  <a:lnTo>
                    <a:pt x="21336" y="4572"/>
                  </a:lnTo>
                  <a:close/>
                </a:path>
              </a:pathLst>
            </a:custGeom>
            <a:ln w="10668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4141"/>
            </a:p>
          </p:txBody>
        </p:sp>
        <p:sp>
          <p:nvSpPr>
            <p:cNvPr id="12" name="object 12"/>
            <p:cNvSpPr/>
            <p:nvPr/>
          </p:nvSpPr>
          <p:spPr>
            <a:xfrm>
              <a:off x="2852928" y="3587495"/>
              <a:ext cx="21590" cy="245745"/>
            </a:xfrm>
            <a:custGeom>
              <a:avLst/>
              <a:gdLst/>
              <a:ahLst/>
              <a:cxnLst/>
              <a:rect l="l" t="t" r="r" b="b"/>
              <a:pathLst>
                <a:path w="21589" h="245745">
                  <a:moveTo>
                    <a:pt x="21336" y="4572"/>
                  </a:moveTo>
                  <a:lnTo>
                    <a:pt x="21336" y="3048"/>
                  </a:lnTo>
                  <a:lnTo>
                    <a:pt x="19812" y="3048"/>
                  </a:lnTo>
                  <a:lnTo>
                    <a:pt x="19812" y="1524"/>
                  </a:lnTo>
                  <a:lnTo>
                    <a:pt x="18288" y="1524"/>
                  </a:lnTo>
                  <a:lnTo>
                    <a:pt x="16764" y="0"/>
                  </a:lnTo>
                  <a:lnTo>
                    <a:pt x="15240" y="0"/>
                  </a:lnTo>
                  <a:lnTo>
                    <a:pt x="3048" y="0"/>
                  </a:lnTo>
                  <a:lnTo>
                    <a:pt x="3048" y="1524"/>
                  </a:lnTo>
                  <a:lnTo>
                    <a:pt x="1524" y="1524"/>
                  </a:lnTo>
                  <a:lnTo>
                    <a:pt x="0" y="1524"/>
                  </a:lnTo>
                  <a:lnTo>
                    <a:pt x="0" y="3048"/>
                  </a:lnTo>
                  <a:lnTo>
                    <a:pt x="0" y="4572"/>
                  </a:lnTo>
                  <a:lnTo>
                    <a:pt x="0" y="242315"/>
                  </a:lnTo>
                  <a:lnTo>
                    <a:pt x="0" y="243840"/>
                  </a:lnTo>
                  <a:lnTo>
                    <a:pt x="1524" y="243840"/>
                  </a:lnTo>
                  <a:lnTo>
                    <a:pt x="3048" y="243840"/>
                  </a:lnTo>
                  <a:lnTo>
                    <a:pt x="3048" y="245364"/>
                  </a:lnTo>
                  <a:lnTo>
                    <a:pt x="16764" y="245364"/>
                  </a:lnTo>
                  <a:lnTo>
                    <a:pt x="18288" y="243840"/>
                  </a:lnTo>
                  <a:lnTo>
                    <a:pt x="19812" y="243840"/>
                  </a:lnTo>
                  <a:lnTo>
                    <a:pt x="19812" y="242315"/>
                  </a:lnTo>
                  <a:lnTo>
                    <a:pt x="21336" y="242315"/>
                  </a:lnTo>
                  <a:lnTo>
                    <a:pt x="21336" y="240791"/>
                  </a:lnTo>
                  <a:lnTo>
                    <a:pt x="21336" y="4572"/>
                  </a:lnTo>
                  <a:close/>
                </a:path>
              </a:pathLst>
            </a:custGeom>
            <a:ln w="10668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4141"/>
            </a:p>
          </p:txBody>
        </p:sp>
      </p:grp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684573" y="1875374"/>
            <a:ext cx="269975" cy="417237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580126" y="2664931"/>
            <a:ext cx="14819522" cy="4745745"/>
          </a:xfrm>
          <a:prstGeom prst="rect">
            <a:avLst/>
          </a:prstGeom>
        </p:spPr>
        <p:txBody>
          <a:bodyPr vert="horz" wrap="square" lIns="0" tIns="78889" rIns="0" bIns="0" rtlCol="0">
            <a:spAutoFit/>
          </a:bodyPr>
          <a:lstStyle/>
          <a:p>
            <a:pPr marL="29221" marR="14612" algn="just">
              <a:lnSpc>
                <a:spcPct val="91700"/>
              </a:lnSpc>
              <a:spcBef>
                <a:spcPts val="621"/>
              </a:spcBef>
            </a:pPr>
            <a:r>
              <a:rPr sz="3451" spc="12" dirty="0">
                <a:solidFill>
                  <a:srgbClr val="3D3D3D"/>
                </a:solidFill>
                <a:latin typeface="Calibri"/>
                <a:cs typeface="Calibri"/>
              </a:rPr>
              <a:t>Managers </a:t>
            </a:r>
            <a:r>
              <a:rPr sz="3451" spc="23" dirty="0">
                <a:solidFill>
                  <a:srgbClr val="3D3D3D"/>
                </a:solidFill>
                <a:latin typeface="Calibri"/>
                <a:cs typeface="Calibri"/>
              </a:rPr>
              <a:t>need a number of </a:t>
            </a:r>
            <a:r>
              <a:rPr sz="3451" spc="12" dirty="0">
                <a:solidFill>
                  <a:srgbClr val="3D3D3D"/>
                </a:solidFill>
                <a:latin typeface="Calibri"/>
                <a:cs typeface="Calibri"/>
              </a:rPr>
              <a:t>skills if they are to </a:t>
            </a:r>
            <a:r>
              <a:rPr sz="3451" spc="23" dirty="0">
                <a:solidFill>
                  <a:srgbClr val="3D3D3D"/>
                </a:solidFill>
                <a:latin typeface="Calibri"/>
                <a:cs typeface="Calibri"/>
              </a:rPr>
              <a:t>succeed. The </a:t>
            </a:r>
            <a:r>
              <a:rPr sz="3451" spc="12" dirty="0">
                <a:solidFill>
                  <a:srgbClr val="3D3D3D"/>
                </a:solidFill>
                <a:latin typeface="Calibri"/>
                <a:cs typeface="Calibri"/>
              </a:rPr>
              <a:t>most </a:t>
            </a:r>
            <a:r>
              <a:rPr sz="3451" spc="23" dirty="0">
                <a:solidFill>
                  <a:srgbClr val="3D3D3D"/>
                </a:solidFill>
                <a:latin typeface="Calibri"/>
                <a:cs typeface="Calibri"/>
              </a:rPr>
              <a:t>fundamental </a:t>
            </a:r>
            <a:r>
              <a:rPr sz="3451" spc="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451" spc="23" dirty="0">
                <a:solidFill>
                  <a:srgbClr val="3D3D3D"/>
                </a:solidFill>
                <a:latin typeface="Calibri"/>
                <a:cs typeface="Calibri"/>
              </a:rPr>
              <a:t>management</a:t>
            </a:r>
            <a:r>
              <a:rPr sz="3451" spc="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451" spc="23" dirty="0">
                <a:solidFill>
                  <a:srgbClr val="3D3D3D"/>
                </a:solidFill>
                <a:latin typeface="Calibri"/>
                <a:cs typeface="Calibri"/>
              </a:rPr>
              <a:t>skills</a:t>
            </a:r>
            <a:r>
              <a:rPr sz="3451" spc="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451" spc="12" dirty="0">
                <a:solidFill>
                  <a:srgbClr val="3D3D3D"/>
                </a:solidFill>
                <a:latin typeface="Calibri"/>
                <a:cs typeface="Calibri"/>
              </a:rPr>
              <a:t>are</a:t>
            </a:r>
            <a:r>
              <a:rPr sz="3451" spc="80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451" spc="12" dirty="0">
                <a:solidFill>
                  <a:srgbClr val="3D3D3D"/>
                </a:solidFill>
                <a:latin typeface="Calibri"/>
                <a:cs typeface="Calibri"/>
              </a:rPr>
              <a:t>technical,</a:t>
            </a:r>
            <a:r>
              <a:rPr sz="3451" spc="80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451" spc="35" dirty="0">
                <a:solidFill>
                  <a:srgbClr val="3D3D3D"/>
                </a:solidFill>
                <a:latin typeface="Calibri"/>
                <a:cs typeface="Calibri"/>
              </a:rPr>
              <a:t>Human,</a:t>
            </a:r>
            <a:r>
              <a:rPr sz="3451" spc="4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451" spc="23" dirty="0">
                <a:solidFill>
                  <a:srgbClr val="3D3D3D"/>
                </a:solidFill>
                <a:latin typeface="Calibri"/>
                <a:cs typeface="Calibri"/>
              </a:rPr>
              <a:t>Conceptual,</a:t>
            </a:r>
            <a:r>
              <a:rPr sz="3451" spc="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451" spc="23" dirty="0">
                <a:solidFill>
                  <a:srgbClr val="3D3D3D"/>
                </a:solidFill>
                <a:latin typeface="Calibri"/>
                <a:cs typeface="Calibri"/>
              </a:rPr>
              <a:t>Design</a:t>
            </a:r>
            <a:r>
              <a:rPr sz="3451" spc="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451" spc="12" dirty="0">
                <a:solidFill>
                  <a:srgbClr val="3D3D3D"/>
                </a:solidFill>
                <a:latin typeface="Calibri"/>
                <a:cs typeface="Calibri"/>
              </a:rPr>
              <a:t>and</a:t>
            </a:r>
            <a:r>
              <a:rPr sz="3451" spc="80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451" spc="23" dirty="0">
                <a:solidFill>
                  <a:srgbClr val="3D3D3D"/>
                </a:solidFill>
                <a:latin typeface="Calibri"/>
                <a:cs typeface="Calibri"/>
              </a:rPr>
              <a:t>time </a:t>
            </a:r>
            <a:r>
              <a:rPr sz="3451" spc="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451" spc="23" dirty="0">
                <a:solidFill>
                  <a:srgbClr val="3D3D3D"/>
                </a:solidFill>
                <a:latin typeface="Calibri"/>
                <a:cs typeface="Calibri"/>
              </a:rPr>
              <a:t>management</a:t>
            </a:r>
            <a:r>
              <a:rPr sz="3451" spc="-69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451" spc="23" dirty="0">
                <a:solidFill>
                  <a:srgbClr val="3D3D3D"/>
                </a:solidFill>
                <a:latin typeface="Calibri"/>
                <a:cs typeface="Calibri"/>
              </a:rPr>
              <a:t>skill.</a:t>
            </a:r>
            <a:endParaRPr sz="3451" dirty="0">
              <a:latin typeface="Calibri"/>
              <a:cs typeface="Calibri"/>
            </a:endParaRPr>
          </a:p>
          <a:p>
            <a:pPr marL="29221" marR="11690" algn="just">
              <a:lnSpc>
                <a:spcPct val="91700"/>
              </a:lnSpc>
              <a:spcBef>
                <a:spcPts val="2082"/>
              </a:spcBef>
            </a:pPr>
            <a:r>
              <a:rPr sz="3451" spc="12" dirty="0">
                <a:solidFill>
                  <a:srgbClr val="3D3D3D"/>
                </a:solidFill>
                <a:latin typeface="Calibri"/>
                <a:cs typeface="Calibri"/>
              </a:rPr>
              <a:t>-</a:t>
            </a:r>
            <a:r>
              <a:rPr sz="3451" spc="23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451" b="1" spc="-12" dirty="0">
                <a:solidFill>
                  <a:srgbClr val="3D3D3D"/>
                </a:solidFill>
                <a:latin typeface="Calibri"/>
                <a:cs typeface="Calibri"/>
              </a:rPr>
              <a:t>Technical</a:t>
            </a:r>
            <a:r>
              <a:rPr sz="3451" b="1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451" b="1" spc="12" dirty="0">
                <a:solidFill>
                  <a:srgbClr val="3D3D3D"/>
                </a:solidFill>
                <a:latin typeface="Calibri"/>
                <a:cs typeface="Calibri"/>
              </a:rPr>
              <a:t>skill:</a:t>
            </a:r>
            <a:r>
              <a:rPr sz="3451" b="1" spc="23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451" spc="-12" dirty="0">
                <a:solidFill>
                  <a:srgbClr val="3D3D3D"/>
                </a:solidFill>
                <a:latin typeface="Calibri"/>
                <a:cs typeface="Calibri"/>
              </a:rPr>
              <a:t>Technical</a:t>
            </a:r>
            <a:r>
              <a:rPr sz="3451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451" spc="12" dirty="0">
                <a:solidFill>
                  <a:srgbClr val="3D3D3D"/>
                </a:solidFill>
                <a:latin typeface="Calibri"/>
                <a:cs typeface="Calibri"/>
              </a:rPr>
              <a:t>skills</a:t>
            </a:r>
            <a:r>
              <a:rPr sz="3451" spc="23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451" spc="12" dirty="0">
                <a:solidFill>
                  <a:srgbClr val="3D3D3D"/>
                </a:solidFill>
                <a:latin typeface="Calibri"/>
                <a:cs typeface="Calibri"/>
              </a:rPr>
              <a:t>are</a:t>
            </a:r>
            <a:r>
              <a:rPr sz="3451" spc="23" dirty="0">
                <a:solidFill>
                  <a:srgbClr val="3D3D3D"/>
                </a:solidFill>
                <a:latin typeface="Calibri"/>
                <a:cs typeface="Calibri"/>
              </a:rPr>
              <a:t> the</a:t>
            </a:r>
            <a:r>
              <a:rPr sz="3451" spc="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451" spc="12" dirty="0">
                <a:solidFill>
                  <a:srgbClr val="FF0000"/>
                </a:solidFill>
                <a:latin typeface="Calibri"/>
                <a:cs typeface="Calibri"/>
              </a:rPr>
              <a:t>skills</a:t>
            </a:r>
            <a:r>
              <a:rPr sz="3451" spc="23" dirty="0">
                <a:solidFill>
                  <a:srgbClr val="FF0000"/>
                </a:solidFill>
                <a:latin typeface="Calibri"/>
                <a:cs typeface="Calibri"/>
              </a:rPr>
              <a:t> necessary</a:t>
            </a:r>
            <a:r>
              <a:rPr sz="3451" spc="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451" spc="-12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345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451" spc="12" dirty="0">
                <a:solidFill>
                  <a:srgbClr val="FF0000"/>
                </a:solidFill>
                <a:latin typeface="Calibri"/>
                <a:cs typeface="Calibri"/>
              </a:rPr>
              <a:t>accomplish</a:t>
            </a:r>
            <a:r>
              <a:rPr sz="3451" spc="2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451" dirty="0">
                <a:solidFill>
                  <a:srgbClr val="FF0000"/>
                </a:solidFill>
                <a:latin typeface="Calibri"/>
                <a:cs typeface="Calibri"/>
              </a:rPr>
              <a:t>or </a:t>
            </a:r>
            <a:r>
              <a:rPr sz="3451" spc="12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451" u="heavy" spc="12" dirty="0">
                <a:solidFill>
                  <a:srgbClr val="FF0000"/>
                </a:solidFill>
                <a:uFill>
                  <a:solidFill>
                    <a:srgbClr val="3D3D3D"/>
                  </a:solidFill>
                </a:uFill>
                <a:latin typeface="Calibri"/>
                <a:cs typeface="Calibri"/>
              </a:rPr>
              <a:t>understand</a:t>
            </a:r>
            <a:r>
              <a:rPr sz="3451" spc="23" dirty="0">
                <a:solidFill>
                  <a:srgbClr val="FF0000"/>
                </a:solidFill>
                <a:latin typeface="Calibri"/>
                <a:cs typeface="Calibri"/>
              </a:rPr>
              <a:t> the</a:t>
            </a:r>
            <a:r>
              <a:rPr sz="3451" spc="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451" spc="23" dirty="0">
                <a:solidFill>
                  <a:srgbClr val="FF0000"/>
                </a:solidFill>
                <a:latin typeface="Calibri"/>
                <a:cs typeface="Calibri"/>
              </a:rPr>
              <a:t>specific</a:t>
            </a:r>
            <a:r>
              <a:rPr sz="3451" spc="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451" spc="12" dirty="0">
                <a:solidFill>
                  <a:srgbClr val="FF0000"/>
                </a:solidFill>
                <a:latin typeface="Calibri"/>
                <a:cs typeface="Calibri"/>
              </a:rPr>
              <a:t>kind</a:t>
            </a:r>
            <a:r>
              <a:rPr sz="3451" spc="23" dirty="0">
                <a:solidFill>
                  <a:srgbClr val="FF0000"/>
                </a:solidFill>
                <a:latin typeface="Calibri"/>
                <a:cs typeface="Calibri"/>
              </a:rPr>
              <a:t> of</a:t>
            </a:r>
            <a:r>
              <a:rPr sz="3451" spc="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451" u="heavy" spc="12" dirty="0">
                <a:solidFill>
                  <a:srgbClr val="FF0000"/>
                </a:solidFill>
                <a:uFill>
                  <a:solidFill>
                    <a:srgbClr val="3D3D3D"/>
                  </a:solidFill>
                </a:uFill>
                <a:latin typeface="Calibri"/>
                <a:cs typeface="Calibri"/>
              </a:rPr>
              <a:t>work</a:t>
            </a:r>
            <a:r>
              <a:rPr sz="3451" spc="23" dirty="0">
                <a:solidFill>
                  <a:srgbClr val="FF0000"/>
                </a:solidFill>
                <a:latin typeface="Calibri"/>
                <a:cs typeface="Calibri"/>
              </a:rPr>
              <a:t> being</a:t>
            </a:r>
            <a:r>
              <a:rPr sz="3451" spc="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451" spc="23" dirty="0">
                <a:solidFill>
                  <a:srgbClr val="FF0000"/>
                </a:solidFill>
                <a:latin typeface="Calibri"/>
                <a:cs typeface="Calibri"/>
              </a:rPr>
              <a:t>done</a:t>
            </a:r>
            <a:r>
              <a:rPr sz="3451" spc="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451" spc="12" dirty="0">
                <a:solidFill>
                  <a:srgbClr val="3D3D3D"/>
                </a:solidFill>
                <a:latin typeface="Calibri"/>
                <a:cs typeface="Calibri"/>
              </a:rPr>
              <a:t>in</a:t>
            </a:r>
            <a:r>
              <a:rPr sz="3451" spc="23" dirty="0">
                <a:solidFill>
                  <a:srgbClr val="3D3D3D"/>
                </a:solidFill>
                <a:latin typeface="Calibri"/>
                <a:cs typeface="Calibri"/>
              </a:rPr>
              <a:t> an</a:t>
            </a:r>
            <a:r>
              <a:rPr sz="3451" spc="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451" dirty="0">
                <a:solidFill>
                  <a:srgbClr val="3D3D3D"/>
                </a:solidFill>
                <a:latin typeface="Calibri"/>
                <a:cs typeface="Calibri"/>
              </a:rPr>
              <a:t>organization.</a:t>
            </a:r>
            <a:r>
              <a:rPr sz="3451" spc="12" dirty="0">
                <a:solidFill>
                  <a:srgbClr val="3D3D3D"/>
                </a:solidFill>
                <a:latin typeface="Calibri"/>
                <a:cs typeface="Calibri"/>
              </a:rPr>
              <a:t> Project </a:t>
            </a:r>
            <a:r>
              <a:rPr sz="3451" spc="23" dirty="0">
                <a:solidFill>
                  <a:srgbClr val="3D3D3D"/>
                </a:solidFill>
                <a:latin typeface="Calibri"/>
                <a:cs typeface="Calibri"/>
              </a:rPr>
              <a:t> engineers, </a:t>
            </a:r>
            <a:r>
              <a:rPr sz="3451" spc="12" dirty="0">
                <a:solidFill>
                  <a:srgbClr val="3D3D3D"/>
                </a:solidFill>
                <a:latin typeface="Calibri"/>
                <a:cs typeface="Calibri"/>
              </a:rPr>
              <a:t>physicians, </a:t>
            </a:r>
            <a:r>
              <a:rPr sz="3451" spc="23" dirty="0">
                <a:solidFill>
                  <a:srgbClr val="3D3D3D"/>
                </a:solidFill>
                <a:latin typeface="Calibri"/>
                <a:cs typeface="Calibri"/>
              </a:rPr>
              <a:t>and </a:t>
            </a:r>
            <a:r>
              <a:rPr sz="3451" spc="12" dirty="0">
                <a:solidFill>
                  <a:srgbClr val="3D3D3D"/>
                </a:solidFill>
                <a:latin typeface="Calibri"/>
                <a:cs typeface="Calibri"/>
              </a:rPr>
              <a:t>accountants all </a:t>
            </a:r>
            <a:r>
              <a:rPr sz="3451" dirty="0">
                <a:solidFill>
                  <a:srgbClr val="3D3D3D"/>
                </a:solidFill>
                <a:latin typeface="Calibri"/>
                <a:cs typeface="Calibri"/>
              </a:rPr>
              <a:t>have </a:t>
            </a:r>
            <a:r>
              <a:rPr sz="3451" spc="23" dirty="0">
                <a:solidFill>
                  <a:srgbClr val="3D3D3D"/>
                </a:solidFill>
                <a:latin typeface="Calibri"/>
                <a:cs typeface="Calibri"/>
              </a:rPr>
              <a:t>the </a:t>
            </a:r>
            <a:r>
              <a:rPr sz="3451" spc="12" dirty="0">
                <a:solidFill>
                  <a:srgbClr val="3D3D3D"/>
                </a:solidFill>
                <a:latin typeface="Calibri"/>
                <a:cs typeface="Calibri"/>
              </a:rPr>
              <a:t>technical skills. They </a:t>
            </a:r>
            <a:r>
              <a:rPr sz="3451" dirty="0">
                <a:solidFill>
                  <a:srgbClr val="3D3D3D"/>
                </a:solidFill>
                <a:latin typeface="Calibri"/>
                <a:cs typeface="Calibri"/>
              </a:rPr>
              <a:t>get </a:t>
            </a:r>
            <a:r>
              <a:rPr sz="3451" spc="12" dirty="0">
                <a:solidFill>
                  <a:srgbClr val="3D3D3D"/>
                </a:solidFill>
                <a:latin typeface="Calibri"/>
                <a:cs typeface="Calibri"/>
              </a:rPr>
              <a:t>this </a:t>
            </a:r>
            <a:r>
              <a:rPr sz="3451" spc="23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451" spc="12" dirty="0">
                <a:solidFill>
                  <a:srgbClr val="3D3D3D"/>
                </a:solidFill>
                <a:latin typeface="Calibri"/>
                <a:cs typeface="Calibri"/>
              </a:rPr>
              <a:t>skill from </a:t>
            </a:r>
            <a:r>
              <a:rPr sz="3451" spc="12" dirty="0">
                <a:solidFill>
                  <a:srgbClr val="FF0000"/>
                </a:solidFill>
                <a:latin typeface="Calibri"/>
                <a:cs typeface="Calibri"/>
              </a:rPr>
              <a:t>education </a:t>
            </a:r>
            <a:r>
              <a:rPr sz="3451" spc="35" dirty="0">
                <a:solidFill>
                  <a:srgbClr val="FF0000"/>
                </a:solidFill>
                <a:latin typeface="Calibri"/>
                <a:cs typeface="Calibri"/>
              </a:rPr>
              <a:t>and </a:t>
            </a:r>
            <a:r>
              <a:rPr sz="3451" spc="23" dirty="0">
                <a:solidFill>
                  <a:srgbClr val="FF0000"/>
                </a:solidFill>
                <a:latin typeface="Calibri"/>
                <a:cs typeface="Calibri"/>
              </a:rPr>
              <a:t>experience</a:t>
            </a:r>
            <a:r>
              <a:rPr sz="3451" spc="23" dirty="0">
                <a:solidFill>
                  <a:srgbClr val="3D3D3D"/>
                </a:solidFill>
                <a:latin typeface="Calibri"/>
                <a:cs typeface="Calibri"/>
              </a:rPr>
              <a:t>. </a:t>
            </a:r>
            <a:r>
              <a:rPr sz="3451" spc="-23" dirty="0">
                <a:solidFill>
                  <a:srgbClr val="3D3D3D"/>
                </a:solidFill>
                <a:latin typeface="Calibri"/>
                <a:cs typeface="Calibri"/>
              </a:rPr>
              <a:t>Technical </a:t>
            </a:r>
            <a:r>
              <a:rPr sz="3451" spc="12" dirty="0">
                <a:solidFill>
                  <a:srgbClr val="3D3D3D"/>
                </a:solidFill>
                <a:latin typeface="Calibri"/>
                <a:cs typeface="Calibri"/>
              </a:rPr>
              <a:t>skills are </a:t>
            </a:r>
            <a:r>
              <a:rPr sz="3451" spc="23" dirty="0">
                <a:solidFill>
                  <a:srgbClr val="3D3D3D"/>
                </a:solidFill>
                <a:latin typeface="Calibri"/>
                <a:cs typeface="Calibri"/>
              </a:rPr>
              <a:t>especially </a:t>
            </a:r>
            <a:r>
              <a:rPr sz="3451" spc="12" dirty="0">
                <a:solidFill>
                  <a:srgbClr val="FF0000"/>
                </a:solidFill>
                <a:latin typeface="Calibri"/>
                <a:cs typeface="Calibri"/>
              </a:rPr>
              <a:t>important </a:t>
            </a:r>
            <a:r>
              <a:rPr sz="3451" dirty="0">
                <a:solidFill>
                  <a:srgbClr val="FF0000"/>
                </a:solidFill>
                <a:latin typeface="Calibri"/>
                <a:cs typeface="Calibri"/>
              </a:rPr>
              <a:t>for </a:t>
            </a:r>
            <a:r>
              <a:rPr sz="3451" spc="12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451" dirty="0">
                <a:solidFill>
                  <a:srgbClr val="FF0000"/>
                </a:solidFill>
                <a:latin typeface="Calibri"/>
                <a:cs typeface="Calibri"/>
              </a:rPr>
              <a:t>first </a:t>
            </a:r>
            <a:r>
              <a:rPr sz="3451" spc="23" dirty="0">
                <a:solidFill>
                  <a:srgbClr val="FF0000"/>
                </a:solidFill>
                <a:latin typeface="Calibri"/>
                <a:cs typeface="Calibri"/>
              </a:rPr>
              <a:t>line </a:t>
            </a:r>
            <a:r>
              <a:rPr sz="3451" spc="12" dirty="0">
                <a:solidFill>
                  <a:srgbClr val="FF0000"/>
                </a:solidFill>
                <a:latin typeface="Calibri"/>
                <a:cs typeface="Calibri"/>
              </a:rPr>
              <a:t>managers</a:t>
            </a:r>
            <a:r>
              <a:rPr sz="3451" spc="12" dirty="0">
                <a:solidFill>
                  <a:srgbClr val="3D3D3D"/>
                </a:solidFill>
                <a:latin typeface="Calibri"/>
                <a:cs typeface="Calibri"/>
              </a:rPr>
              <a:t>. </a:t>
            </a:r>
            <a:r>
              <a:rPr sz="3451" spc="23" dirty="0">
                <a:solidFill>
                  <a:srgbClr val="3D3D3D"/>
                </a:solidFill>
                <a:latin typeface="Calibri"/>
                <a:cs typeface="Calibri"/>
              </a:rPr>
              <a:t>(Mechanics </a:t>
            </a:r>
            <a:r>
              <a:rPr sz="3451" spc="12" dirty="0">
                <a:solidFill>
                  <a:srgbClr val="3D3D3D"/>
                </a:solidFill>
                <a:latin typeface="Calibri"/>
                <a:cs typeface="Calibri"/>
              </a:rPr>
              <a:t>work </a:t>
            </a:r>
            <a:r>
              <a:rPr sz="3451" spc="23" dirty="0">
                <a:solidFill>
                  <a:srgbClr val="3D3D3D"/>
                </a:solidFill>
                <a:latin typeface="Calibri"/>
                <a:cs typeface="Calibri"/>
              </a:rPr>
              <a:t>with </a:t>
            </a:r>
            <a:r>
              <a:rPr sz="3451" dirty="0">
                <a:solidFill>
                  <a:srgbClr val="3D3D3D"/>
                </a:solidFill>
                <a:latin typeface="Calibri"/>
                <a:cs typeface="Calibri"/>
              </a:rPr>
              <a:t>tools, </a:t>
            </a:r>
            <a:r>
              <a:rPr sz="3451" spc="12" dirty="0">
                <a:solidFill>
                  <a:srgbClr val="3D3D3D"/>
                </a:solidFill>
                <a:latin typeface="Calibri"/>
                <a:cs typeface="Calibri"/>
              </a:rPr>
              <a:t>so their </a:t>
            </a:r>
            <a:r>
              <a:rPr sz="3451" spc="23" dirty="0">
                <a:solidFill>
                  <a:srgbClr val="3D3D3D"/>
                </a:solidFill>
                <a:latin typeface="Calibri"/>
                <a:cs typeface="Calibri"/>
              </a:rPr>
              <a:t>supervisor should </a:t>
            </a:r>
            <a:r>
              <a:rPr sz="3451" dirty="0">
                <a:solidFill>
                  <a:srgbClr val="3D3D3D"/>
                </a:solidFill>
                <a:latin typeface="Calibri"/>
                <a:cs typeface="Calibri"/>
              </a:rPr>
              <a:t>have </a:t>
            </a:r>
            <a:r>
              <a:rPr sz="3451" spc="12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451" spc="23" dirty="0">
                <a:solidFill>
                  <a:srgbClr val="3D3D3D"/>
                </a:solidFill>
                <a:latin typeface="Calibri"/>
                <a:cs typeface="Calibri"/>
              </a:rPr>
              <a:t>the</a:t>
            </a:r>
            <a:r>
              <a:rPr sz="3451" spc="-23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451" spc="12" dirty="0">
                <a:solidFill>
                  <a:srgbClr val="3D3D3D"/>
                </a:solidFill>
                <a:latin typeface="Calibri"/>
                <a:cs typeface="Calibri"/>
              </a:rPr>
              <a:t>ability</a:t>
            </a:r>
            <a:r>
              <a:rPr sz="3451" spc="-23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451" spc="-12" dirty="0">
                <a:solidFill>
                  <a:srgbClr val="3D3D3D"/>
                </a:solidFill>
                <a:latin typeface="Calibri"/>
                <a:cs typeface="Calibri"/>
              </a:rPr>
              <a:t>to</a:t>
            </a:r>
            <a:r>
              <a:rPr sz="3451" spc="69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451" spc="12" dirty="0">
                <a:solidFill>
                  <a:srgbClr val="3D3D3D"/>
                </a:solidFill>
                <a:latin typeface="Calibri"/>
                <a:cs typeface="Calibri"/>
              </a:rPr>
              <a:t>teach</a:t>
            </a:r>
            <a:r>
              <a:rPr sz="3451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451" spc="35" dirty="0">
                <a:solidFill>
                  <a:srgbClr val="3D3D3D"/>
                </a:solidFill>
                <a:latin typeface="Calibri"/>
                <a:cs typeface="Calibri"/>
              </a:rPr>
              <a:t>them</a:t>
            </a:r>
            <a:r>
              <a:rPr sz="3451" spc="-12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451" spc="23" dirty="0">
                <a:solidFill>
                  <a:srgbClr val="3D3D3D"/>
                </a:solidFill>
                <a:latin typeface="Calibri"/>
                <a:cs typeface="Calibri"/>
              </a:rPr>
              <a:t>h</a:t>
            </a:r>
            <a:r>
              <a:rPr lang="en-US" sz="3451" spc="12" dirty="0">
                <a:solidFill>
                  <a:srgbClr val="3D3D3D"/>
                </a:solidFill>
                <a:latin typeface="Calibri"/>
                <a:cs typeface="Calibri"/>
              </a:rPr>
              <a:t>ow</a:t>
            </a:r>
            <a:r>
              <a:rPr lang="en-US" sz="3451" spc="-12" dirty="0">
                <a:solidFill>
                  <a:srgbClr val="3D3D3D"/>
                </a:solidFill>
                <a:latin typeface="Calibri"/>
                <a:cs typeface="Calibri"/>
              </a:rPr>
              <a:t> to</a:t>
            </a:r>
            <a:r>
              <a:rPr lang="en-US" sz="3451" spc="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lang="en-US" sz="3451" spc="23" dirty="0">
                <a:solidFill>
                  <a:srgbClr val="3D3D3D"/>
                </a:solidFill>
                <a:latin typeface="Calibri"/>
                <a:cs typeface="Calibri"/>
              </a:rPr>
              <a:t>use </a:t>
            </a:r>
            <a:r>
              <a:rPr lang="en-US" sz="3451" spc="12" dirty="0">
                <a:solidFill>
                  <a:srgbClr val="3D3D3D"/>
                </a:solidFill>
                <a:latin typeface="Calibri"/>
                <a:cs typeface="Calibri"/>
              </a:rPr>
              <a:t>the</a:t>
            </a:r>
            <a:r>
              <a:rPr lang="en-US" sz="3451" spc="-12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lang="en-US" sz="3451" dirty="0">
                <a:solidFill>
                  <a:srgbClr val="3D3D3D"/>
                </a:solidFill>
                <a:latin typeface="Calibri"/>
                <a:cs typeface="Calibri"/>
              </a:rPr>
              <a:t>tools)</a:t>
            </a:r>
            <a:endParaRPr lang="en-US" sz="3451" dirty="0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324970" y="7145890"/>
            <a:ext cx="3962002" cy="2531471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5945064" y="9491460"/>
            <a:ext cx="397369" cy="436666"/>
          </a:xfrm>
          <a:prstGeom prst="rect">
            <a:avLst/>
          </a:prstGeom>
        </p:spPr>
        <p:txBody>
          <a:bodyPr vert="horz" wrap="square" lIns="0" tIns="29218" rIns="0" bIns="0" rtlCol="0">
            <a:spAutoFit/>
          </a:bodyPr>
          <a:lstStyle/>
          <a:p>
            <a:pPr marL="29221">
              <a:spcBef>
                <a:spcPts val="230"/>
              </a:spcBef>
            </a:pPr>
            <a:r>
              <a:rPr sz="2646" spc="-23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2646" dirty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endParaRPr sz="2646">
              <a:latin typeface="Calibri"/>
              <a:cs typeface="Calibri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2417B21D-4346-43A9-C4E3-E71785BD1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49589" y="2546813"/>
            <a:ext cx="14617916" cy="0"/>
          </a:xfrm>
          <a:custGeom>
            <a:avLst/>
            <a:gdLst/>
            <a:ahLst/>
            <a:cxnLst/>
            <a:rect l="l" t="t" r="r" b="b"/>
            <a:pathLst>
              <a:path w="6353809">
                <a:moveTo>
                  <a:pt x="0" y="0"/>
                </a:moveTo>
                <a:lnTo>
                  <a:pt x="6353556" y="0"/>
                </a:lnTo>
              </a:path>
            </a:pathLst>
          </a:custGeom>
          <a:ln w="4572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 sz="4141"/>
          </a:p>
        </p:txBody>
      </p:sp>
      <p:grpSp>
        <p:nvGrpSpPr>
          <p:cNvPr id="3" name="object 3"/>
          <p:cNvGrpSpPr/>
          <p:nvPr/>
        </p:nvGrpSpPr>
        <p:grpSpPr>
          <a:xfrm>
            <a:off x="1807444" y="1700065"/>
            <a:ext cx="3447759" cy="733379"/>
            <a:chOff x="785622" y="3582161"/>
            <a:chExt cx="1498600" cy="3187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5622" y="3595877"/>
              <a:ext cx="1426463" cy="3048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257044" y="3587495"/>
              <a:ext cx="21590" cy="245745"/>
            </a:xfrm>
            <a:custGeom>
              <a:avLst/>
              <a:gdLst/>
              <a:ahLst/>
              <a:cxnLst/>
              <a:rect l="l" t="t" r="r" b="b"/>
              <a:pathLst>
                <a:path w="21589" h="245745">
                  <a:moveTo>
                    <a:pt x="21336" y="4572"/>
                  </a:moveTo>
                  <a:lnTo>
                    <a:pt x="19812" y="3048"/>
                  </a:lnTo>
                  <a:lnTo>
                    <a:pt x="16764" y="0"/>
                  </a:lnTo>
                  <a:lnTo>
                    <a:pt x="15240" y="0"/>
                  </a:lnTo>
                  <a:lnTo>
                    <a:pt x="3048" y="0"/>
                  </a:lnTo>
                  <a:lnTo>
                    <a:pt x="1524" y="1524"/>
                  </a:lnTo>
                  <a:lnTo>
                    <a:pt x="0" y="1524"/>
                  </a:lnTo>
                  <a:lnTo>
                    <a:pt x="0" y="3048"/>
                  </a:lnTo>
                  <a:lnTo>
                    <a:pt x="0" y="4572"/>
                  </a:lnTo>
                  <a:lnTo>
                    <a:pt x="0" y="240791"/>
                  </a:lnTo>
                  <a:lnTo>
                    <a:pt x="0" y="242315"/>
                  </a:lnTo>
                  <a:lnTo>
                    <a:pt x="0" y="243840"/>
                  </a:lnTo>
                  <a:lnTo>
                    <a:pt x="1524" y="243840"/>
                  </a:lnTo>
                  <a:lnTo>
                    <a:pt x="3048" y="245364"/>
                  </a:lnTo>
                  <a:lnTo>
                    <a:pt x="4572" y="245364"/>
                  </a:lnTo>
                  <a:lnTo>
                    <a:pt x="16764" y="245364"/>
                  </a:lnTo>
                  <a:lnTo>
                    <a:pt x="18288" y="243840"/>
                  </a:lnTo>
                  <a:lnTo>
                    <a:pt x="19812" y="243840"/>
                  </a:lnTo>
                  <a:lnTo>
                    <a:pt x="19812" y="242315"/>
                  </a:lnTo>
                  <a:lnTo>
                    <a:pt x="21336" y="242315"/>
                  </a:lnTo>
                  <a:lnTo>
                    <a:pt x="21336" y="240791"/>
                  </a:lnTo>
                  <a:lnTo>
                    <a:pt x="21336" y="4572"/>
                  </a:lnTo>
                  <a:close/>
                </a:path>
              </a:pathLst>
            </a:custGeom>
            <a:ln w="10668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4141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5478442" y="1699922"/>
            <a:ext cx="1146818" cy="593132"/>
            <a:chOff x="2381250" y="3582098"/>
            <a:chExt cx="498475" cy="25781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81250" y="3597401"/>
              <a:ext cx="144779" cy="24231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557271" y="3587496"/>
              <a:ext cx="120650" cy="245745"/>
            </a:xfrm>
            <a:custGeom>
              <a:avLst/>
              <a:gdLst/>
              <a:ahLst/>
              <a:cxnLst/>
              <a:rect l="l" t="t" r="r" b="b"/>
              <a:pathLst>
                <a:path w="120650" h="245745">
                  <a:moveTo>
                    <a:pt x="118872" y="237743"/>
                  </a:moveTo>
                  <a:lnTo>
                    <a:pt x="118872" y="236219"/>
                  </a:lnTo>
                  <a:lnTo>
                    <a:pt x="117348" y="236219"/>
                  </a:lnTo>
                  <a:lnTo>
                    <a:pt x="115824" y="233171"/>
                  </a:lnTo>
                  <a:lnTo>
                    <a:pt x="45720" y="149351"/>
                  </a:lnTo>
                  <a:lnTo>
                    <a:pt x="108204" y="89915"/>
                  </a:lnTo>
                  <a:lnTo>
                    <a:pt x="111252" y="88391"/>
                  </a:lnTo>
                  <a:lnTo>
                    <a:pt x="111252" y="86867"/>
                  </a:lnTo>
                  <a:lnTo>
                    <a:pt x="112776" y="85343"/>
                  </a:lnTo>
                  <a:lnTo>
                    <a:pt x="112776" y="83819"/>
                  </a:lnTo>
                  <a:lnTo>
                    <a:pt x="114300" y="83819"/>
                  </a:lnTo>
                  <a:lnTo>
                    <a:pt x="114300" y="82295"/>
                  </a:lnTo>
                  <a:lnTo>
                    <a:pt x="114300" y="80771"/>
                  </a:lnTo>
                  <a:lnTo>
                    <a:pt x="112776" y="80771"/>
                  </a:lnTo>
                  <a:lnTo>
                    <a:pt x="112776" y="79248"/>
                  </a:lnTo>
                  <a:lnTo>
                    <a:pt x="111252" y="79248"/>
                  </a:lnTo>
                  <a:lnTo>
                    <a:pt x="109728" y="77724"/>
                  </a:lnTo>
                  <a:lnTo>
                    <a:pt x="108204" y="77724"/>
                  </a:lnTo>
                  <a:lnTo>
                    <a:pt x="96012" y="77724"/>
                  </a:lnTo>
                  <a:lnTo>
                    <a:pt x="94488" y="79248"/>
                  </a:lnTo>
                  <a:lnTo>
                    <a:pt x="92964" y="79248"/>
                  </a:lnTo>
                  <a:lnTo>
                    <a:pt x="91440" y="79248"/>
                  </a:lnTo>
                  <a:lnTo>
                    <a:pt x="89916" y="80771"/>
                  </a:lnTo>
                  <a:lnTo>
                    <a:pt x="88392" y="82295"/>
                  </a:lnTo>
                  <a:lnTo>
                    <a:pt x="88392" y="83819"/>
                  </a:lnTo>
                  <a:lnTo>
                    <a:pt x="21336" y="150875"/>
                  </a:lnTo>
                  <a:lnTo>
                    <a:pt x="21336" y="4571"/>
                  </a:lnTo>
                  <a:lnTo>
                    <a:pt x="21336" y="4571"/>
                  </a:lnTo>
                  <a:lnTo>
                    <a:pt x="16764" y="0"/>
                  </a:lnTo>
                  <a:lnTo>
                    <a:pt x="15240" y="0"/>
                  </a:lnTo>
                  <a:lnTo>
                    <a:pt x="3048" y="0"/>
                  </a:lnTo>
                  <a:lnTo>
                    <a:pt x="1524" y="1524"/>
                  </a:lnTo>
                  <a:lnTo>
                    <a:pt x="0" y="1524"/>
                  </a:lnTo>
                  <a:lnTo>
                    <a:pt x="0" y="3048"/>
                  </a:lnTo>
                  <a:lnTo>
                    <a:pt x="0" y="4571"/>
                  </a:lnTo>
                  <a:lnTo>
                    <a:pt x="0" y="240791"/>
                  </a:lnTo>
                  <a:lnTo>
                    <a:pt x="0" y="242315"/>
                  </a:lnTo>
                  <a:lnTo>
                    <a:pt x="0" y="243839"/>
                  </a:lnTo>
                  <a:lnTo>
                    <a:pt x="1524" y="243839"/>
                  </a:lnTo>
                  <a:lnTo>
                    <a:pt x="3048" y="245363"/>
                  </a:lnTo>
                  <a:lnTo>
                    <a:pt x="4572" y="245363"/>
                  </a:lnTo>
                  <a:lnTo>
                    <a:pt x="16764" y="245363"/>
                  </a:lnTo>
                  <a:lnTo>
                    <a:pt x="18288" y="243839"/>
                  </a:lnTo>
                  <a:lnTo>
                    <a:pt x="19812" y="243839"/>
                  </a:lnTo>
                  <a:lnTo>
                    <a:pt x="19812" y="242315"/>
                  </a:lnTo>
                  <a:lnTo>
                    <a:pt x="21336" y="242315"/>
                  </a:lnTo>
                  <a:lnTo>
                    <a:pt x="21336" y="240791"/>
                  </a:lnTo>
                  <a:lnTo>
                    <a:pt x="21336" y="150875"/>
                  </a:lnTo>
                  <a:lnTo>
                    <a:pt x="96012" y="240791"/>
                  </a:lnTo>
                  <a:lnTo>
                    <a:pt x="96012" y="242315"/>
                  </a:lnTo>
                  <a:lnTo>
                    <a:pt x="97536" y="242315"/>
                  </a:lnTo>
                  <a:lnTo>
                    <a:pt x="97536" y="243839"/>
                  </a:lnTo>
                  <a:lnTo>
                    <a:pt x="99060" y="243839"/>
                  </a:lnTo>
                  <a:lnTo>
                    <a:pt x="100584" y="243839"/>
                  </a:lnTo>
                  <a:lnTo>
                    <a:pt x="100584" y="245363"/>
                  </a:lnTo>
                  <a:lnTo>
                    <a:pt x="102108" y="245363"/>
                  </a:lnTo>
                  <a:lnTo>
                    <a:pt x="115824" y="245363"/>
                  </a:lnTo>
                  <a:lnTo>
                    <a:pt x="117348" y="243839"/>
                  </a:lnTo>
                  <a:lnTo>
                    <a:pt x="118872" y="243839"/>
                  </a:lnTo>
                  <a:lnTo>
                    <a:pt x="118872" y="242315"/>
                  </a:lnTo>
                  <a:lnTo>
                    <a:pt x="120396" y="240791"/>
                  </a:lnTo>
                  <a:lnTo>
                    <a:pt x="120396" y="239267"/>
                  </a:lnTo>
                  <a:lnTo>
                    <a:pt x="118872" y="239267"/>
                  </a:lnTo>
                  <a:lnTo>
                    <a:pt x="118872" y="237743"/>
                  </a:lnTo>
                  <a:close/>
                </a:path>
              </a:pathLst>
            </a:custGeom>
            <a:ln w="10668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4141"/>
            </a:p>
          </p:txBody>
        </p:sp>
        <p:sp>
          <p:nvSpPr>
            <p:cNvPr id="9" name="object 9"/>
            <p:cNvSpPr/>
            <p:nvPr/>
          </p:nvSpPr>
          <p:spPr>
            <a:xfrm>
              <a:off x="2706623" y="3665219"/>
              <a:ext cx="21590" cy="167640"/>
            </a:xfrm>
            <a:custGeom>
              <a:avLst/>
              <a:gdLst/>
              <a:ahLst/>
              <a:cxnLst/>
              <a:rect l="l" t="t" r="r" b="b"/>
              <a:pathLst>
                <a:path w="21589" h="167639">
                  <a:moveTo>
                    <a:pt x="21336" y="4572"/>
                  </a:moveTo>
                  <a:lnTo>
                    <a:pt x="21336" y="3048"/>
                  </a:lnTo>
                  <a:lnTo>
                    <a:pt x="21336" y="1524"/>
                  </a:lnTo>
                  <a:lnTo>
                    <a:pt x="19812" y="1524"/>
                  </a:lnTo>
                  <a:lnTo>
                    <a:pt x="18288" y="1524"/>
                  </a:lnTo>
                  <a:lnTo>
                    <a:pt x="18288" y="0"/>
                  </a:lnTo>
                  <a:lnTo>
                    <a:pt x="4572" y="0"/>
                  </a:lnTo>
                  <a:lnTo>
                    <a:pt x="3048" y="1524"/>
                  </a:lnTo>
                  <a:lnTo>
                    <a:pt x="1524" y="1524"/>
                  </a:lnTo>
                  <a:lnTo>
                    <a:pt x="1524" y="3048"/>
                  </a:lnTo>
                  <a:lnTo>
                    <a:pt x="0" y="3048"/>
                  </a:lnTo>
                  <a:lnTo>
                    <a:pt x="0" y="4572"/>
                  </a:lnTo>
                  <a:lnTo>
                    <a:pt x="0" y="163067"/>
                  </a:lnTo>
                  <a:lnTo>
                    <a:pt x="0" y="164591"/>
                  </a:lnTo>
                  <a:lnTo>
                    <a:pt x="1524" y="164591"/>
                  </a:lnTo>
                  <a:lnTo>
                    <a:pt x="1524" y="166115"/>
                  </a:lnTo>
                  <a:lnTo>
                    <a:pt x="3048" y="166115"/>
                  </a:lnTo>
                  <a:lnTo>
                    <a:pt x="4572" y="167640"/>
                  </a:lnTo>
                  <a:lnTo>
                    <a:pt x="6096" y="167640"/>
                  </a:lnTo>
                  <a:lnTo>
                    <a:pt x="18288" y="167640"/>
                  </a:lnTo>
                  <a:lnTo>
                    <a:pt x="18288" y="166115"/>
                  </a:lnTo>
                  <a:lnTo>
                    <a:pt x="19812" y="166115"/>
                  </a:lnTo>
                  <a:lnTo>
                    <a:pt x="21336" y="166115"/>
                  </a:lnTo>
                  <a:lnTo>
                    <a:pt x="21336" y="164591"/>
                  </a:lnTo>
                  <a:lnTo>
                    <a:pt x="21336" y="163067"/>
                  </a:lnTo>
                  <a:lnTo>
                    <a:pt x="21336" y="4572"/>
                  </a:lnTo>
                  <a:close/>
                </a:path>
              </a:pathLst>
            </a:custGeom>
            <a:ln w="10668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4141"/>
            </a:p>
          </p:txBody>
        </p:sp>
        <p:sp>
          <p:nvSpPr>
            <p:cNvPr id="10" name="object 10"/>
            <p:cNvSpPr/>
            <p:nvPr/>
          </p:nvSpPr>
          <p:spPr>
            <a:xfrm>
              <a:off x="2703575" y="3601211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5" h="29210">
                  <a:moveTo>
                    <a:pt x="22860" y="3048"/>
                  </a:moveTo>
                  <a:lnTo>
                    <a:pt x="21336" y="1524"/>
                  </a:lnTo>
                  <a:lnTo>
                    <a:pt x="18288" y="0"/>
                  </a:lnTo>
                  <a:lnTo>
                    <a:pt x="13716" y="0"/>
                  </a:lnTo>
                  <a:lnTo>
                    <a:pt x="9144" y="0"/>
                  </a:lnTo>
                  <a:lnTo>
                    <a:pt x="4572" y="1524"/>
                  </a:lnTo>
                  <a:lnTo>
                    <a:pt x="3048" y="3048"/>
                  </a:lnTo>
                  <a:lnTo>
                    <a:pt x="1524" y="4572"/>
                  </a:lnTo>
                  <a:lnTo>
                    <a:pt x="0" y="9144"/>
                  </a:lnTo>
                  <a:lnTo>
                    <a:pt x="0" y="15240"/>
                  </a:lnTo>
                  <a:lnTo>
                    <a:pt x="0" y="19812"/>
                  </a:lnTo>
                  <a:lnTo>
                    <a:pt x="1524" y="24384"/>
                  </a:lnTo>
                  <a:lnTo>
                    <a:pt x="3048" y="25908"/>
                  </a:lnTo>
                  <a:lnTo>
                    <a:pt x="4572" y="27432"/>
                  </a:lnTo>
                  <a:lnTo>
                    <a:pt x="7620" y="28956"/>
                  </a:lnTo>
                  <a:lnTo>
                    <a:pt x="13716" y="28956"/>
                  </a:lnTo>
                  <a:lnTo>
                    <a:pt x="18288" y="28956"/>
                  </a:lnTo>
                  <a:lnTo>
                    <a:pt x="21336" y="27432"/>
                  </a:lnTo>
                  <a:lnTo>
                    <a:pt x="22860" y="25908"/>
                  </a:lnTo>
                  <a:lnTo>
                    <a:pt x="25908" y="24384"/>
                  </a:lnTo>
                  <a:lnTo>
                    <a:pt x="25908" y="19812"/>
                  </a:lnTo>
                  <a:lnTo>
                    <a:pt x="25908" y="15240"/>
                  </a:lnTo>
                  <a:lnTo>
                    <a:pt x="25908" y="9144"/>
                  </a:lnTo>
                  <a:lnTo>
                    <a:pt x="25908" y="4572"/>
                  </a:lnTo>
                  <a:lnTo>
                    <a:pt x="22860" y="3048"/>
                  </a:lnTo>
                  <a:close/>
                </a:path>
              </a:pathLst>
            </a:custGeom>
            <a:ln w="10668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4141"/>
            </a:p>
          </p:txBody>
        </p:sp>
        <p:sp>
          <p:nvSpPr>
            <p:cNvPr id="11" name="object 11"/>
            <p:cNvSpPr/>
            <p:nvPr/>
          </p:nvSpPr>
          <p:spPr>
            <a:xfrm>
              <a:off x="2779775" y="3587495"/>
              <a:ext cx="21590" cy="245745"/>
            </a:xfrm>
            <a:custGeom>
              <a:avLst/>
              <a:gdLst/>
              <a:ahLst/>
              <a:cxnLst/>
              <a:rect l="l" t="t" r="r" b="b"/>
              <a:pathLst>
                <a:path w="21589" h="245745">
                  <a:moveTo>
                    <a:pt x="21336" y="4572"/>
                  </a:moveTo>
                  <a:lnTo>
                    <a:pt x="21336" y="3048"/>
                  </a:lnTo>
                  <a:lnTo>
                    <a:pt x="19812" y="1524"/>
                  </a:lnTo>
                  <a:lnTo>
                    <a:pt x="18288" y="1524"/>
                  </a:lnTo>
                  <a:lnTo>
                    <a:pt x="16764" y="0"/>
                  </a:lnTo>
                  <a:lnTo>
                    <a:pt x="4572" y="0"/>
                  </a:lnTo>
                  <a:lnTo>
                    <a:pt x="3048" y="1524"/>
                  </a:lnTo>
                  <a:lnTo>
                    <a:pt x="1524" y="1524"/>
                  </a:lnTo>
                  <a:lnTo>
                    <a:pt x="0" y="1524"/>
                  </a:lnTo>
                  <a:lnTo>
                    <a:pt x="0" y="3048"/>
                  </a:lnTo>
                  <a:lnTo>
                    <a:pt x="0" y="4572"/>
                  </a:lnTo>
                  <a:lnTo>
                    <a:pt x="0" y="242315"/>
                  </a:lnTo>
                  <a:lnTo>
                    <a:pt x="0" y="243840"/>
                  </a:lnTo>
                  <a:lnTo>
                    <a:pt x="1524" y="243840"/>
                  </a:lnTo>
                  <a:lnTo>
                    <a:pt x="3048" y="243840"/>
                  </a:lnTo>
                  <a:lnTo>
                    <a:pt x="4572" y="245364"/>
                  </a:lnTo>
                  <a:lnTo>
                    <a:pt x="6096" y="245364"/>
                  </a:lnTo>
                  <a:lnTo>
                    <a:pt x="16764" y="245364"/>
                  </a:lnTo>
                  <a:lnTo>
                    <a:pt x="18288" y="243840"/>
                  </a:lnTo>
                  <a:lnTo>
                    <a:pt x="19812" y="243840"/>
                  </a:lnTo>
                  <a:lnTo>
                    <a:pt x="21336" y="242315"/>
                  </a:lnTo>
                  <a:lnTo>
                    <a:pt x="21336" y="240791"/>
                  </a:lnTo>
                  <a:lnTo>
                    <a:pt x="21336" y="4572"/>
                  </a:lnTo>
                  <a:close/>
                </a:path>
              </a:pathLst>
            </a:custGeom>
            <a:ln w="10668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4141"/>
            </a:p>
          </p:txBody>
        </p:sp>
        <p:sp>
          <p:nvSpPr>
            <p:cNvPr id="12" name="object 12"/>
            <p:cNvSpPr/>
            <p:nvPr/>
          </p:nvSpPr>
          <p:spPr>
            <a:xfrm>
              <a:off x="2852928" y="3587495"/>
              <a:ext cx="21590" cy="245745"/>
            </a:xfrm>
            <a:custGeom>
              <a:avLst/>
              <a:gdLst/>
              <a:ahLst/>
              <a:cxnLst/>
              <a:rect l="l" t="t" r="r" b="b"/>
              <a:pathLst>
                <a:path w="21589" h="245745">
                  <a:moveTo>
                    <a:pt x="21336" y="4572"/>
                  </a:moveTo>
                  <a:lnTo>
                    <a:pt x="21336" y="3048"/>
                  </a:lnTo>
                  <a:lnTo>
                    <a:pt x="19812" y="3048"/>
                  </a:lnTo>
                  <a:lnTo>
                    <a:pt x="19812" y="1524"/>
                  </a:lnTo>
                  <a:lnTo>
                    <a:pt x="18288" y="1524"/>
                  </a:lnTo>
                  <a:lnTo>
                    <a:pt x="16764" y="0"/>
                  </a:lnTo>
                  <a:lnTo>
                    <a:pt x="15240" y="0"/>
                  </a:lnTo>
                  <a:lnTo>
                    <a:pt x="3048" y="0"/>
                  </a:lnTo>
                  <a:lnTo>
                    <a:pt x="3048" y="1524"/>
                  </a:lnTo>
                  <a:lnTo>
                    <a:pt x="1524" y="1524"/>
                  </a:lnTo>
                  <a:lnTo>
                    <a:pt x="0" y="1524"/>
                  </a:lnTo>
                  <a:lnTo>
                    <a:pt x="0" y="3048"/>
                  </a:lnTo>
                  <a:lnTo>
                    <a:pt x="0" y="4572"/>
                  </a:lnTo>
                  <a:lnTo>
                    <a:pt x="0" y="242315"/>
                  </a:lnTo>
                  <a:lnTo>
                    <a:pt x="0" y="243840"/>
                  </a:lnTo>
                  <a:lnTo>
                    <a:pt x="1524" y="243840"/>
                  </a:lnTo>
                  <a:lnTo>
                    <a:pt x="3048" y="243840"/>
                  </a:lnTo>
                  <a:lnTo>
                    <a:pt x="3048" y="245364"/>
                  </a:lnTo>
                  <a:lnTo>
                    <a:pt x="16764" y="245364"/>
                  </a:lnTo>
                  <a:lnTo>
                    <a:pt x="18288" y="243840"/>
                  </a:lnTo>
                  <a:lnTo>
                    <a:pt x="19812" y="243840"/>
                  </a:lnTo>
                  <a:lnTo>
                    <a:pt x="19812" y="242315"/>
                  </a:lnTo>
                  <a:lnTo>
                    <a:pt x="21336" y="242315"/>
                  </a:lnTo>
                  <a:lnTo>
                    <a:pt x="21336" y="240791"/>
                  </a:lnTo>
                  <a:lnTo>
                    <a:pt x="21336" y="4572"/>
                  </a:lnTo>
                  <a:close/>
                </a:path>
              </a:pathLst>
            </a:custGeom>
            <a:ln w="10668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4141"/>
            </a:p>
          </p:txBody>
        </p:sp>
      </p:grp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84573" y="1875374"/>
            <a:ext cx="269975" cy="417237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580170" y="3008209"/>
            <a:ext cx="14816600" cy="3087791"/>
          </a:xfrm>
          <a:prstGeom prst="rect">
            <a:avLst/>
          </a:prstGeom>
        </p:spPr>
        <p:txBody>
          <a:bodyPr vert="horz" wrap="square" lIns="0" tIns="78889" rIns="0" bIns="0" rtlCol="0">
            <a:spAutoFit/>
          </a:bodyPr>
          <a:lstStyle/>
          <a:p>
            <a:pPr marL="162172" marR="11690" indent="-134411" algn="just">
              <a:lnSpc>
                <a:spcPct val="91800"/>
              </a:lnSpc>
              <a:spcBef>
                <a:spcPts val="621"/>
              </a:spcBef>
            </a:pPr>
            <a:r>
              <a:rPr sz="3451" b="1" spc="23" dirty="0">
                <a:solidFill>
                  <a:srgbClr val="3D3D3D"/>
                </a:solidFill>
                <a:latin typeface="Calibri"/>
                <a:cs typeface="Calibri"/>
              </a:rPr>
              <a:t>Human </a:t>
            </a:r>
            <a:r>
              <a:rPr sz="3451" b="1" spc="12" dirty="0">
                <a:solidFill>
                  <a:srgbClr val="3D3D3D"/>
                </a:solidFill>
                <a:latin typeface="Calibri"/>
                <a:cs typeface="Calibri"/>
              </a:rPr>
              <a:t>Skill: </a:t>
            </a:r>
            <a:endParaRPr lang="en-US" sz="3451" b="1" spc="12" dirty="0">
              <a:solidFill>
                <a:srgbClr val="3D3D3D"/>
              </a:solidFill>
              <a:latin typeface="Calibri"/>
              <a:cs typeface="Calibri"/>
            </a:endParaRPr>
          </a:p>
          <a:p>
            <a:pPr marL="162172" marR="11690" indent="-134411" algn="just">
              <a:lnSpc>
                <a:spcPct val="91800"/>
              </a:lnSpc>
              <a:spcBef>
                <a:spcPts val="621"/>
              </a:spcBef>
            </a:pPr>
            <a:r>
              <a:rPr lang="en-US" sz="3451" spc="12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451" spc="12" dirty="0">
                <a:solidFill>
                  <a:srgbClr val="3D3D3D"/>
                </a:solidFill>
                <a:latin typeface="Calibri"/>
                <a:cs typeface="Calibri"/>
              </a:rPr>
              <a:t>For obvious reasons </a:t>
            </a:r>
            <a:r>
              <a:rPr sz="3451" spc="23" dirty="0">
                <a:solidFill>
                  <a:srgbClr val="3D3D3D"/>
                </a:solidFill>
                <a:latin typeface="Calibri"/>
                <a:cs typeface="Calibri"/>
              </a:rPr>
              <a:t>the </a:t>
            </a:r>
            <a:r>
              <a:rPr sz="3451" spc="23" dirty="0">
                <a:solidFill>
                  <a:srgbClr val="FF0000"/>
                </a:solidFill>
                <a:latin typeface="Calibri"/>
                <a:cs typeface="Calibri"/>
              </a:rPr>
              <a:t>manager needs </a:t>
            </a:r>
            <a:r>
              <a:rPr sz="3451" spc="12" dirty="0">
                <a:solidFill>
                  <a:srgbClr val="FF0000"/>
                </a:solidFill>
                <a:latin typeface="Calibri"/>
                <a:cs typeface="Calibri"/>
              </a:rPr>
              <a:t>interpersonal </a:t>
            </a:r>
            <a:r>
              <a:rPr sz="3451" dirty="0">
                <a:solidFill>
                  <a:srgbClr val="FF0000"/>
                </a:solidFill>
                <a:latin typeface="Calibri"/>
                <a:cs typeface="Calibri"/>
              </a:rPr>
              <a:t>skills</a:t>
            </a:r>
            <a:r>
              <a:rPr lang="en-US" sz="345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451" dirty="0">
                <a:solidFill>
                  <a:srgbClr val="3D3D3D"/>
                </a:solidFill>
                <a:latin typeface="Calibri"/>
                <a:cs typeface="Calibri"/>
              </a:rPr>
              <a:t>- </a:t>
            </a:r>
            <a:r>
              <a:rPr sz="3451" spc="12" dirty="0">
                <a:solidFill>
                  <a:srgbClr val="3D3D3D"/>
                </a:solidFill>
                <a:latin typeface="Calibri"/>
                <a:cs typeface="Calibri"/>
              </a:rPr>
              <a:t>the </a:t>
            </a:r>
            <a:r>
              <a:rPr sz="3451" spc="23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451" spc="12" dirty="0">
                <a:solidFill>
                  <a:srgbClr val="3D3D3D"/>
                </a:solidFill>
                <a:latin typeface="Calibri"/>
                <a:cs typeface="Calibri"/>
              </a:rPr>
              <a:t>ability to</a:t>
            </a:r>
            <a:r>
              <a:rPr lang="en-US" sz="3451" spc="12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451" u="heavy" spc="12" dirty="0">
                <a:solidFill>
                  <a:srgbClr val="FF0000"/>
                </a:solidFill>
                <a:uFill>
                  <a:solidFill>
                    <a:srgbClr val="3D3D3D"/>
                  </a:solidFill>
                </a:uFill>
                <a:latin typeface="Calibri"/>
                <a:cs typeface="Calibri"/>
              </a:rPr>
              <a:t>communicate</a:t>
            </a:r>
            <a:r>
              <a:rPr sz="3451" spc="12" dirty="0">
                <a:solidFill>
                  <a:srgbClr val="FF0000"/>
                </a:solidFill>
                <a:latin typeface="Calibri"/>
                <a:cs typeface="Calibri"/>
              </a:rPr>
              <a:t> with, </a:t>
            </a:r>
            <a:r>
              <a:rPr sz="3451" dirty="0">
                <a:solidFill>
                  <a:srgbClr val="FF0000"/>
                </a:solidFill>
                <a:latin typeface="Calibri"/>
                <a:cs typeface="Calibri"/>
              </a:rPr>
              <a:t>understand, </a:t>
            </a:r>
            <a:r>
              <a:rPr sz="3451" spc="23" dirty="0">
                <a:solidFill>
                  <a:srgbClr val="FF0000"/>
                </a:solidFill>
                <a:latin typeface="Calibri"/>
                <a:cs typeface="Calibri"/>
              </a:rPr>
              <a:t>and </a:t>
            </a:r>
            <a:r>
              <a:rPr sz="3451" u="heavy" dirty="0">
                <a:solidFill>
                  <a:srgbClr val="FF0000"/>
                </a:solidFill>
                <a:uFill>
                  <a:solidFill>
                    <a:srgbClr val="3D3D3D"/>
                  </a:solidFill>
                </a:uFill>
                <a:latin typeface="Calibri"/>
                <a:cs typeface="Calibri"/>
              </a:rPr>
              <a:t>motivate</a:t>
            </a:r>
            <a:r>
              <a:rPr sz="345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451" spc="23" dirty="0">
                <a:solidFill>
                  <a:srgbClr val="FF0000"/>
                </a:solidFill>
                <a:latin typeface="Calibri"/>
                <a:cs typeface="Calibri"/>
              </a:rPr>
              <a:t>individuals and </a:t>
            </a:r>
            <a:r>
              <a:rPr sz="3451" spc="12" dirty="0">
                <a:solidFill>
                  <a:srgbClr val="FF0000"/>
                </a:solidFill>
                <a:latin typeface="Calibri"/>
                <a:cs typeface="Calibri"/>
              </a:rPr>
              <a:t>groups</a:t>
            </a:r>
            <a:r>
              <a:rPr sz="3451" spc="12" dirty="0">
                <a:solidFill>
                  <a:srgbClr val="3D3D3D"/>
                </a:solidFill>
                <a:latin typeface="Calibri"/>
                <a:cs typeface="Calibri"/>
              </a:rPr>
              <a:t>. </a:t>
            </a:r>
            <a:r>
              <a:rPr sz="3451" spc="23" dirty="0">
                <a:solidFill>
                  <a:srgbClr val="3D3D3D"/>
                </a:solidFill>
                <a:latin typeface="Calibri"/>
                <a:cs typeface="Calibri"/>
              </a:rPr>
              <a:t>A </a:t>
            </a:r>
            <a:r>
              <a:rPr sz="3451" spc="-748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451" spc="23" dirty="0">
                <a:solidFill>
                  <a:srgbClr val="3D3D3D"/>
                </a:solidFill>
                <a:latin typeface="Calibri"/>
                <a:cs typeface="Calibri"/>
              </a:rPr>
              <a:t>manager </a:t>
            </a:r>
            <a:r>
              <a:rPr sz="3451" spc="12" dirty="0">
                <a:solidFill>
                  <a:srgbClr val="3D3D3D"/>
                </a:solidFill>
                <a:latin typeface="Calibri"/>
                <a:cs typeface="Calibri"/>
              </a:rPr>
              <a:t>must </a:t>
            </a:r>
            <a:r>
              <a:rPr sz="3451" spc="23" dirty="0">
                <a:solidFill>
                  <a:srgbClr val="3D3D3D"/>
                </a:solidFill>
                <a:latin typeface="Calibri"/>
                <a:cs typeface="Calibri"/>
              </a:rPr>
              <a:t>be able </a:t>
            </a:r>
            <a:r>
              <a:rPr sz="3451" dirty="0">
                <a:solidFill>
                  <a:srgbClr val="3D3D3D"/>
                </a:solidFill>
                <a:latin typeface="Calibri"/>
                <a:cs typeface="Calibri"/>
              </a:rPr>
              <a:t>to </a:t>
            </a:r>
            <a:r>
              <a:rPr sz="3451" spc="23" dirty="0">
                <a:solidFill>
                  <a:srgbClr val="3D3D3D"/>
                </a:solidFill>
                <a:latin typeface="Calibri"/>
                <a:cs typeface="Calibri"/>
              </a:rPr>
              <a:t>work with </a:t>
            </a:r>
            <a:r>
              <a:rPr sz="3451" spc="12" dirty="0">
                <a:solidFill>
                  <a:srgbClr val="3D3D3D"/>
                </a:solidFill>
                <a:latin typeface="Calibri"/>
                <a:cs typeface="Calibri"/>
              </a:rPr>
              <a:t>subordinates, peers, </a:t>
            </a:r>
            <a:r>
              <a:rPr sz="3451" spc="35" dirty="0">
                <a:solidFill>
                  <a:srgbClr val="3D3D3D"/>
                </a:solidFill>
                <a:latin typeface="Calibri"/>
                <a:cs typeface="Calibri"/>
              </a:rPr>
              <a:t>and </a:t>
            </a:r>
            <a:r>
              <a:rPr sz="3451" spc="23" dirty="0">
                <a:solidFill>
                  <a:srgbClr val="3D3D3D"/>
                </a:solidFill>
                <a:latin typeface="Calibri"/>
                <a:cs typeface="Calibri"/>
              </a:rPr>
              <a:t>those </a:t>
            </a:r>
            <a:r>
              <a:rPr sz="3451" spc="12" dirty="0">
                <a:solidFill>
                  <a:srgbClr val="3D3D3D"/>
                </a:solidFill>
                <a:latin typeface="Calibri"/>
                <a:cs typeface="Calibri"/>
              </a:rPr>
              <a:t>at </a:t>
            </a:r>
            <a:r>
              <a:rPr sz="3451" spc="23" dirty="0">
                <a:solidFill>
                  <a:srgbClr val="3D3D3D"/>
                </a:solidFill>
                <a:latin typeface="Calibri"/>
                <a:cs typeface="Calibri"/>
              </a:rPr>
              <a:t>the </a:t>
            </a:r>
            <a:r>
              <a:rPr sz="3451" spc="12" dirty="0">
                <a:solidFill>
                  <a:srgbClr val="3D3D3D"/>
                </a:solidFill>
                <a:latin typeface="Calibri"/>
                <a:cs typeface="Calibri"/>
              </a:rPr>
              <a:t>top </a:t>
            </a:r>
            <a:r>
              <a:rPr sz="3451" spc="23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451" spc="12" dirty="0">
                <a:solidFill>
                  <a:srgbClr val="3D3D3D"/>
                </a:solidFill>
                <a:latin typeface="Calibri"/>
                <a:cs typeface="Calibri"/>
              </a:rPr>
              <a:t>level also. </a:t>
            </a:r>
            <a:r>
              <a:rPr sz="3451" spc="23" dirty="0">
                <a:solidFill>
                  <a:srgbClr val="3D3D3D"/>
                </a:solidFill>
                <a:latin typeface="Calibri"/>
                <a:cs typeface="Calibri"/>
              </a:rPr>
              <a:t>They should </a:t>
            </a:r>
            <a:r>
              <a:rPr sz="3451" spc="12" dirty="0">
                <a:solidFill>
                  <a:srgbClr val="3D3D3D"/>
                </a:solidFill>
                <a:latin typeface="Calibri"/>
                <a:cs typeface="Calibri"/>
              </a:rPr>
              <a:t>also </a:t>
            </a:r>
            <a:r>
              <a:rPr sz="3451" spc="23" dirty="0">
                <a:solidFill>
                  <a:srgbClr val="3D3D3D"/>
                </a:solidFill>
                <a:latin typeface="Calibri"/>
                <a:cs typeface="Calibri"/>
              </a:rPr>
              <a:t>be able </a:t>
            </a:r>
            <a:r>
              <a:rPr sz="3451" spc="12" dirty="0">
                <a:solidFill>
                  <a:srgbClr val="3D3D3D"/>
                </a:solidFill>
                <a:latin typeface="Calibri"/>
                <a:cs typeface="Calibri"/>
              </a:rPr>
              <a:t>to work with </a:t>
            </a:r>
            <a:r>
              <a:rPr sz="3451" u="heavy" spc="12" dirty="0">
                <a:solidFill>
                  <a:srgbClr val="3D3D3D"/>
                </a:solidFill>
                <a:uFill>
                  <a:solidFill>
                    <a:srgbClr val="3D3D3D"/>
                  </a:solidFill>
                </a:uFill>
                <a:latin typeface="Calibri"/>
                <a:cs typeface="Calibri"/>
              </a:rPr>
              <a:t>suppliers, </a:t>
            </a:r>
            <a:r>
              <a:rPr sz="3451" u="heavy" dirty="0">
                <a:solidFill>
                  <a:srgbClr val="3D3D3D"/>
                </a:solidFill>
                <a:uFill>
                  <a:solidFill>
                    <a:srgbClr val="3D3D3D"/>
                  </a:solidFill>
                </a:uFill>
                <a:latin typeface="Calibri"/>
                <a:cs typeface="Calibri"/>
              </a:rPr>
              <a:t>creditors, </a:t>
            </a:r>
            <a:r>
              <a:rPr sz="3451" u="heavy" spc="12" dirty="0">
                <a:solidFill>
                  <a:srgbClr val="3D3D3D"/>
                </a:solidFill>
                <a:uFill>
                  <a:solidFill>
                    <a:srgbClr val="3D3D3D"/>
                  </a:solidFill>
                </a:uFill>
                <a:latin typeface="Calibri"/>
                <a:cs typeface="Calibri"/>
              </a:rPr>
              <a:t>customers, </a:t>
            </a:r>
            <a:r>
              <a:rPr sz="3451" spc="23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451" u="heavy" spc="-12" dirty="0">
                <a:solidFill>
                  <a:srgbClr val="3D3D3D"/>
                </a:solidFill>
                <a:uFill>
                  <a:solidFill>
                    <a:srgbClr val="3D3D3D"/>
                  </a:solidFill>
                </a:uFill>
                <a:latin typeface="Calibri"/>
                <a:cs typeface="Calibri"/>
              </a:rPr>
              <a:t>investors</a:t>
            </a:r>
            <a:r>
              <a:rPr sz="3451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451" spc="23" dirty="0">
                <a:solidFill>
                  <a:srgbClr val="3D3D3D"/>
                </a:solidFill>
                <a:latin typeface="Calibri"/>
                <a:cs typeface="Calibri"/>
              </a:rPr>
              <a:t>and</a:t>
            </a:r>
            <a:r>
              <a:rPr sz="3451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451" spc="12" dirty="0">
                <a:solidFill>
                  <a:srgbClr val="3D3D3D"/>
                </a:solidFill>
                <a:latin typeface="Calibri"/>
                <a:cs typeface="Calibri"/>
              </a:rPr>
              <a:t>other</a:t>
            </a:r>
            <a:r>
              <a:rPr sz="3451" spc="23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451" spc="12" dirty="0">
                <a:solidFill>
                  <a:srgbClr val="3D3D3D"/>
                </a:solidFill>
                <a:latin typeface="Calibri"/>
                <a:cs typeface="Calibri"/>
              </a:rPr>
              <a:t>outsiders.</a:t>
            </a:r>
            <a:endParaRPr sz="3451" dirty="0">
              <a:latin typeface="Calibri"/>
              <a:cs typeface="Calibri"/>
            </a:endParaRPr>
          </a:p>
        </p:txBody>
      </p:sp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16053" y="5919784"/>
            <a:ext cx="3232710" cy="2952215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5945064" y="9491460"/>
            <a:ext cx="397369" cy="436666"/>
          </a:xfrm>
          <a:prstGeom prst="rect">
            <a:avLst/>
          </a:prstGeom>
        </p:spPr>
        <p:txBody>
          <a:bodyPr vert="horz" wrap="square" lIns="0" tIns="29218" rIns="0" bIns="0" rtlCol="0">
            <a:spAutoFit/>
          </a:bodyPr>
          <a:lstStyle/>
          <a:p>
            <a:pPr marL="29221">
              <a:spcBef>
                <a:spcPts val="230"/>
              </a:spcBef>
            </a:pPr>
            <a:r>
              <a:rPr sz="2646" spc="-23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2646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2646">
              <a:latin typeface="Calibri"/>
              <a:cs typeface="Calibri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AF942FFE-6058-A5FC-F1B3-D9EE60108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49589" y="2546813"/>
            <a:ext cx="14617916" cy="0"/>
          </a:xfrm>
          <a:custGeom>
            <a:avLst/>
            <a:gdLst/>
            <a:ahLst/>
            <a:cxnLst/>
            <a:rect l="l" t="t" r="r" b="b"/>
            <a:pathLst>
              <a:path w="6353809">
                <a:moveTo>
                  <a:pt x="0" y="0"/>
                </a:moveTo>
                <a:lnTo>
                  <a:pt x="6353556" y="0"/>
                </a:lnTo>
              </a:path>
            </a:pathLst>
          </a:custGeom>
          <a:ln w="4572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 sz="4141"/>
          </a:p>
        </p:txBody>
      </p:sp>
      <p:grpSp>
        <p:nvGrpSpPr>
          <p:cNvPr id="3" name="object 3"/>
          <p:cNvGrpSpPr/>
          <p:nvPr/>
        </p:nvGrpSpPr>
        <p:grpSpPr>
          <a:xfrm>
            <a:off x="1807444" y="1700065"/>
            <a:ext cx="3447759" cy="733379"/>
            <a:chOff x="785622" y="3582161"/>
            <a:chExt cx="1498600" cy="3187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5622" y="3595877"/>
              <a:ext cx="1426463" cy="3048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257044" y="3587495"/>
              <a:ext cx="21590" cy="245745"/>
            </a:xfrm>
            <a:custGeom>
              <a:avLst/>
              <a:gdLst/>
              <a:ahLst/>
              <a:cxnLst/>
              <a:rect l="l" t="t" r="r" b="b"/>
              <a:pathLst>
                <a:path w="21589" h="245745">
                  <a:moveTo>
                    <a:pt x="21336" y="4572"/>
                  </a:moveTo>
                  <a:lnTo>
                    <a:pt x="19812" y="3048"/>
                  </a:lnTo>
                  <a:lnTo>
                    <a:pt x="16764" y="0"/>
                  </a:lnTo>
                  <a:lnTo>
                    <a:pt x="15240" y="0"/>
                  </a:lnTo>
                  <a:lnTo>
                    <a:pt x="3048" y="0"/>
                  </a:lnTo>
                  <a:lnTo>
                    <a:pt x="1524" y="1524"/>
                  </a:lnTo>
                  <a:lnTo>
                    <a:pt x="0" y="1524"/>
                  </a:lnTo>
                  <a:lnTo>
                    <a:pt x="0" y="3048"/>
                  </a:lnTo>
                  <a:lnTo>
                    <a:pt x="0" y="4572"/>
                  </a:lnTo>
                  <a:lnTo>
                    <a:pt x="0" y="240791"/>
                  </a:lnTo>
                  <a:lnTo>
                    <a:pt x="0" y="242315"/>
                  </a:lnTo>
                  <a:lnTo>
                    <a:pt x="0" y="243840"/>
                  </a:lnTo>
                  <a:lnTo>
                    <a:pt x="1524" y="243840"/>
                  </a:lnTo>
                  <a:lnTo>
                    <a:pt x="3048" y="245364"/>
                  </a:lnTo>
                  <a:lnTo>
                    <a:pt x="4572" y="245364"/>
                  </a:lnTo>
                  <a:lnTo>
                    <a:pt x="16764" y="245364"/>
                  </a:lnTo>
                  <a:lnTo>
                    <a:pt x="18288" y="243840"/>
                  </a:lnTo>
                  <a:lnTo>
                    <a:pt x="19812" y="243840"/>
                  </a:lnTo>
                  <a:lnTo>
                    <a:pt x="19812" y="242315"/>
                  </a:lnTo>
                  <a:lnTo>
                    <a:pt x="21336" y="242315"/>
                  </a:lnTo>
                  <a:lnTo>
                    <a:pt x="21336" y="240791"/>
                  </a:lnTo>
                  <a:lnTo>
                    <a:pt x="21336" y="4572"/>
                  </a:lnTo>
                  <a:close/>
                </a:path>
              </a:pathLst>
            </a:custGeom>
            <a:ln w="10668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4141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5478442" y="1699922"/>
            <a:ext cx="1146818" cy="593132"/>
            <a:chOff x="2381250" y="3582098"/>
            <a:chExt cx="498475" cy="25781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81250" y="3597401"/>
              <a:ext cx="144779" cy="24231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557271" y="3587496"/>
              <a:ext cx="120650" cy="245745"/>
            </a:xfrm>
            <a:custGeom>
              <a:avLst/>
              <a:gdLst/>
              <a:ahLst/>
              <a:cxnLst/>
              <a:rect l="l" t="t" r="r" b="b"/>
              <a:pathLst>
                <a:path w="120650" h="245745">
                  <a:moveTo>
                    <a:pt x="118872" y="237743"/>
                  </a:moveTo>
                  <a:lnTo>
                    <a:pt x="118872" y="236219"/>
                  </a:lnTo>
                  <a:lnTo>
                    <a:pt x="117348" y="236219"/>
                  </a:lnTo>
                  <a:lnTo>
                    <a:pt x="115824" y="233171"/>
                  </a:lnTo>
                  <a:lnTo>
                    <a:pt x="45720" y="149351"/>
                  </a:lnTo>
                  <a:lnTo>
                    <a:pt x="108204" y="89915"/>
                  </a:lnTo>
                  <a:lnTo>
                    <a:pt x="111252" y="88391"/>
                  </a:lnTo>
                  <a:lnTo>
                    <a:pt x="111252" y="86867"/>
                  </a:lnTo>
                  <a:lnTo>
                    <a:pt x="112776" y="85343"/>
                  </a:lnTo>
                  <a:lnTo>
                    <a:pt x="112776" y="83819"/>
                  </a:lnTo>
                  <a:lnTo>
                    <a:pt x="114300" y="83819"/>
                  </a:lnTo>
                  <a:lnTo>
                    <a:pt x="114300" y="82295"/>
                  </a:lnTo>
                  <a:lnTo>
                    <a:pt x="114300" y="80771"/>
                  </a:lnTo>
                  <a:lnTo>
                    <a:pt x="112776" y="80771"/>
                  </a:lnTo>
                  <a:lnTo>
                    <a:pt x="112776" y="79248"/>
                  </a:lnTo>
                  <a:lnTo>
                    <a:pt x="111252" y="79248"/>
                  </a:lnTo>
                  <a:lnTo>
                    <a:pt x="109728" y="77724"/>
                  </a:lnTo>
                  <a:lnTo>
                    <a:pt x="108204" y="77724"/>
                  </a:lnTo>
                  <a:lnTo>
                    <a:pt x="96012" y="77724"/>
                  </a:lnTo>
                  <a:lnTo>
                    <a:pt x="94488" y="79248"/>
                  </a:lnTo>
                  <a:lnTo>
                    <a:pt x="92964" y="79248"/>
                  </a:lnTo>
                  <a:lnTo>
                    <a:pt x="91440" y="79248"/>
                  </a:lnTo>
                  <a:lnTo>
                    <a:pt x="89916" y="80771"/>
                  </a:lnTo>
                  <a:lnTo>
                    <a:pt x="88392" y="82295"/>
                  </a:lnTo>
                  <a:lnTo>
                    <a:pt x="88392" y="83819"/>
                  </a:lnTo>
                  <a:lnTo>
                    <a:pt x="21336" y="150875"/>
                  </a:lnTo>
                  <a:lnTo>
                    <a:pt x="21336" y="4571"/>
                  </a:lnTo>
                  <a:lnTo>
                    <a:pt x="21336" y="4571"/>
                  </a:lnTo>
                  <a:lnTo>
                    <a:pt x="16764" y="0"/>
                  </a:lnTo>
                  <a:lnTo>
                    <a:pt x="15240" y="0"/>
                  </a:lnTo>
                  <a:lnTo>
                    <a:pt x="3048" y="0"/>
                  </a:lnTo>
                  <a:lnTo>
                    <a:pt x="1524" y="1524"/>
                  </a:lnTo>
                  <a:lnTo>
                    <a:pt x="0" y="1524"/>
                  </a:lnTo>
                  <a:lnTo>
                    <a:pt x="0" y="3048"/>
                  </a:lnTo>
                  <a:lnTo>
                    <a:pt x="0" y="4571"/>
                  </a:lnTo>
                  <a:lnTo>
                    <a:pt x="0" y="240791"/>
                  </a:lnTo>
                  <a:lnTo>
                    <a:pt x="0" y="242315"/>
                  </a:lnTo>
                  <a:lnTo>
                    <a:pt x="0" y="243839"/>
                  </a:lnTo>
                  <a:lnTo>
                    <a:pt x="1524" y="243839"/>
                  </a:lnTo>
                  <a:lnTo>
                    <a:pt x="3048" y="245363"/>
                  </a:lnTo>
                  <a:lnTo>
                    <a:pt x="4572" y="245363"/>
                  </a:lnTo>
                  <a:lnTo>
                    <a:pt x="16764" y="245363"/>
                  </a:lnTo>
                  <a:lnTo>
                    <a:pt x="18288" y="243839"/>
                  </a:lnTo>
                  <a:lnTo>
                    <a:pt x="19812" y="243839"/>
                  </a:lnTo>
                  <a:lnTo>
                    <a:pt x="19812" y="242315"/>
                  </a:lnTo>
                  <a:lnTo>
                    <a:pt x="21336" y="242315"/>
                  </a:lnTo>
                  <a:lnTo>
                    <a:pt x="21336" y="240791"/>
                  </a:lnTo>
                  <a:lnTo>
                    <a:pt x="21336" y="150875"/>
                  </a:lnTo>
                  <a:lnTo>
                    <a:pt x="96012" y="240791"/>
                  </a:lnTo>
                  <a:lnTo>
                    <a:pt x="96012" y="242315"/>
                  </a:lnTo>
                  <a:lnTo>
                    <a:pt x="97536" y="242315"/>
                  </a:lnTo>
                  <a:lnTo>
                    <a:pt x="97536" y="243839"/>
                  </a:lnTo>
                  <a:lnTo>
                    <a:pt x="99060" y="243839"/>
                  </a:lnTo>
                  <a:lnTo>
                    <a:pt x="100584" y="243839"/>
                  </a:lnTo>
                  <a:lnTo>
                    <a:pt x="100584" y="245363"/>
                  </a:lnTo>
                  <a:lnTo>
                    <a:pt x="102108" y="245363"/>
                  </a:lnTo>
                  <a:lnTo>
                    <a:pt x="115824" y="245363"/>
                  </a:lnTo>
                  <a:lnTo>
                    <a:pt x="117348" y="243839"/>
                  </a:lnTo>
                  <a:lnTo>
                    <a:pt x="118872" y="243839"/>
                  </a:lnTo>
                  <a:lnTo>
                    <a:pt x="118872" y="242315"/>
                  </a:lnTo>
                  <a:lnTo>
                    <a:pt x="120396" y="240791"/>
                  </a:lnTo>
                  <a:lnTo>
                    <a:pt x="120396" y="239267"/>
                  </a:lnTo>
                  <a:lnTo>
                    <a:pt x="118872" y="239267"/>
                  </a:lnTo>
                  <a:lnTo>
                    <a:pt x="118872" y="237743"/>
                  </a:lnTo>
                  <a:close/>
                </a:path>
              </a:pathLst>
            </a:custGeom>
            <a:ln w="10668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4141"/>
            </a:p>
          </p:txBody>
        </p:sp>
        <p:sp>
          <p:nvSpPr>
            <p:cNvPr id="9" name="object 9"/>
            <p:cNvSpPr/>
            <p:nvPr/>
          </p:nvSpPr>
          <p:spPr>
            <a:xfrm>
              <a:off x="2706623" y="3665219"/>
              <a:ext cx="21590" cy="167640"/>
            </a:xfrm>
            <a:custGeom>
              <a:avLst/>
              <a:gdLst/>
              <a:ahLst/>
              <a:cxnLst/>
              <a:rect l="l" t="t" r="r" b="b"/>
              <a:pathLst>
                <a:path w="21589" h="167639">
                  <a:moveTo>
                    <a:pt x="21336" y="4572"/>
                  </a:moveTo>
                  <a:lnTo>
                    <a:pt x="21336" y="3048"/>
                  </a:lnTo>
                  <a:lnTo>
                    <a:pt x="21336" y="1524"/>
                  </a:lnTo>
                  <a:lnTo>
                    <a:pt x="19812" y="1524"/>
                  </a:lnTo>
                  <a:lnTo>
                    <a:pt x="18288" y="1524"/>
                  </a:lnTo>
                  <a:lnTo>
                    <a:pt x="18288" y="0"/>
                  </a:lnTo>
                  <a:lnTo>
                    <a:pt x="4572" y="0"/>
                  </a:lnTo>
                  <a:lnTo>
                    <a:pt x="3048" y="1524"/>
                  </a:lnTo>
                  <a:lnTo>
                    <a:pt x="1524" y="1524"/>
                  </a:lnTo>
                  <a:lnTo>
                    <a:pt x="1524" y="3048"/>
                  </a:lnTo>
                  <a:lnTo>
                    <a:pt x="0" y="3048"/>
                  </a:lnTo>
                  <a:lnTo>
                    <a:pt x="0" y="4572"/>
                  </a:lnTo>
                  <a:lnTo>
                    <a:pt x="0" y="163067"/>
                  </a:lnTo>
                  <a:lnTo>
                    <a:pt x="0" y="164591"/>
                  </a:lnTo>
                  <a:lnTo>
                    <a:pt x="1524" y="164591"/>
                  </a:lnTo>
                  <a:lnTo>
                    <a:pt x="1524" y="166115"/>
                  </a:lnTo>
                  <a:lnTo>
                    <a:pt x="3048" y="166115"/>
                  </a:lnTo>
                  <a:lnTo>
                    <a:pt x="4572" y="167640"/>
                  </a:lnTo>
                  <a:lnTo>
                    <a:pt x="6096" y="167640"/>
                  </a:lnTo>
                  <a:lnTo>
                    <a:pt x="18288" y="167640"/>
                  </a:lnTo>
                  <a:lnTo>
                    <a:pt x="18288" y="166115"/>
                  </a:lnTo>
                  <a:lnTo>
                    <a:pt x="19812" y="166115"/>
                  </a:lnTo>
                  <a:lnTo>
                    <a:pt x="21336" y="166115"/>
                  </a:lnTo>
                  <a:lnTo>
                    <a:pt x="21336" y="164591"/>
                  </a:lnTo>
                  <a:lnTo>
                    <a:pt x="21336" y="163067"/>
                  </a:lnTo>
                  <a:lnTo>
                    <a:pt x="21336" y="4572"/>
                  </a:lnTo>
                  <a:close/>
                </a:path>
              </a:pathLst>
            </a:custGeom>
            <a:ln w="10668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4141"/>
            </a:p>
          </p:txBody>
        </p:sp>
        <p:sp>
          <p:nvSpPr>
            <p:cNvPr id="10" name="object 10"/>
            <p:cNvSpPr/>
            <p:nvPr/>
          </p:nvSpPr>
          <p:spPr>
            <a:xfrm>
              <a:off x="2703575" y="3601211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5" h="29210">
                  <a:moveTo>
                    <a:pt x="22860" y="3048"/>
                  </a:moveTo>
                  <a:lnTo>
                    <a:pt x="21336" y="1524"/>
                  </a:lnTo>
                  <a:lnTo>
                    <a:pt x="18288" y="0"/>
                  </a:lnTo>
                  <a:lnTo>
                    <a:pt x="13716" y="0"/>
                  </a:lnTo>
                  <a:lnTo>
                    <a:pt x="9144" y="0"/>
                  </a:lnTo>
                  <a:lnTo>
                    <a:pt x="4572" y="1524"/>
                  </a:lnTo>
                  <a:lnTo>
                    <a:pt x="3048" y="3048"/>
                  </a:lnTo>
                  <a:lnTo>
                    <a:pt x="1524" y="4572"/>
                  </a:lnTo>
                  <a:lnTo>
                    <a:pt x="0" y="9144"/>
                  </a:lnTo>
                  <a:lnTo>
                    <a:pt x="0" y="15240"/>
                  </a:lnTo>
                  <a:lnTo>
                    <a:pt x="0" y="19812"/>
                  </a:lnTo>
                  <a:lnTo>
                    <a:pt x="1524" y="24384"/>
                  </a:lnTo>
                  <a:lnTo>
                    <a:pt x="3048" y="25908"/>
                  </a:lnTo>
                  <a:lnTo>
                    <a:pt x="4572" y="27432"/>
                  </a:lnTo>
                  <a:lnTo>
                    <a:pt x="7620" y="28956"/>
                  </a:lnTo>
                  <a:lnTo>
                    <a:pt x="13716" y="28956"/>
                  </a:lnTo>
                  <a:lnTo>
                    <a:pt x="18288" y="28956"/>
                  </a:lnTo>
                  <a:lnTo>
                    <a:pt x="21336" y="27432"/>
                  </a:lnTo>
                  <a:lnTo>
                    <a:pt x="22860" y="25908"/>
                  </a:lnTo>
                  <a:lnTo>
                    <a:pt x="25908" y="24384"/>
                  </a:lnTo>
                  <a:lnTo>
                    <a:pt x="25908" y="19812"/>
                  </a:lnTo>
                  <a:lnTo>
                    <a:pt x="25908" y="15240"/>
                  </a:lnTo>
                  <a:lnTo>
                    <a:pt x="25908" y="9144"/>
                  </a:lnTo>
                  <a:lnTo>
                    <a:pt x="25908" y="4572"/>
                  </a:lnTo>
                  <a:lnTo>
                    <a:pt x="22860" y="3048"/>
                  </a:lnTo>
                  <a:close/>
                </a:path>
              </a:pathLst>
            </a:custGeom>
            <a:ln w="10668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4141"/>
            </a:p>
          </p:txBody>
        </p:sp>
        <p:sp>
          <p:nvSpPr>
            <p:cNvPr id="11" name="object 11"/>
            <p:cNvSpPr/>
            <p:nvPr/>
          </p:nvSpPr>
          <p:spPr>
            <a:xfrm>
              <a:off x="2779775" y="3587495"/>
              <a:ext cx="21590" cy="245745"/>
            </a:xfrm>
            <a:custGeom>
              <a:avLst/>
              <a:gdLst/>
              <a:ahLst/>
              <a:cxnLst/>
              <a:rect l="l" t="t" r="r" b="b"/>
              <a:pathLst>
                <a:path w="21589" h="245745">
                  <a:moveTo>
                    <a:pt x="21336" y="4572"/>
                  </a:moveTo>
                  <a:lnTo>
                    <a:pt x="21336" y="3048"/>
                  </a:lnTo>
                  <a:lnTo>
                    <a:pt x="19812" y="1524"/>
                  </a:lnTo>
                  <a:lnTo>
                    <a:pt x="18288" y="1524"/>
                  </a:lnTo>
                  <a:lnTo>
                    <a:pt x="16764" y="0"/>
                  </a:lnTo>
                  <a:lnTo>
                    <a:pt x="4572" y="0"/>
                  </a:lnTo>
                  <a:lnTo>
                    <a:pt x="3048" y="1524"/>
                  </a:lnTo>
                  <a:lnTo>
                    <a:pt x="1524" y="1524"/>
                  </a:lnTo>
                  <a:lnTo>
                    <a:pt x="0" y="1524"/>
                  </a:lnTo>
                  <a:lnTo>
                    <a:pt x="0" y="3048"/>
                  </a:lnTo>
                  <a:lnTo>
                    <a:pt x="0" y="4572"/>
                  </a:lnTo>
                  <a:lnTo>
                    <a:pt x="0" y="242315"/>
                  </a:lnTo>
                  <a:lnTo>
                    <a:pt x="0" y="243840"/>
                  </a:lnTo>
                  <a:lnTo>
                    <a:pt x="1524" y="243840"/>
                  </a:lnTo>
                  <a:lnTo>
                    <a:pt x="3048" y="243840"/>
                  </a:lnTo>
                  <a:lnTo>
                    <a:pt x="4572" y="245364"/>
                  </a:lnTo>
                  <a:lnTo>
                    <a:pt x="6096" y="245364"/>
                  </a:lnTo>
                  <a:lnTo>
                    <a:pt x="16764" y="245364"/>
                  </a:lnTo>
                  <a:lnTo>
                    <a:pt x="18288" y="243840"/>
                  </a:lnTo>
                  <a:lnTo>
                    <a:pt x="19812" y="243840"/>
                  </a:lnTo>
                  <a:lnTo>
                    <a:pt x="21336" y="242315"/>
                  </a:lnTo>
                  <a:lnTo>
                    <a:pt x="21336" y="240791"/>
                  </a:lnTo>
                  <a:lnTo>
                    <a:pt x="21336" y="4572"/>
                  </a:lnTo>
                  <a:close/>
                </a:path>
              </a:pathLst>
            </a:custGeom>
            <a:ln w="10668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4141"/>
            </a:p>
          </p:txBody>
        </p:sp>
        <p:sp>
          <p:nvSpPr>
            <p:cNvPr id="12" name="object 12"/>
            <p:cNvSpPr/>
            <p:nvPr/>
          </p:nvSpPr>
          <p:spPr>
            <a:xfrm>
              <a:off x="2852928" y="3587495"/>
              <a:ext cx="21590" cy="245745"/>
            </a:xfrm>
            <a:custGeom>
              <a:avLst/>
              <a:gdLst/>
              <a:ahLst/>
              <a:cxnLst/>
              <a:rect l="l" t="t" r="r" b="b"/>
              <a:pathLst>
                <a:path w="21589" h="245745">
                  <a:moveTo>
                    <a:pt x="21336" y="4572"/>
                  </a:moveTo>
                  <a:lnTo>
                    <a:pt x="21336" y="3048"/>
                  </a:lnTo>
                  <a:lnTo>
                    <a:pt x="19812" y="3048"/>
                  </a:lnTo>
                  <a:lnTo>
                    <a:pt x="19812" y="1524"/>
                  </a:lnTo>
                  <a:lnTo>
                    <a:pt x="18288" y="1524"/>
                  </a:lnTo>
                  <a:lnTo>
                    <a:pt x="16764" y="0"/>
                  </a:lnTo>
                  <a:lnTo>
                    <a:pt x="15240" y="0"/>
                  </a:lnTo>
                  <a:lnTo>
                    <a:pt x="3048" y="0"/>
                  </a:lnTo>
                  <a:lnTo>
                    <a:pt x="3048" y="1524"/>
                  </a:lnTo>
                  <a:lnTo>
                    <a:pt x="1524" y="1524"/>
                  </a:lnTo>
                  <a:lnTo>
                    <a:pt x="0" y="1524"/>
                  </a:lnTo>
                  <a:lnTo>
                    <a:pt x="0" y="3048"/>
                  </a:lnTo>
                  <a:lnTo>
                    <a:pt x="0" y="4572"/>
                  </a:lnTo>
                  <a:lnTo>
                    <a:pt x="0" y="242315"/>
                  </a:lnTo>
                  <a:lnTo>
                    <a:pt x="0" y="243840"/>
                  </a:lnTo>
                  <a:lnTo>
                    <a:pt x="1524" y="243840"/>
                  </a:lnTo>
                  <a:lnTo>
                    <a:pt x="3048" y="243840"/>
                  </a:lnTo>
                  <a:lnTo>
                    <a:pt x="3048" y="245364"/>
                  </a:lnTo>
                  <a:lnTo>
                    <a:pt x="16764" y="245364"/>
                  </a:lnTo>
                  <a:lnTo>
                    <a:pt x="18288" y="243840"/>
                  </a:lnTo>
                  <a:lnTo>
                    <a:pt x="19812" y="243840"/>
                  </a:lnTo>
                  <a:lnTo>
                    <a:pt x="19812" y="242315"/>
                  </a:lnTo>
                  <a:lnTo>
                    <a:pt x="21336" y="242315"/>
                  </a:lnTo>
                  <a:lnTo>
                    <a:pt x="21336" y="240791"/>
                  </a:lnTo>
                  <a:lnTo>
                    <a:pt x="21336" y="4572"/>
                  </a:lnTo>
                  <a:close/>
                </a:path>
              </a:pathLst>
            </a:custGeom>
            <a:ln w="10668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4141"/>
            </a:p>
          </p:txBody>
        </p:sp>
      </p:grp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84573" y="1875374"/>
            <a:ext cx="269975" cy="417237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2037711" y="3229432"/>
            <a:ext cx="13806179" cy="3599537"/>
          </a:xfrm>
          <a:prstGeom prst="rect">
            <a:avLst/>
          </a:prstGeom>
        </p:spPr>
        <p:txBody>
          <a:bodyPr vert="horz" wrap="square" lIns="0" tIns="89116" rIns="0" bIns="0" rtlCol="0">
            <a:spAutoFit/>
          </a:bodyPr>
          <a:lstStyle/>
          <a:p>
            <a:pPr marL="162172" marR="4383" indent="-134411" algn="just">
              <a:lnSpc>
                <a:spcPct val="91900"/>
              </a:lnSpc>
              <a:spcBef>
                <a:spcPts val="702"/>
              </a:spcBef>
              <a:tabLst>
                <a:tab pos="13489462" algn="l"/>
              </a:tabLst>
            </a:pPr>
            <a:r>
              <a:rPr sz="4026" b="1" spc="46" dirty="0">
                <a:solidFill>
                  <a:srgbClr val="3D3D3D"/>
                </a:solidFill>
                <a:latin typeface="Calibri"/>
                <a:cs typeface="Calibri"/>
              </a:rPr>
              <a:t>C</a:t>
            </a:r>
            <a:r>
              <a:rPr sz="4026" b="1" spc="12" dirty="0">
                <a:solidFill>
                  <a:srgbClr val="3D3D3D"/>
                </a:solidFill>
                <a:latin typeface="Calibri"/>
                <a:cs typeface="Calibri"/>
              </a:rPr>
              <a:t>o</a:t>
            </a:r>
            <a:r>
              <a:rPr sz="4026" b="1" spc="58" dirty="0">
                <a:solidFill>
                  <a:srgbClr val="3D3D3D"/>
                </a:solidFill>
                <a:latin typeface="Calibri"/>
                <a:cs typeface="Calibri"/>
              </a:rPr>
              <a:t>n</a:t>
            </a:r>
            <a:r>
              <a:rPr sz="4026" b="1" spc="35" dirty="0">
                <a:solidFill>
                  <a:srgbClr val="3D3D3D"/>
                </a:solidFill>
                <a:latin typeface="Calibri"/>
                <a:cs typeface="Calibri"/>
              </a:rPr>
              <a:t>c</a:t>
            </a:r>
            <a:r>
              <a:rPr sz="4026" b="1" spc="12" dirty="0">
                <a:solidFill>
                  <a:srgbClr val="3D3D3D"/>
                </a:solidFill>
                <a:latin typeface="Calibri"/>
                <a:cs typeface="Calibri"/>
              </a:rPr>
              <a:t>ep</a:t>
            </a:r>
            <a:r>
              <a:rPr sz="4026" b="1" spc="35" dirty="0">
                <a:solidFill>
                  <a:srgbClr val="3D3D3D"/>
                </a:solidFill>
                <a:latin typeface="Calibri"/>
                <a:cs typeface="Calibri"/>
              </a:rPr>
              <a:t>t</a:t>
            </a:r>
            <a:r>
              <a:rPr sz="4026" b="1" spc="12" dirty="0">
                <a:solidFill>
                  <a:srgbClr val="3D3D3D"/>
                </a:solidFill>
                <a:latin typeface="Calibri"/>
                <a:cs typeface="Calibri"/>
              </a:rPr>
              <a:t>u</a:t>
            </a:r>
            <a:r>
              <a:rPr sz="4026" b="1" spc="58" dirty="0">
                <a:solidFill>
                  <a:srgbClr val="3D3D3D"/>
                </a:solidFill>
                <a:latin typeface="Calibri"/>
                <a:cs typeface="Calibri"/>
              </a:rPr>
              <a:t>a</a:t>
            </a:r>
            <a:r>
              <a:rPr sz="4026" b="1" spc="12" dirty="0">
                <a:solidFill>
                  <a:srgbClr val="3D3D3D"/>
                </a:solidFill>
                <a:latin typeface="Calibri"/>
                <a:cs typeface="Calibri"/>
              </a:rPr>
              <a:t>l</a:t>
            </a:r>
            <a:r>
              <a:rPr sz="4026" b="1" spc="92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b="1" spc="35" dirty="0">
                <a:solidFill>
                  <a:srgbClr val="3D3D3D"/>
                </a:solidFill>
                <a:latin typeface="Calibri"/>
                <a:cs typeface="Calibri"/>
              </a:rPr>
              <a:t>sk</a:t>
            </a:r>
            <a:r>
              <a:rPr sz="4026" b="1" spc="23" dirty="0">
                <a:solidFill>
                  <a:srgbClr val="3D3D3D"/>
                </a:solidFill>
                <a:latin typeface="Calibri"/>
                <a:cs typeface="Calibri"/>
              </a:rPr>
              <a:t>i</a:t>
            </a:r>
            <a:r>
              <a:rPr sz="4026" b="1" spc="-12" dirty="0">
                <a:solidFill>
                  <a:srgbClr val="3D3D3D"/>
                </a:solidFill>
                <a:latin typeface="Calibri"/>
                <a:cs typeface="Calibri"/>
              </a:rPr>
              <a:t>ll</a:t>
            </a:r>
            <a:r>
              <a:rPr sz="4026" b="1" spc="69" dirty="0">
                <a:solidFill>
                  <a:srgbClr val="3D3D3D"/>
                </a:solidFill>
                <a:latin typeface="Calibri"/>
                <a:cs typeface="Calibri"/>
              </a:rPr>
              <a:t>s</a:t>
            </a:r>
            <a:r>
              <a:rPr sz="4026" b="1" spc="23" dirty="0">
                <a:solidFill>
                  <a:srgbClr val="3D3D3D"/>
                </a:solidFill>
                <a:latin typeface="Calibri"/>
                <a:cs typeface="Calibri"/>
              </a:rPr>
              <a:t>:</a:t>
            </a:r>
            <a:r>
              <a:rPr sz="4026" b="1" spc="127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endParaRPr lang="en-US" sz="4026" b="1" spc="127" dirty="0">
              <a:solidFill>
                <a:srgbClr val="3D3D3D"/>
              </a:solidFill>
              <a:latin typeface="Calibri"/>
              <a:cs typeface="Calibri"/>
            </a:endParaRPr>
          </a:p>
          <a:p>
            <a:pPr marL="162172" marR="4383" indent="-134411" algn="just">
              <a:lnSpc>
                <a:spcPct val="91900"/>
              </a:lnSpc>
              <a:spcBef>
                <a:spcPts val="702"/>
              </a:spcBef>
              <a:tabLst>
                <a:tab pos="13489462" algn="l"/>
              </a:tabLst>
            </a:pP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C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o</a:t>
            </a:r>
            <a:r>
              <a:rPr sz="4026" spc="58" dirty="0">
                <a:solidFill>
                  <a:srgbClr val="3D3D3D"/>
                </a:solidFill>
                <a:latin typeface="Calibri"/>
                <a:cs typeface="Calibri"/>
              </a:rPr>
              <a:t>n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c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e</a:t>
            </a:r>
            <a:r>
              <a:rPr sz="4026" spc="-23" dirty="0">
                <a:solidFill>
                  <a:srgbClr val="3D3D3D"/>
                </a:solidFill>
                <a:latin typeface="Calibri"/>
                <a:cs typeface="Calibri"/>
              </a:rPr>
              <a:t>p</a:t>
            </a:r>
            <a:r>
              <a:rPr sz="4026" spc="81" dirty="0">
                <a:solidFill>
                  <a:srgbClr val="3D3D3D"/>
                </a:solidFill>
                <a:latin typeface="Calibri"/>
                <a:cs typeface="Calibri"/>
              </a:rPr>
              <a:t>t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ual</a:t>
            </a:r>
            <a:r>
              <a:rPr sz="4026" spc="11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sk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ills</a:t>
            </a:r>
            <a:r>
              <a:rPr sz="4026" spc="104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58" dirty="0">
                <a:solidFill>
                  <a:srgbClr val="FF0000"/>
                </a:solidFill>
                <a:latin typeface="Calibri"/>
                <a:cs typeface="Calibri"/>
              </a:rPr>
              <a:t>d</a:t>
            </a:r>
            <a:r>
              <a:rPr sz="4026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sz="4026" spc="58" dirty="0">
                <a:solidFill>
                  <a:srgbClr val="FF0000"/>
                </a:solidFill>
                <a:latin typeface="Calibri"/>
                <a:cs typeface="Calibri"/>
              </a:rPr>
              <a:t>p</a:t>
            </a:r>
            <a:r>
              <a:rPr sz="4026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sz="4026" spc="58" dirty="0">
                <a:solidFill>
                  <a:srgbClr val="FF0000"/>
                </a:solidFill>
                <a:latin typeface="Calibri"/>
                <a:cs typeface="Calibri"/>
              </a:rPr>
              <a:t>n</a:t>
            </a:r>
            <a:r>
              <a:rPr sz="4026" spc="46" dirty="0">
                <a:solidFill>
                  <a:srgbClr val="FF0000"/>
                </a:solidFill>
                <a:latin typeface="Calibri"/>
                <a:cs typeface="Calibri"/>
              </a:rPr>
              <a:t>d</a:t>
            </a:r>
            <a:r>
              <a:rPr sz="4026" spc="127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46" dirty="0">
                <a:solidFill>
                  <a:srgbClr val="FF0000"/>
                </a:solidFill>
                <a:latin typeface="Calibri"/>
                <a:cs typeface="Calibri"/>
              </a:rPr>
              <a:t>on</a:t>
            </a:r>
            <a:r>
              <a:rPr sz="4026" spc="92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4026" spc="23" dirty="0">
                <a:solidFill>
                  <a:srgbClr val="FF0000"/>
                </a:solidFill>
                <a:latin typeface="Calibri"/>
                <a:cs typeface="Calibri"/>
              </a:rPr>
              <a:t>h</a:t>
            </a:r>
            <a:r>
              <a:rPr sz="4026" spc="35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lang="en-US" sz="4026" spc="35" dirty="0">
                <a:solidFill>
                  <a:srgbClr val="FF0000"/>
                </a:solidFill>
                <a:latin typeface="Calibri"/>
                <a:cs typeface="Calibri"/>
              </a:rPr>
              <a:t> manager’s </a:t>
            </a:r>
            <a:r>
              <a:rPr sz="4026" spc="35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4026" spc="58" dirty="0">
                <a:solidFill>
                  <a:srgbClr val="FF0000"/>
                </a:solidFill>
                <a:latin typeface="Calibri"/>
                <a:cs typeface="Calibri"/>
              </a:rPr>
              <a:t>b</a:t>
            </a:r>
            <a:r>
              <a:rPr sz="4026" spc="-35" dirty="0">
                <a:solidFill>
                  <a:srgbClr val="FF0000"/>
                </a:solidFill>
                <a:latin typeface="Calibri"/>
                <a:cs typeface="Calibri"/>
              </a:rPr>
              <a:t>i</a:t>
            </a:r>
            <a:r>
              <a:rPr sz="4026" spc="12" dirty="0">
                <a:solidFill>
                  <a:srgbClr val="FF0000"/>
                </a:solidFill>
                <a:latin typeface="Calibri"/>
                <a:cs typeface="Calibri"/>
              </a:rPr>
              <a:t>l</a:t>
            </a:r>
            <a:r>
              <a:rPr sz="4026" spc="-35" dirty="0">
                <a:solidFill>
                  <a:srgbClr val="FF0000"/>
                </a:solidFill>
                <a:latin typeface="Calibri"/>
                <a:cs typeface="Calibri"/>
              </a:rPr>
              <a:t>i</a:t>
            </a:r>
            <a:r>
              <a:rPr sz="4026" spc="35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4026" spc="23" dirty="0">
                <a:solidFill>
                  <a:srgbClr val="FF0000"/>
                </a:solidFill>
                <a:latin typeface="Calibri"/>
                <a:cs typeface="Calibri"/>
              </a:rPr>
              <a:t>y</a:t>
            </a:r>
            <a:r>
              <a:rPr lang="en-US" sz="4026" spc="2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to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u="heavy" spc="23" dirty="0">
                <a:solidFill>
                  <a:srgbClr val="FF0000"/>
                </a:solidFill>
                <a:uFill>
                  <a:solidFill>
                    <a:srgbClr val="3D3D3D"/>
                  </a:solidFill>
                </a:uFill>
                <a:latin typeface="Calibri"/>
                <a:cs typeface="Calibri"/>
              </a:rPr>
              <a:t>think</a:t>
            </a:r>
            <a:r>
              <a:rPr sz="4026" u="heavy" spc="35" dirty="0">
                <a:solidFill>
                  <a:srgbClr val="FF0000"/>
                </a:solidFill>
                <a:uFill>
                  <a:solidFill>
                    <a:srgbClr val="3D3D3D"/>
                  </a:solidFill>
                </a:uFill>
                <a:latin typeface="Calibri"/>
                <a:cs typeface="Calibri"/>
              </a:rPr>
              <a:t> </a:t>
            </a:r>
            <a:r>
              <a:rPr sz="4026" u="heavy" spc="23" dirty="0">
                <a:solidFill>
                  <a:srgbClr val="FF0000"/>
                </a:solidFill>
                <a:uFill>
                  <a:solidFill>
                    <a:srgbClr val="3D3D3D"/>
                  </a:solidFill>
                </a:uFill>
                <a:latin typeface="Calibri"/>
                <a:cs typeface="Calibri"/>
              </a:rPr>
              <a:t>in</a:t>
            </a:r>
            <a:r>
              <a:rPr sz="4026" u="heavy" spc="35" dirty="0">
                <a:solidFill>
                  <a:srgbClr val="FF0000"/>
                </a:solidFill>
                <a:uFill>
                  <a:solidFill>
                    <a:srgbClr val="3D3D3D"/>
                  </a:solidFill>
                </a:uFill>
                <a:latin typeface="Calibri"/>
                <a:cs typeface="Calibri"/>
              </a:rPr>
              <a:t> the</a:t>
            </a:r>
            <a:r>
              <a:rPr sz="4026" u="heavy" spc="46" dirty="0">
                <a:solidFill>
                  <a:srgbClr val="FF0000"/>
                </a:solidFill>
                <a:uFill>
                  <a:solidFill>
                    <a:srgbClr val="3D3D3D"/>
                  </a:solidFill>
                </a:uFill>
                <a:latin typeface="Calibri"/>
                <a:cs typeface="Calibri"/>
              </a:rPr>
              <a:t> </a:t>
            </a:r>
            <a:r>
              <a:rPr sz="4026" u="heavy" spc="12" dirty="0">
                <a:solidFill>
                  <a:srgbClr val="FF0000"/>
                </a:solidFill>
                <a:uFill>
                  <a:solidFill>
                    <a:srgbClr val="3D3D3D"/>
                  </a:solidFill>
                </a:uFill>
                <a:latin typeface="Calibri"/>
                <a:cs typeface="Calibri"/>
              </a:rPr>
              <a:t>abstract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.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 Managers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 need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the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FF0000"/>
                </a:solidFill>
                <a:latin typeface="Calibri"/>
                <a:cs typeface="Calibri"/>
              </a:rPr>
              <a:t>mental</a:t>
            </a:r>
            <a:r>
              <a:rPr sz="4026" spc="23" dirty="0">
                <a:solidFill>
                  <a:srgbClr val="FF0000"/>
                </a:solidFill>
                <a:latin typeface="Calibri"/>
                <a:cs typeface="Calibri"/>
              </a:rPr>
              <a:t> capacity</a:t>
            </a:r>
            <a:r>
              <a:rPr sz="4026" spc="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lang="en-US" sz="4026" spc="2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FF0000"/>
                </a:solidFill>
                <a:latin typeface="Calibri"/>
                <a:cs typeface="Calibri"/>
              </a:rPr>
              <a:t>understand </a:t>
            </a:r>
            <a:r>
              <a:rPr sz="4026" spc="35" dirty="0">
                <a:solidFill>
                  <a:srgbClr val="FF0000"/>
                </a:solidFill>
                <a:latin typeface="Calibri"/>
                <a:cs typeface="Calibri"/>
              </a:rPr>
              <a:t>the </a:t>
            </a:r>
            <a:r>
              <a:rPr sz="4026" dirty="0">
                <a:solidFill>
                  <a:srgbClr val="FF0000"/>
                </a:solidFill>
                <a:latin typeface="Calibri"/>
                <a:cs typeface="Calibri"/>
              </a:rPr>
              <a:t>overall </a:t>
            </a:r>
            <a:r>
              <a:rPr sz="4026" spc="23" dirty="0">
                <a:solidFill>
                  <a:srgbClr val="FF0000"/>
                </a:solidFill>
                <a:latin typeface="Calibri"/>
                <a:cs typeface="Calibri"/>
              </a:rPr>
              <a:t>workings </a:t>
            </a:r>
            <a:r>
              <a:rPr sz="4026" spc="35" dirty="0">
                <a:solidFill>
                  <a:srgbClr val="FF0000"/>
                </a:solidFill>
                <a:latin typeface="Calibri"/>
                <a:cs typeface="Calibri"/>
              </a:rPr>
              <a:t>of </a:t>
            </a:r>
            <a:r>
              <a:rPr sz="4026" dirty="0">
                <a:solidFill>
                  <a:srgbClr val="FF0000"/>
                </a:solidFill>
                <a:latin typeface="Calibri"/>
                <a:cs typeface="Calibri"/>
              </a:rPr>
              <a:t>organization </a:t>
            </a:r>
            <a:r>
              <a:rPr sz="4026" spc="46" dirty="0">
                <a:solidFill>
                  <a:srgbClr val="FF0000"/>
                </a:solidFill>
                <a:latin typeface="Calibri"/>
                <a:cs typeface="Calibri"/>
              </a:rPr>
              <a:t>and </a:t>
            </a:r>
            <a:r>
              <a:rPr sz="4026" spc="12" dirty="0">
                <a:solidFill>
                  <a:srgbClr val="FF0000"/>
                </a:solidFill>
                <a:latin typeface="Calibri"/>
                <a:cs typeface="Calibri"/>
              </a:rPr>
              <a:t>its environment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,</a:t>
            </a:r>
            <a:r>
              <a:rPr sz="4026" spc="-88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to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grasp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how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all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the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parts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of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the 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organizations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fit </a:t>
            </a:r>
            <a:r>
              <a:rPr sz="4026" spc="-23" dirty="0">
                <a:solidFill>
                  <a:srgbClr val="3D3D3D"/>
                </a:solidFill>
                <a:latin typeface="Calibri"/>
                <a:cs typeface="Calibri"/>
              </a:rPr>
              <a:t>together,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and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to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view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the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 organization</a:t>
            </a:r>
            <a:r>
              <a:rPr sz="4026" spc="-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in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FF0000"/>
                </a:solidFill>
                <a:latin typeface="Calibri"/>
                <a:cs typeface="Calibri"/>
              </a:rPr>
              <a:t>holistic</a:t>
            </a:r>
            <a:r>
              <a:rPr sz="4026" spc="58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-35" dirty="0">
                <a:solidFill>
                  <a:srgbClr val="FF0000"/>
                </a:solidFill>
                <a:latin typeface="Calibri"/>
                <a:cs typeface="Calibri"/>
              </a:rPr>
              <a:t>manner</a:t>
            </a:r>
            <a:r>
              <a:rPr sz="4026" spc="-35" dirty="0">
                <a:solidFill>
                  <a:srgbClr val="3D3D3D"/>
                </a:solidFill>
                <a:latin typeface="Calibri"/>
                <a:cs typeface="Calibri"/>
              </a:rPr>
              <a:t>.</a:t>
            </a:r>
            <a:endParaRPr sz="4026" dirty="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945064" y="9491460"/>
            <a:ext cx="397369" cy="436666"/>
          </a:xfrm>
          <a:prstGeom prst="rect">
            <a:avLst/>
          </a:prstGeom>
        </p:spPr>
        <p:txBody>
          <a:bodyPr vert="horz" wrap="square" lIns="0" tIns="29218" rIns="0" bIns="0" rtlCol="0">
            <a:spAutoFit/>
          </a:bodyPr>
          <a:lstStyle/>
          <a:p>
            <a:pPr marL="29221">
              <a:spcBef>
                <a:spcPts val="230"/>
              </a:spcBef>
            </a:pPr>
            <a:r>
              <a:rPr sz="2646" spc="-23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2646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2646">
              <a:latin typeface="Calibri"/>
              <a:cs typeface="Calibri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A26AEE1F-1384-4B09-8AE5-2A62482BC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49589" y="2546813"/>
            <a:ext cx="14617916" cy="0"/>
          </a:xfrm>
          <a:custGeom>
            <a:avLst/>
            <a:gdLst/>
            <a:ahLst/>
            <a:cxnLst/>
            <a:rect l="l" t="t" r="r" b="b"/>
            <a:pathLst>
              <a:path w="6353809">
                <a:moveTo>
                  <a:pt x="0" y="0"/>
                </a:moveTo>
                <a:lnTo>
                  <a:pt x="6353556" y="0"/>
                </a:lnTo>
              </a:path>
            </a:pathLst>
          </a:custGeom>
          <a:ln w="4572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 sz="4141"/>
          </a:p>
        </p:txBody>
      </p:sp>
      <p:grpSp>
        <p:nvGrpSpPr>
          <p:cNvPr id="3" name="object 3"/>
          <p:cNvGrpSpPr/>
          <p:nvPr/>
        </p:nvGrpSpPr>
        <p:grpSpPr>
          <a:xfrm>
            <a:off x="1891601" y="1500214"/>
            <a:ext cx="3443377" cy="733379"/>
            <a:chOff x="822197" y="3495294"/>
            <a:chExt cx="1496695" cy="3187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2197" y="3509010"/>
              <a:ext cx="1424940" cy="3048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292096" y="3500628"/>
              <a:ext cx="21590" cy="245745"/>
            </a:xfrm>
            <a:custGeom>
              <a:avLst/>
              <a:gdLst/>
              <a:ahLst/>
              <a:cxnLst/>
              <a:rect l="l" t="t" r="r" b="b"/>
              <a:pathLst>
                <a:path w="21589" h="245745">
                  <a:moveTo>
                    <a:pt x="21336" y="4572"/>
                  </a:moveTo>
                  <a:lnTo>
                    <a:pt x="21336" y="3048"/>
                  </a:lnTo>
                  <a:lnTo>
                    <a:pt x="21336" y="1524"/>
                  </a:lnTo>
                  <a:lnTo>
                    <a:pt x="19812" y="1524"/>
                  </a:lnTo>
                  <a:lnTo>
                    <a:pt x="18288" y="1524"/>
                  </a:lnTo>
                  <a:lnTo>
                    <a:pt x="18288" y="0"/>
                  </a:lnTo>
                  <a:lnTo>
                    <a:pt x="4572" y="0"/>
                  </a:lnTo>
                  <a:lnTo>
                    <a:pt x="3048" y="1524"/>
                  </a:lnTo>
                  <a:lnTo>
                    <a:pt x="1524" y="1524"/>
                  </a:lnTo>
                  <a:lnTo>
                    <a:pt x="1524" y="3048"/>
                  </a:lnTo>
                  <a:lnTo>
                    <a:pt x="0" y="3048"/>
                  </a:lnTo>
                  <a:lnTo>
                    <a:pt x="0" y="4572"/>
                  </a:lnTo>
                  <a:lnTo>
                    <a:pt x="0" y="240791"/>
                  </a:lnTo>
                  <a:lnTo>
                    <a:pt x="0" y="242315"/>
                  </a:lnTo>
                  <a:lnTo>
                    <a:pt x="1524" y="242315"/>
                  </a:lnTo>
                  <a:lnTo>
                    <a:pt x="1524" y="243840"/>
                  </a:lnTo>
                  <a:lnTo>
                    <a:pt x="3048" y="243840"/>
                  </a:lnTo>
                  <a:lnTo>
                    <a:pt x="3048" y="245364"/>
                  </a:lnTo>
                  <a:lnTo>
                    <a:pt x="4572" y="245364"/>
                  </a:lnTo>
                  <a:lnTo>
                    <a:pt x="6096" y="245364"/>
                  </a:lnTo>
                  <a:lnTo>
                    <a:pt x="7620" y="245364"/>
                  </a:lnTo>
                  <a:lnTo>
                    <a:pt x="9144" y="245364"/>
                  </a:lnTo>
                  <a:lnTo>
                    <a:pt x="10668" y="245364"/>
                  </a:lnTo>
                  <a:lnTo>
                    <a:pt x="13716" y="245364"/>
                  </a:lnTo>
                  <a:lnTo>
                    <a:pt x="15240" y="245364"/>
                  </a:lnTo>
                  <a:lnTo>
                    <a:pt x="16764" y="245364"/>
                  </a:lnTo>
                  <a:lnTo>
                    <a:pt x="18288" y="245364"/>
                  </a:lnTo>
                  <a:lnTo>
                    <a:pt x="19812" y="243840"/>
                  </a:lnTo>
                  <a:lnTo>
                    <a:pt x="21336" y="243840"/>
                  </a:lnTo>
                  <a:lnTo>
                    <a:pt x="21336" y="242315"/>
                  </a:lnTo>
                  <a:lnTo>
                    <a:pt x="21336" y="240791"/>
                  </a:lnTo>
                  <a:lnTo>
                    <a:pt x="21336" y="4572"/>
                  </a:lnTo>
                  <a:close/>
                </a:path>
              </a:pathLst>
            </a:custGeom>
            <a:ln w="10668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4141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5559082" y="1500068"/>
            <a:ext cx="1146818" cy="593132"/>
            <a:chOff x="2416301" y="3495230"/>
            <a:chExt cx="498475" cy="25781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16301" y="3510534"/>
              <a:ext cx="144779" cy="24231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592323" y="3500628"/>
              <a:ext cx="120650" cy="245745"/>
            </a:xfrm>
            <a:custGeom>
              <a:avLst/>
              <a:gdLst/>
              <a:ahLst/>
              <a:cxnLst/>
              <a:rect l="l" t="t" r="r" b="b"/>
              <a:pathLst>
                <a:path w="120650" h="245745">
                  <a:moveTo>
                    <a:pt x="120395" y="237743"/>
                  </a:moveTo>
                  <a:lnTo>
                    <a:pt x="118871" y="236219"/>
                  </a:lnTo>
                  <a:lnTo>
                    <a:pt x="117347" y="233171"/>
                  </a:lnTo>
                  <a:lnTo>
                    <a:pt x="45719" y="149351"/>
                  </a:lnTo>
                  <a:lnTo>
                    <a:pt x="109727" y="89915"/>
                  </a:lnTo>
                  <a:lnTo>
                    <a:pt x="111251" y="88391"/>
                  </a:lnTo>
                  <a:lnTo>
                    <a:pt x="112775" y="86867"/>
                  </a:lnTo>
                  <a:lnTo>
                    <a:pt x="114299" y="85343"/>
                  </a:lnTo>
                  <a:lnTo>
                    <a:pt x="114299" y="83819"/>
                  </a:lnTo>
                  <a:lnTo>
                    <a:pt x="114299" y="82295"/>
                  </a:lnTo>
                  <a:lnTo>
                    <a:pt x="114299" y="80771"/>
                  </a:lnTo>
                  <a:lnTo>
                    <a:pt x="112775" y="79248"/>
                  </a:lnTo>
                  <a:lnTo>
                    <a:pt x="111251" y="79248"/>
                  </a:lnTo>
                  <a:lnTo>
                    <a:pt x="111251" y="77724"/>
                  </a:lnTo>
                  <a:lnTo>
                    <a:pt x="97535" y="77724"/>
                  </a:lnTo>
                  <a:lnTo>
                    <a:pt x="96011" y="79248"/>
                  </a:lnTo>
                  <a:lnTo>
                    <a:pt x="94487" y="79248"/>
                  </a:lnTo>
                  <a:lnTo>
                    <a:pt x="92963" y="79248"/>
                  </a:lnTo>
                  <a:lnTo>
                    <a:pt x="91439" y="80771"/>
                  </a:lnTo>
                  <a:lnTo>
                    <a:pt x="89915" y="80771"/>
                  </a:lnTo>
                  <a:lnTo>
                    <a:pt x="89915" y="82295"/>
                  </a:lnTo>
                  <a:lnTo>
                    <a:pt x="88391" y="83819"/>
                  </a:lnTo>
                  <a:lnTo>
                    <a:pt x="21335" y="150875"/>
                  </a:lnTo>
                  <a:lnTo>
                    <a:pt x="21335" y="1524"/>
                  </a:lnTo>
                  <a:lnTo>
                    <a:pt x="19811" y="1524"/>
                  </a:lnTo>
                  <a:lnTo>
                    <a:pt x="18287" y="1524"/>
                  </a:lnTo>
                  <a:lnTo>
                    <a:pt x="18287" y="0"/>
                  </a:lnTo>
                  <a:lnTo>
                    <a:pt x="4571" y="0"/>
                  </a:lnTo>
                  <a:lnTo>
                    <a:pt x="3047" y="1524"/>
                  </a:lnTo>
                  <a:lnTo>
                    <a:pt x="1523" y="1524"/>
                  </a:lnTo>
                  <a:lnTo>
                    <a:pt x="1523" y="3048"/>
                  </a:lnTo>
                  <a:lnTo>
                    <a:pt x="0" y="3048"/>
                  </a:lnTo>
                  <a:lnTo>
                    <a:pt x="0" y="4571"/>
                  </a:lnTo>
                  <a:lnTo>
                    <a:pt x="0" y="240791"/>
                  </a:lnTo>
                  <a:lnTo>
                    <a:pt x="0" y="242315"/>
                  </a:lnTo>
                  <a:lnTo>
                    <a:pt x="1523" y="242315"/>
                  </a:lnTo>
                  <a:lnTo>
                    <a:pt x="1523" y="243839"/>
                  </a:lnTo>
                  <a:lnTo>
                    <a:pt x="3047" y="243839"/>
                  </a:lnTo>
                  <a:lnTo>
                    <a:pt x="3047" y="245363"/>
                  </a:lnTo>
                  <a:lnTo>
                    <a:pt x="4571" y="245363"/>
                  </a:lnTo>
                  <a:lnTo>
                    <a:pt x="6095" y="245363"/>
                  </a:lnTo>
                  <a:lnTo>
                    <a:pt x="7619" y="245363"/>
                  </a:lnTo>
                  <a:lnTo>
                    <a:pt x="9143" y="245363"/>
                  </a:lnTo>
                  <a:lnTo>
                    <a:pt x="10667" y="245363"/>
                  </a:lnTo>
                  <a:lnTo>
                    <a:pt x="13715" y="245363"/>
                  </a:lnTo>
                  <a:lnTo>
                    <a:pt x="15239" y="245363"/>
                  </a:lnTo>
                  <a:lnTo>
                    <a:pt x="16763" y="245363"/>
                  </a:lnTo>
                  <a:lnTo>
                    <a:pt x="18287" y="245363"/>
                  </a:lnTo>
                  <a:lnTo>
                    <a:pt x="19811" y="243839"/>
                  </a:lnTo>
                  <a:lnTo>
                    <a:pt x="21335" y="243839"/>
                  </a:lnTo>
                  <a:lnTo>
                    <a:pt x="21335" y="242315"/>
                  </a:lnTo>
                  <a:lnTo>
                    <a:pt x="21335" y="240791"/>
                  </a:lnTo>
                  <a:lnTo>
                    <a:pt x="21335" y="150875"/>
                  </a:lnTo>
                  <a:lnTo>
                    <a:pt x="96011" y="240791"/>
                  </a:lnTo>
                  <a:lnTo>
                    <a:pt x="97535" y="242315"/>
                  </a:lnTo>
                  <a:lnTo>
                    <a:pt x="99059" y="243839"/>
                  </a:lnTo>
                  <a:lnTo>
                    <a:pt x="100583" y="243839"/>
                  </a:lnTo>
                  <a:lnTo>
                    <a:pt x="102107" y="245363"/>
                  </a:lnTo>
                  <a:lnTo>
                    <a:pt x="103631" y="245363"/>
                  </a:lnTo>
                  <a:lnTo>
                    <a:pt x="105155" y="245363"/>
                  </a:lnTo>
                  <a:lnTo>
                    <a:pt x="106679" y="245363"/>
                  </a:lnTo>
                  <a:lnTo>
                    <a:pt x="108203" y="245363"/>
                  </a:lnTo>
                  <a:lnTo>
                    <a:pt x="109727" y="245363"/>
                  </a:lnTo>
                  <a:lnTo>
                    <a:pt x="112775" y="245363"/>
                  </a:lnTo>
                  <a:lnTo>
                    <a:pt x="114299" y="245363"/>
                  </a:lnTo>
                  <a:lnTo>
                    <a:pt x="115823" y="245363"/>
                  </a:lnTo>
                  <a:lnTo>
                    <a:pt x="117347" y="245363"/>
                  </a:lnTo>
                  <a:lnTo>
                    <a:pt x="118871" y="243839"/>
                  </a:lnTo>
                  <a:lnTo>
                    <a:pt x="120395" y="243839"/>
                  </a:lnTo>
                  <a:lnTo>
                    <a:pt x="120395" y="242315"/>
                  </a:lnTo>
                  <a:lnTo>
                    <a:pt x="120395" y="240791"/>
                  </a:lnTo>
                  <a:lnTo>
                    <a:pt x="120395" y="239267"/>
                  </a:lnTo>
                  <a:lnTo>
                    <a:pt x="120395" y="237743"/>
                  </a:lnTo>
                  <a:close/>
                </a:path>
              </a:pathLst>
            </a:custGeom>
            <a:ln w="10668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4141"/>
            </a:p>
          </p:txBody>
        </p:sp>
        <p:sp>
          <p:nvSpPr>
            <p:cNvPr id="9" name="object 9"/>
            <p:cNvSpPr/>
            <p:nvPr/>
          </p:nvSpPr>
          <p:spPr>
            <a:xfrm>
              <a:off x="2743199" y="3578351"/>
              <a:ext cx="21590" cy="167640"/>
            </a:xfrm>
            <a:custGeom>
              <a:avLst/>
              <a:gdLst/>
              <a:ahLst/>
              <a:cxnLst/>
              <a:rect l="l" t="t" r="r" b="b"/>
              <a:pathLst>
                <a:path w="21589" h="167639">
                  <a:moveTo>
                    <a:pt x="21336" y="4572"/>
                  </a:moveTo>
                  <a:lnTo>
                    <a:pt x="21336" y="3048"/>
                  </a:lnTo>
                  <a:lnTo>
                    <a:pt x="19812" y="1524"/>
                  </a:lnTo>
                  <a:lnTo>
                    <a:pt x="18288" y="1524"/>
                  </a:lnTo>
                  <a:lnTo>
                    <a:pt x="16764" y="0"/>
                  </a:lnTo>
                  <a:lnTo>
                    <a:pt x="4572" y="0"/>
                  </a:lnTo>
                  <a:lnTo>
                    <a:pt x="3048" y="1524"/>
                  </a:lnTo>
                  <a:lnTo>
                    <a:pt x="1524" y="1524"/>
                  </a:lnTo>
                  <a:lnTo>
                    <a:pt x="0" y="1524"/>
                  </a:lnTo>
                  <a:lnTo>
                    <a:pt x="0" y="3048"/>
                  </a:lnTo>
                  <a:lnTo>
                    <a:pt x="0" y="4572"/>
                  </a:lnTo>
                  <a:lnTo>
                    <a:pt x="0" y="164591"/>
                  </a:lnTo>
                  <a:lnTo>
                    <a:pt x="0" y="166115"/>
                  </a:lnTo>
                  <a:lnTo>
                    <a:pt x="1524" y="166115"/>
                  </a:lnTo>
                  <a:lnTo>
                    <a:pt x="3048" y="167640"/>
                  </a:lnTo>
                  <a:lnTo>
                    <a:pt x="4572" y="167640"/>
                  </a:lnTo>
                  <a:lnTo>
                    <a:pt x="6096" y="167640"/>
                  </a:lnTo>
                  <a:lnTo>
                    <a:pt x="18288" y="167640"/>
                  </a:lnTo>
                  <a:lnTo>
                    <a:pt x="19812" y="166115"/>
                  </a:lnTo>
                  <a:lnTo>
                    <a:pt x="21336" y="164591"/>
                  </a:lnTo>
                  <a:lnTo>
                    <a:pt x="21336" y="163067"/>
                  </a:lnTo>
                  <a:lnTo>
                    <a:pt x="21336" y="4572"/>
                  </a:lnTo>
                  <a:close/>
                </a:path>
              </a:pathLst>
            </a:custGeom>
            <a:ln w="10668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4141"/>
            </a:p>
          </p:txBody>
        </p:sp>
        <p:sp>
          <p:nvSpPr>
            <p:cNvPr id="10" name="object 10"/>
            <p:cNvSpPr/>
            <p:nvPr/>
          </p:nvSpPr>
          <p:spPr>
            <a:xfrm>
              <a:off x="2740151" y="3514343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5" h="29210">
                  <a:moveTo>
                    <a:pt x="22860" y="3048"/>
                  </a:moveTo>
                  <a:lnTo>
                    <a:pt x="21336" y="1524"/>
                  </a:lnTo>
                  <a:lnTo>
                    <a:pt x="18288" y="0"/>
                  </a:lnTo>
                  <a:lnTo>
                    <a:pt x="13716" y="0"/>
                  </a:lnTo>
                  <a:lnTo>
                    <a:pt x="7620" y="0"/>
                  </a:lnTo>
                  <a:lnTo>
                    <a:pt x="4572" y="1524"/>
                  </a:lnTo>
                  <a:lnTo>
                    <a:pt x="3048" y="3048"/>
                  </a:lnTo>
                  <a:lnTo>
                    <a:pt x="1524" y="4572"/>
                  </a:lnTo>
                  <a:lnTo>
                    <a:pt x="0" y="9144"/>
                  </a:lnTo>
                  <a:lnTo>
                    <a:pt x="0" y="15240"/>
                  </a:lnTo>
                  <a:lnTo>
                    <a:pt x="0" y="19812"/>
                  </a:lnTo>
                  <a:lnTo>
                    <a:pt x="1524" y="24384"/>
                  </a:lnTo>
                  <a:lnTo>
                    <a:pt x="3048" y="25908"/>
                  </a:lnTo>
                  <a:lnTo>
                    <a:pt x="4572" y="27432"/>
                  </a:lnTo>
                  <a:lnTo>
                    <a:pt x="7620" y="28956"/>
                  </a:lnTo>
                  <a:lnTo>
                    <a:pt x="12192" y="28956"/>
                  </a:lnTo>
                  <a:lnTo>
                    <a:pt x="18288" y="28956"/>
                  </a:lnTo>
                  <a:lnTo>
                    <a:pt x="21336" y="27432"/>
                  </a:lnTo>
                  <a:lnTo>
                    <a:pt x="22860" y="25908"/>
                  </a:lnTo>
                  <a:lnTo>
                    <a:pt x="24384" y="24384"/>
                  </a:lnTo>
                  <a:lnTo>
                    <a:pt x="25908" y="19812"/>
                  </a:lnTo>
                  <a:lnTo>
                    <a:pt x="25908" y="15240"/>
                  </a:lnTo>
                  <a:lnTo>
                    <a:pt x="25908" y="9144"/>
                  </a:lnTo>
                  <a:lnTo>
                    <a:pt x="24384" y="4572"/>
                  </a:lnTo>
                  <a:lnTo>
                    <a:pt x="22860" y="3048"/>
                  </a:lnTo>
                  <a:close/>
                </a:path>
              </a:pathLst>
            </a:custGeom>
            <a:ln w="10668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4141"/>
            </a:p>
          </p:txBody>
        </p:sp>
        <p:sp>
          <p:nvSpPr>
            <p:cNvPr id="11" name="object 11"/>
            <p:cNvSpPr/>
            <p:nvPr/>
          </p:nvSpPr>
          <p:spPr>
            <a:xfrm>
              <a:off x="2816352" y="3500627"/>
              <a:ext cx="21590" cy="245745"/>
            </a:xfrm>
            <a:custGeom>
              <a:avLst/>
              <a:gdLst/>
              <a:ahLst/>
              <a:cxnLst/>
              <a:rect l="l" t="t" r="r" b="b"/>
              <a:pathLst>
                <a:path w="21589" h="245745">
                  <a:moveTo>
                    <a:pt x="21336" y="4572"/>
                  </a:moveTo>
                  <a:lnTo>
                    <a:pt x="21336" y="3048"/>
                  </a:lnTo>
                  <a:lnTo>
                    <a:pt x="19812" y="3048"/>
                  </a:lnTo>
                  <a:lnTo>
                    <a:pt x="19812" y="1524"/>
                  </a:lnTo>
                  <a:lnTo>
                    <a:pt x="18288" y="1524"/>
                  </a:lnTo>
                  <a:lnTo>
                    <a:pt x="16764" y="0"/>
                  </a:lnTo>
                  <a:lnTo>
                    <a:pt x="15240" y="0"/>
                  </a:lnTo>
                  <a:lnTo>
                    <a:pt x="3048" y="0"/>
                  </a:lnTo>
                  <a:lnTo>
                    <a:pt x="3048" y="1524"/>
                  </a:lnTo>
                  <a:lnTo>
                    <a:pt x="1524" y="1524"/>
                  </a:lnTo>
                  <a:lnTo>
                    <a:pt x="0" y="1524"/>
                  </a:lnTo>
                  <a:lnTo>
                    <a:pt x="0" y="3048"/>
                  </a:lnTo>
                  <a:lnTo>
                    <a:pt x="0" y="4572"/>
                  </a:lnTo>
                  <a:lnTo>
                    <a:pt x="0" y="242315"/>
                  </a:lnTo>
                  <a:lnTo>
                    <a:pt x="0" y="243840"/>
                  </a:lnTo>
                  <a:lnTo>
                    <a:pt x="1524" y="243840"/>
                  </a:lnTo>
                  <a:lnTo>
                    <a:pt x="3048" y="245364"/>
                  </a:lnTo>
                  <a:lnTo>
                    <a:pt x="4572" y="245364"/>
                  </a:lnTo>
                  <a:lnTo>
                    <a:pt x="6096" y="245364"/>
                  </a:lnTo>
                  <a:lnTo>
                    <a:pt x="7620" y="245364"/>
                  </a:lnTo>
                  <a:lnTo>
                    <a:pt x="10668" y="245364"/>
                  </a:lnTo>
                  <a:lnTo>
                    <a:pt x="12192" y="245364"/>
                  </a:lnTo>
                  <a:lnTo>
                    <a:pt x="13716" y="245364"/>
                  </a:lnTo>
                  <a:lnTo>
                    <a:pt x="15240" y="245364"/>
                  </a:lnTo>
                  <a:lnTo>
                    <a:pt x="16764" y="245364"/>
                  </a:lnTo>
                  <a:lnTo>
                    <a:pt x="18288" y="245364"/>
                  </a:lnTo>
                  <a:lnTo>
                    <a:pt x="18288" y="243840"/>
                  </a:lnTo>
                  <a:lnTo>
                    <a:pt x="19812" y="243840"/>
                  </a:lnTo>
                  <a:lnTo>
                    <a:pt x="19812" y="242315"/>
                  </a:lnTo>
                  <a:lnTo>
                    <a:pt x="21336" y="242315"/>
                  </a:lnTo>
                  <a:lnTo>
                    <a:pt x="21336" y="240791"/>
                  </a:lnTo>
                  <a:lnTo>
                    <a:pt x="21336" y="4572"/>
                  </a:lnTo>
                  <a:close/>
                </a:path>
              </a:pathLst>
            </a:custGeom>
            <a:ln w="10668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4141"/>
            </a:p>
          </p:txBody>
        </p:sp>
        <p:sp>
          <p:nvSpPr>
            <p:cNvPr id="12" name="object 12"/>
            <p:cNvSpPr/>
            <p:nvPr/>
          </p:nvSpPr>
          <p:spPr>
            <a:xfrm>
              <a:off x="2887979" y="3500627"/>
              <a:ext cx="21590" cy="245745"/>
            </a:xfrm>
            <a:custGeom>
              <a:avLst/>
              <a:gdLst/>
              <a:ahLst/>
              <a:cxnLst/>
              <a:rect l="l" t="t" r="r" b="b"/>
              <a:pathLst>
                <a:path w="21589" h="245745">
                  <a:moveTo>
                    <a:pt x="21336" y="4572"/>
                  </a:moveTo>
                  <a:lnTo>
                    <a:pt x="21336" y="3048"/>
                  </a:lnTo>
                  <a:lnTo>
                    <a:pt x="21336" y="1524"/>
                  </a:lnTo>
                  <a:lnTo>
                    <a:pt x="19812" y="1524"/>
                  </a:lnTo>
                  <a:lnTo>
                    <a:pt x="18288" y="1524"/>
                  </a:lnTo>
                  <a:lnTo>
                    <a:pt x="18288" y="0"/>
                  </a:lnTo>
                  <a:lnTo>
                    <a:pt x="4572" y="0"/>
                  </a:lnTo>
                  <a:lnTo>
                    <a:pt x="3048" y="1524"/>
                  </a:lnTo>
                  <a:lnTo>
                    <a:pt x="1524" y="1524"/>
                  </a:lnTo>
                  <a:lnTo>
                    <a:pt x="1524" y="3048"/>
                  </a:lnTo>
                  <a:lnTo>
                    <a:pt x="0" y="4572"/>
                  </a:lnTo>
                  <a:lnTo>
                    <a:pt x="0" y="240791"/>
                  </a:lnTo>
                  <a:lnTo>
                    <a:pt x="0" y="242315"/>
                  </a:lnTo>
                  <a:lnTo>
                    <a:pt x="1524" y="242315"/>
                  </a:lnTo>
                  <a:lnTo>
                    <a:pt x="1524" y="243840"/>
                  </a:lnTo>
                  <a:lnTo>
                    <a:pt x="3048" y="243840"/>
                  </a:lnTo>
                  <a:lnTo>
                    <a:pt x="3048" y="245364"/>
                  </a:lnTo>
                  <a:lnTo>
                    <a:pt x="4572" y="245364"/>
                  </a:lnTo>
                  <a:lnTo>
                    <a:pt x="6096" y="245364"/>
                  </a:lnTo>
                  <a:lnTo>
                    <a:pt x="7620" y="245364"/>
                  </a:lnTo>
                  <a:lnTo>
                    <a:pt x="9144" y="245364"/>
                  </a:lnTo>
                  <a:lnTo>
                    <a:pt x="10668" y="245364"/>
                  </a:lnTo>
                  <a:lnTo>
                    <a:pt x="13716" y="245364"/>
                  </a:lnTo>
                  <a:lnTo>
                    <a:pt x="15240" y="245364"/>
                  </a:lnTo>
                  <a:lnTo>
                    <a:pt x="16764" y="245364"/>
                  </a:lnTo>
                  <a:lnTo>
                    <a:pt x="18288" y="245364"/>
                  </a:lnTo>
                  <a:lnTo>
                    <a:pt x="19812" y="243840"/>
                  </a:lnTo>
                  <a:lnTo>
                    <a:pt x="21336" y="243840"/>
                  </a:lnTo>
                  <a:lnTo>
                    <a:pt x="21336" y="242315"/>
                  </a:lnTo>
                  <a:lnTo>
                    <a:pt x="21336" y="240791"/>
                  </a:lnTo>
                  <a:lnTo>
                    <a:pt x="21336" y="4572"/>
                  </a:lnTo>
                  <a:close/>
                </a:path>
              </a:pathLst>
            </a:custGeom>
            <a:ln w="10668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4141"/>
            </a:p>
          </p:txBody>
        </p:sp>
      </p:grp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68722" y="1675524"/>
            <a:ext cx="269975" cy="417237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5945064" y="9491460"/>
            <a:ext cx="397369" cy="436666"/>
          </a:xfrm>
          <a:prstGeom prst="rect">
            <a:avLst/>
          </a:prstGeom>
        </p:spPr>
        <p:txBody>
          <a:bodyPr vert="horz" wrap="square" lIns="0" tIns="29218" rIns="0" bIns="0" rtlCol="0">
            <a:spAutoFit/>
          </a:bodyPr>
          <a:lstStyle/>
          <a:p>
            <a:pPr marL="29221">
              <a:spcBef>
                <a:spcPts val="230"/>
              </a:spcBef>
            </a:pPr>
            <a:r>
              <a:rPr sz="2646" spc="-23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2646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2646">
              <a:latin typeface="Calibri"/>
              <a:cs typeface="Calibri"/>
            </a:endParaRPr>
          </a:p>
        </p:txBody>
      </p:sp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04319" y="3215662"/>
            <a:ext cx="13536657" cy="3839766"/>
          </a:xfrm>
          <a:prstGeom prst="rect">
            <a:avLst/>
          </a:prstGeom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87405863-D198-2309-3AC3-BD4FE97FC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49400" y="407497"/>
            <a:ext cx="11399520" cy="1880195"/>
            <a:chOff x="515112" y="3332988"/>
            <a:chExt cx="4954905" cy="81724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5112" y="3332988"/>
              <a:ext cx="4954523" cy="81686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4003" y="3558539"/>
              <a:ext cx="1743456" cy="333756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549400" y="2287692"/>
            <a:ext cx="13715070" cy="6723899"/>
          </a:xfrm>
          <a:prstGeom prst="rect">
            <a:avLst/>
          </a:prstGeom>
        </p:spPr>
        <p:txBody>
          <a:bodyPr vert="horz" wrap="square" lIns="0" tIns="26296" rIns="0" bIns="0" rtlCol="0">
            <a:spAutoFit/>
          </a:bodyPr>
          <a:lstStyle/>
          <a:p>
            <a:pPr marL="29221" marR="11690" indent="156328">
              <a:lnSpc>
                <a:spcPct val="141100"/>
              </a:lnSpc>
              <a:spcBef>
                <a:spcPts val="207"/>
              </a:spcBef>
            </a:pP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A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dirty="0">
                <a:solidFill>
                  <a:srgbClr val="FF0000"/>
                </a:solidFill>
                <a:latin typeface="Calibri"/>
                <a:cs typeface="Calibri"/>
              </a:rPr>
              <a:t>role</a:t>
            </a:r>
            <a:r>
              <a:rPr sz="4026" spc="58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FF0000"/>
                </a:solidFill>
                <a:latin typeface="Calibri"/>
                <a:cs typeface="Calibri"/>
              </a:rPr>
              <a:t>is </a:t>
            </a:r>
            <a:r>
              <a:rPr sz="4026" spc="35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402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FF0000"/>
                </a:solidFill>
                <a:latin typeface="Calibri"/>
                <a:cs typeface="Calibri"/>
              </a:rPr>
              <a:t>set</a:t>
            </a:r>
            <a:r>
              <a:rPr sz="4026" spc="4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4026" spc="2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FF0000"/>
                </a:solidFill>
                <a:latin typeface="Calibri"/>
                <a:cs typeface="Calibri"/>
              </a:rPr>
              <a:t>specific</a:t>
            </a:r>
            <a:r>
              <a:rPr sz="4026" spc="6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dirty="0">
                <a:solidFill>
                  <a:srgbClr val="FF0000"/>
                </a:solidFill>
                <a:latin typeface="Calibri"/>
                <a:cs typeface="Calibri"/>
              </a:rPr>
              <a:t>tasks</a:t>
            </a:r>
            <a:r>
              <a:rPr sz="4026" spc="2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4026" spc="4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FF0000"/>
                </a:solidFill>
                <a:latin typeface="Calibri"/>
                <a:cs typeface="Calibri"/>
              </a:rPr>
              <a:t>person</a:t>
            </a:r>
            <a:r>
              <a:rPr sz="4026" spc="92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FF0000"/>
                </a:solidFill>
                <a:latin typeface="Calibri"/>
                <a:cs typeface="Calibri"/>
              </a:rPr>
              <a:t>performs</a:t>
            </a:r>
            <a:r>
              <a:rPr sz="4026" spc="1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because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of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the </a:t>
            </a:r>
            <a:r>
              <a:rPr sz="4026" spc="-874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position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they hold.</a:t>
            </a:r>
            <a:endParaRPr sz="4026" dirty="0">
              <a:latin typeface="Calibri"/>
              <a:cs typeface="Calibri"/>
            </a:endParaRPr>
          </a:p>
          <a:p>
            <a:pPr marL="147560" marR="540572">
              <a:lnSpc>
                <a:spcPct val="174900"/>
              </a:lnSpc>
              <a:spcBef>
                <a:spcPts val="35"/>
              </a:spcBef>
            </a:pPr>
            <a:r>
              <a:rPr sz="4026" b="1" spc="12" dirty="0">
                <a:solidFill>
                  <a:srgbClr val="3D3D3D"/>
                </a:solidFill>
                <a:latin typeface="Calibri"/>
                <a:cs typeface="Calibri"/>
              </a:rPr>
              <a:t>Roles</a:t>
            </a:r>
            <a:r>
              <a:rPr sz="4026" b="1" spc="4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b="1" dirty="0">
                <a:solidFill>
                  <a:srgbClr val="3D3D3D"/>
                </a:solidFill>
                <a:latin typeface="Calibri"/>
                <a:cs typeface="Calibri"/>
              </a:rPr>
              <a:t>are</a:t>
            </a:r>
            <a:r>
              <a:rPr sz="4026" b="1" spc="69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b="1" spc="12" dirty="0">
                <a:solidFill>
                  <a:srgbClr val="3D3D3D"/>
                </a:solidFill>
                <a:latin typeface="Calibri"/>
                <a:cs typeface="Calibri"/>
              </a:rPr>
              <a:t>directed</a:t>
            </a:r>
            <a:r>
              <a:rPr sz="4026" b="1" spc="58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b="1" spc="23" dirty="0">
                <a:solidFill>
                  <a:srgbClr val="3D3D3D"/>
                </a:solidFill>
                <a:latin typeface="Calibri"/>
                <a:cs typeface="Calibri"/>
              </a:rPr>
              <a:t>inside</a:t>
            </a:r>
            <a:r>
              <a:rPr sz="4026" b="1" spc="69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b="1" spc="23" dirty="0">
                <a:solidFill>
                  <a:srgbClr val="3D3D3D"/>
                </a:solidFill>
                <a:latin typeface="Calibri"/>
                <a:cs typeface="Calibri"/>
              </a:rPr>
              <a:t>as</a:t>
            </a:r>
            <a:r>
              <a:rPr sz="4026" b="1" spc="4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b="1" spc="12" dirty="0">
                <a:solidFill>
                  <a:srgbClr val="3D3D3D"/>
                </a:solidFill>
                <a:latin typeface="Calibri"/>
                <a:cs typeface="Calibri"/>
              </a:rPr>
              <a:t>well</a:t>
            </a:r>
            <a:r>
              <a:rPr sz="4026" b="1" spc="58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b="1" spc="23" dirty="0">
                <a:solidFill>
                  <a:srgbClr val="3D3D3D"/>
                </a:solidFill>
                <a:latin typeface="Calibri"/>
                <a:cs typeface="Calibri"/>
              </a:rPr>
              <a:t>as</a:t>
            </a:r>
            <a:r>
              <a:rPr sz="4026" b="1" spc="-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b="1" spc="23" dirty="0">
                <a:solidFill>
                  <a:srgbClr val="3D3D3D"/>
                </a:solidFill>
                <a:latin typeface="Calibri"/>
                <a:cs typeface="Calibri"/>
              </a:rPr>
              <a:t>outside </a:t>
            </a:r>
            <a:r>
              <a:rPr sz="4026" b="1" spc="46" dirty="0">
                <a:solidFill>
                  <a:srgbClr val="3D3D3D"/>
                </a:solidFill>
                <a:latin typeface="Calibri"/>
                <a:cs typeface="Calibri"/>
              </a:rPr>
              <a:t>the</a:t>
            </a:r>
            <a:r>
              <a:rPr sz="4026" b="1" spc="23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b="1" dirty="0">
                <a:solidFill>
                  <a:srgbClr val="3D3D3D"/>
                </a:solidFill>
                <a:latin typeface="Calibri"/>
                <a:cs typeface="Calibri"/>
              </a:rPr>
              <a:t>organization. </a:t>
            </a:r>
            <a:r>
              <a:rPr sz="4026" b="1" spc="-874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b="1" spc="12" dirty="0">
                <a:solidFill>
                  <a:srgbClr val="3D3D3D"/>
                </a:solidFill>
                <a:latin typeface="Calibri"/>
                <a:cs typeface="Calibri"/>
              </a:rPr>
              <a:t>There</a:t>
            </a:r>
            <a:r>
              <a:rPr sz="4026" b="1" spc="4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b="1" spc="23" dirty="0">
                <a:solidFill>
                  <a:srgbClr val="3D3D3D"/>
                </a:solidFill>
                <a:latin typeface="Calibri"/>
                <a:cs typeface="Calibri"/>
              </a:rPr>
              <a:t>are</a:t>
            </a:r>
            <a:r>
              <a:rPr sz="4026" b="1" spc="58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b="1" spc="35" dirty="0">
                <a:solidFill>
                  <a:srgbClr val="3D3D3D"/>
                </a:solidFill>
                <a:latin typeface="Calibri"/>
                <a:cs typeface="Calibri"/>
              </a:rPr>
              <a:t>3</a:t>
            </a:r>
            <a:r>
              <a:rPr sz="4026" b="1" spc="4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b="1" spc="12" dirty="0">
                <a:solidFill>
                  <a:srgbClr val="3D3D3D"/>
                </a:solidFill>
                <a:latin typeface="Calibri"/>
                <a:cs typeface="Calibri"/>
              </a:rPr>
              <a:t>broad</a:t>
            </a:r>
            <a:r>
              <a:rPr sz="4026" b="1" spc="4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b="1" spc="12" dirty="0">
                <a:solidFill>
                  <a:srgbClr val="3D3D3D"/>
                </a:solidFill>
                <a:latin typeface="Calibri"/>
                <a:cs typeface="Calibri"/>
              </a:rPr>
              <a:t>role</a:t>
            </a:r>
            <a:r>
              <a:rPr sz="4026" b="1" spc="58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b="1" spc="12" dirty="0">
                <a:solidFill>
                  <a:srgbClr val="3D3D3D"/>
                </a:solidFill>
                <a:latin typeface="Calibri"/>
                <a:cs typeface="Calibri"/>
              </a:rPr>
              <a:t>categories:</a:t>
            </a:r>
            <a:endParaRPr sz="4026" dirty="0">
              <a:latin typeface="Calibri"/>
              <a:cs typeface="Calibri"/>
            </a:endParaRPr>
          </a:p>
          <a:p>
            <a:pPr marL="1417176" indent="-422231">
              <a:spcBef>
                <a:spcPts val="2151"/>
              </a:spcBef>
              <a:buSzPct val="82857"/>
              <a:buAutoNum type="arabicPeriod"/>
              <a:tabLst>
                <a:tab pos="1418637" algn="l"/>
              </a:tabLst>
            </a:pPr>
            <a:r>
              <a:rPr sz="4026" i="1" spc="23" dirty="0">
                <a:solidFill>
                  <a:srgbClr val="3D3D3D"/>
                </a:solidFill>
                <a:latin typeface="Calibri"/>
                <a:cs typeface="Calibri"/>
              </a:rPr>
              <a:t>Interpersonal</a:t>
            </a:r>
            <a:endParaRPr sz="4026" dirty="0">
              <a:latin typeface="Calibri"/>
              <a:cs typeface="Calibri"/>
            </a:endParaRPr>
          </a:p>
          <a:p>
            <a:pPr marL="1513601" indent="-518658">
              <a:spcBef>
                <a:spcPts val="2450"/>
              </a:spcBef>
              <a:buAutoNum type="arabicPeriod"/>
              <a:tabLst>
                <a:tab pos="1515062" algn="l"/>
              </a:tabLst>
            </a:pPr>
            <a:r>
              <a:rPr sz="4026" i="1" spc="23" dirty="0">
                <a:solidFill>
                  <a:srgbClr val="3D3D3D"/>
                </a:solidFill>
                <a:latin typeface="Calibri"/>
                <a:cs typeface="Calibri"/>
              </a:rPr>
              <a:t>Informational</a:t>
            </a:r>
            <a:endParaRPr sz="4026" dirty="0">
              <a:latin typeface="Calibri"/>
              <a:cs typeface="Calibri"/>
            </a:endParaRPr>
          </a:p>
          <a:p>
            <a:pPr marL="1513601" indent="-518658">
              <a:spcBef>
                <a:spcPts val="2462"/>
              </a:spcBef>
              <a:buAutoNum type="arabicPeriod"/>
              <a:tabLst>
                <a:tab pos="1515062" algn="l"/>
              </a:tabLst>
            </a:pPr>
            <a:r>
              <a:rPr sz="4026" i="1" spc="23" dirty="0">
                <a:solidFill>
                  <a:srgbClr val="3D3D3D"/>
                </a:solidFill>
                <a:latin typeface="Calibri"/>
                <a:cs typeface="Calibri"/>
              </a:rPr>
              <a:t>Decisional</a:t>
            </a:r>
            <a:endParaRPr sz="4026" dirty="0">
              <a:latin typeface="Calibri"/>
              <a:cs typeface="Calibri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A4EB29-11AA-5AB7-CDAC-16245024E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27200" y="1142783"/>
            <a:ext cx="14925040" cy="926160"/>
          </a:xfrm>
          <a:prstGeom prst="rect">
            <a:avLst/>
          </a:prstGeom>
        </p:spPr>
        <p:txBody>
          <a:bodyPr vert="horz" wrap="square" lIns="0" tIns="32140" rIns="0" bIns="0" rtlCol="0" anchor="ctr">
            <a:spAutoFit/>
          </a:bodyPr>
          <a:lstStyle/>
          <a:p>
            <a:pPr marL="29221">
              <a:spcBef>
                <a:spcPts val="253"/>
              </a:spcBef>
              <a:tabLst>
                <a:tab pos="14656803" algn="l"/>
              </a:tabLst>
            </a:pPr>
            <a:r>
              <a:rPr spc="-127" dirty="0"/>
              <a:t>Roles</a:t>
            </a:r>
            <a:r>
              <a:rPr spc="-207" dirty="0"/>
              <a:t> </a:t>
            </a:r>
            <a:r>
              <a:rPr spc="-81" dirty="0"/>
              <a:t>of</a:t>
            </a:r>
            <a:r>
              <a:rPr spc="-138" dirty="0"/>
              <a:t> </a:t>
            </a:r>
            <a:r>
              <a:rPr spc="-115" dirty="0"/>
              <a:t>Manager	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08391" y="2595910"/>
            <a:ext cx="7790765" cy="657060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3471B4-FF24-F2FA-A2B2-B68A65505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5105" y="1126814"/>
            <a:ext cx="7815309" cy="187931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2864568" y="5569165"/>
            <a:ext cx="94959" cy="94959"/>
          </a:xfrm>
          <a:custGeom>
            <a:avLst/>
            <a:gdLst/>
            <a:ahLst/>
            <a:cxnLst/>
            <a:rect l="l" t="t" r="r" b="b"/>
            <a:pathLst>
              <a:path w="41275" h="41275">
                <a:moveTo>
                  <a:pt x="25908" y="41148"/>
                </a:moveTo>
                <a:lnTo>
                  <a:pt x="13716" y="41148"/>
                </a:lnTo>
                <a:lnTo>
                  <a:pt x="9144" y="38100"/>
                </a:lnTo>
                <a:lnTo>
                  <a:pt x="1524" y="30480"/>
                </a:lnTo>
                <a:lnTo>
                  <a:pt x="0" y="25908"/>
                </a:lnTo>
                <a:lnTo>
                  <a:pt x="0" y="13716"/>
                </a:lnTo>
                <a:lnTo>
                  <a:pt x="1524" y="9144"/>
                </a:lnTo>
                <a:lnTo>
                  <a:pt x="6096" y="6096"/>
                </a:lnTo>
                <a:lnTo>
                  <a:pt x="9144" y="1524"/>
                </a:lnTo>
                <a:lnTo>
                  <a:pt x="13716" y="0"/>
                </a:lnTo>
                <a:lnTo>
                  <a:pt x="25908" y="0"/>
                </a:lnTo>
                <a:lnTo>
                  <a:pt x="30480" y="1524"/>
                </a:lnTo>
                <a:lnTo>
                  <a:pt x="35052" y="6096"/>
                </a:lnTo>
                <a:lnTo>
                  <a:pt x="15240" y="6096"/>
                </a:lnTo>
                <a:lnTo>
                  <a:pt x="9144" y="9144"/>
                </a:lnTo>
                <a:lnTo>
                  <a:pt x="7620" y="12192"/>
                </a:lnTo>
                <a:lnTo>
                  <a:pt x="6096" y="16764"/>
                </a:lnTo>
                <a:lnTo>
                  <a:pt x="6096" y="24384"/>
                </a:lnTo>
                <a:lnTo>
                  <a:pt x="9144" y="30480"/>
                </a:lnTo>
                <a:lnTo>
                  <a:pt x="12192" y="33528"/>
                </a:lnTo>
                <a:lnTo>
                  <a:pt x="16764" y="35052"/>
                </a:lnTo>
                <a:lnTo>
                  <a:pt x="35052" y="35052"/>
                </a:lnTo>
                <a:lnTo>
                  <a:pt x="25908" y="41148"/>
                </a:lnTo>
                <a:close/>
              </a:path>
              <a:path w="41275" h="41275">
                <a:moveTo>
                  <a:pt x="35052" y="35052"/>
                </a:moveTo>
                <a:lnTo>
                  <a:pt x="24384" y="35052"/>
                </a:lnTo>
                <a:lnTo>
                  <a:pt x="27432" y="33528"/>
                </a:lnTo>
                <a:lnTo>
                  <a:pt x="33528" y="27432"/>
                </a:lnTo>
                <a:lnTo>
                  <a:pt x="35052" y="24384"/>
                </a:lnTo>
                <a:lnTo>
                  <a:pt x="35052" y="15240"/>
                </a:lnTo>
                <a:lnTo>
                  <a:pt x="33528" y="12192"/>
                </a:lnTo>
                <a:lnTo>
                  <a:pt x="30480" y="9144"/>
                </a:lnTo>
                <a:lnTo>
                  <a:pt x="24384" y="6096"/>
                </a:lnTo>
                <a:lnTo>
                  <a:pt x="35052" y="6096"/>
                </a:lnTo>
                <a:lnTo>
                  <a:pt x="38100" y="9144"/>
                </a:lnTo>
                <a:lnTo>
                  <a:pt x="41148" y="13716"/>
                </a:lnTo>
                <a:lnTo>
                  <a:pt x="41148" y="25908"/>
                </a:lnTo>
                <a:lnTo>
                  <a:pt x="35052" y="35052"/>
                </a:lnTo>
                <a:close/>
              </a:path>
            </a:pathLst>
          </a:custGeom>
          <a:solidFill>
            <a:srgbClr val="E48311"/>
          </a:solidFill>
        </p:spPr>
        <p:txBody>
          <a:bodyPr wrap="square" lIns="0" tIns="0" rIns="0" bIns="0" rtlCol="0"/>
          <a:lstStyle/>
          <a:p>
            <a:endParaRPr sz="4141"/>
          </a:p>
        </p:txBody>
      </p:sp>
      <p:sp>
        <p:nvSpPr>
          <p:cNvPr id="5" name="object 5"/>
          <p:cNvSpPr/>
          <p:nvPr/>
        </p:nvSpPr>
        <p:spPr>
          <a:xfrm>
            <a:off x="2864568" y="6831393"/>
            <a:ext cx="94959" cy="94959"/>
          </a:xfrm>
          <a:custGeom>
            <a:avLst/>
            <a:gdLst/>
            <a:ahLst/>
            <a:cxnLst/>
            <a:rect l="l" t="t" r="r" b="b"/>
            <a:pathLst>
              <a:path w="41275" h="41275">
                <a:moveTo>
                  <a:pt x="25908" y="41148"/>
                </a:moveTo>
                <a:lnTo>
                  <a:pt x="13716" y="41148"/>
                </a:lnTo>
                <a:lnTo>
                  <a:pt x="9144" y="39624"/>
                </a:lnTo>
                <a:lnTo>
                  <a:pt x="6096" y="35052"/>
                </a:lnTo>
                <a:lnTo>
                  <a:pt x="1524" y="30480"/>
                </a:lnTo>
                <a:lnTo>
                  <a:pt x="0" y="25908"/>
                </a:lnTo>
                <a:lnTo>
                  <a:pt x="0" y="15240"/>
                </a:lnTo>
                <a:lnTo>
                  <a:pt x="1524" y="10668"/>
                </a:lnTo>
                <a:lnTo>
                  <a:pt x="6096" y="6096"/>
                </a:lnTo>
                <a:lnTo>
                  <a:pt x="9144" y="1524"/>
                </a:lnTo>
                <a:lnTo>
                  <a:pt x="13716" y="0"/>
                </a:lnTo>
                <a:lnTo>
                  <a:pt x="25908" y="0"/>
                </a:lnTo>
                <a:lnTo>
                  <a:pt x="30480" y="1524"/>
                </a:lnTo>
                <a:lnTo>
                  <a:pt x="35052" y="6096"/>
                </a:lnTo>
                <a:lnTo>
                  <a:pt x="15240" y="6096"/>
                </a:lnTo>
                <a:lnTo>
                  <a:pt x="12192" y="7620"/>
                </a:lnTo>
                <a:lnTo>
                  <a:pt x="9144" y="10668"/>
                </a:lnTo>
                <a:lnTo>
                  <a:pt x="6096" y="16764"/>
                </a:lnTo>
                <a:lnTo>
                  <a:pt x="6096" y="24384"/>
                </a:lnTo>
                <a:lnTo>
                  <a:pt x="9144" y="30480"/>
                </a:lnTo>
                <a:lnTo>
                  <a:pt x="12192" y="33528"/>
                </a:lnTo>
                <a:lnTo>
                  <a:pt x="16764" y="35052"/>
                </a:lnTo>
                <a:lnTo>
                  <a:pt x="35052" y="35052"/>
                </a:lnTo>
                <a:lnTo>
                  <a:pt x="30480" y="39624"/>
                </a:lnTo>
                <a:lnTo>
                  <a:pt x="25908" y="41148"/>
                </a:lnTo>
                <a:close/>
              </a:path>
              <a:path w="41275" h="41275">
                <a:moveTo>
                  <a:pt x="35052" y="35052"/>
                </a:moveTo>
                <a:lnTo>
                  <a:pt x="24384" y="35052"/>
                </a:lnTo>
                <a:lnTo>
                  <a:pt x="27432" y="33528"/>
                </a:lnTo>
                <a:lnTo>
                  <a:pt x="33528" y="27432"/>
                </a:lnTo>
                <a:lnTo>
                  <a:pt x="35052" y="24384"/>
                </a:lnTo>
                <a:lnTo>
                  <a:pt x="35052" y="16764"/>
                </a:lnTo>
                <a:lnTo>
                  <a:pt x="33528" y="13716"/>
                </a:lnTo>
                <a:lnTo>
                  <a:pt x="27432" y="7620"/>
                </a:lnTo>
                <a:lnTo>
                  <a:pt x="24384" y="6096"/>
                </a:lnTo>
                <a:lnTo>
                  <a:pt x="35052" y="6096"/>
                </a:lnTo>
                <a:lnTo>
                  <a:pt x="41148" y="15240"/>
                </a:lnTo>
                <a:lnTo>
                  <a:pt x="41148" y="25908"/>
                </a:lnTo>
                <a:lnTo>
                  <a:pt x="35052" y="35052"/>
                </a:lnTo>
                <a:close/>
              </a:path>
            </a:pathLst>
          </a:custGeom>
          <a:solidFill>
            <a:srgbClr val="E48311"/>
          </a:solidFill>
        </p:spPr>
        <p:txBody>
          <a:bodyPr wrap="square" lIns="0" tIns="0" rIns="0" bIns="0" rtlCol="0"/>
          <a:lstStyle/>
          <a:p>
            <a:endParaRPr sz="4141"/>
          </a:p>
        </p:txBody>
      </p:sp>
      <p:sp>
        <p:nvSpPr>
          <p:cNvPr id="6" name="object 6"/>
          <p:cNvSpPr/>
          <p:nvPr/>
        </p:nvSpPr>
        <p:spPr>
          <a:xfrm>
            <a:off x="2864568" y="8093624"/>
            <a:ext cx="94959" cy="94959"/>
          </a:xfrm>
          <a:custGeom>
            <a:avLst/>
            <a:gdLst/>
            <a:ahLst/>
            <a:cxnLst/>
            <a:rect l="l" t="t" r="r" b="b"/>
            <a:pathLst>
              <a:path w="41275" h="41275">
                <a:moveTo>
                  <a:pt x="25908" y="41148"/>
                </a:moveTo>
                <a:lnTo>
                  <a:pt x="13716" y="41148"/>
                </a:lnTo>
                <a:lnTo>
                  <a:pt x="9144" y="39624"/>
                </a:lnTo>
                <a:lnTo>
                  <a:pt x="6096" y="35052"/>
                </a:lnTo>
                <a:lnTo>
                  <a:pt x="1524" y="32004"/>
                </a:lnTo>
                <a:lnTo>
                  <a:pt x="0" y="25908"/>
                </a:lnTo>
                <a:lnTo>
                  <a:pt x="0" y="15240"/>
                </a:lnTo>
                <a:lnTo>
                  <a:pt x="1524" y="10668"/>
                </a:lnTo>
                <a:lnTo>
                  <a:pt x="6096" y="6096"/>
                </a:lnTo>
                <a:lnTo>
                  <a:pt x="9144" y="1524"/>
                </a:lnTo>
                <a:lnTo>
                  <a:pt x="13716" y="0"/>
                </a:lnTo>
                <a:lnTo>
                  <a:pt x="25908" y="0"/>
                </a:lnTo>
                <a:lnTo>
                  <a:pt x="30480" y="1524"/>
                </a:lnTo>
                <a:lnTo>
                  <a:pt x="35052" y="6096"/>
                </a:lnTo>
                <a:lnTo>
                  <a:pt x="15240" y="6096"/>
                </a:lnTo>
                <a:lnTo>
                  <a:pt x="12192" y="7620"/>
                </a:lnTo>
                <a:lnTo>
                  <a:pt x="9144" y="10668"/>
                </a:lnTo>
                <a:lnTo>
                  <a:pt x="6096" y="16764"/>
                </a:lnTo>
                <a:lnTo>
                  <a:pt x="6096" y="24384"/>
                </a:lnTo>
                <a:lnTo>
                  <a:pt x="7620" y="28956"/>
                </a:lnTo>
                <a:lnTo>
                  <a:pt x="12192" y="33528"/>
                </a:lnTo>
                <a:lnTo>
                  <a:pt x="16764" y="35052"/>
                </a:lnTo>
                <a:lnTo>
                  <a:pt x="35052" y="35052"/>
                </a:lnTo>
                <a:lnTo>
                  <a:pt x="30480" y="39624"/>
                </a:lnTo>
                <a:lnTo>
                  <a:pt x="25908" y="41148"/>
                </a:lnTo>
                <a:close/>
              </a:path>
              <a:path w="41275" h="41275">
                <a:moveTo>
                  <a:pt x="35052" y="35052"/>
                </a:moveTo>
                <a:lnTo>
                  <a:pt x="24384" y="35052"/>
                </a:lnTo>
                <a:lnTo>
                  <a:pt x="27432" y="33528"/>
                </a:lnTo>
                <a:lnTo>
                  <a:pt x="30480" y="30480"/>
                </a:lnTo>
                <a:lnTo>
                  <a:pt x="33528" y="28956"/>
                </a:lnTo>
                <a:lnTo>
                  <a:pt x="35052" y="24384"/>
                </a:lnTo>
                <a:lnTo>
                  <a:pt x="35052" y="16764"/>
                </a:lnTo>
                <a:lnTo>
                  <a:pt x="33528" y="13716"/>
                </a:lnTo>
                <a:lnTo>
                  <a:pt x="27432" y="7620"/>
                </a:lnTo>
                <a:lnTo>
                  <a:pt x="24384" y="6096"/>
                </a:lnTo>
                <a:lnTo>
                  <a:pt x="35052" y="6096"/>
                </a:lnTo>
                <a:lnTo>
                  <a:pt x="41148" y="15240"/>
                </a:lnTo>
                <a:lnTo>
                  <a:pt x="41148" y="25908"/>
                </a:lnTo>
                <a:lnTo>
                  <a:pt x="38100" y="32004"/>
                </a:lnTo>
                <a:lnTo>
                  <a:pt x="35052" y="35052"/>
                </a:lnTo>
                <a:close/>
              </a:path>
            </a:pathLst>
          </a:custGeom>
          <a:solidFill>
            <a:srgbClr val="E48311"/>
          </a:solidFill>
        </p:spPr>
        <p:txBody>
          <a:bodyPr wrap="square" lIns="0" tIns="0" rIns="0" bIns="0" rtlCol="0"/>
          <a:lstStyle/>
          <a:p>
            <a:endParaRPr sz="4141"/>
          </a:p>
        </p:txBody>
      </p:sp>
      <p:sp>
        <p:nvSpPr>
          <p:cNvPr id="7" name="object 7"/>
          <p:cNvSpPr txBox="1"/>
          <p:nvPr/>
        </p:nvSpPr>
        <p:spPr>
          <a:xfrm>
            <a:off x="1846720" y="2966321"/>
            <a:ext cx="14341803" cy="5355324"/>
          </a:xfrm>
          <a:prstGeom prst="rect">
            <a:avLst/>
          </a:prstGeom>
        </p:spPr>
        <p:txBody>
          <a:bodyPr vert="horz" wrap="square" lIns="0" tIns="39445" rIns="0" bIns="0" rtlCol="0">
            <a:spAutoFit/>
          </a:bodyPr>
          <a:lstStyle/>
          <a:p>
            <a:pPr marL="147560">
              <a:spcBef>
                <a:spcPts val="311"/>
              </a:spcBef>
            </a:pP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Roles</a:t>
            </a:r>
            <a:r>
              <a:rPr sz="4026" spc="69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managers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assume</a:t>
            </a:r>
            <a:r>
              <a:rPr sz="4026" spc="58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to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FF0000"/>
                </a:solidFill>
                <a:latin typeface="Calibri"/>
                <a:cs typeface="Calibri"/>
              </a:rPr>
              <a:t>coordinate</a:t>
            </a:r>
            <a:r>
              <a:rPr sz="4026" spc="58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4026" spc="12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dirty="0">
                <a:solidFill>
                  <a:srgbClr val="FF0000"/>
                </a:solidFill>
                <a:latin typeface="Calibri"/>
                <a:cs typeface="Calibri"/>
              </a:rPr>
              <a:t>interact</a:t>
            </a:r>
            <a:r>
              <a:rPr sz="4026" spc="-2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FF0000"/>
                </a:solidFill>
                <a:latin typeface="Calibri"/>
                <a:cs typeface="Calibri"/>
              </a:rPr>
              <a:t>with</a:t>
            </a:r>
            <a:r>
              <a:rPr sz="4026" spc="23" dirty="0">
                <a:solidFill>
                  <a:srgbClr val="FF0000"/>
                </a:solidFill>
                <a:latin typeface="Calibri"/>
                <a:cs typeface="Calibri"/>
              </a:rPr>
              <a:t> employees</a:t>
            </a:r>
            <a:endParaRPr sz="4026" dirty="0">
              <a:solidFill>
                <a:srgbClr val="FF0000"/>
              </a:solidFill>
              <a:latin typeface="Calibri"/>
              <a:cs typeface="Calibri"/>
            </a:endParaRPr>
          </a:p>
          <a:p>
            <a:pPr marL="29221">
              <a:spcBef>
                <a:spcPts val="3071"/>
              </a:spcBef>
            </a:pPr>
            <a:r>
              <a:rPr sz="4026" spc="35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4026" spc="12" dirty="0">
                <a:solidFill>
                  <a:srgbClr val="FF0000"/>
                </a:solidFill>
                <a:latin typeface="Calibri"/>
                <a:cs typeface="Calibri"/>
              </a:rPr>
              <a:t> provide</a:t>
            </a:r>
            <a:r>
              <a:rPr sz="4026" spc="4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FF0000"/>
                </a:solidFill>
                <a:latin typeface="Calibri"/>
                <a:cs typeface="Calibri"/>
              </a:rPr>
              <a:t>direction</a:t>
            </a:r>
            <a:r>
              <a:rPr sz="4026" spc="4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to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the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 organization.</a:t>
            </a:r>
            <a:endParaRPr sz="4026" dirty="0">
              <a:latin typeface="Calibri"/>
              <a:cs typeface="Calibri"/>
            </a:endParaRPr>
          </a:p>
          <a:p>
            <a:pPr marL="1262309" marR="9749288">
              <a:lnSpc>
                <a:spcPts val="9939"/>
              </a:lnSpc>
              <a:spcBef>
                <a:spcPts val="449"/>
              </a:spcBef>
            </a:pPr>
            <a:r>
              <a:rPr sz="4026" i="1" spc="23" dirty="0">
                <a:solidFill>
                  <a:srgbClr val="3D3D3D"/>
                </a:solidFill>
                <a:latin typeface="Calibri"/>
                <a:cs typeface="Calibri"/>
              </a:rPr>
              <a:t>Figurehead</a:t>
            </a:r>
            <a:r>
              <a:rPr sz="4026" i="1" spc="-104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i="1" spc="23" dirty="0">
                <a:solidFill>
                  <a:srgbClr val="3D3D3D"/>
                </a:solidFill>
                <a:latin typeface="Calibri"/>
                <a:cs typeface="Calibri"/>
              </a:rPr>
              <a:t>role </a:t>
            </a:r>
            <a:r>
              <a:rPr sz="4026" i="1" spc="-874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i="1" spc="23" dirty="0">
                <a:solidFill>
                  <a:srgbClr val="3D3D3D"/>
                </a:solidFill>
                <a:latin typeface="Calibri"/>
                <a:cs typeface="Calibri"/>
              </a:rPr>
              <a:t>Leader role </a:t>
            </a:r>
            <a:r>
              <a:rPr sz="4026" i="1" spc="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i="1" spc="23" dirty="0">
                <a:solidFill>
                  <a:srgbClr val="3D3D3D"/>
                </a:solidFill>
                <a:latin typeface="Calibri"/>
                <a:cs typeface="Calibri"/>
              </a:rPr>
              <a:t>Liaison</a:t>
            </a:r>
            <a:r>
              <a:rPr sz="4026" i="1" spc="-12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i="1" spc="23" dirty="0">
                <a:solidFill>
                  <a:srgbClr val="3D3D3D"/>
                </a:solidFill>
                <a:latin typeface="Calibri"/>
                <a:cs typeface="Calibri"/>
              </a:rPr>
              <a:t>role</a:t>
            </a:r>
            <a:endParaRPr sz="4026" dirty="0">
              <a:latin typeface="Calibri"/>
              <a:cs typeface="Calibri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266AA60-1623-5D69-1640-8A80598C1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5102" y="1126814"/>
            <a:ext cx="7871408" cy="187931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2058143" y="5092322"/>
            <a:ext cx="94959" cy="94959"/>
          </a:xfrm>
          <a:custGeom>
            <a:avLst/>
            <a:gdLst/>
            <a:ahLst/>
            <a:cxnLst/>
            <a:rect l="l" t="t" r="r" b="b"/>
            <a:pathLst>
              <a:path w="41275" h="41275">
                <a:moveTo>
                  <a:pt x="25908" y="41148"/>
                </a:moveTo>
                <a:lnTo>
                  <a:pt x="15240" y="41148"/>
                </a:lnTo>
                <a:lnTo>
                  <a:pt x="6096" y="35052"/>
                </a:lnTo>
                <a:lnTo>
                  <a:pt x="1524" y="30480"/>
                </a:lnTo>
                <a:lnTo>
                  <a:pt x="0" y="25908"/>
                </a:lnTo>
                <a:lnTo>
                  <a:pt x="0" y="13716"/>
                </a:lnTo>
                <a:lnTo>
                  <a:pt x="1524" y="9144"/>
                </a:lnTo>
                <a:lnTo>
                  <a:pt x="6096" y="6096"/>
                </a:lnTo>
                <a:lnTo>
                  <a:pt x="10668" y="1524"/>
                </a:lnTo>
                <a:lnTo>
                  <a:pt x="15240" y="0"/>
                </a:lnTo>
                <a:lnTo>
                  <a:pt x="25908" y="0"/>
                </a:lnTo>
                <a:lnTo>
                  <a:pt x="30480" y="1524"/>
                </a:lnTo>
                <a:lnTo>
                  <a:pt x="35052" y="6096"/>
                </a:lnTo>
                <a:lnTo>
                  <a:pt x="16764" y="6096"/>
                </a:lnTo>
                <a:lnTo>
                  <a:pt x="10668" y="9144"/>
                </a:lnTo>
                <a:lnTo>
                  <a:pt x="7620" y="12192"/>
                </a:lnTo>
                <a:lnTo>
                  <a:pt x="6096" y="15240"/>
                </a:lnTo>
                <a:lnTo>
                  <a:pt x="6096" y="24384"/>
                </a:lnTo>
                <a:lnTo>
                  <a:pt x="7620" y="27432"/>
                </a:lnTo>
                <a:lnTo>
                  <a:pt x="13716" y="33528"/>
                </a:lnTo>
                <a:lnTo>
                  <a:pt x="16764" y="35052"/>
                </a:lnTo>
                <a:lnTo>
                  <a:pt x="35052" y="35052"/>
                </a:lnTo>
                <a:lnTo>
                  <a:pt x="25908" y="41148"/>
                </a:lnTo>
                <a:close/>
              </a:path>
              <a:path w="41275" h="41275">
                <a:moveTo>
                  <a:pt x="35052" y="35052"/>
                </a:moveTo>
                <a:lnTo>
                  <a:pt x="24384" y="35052"/>
                </a:lnTo>
                <a:lnTo>
                  <a:pt x="27432" y="33528"/>
                </a:lnTo>
                <a:lnTo>
                  <a:pt x="33528" y="27432"/>
                </a:lnTo>
                <a:lnTo>
                  <a:pt x="35052" y="24384"/>
                </a:lnTo>
                <a:lnTo>
                  <a:pt x="35052" y="15240"/>
                </a:lnTo>
                <a:lnTo>
                  <a:pt x="33528" y="12192"/>
                </a:lnTo>
                <a:lnTo>
                  <a:pt x="30480" y="9144"/>
                </a:lnTo>
                <a:lnTo>
                  <a:pt x="24384" y="6096"/>
                </a:lnTo>
                <a:lnTo>
                  <a:pt x="35052" y="6096"/>
                </a:lnTo>
                <a:lnTo>
                  <a:pt x="39624" y="9144"/>
                </a:lnTo>
                <a:lnTo>
                  <a:pt x="41148" y="13716"/>
                </a:lnTo>
                <a:lnTo>
                  <a:pt x="41148" y="25908"/>
                </a:lnTo>
                <a:lnTo>
                  <a:pt x="39624" y="30480"/>
                </a:lnTo>
                <a:lnTo>
                  <a:pt x="35052" y="35052"/>
                </a:lnTo>
                <a:close/>
              </a:path>
            </a:pathLst>
          </a:custGeom>
          <a:solidFill>
            <a:srgbClr val="E48311"/>
          </a:solidFill>
        </p:spPr>
        <p:txBody>
          <a:bodyPr wrap="square" lIns="0" tIns="0" rIns="0" bIns="0" rtlCol="0"/>
          <a:lstStyle/>
          <a:p>
            <a:endParaRPr sz="4141"/>
          </a:p>
        </p:txBody>
      </p:sp>
      <p:sp>
        <p:nvSpPr>
          <p:cNvPr id="5" name="object 5"/>
          <p:cNvSpPr/>
          <p:nvPr/>
        </p:nvSpPr>
        <p:spPr>
          <a:xfrm>
            <a:off x="2058143" y="6140672"/>
            <a:ext cx="94959" cy="94959"/>
          </a:xfrm>
          <a:custGeom>
            <a:avLst/>
            <a:gdLst/>
            <a:ahLst/>
            <a:cxnLst/>
            <a:rect l="l" t="t" r="r" b="b"/>
            <a:pathLst>
              <a:path w="41275" h="41275">
                <a:moveTo>
                  <a:pt x="25908" y="41148"/>
                </a:moveTo>
                <a:lnTo>
                  <a:pt x="15240" y="41148"/>
                </a:lnTo>
                <a:lnTo>
                  <a:pt x="10668" y="39624"/>
                </a:lnTo>
                <a:lnTo>
                  <a:pt x="6096" y="35052"/>
                </a:lnTo>
                <a:lnTo>
                  <a:pt x="1524" y="32004"/>
                </a:lnTo>
                <a:lnTo>
                  <a:pt x="0" y="27432"/>
                </a:lnTo>
                <a:lnTo>
                  <a:pt x="0" y="15240"/>
                </a:lnTo>
                <a:lnTo>
                  <a:pt x="1524" y="10668"/>
                </a:lnTo>
                <a:lnTo>
                  <a:pt x="6096" y="6096"/>
                </a:lnTo>
                <a:lnTo>
                  <a:pt x="15240" y="0"/>
                </a:lnTo>
                <a:lnTo>
                  <a:pt x="25908" y="0"/>
                </a:lnTo>
                <a:lnTo>
                  <a:pt x="35052" y="6096"/>
                </a:lnTo>
                <a:lnTo>
                  <a:pt x="16764" y="6096"/>
                </a:lnTo>
                <a:lnTo>
                  <a:pt x="13716" y="7620"/>
                </a:lnTo>
                <a:lnTo>
                  <a:pt x="7620" y="13716"/>
                </a:lnTo>
                <a:lnTo>
                  <a:pt x="6096" y="16764"/>
                </a:lnTo>
                <a:lnTo>
                  <a:pt x="6096" y="25908"/>
                </a:lnTo>
                <a:lnTo>
                  <a:pt x="7620" y="28956"/>
                </a:lnTo>
                <a:lnTo>
                  <a:pt x="10668" y="32004"/>
                </a:lnTo>
                <a:lnTo>
                  <a:pt x="16764" y="35052"/>
                </a:lnTo>
                <a:lnTo>
                  <a:pt x="35052" y="35052"/>
                </a:lnTo>
                <a:lnTo>
                  <a:pt x="30480" y="39624"/>
                </a:lnTo>
                <a:lnTo>
                  <a:pt x="25908" y="41148"/>
                </a:lnTo>
                <a:close/>
              </a:path>
              <a:path w="41275" h="41275">
                <a:moveTo>
                  <a:pt x="35052" y="35052"/>
                </a:moveTo>
                <a:lnTo>
                  <a:pt x="24384" y="35052"/>
                </a:lnTo>
                <a:lnTo>
                  <a:pt x="30480" y="32004"/>
                </a:lnTo>
                <a:lnTo>
                  <a:pt x="33528" y="28956"/>
                </a:lnTo>
                <a:lnTo>
                  <a:pt x="35052" y="25908"/>
                </a:lnTo>
                <a:lnTo>
                  <a:pt x="35052" y="16764"/>
                </a:lnTo>
                <a:lnTo>
                  <a:pt x="33528" y="13716"/>
                </a:lnTo>
                <a:lnTo>
                  <a:pt x="27432" y="7620"/>
                </a:lnTo>
                <a:lnTo>
                  <a:pt x="24384" y="6096"/>
                </a:lnTo>
                <a:lnTo>
                  <a:pt x="35052" y="6096"/>
                </a:lnTo>
                <a:lnTo>
                  <a:pt x="39624" y="10668"/>
                </a:lnTo>
                <a:lnTo>
                  <a:pt x="41148" y="15240"/>
                </a:lnTo>
                <a:lnTo>
                  <a:pt x="41148" y="27432"/>
                </a:lnTo>
                <a:lnTo>
                  <a:pt x="39624" y="32004"/>
                </a:lnTo>
                <a:lnTo>
                  <a:pt x="35052" y="35052"/>
                </a:lnTo>
                <a:close/>
              </a:path>
            </a:pathLst>
          </a:custGeom>
          <a:solidFill>
            <a:srgbClr val="E48311"/>
          </a:solidFill>
        </p:spPr>
        <p:txBody>
          <a:bodyPr wrap="square" lIns="0" tIns="0" rIns="0" bIns="0" rtlCol="0"/>
          <a:lstStyle/>
          <a:p>
            <a:endParaRPr sz="4141"/>
          </a:p>
        </p:txBody>
      </p:sp>
      <p:sp>
        <p:nvSpPr>
          <p:cNvPr id="6" name="object 6"/>
          <p:cNvSpPr/>
          <p:nvPr/>
        </p:nvSpPr>
        <p:spPr>
          <a:xfrm>
            <a:off x="2058143" y="7192531"/>
            <a:ext cx="94959" cy="94959"/>
          </a:xfrm>
          <a:custGeom>
            <a:avLst/>
            <a:gdLst/>
            <a:ahLst/>
            <a:cxnLst/>
            <a:rect l="l" t="t" r="r" b="b"/>
            <a:pathLst>
              <a:path w="41275" h="41275">
                <a:moveTo>
                  <a:pt x="25908" y="41148"/>
                </a:moveTo>
                <a:lnTo>
                  <a:pt x="15240" y="41148"/>
                </a:lnTo>
                <a:lnTo>
                  <a:pt x="10668" y="39624"/>
                </a:lnTo>
                <a:lnTo>
                  <a:pt x="1524" y="30480"/>
                </a:lnTo>
                <a:lnTo>
                  <a:pt x="0" y="25908"/>
                </a:lnTo>
                <a:lnTo>
                  <a:pt x="0" y="15240"/>
                </a:lnTo>
                <a:lnTo>
                  <a:pt x="1524" y="10668"/>
                </a:lnTo>
                <a:lnTo>
                  <a:pt x="10668" y="1524"/>
                </a:lnTo>
                <a:lnTo>
                  <a:pt x="15240" y="0"/>
                </a:lnTo>
                <a:lnTo>
                  <a:pt x="25908" y="0"/>
                </a:lnTo>
                <a:lnTo>
                  <a:pt x="30480" y="1524"/>
                </a:lnTo>
                <a:lnTo>
                  <a:pt x="35052" y="6096"/>
                </a:lnTo>
                <a:lnTo>
                  <a:pt x="16764" y="6096"/>
                </a:lnTo>
                <a:lnTo>
                  <a:pt x="13716" y="7620"/>
                </a:lnTo>
                <a:lnTo>
                  <a:pt x="7620" y="13716"/>
                </a:lnTo>
                <a:lnTo>
                  <a:pt x="6096" y="16764"/>
                </a:lnTo>
                <a:lnTo>
                  <a:pt x="6096" y="24384"/>
                </a:lnTo>
                <a:lnTo>
                  <a:pt x="7620" y="27432"/>
                </a:lnTo>
                <a:lnTo>
                  <a:pt x="13716" y="33528"/>
                </a:lnTo>
                <a:lnTo>
                  <a:pt x="16764" y="35052"/>
                </a:lnTo>
                <a:lnTo>
                  <a:pt x="35052" y="35052"/>
                </a:lnTo>
                <a:lnTo>
                  <a:pt x="30480" y="39624"/>
                </a:lnTo>
                <a:lnTo>
                  <a:pt x="25908" y="41148"/>
                </a:lnTo>
                <a:close/>
              </a:path>
              <a:path w="41275" h="41275">
                <a:moveTo>
                  <a:pt x="35052" y="35052"/>
                </a:moveTo>
                <a:lnTo>
                  <a:pt x="24384" y="35052"/>
                </a:lnTo>
                <a:lnTo>
                  <a:pt x="27432" y="33528"/>
                </a:lnTo>
                <a:lnTo>
                  <a:pt x="33528" y="27432"/>
                </a:lnTo>
                <a:lnTo>
                  <a:pt x="35052" y="24384"/>
                </a:lnTo>
                <a:lnTo>
                  <a:pt x="35052" y="16764"/>
                </a:lnTo>
                <a:lnTo>
                  <a:pt x="33528" y="13716"/>
                </a:lnTo>
                <a:lnTo>
                  <a:pt x="27432" y="7620"/>
                </a:lnTo>
                <a:lnTo>
                  <a:pt x="24384" y="6096"/>
                </a:lnTo>
                <a:lnTo>
                  <a:pt x="35052" y="6096"/>
                </a:lnTo>
                <a:lnTo>
                  <a:pt x="39624" y="10668"/>
                </a:lnTo>
                <a:lnTo>
                  <a:pt x="41148" y="15240"/>
                </a:lnTo>
                <a:lnTo>
                  <a:pt x="41148" y="25908"/>
                </a:lnTo>
                <a:lnTo>
                  <a:pt x="39624" y="30480"/>
                </a:lnTo>
                <a:lnTo>
                  <a:pt x="35052" y="35052"/>
                </a:lnTo>
                <a:close/>
              </a:path>
            </a:pathLst>
          </a:custGeom>
          <a:solidFill>
            <a:srgbClr val="E48311"/>
          </a:solidFill>
        </p:spPr>
        <p:txBody>
          <a:bodyPr wrap="square" lIns="0" tIns="0" rIns="0" bIns="0" rtlCol="0"/>
          <a:lstStyle/>
          <a:p>
            <a:endParaRPr sz="4141"/>
          </a:p>
        </p:txBody>
      </p:sp>
      <p:sp>
        <p:nvSpPr>
          <p:cNvPr id="7" name="object 7"/>
          <p:cNvSpPr txBox="1"/>
          <p:nvPr/>
        </p:nvSpPr>
        <p:spPr>
          <a:xfrm>
            <a:off x="1713309" y="2454000"/>
            <a:ext cx="12241007" cy="5081013"/>
          </a:xfrm>
          <a:prstGeom prst="rect">
            <a:avLst/>
          </a:prstGeom>
        </p:spPr>
        <p:txBody>
          <a:bodyPr vert="horz" wrap="square" lIns="0" tIns="26296" rIns="0" bIns="0" rtlCol="0">
            <a:spAutoFit/>
          </a:bodyPr>
          <a:lstStyle/>
          <a:p>
            <a:pPr marL="29221" marR="11690" indent="251292">
              <a:lnSpc>
                <a:spcPct val="153100"/>
              </a:lnSpc>
              <a:spcBef>
                <a:spcPts val="207"/>
              </a:spcBef>
            </a:pP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Associated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with the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tasks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needed 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to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obtain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and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transmit </a:t>
            </a:r>
            <a:r>
              <a:rPr sz="4026" spc="-88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information 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for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management</a:t>
            </a:r>
            <a:r>
              <a:rPr sz="4026" spc="-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of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the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 organization.</a:t>
            </a:r>
            <a:endParaRPr sz="4026" dirty="0">
              <a:latin typeface="Calibri"/>
              <a:cs typeface="Calibri"/>
            </a:endParaRPr>
          </a:p>
          <a:p>
            <a:pPr marL="593169" marR="7921572">
              <a:lnSpc>
                <a:spcPts val="8262"/>
              </a:lnSpc>
              <a:spcBef>
                <a:spcPts val="575"/>
              </a:spcBef>
            </a:pPr>
            <a:r>
              <a:rPr sz="4026" i="1" spc="23" dirty="0">
                <a:solidFill>
                  <a:srgbClr val="3D3D3D"/>
                </a:solidFill>
                <a:latin typeface="Calibri"/>
                <a:cs typeface="Calibri"/>
              </a:rPr>
              <a:t>Monitor role </a:t>
            </a:r>
            <a:r>
              <a:rPr sz="4026" i="1" spc="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i="1" spc="23" dirty="0">
                <a:solidFill>
                  <a:srgbClr val="3D3D3D"/>
                </a:solidFill>
                <a:latin typeface="Calibri"/>
                <a:cs typeface="Calibri"/>
              </a:rPr>
              <a:t>Disseminator</a:t>
            </a:r>
            <a:r>
              <a:rPr sz="4026" i="1" spc="-15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i="1" spc="23" dirty="0">
                <a:solidFill>
                  <a:srgbClr val="3D3D3D"/>
                </a:solidFill>
                <a:latin typeface="Calibri"/>
                <a:cs typeface="Calibri"/>
              </a:rPr>
              <a:t>role</a:t>
            </a:r>
            <a:endParaRPr sz="4026" dirty="0">
              <a:latin typeface="Calibri"/>
              <a:cs typeface="Calibri"/>
            </a:endParaRPr>
          </a:p>
          <a:p>
            <a:pPr marL="593169">
              <a:spcBef>
                <a:spcPts val="2600"/>
              </a:spcBef>
            </a:pPr>
            <a:r>
              <a:rPr sz="4026" i="1" spc="12" dirty="0">
                <a:solidFill>
                  <a:srgbClr val="3D3D3D"/>
                </a:solidFill>
                <a:latin typeface="Calibri"/>
                <a:cs typeface="Calibri"/>
              </a:rPr>
              <a:t>Spokesperson</a:t>
            </a:r>
            <a:r>
              <a:rPr sz="4026" i="1" spc="-23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i="1" spc="23" dirty="0">
                <a:solidFill>
                  <a:srgbClr val="3D3D3D"/>
                </a:solidFill>
                <a:latin typeface="Calibri"/>
                <a:cs typeface="Calibri"/>
              </a:rPr>
              <a:t>role</a:t>
            </a:r>
            <a:endParaRPr sz="4026" dirty="0">
              <a:latin typeface="Calibri"/>
              <a:cs typeface="Calibri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37EE03D-182B-E20C-BD38-B1230C5AB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5100" y="1126814"/>
            <a:ext cx="6696832" cy="187931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2864568" y="4745206"/>
            <a:ext cx="94959" cy="94959"/>
          </a:xfrm>
          <a:custGeom>
            <a:avLst/>
            <a:gdLst/>
            <a:ahLst/>
            <a:cxnLst/>
            <a:rect l="l" t="t" r="r" b="b"/>
            <a:pathLst>
              <a:path w="41275" h="41275">
                <a:moveTo>
                  <a:pt x="25908" y="41148"/>
                </a:moveTo>
                <a:lnTo>
                  <a:pt x="13716" y="41148"/>
                </a:lnTo>
                <a:lnTo>
                  <a:pt x="9144" y="39624"/>
                </a:lnTo>
                <a:lnTo>
                  <a:pt x="6096" y="35052"/>
                </a:lnTo>
                <a:lnTo>
                  <a:pt x="1524" y="32004"/>
                </a:lnTo>
                <a:lnTo>
                  <a:pt x="0" y="27432"/>
                </a:lnTo>
                <a:lnTo>
                  <a:pt x="0" y="15240"/>
                </a:lnTo>
                <a:lnTo>
                  <a:pt x="1524" y="10668"/>
                </a:lnTo>
                <a:lnTo>
                  <a:pt x="9144" y="3048"/>
                </a:lnTo>
                <a:lnTo>
                  <a:pt x="13716" y="0"/>
                </a:lnTo>
                <a:lnTo>
                  <a:pt x="25908" y="0"/>
                </a:lnTo>
                <a:lnTo>
                  <a:pt x="35052" y="6096"/>
                </a:lnTo>
                <a:lnTo>
                  <a:pt x="15240" y="6096"/>
                </a:lnTo>
                <a:lnTo>
                  <a:pt x="12192" y="7620"/>
                </a:lnTo>
                <a:lnTo>
                  <a:pt x="9144" y="10668"/>
                </a:lnTo>
                <a:lnTo>
                  <a:pt x="6096" y="16764"/>
                </a:lnTo>
                <a:lnTo>
                  <a:pt x="6096" y="25908"/>
                </a:lnTo>
                <a:lnTo>
                  <a:pt x="9144" y="32004"/>
                </a:lnTo>
                <a:lnTo>
                  <a:pt x="12192" y="33528"/>
                </a:lnTo>
                <a:lnTo>
                  <a:pt x="16764" y="35052"/>
                </a:lnTo>
                <a:lnTo>
                  <a:pt x="35052" y="35052"/>
                </a:lnTo>
                <a:lnTo>
                  <a:pt x="30480" y="39624"/>
                </a:lnTo>
                <a:lnTo>
                  <a:pt x="25908" y="41148"/>
                </a:lnTo>
                <a:close/>
              </a:path>
              <a:path w="41275" h="41275">
                <a:moveTo>
                  <a:pt x="35052" y="35052"/>
                </a:moveTo>
                <a:lnTo>
                  <a:pt x="24384" y="35052"/>
                </a:lnTo>
                <a:lnTo>
                  <a:pt x="30480" y="32004"/>
                </a:lnTo>
                <a:lnTo>
                  <a:pt x="33528" y="28956"/>
                </a:lnTo>
                <a:lnTo>
                  <a:pt x="35052" y="25908"/>
                </a:lnTo>
                <a:lnTo>
                  <a:pt x="35052" y="16764"/>
                </a:lnTo>
                <a:lnTo>
                  <a:pt x="33528" y="13716"/>
                </a:lnTo>
                <a:lnTo>
                  <a:pt x="27432" y="7620"/>
                </a:lnTo>
                <a:lnTo>
                  <a:pt x="24384" y="6096"/>
                </a:lnTo>
                <a:lnTo>
                  <a:pt x="35052" y="6096"/>
                </a:lnTo>
                <a:lnTo>
                  <a:pt x="41148" y="15240"/>
                </a:lnTo>
                <a:lnTo>
                  <a:pt x="41148" y="27432"/>
                </a:lnTo>
                <a:lnTo>
                  <a:pt x="38100" y="32004"/>
                </a:lnTo>
                <a:lnTo>
                  <a:pt x="35052" y="35052"/>
                </a:lnTo>
                <a:close/>
              </a:path>
            </a:pathLst>
          </a:custGeom>
          <a:solidFill>
            <a:srgbClr val="E48311"/>
          </a:solidFill>
        </p:spPr>
        <p:txBody>
          <a:bodyPr wrap="square" lIns="0" tIns="0" rIns="0" bIns="0" rtlCol="0"/>
          <a:lstStyle/>
          <a:p>
            <a:endParaRPr sz="4141"/>
          </a:p>
        </p:txBody>
      </p:sp>
      <p:sp>
        <p:nvSpPr>
          <p:cNvPr id="5" name="object 5"/>
          <p:cNvSpPr/>
          <p:nvPr/>
        </p:nvSpPr>
        <p:spPr>
          <a:xfrm>
            <a:off x="2864568" y="5670842"/>
            <a:ext cx="94959" cy="94959"/>
          </a:xfrm>
          <a:custGeom>
            <a:avLst/>
            <a:gdLst/>
            <a:ahLst/>
            <a:cxnLst/>
            <a:rect l="l" t="t" r="r" b="b"/>
            <a:pathLst>
              <a:path w="41275" h="41275">
                <a:moveTo>
                  <a:pt x="25908" y="41148"/>
                </a:moveTo>
                <a:lnTo>
                  <a:pt x="13716" y="41148"/>
                </a:lnTo>
                <a:lnTo>
                  <a:pt x="9144" y="39624"/>
                </a:lnTo>
                <a:lnTo>
                  <a:pt x="6096" y="35052"/>
                </a:lnTo>
                <a:lnTo>
                  <a:pt x="1524" y="32004"/>
                </a:lnTo>
                <a:lnTo>
                  <a:pt x="0" y="27432"/>
                </a:lnTo>
                <a:lnTo>
                  <a:pt x="0" y="15240"/>
                </a:lnTo>
                <a:lnTo>
                  <a:pt x="1524" y="10668"/>
                </a:lnTo>
                <a:lnTo>
                  <a:pt x="9144" y="3048"/>
                </a:lnTo>
                <a:lnTo>
                  <a:pt x="13716" y="0"/>
                </a:lnTo>
                <a:lnTo>
                  <a:pt x="25908" y="0"/>
                </a:lnTo>
                <a:lnTo>
                  <a:pt x="35052" y="6096"/>
                </a:lnTo>
                <a:lnTo>
                  <a:pt x="15240" y="6096"/>
                </a:lnTo>
                <a:lnTo>
                  <a:pt x="12192" y="7620"/>
                </a:lnTo>
                <a:lnTo>
                  <a:pt x="9144" y="10668"/>
                </a:lnTo>
                <a:lnTo>
                  <a:pt x="6096" y="16764"/>
                </a:lnTo>
                <a:lnTo>
                  <a:pt x="6096" y="24384"/>
                </a:lnTo>
                <a:lnTo>
                  <a:pt x="7620" y="28956"/>
                </a:lnTo>
                <a:lnTo>
                  <a:pt x="9144" y="32004"/>
                </a:lnTo>
                <a:lnTo>
                  <a:pt x="12192" y="33528"/>
                </a:lnTo>
                <a:lnTo>
                  <a:pt x="16764" y="35052"/>
                </a:lnTo>
                <a:lnTo>
                  <a:pt x="35052" y="35052"/>
                </a:lnTo>
                <a:lnTo>
                  <a:pt x="30480" y="39624"/>
                </a:lnTo>
                <a:lnTo>
                  <a:pt x="25908" y="41148"/>
                </a:lnTo>
                <a:close/>
              </a:path>
              <a:path w="41275" h="41275">
                <a:moveTo>
                  <a:pt x="35052" y="35052"/>
                </a:moveTo>
                <a:lnTo>
                  <a:pt x="24384" y="35052"/>
                </a:lnTo>
                <a:lnTo>
                  <a:pt x="30480" y="32004"/>
                </a:lnTo>
                <a:lnTo>
                  <a:pt x="33528" y="28956"/>
                </a:lnTo>
                <a:lnTo>
                  <a:pt x="35052" y="24384"/>
                </a:lnTo>
                <a:lnTo>
                  <a:pt x="35052" y="16764"/>
                </a:lnTo>
                <a:lnTo>
                  <a:pt x="33528" y="13716"/>
                </a:lnTo>
                <a:lnTo>
                  <a:pt x="27432" y="7620"/>
                </a:lnTo>
                <a:lnTo>
                  <a:pt x="24384" y="6096"/>
                </a:lnTo>
                <a:lnTo>
                  <a:pt x="35052" y="6096"/>
                </a:lnTo>
                <a:lnTo>
                  <a:pt x="41148" y="15240"/>
                </a:lnTo>
                <a:lnTo>
                  <a:pt x="41148" y="27432"/>
                </a:lnTo>
                <a:lnTo>
                  <a:pt x="38100" y="32004"/>
                </a:lnTo>
                <a:lnTo>
                  <a:pt x="35052" y="35052"/>
                </a:lnTo>
                <a:close/>
              </a:path>
            </a:pathLst>
          </a:custGeom>
          <a:solidFill>
            <a:srgbClr val="E48311"/>
          </a:solidFill>
        </p:spPr>
        <p:txBody>
          <a:bodyPr wrap="square" lIns="0" tIns="0" rIns="0" bIns="0" rtlCol="0"/>
          <a:lstStyle/>
          <a:p>
            <a:endParaRPr sz="4141"/>
          </a:p>
        </p:txBody>
      </p:sp>
      <p:sp>
        <p:nvSpPr>
          <p:cNvPr id="6" name="object 6"/>
          <p:cNvSpPr/>
          <p:nvPr/>
        </p:nvSpPr>
        <p:spPr>
          <a:xfrm>
            <a:off x="2864568" y="6596478"/>
            <a:ext cx="94959" cy="94959"/>
          </a:xfrm>
          <a:custGeom>
            <a:avLst/>
            <a:gdLst/>
            <a:ahLst/>
            <a:cxnLst/>
            <a:rect l="l" t="t" r="r" b="b"/>
            <a:pathLst>
              <a:path w="41275" h="41275">
                <a:moveTo>
                  <a:pt x="25908" y="41148"/>
                </a:moveTo>
                <a:lnTo>
                  <a:pt x="13716" y="41148"/>
                </a:lnTo>
                <a:lnTo>
                  <a:pt x="9144" y="39624"/>
                </a:lnTo>
                <a:lnTo>
                  <a:pt x="6096" y="35052"/>
                </a:lnTo>
                <a:lnTo>
                  <a:pt x="1524" y="32004"/>
                </a:lnTo>
                <a:lnTo>
                  <a:pt x="0" y="27432"/>
                </a:lnTo>
                <a:lnTo>
                  <a:pt x="0" y="15240"/>
                </a:lnTo>
                <a:lnTo>
                  <a:pt x="1524" y="10668"/>
                </a:lnTo>
                <a:lnTo>
                  <a:pt x="9144" y="3048"/>
                </a:lnTo>
                <a:lnTo>
                  <a:pt x="13716" y="0"/>
                </a:lnTo>
                <a:lnTo>
                  <a:pt x="25908" y="0"/>
                </a:lnTo>
                <a:lnTo>
                  <a:pt x="35052" y="6096"/>
                </a:lnTo>
                <a:lnTo>
                  <a:pt x="15240" y="6096"/>
                </a:lnTo>
                <a:lnTo>
                  <a:pt x="12192" y="7620"/>
                </a:lnTo>
                <a:lnTo>
                  <a:pt x="9144" y="10668"/>
                </a:lnTo>
                <a:lnTo>
                  <a:pt x="6096" y="16764"/>
                </a:lnTo>
                <a:lnTo>
                  <a:pt x="6096" y="25908"/>
                </a:lnTo>
                <a:lnTo>
                  <a:pt x="9144" y="32004"/>
                </a:lnTo>
                <a:lnTo>
                  <a:pt x="12192" y="33528"/>
                </a:lnTo>
                <a:lnTo>
                  <a:pt x="16764" y="35052"/>
                </a:lnTo>
                <a:lnTo>
                  <a:pt x="35052" y="35052"/>
                </a:lnTo>
                <a:lnTo>
                  <a:pt x="30480" y="39624"/>
                </a:lnTo>
                <a:lnTo>
                  <a:pt x="25908" y="41148"/>
                </a:lnTo>
                <a:close/>
              </a:path>
              <a:path w="41275" h="41275">
                <a:moveTo>
                  <a:pt x="35052" y="35052"/>
                </a:moveTo>
                <a:lnTo>
                  <a:pt x="24384" y="35052"/>
                </a:lnTo>
                <a:lnTo>
                  <a:pt x="30480" y="32004"/>
                </a:lnTo>
                <a:lnTo>
                  <a:pt x="33528" y="28956"/>
                </a:lnTo>
                <a:lnTo>
                  <a:pt x="35052" y="25908"/>
                </a:lnTo>
                <a:lnTo>
                  <a:pt x="35052" y="16764"/>
                </a:lnTo>
                <a:lnTo>
                  <a:pt x="33528" y="13716"/>
                </a:lnTo>
                <a:lnTo>
                  <a:pt x="27432" y="7620"/>
                </a:lnTo>
                <a:lnTo>
                  <a:pt x="24384" y="6096"/>
                </a:lnTo>
                <a:lnTo>
                  <a:pt x="35052" y="6096"/>
                </a:lnTo>
                <a:lnTo>
                  <a:pt x="41148" y="15240"/>
                </a:lnTo>
                <a:lnTo>
                  <a:pt x="41148" y="27432"/>
                </a:lnTo>
                <a:lnTo>
                  <a:pt x="38100" y="32004"/>
                </a:lnTo>
                <a:lnTo>
                  <a:pt x="35052" y="35052"/>
                </a:lnTo>
                <a:close/>
              </a:path>
            </a:pathLst>
          </a:custGeom>
          <a:solidFill>
            <a:srgbClr val="E48311"/>
          </a:solidFill>
        </p:spPr>
        <p:txBody>
          <a:bodyPr wrap="square" lIns="0" tIns="0" rIns="0" bIns="0" rtlCol="0"/>
          <a:lstStyle/>
          <a:p>
            <a:endParaRPr sz="4141"/>
          </a:p>
        </p:txBody>
      </p:sp>
      <p:sp>
        <p:nvSpPr>
          <p:cNvPr id="7" name="object 7"/>
          <p:cNvSpPr/>
          <p:nvPr/>
        </p:nvSpPr>
        <p:spPr>
          <a:xfrm>
            <a:off x="2864568" y="7522114"/>
            <a:ext cx="94959" cy="94959"/>
          </a:xfrm>
          <a:custGeom>
            <a:avLst/>
            <a:gdLst/>
            <a:ahLst/>
            <a:cxnLst/>
            <a:rect l="l" t="t" r="r" b="b"/>
            <a:pathLst>
              <a:path w="41275" h="41275">
                <a:moveTo>
                  <a:pt x="25908" y="41148"/>
                </a:moveTo>
                <a:lnTo>
                  <a:pt x="13716" y="41148"/>
                </a:lnTo>
                <a:lnTo>
                  <a:pt x="9144" y="39624"/>
                </a:lnTo>
                <a:lnTo>
                  <a:pt x="6096" y="35052"/>
                </a:lnTo>
                <a:lnTo>
                  <a:pt x="1524" y="32004"/>
                </a:lnTo>
                <a:lnTo>
                  <a:pt x="0" y="27432"/>
                </a:lnTo>
                <a:lnTo>
                  <a:pt x="0" y="15240"/>
                </a:lnTo>
                <a:lnTo>
                  <a:pt x="1524" y="10668"/>
                </a:lnTo>
                <a:lnTo>
                  <a:pt x="9144" y="3048"/>
                </a:lnTo>
                <a:lnTo>
                  <a:pt x="13716" y="0"/>
                </a:lnTo>
                <a:lnTo>
                  <a:pt x="25908" y="0"/>
                </a:lnTo>
                <a:lnTo>
                  <a:pt x="35052" y="6096"/>
                </a:lnTo>
                <a:lnTo>
                  <a:pt x="15240" y="6096"/>
                </a:lnTo>
                <a:lnTo>
                  <a:pt x="12192" y="7620"/>
                </a:lnTo>
                <a:lnTo>
                  <a:pt x="9144" y="10668"/>
                </a:lnTo>
                <a:lnTo>
                  <a:pt x="6096" y="16764"/>
                </a:lnTo>
                <a:lnTo>
                  <a:pt x="6096" y="24384"/>
                </a:lnTo>
                <a:lnTo>
                  <a:pt x="7620" y="28956"/>
                </a:lnTo>
                <a:lnTo>
                  <a:pt x="9144" y="32004"/>
                </a:lnTo>
                <a:lnTo>
                  <a:pt x="12192" y="33528"/>
                </a:lnTo>
                <a:lnTo>
                  <a:pt x="16764" y="35052"/>
                </a:lnTo>
                <a:lnTo>
                  <a:pt x="35052" y="35052"/>
                </a:lnTo>
                <a:lnTo>
                  <a:pt x="30480" y="39624"/>
                </a:lnTo>
                <a:lnTo>
                  <a:pt x="25908" y="41148"/>
                </a:lnTo>
                <a:close/>
              </a:path>
              <a:path w="41275" h="41275">
                <a:moveTo>
                  <a:pt x="35052" y="35052"/>
                </a:moveTo>
                <a:lnTo>
                  <a:pt x="24384" y="35052"/>
                </a:lnTo>
                <a:lnTo>
                  <a:pt x="30480" y="32004"/>
                </a:lnTo>
                <a:lnTo>
                  <a:pt x="33528" y="28956"/>
                </a:lnTo>
                <a:lnTo>
                  <a:pt x="35052" y="24384"/>
                </a:lnTo>
                <a:lnTo>
                  <a:pt x="35052" y="16764"/>
                </a:lnTo>
                <a:lnTo>
                  <a:pt x="33528" y="13716"/>
                </a:lnTo>
                <a:lnTo>
                  <a:pt x="27432" y="7620"/>
                </a:lnTo>
                <a:lnTo>
                  <a:pt x="24384" y="6096"/>
                </a:lnTo>
                <a:lnTo>
                  <a:pt x="35052" y="6096"/>
                </a:lnTo>
                <a:lnTo>
                  <a:pt x="41148" y="15240"/>
                </a:lnTo>
                <a:lnTo>
                  <a:pt x="41148" y="27432"/>
                </a:lnTo>
                <a:lnTo>
                  <a:pt x="38100" y="32004"/>
                </a:lnTo>
                <a:lnTo>
                  <a:pt x="35052" y="35052"/>
                </a:lnTo>
                <a:close/>
              </a:path>
            </a:pathLst>
          </a:custGeom>
          <a:solidFill>
            <a:srgbClr val="E48311"/>
          </a:solidFill>
        </p:spPr>
        <p:txBody>
          <a:bodyPr wrap="square" lIns="0" tIns="0" rIns="0" bIns="0" rtlCol="0"/>
          <a:lstStyle/>
          <a:p>
            <a:endParaRPr sz="4141"/>
          </a:p>
        </p:txBody>
      </p:sp>
      <p:sp>
        <p:nvSpPr>
          <p:cNvPr id="8" name="object 8"/>
          <p:cNvSpPr txBox="1"/>
          <p:nvPr/>
        </p:nvSpPr>
        <p:spPr>
          <a:xfrm>
            <a:off x="1846722" y="2485374"/>
            <a:ext cx="13728219" cy="5321272"/>
          </a:xfrm>
          <a:prstGeom prst="rect">
            <a:avLst/>
          </a:prstGeom>
        </p:spPr>
        <p:txBody>
          <a:bodyPr vert="horz" wrap="square" lIns="0" tIns="26296" rIns="0" bIns="0" rtlCol="0">
            <a:spAutoFit/>
          </a:bodyPr>
          <a:lstStyle/>
          <a:p>
            <a:pPr marL="29221" marR="11690" indent="118341">
              <a:lnSpc>
                <a:spcPct val="132600"/>
              </a:lnSpc>
              <a:spcBef>
                <a:spcPts val="207"/>
              </a:spcBef>
            </a:pP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Associated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with the methods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managers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use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to </a:t>
            </a:r>
            <a:r>
              <a:rPr sz="4026" spc="23" dirty="0">
                <a:solidFill>
                  <a:srgbClr val="FF0000"/>
                </a:solidFill>
                <a:latin typeface="Calibri"/>
                <a:cs typeface="Calibri"/>
              </a:rPr>
              <a:t>plan </a:t>
            </a:r>
            <a:r>
              <a:rPr sz="4026" dirty="0">
                <a:solidFill>
                  <a:srgbClr val="FF0000"/>
                </a:solidFill>
                <a:latin typeface="Calibri"/>
                <a:cs typeface="Calibri"/>
              </a:rPr>
              <a:t>strategy </a:t>
            </a:r>
            <a:r>
              <a:rPr sz="4026" spc="35" dirty="0">
                <a:solidFill>
                  <a:srgbClr val="FF0000"/>
                </a:solidFill>
                <a:latin typeface="Calibri"/>
                <a:cs typeface="Calibri"/>
              </a:rPr>
              <a:t>and </a:t>
            </a:r>
            <a:r>
              <a:rPr sz="4026" spc="-88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dirty="0">
                <a:solidFill>
                  <a:srgbClr val="FF0000"/>
                </a:solidFill>
                <a:latin typeface="Calibri"/>
                <a:cs typeface="Calibri"/>
              </a:rPr>
              <a:t>utilize</a:t>
            </a:r>
            <a:r>
              <a:rPr sz="4026" spc="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dirty="0">
                <a:solidFill>
                  <a:srgbClr val="FF0000"/>
                </a:solidFill>
                <a:latin typeface="Calibri"/>
                <a:cs typeface="Calibri"/>
              </a:rPr>
              <a:t>resources</a:t>
            </a:r>
            <a:r>
              <a:rPr sz="4026" spc="6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dirty="0">
                <a:solidFill>
                  <a:srgbClr val="FF0000"/>
                </a:solidFill>
                <a:latin typeface="Calibri"/>
                <a:cs typeface="Calibri"/>
              </a:rPr>
              <a:t>to </a:t>
            </a:r>
            <a:r>
              <a:rPr sz="4026" spc="23" dirty="0">
                <a:solidFill>
                  <a:srgbClr val="FF0000"/>
                </a:solidFill>
                <a:latin typeface="Calibri"/>
                <a:cs typeface="Calibri"/>
              </a:rPr>
              <a:t>achieve</a:t>
            </a:r>
            <a:r>
              <a:rPr sz="402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FF0000"/>
                </a:solidFill>
                <a:latin typeface="Calibri"/>
                <a:cs typeface="Calibri"/>
              </a:rPr>
              <a:t>goals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.</a:t>
            </a:r>
            <a:endParaRPr sz="4026" dirty="0">
              <a:latin typeface="Calibri"/>
              <a:cs typeface="Calibri"/>
            </a:endParaRPr>
          </a:p>
          <a:p>
            <a:pPr marL="1262309" marR="7253889">
              <a:lnSpc>
                <a:spcPts val="7293"/>
              </a:lnSpc>
            </a:pPr>
            <a:r>
              <a:rPr sz="4026" i="1" spc="23" dirty="0">
                <a:solidFill>
                  <a:srgbClr val="3D3D3D"/>
                </a:solidFill>
                <a:latin typeface="Calibri"/>
                <a:cs typeface="Calibri"/>
              </a:rPr>
              <a:t>Entrepreneur role </a:t>
            </a:r>
            <a:r>
              <a:rPr sz="4026" i="1" spc="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i="1" spc="23" dirty="0">
                <a:solidFill>
                  <a:srgbClr val="3D3D3D"/>
                </a:solidFill>
                <a:latin typeface="Calibri"/>
                <a:cs typeface="Calibri"/>
              </a:rPr>
              <a:t>Disturbance</a:t>
            </a:r>
            <a:r>
              <a:rPr sz="4026" i="1" spc="-104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i="1" spc="23" dirty="0">
                <a:solidFill>
                  <a:srgbClr val="3D3D3D"/>
                </a:solidFill>
                <a:latin typeface="Calibri"/>
                <a:cs typeface="Calibri"/>
              </a:rPr>
              <a:t>handler</a:t>
            </a:r>
            <a:r>
              <a:rPr sz="4026" i="1" spc="-23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i="1" spc="23" dirty="0">
                <a:solidFill>
                  <a:srgbClr val="3D3D3D"/>
                </a:solidFill>
                <a:latin typeface="Calibri"/>
                <a:cs typeface="Calibri"/>
              </a:rPr>
              <a:t>role </a:t>
            </a:r>
            <a:r>
              <a:rPr sz="4026" i="1" spc="-88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i="1" spc="12" dirty="0">
                <a:solidFill>
                  <a:srgbClr val="3D3D3D"/>
                </a:solidFill>
                <a:latin typeface="Calibri"/>
                <a:cs typeface="Calibri"/>
              </a:rPr>
              <a:t>Resource allocator </a:t>
            </a:r>
            <a:r>
              <a:rPr sz="4026" i="1" spc="23" dirty="0">
                <a:solidFill>
                  <a:srgbClr val="3D3D3D"/>
                </a:solidFill>
                <a:latin typeface="Calibri"/>
                <a:cs typeface="Calibri"/>
              </a:rPr>
              <a:t>role </a:t>
            </a:r>
            <a:r>
              <a:rPr sz="4026" i="1" spc="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i="1" spc="12" dirty="0">
                <a:solidFill>
                  <a:srgbClr val="3D3D3D"/>
                </a:solidFill>
                <a:latin typeface="Calibri"/>
                <a:cs typeface="Calibri"/>
              </a:rPr>
              <a:t>Negotiator role</a:t>
            </a:r>
            <a:endParaRPr sz="4026" dirty="0">
              <a:latin typeface="Calibri"/>
              <a:cs typeface="Calibri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53DF3C-A982-75F7-92BE-02CB45E8D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49589" y="2546813"/>
            <a:ext cx="14617916" cy="0"/>
          </a:xfrm>
          <a:custGeom>
            <a:avLst/>
            <a:gdLst/>
            <a:ahLst/>
            <a:cxnLst/>
            <a:rect l="l" t="t" r="r" b="b"/>
            <a:pathLst>
              <a:path w="6353809">
                <a:moveTo>
                  <a:pt x="0" y="0"/>
                </a:moveTo>
                <a:lnTo>
                  <a:pt x="6353556" y="0"/>
                </a:lnTo>
              </a:path>
            </a:pathLst>
          </a:custGeom>
          <a:ln w="4572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 sz="4141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7455" y="1738635"/>
            <a:ext cx="2103715" cy="55397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4114529" y="1700064"/>
            <a:ext cx="655951" cy="593132"/>
            <a:chOff x="1788413" y="3582161"/>
            <a:chExt cx="285115" cy="25781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8413" y="3658361"/>
              <a:ext cx="161544" cy="18135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964435" y="3587495"/>
              <a:ext cx="104139" cy="245745"/>
            </a:xfrm>
            <a:custGeom>
              <a:avLst/>
              <a:gdLst/>
              <a:ahLst/>
              <a:cxnLst/>
              <a:rect l="l" t="t" r="r" b="b"/>
              <a:pathLst>
                <a:path w="104139" h="245745">
                  <a:moveTo>
                    <a:pt x="103631" y="12191"/>
                  </a:moveTo>
                  <a:lnTo>
                    <a:pt x="103631" y="10667"/>
                  </a:lnTo>
                  <a:lnTo>
                    <a:pt x="103631" y="9143"/>
                  </a:lnTo>
                  <a:lnTo>
                    <a:pt x="102107" y="9143"/>
                  </a:lnTo>
                  <a:lnTo>
                    <a:pt x="102107" y="7619"/>
                  </a:lnTo>
                  <a:lnTo>
                    <a:pt x="102107" y="6095"/>
                  </a:lnTo>
                  <a:lnTo>
                    <a:pt x="100583" y="6095"/>
                  </a:lnTo>
                  <a:lnTo>
                    <a:pt x="99059" y="4571"/>
                  </a:lnTo>
                  <a:lnTo>
                    <a:pt x="97535" y="3047"/>
                  </a:lnTo>
                  <a:lnTo>
                    <a:pt x="96011" y="3047"/>
                  </a:lnTo>
                  <a:lnTo>
                    <a:pt x="92963" y="1523"/>
                  </a:lnTo>
                  <a:lnTo>
                    <a:pt x="88391" y="1523"/>
                  </a:lnTo>
                  <a:lnTo>
                    <a:pt x="85343" y="0"/>
                  </a:lnTo>
                  <a:lnTo>
                    <a:pt x="80771" y="0"/>
                  </a:lnTo>
                  <a:lnTo>
                    <a:pt x="77723" y="0"/>
                  </a:lnTo>
                  <a:lnTo>
                    <a:pt x="70103" y="0"/>
                  </a:lnTo>
                  <a:lnTo>
                    <a:pt x="62483" y="1523"/>
                  </a:lnTo>
                  <a:lnTo>
                    <a:pt x="56387" y="3047"/>
                  </a:lnTo>
                  <a:lnTo>
                    <a:pt x="50291" y="6095"/>
                  </a:lnTo>
                  <a:lnTo>
                    <a:pt x="45719" y="9143"/>
                  </a:lnTo>
                  <a:lnTo>
                    <a:pt x="41147" y="13715"/>
                  </a:lnTo>
                  <a:lnTo>
                    <a:pt x="36575" y="18287"/>
                  </a:lnTo>
                  <a:lnTo>
                    <a:pt x="28955" y="59435"/>
                  </a:lnTo>
                  <a:lnTo>
                    <a:pt x="28955" y="77723"/>
                  </a:lnTo>
                  <a:lnTo>
                    <a:pt x="6095" y="77723"/>
                  </a:lnTo>
                  <a:lnTo>
                    <a:pt x="4571" y="77723"/>
                  </a:lnTo>
                  <a:lnTo>
                    <a:pt x="3047" y="77723"/>
                  </a:lnTo>
                  <a:lnTo>
                    <a:pt x="3047" y="79247"/>
                  </a:lnTo>
                  <a:lnTo>
                    <a:pt x="1523" y="79247"/>
                  </a:lnTo>
                  <a:lnTo>
                    <a:pt x="1523" y="80771"/>
                  </a:lnTo>
                  <a:lnTo>
                    <a:pt x="1523" y="82295"/>
                  </a:lnTo>
                  <a:lnTo>
                    <a:pt x="0" y="82295"/>
                  </a:lnTo>
                  <a:lnTo>
                    <a:pt x="0" y="83819"/>
                  </a:lnTo>
                  <a:lnTo>
                    <a:pt x="0" y="85343"/>
                  </a:lnTo>
                  <a:lnTo>
                    <a:pt x="0" y="86867"/>
                  </a:lnTo>
                  <a:lnTo>
                    <a:pt x="0" y="89915"/>
                  </a:lnTo>
                  <a:lnTo>
                    <a:pt x="0" y="92963"/>
                  </a:lnTo>
                  <a:lnTo>
                    <a:pt x="1523" y="94487"/>
                  </a:lnTo>
                  <a:lnTo>
                    <a:pt x="3047" y="96011"/>
                  </a:lnTo>
                  <a:lnTo>
                    <a:pt x="6095" y="96011"/>
                  </a:lnTo>
                  <a:lnTo>
                    <a:pt x="28955" y="96011"/>
                  </a:lnTo>
                  <a:lnTo>
                    <a:pt x="28955" y="240791"/>
                  </a:lnTo>
                  <a:lnTo>
                    <a:pt x="28955" y="242315"/>
                  </a:lnTo>
                  <a:lnTo>
                    <a:pt x="30479" y="243839"/>
                  </a:lnTo>
                  <a:lnTo>
                    <a:pt x="32003" y="243839"/>
                  </a:lnTo>
                  <a:lnTo>
                    <a:pt x="33527" y="245363"/>
                  </a:lnTo>
                  <a:lnTo>
                    <a:pt x="35051" y="245363"/>
                  </a:lnTo>
                  <a:lnTo>
                    <a:pt x="36575" y="245363"/>
                  </a:lnTo>
                  <a:lnTo>
                    <a:pt x="38099" y="245363"/>
                  </a:lnTo>
                  <a:lnTo>
                    <a:pt x="39623" y="245363"/>
                  </a:lnTo>
                  <a:lnTo>
                    <a:pt x="41147" y="245363"/>
                  </a:lnTo>
                  <a:lnTo>
                    <a:pt x="44195" y="245363"/>
                  </a:lnTo>
                  <a:lnTo>
                    <a:pt x="45719" y="245363"/>
                  </a:lnTo>
                  <a:lnTo>
                    <a:pt x="47243" y="243839"/>
                  </a:lnTo>
                  <a:lnTo>
                    <a:pt x="48767" y="243839"/>
                  </a:lnTo>
                  <a:lnTo>
                    <a:pt x="50291" y="243839"/>
                  </a:lnTo>
                  <a:lnTo>
                    <a:pt x="50291" y="242315"/>
                  </a:lnTo>
                  <a:lnTo>
                    <a:pt x="50291" y="240791"/>
                  </a:lnTo>
                  <a:lnTo>
                    <a:pt x="50291" y="96011"/>
                  </a:lnTo>
                  <a:lnTo>
                    <a:pt x="89915" y="96011"/>
                  </a:lnTo>
                  <a:lnTo>
                    <a:pt x="91439" y="96011"/>
                  </a:lnTo>
                  <a:lnTo>
                    <a:pt x="92963" y="96011"/>
                  </a:lnTo>
                  <a:lnTo>
                    <a:pt x="92963" y="94487"/>
                  </a:lnTo>
                  <a:lnTo>
                    <a:pt x="94487" y="92963"/>
                  </a:lnTo>
                  <a:lnTo>
                    <a:pt x="94487" y="89915"/>
                  </a:lnTo>
                  <a:lnTo>
                    <a:pt x="94487" y="86867"/>
                  </a:lnTo>
                  <a:lnTo>
                    <a:pt x="94487" y="80771"/>
                  </a:lnTo>
                  <a:lnTo>
                    <a:pt x="92963" y="80771"/>
                  </a:lnTo>
                  <a:lnTo>
                    <a:pt x="92963" y="79247"/>
                  </a:lnTo>
                  <a:lnTo>
                    <a:pt x="91439" y="77723"/>
                  </a:lnTo>
                  <a:lnTo>
                    <a:pt x="89915" y="77723"/>
                  </a:lnTo>
                  <a:lnTo>
                    <a:pt x="50291" y="77723"/>
                  </a:lnTo>
                  <a:lnTo>
                    <a:pt x="50291" y="59435"/>
                  </a:lnTo>
                  <a:lnTo>
                    <a:pt x="50291" y="51815"/>
                  </a:lnTo>
                  <a:lnTo>
                    <a:pt x="50291" y="45719"/>
                  </a:lnTo>
                  <a:lnTo>
                    <a:pt x="51815" y="41147"/>
                  </a:lnTo>
                  <a:lnTo>
                    <a:pt x="53339" y="35051"/>
                  </a:lnTo>
                  <a:lnTo>
                    <a:pt x="54863" y="32003"/>
                  </a:lnTo>
                  <a:lnTo>
                    <a:pt x="56387" y="27431"/>
                  </a:lnTo>
                  <a:lnTo>
                    <a:pt x="71627" y="18287"/>
                  </a:lnTo>
                  <a:lnTo>
                    <a:pt x="76199" y="18287"/>
                  </a:lnTo>
                  <a:lnTo>
                    <a:pt x="80771" y="18287"/>
                  </a:lnTo>
                  <a:lnTo>
                    <a:pt x="83819" y="18287"/>
                  </a:lnTo>
                  <a:lnTo>
                    <a:pt x="85343" y="19811"/>
                  </a:lnTo>
                  <a:lnTo>
                    <a:pt x="88391" y="19811"/>
                  </a:lnTo>
                  <a:lnTo>
                    <a:pt x="89915" y="19811"/>
                  </a:lnTo>
                  <a:lnTo>
                    <a:pt x="92963" y="21335"/>
                  </a:lnTo>
                  <a:lnTo>
                    <a:pt x="94487" y="21335"/>
                  </a:lnTo>
                  <a:lnTo>
                    <a:pt x="96011" y="22859"/>
                  </a:lnTo>
                  <a:lnTo>
                    <a:pt x="97535" y="22859"/>
                  </a:lnTo>
                  <a:lnTo>
                    <a:pt x="99059" y="24383"/>
                  </a:lnTo>
                  <a:lnTo>
                    <a:pt x="100583" y="24383"/>
                  </a:lnTo>
                  <a:lnTo>
                    <a:pt x="102107" y="24383"/>
                  </a:lnTo>
                  <a:lnTo>
                    <a:pt x="102107" y="22859"/>
                  </a:lnTo>
                  <a:lnTo>
                    <a:pt x="103631" y="22859"/>
                  </a:lnTo>
                  <a:lnTo>
                    <a:pt x="103631" y="21335"/>
                  </a:lnTo>
                  <a:lnTo>
                    <a:pt x="103631" y="19811"/>
                  </a:lnTo>
                  <a:lnTo>
                    <a:pt x="103631" y="13715"/>
                  </a:lnTo>
                  <a:lnTo>
                    <a:pt x="103631" y="12191"/>
                  </a:lnTo>
                  <a:close/>
                </a:path>
              </a:pathLst>
            </a:custGeom>
            <a:ln w="10668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4141"/>
            </a:p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66524" y="1742141"/>
            <a:ext cx="4175880" cy="69072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580142" y="2843016"/>
            <a:ext cx="15117549" cy="4552020"/>
          </a:xfrm>
          <a:prstGeom prst="rect">
            <a:avLst/>
          </a:prstGeom>
        </p:spPr>
        <p:txBody>
          <a:bodyPr vert="horz" wrap="square" lIns="0" tIns="241051" rIns="0" bIns="0" rtlCol="0">
            <a:spAutoFit/>
          </a:bodyPr>
          <a:lstStyle/>
          <a:p>
            <a:pPr marL="29221" algn="just">
              <a:spcBef>
                <a:spcPts val="1898"/>
              </a:spcBef>
            </a:pPr>
            <a:r>
              <a:rPr sz="4026" b="1" spc="23" dirty="0">
                <a:solidFill>
                  <a:srgbClr val="E48311"/>
                </a:solidFill>
                <a:latin typeface="Calibri"/>
                <a:cs typeface="Calibri"/>
              </a:rPr>
              <a:t>Management</a:t>
            </a:r>
            <a:r>
              <a:rPr sz="4026" b="1" spc="12" dirty="0">
                <a:solidFill>
                  <a:srgbClr val="E48311"/>
                </a:solidFill>
                <a:latin typeface="Calibri"/>
                <a:cs typeface="Calibri"/>
              </a:rPr>
              <a:t> is</a:t>
            </a:r>
            <a:r>
              <a:rPr sz="4026" b="1" dirty="0">
                <a:solidFill>
                  <a:srgbClr val="E48311"/>
                </a:solidFill>
                <a:latin typeface="Calibri"/>
                <a:cs typeface="Calibri"/>
              </a:rPr>
              <a:t> </a:t>
            </a:r>
            <a:r>
              <a:rPr sz="4026" b="1" spc="12" dirty="0">
                <a:solidFill>
                  <a:srgbClr val="E48311"/>
                </a:solidFill>
                <a:latin typeface="Calibri"/>
                <a:cs typeface="Calibri"/>
              </a:rPr>
              <a:t>goal-oriented</a:t>
            </a:r>
            <a:r>
              <a:rPr sz="4026" b="1" spc="12" dirty="0">
                <a:solidFill>
                  <a:srgbClr val="3D3D3D"/>
                </a:solidFill>
                <a:latin typeface="Calibri"/>
                <a:cs typeface="Calibri"/>
              </a:rPr>
              <a:t>:</a:t>
            </a:r>
            <a:endParaRPr sz="4026" dirty="0">
              <a:latin typeface="Calibri"/>
              <a:cs typeface="Calibri"/>
            </a:endParaRPr>
          </a:p>
          <a:p>
            <a:pPr marL="162172" marR="11690" indent="-134411" algn="just">
              <a:lnSpc>
                <a:spcPct val="91800"/>
              </a:lnSpc>
              <a:spcBef>
                <a:spcPts val="2071"/>
              </a:spcBef>
            </a:pP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It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is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a means 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to </a:t>
            </a:r>
            <a:r>
              <a:rPr sz="4026" spc="23" dirty="0">
                <a:solidFill>
                  <a:srgbClr val="FF0000"/>
                </a:solidFill>
                <a:latin typeface="Calibri"/>
                <a:cs typeface="Calibri"/>
              </a:rPr>
              <a:t>achieve </a:t>
            </a:r>
            <a:r>
              <a:rPr sz="4026" spc="12" dirty="0">
                <a:solidFill>
                  <a:srgbClr val="FF0000"/>
                </a:solidFill>
                <a:latin typeface="Calibri"/>
                <a:cs typeface="Calibri"/>
              </a:rPr>
              <a:t>certain goals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.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Management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has </a:t>
            </a:r>
            <a:r>
              <a:rPr sz="4026" spc="35" dirty="0">
                <a:solidFill>
                  <a:srgbClr val="FF0000"/>
                </a:solidFill>
                <a:latin typeface="Calibri"/>
                <a:cs typeface="Calibri"/>
              </a:rPr>
              <a:t>no </a:t>
            </a:r>
            <a:r>
              <a:rPr sz="4026" spc="12" dirty="0">
                <a:solidFill>
                  <a:srgbClr val="FF0000"/>
                </a:solidFill>
                <a:latin typeface="Calibri"/>
                <a:cs typeface="Calibri"/>
              </a:rPr>
              <a:t>justification </a:t>
            </a:r>
            <a:r>
              <a:rPr sz="4026" spc="2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dirty="0">
                <a:solidFill>
                  <a:srgbClr val="FF0000"/>
                </a:solidFill>
                <a:latin typeface="Calibri"/>
                <a:cs typeface="Calibri"/>
              </a:rPr>
              <a:t>to exist </a:t>
            </a:r>
            <a:r>
              <a:rPr sz="4026" spc="35" dirty="0">
                <a:solidFill>
                  <a:srgbClr val="FF0000"/>
                </a:solidFill>
                <a:latin typeface="Calibri"/>
                <a:cs typeface="Calibri"/>
              </a:rPr>
              <a:t>without </a:t>
            </a:r>
            <a:r>
              <a:rPr sz="4026" spc="12" dirty="0">
                <a:solidFill>
                  <a:srgbClr val="FF0000"/>
                </a:solidFill>
                <a:latin typeface="Calibri"/>
                <a:cs typeface="Calibri"/>
              </a:rPr>
              <a:t>goals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.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Management goals 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are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called </a:t>
            </a:r>
            <a:r>
              <a:rPr sz="4026" spc="23" dirty="0">
                <a:solidFill>
                  <a:srgbClr val="FF0000"/>
                </a:solidFill>
                <a:latin typeface="Calibri"/>
                <a:cs typeface="Calibri"/>
              </a:rPr>
              <a:t>group goals </a:t>
            </a:r>
            <a:r>
              <a:rPr sz="4026" spc="12" dirty="0">
                <a:solidFill>
                  <a:srgbClr val="FF0000"/>
                </a:solidFill>
                <a:latin typeface="Calibri"/>
                <a:cs typeface="Calibri"/>
              </a:rPr>
              <a:t>or </a:t>
            </a:r>
            <a:r>
              <a:rPr sz="4026" spc="2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dirty="0">
                <a:solidFill>
                  <a:srgbClr val="FF0000"/>
                </a:solidFill>
                <a:latin typeface="Calibri"/>
                <a:cs typeface="Calibri"/>
              </a:rPr>
              <a:t>organizational</a:t>
            </a:r>
            <a:r>
              <a:rPr sz="4026" spc="12" dirty="0">
                <a:solidFill>
                  <a:srgbClr val="FF0000"/>
                </a:solidFill>
                <a:latin typeface="Calibri"/>
                <a:cs typeface="Calibri"/>
              </a:rPr>
              <a:t> goals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.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The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basic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goal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of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management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is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to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FF0000"/>
                </a:solidFill>
                <a:latin typeface="Calibri"/>
                <a:cs typeface="Calibri"/>
              </a:rPr>
              <a:t>ensure </a:t>
            </a:r>
            <a:r>
              <a:rPr sz="4026" spc="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FF0000"/>
                </a:solidFill>
                <a:latin typeface="Calibri"/>
                <a:cs typeface="Calibri"/>
              </a:rPr>
              <a:t>efficiency</a:t>
            </a:r>
            <a:r>
              <a:rPr sz="4026" spc="23" dirty="0">
                <a:solidFill>
                  <a:srgbClr val="FF0000"/>
                </a:solidFill>
                <a:latin typeface="Calibri"/>
                <a:cs typeface="Calibri"/>
              </a:rPr>
              <a:t> and</a:t>
            </a:r>
            <a:r>
              <a:rPr sz="4026" spc="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FF0000"/>
                </a:solidFill>
                <a:latin typeface="Calibri"/>
                <a:cs typeface="Calibri"/>
              </a:rPr>
              <a:t>economy</a:t>
            </a:r>
            <a:r>
              <a:rPr sz="4026" spc="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sz="4026" spc="35" dirty="0">
                <a:solidFill>
                  <a:srgbClr val="FF0000"/>
                </a:solidFill>
                <a:latin typeface="Calibri"/>
                <a:cs typeface="Calibri"/>
              </a:rPr>
              <a:t> the</a:t>
            </a:r>
            <a:r>
              <a:rPr sz="4026" spc="4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FF0000"/>
                </a:solidFill>
                <a:latin typeface="Calibri"/>
                <a:cs typeface="Calibri"/>
              </a:rPr>
              <a:t>utilization</a:t>
            </a:r>
            <a:r>
              <a:rPr sz="4026" spc="2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4026" spc="2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FF0000"/>
                </a:solidFill>
                <a:latin typeface="Calibri"/>
                <a:cs typeface="Calibri"/>
              </a:rPr>
              <a:t>human,</a:t>
            </a:r>
            <a:r>
              <a:rPr sz="4026" spc="4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dirty="0">
                <a:solidFill>
                  <a:srgbClr val="FF0000"/>
                </a:solidFill>
                <a:latin typeface="Calibri"/>
                <a:cs typeface="Calibri"/>
              </a:rPr>
              <a:t>physical</a:t>
            </a:r>
            <a:r>
              <a:rPr sz="4026" spc="12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46" dirty="0">
                <a:solidFill>
                  <a:srgbClr val="FF0000"/>
                </a:solidFill>
                <a:latin typeface="Calibri"/>
                <a:cs typeface="Calibri"/>
              </a:rPr>
              <a:t>and </a:t>
            </a:r>
            <a:r>
              <a:rPr sz="4026" spc="58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FF0000"/>
                </a:solidFill>
                <a:latin typeface="Calibri"/>
                <a:cs typeface="Calibri"/>
              </a:rPr>
              <a:t>financial </a:t>
            </a:r>
            <a:r>
              <a:rPr sz="4026" spc="12" dirty="0">
                <a:solidFill>
                  <a:srgbClr val="FF0000"/>
                </a:solidFill>
                <a:latin typeface="Calibri"/>
                <a:cs typeface="Calibri"/>
              </a:rPr>
              <a:t>resources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.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The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success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of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management is measured 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by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the 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extent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to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 which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the</a:t>
            </a:r>
            <a:r>
              <a:rPr sz="4026" spc="-4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established</a:t>
            </a:r>
            <a:r>
              <a:rPr sz="4026" spc="92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goals</a:t>
            </a:r>
            <a:r>
              <a:rPr sz="4026" spc="-12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one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achieved</a:t>
            </a:r>
            <a:endParaRPr sz="4026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945064" y="9491460"/>
            <a:ext cx="397369" cy="436666"/>
          </a:xfrm>
          <a:prstGeom prst="rect">
            <a:avLst/>
          </a:prstGeom>
        </p:spPr>
        <p:txBody>
          <a:bodyPr vert="horz" wrap="square" lIns="0" tIns="29218" rIns="0" bIns="0" rtlCol="0">
            <a:spAutoFit/>
          </a:bodyPr>
          <a:lstStyle/>
          <a:p>
            <a:pPr marL="29221">
              <a:spcBef>
                <a:spcPts val="230"/>
              </a:spcBef>
            </a:pPr>
            <a:r>
              <a:rPr sz="2646" spc="-23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2646" dirty="0">
                <a:solidFill>
                  <a:srgbClr val="FFFFFF"/>
                </a:solidFill>
                <a:latin typeface="Calibri"/>
                <a:cs typeface="Calibri"/>
              </a:rPr>
              <a:t>9</a:t>
            </a:r>
            <a:endParaRPr sz="2646">
              <a:latin typeface="Calibri"/>
              <a:cs typeface="Calibri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2DAECD4-2667-67E8-AB2E-5FA85ABCE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49589" y="2546813"/>
            <a:ext cx="14617916" cy="0"/>
          </a:xfrm>
          <a:custGeom>
            <a:avLst/>
            <a:gdLst/>
            <a:ahLst/>
            <a:cxnLst/>
            <a:rect l="l" t="t" r="r" b="b"/>
            <a:pathLst>
              <a:path w="6353809">
                <a:moveTo>
                  <a:pt x="0" y="0"/>
                </a:moveTo>
                <a:lnTo>
                  <a:pt x="6353556" y="0"/>
                </a:lnTo>
              </a:path>
            </a:pathLst>
          </a:custGeom>
          <a:ln w="4572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 sz="4141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7455" y="1738635"/>
            <a:ext cx="2103715" cy="55397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4114529" y="1700064"/>
            <a:ext cx="655951" cy="593132"/>
            <a:chOff x="1788413" y="3582161"/>
            <a:chExt cx="285115" cy="25781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8413" y="3658361"/>
              <a:ext cx="161544" cy="18135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964435" y="3587495"/>
              <a:ext cx="104139" cy="245745"/>
            </a:xfrm>
            <a:custGeom>
              <a:avLst/>
              <a:gdLst/>
              <a:ahLst/>
              <a:cxnLst/>
              <a:rect l="l" t="t" r="r" b="b"/>
              <a:pathLst>
                <a:path w="104139" h="245745">
                  <a:moveTo>
                    <a:pt x="103631" y="12191"/>
                  </a:moveTo>
                  <a:lnTo>
                    <a:pt x="103631" y="10667"/>
                  </a:lnTo>
                  <a:lnTo>
                    <a:pt x="103631" y="9143"/>
                  </a:lnTo>
                  <a:lnTo>
                    <a:pt x="102107" y="9143"/>
                  </a:lnTo>
                  <a:lnTo>
                    <a:pt x="102107" y="7619"/>
                  </a:lnTo>
                  <a:lnTo>
                    <a:pt x="102107" y="6095"/>
                  </a:lnTo>
                  <a:lnTo>
                    <a:pt x="100583" y="6095"/>
                  </a:lnTo>
                  <a:lnTo>
                    <a:pt x="99059" y="4571"/>
                  </a:lnTo>
                  <a:lnTo>
                    <a:pt x="97535" y="3047"/>
                  </a:lnTo>
                  <a:lnTo>
                    <a:pt x="96011" y="3047"/>
                  </a:lnTo>
                  <a:lnTo>
                    <a:pt x="92963" y="1523"/>
                  </a:lnTo>
                  <a:lnTo>
                    <a:pt x="88391" y="1523"/>
                  </a:lnTo>
                  <a:lnTo>
                    <a:pt x="85343" y="0"/>
                  </a:lnTo>
                  <a:lnTo>
                    <a:pt x="80771" y="0"/>
                  </a:lnTo>
                  <a:lnTo>
                    <a:pt x="77723" y="0"/>
                  </a:lnTo>
                  <a:lnTo>
                    <a:pt x="70103" y="0"/>
                  </a:lnTo>
                  <a:lnTo>
                    <a:pt x="62483" y="1523"/>
                  </a:lnTo>
                  <a:lnTo>
                    <a:pt x="56387" y="3047"/>
                  </a:lnTo>
                  <a:lnTo>
                    <a:pt x="50291" y="6095"/>
                  </a:lnTo>
                  <a:lnTo>
                    <a:pt x="45719" y="9143"/>
                  </a:lnTo>
                  <a:lnTo>
                    <a:pt x="41147" y="13715"/>
                  </a:lnTo>
                  <a:lnTo>
                    <a:pt x="36575" y="18287"/>
                  </a:lnTo>
                  <a:lnTo>
                    <a:pt x="28955" y="59435"/>
                  </a:lnTo>
                  <a:lnTo>
                    <a:pt x="28955" y="77723"/>
                  </a:lnTo>
                  <a:lnTo>
                    <a:pt x="6095" y="77723"/>
                  </a:lnTo>
                  <a:lnTo>
                    <a:pt x="4571" y="77723"/>
                  </a:lnTo>
                  <a:lnTo>
                    <a:pt x="3047" y="77723"/>
                  </a:lnTo>
                  <a:lnTo>
                    <a:pt x="3047" y="79247"/>
                  </a:lnTo>
                  <a:lnTo>
                    <a:pt x="1523" y="79247"/>
                  </a:lnTo>
                  <a:lnTo>
                    <a:pt x="1523" y="80771"/>
                  </a:lnTo>
                  <a:lnTo>
                    <a:pt x="1523" y="82295"/>
                  </a:lnTo>
                  <a:lnTo>
                    <a:pt x="0" y="82295"/>
                  </a:lnTo>
                  <a:lnTo>
                    <a:pt x="0" y="83819"/>
                  </a:lnTo>
                  <a:lnTo>
                    <a:pt x="0" y="85343"/>
                  </a:lnTo>
                  <a:lnTo>
                    <a:pt x="0" y="86867"/>
                  </a:lnTo>
                  <a:lnTo>
                    <a:pt x="0" y="89915"/>
                  </a:lnTo>
                  <a:lnTo>
                    <a:pt x="0" y="92963"/>
                  </a:lnTo>
                  <a:lnTo>
                    <a:pt x="1523" y="94487"/>
                  </a:lnTo>
                  <a:lnTo>
                    <a:pt x="3047" y="96011"/>
                  </a:lnTo>
                  <a:lnTo>
                    <a:pt x="6095" y="96011"/>
                  </a:lnTo>
                  <a:lnTo>
                    <a:pt x="28955" y="96011"/>
                  </a:lnTo>
                  <a:lnTo>
                    <a:pt x="28955" y="240791"/>
                  </a:lnTo>
                  <a:lnTo>
                    <a:pt x="28955" y="242315"/>
                  </a:lnTo>
                  <a:lnTo>
                    <a:pt x="30479" y="243839"/>
                  </a:lnTo>
                  <a:lnTo>
                    <a:pt x="32003" y="243839"/>
                  </a:lnTo>
                  <a:lnTo>
                    <a:pt x="33527" y="245363"/>
                  </a:lnTo>
                  <a:lnTo>
                    <a:pt x="35051" y="245363"/>
                  </a:lnTo>
                  <a:lnTo>
                    <a:pt x="36575" y="245363"/>
                  </a:lnTo>
                  <a:lnTo>
                    <a:pt x="38099" y="245363"/>
                  </a:lnTo>
                  <a:lnTo>
                    <a:pt x="39623" y="245363"/>
                  </a:lnTo>
                  <a:lnTo>
                    <a:pt x="41147" y="245363"/>
                  </a:lnTo>
                  <a:lnTo>
                    <a:pt x="44195" y="245363"/>
                  </a:lnTo>
                  <a:lnTo>
                    <a:pt x="45719" y="245363"/>
                  </a:lnTo>
                  <a:lnTo>
                    <a:pt x="47243" y="243839"/>
                  </a:lnTo>
                  <a:lnTo>
                    <a:pt x="48767" y="243839"/>
                  </a:lnTo>
                  <a:lnTo>
                    <a:pt x="50291" y="243839"/>
                  </a:lnTo>
                  <a:lnTo>
                    <a:pt x="50291" y="242315"/>
                  </a:lnTo>
                  <a:lnTo>
                    <a:pt x="50291" y="240791"/>
                  </a:lnTo>
                  <a:lnTo>
                    <a:pt x="50291" y="96011"/>
                  </a:lnTo>
                  <a:lnTo>
                    <a:pt x="89915" y="96011"/>
                  </a:lnTo>
                  <a:lnTo>
                    <a:pt x="91439" y="96011"/>
                  </a:lnTo>
                  <a:lnTo>
                    <a:pt x="92963" y="96011"/>
                  </a:lnTo>
                  <a:lnTo>
                    <a:pt x="92963" y="94487"/>
                  </a:lnTo>
                  <a:lnTo>
                    <a:pt x="94487" y="92963"/>
                  </a:lnTo>
                  <a:lnTo>
                    <a:pt x="94487" y="89915"/>
                  </a:lnTo>
                  <a:lnTo>
                    <a:pt x="94487" y="86867"/>
                  </a:lnTo>
                  <a:lnTo>
                    <a:pt x="94487" y="80771"/>
                  </a:lnTo>
                  <a:lnTo>
                    <a:pt x="92963" y="80771"/>
                  </a:lnTo>
                  <a:lnTo>
                    <a:pt x="92963" y="79247"/>
                  </a:lnTo>
                  <a:lnTo>
                    <a:pt x="91439" y="77723"/>
                  </a:lnTo>
                  <a:lnTo>
                    <a:pt x="89915" y="77723"/>
                  </a:lnTo>
                  <a:lnTo>
                    <a:pt x="50291" y="77723"/>
                  </a:lnTo>
                  <a:lnTo>
                    <a:pt x="50291" y="59435"/>
                  </a:lnTo>
                  <a:lnTo>
                    <a:pt x="50291" y="51815"/>
                  </a:lnTo>
                  <a:lnTo>
                    <a:pt x="50291" y="45719"/>
                  </a:lnTo>
                  <a:lnTo>
                    <a:pt x="51815" y="41147"/>
                  </a:lnTo>
                  <a:lnTo>
                    <a:pt x="53339" y="35051"/>
                  </a:lnTo>
                  <a:lnTo>
                    <a:pt x="54863" y="32003"/>
                  </a:lnTo>
                  <a:lnTo>
                    <a:pt x="56387" y="27431"/>
                  </a:lnTo>
                  <a:lnTo>
                    <a:pt x="71627" y="18287"/>
                  </a:lnTo>
                  <a:lnTo>
                    <a:pt x="76199" y="18287"/>
                  </a:lnTo>
                  <a:lnTo>
                    <a:pt x="80771" y="18287"/>
                  </a:lnTo>
                  <a:lnTo>
                    <a:pt x="83819" y="18287"/>
                  </a:lnTo>
                  <a:lnTo>
                    <a:pt x="85343" y="19811"/>
                  </a:lnTo>
                  <a:lnTo>
                    <a:pt x="88391" y="19811"/>
                  </a:lnTo>
                  <a:lnTo>
                    <a:pt x="89915" y="19811"/>
                  </a:lnTo>
                  <a:lnTo>
                    <a:pt x="92963" y="21335"/>
                  </a:lnTo>
                  <a:lnTo>
                    <a:pt x="94487" y="21335"/>
                  </a:lnTo>
                  <a:lnTo>
                    <a:pt x="96011" y="22859"/>
                  </a:lnTo>
                  <a:lnTo>
                    <a:pt x="97535" y="22859"/>
                  </a:lnTo>
                  <a:lnTo>
                    <a:pt x="99059" y="24383"/>
                  </a:lnTo>
                  <a:lnTo>
                    <a:pt x="100583" y="24383"/>
                  </a:lnTo>
                  <a:lnTo>
                    <a:pt x="102107" y="24383"/>
                  </a:lnTo>
                  <a:lnTo>
                    <a:pt x="102107" y="22859"/>
                  </a:lnTo>
                  <a:lnTo>
                    <a:pt x="103631" y="22859"/>
                  </a:lnTo>
                  <a:lnTo>
                    <a:pt x="103631" y="21335"/>
                  </a:lnTo>
                  <a:lnTo>
                    <a:pt x="103631" y="19811"/>
                  </a:lnTo>
                  <a:lnTo>
                    <a:pt x="103631" y="13715"/>
                  </a:lnTo>
                  <a:lnTo>
                    <a:pt x="103631" y="12191"/>
                  </a:lnTo>
                  <a:close/>
                </a:path>
              </a:pathLst>
            </a:custGeom>
            <a:ln w="10668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4141"/>
            </a:p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66524" y="1742141"/>
            <a:ext cx="4175880" cy="69072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345774" y="1703571"/>
            <a:ext cx="2198383" cy="58904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580142" y="2450428"/>
            <a:ext cx="14813678" cy="4478858"/>
          </a:xfrm>
          <a:prstGeom prst="rect">
            <a:avLst/>
          </a:prstGeom>
        </p:spPr>
        <p:txBody>
          <a:bodyPr vert="horz" wrap="square" lIns="0" tIns="236668" rIns="0" bIns="0" rtlCol="0">
            <a:spAutoFit/>
          </a:bodyPr>
          <a:lstStyle/>
          <a:p>
            <a:pPr marL="29221">
              <a:spcBef>
                <a:spcPts val="1864"/>
              </a:spcBef>
            </a:pPr>
            <a:r>
              <a:rPr sz="4026" b="1" spc="23" dirty="0">
                <a:solidFill>
                  <a:srgbClr val="E48311"/>
                </a:solidFill>
                <a:latin typeface="Calibri"/>
                <a:cs typeface="Calibri"/>
              </a:rPr>
              <a:t>Management </a:t>
            </a:r>
            <a:r>
              <a:rPr sz="4026" b="1" spc="12" dirty="0">
                <a:solidFill>
                  <a:srgbClr val="E48311"/>
                </a:solidFill>
                <a:latin typeface="Calibri"/>
                <a:cs typeface="Calibri"/>
              </a:rPr>
              <a:t>is</a:t>
            </a:r>
            <a:r>
              <a:rPr sz="4026" b="1" spc="23" dirty="0">
                <a:solidFill>
                  <a:srgbClr val="E48311"/>
                </a:solidFill>
                <a:latin typeface="Calibri"/>
                <a:cs typeface="Calibri"/>
              </a:rPr>
              <a:t> </a:t>
            </a:r>
            <a:r>
              <a:rPr sz="4026" b="1" spc="35" dirty="0">
                <a:solidFill>
                  <a:srgbClr val="E48311"/>
                </a:solidFill>
                <a:latin typeface="Calibri"/>
                <a:cs typeface="Calibri"/>
              </a:rPr>
              <a:t>a</a:t>
            </a:r>
            <a:r>
              <a:rPr sz="4026" b="1" dirty="0">
                <a:solidFill>
                  <a:srgbClr val="E48311"/>
                </a:solidFill>
                <a:latin typeface="Calibri"/>
                <a:cs typeface="Calibri"/>
              </a:rPr>
              <a:t> </a:t>
            </a:r>
            <a:r>
              <a:rPr sz="4026" b="1" spc="23" dirty="0">
                <a:solidFill>
                  <a:srgbClr val="E48311"/>
                </a:solidFill>
                <a:latin typeface="Calibri"/>
                <a:cs typeface="Calibri"/>
              </a:rPr>
              <a:t>Social</a:t>
            </a:r>
            <a:r>
              <a:rPr sz="4026" b="1" spc="35" dirty="0">
                <a:solidFill>
                  <a:srgbClr val="E48311"/>
                </a:solidFill>
                <a:latin typeface="Calibri"/>
                <a:cs typeface="Calibri"/>
              </a:rPr>
              <a:t> </a:t>
            </a:r>
            <a:r>
              <a:rPr sz="4026" b="1" spc="12" dirty="0">
                <a:solidFill>
                  <a:srgbClr val="E48311"/>
                </a:solidFill>
                <a:latin typeface="Calibri"/>
                <a:cs typeface="Calibri"/>
              </a:rPr>
              <a:t>Process:</a:t>
            </a:r>
            <a:endParaRPr sz="4026" dirty="0">
              <a:latin typeface="Calibri"/>
              <a:cs typeface="Calibri"/>
            </a:endParaRPr>
          </a:p>
          <a:p>
            <a:pPr marL="162172" marR="11690" indent="-134411">
              <a:lnSpc>
                <a:spcPts val="4440"/>
              </a:lnSpc>
              <a:spcBef>
                <a:spcPts val="2128"/>
              </a:spcBef>
            </a:pP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Management</a:t>
            </a:r>
            <a:r>
              <a:rPr sz="4026" spc="138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is</a:t>
            </a:r>
            <a:r>
              <a:rPr sz="4026" spc="161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FF0000"/>
                </a:solidFill>
                <a:latin typeface="Calibri"/>
                <a:cs typeface="Calibri"/>
              </a:rPr>
              <a:t>done</a:t>
            </a:r>
            <a:r>
              <a:rPr sz="4026" spc="17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FF0000"/>
                </a:solidFill>
                <a:latin typeface="Calibri"/>
                <a:cs typeface="Calibri"/>
              </a:rPr>
              <a:t>by</a:t>
            </a:r>
            <a:r>
              <a:rPr sz="4026" spc="1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FF0000"/>
                </a:solidFill>
                <a:latin typeface="Calibri"/>
                <a:cs typeface="Calibri"/>
              </a:rPr>
              <a:t>people</a:t>
            </a:r>
            <a:r>
              <a:rPr sz="4026" spc="127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FF0000"/>
                </a:solidFill>
                <a:latin typeface="Calibri"/>
                <a:cs typeface="Calibri"/>
              </a:rPr>
              <a:t>,</a:t>
            </a:r>
            <a:r>
              <a:rPr sz="4026" spc="17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FF0000"/>
                </a:solidFill>
                <a:latin typeface="Calibri"/>
                <a:cs typeface="Calibri"/>
              </a:rPr>
              <a:t>through</a:t>
            </a:r>
            <a:r>
              <a:rPr sz="4026" spc="18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FF0000"/>
                </a:solidFill>
                <a:latin typeface="Calibri"/>
                <a:cs typeface="Calibri"/>
              </a:rPr>
              <a:t>people</a:t>
            </a:r>
            <a:r>
              <a:rPr sz="4026" spc="138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46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4026" spc="18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-12" dirty="0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sz="4026" spc="19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FF0000"/>
                </a:solidFill>
                <a:latin typeface="Calibri"/>
                <a:cs typeface="Calibri"/>
              </a:rPr>
              <a:t>people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.</a:t>
            </a:r>
            <a:r>
              <a:rPr sz="4026" spc="19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It</a:t>
            </a:r>
            <a:r>
              <a:rPr sz="4026" spc="15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is </a:t>
            </a:r>
            <a:r>
              <a:rPr sz="4026" spc="-874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a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social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process</a:t>
            </a:r>
            <a:r>
              <a:rPr sz="4026" spc="69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because</a:t>
            </a:r>
            <a:r>
              <a:rPr sz="4026" spc="58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it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is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concerned with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 interpersonal</a:t>
            </a:r>
            <a:r>
              <a:rPr sz="4026" spc="127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relations</a:t>
            </a:r>
            <a:r>
              <a:rPr lang="en-US" sz="4026" dirty="0">
                <a:solidFill>
                  <a:srgbClr val="3D3D3D"/>
                </a:solidFill>
                <a:latin typeface="Calibri"/>
                <a:cs typeface="Calibri"/>
              </a:rPr>
              <a:t>.</a:t>
            </a:r>
            <a:endParaRPr sz="4026" dirty="0">
              <a:latin typeface="Calibri"/>
              <a:cs typeface="Calibri"/>
            </a:endParaRPr>
          </a:p>
          <a:p>
            <a:pPr marL="29221">
              <a:spcBef>
                <a:spcPts val="1587"/>
              </a:spcBef>
            </a:pPr>
            <a:r>
              <a:rPr sz="4026" b="1" spc="23" dirty="0">
                <a:solidFill>
                  <a:srgbClr val="E48311"/>
                </a:solidFill>
                <a:latin typeface="Calibri"/>
                <a:cs typeface="Calibri"/>
              </a:rPr>
              <a:t>Management </a:t>
            </a:r>
            <a:r>
              <a:rPr sz="4026" b="1" spc="12" dirty="0">
                <a:solidFill>
                  <a:srgbClr val="E48311"/>
                </a:solidFill>
                <a:latin typeface="Calibri"/>
                <a:cs typeface="Calibri"/>
              </a:rPr>
              <a:t>is</a:t>
            </a:r>
            <a:r>
              <a:rPr sz="4026" b="1" spc="23" dirty="0">
                <a:solidFill>
                  <a:srgbClr val="E48311"/>
                </a:solidFill>
                <a:latin typeface="Calibri"/>
                <a:cs typeface="Calibri"/>
              </a:rPr>
              <a:t> </a:t>
            </a:r>
            <a:r>
              <a:rPr sz="4026" b="1" spc="35" dirty="0">
                <a:solidFill>
                  <a:srgbClr val="E48311"/>
                </a:solidFill>
                <a:latin typeface="Calibri"/>
                <a:cs typeface="Calibri"/>
              </a:rPr>
              <a:t>a</a:t>
            </a:r>
            <a:r>
              <a:rPr sz="4026" b="1" dirty="0">
                <a:solidFill>
                  <a:srgbClr val="E48311"/>
                </a:solidFill>
                <a:latin typeface="Calibri"/>
                <a:cs typeface="Calibri"/>
              </a:rPr>
              <a:t> </a:t>
            </a:r>
            <a:r>
              <a:rPr sz="4026" b="1" spc="23" dirty="0">
                <a:solidFill>
                  <a:srgbClr val="E48311"/>
                </a:solidFill>
                <a:latin typeface="Calibri"/>
                <a:cs typeface="Calibri"/>
              </a:rPr>
              <a:t>Continuous</a:t>
            </a:r>
            <a:r>
              <a:rPr sz="4026" b="1" spc="69" dirty="0">
                <a:solidFill>
                  <a:srgbClr val="E48311"/>
                </a:solidFill>
                <a:latin typeface="Calibri"/>
                <a:cs typeface="Calibri"/>
              </a:rPr>
              <a:t> </a:t>
            </a:r>
            <a:r>
              <a:rPr sz="4026" b="1" spc="12" dirty="0">
                <a:solidFill>
                  <a:srgbClr val="E48311"/>
                </a:solidFill>
                <a:latin typeface="Calibri"/>
                <a:cs typeface="Calibri"/>
              </a:rPr>
              <a:t>Process:</a:t>
            </a:r>
            <a:endParaRPr sz="4026" dirty="0">
              <a:latin typeface="Calibri"/>
              <a:cs typeface="Calibri"/>
            </a:endParaRPr>
          </a:p>
          <a:p>
            <a:pPr marL="162172" marR="11690" indent="-134411">
              <a:lnSpc>
                <a:spcPts val="4440"/>
              </a:lnSpc>
              <a:spcBef>
                <a:spcPts val="2128"/>
              </a:spcBef>
            </a:pP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Management</a:t>
            </a:r>
            <a:r>
              <a:rPr sz="4026" spc="552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is</a:t>
            </a:r>
            <a:r>
              <a:rPr sz="4026" spc="57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an</a:t>
            </a:r>
            <a:r>
              <a:rPr sz="4026" spc="598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FF0000"/>
                </a:solidFill>
                <a:latin typeface="Calibri"/>
                <a:cs typeface="Calibri"/>
              </a:rPr>
              <a:t>unending</a:t>
            </a:r>
            <a:r>
              <a:rPr sz="4026" spc="5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FF0000"/>
                </a:solidFill>
                <a:latin typeface="Calibri"/>
                <a:cs typeface="Calibri"/>
              </a:rPr>
              <a:t>process</a:t>
            </a:r>
            <a:r>
              <a:rPr sz="4026" spc="62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FF0000"/>
                </a:solidFill>
                <a:latin typeface="Calibri"/>
                <a:cs typeface="Calibri"/>
              </a:rPr>
              <a:t>as</a:t>
            </a:r>
            <a:r>
              <a:rPr sz="4026" spc="5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FF0000"/>
                </a:solidFill>
                <a:latin typeface="Calibri"/>
                <a:cs typeface="Calibri"/>
              </a:rPr>
              <a:t>past</a:t>
            </a:r>
            <a:r>
              <a:rPr sz="4026" spc="552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FF0000"/>
                </a:solidFill>
                <a:latin typeface="Calibri"/>
                <a:cs typeface="Calibri"/>
              </a:rPr>
              <a:t>decisions</a:t>
            </a:r>
            <a:r>
              <a:rPr sz="4026" spc="527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dirty="0">
                <a:solidFill>
                  <a:srgbClr val="FF0000"/>
                </a:solidFill>
                <a:latin typeface="Calibri"/>
                <a:cs typeface="Calibri"/>
              </a:rPr>
              <a:t>always</a:t>
            </a:r>
            <a:r>
              <a:rPr sz="4026" spc="58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FF0000"/>
                </a:solidFill>
                <a:latin typeface="Calibri"/>
                <a:cs typeface="Calibri"/>
              </a:rPr>
              <a:t>carry </a:t>
            </a:r>
            <a:r>
              <a:rPr sz="4026" spc="-88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FF0000"/>
                </a:solidFill>
                <a:latin typeface="Calibri"/>
                <a:cs typeface="Calibri"/>
              </a:rPr>
              <a:t>their</a:t>
            </a:r>
            <a:r>
              <a:rPr sz="4026" spc="23" dirty="0">
                <a:solidFill>
                  <a:srgbClr val="FF0000"/>
                </a:solidFill>
                <a:latin typeface="Calibri"/>
                <a:cs typeface="Calibri"/>
              </a:rPr>
              <a:t> impact</a:t>
            </a:r>
            <a:r>
              <a:rPr sz="4026" spc="4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-12" dirty="0">
                <a:solidFill>
                  <a:srgbClr val="3D3D3D"/>
                </a:solidFill>
                <a:latin typeface="Calibri"/>
                <a:cs typeface="Calibri"/>
              </a:rPr>
              <a:t>for</a:t>
            </a:r>
            <a:r>
              <a:rPr sz="4026" spc="81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the</a:t>
            </a:r>
            <a:r>
              <a:rPr sz="4026" spc="-4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future</a:t>
            </a:r>
            <a:r>
              <a:rPr sz="4026" spc="81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course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of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action</a:t>
            </a:r>
            <a:r>
              <a:rPr lang="en-US" sz="4026" spc="35" dirty="0">
                <a:solidFill>
                  <a:srgbClr val="3D3D3D"/>
                </a:solidFill>
                <a:latin typeface="Calibri"/>
                <a:cs typeface="Calibri"/>
              </a:rPr>
              <a:t>.</a:t>
            </a:r>
            <a:endParaRPr sz="4026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945064" y="9491460"/>
            <a:ext cx="397369" cy="436666"/>
          </a:xfrm>
          <a:prstGeom prst="rect">
            <a:avLst/>
          </a:prstGeom>
        </p:spPr>
        <p:txBody>
          <a:bodyPr vert="horz" wrap="square" lIns="0" tIns="29218" rIns="0" bIns="0" rtlCol="0">
            <a:spAutoFit/>
          </a:bodyPr>
          <a:lstStyle/>
          <a:p>
            <a:pPr marL="29221">
              <a:spcBef>
                <a:spcPts val="230"/>
              </a:spcBef>
            </a:pPr>
            <a:r>
              <a:rPr sz="2646" spc="-23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r>
              <a:rPr sz="2646" dirty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endParaRPr sz="2646">
              <a:latin typeface="Calibri"/>
              <a:cs typeface="Calibri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F9B57D9-E89B-220F-5829-BECA0932E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49589" y="2546813"/>
            <a:ext cx="14617916" cy="0"/>
          </a:xfrm>
          <a:custGeom>
            <a:avLst/>
            <a:gdLst/>
            <a:ahLst/>
            <a:cxnLst/>
            <a:rect l="l" t="t" r="r" b="b"/>
            <a:pathLst>
              <a:path w="6353809">
                <a:moveTo>
                  <a:pt x="0" y="0"/>
                </a:moveTo>
                <a:lnTo>
                  <a:pt x="6353556" y="0"/>
                </a:lnTo>
              </a:path>
            </a:pathLst>
          </a:custGeom>
          <a:ln w="4572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 sz="4141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7455" y="1738635"/>
            <a:ext cx="2103715" cy="55397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4114529" y="1700064"/>
            <a:ext cx="655951" cy="593132"/>
            <a:chOff x="1788413" y="3582161"/>
            <a:chExt cx="285115" cy="25781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8413" y="3658361"/>
              <a:ext cx="161544" cy="18135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964435" y="3587495"/>
              <a:ext cx="104139" cy="245745"/>
            </a:xfrm>
            <a:custGeom>
              <a:avLst/>
              <a:gdLst/>
              <a:ahLst/>
              <a:cxnLst/>
              <a:rect l="l" t="t" r="r" b="b"/>
              <a:pathLst>
                <a:path w="104139" h="245745">
                  <a:moveTo>
                    <a:pt x="103631" y="12191"/>
                  </a:moveTo>
                  <a:lnTo>
                    <a:pt x="103631" y="10667"/>
                  </a:lnTo>
                  <a:lnTo>
                    <a:pt x="103631" y="9143"/>
                  </a:lnTo>
                  <a:lnTo>
                    <a:pt x="102107" y="9143"/>
                  </a:lnTo>
                  <a:lnTo>
                    <a:pt x="102107" y="7619"/>
                  </a:lnTo>
                  <a:lnTo>
                    <a:pt x="102107" y="6095"/>
                  </a:lnTo>
                  <a:lnTo>
                    <a:pt x="100583" y="6095"/>
                  </a:lnTo>
                  <a:lnTo>
                    <a:pt x="99059" y="4571"/>
                  </a:lnTo>
                  <a:lnTo>
                    <a:pt x="97535" y="3047"/>
                  </a:lnTo>
                  <a:lnTo>
                    <a:pt x="96011" y="3047"/>
                  </a:lnTo>
                  <a:lnTo>
                    <a:pt x="92963" y="1523"/>
                  </a:lnTo>
                  <a:lnTo>
                    <a:pt x="88391" y="1523"/>
                  </a:lnTo>
                  <a:lnTo>
                    <a:pt x="85343" y="0"/>
                  </a:lnTo>
                  <a:lnTo>
                    <a:pt x="80771" y="0"/>
                  </a:lnTo>
                  <a:lnTo>
                    <a:pt x="77723" y="0"/>
                  </a:lnTo>
                  <a:lnTo>
                    <a:pt x="70103" y="0"/>
                  </a:lnTo>
                  <a:lnTo>
                    <a:pt x="62483" y="1523"/>
                  </a:lnTo>
                  <a:lnTo>
                    <a:pt x="56387" y="3047"/>
                  </a:lnTo>
                  <a:lnTo>
                    <a:pt x="50291" y="6095"/>
                  </a:lnTo>
                  <a:lnTo>
                    <a:pt x="45719" y="9143"/>
                  </a:lnTo>
                  <a:lnTo>
                    <a:pt x="41147" y="13715"/>
                  </a:lnTo>
                  <a:lnTo>
                    <a:pt x="36575" y="18287"/>
                  </a:lnTo>
                  <a:lnTo>
                    <a:pt x="28955" y="59435"/>
                  </a:lnTo>
                  <a:lnTo>
                    <a:pt x="28955" y="77723"/>
                  </a:lnTo>
                  <a:lnTo>
                    <a:pt x="6095" y="77723"/>
                  </a:lnTo>
                  <a:lnTo>
                    <a:pt x="4571" y="77723"/>
                  </a:lnTo>
                  <a:lnTo>
                    <a:pt x="3047" y="77723"/>
                  </a:lnTo>
                  <a:lnTo>
                    <a:pt x="3047" y="79247"/>
                  </a:lnTo>
                  <a:lnTo>
                    <a:pt x="1523" y="79247"/>
                  </a:lnTo>
                  <a:lnTo>
                    <a:pt x="1523" y="80771"/>
                  </a:lnTo>
                  <a:lnTo>
                    <a:pt x="1523" y="82295"/>
                  </a:lnTo>
                  <a:lnTo>
                    <a:pt x="0" y="82295"/>
                  </a:lnTo>
                  <a:lnTo>
                    <a:pt x="0" y="83819"/>
                  </a:lnTo>
                  <a:lnTo>
                    <a:pt x="0" y="85343"/>
                  </a:lnTo>
                  <a:lnTo>
                    <a:pt x="0" y="86867"/>
                  </a:lnTo>
                  <a:lnTo>
                    <a:pt x="0" y="89915"/>
                  </a:lnTo>
                  <a:lnTo>
                    <a:pt x="0" y="92963"/>
                  </a:lnTo>
                  <a:lnTo>
                    <a:pt x="1523" y="94487"/>
                  </a:lnTo>
                  <a:lnTo>
                    <a:pt x="3047" y="96011"/>
                  </a:lnTo>
                  <a:lnTo>
                    <a:pt x="6095" y="96011"/>
                  </a:lnTo>
                  <a:lnTo>
                    <a:pt x="28955" y="96011"/>
                  </a:lnTo>
                  <a:lnTo>
                    <a:pt x="28955" y="240791"/>
                  </a:lnTo>
                  <a:lnTo>
                    <a:pt x="28955" y="242315"/>
                  </a:lnTo>
                  <a:lnTo>
                    <a:pt x="30479" y="243839"/>
                  </a:lnTo>
                  <a:lnTo>
                    <a:pt x="32003" y="243839"/>
                  </a:lnTo>
                  <a:lnTo>
                    <a:pt x="33527" y="245363"/>
                  </a:lnTo>
                  <a:lnTo>
                    <a:pt x="35051" y="245363"/>
                  </a:lnTo>
                  <a:lnTo>
                    <a:pt x="36575" y="245363"/>
                  </a:lnTo>
                  <a:lnTo>
                    <a:pt x="38099" y="245363"/>
                  </a:lnTo>
                  <a:lnTo>
                    <a:pt x="39623" y="245363"/>
                  </a:lnTo>
                  <a:lnTo>
                    <a:pt x="41147" y="245363"/>
                  </a:lnTo>
                  <a:lnTo>
                    <a:pt x="44195" y="245363"/>
                  </a:lnTo>
                  <a:lnTo>
                    <a:pt x="45719" y="245363"/>
                  </a:lnTo>
                  <a:lnTo>
                    <a:pt x="47243" y="243839"/>
                  </a:lnTo>
                  <a:lnTo>
                    <a:pt x="48767" y="243839"/>
                  </a:lnTo>
                  <a:lnTo>
                    <a:pt x="50291" y="243839"/>
                  </a:lnTo>
                  <a:lnTo>
                    <a:pt x="50291" y="242315"/>
                  </a:lnTo>
                  <a:lnTo>
                    <a:pt x="50291" y="240791"/>
                  </a:lnTo>
                  <a:lnTo>
                    <a:pt x="50291" y="96011"/>
                  </a:lnTo>
                  <a:lnTo>
                    <a:pt x="89915" y="96011"/>
                  </a:lnTo>
                  <a:lnTo>
                    <a:pt x="91439" y="96011"/>
                  </a:lnTo>
                  <a:lnTo>
                    <a:pt x="92963" y="96011"/>
                  </a:lnTo>
                  <a:lnTo>
                    <a:pt x="92963" y="94487"/>
                  </a:lnTo>
                  <a:lnTo>
                    <a:pt x="94487" y="92963"/>
                  </a:lnTo>
                  <a:lnTo>
                    <a:pt x="94487" y="89915"/>
                  </a:lnTo>
                  <a:lnTo>
                    <a:pt x="94487" y="86867"/>
                  </a:lnTo>
                  <a:lnTo>
                    <a:pt x="94487" y="80771"/>
                  </a:lnTo>
                  <a:lnTo>
                    <a:pt x="92963" y="80771"/>
                  </a:lnTo>
                  <a:lnTo>
                    <a:pt x="92963" y="79247"/>
                  </a:lnTo>
                  <a:lnTo>
                    <a:pt x="91439" y="77723"/>
                  </a:lnTo>
                  <a:lnTo>
                    <a:pt x="89915" y="77723"/>
                  </a:lnTo>
                  <a:lnTo>
                    <a:pt x="50291" y="77723"/>
                  </a:lnTo>
                  <a:lnTo>
                    <a:pt x="50291" y="59435"/>
                  </a:lnTo>
                  <a:lnTo>
                    <a:pt x="50291" y="51815"/>
                  </a:lnTo>
                  <a:lnTo>
                    <a:pt x="50291" y="45719"/>
                  </a:lnTo>
                  <a:lnTo>
                    <a:pt x="51815" y="41147"/>
                  </a:lnTo>
                  <a:lnTo>
                    <a:pt x="53339" y="35051"/>
                  </a:lnTo>
                  <a:lnTo>
                    <a:pt x="54863" y="32003"/>
                  </a:lnTo>
                  <a:lnTo>
                    <a:pt x="56387" y="27431"/>
                  </a:lnTo>
                  <a:lnTo>
                    <a:pt x="71627" y="18287"/>
                  </a:lnTo>
                  <a:lnTo>
                    <a:pt x="76199" y="18287"/>
                  </a:lnTo>
                  <a:lnTo>
                    <a:pt x="80771" y="18287"/>
                  </a:lnTo>
                  <a:lnTo>
                    <a:pt x="83819" y="18287"/>
                  </a:lnTo>
                  <a:lnTo>
                    <a:pt x="85343" y="19811"/>
                  </a:lnTo>
                  <a:lnTo>
                    <a:pt x="88391" y="19811"/>
                  </a:lnTo>
                  <a:lnTo>
                    <a:pt x="89915" y="19811"/>
                  </a:lnTo>
                  <a:lnTo>
                    <a:pt x="92963" y="21335"/>
                  </a:lnTo>
                  <a:lnTo>
                    <a:pt x="94487" y="21335"/>
                  </a:lnTo>
                  <a:lnTo>
                    <a:pt x="96011" y="22859"/>
                  </a:lnTo>
                  <a:lnTo>
                    <a:pt x="97535" y="22859"/>
                  </a:lnTo>
                  <a:lnTo>
                    <a:pt x="99059" y="24383"/>
                  </a:lnTo>
                  <a:lnTo>
                    <a:pt x="100583" y="24383"/>
                  </a:lnTo>
                  <a:lnTo>
                    <a:pt x="102107" y="24383"/>
                  </a:lnTo>
                  <a:lnTo>
                    <a:pt x="102107" y="22859"/>
                  </a:lnTo>
                  <a:lnTo>
                    <a:pt x="103631" y="22859"/>
                  </a:lnTo>
                  <a:lnTo>
                    <a:pt x="103631" y="21335"/>
                  </a:lnTo>
                  <a:lnTo>
                    <a:pt x="103631" y="19811"/>
                  </a:lnTo>
                  <a:lnTo>
                    <a:pt x="103631" y="13715"/>
                  </a:lnTo>
                  <a:lnTo>
                    <a:pt x="103631" y="12191"/>
                  </a:lnTo>
                  <a:close/>
                </a:path>
              </a:pathLst>
            </a:custGeom>
            <a:ln w="10668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4141"/>
            </a:p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66524" y="1742141"/>
            <a:ext cx="4175880" cy="69072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345774" y="1703571"/>
            <a:ext cx="2198383" cy="58904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580152" y="2580017"/>
            <a:ext cx="14815139" cy="6781539"/>
          </a:xfrm>
          <a:prstGeom prst="rect">
            <a:avLst/>
          </a:prstGeom>
        </p:spPr>
        <p:txBody>
          <a:bodyPr vert="horz" wrap="square" lIns="0" tIns="236668" rIns="0" bIns="0" rtlCol="0">
            <a:spAutoFit/>
          </a:bodyPr>
          <a:lstStyle/>
          <a:p>
            <a:pPr marL="29221" algn="just">
              <a:spcBef>
                <a:spcPts val="1864"/>
              </a:spcBef>
            </a:pPr>
            <a:r>
              <a:rPr sz="4026" b="1" spc="12" dirty="0">
                <a:solidFill>
                  <a:srgbClr val="E48311"/>
                </a:solidFill>
                <a:latin typeface="Calibri"/>
                <a:cs typeface="Calibri"/>
              </a:rPr>
              <a:t>Universal</a:t>
            </a:r>
            <a:r>
              <a:rPr sz="4026" b="1" spc="23" dirty="0">
                <a:solidFill>
                  <a:srgbClr val="E48311"/>
                </a:solidFill>
                <a:latin typeface="Calibri"/>
                <a:cs typeface="Calibri"/>
              </a:rPr>
              <a:t> </a:t>
            </a:r>
            <a:r>
              <a:rPr sz="4026" b="1" spc="12" dirty="0">
                <a:solidFill>
                  <a:srgbClr val="E48311"/>
                </a:solidFill>
                <a:latin typeface="Calibri"/>
                <a:cs typeface="Calibri"/>
              </a:rPr>
              <a:t>in</a:t>
            </a:r>
            <a:r>
              <a:rPr sz="4026" b="1" spc="-23" dirty="0">
                <a:solidFill>
                  <a:srgbClr val="E48311"/>
                </a:solidFill>
                <a:latin typeface="Calibri"/>
                <a:cs typeface="Calibri"/>
              </a:rPr>
              <a:t> </a:t>
            </a:r>
            <a:r>
              <a:rPr sz="4026" b="1" spc="12" dirty="0">
                <a:solidFill>
                  <a:srgbClr val="E48311"/>
                </a:solidFill>
                <a:latin typeface="Calibri"/>
                <a:cs typeface="Calibri"/>
              </a:rPr>
              <a:t>Nature:</a:t>
            </a:r>
            <a:endParaRPr sz="4026" dirty="0">
              <a:latin typeface="Calibri"/>
              <a:cs typeface="Calibri"/>
            </a:endParaRPr>
          </a:p>
          <a:p>
            <a:pPr marL="29221" marR="11690" algn="just">
              <a:lnSpc>
                <a:spcPct val="91800"/>
              </a:lnSpc>
              <a:spcBef>
                <a:spcPts val="2059"/>
              </a:spcBef>
            </a:pP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Management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is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universal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 in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nature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 i.e.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it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FF0000"/>
                </a:solidFill>
                <a:latin typeface="Calibri"/>
                <a:cs typeface="Calibri"/>
              </a:rPr>
              <a:t>exists</a:t>
            </a:r>
            <a:r>
              <a:rPr sz="4026" spc="23" dirty="0">
                <a:solidFill>
                  <a:srgbClr val="FF0000"/>
                </a:solidFill>
                <a:latin typeface="Calibri"/>
                <a:cs typeface="Calibri"/>
              </a:rPr>
              <a:t> everywhere</a:t>
            </a:r>
            <a:r>
              <a:rPr lang="en-US" sz="4026" spc="23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in </a:t>
            </a:r>
            <a:r>
              <a:rPr sz="4026" spc="58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universe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FF0000"/>
                </a:solidFill>
                <a:latin typeface="Calibri"/>
                <a:cs typeface="Calibri"/>
              </a:rPr>
              <a:t>wherever there </a:t>
            </a:r>
            <a:r>
              <a:rPr sz="4026" spc="23" dirty="0">
                <a:solidFill>
                  <a:srgbClr val="FF0000"/>
                </a:solidFill>
                <a:latin typeface="Calibri"/>
                <a:cs typeface="Calibri"/>
              </a:rPr>
              <a:t>is </a:t>
            </a:r>
            <a:r>
              <a:rPr sz="4026" spc="46" dirty="0">
                <a:solidFill>
                  <a:srgbClr val="FF0000"/>
                </a:solidFill>
                <a:latin typeface="Calibri"/>
                <a:cs typeface="Calibri"/>
              </a:rPr>
              <a:t>human </a:t>
            </a:r>
            <a:r>
              <a:rPr sz="4026" spc="-12" dirty="0">
                <a:solidFill>
                  <a:srgbClr val="FF0000"/>
                </a:solidFill>
                <a:latin typeface="Calibri"/>
                <a:cs typeface="Calibri"/>
              </a:rPr>
              <a:t>activity</a:t>
            </a:r>
            <a:r>
              <a:rPr sz="4026" spc="-12" dirty="0">
                <a:solidFill>
                  <a:srgbClr val="3D3D3D"/>
                </a:solidFill>
                <a:latin typeface="Calibri"/>
                <a:cs typeface="Calibri"/>
              </a:rPr>
              <a:t>.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The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basic principles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of 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management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can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be applied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anywhere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whether they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are </a:t>
            </a:r>
            <a:r>
              <a:rPr sz="4026" spc="23" dirty="0">
                <a:solidFill>
                  <a:srgbClr val="FF0000"/>
                </a:solidFill>
                <a:latin typeface="Calibri"/>
                <a:cs typeface="Calibri"/>
              </a:rPr>
              <a:t>business </a:t>
            </a:r>
            <a:r>
              <a:rPr sz="4026" spc="35" dirty="0">
                <a:solidFill>
                  <a:srgbClr val="FF0000"/>
                </a:solidFill>
                <a:latin typeface="Calibri"/>
                <a:cs typeface="Calibri"/>
              </a:rPr>
              <a:t>or </a:t>
            </a:r>
            <a:r>
              <a:rPr sz="4026" spc="4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FF0000"/>
                </a:solidFill>
                <a:latin typeface="Calibri"/>
                <a:cs typeface="Calibri"/>
              </a:rPr>
              <a:t>non-business</a:t>
            </a:r>
            <a:r>
              <a:rPr sz="4026" spc="92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dirty="0">
                <a:solidFill>
                  <a:srgbClr val="FF0000"/>
                </a:solidFill>
                <a:latin typeface="Calibri"/>
                <a:cs typeface="Calibri"/>
              </a:rPr>
              <a:t>organizations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.</a:t>
            </a:r>
            <a:endParaRPr sz="4026" dirty="0">
              <a:latin typeface="Calibri"/>
              <a:cs typeface="Calibri"/>
            </a:endParaRPr>
          </a:p>
          <a:p>
            <a:pPr marL="29221">
              <a:spcBef>
                <a:spcPts val="1680"/>
              </a:spcBef>
            </a:pPr>
            <a:r>
              <a:rPr sz="4026" b="1" spc="23" dirty="0">
                <a:solidFill>
                  <a:srgbClr val="E48311"/>
                </a:solidFill>
                <a:latin typeface="Calibri"/>
                <a:cs typeface="Calibri"/>
              </a:rPr>
              <a:t>Multidisciplinary:</a:t>
            </a:r>
            <a:endParaRPr sz="4026" dirty="0">
              <a:latin typeface="Calibri"/>
              <a:cs typeface="Calibri"/>
            </a:endParaRPr>
          </a:p>
          <a:p>
            <a:pPr marL="29221" marR="13149" algn="just">
              <a:lnSpc>
                <a:spcPct val="91800"/>
              </a:lnSpc>
              <a:spcBef>
                <a:spcPts val="2025"/>
              </a:spcBef>
            </a:pP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Management is basically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multidisciplinary.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Though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management has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developed</a:t>
            </a:r>
            <a:r>
              <a:rPr sz="4026" spc="334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as</a:t>
            </a:r>
            <a:r>
              <a:rPr sz="4026" spc="357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a</a:t>
            </a:r>
            <a:r>
              <a:rPr sz="4026" spc="368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separate</a:t>
            </a:r>
            <a:r>
              <a:rPr sz="4026" spc="334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discipline</a:t>
            </a:r>
            <a:r>
              <a:rPr sz="4026" spc="38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it</a:t>
            </a:r>
            <a:r>
              <a:rPr sz="4026" spc="38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dirty="0">
                <a:solidFill>
                  <a:srgbClr val="FF0000"/>
                </a:solidFill>
                <a:latin typeface="Calibri"/>
                <a:cs typeface="Calibri"/>
              </a:rPr>
              <a:t>draws</a:t>
            </a:r>
            <a:r>
              <a:rPr sz="4026" spc="357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FF0000"/>
                </a:solidFill>
                <a:latin typeface="Calibri"/>
                <a:cs typeface="Calibri"/>
              </a:rPr>
              <a:t>knowledge</a:t>
            </a:r>
            <a:r>
              <a:rPr sz="4026" spc="368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46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4026" spc="29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FF0000"/>
                </a:solidFill>
                <a:latin typeface="Calibri"/>
                <a:cs typeface="Calibri"/>
              </a:rPr>
              <a:t>concepts </a:t>
            </a:r>
            <a:r>
              <a:rPr sz="4026" spc="-87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4026" spc="4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FF0000"/>
                </a:solidFill>
                <a:latin typeface="Calibri"/>
                <a:cs typeface="Calibri"/>
              </a:rPr>
              <a:t>various</a:t>
            </a:r>
            <a:r>
              <a:rPr sz="4026" spc="23" dirty="0">
                <a:solidFill>
                  <a:srgbClr val="FF0000"/>
                </a:solidFill>
                <a:latin typeface="Calibri"/>
                <a:cs typeface="Calibri"/>
              </a:rPr>
              <a:t> other</a:t>
            </a:r>
            <a:r>
              <a:rPr sz="4026" spc="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FF0000"/>
                </a:solidFill>
                <a:latin typeface="Calibri"/>
                <a:cs typeface="Calibri"/>
              </a:rPr>
              <a:t>streams</a:t>
            </a:r>
            <a:r>
              <a:rPr sz="4026" spc="2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-23" dirty="0">
                <a:solidFill>
                  <a:srgbClr val="FF0000"/>
                </a:solidFill>
                <a:latin typeface="Calibri"/>
                <a:cs typeface="Calibri"/>
              </a:rPr>
              <a:t>like</a:t>
            </a:r>
            <a:r>
              <a:rPr sz="4026" spc="-12" dirty="0">
                <a:solidFill>
                  <a:srgbClr val="FF0000"/>
                </a:solidFill>
                <a:latin typeface="Calibri"/>
                <a:cs typeface="Calibri"/>
              </a:rPr>
              <a:t> sociology,</a:t>
            </a:r>
            <a:r>
              <a:rPr sz="402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-12" dirty="0">
                <a:solidFill>
                  <a:srgbClr val="FF0000"/>
                </a:solidFill>
                <a:latin typeface="Calibri"/>
                <a:cs typeface="Calibri"/>
              </a:rPr>
              <a:t>psychology,</a:t>
            </a:r>
            <a:r>
              <a:rPr sz="402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FF0000"/>
                </a:solidFill>
                <a:latin typeface="Calibri"/>
                <a:cs typeface="Calibri"/>
              </a:rPr>
              <a:t>economics, </a:t>
            </a:r>
            <a:r>
              <a:rPr sz="4026" spc="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dirty="0">
                <a:solidFill>
                  <a:srgbClr val="FF0000"/>
                </a:solidFill>
                <a:latin typeface="Calibri"/>
                <a:cs typeface="Calibri"/>
              </a:rPr>
              <a:t>statistics</a:t>
            </a:r>
            <a:r>
              <a:rPr sz="4026" spc="58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dirty="0">
                <a:solidFill>
                  <a:srgbClr val="FF0000"/>
                </a:solidFill>
                <a:latin typeface="Calibri"/>
                <a:cs typeface="Calibri"/>
              </a:rPr>
              <a:t>etc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.</a:t>
            </a:r>
            <a:r>
              <a:rPr sz="2646" spc="-12" dirty="0">
                <a:solidFill>
                  <a:srgbClr val="FFFFFF"/>
                </a:solidFill>
                <a:latin typeface="Calibri"/>
                <a:cs typeface="Calibri"/>
              </a:rPr>
              <a:t>31</a:t>
            </a:r>
            <a:endParaRPr sz="2646" dirty="0">
              <a:latin typeface="Calibri"/>
              <a:cs typeface="Calibri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9A6CE51-C147-EBF2-7BE4-A1E58325E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49589" y="2546813"/>
            <a:ext cx="14617916" cy="0"/>
          </a:xfrm>
          <a:custGeom>
            <a:avLst/>
            <a:gdLst/>
            <a:ahLst/>
            <a:cxnLst/>
            <a:rect l="l" t="t" r="r" b="b"/>
            <a:pathLst>
              <a:path w="6353809">
                <a:moveTo>
                  <a:pt x="0" y="0"/>
                </a:moveTo>
                <a:lnTo>
                  <a:pt x="6353556" y="0"/>
                </a:lnTo>
              </a:path>
            </a:pathLst>
          </a:custGeom>
          <a:ln w="4572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 sz="4141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7455" y="1738635"/>
            <a:ext cx="2103715" cy="55397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4114529" y="1700064"/>
            <a:ext cx="655951" cy="593132"/>
            <a:chOff x="1788413" y="3582161"/>
            <a:chExt cx="285115" cy="25781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8413" y="3658361"/>
              <a:ext cx="161544" cy="18135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964435" y="3587495"/>
              <a:ext cx="104139" cy="245745"/>
            </a:xfrm>
            <a:custGeom>
              <a:avLst/>
              <a:gdLst/>
              <a:ahLst/>
              <a:cxnLst/>
              <a:rect l="l" t="t" r="r" b="b"/>
              <a:pathLst>
                <a:path w="104139" h="245745">
                  <a:moveTo>
                    <a:pt x="103631" y="12191"/>
                  </a:moveTo>
                  <a:lnTo>
                    <a:pt x="103631" y="10667"/>
                  </a:lnTo>
                  <a:lnTo>
                    <a:pt x="103631" y="9143"/>
                  </a:lnTo>
                  <a:lnTo>
                    <a:pt x="102107" y="9143"/>
                  </a:lnTo>
                  <a:lnTo>
                    <a:pt x="102107" y="7619"/>
                  </a:lnTo>
                  <a:lnTo>
                    <a:pt x="102107" y="6095"/>
                  </a:lnTo>
                  <a:lnTo>
                    <a:pt x="100583" y="6095"/>
                  </a:lnTo>
                  <a:lnTo>
                    <a:pt x="99059" y="4571"/>
                  </a:lnTo>
                  <a:lnTo>
                    <a:pt x="97535" y="3047"/>
                  </a:lnTo>
                  <a:lnTo>
                    <a:pt x="96011" y="3047"/>
                  </a:lnTo>
                  <a:lnTo>
                    <a:pt x="92963" y="1523"/>
                  </a:lnTo>
                  <a:lnTo>
                    <a:pt x="88391" y="1523"/>
                  </a:lnTo>
                  <a:lnTo>
                    <a:pt x="85343" y="0"/>
                  </a:lnTo>
                  <a:lnTo>
                    <a:pt x="80771" y="0"/>
                  </a:lnTo>
                  <a:lnTo>
                    <a:pt x="77723" y="0"/>
                  </a:lnTo>
                  <a:lnTo>
                    <a:pt x="70103" y="0"/>
                  </a:lnTo>
                  <a:lnTo>
                    <a:pt x="62483" y="1523"/>
                  </a:lnTo>
                  <a:lnTo>
                    <a:pt x="56387" y="3047"/>
                  </a:lnTo>
                  <a:lnTo>
                    <a:pt x="50291" y="6095"/>
                  </a:lnTo>
                  <a:lnTo>
                    <a:pt x="45719" y="9143"/>
                  </a:lnTo>
                  <a:lnTo>
                    <a:pt x="41147" y="13715"/>
                  </a:lnTo>
                  <a:lnTo>
                    <a:pt x="36575" y="18287"/>
                  </a:lnTo>
                  <a:lnTo>
                    <a:pt x="28955" y="59435"/>
                  </a:lnTo>
                  <a:lnTo>
                    <a:pt x="28955" y="77723"/>
                  </a:lnTo>
                  <a:lnTo>
                    <a:pt x="6095" y="77723"/>
                  </a:lnTo>
                  <a:lnTo>
                    <a:pt x="4571" y="77723"/>
                  </a:lnTo>
                  <a:lnTo>
                    <a:pt x="3047" y="77723"/>
                  </a:lnTo>
                  <a:lnTo>
                    <a:pt x="3047" y="79247"/>
                  </a:lnTo>
                  <a:lnTo>
                    <a:pt x="1523" y="79247"/>
                  </a:lnTo>
                  <a:lnTo>
                    <a:pt x="1523" y="80771"/>
                  </a:lnTo>
                  <a:lnTo>
                    <a:pt x="1523" y="82295"/>
                  </a:lnTo>
                  <a:lnTo>
                    <a:pt x="0" y="82295"/>
                  </a:lnTo>
                  <a:lnTo>
                    <a:pt x="0" y="83819"/>
                  </a:lnTo>
                  <a:lnTo>
                    <a:pt x="0" y="85343"/>
                  </a:lnTo>
                  <a:lnTo>
                    <a:pt x="0" y="86867"/>
                  </a:lnTo>
                  <a:lnTo>
                    <a:pt x="0" y="89915"/>
                  </a:lnTo>
                  <a:lnTo>
                    <a:pt x="0" y="92963"/>
                  </a:lnTo>
                  <a:lnTo>
                    <a:pt x="1523" y="94487"/>
                  </a:lnTo>
                  <a:lnTo>
                    <a:pt x="3047" y="96011"/>
                  </a:lnTo>
                  <a:lnTo>
                    <a:pt x="6095" y="96011"/>
                  </a:lnTo>
                  <a:lnTo>
                    <a:pt x="28955" y="96011"/>
                  </a:lnTo>
                  <a:lnTo>
                    <a:pt x="28955" y="240791"/>
                  </a:lnTo>
                  <a:lnTo>
                    <a:pt x="28955" y="242315"/>
                  </a:lnTo>
                  <a:lnTo>
                    <a:pt x="30479" y="243839"/>
                  </a:lnTo>
                  <a:lnTo>
                    <a:pt x="32003" y="243839"/>
                  </a:lnTo>
                  <a:lnTo>
                    <a:pt x="33527" y="245363"/>
                  </a:lnTo>
                  <a:lnTo>
                    <a:pt x="35051" y="245363"/>
                  </a:lnTo>
                  <a:lnTo>
                    <a:pt x="36575" y="245363"/>
                  </a:lnTo>
                  <a:lnTo>
                    <a:pt x="38099" y="245363"/>
                  </a:lnTo>
                  <a:lnTo>
                    <a:pt x="39623" y="245363"/>
                  </a:lnTo>
                  <a:lnTo>
                    <a:pt x="41147" y="245363"/>
                  </a:lnTo>
                  <a:lnTo>
                    <a:pt x="44195" y="245363"/>
                  </a:lnTo>
                  <a:lnTo>
                    <a:pt x="45719" y="245363"/>
                  </a:lnTo>
                  <a:lnTo>
                    <a:pt x="47243" y="243839"/>
                  </a:lnTo>
                  <a:lnTo>
                    <a:pt x="48767" y="243839"/>
                  </a:lnTo>
                  <a:lnTo>
                    <a:pt x="50291" y="243839"/>
                  </a:lnTo>
                  <a:lnTo>
                    <a:pt x="50291" y="242315"/>
                  </a:lnTo>
                  <a:lnTo>
                    <a:pt x="50291" y="240791"/>
                  </a:lnTo>
                  <a:lnTo>
                    <a:pt x="50291" y="96011"/>
                  </a:lnTo>
                  <a:lnTo>
                    <a:pt x="89915" y="96011"/>
                  </a:lnTo>
                  <a:lnTo>
                    <a:pt x="91439" y="96011"/>
                  </a:lnTo>
                  <a:lnTo>
                    <a:pt x="92963" y="96011"/>
                  </a:lnTo>
                  <a:lnTo>
                    <a:pt x="92963" y="94487"/>
                  </a:lnTo>
                  <a:lnTo>
                    <a:pt x="94487" y="92963"/>
                  </a:lnTo>
                  <a:lnTo>
                    <a:pt x="94487" y="89915"/>
                  </a:lnTo>
                  <a:lnTo>
                    <a:pt x="94487" y="86867"/>
                  </a:lnTo>
                  <a:lnTo>
                    <a:pt x="94487" y="80771"/>
                  </a:lnTo>
                  <a:lnTo>
                    <a:pt x="92963" y="80771"/>
                  </a:lnTo>
                  <a:lnTo>
                    <a:pt x="92963" y="79247"/>
                  </a:lnTo>
                  <a:lnTo>
                    <a:pt x="91439" y="77723"/>
                  </a:lnTo>
                  <a:lnTo>
                    <a:pt x="89915" y="77723"/>
                  </a:lnTo>
                  <a:lnTo>
                    <a:pt x="50291" y="77723"/>
                  </a:lnTo>
                  <a:lnTo>
                    <a:pt x="50291" y="59435"/>
                  </a:lnTo>
                  <a:lnTo>
                    <a:pt x="50291" y="51815"/>
                  </a:lnTo>
                  <a:lnTo>
                    <a:pt x="50291" y="45719"/>
                  </a:lnTo>
                  <a:lnTo>
                    <a:pt x="51815" y="41147"/>
                  </a:lnTo>
                  <a:lnTo>
                    <a:pt x="53339" y="35051"/>
                  </a:lnTo>
                  <a:lnTo>
                    <a:pt x="54863" y="32003"/>
                  </a:lnTo>
                  <a:lnTo>
                    <a:pt x="56387" y="27431"/>
                  </a:lnTo>
                  <a:lnTo>
                    <a:pt x="71627" y="18287"/>
                  </a:lnTo>
                  <a:lnTo>
                    <a:pt x="76199" y="18287"/>
                  </a:lnTo>
                  <a:lnTo>
                    <a:pt x="80771" y="18287"/>
                  </a:lnTo>
                  <a:lnTo>
                    <a:pt x="83819" y="18287"/>
                  </a:lnTo>
                  <a:lnTo>
                    <a:pt x="85343" y="19811"/>
                  </a:lnTo>
                  <a:lnTo>
                    <a:pt x="88391" y="19811"/>
                  </a:lnTo>
                  <a:lnTo>
                    <a:pt x="89915" y="19811"/>
                  </a:lnTo>
                  <a:lnTo>
                    <a:pt x="92963" y="21335"/>
                  </a:lnTo>
                  <a:lnTo>
                    <a:pt x="94487" y="21335"/>
                  </a:lnTo>
                  <a:lnTo>
                    <a:pt x="96011" y="22859"/>
                  </a:lnTo>
                  <a:lnTo>
                    <a:pt x="97535" y="22859"/>
                  </a:lnTo>
                  <a:lnTo>
                    <a:pt x="99059" y="24383"/>
                  </a:lnTo>
                  <a:lnTo>
                    <a:pt x="100583" y="24383"/>
                  </a:lnTo>
                  <a:lnTo>
                    <a:pt x="102107" y="24383"/>
                  </a:lnTo>
                  <a:lnTo>
                    <a:pt x="102107" y="22859"/>
                  </a:lnTo>
                  <a:lnTo>
                    <a:pt x="103631" y="22859"/>
                  </a:lnTo>
                  <a:lnTo>
                    <a:pt x="103631" y="21335"/>
                  </a:lnTo>
                  <a:lnTo>
                    <a:pt x="103631" y="19811"/>
                  </a:lnTo>
                  <a:lnTo>
                    <a:pt x="103631" y="13715"/>
                  </a:lnTo>
                  <a:lnTo>
                    <a:pt x="103631" y="12191"/>
                  </a:lnTo>
                  <a:close/>
                </a:path>
              </a:pathLst>
            </a:custGeom>
            <a:ln w="10668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4141"/>
            </a:p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66524" y="1742141"/>
            <a:ext cx="4175880" cy="69072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345774" y="1703571"/>
            <a:ext cx="2198383" cy="58904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580142" y="2450433"/>
            <a:ext cx="14816600" cy="4534771"/>
          </a:xfrm>
          <a:prstGeom prst="rect">
            <a:avLst/>
          </a:prstGeom>
        </p:spPr>
        <p:txBody>
          <a:bodyPr vert="horz" wrap="square" lIns="0" tIns="236668" rIns="0" bIns="0" rtlCol="0">
            <a:spAutoFit/>
          </a:bodyPr>
          <a:lstStyle/>
          <a:p>
            <a:pPr marL="29221">
              <a:spcBef>
                <a:spcPts val="1864"/>
              </a:spcBef>
            </a:pPr>
            <a:r>
              <a:rPr sz="4026" b="1" spc="23" dirty="0">
                <a:solidFill>
                  <a:srgbClr val="E48311"/>
                </a:solidFill>
                <a:latin typeface="Calibri"/>
                <a:cs typeface="Calibri"/>
              </a:rPr>
              <a:t>Dynamic:</a:t>
            </a:r>
            <a:endParaRPr sz="4026" dirty="0">
              <a:latin typeface="Calibri"/>
              <a:cs typeface="Calibri"/>
            </a:endParaRPr>
          </a:p>
          <a:p>
            <a:pPr marL="29221" marR="11690" algn="just">
              <a:lnSpc>
                <a:spcPct val="91900"/>
              </a:lnSpc>
              <a:spcBef>
                <a:spcPts val="2048"/>
              </a:spcBef>
            </a:pP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Management is </a:t>
            </a:r>
            <a:r>
              <a:rPr sz="4026" spc="23" dirty="0">
                <a:solidFill>
                  <a:srgbClr val="FF0000"/>
                </a:solidFill>
                <a:latin typeface="Calibri"/>
                <a:cs typeface="Calibri"/>
              </a:rPr>
              <a:t>dynamic in </a:t>
            </a:r>
            <a:r>
              <a:rPr sz="4026" spc="12" dirty="0">
                <a:solidFill>
                  <a:srgbClr val="FF0000"/>
                </a:solidFill>
                <a:latin typeface="Calibri"/>
                <a:cs typeface="Calibri"/>
              </a:rPr>
              <a:t>nature i.e. </a:t>
            </a:r>
            <a:r>
              <a:rPr sz="4026" spc="23" dirty="0">
                <a:solidFill>
                  <a:srgbClr val="FF0000"/>
                </a:solidFill>
                <a:latin typeface="Calibri"/>
                <a:cs typeface="Calibri"/>
              </a:rPr>
              <a:t>techniques to </a:t>
            </a:r>
            <a:r>
              <a:rPr sz="4026" spc="35" dirty="0">
                <a:solidFill>
                  <a:srgbClr val="FF0000"/>
                </a:solidFill>
                <a:latin typeface="Calibri"/>
                <a:cs typeface="Calibri"/>
              </a:rPr>
              <a:t>manage </a:t>
            </a:r>
            <a:r>
              <a:rPr sz="4026" spc="23" dirty="0">
                <a:solidFill>
                  <a:srgbClr val="FF0000"/>
                </a:solidFill>
                <a:latin typeface="Calibri"/>
                <a:cs typeface="Calibri"/>
              </a:rPr>
              <a:t>business </a:t>
            </a:r>
            <a:r>
              <a:rPr sz="4026" spc="-88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FF0000"/>
                </a:solidFill>
                <a:latin typeface="Calibri"/>
                <a:cs typeface="Calibri"/>
              </a:rPr>
              <a:t>changes </a:t>
            </a:r>
            <a:r>
              <a:rPr sz="4026" spc="12" dirty="0">
                <a:solidFill>
                  <a:srgbClr val="FF0000"/>
                </a:solidFill>
                <a:latin typeface="Calibri"/>
                <a:cs typeface="Calibri"/>
              </a:rPr>
              <a:t>over </a:t>
            </a:r>
            <a:r>
              <a:rPr sz="4026" spc="35" dirty="0">
                <a:solidFill>
                  <a:srgbClr val="FF0000"/>
                </a:solidFill>
                <a:latin typeface="Calibri"/>
                <a:cs typeface="Calibri"/>
              </a:rPr>
              <a:t>a </a:t>
            </a:r>
            <a:r>
              <a:rPr sz="4026" spc="23" dirty="0">
                <a:solidFill>
                  <a:srgbClr val="FF0000"/>
                </a:solidFill>
                <a:latin typeface="Calibri"/>
                <a:cs typeface="Calibri"/>
              </a:rPr>
              <a:t>period </a:t>
            </a:r>
            <a:r>
              <a:rPr sz="4026" spc="12" dirty="0">
                <a:solidFill>
                  <a:srgbClr val="FF0000"/>
                </a:solidFill>
                <a:latin typeface="Calibri"/>
                <a:cs typeface="Calibri"/>
              </a:rPr>
              <a:t>of </a:t>
            </a:r>
            <a:r>
              <a:rPr sz="4026" spc="23" dirty="0">
                <a:solidFill>
                  <a:srgbClr val="FF0000"/>
                </a:solidFill>
                <a:latin typeface="Calibri"/>
                <a:cs typeface="Calibri"/>
              </a:rPr>
              <a:t>time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. 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System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of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authority: Authority 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is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the 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power 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to get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the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work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done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by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others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and compel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them 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to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work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-12" dirty="0">
                <a:solidFill>
                  <a:srgbClr val="3D3D3D"/>
                </a:solidFill>
                <a:latin typeface="Calibri"/>
                <a:cs typeface="Calibri"/>
              </a:rPr>
              <a:t>systematically.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Management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can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not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perform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in absence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of 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authority.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Authority and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responsibility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depend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upon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position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of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manager 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in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the 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organization.</a:t>
            </a:r>
            <a:endParaRPr sz="4026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945064" y="9491460"/>
            <a:ext cx="397369" cy="436666"/>
          </a:xfrm>
          <a:prstGeom prst="rect">
            <a:avLst/>
          </a:prstGeom>
        </p:spPr>
        <p:txBody>
          <a:bodyPr vert="horz" wrap="square" lIns="0" tIns="29218" rIns="0" bIns="0" rtlCol="0">
            <a:spAutoFit/>
          </a:bodyPr>
          <a:lstStyle/>
          <a:p>
            <a:pPr marL="29221">
              <a:spcBef>
                <a:spcPts val="230"/>
              </a:spcBef>
            </a:pPr>
            <a:r>
              <a:rPr sz="2646" spc="-23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r>
              <a:rPr sz="2646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2646">
              <a:latin typeface="Calibri"/>
              <a:cs typeface="Calibri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EEB7EAD-BDBD-7437-387E-AF27BB577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49589" y="2546813"/>
            <a:ext cx="14617916" cy="0"/>
          </a:xfrm>
          <a:custGeom>
            <a:avLst/>
            <a:gdLst/>
            <a:ahLst/>
            <a:cxnLst/>
            <a:rect l="l" t="t" r="r" b="b"/>
            <a:pathLst>
              <a:path w="6353809">
                <a:moveTo>
                  <a:pt x="0" y="0"/>
                </a:moveTo>
                <a:lnTo>
                  <a:pt x="6353556" y="0"/>
                </a:lnTo>
              </a:path>
            </a:pathLst>
          </a:custGeom>
          <a:ln w="4572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 sz="4141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7444" y="1742141"/>
            <a:ext cx="4175880" cy="690721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6186681" y="1875374"/>
            <a:ext cx="631115" cy="417822"/>
            <a:chOff x="2689097" y="3658361"/>
            <a:chExt cx="274320" cy="18161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89097" y="3658362"/>
              <a:ext cx="132587" cy="18135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46069" y="3658361"/>
              <a:ext cx="117347" cy="181356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7031674" y="1875374"/>
            <a:ext cx="712927" cy="417822"/>
            <a:chOff x="3056381" y="3658361"/>
            <a:chExt cx="309880" cy="18161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56381" y="3658362"/>
              <a:ext cx="132587" cy="18135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27069" y="3658361"/>
              <a:ext cx="138684" cy="179832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7957175" y="1738498"/>
            <a:ext cx="720231" cy="550765"/>
            <a:chOff x="3458654" y="3598862"/>
            <a:chExt cx="313055" cy="239395"/>
          </a:xfrm>
        </p:grpSpPr>
        <p:sp>
          <p:nvSpPr>
            <p:cNvPr id="11" name="object 11"/>
            <p:cNvSpPr/>
            <p:nvPr/>
          </p:nvSpPr>
          <p:spPr>
            <a:xfrm>
              <a:off x="3464051" y="3604260"/>
              <a:ext cx="186055" cy="228600"/>
            </a:xfrm>
            <a:custGeom>
              <a:avLst/>
              <a:gdLst/>
              <a:ahLst/>
              <a:cxnLst/>
              <a:rect l="l" t="t" r="r" b="b"/>
              <a:pathLst>
                <a:path w="186054" h="228600">
                  <a:moveTo>
                    <a:pt x="106679" y="4572"/>
                  </a:moveTo>
                  <a:lnTo>
                    <a:pt x="105155" y="4572"/>
                  </a:lnTo>
                  <a:lnTo>
                    <a:pt x="105155" y="3048"/>
                  </a:lnTo>
                  <a:lnTo>
                    <a:pt x="103631" y="1524"/>
                  </a:lnTo>
                  <a:lnTo>
                    <a:pt x="102107" y="1524"/>
                  </a:lnTo>
                  <a:lnTo>
                    <a:pt x="100583" y="1524"/>
                  </a:lnTo>
                  <a:lnTo>
                    <a:pt x="99059" y="0"/>
                  </a:lnTo>
                  <a:lnTo>
                    <a:pt x="85343" y="0"/>
                  </a:lnTo>
                  <a:lnTo>
                    <a:pt x="83819" y="1524"/>
                  </a:lnTo>
                  <a:lnTo>
                    <a:pt x="82295" y="1524"/>
                  </a:lnTo>
                  <a:lnTo>
                    <a:pt x="80771" y="1524"/>
                  </a:lnTo>
                  <a:lnTo>
                    <a:pt x="80771" y="3048"/>
                  </a:lnTo>
                  <a:lnTo>
                    <a:pt x="79247" y="3048"/>
                  </a:lnTo>
                  <a:lnTo>
                    <a:pt x="79247" y="4572"/>
                  </a:lnTo>
                  <a:lnTo>
                    <a:pt x="0" y="220979"/>
                  </a:lnTo>
                  <a:lnTo>
                    <a:pt x="0" y="222503"/>
                  </a:lnTo>
                  <a:lnTo>
                    <a:pt x="0" y="224028"/>
                  </a:lnTo>
                  <a:lnTo>
                    <a:pt x="0" y="225552"/>
                  </a:lnTo>
                  <a:lnTo>
                    <a:pt x="0" y="227076"/>
                  </a:lnTo>
                  <a:lnTo>
                    <a:pt x="1523" y="227076"/>
                  </a:lnTo>
                  <a:lnTo>
                    <a:pt x="3047" y="228600"/>
                  </a:lnTo>
                  <a:lnTo>
                    <a:pt x="4571" y="228600"/>
                  </a:lnTo>
                  <a:lnTo>
                    <a:pt x="15239" y="228600"/>
                  </a:lnTo>
                  <a:lnTo>
                    <a:pt x="16763" y="228600"/>
                  </a:lnTo>
                  <a:lnTo>
                    <a:pt x="18287" y="227076"/>
                  </a:lnTo>
                  <a:lnTo>
                    <a:pt x="19811" y="227076"/>
                  </a:lnTo>
                  <a:lnTo>
                    <a:pt x="21335" y="227076"/>
                  </a:lnTo>
                  <a:lnTo>
                    <a:pt x="21335" y="225552"/>
                  </a:lnTo>
                  <a:lnTo>
                    <a:pt x="22859" y="224028"/>
                  </a:lnTo>
                  <a:lnTo>
                    <a:pt x="42671" y="163067"/>
                  </a:lnTo>
                  <a:lnTo>
                    <a:pt x="141731" y="163067"/>
                  </a:lnTo>
                  <a:lnTo>
                    <a:pt x="163067" y="224028"/>
                  </a:lnTo>
                  <a:lnTo>
                    <a:pt x="163067" y="225552"/>
                  </a:lnTo>
                  <a:lnTo>
                    <a:pt x="164591" y="225552"/>
                  </a:lnTo>
                  <a:lnTo>
                    <a:pt x="164591" y="227076"/>
                  </a:lnTo>
                  <a:lnTo>
                    <a:pt x="166115" y="227076"/>
                  </a:lnTo>
                  <a:lnTo>
                    <a:pt x="166115" y="228600"/>
                  </a:lnTo>
                  <a:lnTo>
                    <a:pt x="167639" y="228600"/>
                  </a:lnTo>
                  <a:lnTo>
                    <a:pt x="184403" y="228600"/>
                  </a:lnTo>
                  <a:lnTo>
                    <a:pt x="184403" y="227076"/>
                  </a:lnTo>
                  <a:lnTo>
                    <a:pt x="185927" y="227076"/>
                  </a:lnTo>
                  <a:lnTo>
                    <a:pt x="185927" y="225552"/>
                  </a:lnTo>
                  <a:lnTo>
                    <a:pt x="185927" y="224028"/>
                  </a:lnTo>
                  <a:lnTo>
                    <a:pt x="185927" y="222503"/>
                  </a:lnTo>
                  <a:lnTo>
                    <a:pt x="184403" y="220979"/>
                  </a:lnTo>
                  <a:lnTo>
                    <a:pt x="106679" y="4572"/>
                  </a:lnTo>
                  <a:close/>
                </a:path>
              </a:pathLst>
            </a:custGeom>
            <a:ln w="10668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4141"/>
            </a:p>
          </p:txBody>
        </p:sp>
        <p:sp>
          <p:nvSpPr>
            <p:cNvPr id="12" name="object 12"/>
            <p:cNvSpPr/>
            <p:nvPr/>
          </p:nvSpPr>
          <p:spPr>
            <a:xfrm>
              <a:off x="3512819" y="3628643"/>
              <a:ext cx="86995" cy="121920"/>
            </a:xfrm>
            <a:custGeom>
              <a:avLst/>
              <a:gdLst/>
              <a:ahLst/>
              <a:cxnLst/>
              <a:rect l="l" t="t" r="r" b="b"/>
              <a:pathLst>
                <a:path w="86995" h="121920">
                  <a:moveTo>
                    <a:pt x="86868" y="121920"/>
                  </a:moveTo>
                  <a:lnTo>
                    <a:pt x="0" y="121920"/>
                  </a:lnTo>
                  <a:lnTo>
                    <a:pt x="42672" y="0"/>
                  </a:lnTo>
                  <a:lnTo>
                    <a:pt x="86868" y="121920"/>
                  </a:lnTo>
                  <a:close/>
                </a:path>
              </a:pathLst>
            </a:custGeom>
            <a:ln w="10668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4141"/>
            </a:p>
          </p:txBody>
        </p:sp>
        <p:sp>
          <p:nvSpPr>
            <p:cNvPr id="13" name="object 13"/>
            <p:cNvSpPr/>
            <p:nvPr/>
          </p:nvSpPr>
          <p:spPr>
            <a:xfrm>
              <a:off x="3678935" y="3663696"/>
              <a:ext cx="86995" cy="169545"/>
            </a:xfrm>
            <a:custGeom>
              <a:avLst/>
              <a:gdLst/>
              <a:ahLst/>
              <a:cxnLst/>
              <a:rect l="l" t="t" r="r" b="b"/>
              <a:pathLst>
                <a:path w="86995" h="169545">
                  <a:moveTo>
                    <a:pt x="86867" y="9144"/>
                  </a:moveTo>
                  <a:lnTo>
                    <a:pt x="86867" y="7620"/>
                  </a:lnTo>
                  <a:lnTo>
                    <a:pt x="85343" y="6096"/>
                  </a:lnTo>
                  <a:lnTo>
                    <a:pt x="85343" y="4572"/>
                  </a:lnTo>
                  <a:lnTo>
                    <a:pt x="83819" y="4572"/>
                  </a:lnTo>
                  <a:lnTo>
                    <a:pt x="82295" y="3048"/>
                  </a:lnTo>
                  <a:lnTo>
                    <a:pt x="80771" y="3048"/>
                  </a:lnTo>
                  <a:lnTo>
                    <a:pt x="79247" y="1524"/>
                  </a:lnTo>
                  <a:lnTo>
                    <a:pt x="76199" y="1524"/>
                  </a:lnTo>
                  <a:lnTo>
                    <a:pt x="74675" y="1524"/>
                  </a:lnTo>
                  <a:lnTo>
                    <a:pt x="71627" y="1524"/>
                  </a:lnTo>
                  <a:lnTo>
                    <a:pt x="70103" y="0"/>
                  </a:lnTo>
                  <a:lnTo>
                    <a:pt x="68579" y="0"/>
                  </a:lnTo>
                  <a:lnTo>
                    <a:pt x="56387" y="0"/>
                  </a:lnTo>
                  <a:lnTo>
                    <a:pt x="53339" y="1524"/>
                  </a:lnTo>
                  <a:lnTo>
                    <a:pt x="50291" y="1524"/>
                  </a:lnTo>
                  <a:lnTo>
                    <a:pt x="47243" y="3048"/>
                  </a:lnTo>
                  <a:lnTo>
                    <a:pt x="42671" y="6096"/>
                  </a:lnTo>
                  <a:lnTo>
                    <a:pt x="39623" y="7620"/>
                  </a:lnTo>
                  <a:lnTo>
                    <a:pt x="36575" y="10668"/>
                  </a:lnTo>
                  <a:lnTo>
                    <a:pt x="32003" y="15240"/>
                  </a:lnTo>
                  <a:lnTo>
                    <a:pt x="28955" y="19812"/>
                  </a:lnTo>
                  <a:lnTo>
                    <a:pt x="24383" y="24384"/>
                  </a:lnTo>
                  <a:lnTo>
                    <a:pt x="19811" y="30480"/>
                  </a:lnTo>
                  <a:lnTo>
                    <a:pt x="19811" y="6096"/>
                  </a:lnTo>
                  <a:lnTo>
                    <a:pt x="19811" y="4572"/>
                  </a:lnTo>
                  <a:lnTo>
                    <a:pt x="19811" y="3048"/>
                  </a:lnTo>
                  <a:lnTo>
                    <a:pt x="18287" y="3048"/>
                  </a:lnTo>
                  <a:lnTo>
                    <a:pt x="16763" y="3048"/>
                  </a:lnTo>
                  <a:lnTo>
                    <a:pt x="16763" y="1524"/>
                  </a:lnTo>
                  <a:lnTo>
                    <a:pt x="3047" y="1524"/>
                  </a:lnTo>
                  <a:lnTo>
                    <a:pt x="3047" y="3048"/>
                  </a:lnTo>
                  <a:lnTo>
                    <a:pt x="1523" y="3048"/>
                  </a:lnTo>
                  <a:lnTo>
                    <a:pt x="0" y="3048"/>
                  </a:lnTo>
                  <a:lnTo>
                    <a:pt x="0" y="4572"/>
                  </a:lnTo>
                  <a:lnTo>
                    <a:pt x="0" y="6096"/>
                  </a:lnTo>
                  <a:lnTo>
                    <a:pt x="0" y="166116"/>
                  </a:lnTo>
                  <a:lnTo>
                    <a:pt x="0" y="167639"/>
                  </a:lnTo>
                  <a:lnTo>
                    <a:pt x="1523" y="167639"/>
                  </a:lnTo>
                  <a:lnTo>
                    <a:pt x="3047" y="167639"/>
                  </a:lnTo>
                  <a:lnTo>
                    <a:pt x="3047" y="169163"/>
                  </a:lnTo>
                  <a:lnTo>
                    <a:pt x="16763" y="169163"/>
                  </a:lnTo>
                  <a:lnTo>
                    <a:pt x="18287" y="167639"/>
                  </a:lnTo>
                  <a:lnTo>
                    <a:pt x="19811" y="167639"/>
                  </a:lnTo>
                  <a:lnTo>
                    <a:pt x="19811" y="166116"/>
                  </a:lnTo>
                  <a:lnTo>
                    <a:pt x="21335" y="166116"/>
                  </a:lnTo>
                  <a:lnTo>
                    <a:pt x="21335" y="164592"/>
                  </a:lnTo>
                  <a:lnTo>
                    <a:pt x="21335" y="57912"/>
                  </a:lnTo>
                  <a:lnTo>
                    <a:pt x="25907" y="50292"/>
                  </a:lnTo>
                  <a:lnTo>
                    <a:pt x="28955" y="44196"/>
                  </a:lnTo>
                  <a:lnTo>
                    <a:pt x="33527" y="39624"/>
                  </a:lnTo>
                  <a:lnTo>
                    <a:pt x="36575" y="33528"/>
                  </a:lnTo>
                  <a:lnTo>
                    <a:pt x="39623" y="30480"/>
                  </a:lnTo>
                  <a:lnTo>
                    <a:pt x="42671" y="27432"/>
                  </a:lnTo>
                  <a:lnTo>
                    <a:pt x="45719" y="24384"/>
                  </a:lnTo>
                  <a:lnTo>
                    <a:pt x="50291" y="21336"/>
                  </a:lnTo>
                  <a:lnTo>
                    <a:pt x="51815" y="19812"/>
                  </a:lnTo>
                  <a:lnTo>
                    <a:pt x="54863" y="19812"/>
                  </a:lnTo>
                  <a:lnTo>
                    <a:pt x="57911" y="18288"/>
                  </a:lnTo>
                  <a:lnTo>
                    <a:pt x="60959" y="18288"/>
                  </a:lnTo>
                  <a:lnTo>
                    <a:pt x="64007" y="18288"/>
                  </a:lnTo>
                  <a:lnTo>
                    <a:pt x="67055" y="18288"/>
                  </a:lnTo>
                  <a:lnTo>
                    <a:pt x="68579" y="19812"/>
                  </a:lnTo>
                  <a:lnTo>
                    <a:pt x="71627" y="19812"/>
                  </a:lnTo>
                  <a:lnTo>
                    <a:pt x="73151" y="19812"/>
                  </a:lnTo>
                  <a:lnTo>
                    <a:pt x="74675" y="21336"/>
                  </a:lnTo>
                  <a:lnTo>
                    <a:pt x="76199" y="21336"/>
                  </a:lnTo>
                  <a:lnTo>
                    <a:pt x="77723" y="21336"/>
                  </a:lnTo>
                  <a:lnTo>
                    <a:pt x="79247" y="22860"/>
                  </a:lnTo>
                  <a:lnTo>
                    <a:pt x="80771" y="22860"/>
                  </a:lnTo>
                  <a:lnTo>
                    <a:pt x="82295" y="22860"/>
                  </a:lnTo>
                  <a:lnTo>
                    <a:pt x="83819" y="22860"/>
                  </a:lnTo>
                  <a:lnTo>
                    <a:pt x="85343" y="22860"/>
                  </a:lnTo>
                  <a:lnTo>
                    <a:pt x="85343" y="21336"/>
                  </a:lnTo>
                  <a:lnTo>
                    <a:pt x="85343" y="19812"/>
                  </a:lnTo>
                  <a:lnTo>
                    <a:pt x="86867" y="19812"/>
                  </a:lnTo>
                  <a:lnTo>
                    <a:pt x="86867" y="10668"/>
                  </a:lnTo>
                  <a:lnTo>
                    <a:pt x="86867" y="9144"/>
                  </a:lnTo>
                  <a:close/>
                </a:path>
              </a:pathLst>
            </a:custGeom>
            <a:ln w="10668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4141"/>
            </a:p>
          </p:txBody>
        </p:sp>
      </p:grpSp>
      <p:sp>
        <p:nvSpPr>
          <p:cNvPr id="15" name="object 15"/>
          <p:cNvSpPr/>
          <p:nvPr/>
        </p:nvSpPr>
        <p:spPr>
          <a:xfrm>
            <a:off x="8681339" y="1792981"/>
            <a:ext cx="224981" cy="487946"/>
          </a:xfrm>
          <a:custGeom>
            <a:avLst/>
            <a:gdLst/>
            <a:ahLst/>
            <a:cxnLst/>
            <a:rect l="l" t="t" r="r" b="b"/>
            <a:pathLst>
              <a:path w="97789" h="212089">
                <a:moveTo>
                  <a:pt x="97536" y="192024"/>
                </a:moveTo>
                <a:lnTo>
                  <a:pt x="97536" y="190500"/>
                </a:lnTo>
                <a:lnTo>
                  <a:pt x="97536" y="190500"/>
                </a:lnTo>
                <a:lnTo>
                  <a:pt x="94488" y="187452"/>
                </a:lnTo>
                <a:lnTo>
                  <a:pt x="92964" y="187452"/>
                </a:lnTo>
                <a:lnTo>
                  <a:pt x="91440" y="188976"/>
                </a:lnTo>
                <a:lnTo>
                  <a:pt x="89916" y="188976"/>
                </a:lnTo>
                <a:lnTo>
                  <a:pt x="88392" y="190500"/>
                </a:lnTo>
                <a:lnTo>
                  <a:pt x="86868" y="190500"/>
                </a:lnTo>
                <a:lnTo>
                  <a:pt x="85344" y="192024"/>
                </a:lnTo>
                <a:lnTo>
                  <a:pt x="82296" y="192024"/>
                </a:lnTo>
                <a:lnTo>
                  <a:pt x="80772" y="193548"/>
                </a:lnTo>
                <a:lnTo>
                  <a:pt x="79248" y="193548"/>
                </a:lnTo>
                <a:lnTo>
                  <a:pt x="76200" y="193548"/>
                </a:lnTo>
                <a:lnTo>
                  <a:pt x="73152" y="193548"/>
                </a:lnTo>
                <a:lnTo>
                  <a:pt x="64008" y="193548"/>
                </a:lnTo>
                <a:lnTo>
                  <a:pt x="57912" y="190500"/>
                </a:lnTo>
                <a:lnTo>
                  <a:pt x="50292" y="156972"/>
                </a:lnTo>
                <a:lnTo>
                  <a:pt x="50292" y="60960"/>
                </a:lnTo>
                <a:lnTo>
                  <a:pt x="92964" y="60960"/>
                </a:lnTo>
                <a:lnTo>
                  <a:pt x="94488" y="60960"/>
                </a:lnTo>
                <a:lnTo>
                  <a:pt x="96012" y="59436"/>
                </a:lnTo>
                <a:lnTo>
                  <a:pt x="97536" y="57912"/>
                </a:lnTo>
                <a:lnTo>
                  <a:pt x="97536" y="54864"/>
                </a:lnTo>
                <a:lnTo>
                  <a:pt x="97536" y="51816"/>
                </a:lnTo>
                <a:lnTo>
                  <a:pt x="97536" y="50292"/>
                </a:lnTo>
                <a:lnTo>
                  <a:pt x="97536" y="48768"/>
                </a:lnTo>
                <a:lnTo>
                  <a:pt x="97536" y="47244"/>
                </a:lnTo>
                <a:lnTo>
                  <a:pt x="96012" y="45720"/>
                </a:lnTo>
                <a:lnTo>
                  <a:pt x="96012" y="44196"/>
                </a:lnTo>
                <a:lnTo>
                  <a:pt x="94488" y="44196"/>
                </a:lnTo>
                <a:lnTo>
                  <a:pt x="94488" y="42672"/>
                </a:lnTo>
                <a:lnTo>
                  <a:pt x="92964" y="42672"/>
                </a:lnTo>
                <a:lnTo>
                  <a:pt x="50292" y="42672"/>
                </a:lnTo>
                <a:lnTo>
                  <a:pt x="50292" y="4572"/>
                </a:lnTo>
                <a:lnTo>
                  <a:pt x="50292" y="3048"/>
                </a:lnTo>
                <a:lnTo>
                  <a:pt x="48768" y="1524"/>
                </a:lnTo>
                <a:lnTo>
                  <a:pt x="47244" y="1524"/>
                </a:lnTo>
                <a:lnTo>
                  <a:pt x="45720" y="0"/>
                </a:lnTo>
                <a:lnTo>
                  <a:pt x="33528" y="0"/>
                </a:lnTo>
                <a:lnTo>
                  <a:pt x="32004" y="1524"/>
                </a:lnTo>
                <a:lnTo>
                  <a:pt x="30480" y="1524"/>
                </a:lnTo>
                <a:lnTo>
                  <a:pt x="28956" y="1524"/>
                </a:lnTo>
                <a:lnTo>
                  <a:pt x="28956" y="3048"/>
                </a:lnTo>
                <a:lnTo>
                  <a:pt x="28956" y="4572"/>
                </a:lnTo>
                <a:lnTo>
                  <a:pt x="28956" y="42672"/>
                </a:lnTo>
                <a:lnTo>
                  <a:pt x="4572" y="42672"/>
                </a:lnTo>
                <a:lnTo>
                  <a:pt x="3048" y="42672"/>
                </a:lnTo>
                <a:lnTo>
                  <a:pt x="3048" y="44196"/>
                </a:lnTo>
                <a:lnTo>
                  <a:pt x="1524" y="44196"/>
                </a:lnTo>
                <a:lnTo>
                  <a:pt x="1524" y="45720"/>
                </a:lnTo>
                <a:lnTo>
                  <a:pt x="0" y="47244"/>
                </a:lnTo>
                <a:lnTo>
                  <a:pt x="0" y="48768"/>
                </a:lnTo>
                <a:lnTo>
                  <a:pt x="0" y="50292"/>
                </a:lnTo>
                <a:lnTo>
                  <a:pt x="0" y="51816"/>
                </a:lnTo>
                <a:lnTo>
                  <a:pt x="0" y="54864"/>
                </a:lnTo>
                <a:lnTo>
                  <a:pt x="0" y="57912"/>
                </a:lnTo>
                <a:lnTo>
                  <a:pt x="1524" y="59436"/>
                </a:lnTo>
                <a:lnTo>
                  <a:pt x="3048" y="60960"/>
                </a:lnTo>
                <a:lnTo>
                  <a:pt x="4572" y="60960"/>
                </a:lnTo>
                <a:lnTo>
                  <a:pt x="28956" y="60960"/>
                </a:lnTo>
                <a:lnTo>
                  <a:pt x="28956" y="160020"/>
                </a:lnTo>
                <a:lnTo>
                  <a:pt x="28956" y="169164"/>
                </a:lnTo>
                <a:lnTo>
                  <a:pt x="30480" y="176784"/>
                </a:lnTo>
                <a:lnTo>
                  <a:pt x="32004" y="182880"/>
                </a:lnTo>
                <a:lnTo>
                  <a:pt x="33528" y="188976"/>
                </a:lnTo>
                <a:lnTo>
                  <a:pt x="64008" y="211836"/>
                </a:lnTo>
                <a:lnTo>
                  <a:pt x="71628" y="211836"/>
                </a:lnTo>
                <a:lnTo>
                  <a:pt x="73152" y="211836"/>
                </a:lnTo>
                <a:lnTo>
                  <a:pt x="76200" y="211836"/>
                </a:lnTo>
                <a:lnTo>
                  <a:pt x="79248" y="211836"/>
                </a:lnTo>
                <a:lnTo>
                  <a:pt x="80772" y="211836"/>
                </a:lnTo>
                <a:lnTo>
                  <a:pt x="83820" y="210312"/>
                </a:lnTo>
                <a:lnTo>
                  <a:pt x="85344" y="210312"/>
                </a:lnTo>
                <a:lnTo>
                  <a:pt x="88392" y="210312"/>
                </a:lnTo>
                <a:lnTo>
                  <a:pt x="89916" y="208788"/>
                </a:lnTo>
                <a:lnTo>
                  <a:pt x="91440" y="208788"/>
                </a:lnTo>
                <a:lnTo>
                  <a:pt x="92964" y="207264"/>
                </a:lnTo>
                <a:lnTo>
                  <a:pt x="94488" y="207264"/>
                </a:lnTo>
                <a:lnTo>
                  <a:pt x="94488" y="205740"/>
                </a:lnTo>
                <a:lnTo>
                  <a:pt x="96012" y="204216"/>
                </a:lnTo>
                <a:lnTo>
                  <a:pt x="97536" y="202692"/>
                </a:lnTo>
                <a:lnTo>
                  <a:pt x="97536" y="201168"/>
                </a:lnTo>
                <a:lnTo>
                  <a:pt x="97536" y="198120"/>
                </a:lnTo>
                <a:lnTo>
                  <a:pt x="97536" y="196596"/>
                </a:lnTo>
                <a:lnTo>
                  <a:pt x="97536" y="195072"/>
                </a:lnTo>
                <a:lnTo>
                  <a:pt x="97536" y="193548"/>
                </a:lnTo>
                <a:lnTo>
                  <a:pt x="97536" y="192024"/>
                </a:lnTo>
                <a:close/>
              </a:path>
            </a:pathLst>
          </a:custGeom>
          <a:ln w="10668">
            <a:solidFill>
              <a:srgbClr val="BF0000"/>
            </a:solidFill>
          </a:ln>
        </p:spPr>
        <p:txBody>
          <a:bodyPr wrap="square" lIns="0" tIns="0" rIns="0" bIns="0" rtlCol="0"/>
          <a:lstStyle/>
          <a:p>
            <a:endParaRPr sz="4141"/>
          </a:p>
        </p:txBody>
      </p:sp>
      <p:grpSp>
        <p:nvGrpSpPr>
          <p:cNvPr id="16" name="object 16"/>
          <p:cNvGrpSpPr/>
          <p:nvPr/>
        </p:nvGrpSpPr>
        <p:grpSpPr>
          <a:xfrm>
            <a:off x="4705323" y="3405831"/>
            <a:ext cx="512781" cy="362307"/>
            <a:chOff x="2045207" y="4323588"/>
            <a:chExt cx="222885" cy="157480"/>
          </a:xfrm>
        </p:grpSpPr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45207" y="4323588"/>
              <a:ext cx="128016" cy="15697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97607" y="4372356"/>
              <a:ext cx="70104" cy="108204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580152" y="2647458"/>
            <a:ext cx="14815139" cy="1230301"/>
          </a:xfrm>
          <a:prstGeom prst="rect">
            <a:avLst/>
          </a:prstGeom>
        </p:spPr>
        <p:txBody>
          <a:bodyPr vert="horz" wrap="square" lIns="0" tIns="100803" rIns="0" bIns="0" rtlCol="0">
            <a:spAutoFit/>
          </a:bodyPr>
          <a:lstStyle/>
          <a:p>
            <a:pPr marL="162172" marR="11690" indent="-134411">
              <a:lnSpc>
                <a:spcPts val="4440"/>
              </a:lnSpc>
              <a:spcBef>
                <a:spcPts val="794"/>
              </a:spcBef>
              <a:tabLst>
                <a:tab pos="3779620" algn="l"/>
              </a:tabLst>
            </a:pP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-</a:t>
            </a:r>
            <a:r>
              <a:rPr lang="en-US" sz="4026" spc="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Mary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-46" dirty="0">
                <a:solidFill>
                  <a:srgbClr val="3D3D3D"/>
                </a:solidFill>
                <a:latin typeface="Calibri"/>
                <a:cs typeface="Calibri"/>
              </a:rPr>
              <a:t>parker,</a:t>
            </a:r>
            <a:r>
              <a:rPr sz="4026" spc="-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koontz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58" dirty="0">
                <a:solidFill>
                  <a:srgbClr val="3D3D3D"/>
                </a:solidFill>
                <a:latin typeface="Calibri"/>
                <a:cs typeface="Calibri"/>
              </a:rPr>
              <a:t>&amp; 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several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 others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 management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authors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 called </a:t>
            </a:r>
            <a:r>
              <a:rPr sz="4026" spc="-88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management</a:t>
            </a:r>
            <a:r>
              <a:rPr sz="4026" spc="23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4026" spc="35" dirty="0">
                <a:solidFill>
                  <a:srgbClr val="FF0000"/>
                </a:solidFill>
                <a:latin typeface="Calibri"/>
                <a:cs typeface="Calibri"/>
              </a:rPr>
              <a:t>an</a:t>
            </a:r>
            <a:r>
              <a:rPr sz="4026" spc="12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FF0000"/>
                </a:solidFill>
                <a:latin typeface="Calibri"/>
                <a:cs typeface="Calibri"/>
              </a:rPr>
              <a:t>art</a:t>
            </a:r>
            <a:r>
              <a:rPr sz="4026" spc="12" dirty="0">
                <a:solidFill>
                  <a:srgbClr val="FF0000"/>
                </a:solidFill>
                <a:latin typeface="Calibri"/>
                <a:cs typeface="Calibri"/>
              </a:rPr>
              <a:t> of</a:t>
            </a:r>
            <a:r>
              <a:rPr sz="4026" spc="4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FF0000"/>
                </a:solidFill>
                <a:latin typeface="Calibri"/>
                <a:cs typeface="Calibri"/>
              </a:rPr>
              <a:t>getting</a:t>
            </a:r>
            <a:r>
              <a:rPr sz="4026" spc="-12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FF0000"/>
                </a:solidFill>
                <a:latin typeface="Calibri"/>
                <a:cs typeface="Calibri"/>
              </a:rPr>
              <a:t>things done</a:t>
            </a:r>
            <a:r>
              <a:rPr sz="4026" spc="4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FF0000"/>
                </a:solidFill>
                <a:latin typeface="Calibri"/>
                <a:cs typeface="Calibri"/>
              </a:rPr>
              <a:t>through</a:t>
            </a:r>
            <a:r>
              <a:rPr sz="4026" spc="58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FF0000"/>
                </a:solidFill>
                <a:latin typeface="Calibri"/>
                <a:cs typeface="Calibri"/>
              </a:rPr>
              <a:t>people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.</a:t>
            </a:r>
            <a:endParaRPr sz="4026" dirty="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80144" y="7335244"/>
            <a:ext cx="14810757" cy="1231777"/>
          </a:xfrm>
          <a:prstGeom prst="rect">
            <a:avLst/>
          </a:prstGeom>
        </p:spPr>
        <p:txBody>
          <a:bodyPr vert="horz" wrap="square" lIns="0" tIns="102264" rIns="0" bIns="0" rtlCol="0">
            <a:spAutoFit/>
          </a:bodyPr>
          <a:lstStyle/>
          <a:p>
            <a:pPr marL="162172" marR="11690" indent="-134411">
              <a:lnSpc>
                <a:spcPts val="4417"/>
              </a:lnSpc>
              <a:spcBef>
                <a:spcPts val="805"/>
              </a:spcBef>
            </a:pP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-</a:t>
            </a:r>
            <a:r>
              <a:rPr lang="en-US" sz="4026" spc="23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Art</a:t>
            </a:r>
            <a:r>
              <a:rPr sz="4026" spc="19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-23" dirty="0">
                <a:solidFill>
                  <a:srgbClr val="3D3D3D"/>
                </a:solidFill>
                <a:latin typeface="Calibri"/>
                <a:cs typeface="Calibri"/>
              </a:rPr>
              <a:t>refers</a:t>
            </a:r>
            <a:r>
              <a:rPr sz="4026" spc="219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to</a:t>
            </a:r>
            <a:r>
              <a:rPr sz="4026" spc="207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FF0000"/>
                </a:solidFill>
                <a:latin typeface="Calibri"/>
                <a:cs typeface="Calibri"/>
              </a:rPr>
              <a:t>creative</a:t>
            </a:r>
            <a:r>
              <a:rPr sz="4026" spc="19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FF0000"/>
                </a:solidFill>
                <a:latin typeface="Calibri"/>
                <a:cs typeface="Calibri"/>
              </a:rPr>
              <a:t>skills</a:t>
            </a:r>
            <a:r>
              <a:rPr sz="4026" spc="18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4026" spc="18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FF0000"/>
                </a:solidFill>
                <a:latin typeface="Calibri"/>
                <a:cs typeface="Calibri"/>
              </a:rPr>
              <a:t>talent</a:t>
            </a:r>
            <a:r>
              <a:rPr sz="4026" spc="207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FF0000"/>
                </a:solidFill>
                <a:latin typeface="Calibri"/>
                <a:cs typeface="Calibri"/>
              </a:rPr>
              <a:t>which</a:t>
            </a:r>
            <a:r>
              <a:rPr sz="4026" spc="1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FF0000"/>
                </a:solidFill>
                <a:latin typeface="Calibri"/>
                <a:cs typeface="Calibri"/>
              </a:rPr>
              <a:t>people</a:t>
            </a:r>
            <a:r>
              <a:rPr sz="4026" spc="18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FF0000"/>
                </a:solidFill>
                <a:latin typeface="Calibri"/>
                <a:cs typeface="Calibri"/>
              </a:rPr>
              <a:t>required</a:t>
            </a:r>
            <a:r>
              <a:rPr sz="4026" spc="17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FF0000"/>
                </a:solidFill>
                <a:latin typeface="Calibri"/>
                <a:cs typeface="Calibri"/>
              </a:rPr>
              <a:t>to </a:t>
            </a:r>
            <a:r>
              <a:rPr sz="4026" spc="-88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FF0000"/>
                </a:solidFill>
                <a:latin typeface="Calibri"/>
                <a:cs typeface="Calibri"/>
              </a:rPr>
              <a:t>conduct</a:t>
            </a:r>
            <a:r>
              <a:rPr sz="4026" spc="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FF0000"/>
                </a:solidFill>
                <a:latin typeface="Calibri"/>
                <a:cs typeface="Calibri"/>
              </a:rPr>
              <a:t>certain</a:t>
            </a:r>
            <a:r>
              <a:rPr sz="4026" spc="12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FF0000"/>
                </a:solidFill>
                <a:latin typeface="Calibri"/>
                <a:cs typeface="Calibri"/>
              </a:rPr>
              <a:t>activities</a:t>
            </a:r>
            <a:r>
              <a:rPr sz="4026" spc="-12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-23" dirty="0">
                <a:solidFill>
                  <a:srgbClr val="FF0000"/>
                </a:solidFill>
                <a:latin typeface="Calibri"/>
                <a:cs typeface="Calibri"/>
              </a:rPr>
              <a:t>effectively</a:t>
            </a:r>
            <a:r>
              <a:rPr sz="4026" spc="-23" dirty="0">
                <a:solidFill>
                  <a:srgbClr val="3D3D3D"/>
                </a:solidFill>
                <a:latin typeface="Calibri"/>
                <a:cs typeface="Calibri"/>
              </a:rPr>
              <a:t>.</a:t>
            </a:r>
            <a:endParaRPr sz="4026" dirty="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945064" y="9491460"/>
            <a:ext cx="397369" cy="436666"/>
          </a:xfrm>
          <a:prstGeom prst="rect">
            <a:avLst/>
          </a:prstGeom>
        </p:spPr>
        <p:txBody>
          <a:bodyPr vert="horz" wrap="square" lIns="0" tIns="29218" rIns="0" bIns="0" rtlCol="0">
            <a:spAutoFit/>
          </a:bodyPr>
          <a:lstStyle/>
          <a:p>
            <a:pPr marL="29221">
              <a:spcBef>
                <a:spcPts val="230"/>
              </a:spcBef>
            </a:pPr>
            <a:r>
              <a:rPr sz="2646" spc="-23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r>
              <a:rPr sz="2646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2646">
              <a:latin typeface="Calibri"/>
              <a:cs typeface="Calibri"/>
            </a:endParaRPr>
          </a:p>
        </p:txBody>
      </p:sp>
      <p:pic>
        <p:nvPicPr>
          <p:cNvPr id="22" name="object 2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479458" y="4580415"/>
            <a:ext cx="4361706" cy="2510434"/>
          </a:xfrm>
          <a:prstGeom prst="rect">
            <a:avLst/>
          </a:prstGeom>
        </p:spPr>
      </p:pic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1A1373B1-BDF2-8513-BB25-510BA8881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49589" y="2546813"/>
            <a:ext cx="14617916" cy="0"/>
          </a:xfrm>
          <a:custGeom>
            <a:avLst/>
            <a:gdLst/>
            <a:ahLst/>
            <a:cxnLst/>
            <a:rect l="l" t="t" r="r" b="b"/>
            <a:pathLst>
              <a:path w="6353809">
                <a:moveTo>
                  <a:pt x="0" y="0"/>
                </a:moveTo>
                <a:lnTo>
                  <a:pt x="6353556" y="0"/>
                </a:lnTo>
              </a:path>
            </a:pathLst>
          </a:custGeom>
          <a:ln w="4572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 sz="4141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7444" y="907677"/>
            <a:ext cx="4175880" cy="690718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6204212" y="897148"/>
            <a:ext cx="414900" cy="560991"/>
            <a:chOff x="2696717" y="3233166"/>
            <a:chExt cx="180340" cy="243840"/>
          </a:xfrm>
        </p:grpSpPr>
        <p:sp>
          <p:nvSpPr>
            <p:cNvPr id="5" name="object 5"/>
            <p:cNvSpPr/>
            <p:nvPr/>
          </p:nvSpPr>
          <p:spPr>
            <a:xfrm>
              <a:off x="2705099" y="3302508"/>
              <a:ext cx="21590" cy="167640"/>
            </a:xfrm>
            <a:custGeom>
              <a:avLst/>
              <a:gdLst/>
              <a:ahLst/>
              <a:cxnLst/>
              <a:rect l="l" t="t" r="r" b="b"/>
              <a:pathLst>
                <a:path w="21589" h="167639">
                  <a:moveTo>
                    <a:pt x="21336" y="4572"/>
                  </a:moveTo>
                  <a:lnTo>
                    <a:pt x="21336" y="3048"/>
                  </a:lnTo>
                  <a:lnTo>
                    <a:pt x="19812" y="1524"/>
                  </a:lnTo>
                  <a:lnTo>
                    <a:pt x="18288" y="0"/>
                  </a:lnTo>
                  <a:lnTo>
                    <a:pt x="16764" y="0"/>
                  </a:lnTo>
                  <a:lnTo>
                    <a:pt x="15240" y="0"/>
                  </a:lnTo>
                  <a:lnTo>
                    <a:pt x="13716" y="0"/>
                  </a:lnTo>
                  <a:lnTo>
                    <a:pt x="12192" y="0"/>
                  </a:lnTo>
                  <a:lnTo>
                    <a:pt x="10668" y="0"/>
                  </a:lnTo>
                  <a:lnTo>
                    <a:pt x="7620" y="0"/>
                  </a:lnTo>
                  <a:lnTo>
                    <a:pt x="6096" y="0"/>
                  </a:lnTo>
                  <a:lnTo>
                    <a:pt x="4572" y="0"/>
                  </a:lnTo>
                  <a:lnTo>
                    <a:pt x="3048" y="0"/>
                  </a:lnTo>
                  <a:lnTo>
                    <a:pt x="1524" y="0"/>
                  </a:lnTo>
                  <a:lnTo>
                    <a:pt x="0" y="1524"/>
                  </a:lnTo>
                  <a:lnTo>
                    <a:pt x="0" y="1524"/>
                  </a:lnTo>
                  <a:lnTo>
                    <a:pt x="0" y="3048"/>
                  </a:lnTo>
                  <a:lnTo>
                    <a:pt x="0" y="163067"/>
                  </a:lnTo>
                  <a:lnTo>
                    <a:pt x="0" y="164591"/>
                  </a:lnTo>
                  <a:lnTo>
                    <a:pt x="0" y="166115"/>
                  </a:lnTo>
                  <a:lnTo>
                    <a:pt x="1524" y="166115"/>
                  </a:lnTo>
                  <a:lnTo>
                    <a:pt x="3048" y="166115"/>
                  </a:lnTo>
                  <a:lnTo>
                    <a:pt x="4572" y="166115"/>
                  </a:lnTo>
                  <a:lnTo>
                    <a:pt x="6096" y="167640"/>
                  </a:lnTo>
                  <a:lnTo>
                    <a:pt x="7620" y="167640"/>
                  </a:lnTo>
                  <a:lnTo>
                    <a:pt x="10668" y="167640"/>
                  </a:lnTo>
                  <a:lnTo>
                    <a:pt x="12192" y="167640"/>
                  </a:lnTo>
                  <a:lnTo>
                    <a:pt x="13716" y="167640"/>
                  </a:lnTo>
                  <a:lnTo>
                    <a:pt x="15240" y="166115"/>
                  </a:lnTo>
                  <a:lnTo>
                    <a:pt x="16764" y="166115"/>
                  </a:lnTo>
                  <a:lnTo>
                    <a:pt x="18288" y="166115"/>
                  </a:lnTo>
                  <a:lnTo>
                    <a:pt x="19812" y="166115"/>
                  </a:lnTo>
                  <a:lnTo>
                    <a:pt x="19812" y="164591"/>
                  </a:lnTo>
                  <a:lnTo>
                    <a:pt x="21336" y="164591"/>
                  </a:lnTo>
                  <a:lnTo>
                    <a:pt x="21336" y="163067"/>
                  </a:lnTo>
                  <a:lnTo>
                    <a:pt x="21336" y="4572"/>
                  </a:lnTo>
                  <a:close/>
                </a:path>
              </a:pathLst>
            </a:custGeom>
            <a:ln w="10668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4141"/>
            </a:p>
          </p:txBody>
        </p:sp>
        <p:sp>
          <p:nvSpPr>
            <p:cNvPr id="6" name="object 6"/>
            <p:cNvSpPr/>
            <p:nvPr/>
          </p:nvSpPr>
          <p:spPr>
            <a:xfrm>
              <a:off x="2702051" y="3238500"/>
              <a:ext cx="26034" cy="29209"/>
            </a:xfrm>
            <a:custGeom>
              <a:avLst/>
              <a:gdLst/>
              <a:ahLst/>
              <a:cxnLst/>
              <a:rect l="l" t="t" r="r" b="b"/>
              <a:pathLst>
                <a:path w="26035" h="29210">
                  <a:moveTo>
                    <a:pt x="22860" y="3048"/>
                  </a:moveTo>
                  <a:lnTo>
                    <a:pt x="21336" y="0"/>
                  </a:lnTo>
                  <a:lnTo>
                    <a:pt x="16764" y="0"/>
                  </a:lnTo>
                  <a:lnTo>
                    <a:pt x="12192" y="0"/>
                  </a:lnTo>
                  <a:lnTo>
                    <a:pt x="7620" y="0"/>
                  </a:lnTo>
                  <a:lnTo>
                    <a:pt x="4572" y="0"/>
                  </a:lnTo>
                  <a:lnTo>
                    <a:pt x="1524" y="3048"/>
                  </a:lnTo>
                  <a:lnTo>
                    <a:pt x="0" y="4572"/>
                  </a:lnTo>
                  <a:lnTo>
                    <a:pt x="0" y="7620"/>
                  </a:lnTo>
                  <a:lnTo>
                    <a:pt x="0" y="13716"/>
                  </a:lnTo>
                  <a:lnTo>
                    <a:pt x="0" y="19812"/>
                  </a:lnTo>
                  <a:lnTo>
                    <a:pt x="0" y="22860"/>
                  </a:lnTo>
                  <a:lnTo>
                    <a:pt x="1524" y="25908"/>
                  </a:lnTo>
                  <a:lnTo>
                    <a:pt x="4572" y="27432"/>
                  </a:lnTo>
                  <a:lnTo>
                    <a:pt x="7620" y="28956"/>
                  </a:lnTo>
                  <a:lnTo>
                    <a:pt x="12192" y="28956"/>
                  </a:lnTo>
                  <a:lnTo>
                    <a:pt x="16764" y="28956"/>
                  </a:lnTo>
                  <a:lnTo>
                    <a:pt x="21336" y="27432"/>
                  </a:lnTo>
                  <a:lnTo>
                    <a:pt x="22860" y="25908"/>
                  </a:lnTo>
                  <a:lnTo>
                    <a:pt x="24384" y="22860"/>
                  </a:lnTo>
                  <a:lnTo>
                    <a:pt x="25908" y="19812"/>
                  </a:lnTo>
                  <a:lnTo>
                    <a:pt x="25908" y="13716"/>
                  </a:lnTo>
                  <a:lnTo>
                    <a:pt x="25908" y="7620"/>
                  </a:lnTo>
                  <a:lnTo>
                    <a:pt x="24384" y="4572"/>
                  </a:lnTo>
                  <a:lnTo>
                    <a:pt x="22860" y="3048"/>
                  </a:lnTo>
                  <a:close/>
                </a:path>
              </a:pathLst>
            </a:custGeom>
            <a:ln w="10668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4141"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59202" y="3295650"/>
              <a:ext cx="117347" cy="181355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6828314" y="1040902"/>
            <a:ext cx="712927" cy="417822"/>
            <a:chOff x="2967989" y="3295650"/>
            <a:chExt cx="309880" cy="18161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67989" y="3295650"/>
              <a:ext cx="132587" cy="18135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38677" y="3295650"/>
              <a:ext cx="138684" cy="179831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7775000" y="946243"/>
            <a:ext cx="863401" cy="512781"/>
            <a:chOff x="3379470" y="3254502"/>
            <a:chExt cx="375285" cy="222885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79470" y="3295650"/>
              <a:ext cx="132588" cy="18135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557016" y="3300984"/>
              <a:ext cx="86995" cy="169545"/>
            </a:xfrm>
            <a:custGeom>
              <a:avLst/>
              <a:gdLst/>
              <a:ahLst/>
              <a:cxnLst/>
              <a:rect l="l" t="t" r="r" b="b"/>
              <a:pathLst>
                <a:path w="86995" h="169545">
                  <a:moveTo>
                    <a:pt x="86867" y="9144"/>
                  </a:moveTo>
                  <a:lnTo>
                    <a:pt x="86867" y="7620"/>
                  </a:lnTo>
                  <a:lnTo>
                    <a:pt x="86867" y="6096"/>
                  </a:lnTo>
                  <a:lnTo>
                    <a:pt x="85343" y="6096"/>
                  </a:lnTo>
                  <a:lnTo>
                    <a:pt x="85343" y="4572"/>
                  </a:lnTo>
                  <a:lnTo>
                    <a:pt x="83819" y="4572"/>
                  </a:lnTo>
                  <a:lnTo>
                    <a:pt x="83819" y="3048"/>
                  </a:lnTo>
                  <a:lnTo>
                    <a:pt x="82295" y="3048"/>
                  </a:lnTo>
                  <a:lnTo>
                    <a:pt x="80771" y="1524"/>
                  </a:lnTo>
                  <a:lnTo>
                    <a:pt x="79247" y="1524"/>
                  </a:lnTo>
                  <a:lnTo>
                    <a:pt x="77723" y="1524"/>
                  </a:lnTo>
                  <a:lnTo>
                    <a:pt x="74675" y="0"/>
                  </a:lnTo>
                  <a:lnTo>
                    <a:pt x="73151" y="0"/>
                  </a:lnTo>
                  <a:lnTo>
                    <a:pt x="53339" y="0"/>
                  </a:lnTo>
                  <a:lnTo>
                    <a:pt x="50291" y="1524"/>
                  </a:lnTo>
                  <a:lnTo>
                    <a:pt x="47243" y="3048"/>
                  </a:lnTo>
                  <a:lnTo>
                    <a:pt x="42671" y="4572"/>
                  </a:lnTo>
                  <a:lnTo>
                    <a:pt x="39623" y="7620"/>
                  </a:lnTo>
                  <a:lnTo>
                    <a:pt x="36575" y="10668"/>
                  </a:lnTo>
                  <a:lnTo>
                    <a:pt x="32003" y="15240"/>
                  </a:lnTo>
                  <a:lnTo>
                    <a:pt x="28955" y="18288"/>
                  </a:lnTo>
                  <a:lnTo>
                    <a:pt x="24383" y="24384"/>
                  </a:lnTo>
                  <a:lnTo>
                    <a:pt x="19811" y="30480"/>
                  </a:lnTo>
                  <a:lnTo>
                    <a:pt x="19811" y="6096"/>
                  </a:lnTo>
                  <a:lnTo>
                    <a:pt x="19811" y="4572"/>
                  </a:lnTo>
                  <a:lnTo>
                    <a:pt x="19811" y="3048"/>
                  </a:lnTo>
                  <a:lnTo>
                    <a:pt x="18287" y="3048"/>
                  </a:lnTo>
                  <a:lnTo>
                    <a:pt x="18287" y="1524"/>
                  </a:lnTo>
                  <a:lnTo>
                    <a:pt x="16763" y="1524"/>
                  </a:lnTo>
                  <a:lnTo>
                    <a:pt x="1523" y="1524"/>
                  </a:lnTo>
                  <a:lnTo>
                    <a:pt x="1523" y="3048"/>
                  </a:lnTo>
                  <a:lnTo>
                    <a:pt x="0" y="3048"/>
                  </a:lnTo>
                  <a:lnTo>
                    <a:pt x="0" y="4572"/>
                  </a:lnTo>
                  <a:lnTo>
                    <a:pt x="0" y="6096"/>
                  </a:lnTo>
                  <a:lnTo>
                    <a:pt x="0" y="164592"/>
                  </a:lnTo>
                  <a:lnTo>
                    <a:pt x="0" y="166116"/>
                  </a:lnTo>
                  <a:lnTo>
                    <a:pt x="1523" y="166116"/>
                  </a:lnTo>
                  <a:lnTo>
                    <a:pt x="1523" y="167639"/>
                  </a:lnTo>
                  <a:lnTo>
                    <a:pt x="3047" y="167639"/>
                  </a:lnTo>
                  <a:lnTo>
                    <a:pt x="4571" y="167639"/>
                  </a:lnTo>
                  <a:lnTo>
                    <a:pt x="6095" y="167639"/>
                  </a:lnTo>
                  <a:lnTo>
                    <a:pt x="7619" y="169163"/>
                  </a:lnTo>
                  <a:lnTo>
                    <a:pt x="9143" y="169163"/>
                  </a:lnTo>
                  <a:lnTo>
                    <a:pt x="10667" y="169163"/>
                  </a:lnTo>
                  <a:lnTo>
                    <a:pt x="12191" y="169163"/>
                  </a:lnTo>
                  <a:lnTo>
                    <a:pt x="15239" y="169163"/>
                  </a:lnTo>
                  <a:lnTo>
                    <a:pt x="15239" y="167639"/>
                  </a:lnTo>
                  <a:lnTo>
                    <a:pt x="16763" y="167639"/>
                  </a:lnTo>
                  <a:lnTo>
                    <a:pt x="18287" y="167639"/>
                  </a:lnTo>
                  <a:lnTo>
                    <a:pt x="19811" y="167639"/>
                  </a:lnTo>
                  <a:lnTo>
                    <a:pt x="19811" y="166116"/>
                  </a:lnTo>
                  <a:lnTo>
                    <a:pt x="21335" y="166116"/>
                  </a:lnTo>
                  <a:lnTo>
                    <a:pt x="21335" y="164592"/>
                  </a:lnTo>
                  <a:lnTo>
                    <a:pt x="21335" y="56388"/>
                  </a:lnTo>
                  <a:lnTo>
                    <a:pt x="25907" y="50292"/>
                  </a:lnTo>
                  <a:lnTo>
                    <a:pt x="28955" y="44196"/>
                  </a:lnTo>
                  <a:lnTo>
                    <a:pt x="33527" y="38100"/>
                  </a:lnTo>
                  <a:lnTo>
                    <a:pt x="36575" y="33528"/>
                  </a:lnTo>
                  <a:lnTo>
                    <a:pt x="39623" y="28956"/>
                  </a:lnTo>
                  <a:lnTo>
                    <a:pt x="44195" y="25908"/>
                  </a:lnTo>
                  <a:lnTo>
                    <a:pt x="47243" y="22860"/>
                  </a:lnTo>
                  <a:lnTo>
                    <a:pt x="50291" y="21336"/>
                  </a:lnTo>
                  <a:lnTo>
                    <a:pt x="53339" y="19812"/>
                  </a:lnTo>
                  <a:lnTo>
                    <a:pt x="56387" y="18288"/>
                  </a:lnTo>
                  <a:lnTo>
                    <a:pt x="68579" y="18288"/>
                  </a:lnTo>
                  <a:lnTo>
                    <a:pt x="71627" y="19812"/>
                  </a:lnTo>
                  <a:lnTo>
                    <a:pt x="73151" y="19812"/>
                  </a:lnTo>
                  <a:lnTo>
                    <a:pt x="74675" y="19812"/>
                  </a:lnTo>
                  <a:lnTo>
                    <a:pt x="76199" y="21336"/>
                  </a:lnTo>
                  <a:lnTo>
                    <a:pt x="79247" y="21336"/>
                  </a:lnTo>
                  <a:lnTo>
                    <a:pt x="80771" y="22860"/>
                  </a:lnTo>
                  <a:lnTo>
                    <a:pt x="82295" y="22860"/>
                  </a:lnTo>
                  <a:lnTo>
                    <a:pt x="83819" y="22860"/>
                  </a:lnTo>
                  <a:lnTo>
                    <a:pt x="85343" y="22860"/>
                  </a:lnTo>
                  <a:lnTo>
                    <a:pt x="85343" y="21336"/>
                  </a:lnTo>
                  <a:lnTo>
                    <a:pt x="86867" y="19812"/>
                  </a:lnTo>
                  <a:lnTo>
                    <a:pt x="86867" y="18288"/>
                  </a:lnTo>
                  <a:lnTo>
                    <a:pt x="86867" y="16764"/>
                  </a:lnTo>
                  <a:lnTo>
                    <a:pt x="86867" y="15240"/>
                  </a:lnTo>
                  <a:lnTo>
                    <a:pt x="86867" y="13716"/>
                  </a:lnTo>
                  <a:lnTo>
                    <a:pt x="86867" y="12192"/>
                  </a:lnTo>
                  <a:lnTo>
                    <a:pt x="86867" y="10668"/>
                  </a:lnTo>
                  <a:lnTo>
                    <a:pt x="86867" y="9144"/>
                  </a:lnTo>
                  <a:close/>
                </a:path>
              </a:pathLst>
            </a:custGeom>
            <a:ln w="10668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4141"/>
            </a:p>
          </p:txBody>
        </p:sp>
        <p:sp>
          <p:nvSpPr>
            <p:cNvPr id="14" name="object 14"/>
            <p:cNvSpPr/>
            <p:nvPr/>
          </p:nvSpPr>
          <p:spPr>
            <a:xfrm>
              <a:off x="3651504" y="3259836"/>
              <a:ext cx="97790" cy="212090"/>
            </a:xfrm>
            <a:custGeom>
              <a:avLst/>
              <a:gdLst/>
              <a:ahLst/>
              <a:cxnLst/>
              <a:rect l="l" t="t" r="r" b="b"/>
              <a:pathLst>
                <a:path w="97789" h="212089">
                  <a:moveTo>
                    <a:pt x="97536" y="192024"/>
                  </a:moveTo>
                  <a:lnTo>
                    <a:pt x="97536" y="190500"/>
                  </a:lnTo>
                  <a:lnTo>
                    <a:pt x="97536" y="188976"/>
                  </a:lnTo>
                  <a:lnTo>
                    <a:pt x="96012" y="188976"/>
                  </a:lnTo>
                  <a:lnTo>
                    <a:pt x="96012" y="187452"/>
                  </a:lnTo>
                  <a:lnTo>
                    <a:pt x="94488" y="187452"/>
                  </a:lnTo>
                  <a:lnTo>
                    <a:pt x="92964" y="187452"/>
                  </a:lnTo>
                  <a:lnTo>
                    <a:pt x="91440" y="188976"/>
                  </a:lnTo>
                  <a:lnTo>
                    <a:pt x="89916" y="188976"/>
                  </a:lnTo>
                  <a:lnTo>
                    <a:pt x="88392" y="188976"/>
                  </a:lnTo>
                  <a:lnTo>
                    <a:pt x="86868" y="190500"/>
                  </a:lnTo>
                  <a:lnTo>
                    <a:pt x="85344" y="190500"/>
                  </a:lnTo>
                  <a:lnTo>
                    <a:pt x="83820" y="192024"/>
                  </a:lnTo>
                  <a:lnTo>
                    <a:pt x="80772" y="192024"/>
                  </a:lnTo>
                  <a:lnTo>
                    <a:pt x="79248" y="192024"/>
                  </a:lnTo>
                  <a:lnTo>
                    <a:pt x="76200" y="193548"/>
                  </a:lnTo>
                  <a:lnTo>
                    <a:pt x="73152" y="193548"/>
                  </a:lnTo>
                  <a:lnTo>
                    <a:pt x="65532" y="193548"/>
                  </a:lnTo>
                  <a:lnTo>
                    <a:pt x="50292" y="155448"/>
                  </a:lnTo>
                  <a:lnTo>
                    <a:pt x="50292" y="60960"/>
                  </a:lnTo>
                  <a:lnTo>
                    <a:pt x="92964" y="60960"/>
                  </a:lnTo>
                  <a:lnTo>
                    <a:pt x="94488" y="60960"/>
                  </a:lnTo>
                  <a:lnTo>
                    <a:pt x="96012" y="59436"/>
                  </a:lnTo>
                  <a:lnTo>
                    <a:pt x="96012" y="57912"/>
                  </a:lnTo>
                  <a:lnTo>
                    <a:pt x="97536" y="56388"/>
                  </a:lnTo>
                  <a:lnTo>
                    <a:pt x="97536" y="54864"/>
                  </a:lnTo>
                  <a:lnTo>
                    <a:pt x="97536" y="51816"/>
                  </a:lnTo>
                  <a:lnTo>
                    <a:pt x="97536" y="50292"/>
                  </a:lnTo>
                  <a:lnTo>
                    <a:pt x="97536" y="48768"/>
                  </a:lnTo>
                  <a:lnTo>
                    <a:pt x="97536" y="47244"/>
                  </a:lnTo>
                  <a:lnTo>
                    <a:pt x="97536" y="45720"/>
                  </a:lnTo>
                  <a:lnTo>
                    <a:pt x="96012" y="44196"/>
                  </a:lnTo>
                  <a:lnTo>
                    <a:pt x="96012" y="42672"/>
                  </a:lnTo>
                  <a:lnTo>
                    <a:pt x="94488" y="42672"/>
                  </a:lnTo>
                  <a:lnTo>
                    <a:pt x="92964" y="42672"/>
                  </a:lnTo>
                  <a:lnTo>
                    <a:pt x="50292" y="42672"/>
                  </a:lnTo>
                  <a:lnTo>
                    <a:pt x="50292" y="4572"/>
                  </a:lnTo>
                  <a:lnTo>
                    <a:pt x="50292" y="3048"/>
                  </a:lnTo>
                  <a:lnTo>
                    <a:pt x="50292" y="1524"/>
                  </a:lnTo>
                  <a:lnTo>
                    <a:pt x="48768" y="1524"/>
                  </a:lnTo>
                  <a:lnTo>
                    <a:pt x="48768" y="0"/>
                  </a:lnTo>
                  <a:lnTo>
                    <a:pt x="47244" y="0"/>
                  </a:lnTo>
                  <a:lnTo>
                    <a:pt x="45720" y="0"/>
                  </a:lnTo>
                  <a:lnTo>
                    <a:pt x="44196" y="0"/>
                  </a:lnTo>
                  <a:lnTo>
                    <a:pt x="42672" y="0"/>
                  </a:lnTo>
                  <a:lnTo>
                    <a:pt x="39624" y="0"/>
                  </a:lnTo>
                  <a:lnTo>
                    <a:pt x="38100" y="0"/>
                  </a:lnTo>
                  <a:lnTo>
                    <a:pt x="36576" y="0"/>
                  </a:lnTo>
                  <a:lnTo>
                    <a:pt x="35052" y="0"/>
                  </a:lnTo>
                  <a:lnTo>
                    <a:pt x="33528" y="0"/>
                  </a:lnTo>
                  <a:lnTo>
                    <a:pt x="32004" y="0"/>
                  </a:lnTo>
                  <a:lnTo>
                    <a:pt x="30480" y="1524"/>
                  </a:lnTo>
                  <a:lnTo>
                    <a:pt x="28956" y="3048"/>
                  </a:lnTo>
                  <a:lnTo>
                    <a:pt x="28956" y="4572"/>
                  </a:lnTo>
                  <a:lnTo>
                    <a:pt x="28956" y="42672"/>
                  </a:lnTo>
                  <a:lnTo>
                    <a:pt x="6096" y="42672"/>
                  </a:lnTo>
                  <a:lnTo>
                    <a:pt x="4572" y="42672"/>
                  </a:lnTo>
                  <a:lnTo>
                    <a:pt x="3048" y="42672"/>
                  </a:lnTo>
                  <a:lnTo>
                    <a:pt x="3048" y="42672"/>
                  </a:lnTo>
                  <a:lnTo>
                    <a:pt x="1524" y="44196"/>
                  </a:lnTo>
                  <a:lnTo>
                    <a:pt x="1524" y="45720"/>
                  </a:lnTo>
                  <a:lnTo>
                    <a:pt x="0" y="47244"/>
                  </a:lnTo>
                  <a:lnTo>
                    <a:pt x="0" y="48768"/>
                  </a:lnTo>
                  <a:lnTo>
                    <a:pt x="0" y="50292"/>
                  </a:lnTo>
                  <a:lnTo>
                    <a:pt x="0" y="51816"/>
                  </a:lnTo>
                  <a:lnTo>
                    <a:pt x="0" y="54864"/>
                  </a:lnTo>
                  <a:lnTo>
                    <a:pt x="1524" y="56388"/>
                  </a:lnTo>
                  <a:lnTo>
                    <a:pt x="1524" y="57912"/>
                  </a:lnTo>
                  <a:lnTo>
                    <a:pt x="3048" y="59436"/>
                  </a:lnTo>
                  <a:lnTo>
                    <a:pt x="4572" y="60960"/>
                  </a:lnTo>
                  <a:lnTo>
                    <a:pt x="6096" y="60960"/>
                  </a:lnTo>
                  <a:lnTo>
                    <a:pt x="28956" y="60960"/>
                  </a:lnTo>
                  <a:lnTo>
                    <a:pt x="28956" y="158496"/>
                  </a:lnTo>
                  <a:lnTo>
                    <a:pt x="28956" y="167640"/>
                  </a:lnTo>
                  <a:lnTo>
                    <a:pt x="30480" y="175260"/>
                  </a:lnTo>
                  <a:lnTo>
                    <a:pt x="32004" y="182880"/>
                  </a:lnTo>
                  <a:lnTo>
                    <a:pt x="33528" y="188976"/>
                  </a:lnTo>
                  <a:lnTo>
                    <a:pt x="35052" y="195072"/>
                  </a:lnTo>
                  <a:lnTo>
                    <a:pt x="39624" y="198120"/>
                  </a:lnTo>
                  <a:lnTo>
                    <a:pt x="42672" y="202692"/>
                  </a:lnTo>
                  <a:lnTo>
                    <a:pt x="47244" y="205740"/>
                  </a:lnTo>
                  <a:lnTo>
                    <a:pt x="51816" y="208788"/>
                  </a:lnTo>
                  <a:lnTo>
                    <a:pt x="57912" y="210312"/>
                  </a:lnTo>
                  <a:lnTo>
                    <a:pt x="64008" y="211836"/>
                  </a:lnTo>
                  <a:lnTo>
                    <a:pt x="71628" y="211836"/>
                  </a:lnTo>
                  <a:lnTo>
                    <a:pt x="74676" y="211836"/>
                  </a:lnTo>
                  <a:lnTo>
                    <a:pt x="76200" y="211836"/>
                  </a:lnTo>
                  <a:lnTo>
                    <a:pt x="79248" y="210312"/>
                  </a:lnTo>
                  <a:lnTo>
                    <a:pt x="80772" y="210312"/>
                  </a:lnTo>
                  <a:lnTo>
                    <a:pt x="83820" y="210312"/>
                  </a:lnTo>
                  <a:lnTo>
                    <a:pt x="85344" y="210312"/>
                  </a:lnTo>
                  <a:lnTo>
                    <a:pt x="88392" y="208788"/>
                  </a:lnTo>
                  <a:lnTo>
                    <a:pt x="89916" y="208788"/>
                  </a:lnTo>
                  <a:lnTo>
                    <a:pt x="91440" y="207264"/>
                  </a:lnTo>
                  <a:lnTo>
                    <a:pt x="92964" y="207264"/>
                  </a:lnTo>
                  <a:lnTo>
                    <a:pt x="94488" y="205740"/>
                  </a:lnTo>
                  <a:lnTo>
                    <a:pt x="96012" y="205740"/>
                  </a:lnTo>
                  <a:lnTo>
                    <a:pt x="96012" y="204216"/>
                  </a:lnTo>
                  <a:lnTo>
                    <a:pt x="97536" y="202692"/>
                  </a:lnTo>
                  <a:lnTo>
                    <a:pt x="97536" y="201168"/>
                  </a:lnTo>
                  <a:lnTo>
                    <a:pt x="97536" y="199644"/>
                  </a:lnTo>
                  <a:lnTo>
                    <a:pt x="97536" y="198120"/>
                  </a:lnTo>
                  <a:lnTo>
                    <a:pt x="97536" y="195072"/>
                  </a:lnTo>
                  <a:lnTo>
                    <a:pt x="97536" y="193548"/>
                  </a:lnTo>
                  <a:lnTo>
                    <a:pt x="97536" y="192024"/>
                  </a:lnTo>
                  <a:close/>
                </a:path>
              </a:pathLst>
            </a:custGeom>
            <a:ln w="10668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4141"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8844380" y="869098"/>
            <a:ext cx="1168732" cy="590210"/>
            <a:chOff x="3844290" y="3220974"/>
            <a:chExt cx="508000" cy="256540"/>
          </a:xfrm>
        </p:grpSpPr>
        <p:sp>
          <p:nvSpPr>
            <p:cNvPr id="16" name="object 16"/>
            <p:cNvSpPr/>
            <p:nvPr/>
          </p:nvSpPr>
          <p:spPr>
            <a:xfrm>
              <a:off x="3849624" y="3226308"/>
              <a:ext cx="137160" cy="245745"/>
            </a:xfrm>
            <a:custGeom>
              <a:avLst/>
              <a:gdLst/>
              <a:ahLst/>
              <a:cxnLst/>
              <a:rect l="l" t="t" r="r" b="b"/>
              <a:pathLst>
                <a:path w="137160" h="245745">
                  <a:moveTo>
                    <a:pt x="137160" y="4572"/>
                  </a:moveTo>
                  <a:lnTo>
                    <a:pt x="137160" y="3048"/>
                  </a:lnTo>
                  <a:lnTo>
                    <a:pt x="137160" y="1524"/>
                  </a:lnTo>
                  <a:lnTo>
                    <a:pt x="135636" y="1524"/>
                  </a:lnTo>
                  <a:lnTo>
                    <a:pt x="134112" y="0"/>
                  </a:lnTo>
                  <a:lnTo>
                    <a:pt x="132588" y="0"/>
                  </a:lnTo>
                  <a:lnTo>
                    <a:pt x="131064" y="0"/>
                  </a:lnTo>
                  <a:lnTo>
                    <a:pt x="129540" y="0"/>
                  </a:lnTo>
                  <a:lnTo>
                    <a:pt x="128016" y="0"/>
                  </a:lnTo>
                  <a:lnTo>
                    <a:pt x="126492" y="0"/>
                  </a:lnTo>
                  <a:lnTo>
                    <a:pt x="123444" y="0"/>
                  </a:lnTo>
                  <a:lnTo>
                    <a:pt x="121920" y="0"/>
                  </a:lnTo>
                  <a:lnTo>
                    <a:pt x="120396" y="0"/>
                  </a:lnTo>
                  <a:lnTo>
                    <a:pt x="118872" y="0"/>
                  </a:lnTo>
                  <a:lnTo>
                    <a:pt x="117348" y="0"/>
                  </a:lnTo>
                  <a:lnTo>
                    <a:pt x="117348" y="1524"/>
                  </a:lnTo>
                  <a:lnTo>
                    <a:pt x="115824" y="1524"/>
                  </a:lnTo>
                  <a:lnTo>
                    <a:pt x="115824" y="3048"/>
                  </a:lnTo>
                  <a:lnTo>
                    <a:pt x="115824" y="4572"/>
                  </a:lnTo>
                  <a:lnTo>
                    <a:pt x="115824" y="99060"/>
                  </a:lnTo>
                  <a:lnTo>
                    <a:pt x="110109" y="93630"/>
                  </a:lnTo>
                  <a:lnTo>
                    <a:pt x="73890" y="74985"/>
                  </a:lnTo>
                  <a:lnTo>
                    <a:pt x="67056" y="74676"/>
                  </a:lnTo>
                  <a:lnTo>
                    <a:pt x="59102" y="74985"/>
                  </a:lnTo>
                  <a:lnTo>
                    <a:pt x="51435" y="76009"/>
                  </a:lnTo>
                  <a:lnTo>
                    <a:pt x="44338" y="77890"/>
                  </a:lnTo>
                  <a:lnTo>
                    <a:pt x="38100" y="80772"/>
                  </a:lnTo>
                  <a:lnTo>
                    <a:pt x="31765" y="83605"/>
                  </a:lnTo>
                  <a:lnTo>
                    <a:pt x="6905" y="117252"/>
                  </a:lnTo>
                  <a:lnTo>
                    <a:pt x="0" y="161544"/>
                  </a:lnTo>
                  <a:lnTo>
                    <a:pt x="261" y="169544"/>
                  </a:lnTo>
                  <a:lnTo>
                    <a:pt x="7810" y="208406"/>
                  </a:lnTo>
                  <a:lnTo>
                    <a:pt x="33528" y="237744"/>
                  </a:lnTo>
                  <a:lnTo>
                    <a:pt x="62484" y="245364"/>
                  </a:lnTo>
                  <a:lnTo>
                    <a:pt x="70223" y="244816"/>
                  </a:lnTo>
                  <a:lnTo>
                    <a:pt x="104965" y="227647"/>
                  </a:lnTo>
                  <a:lnTo>
                    <a:pt x="117348" y="216408"/>
                  </a:lnTo>
                  <a:lnTo>
                    <a:pt x="117348" y="239267"/>
                  </a:lnTo>
                  <a:lnTo>
                    <a:pt x="117348" y="240791"/>
                  </a:lnTo>
                  <a:lnTo>
                    <a:pt x="118872" y="240791"/>
                  </a:lnTo>
                  <a:lnTo>
                    <a:pt x="118872" y="242315"/>
                  </a:lnTo>
                  <a:lnTo>
                    <a:pt x="120396" y="242315"/>
                  </a:lnTo>
                  <a:lnTo>
                    <a:pt x="121920" y="242315"/>
                  </a:lnTo>
                  <a:lnTo>
                    <a:pt x="123444" y="242315"/>
                  </a:lnTo>
                  <a:lnTo>
                    <a:pt x="123444" y="243840"/>
                  </a:lnTo>
                  <a:lnTo>
                    <a:pt x="124968" y="243840"/>
                  </a:lnTo>
                  <a:lnTo>
                    <a:pt x="128016" y="243840"/>
                  </a:lnTo>
                  <a:lnTo>
                    <a:pt x="129540" y="243840"/>
                  </a:lnTo>
                  <a:lnTo>
                    <a:pt x="131064" y="243840"/>
                  </a:lnTo>
                  <a:lnTo>
                    <a:pt x="132588" y="242315"/>
                  </a:lnTo>
                  <a:lnTo>
                    <a:pt x="134112" y="242315"/>
                  </a:lnTo>
                  <a:lnTo>
                    <a:pt x="135636" y="242315"/>
                  </a:lnTo>
                  <a:lnTo>
                    <a:pt x="135636" y="240791"/>
                  </a:lnTo>
                  <a:lnTo>
                    <a:pt x="137160" y="240791"/>
                  </a:lnTo>
                  <a:lnTo>
                    <a:pt x="137160" y="239267"/>
                  </a:lnTo>
                  <a:lnTo>
                    <a:pt x="137160" y="4572"/>
                  </a:lnTo>
                  <a:close/>
                </a:path>
              </a:pathLst>
            </a:custGeom>
            <a:ln w="10668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4141"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65626" y="3313938"/>
              <a:ext cx="105156" cy="14477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033266" y="3297174"/>
              <a:ext cx="138684" cy="17983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200906" y="3295649"/>
              <a:ext cx="150876" cy="181355"/>
            </a:xfrm>
            <a:prstGeom prst="rect">
              <a:avLst/>
            </a:prstGeom>
          </p:spPr>
        </p:pic>
      </p:grpSp>
      <p:grpSp>
        <p:nvGrpSpPr>
          <p:cNvPr id="20" name="object 20"/>
          <p:cNvGrpSpPr/>
          <p:nvPr/>
        </p:nvGrpSpPr>
        <p:grpSpPr>
          <a:xfrm>
            <a:off x="10190759" y="946243"/>
            <a:ext cx="645724" cy="512781"/>
            <a:chOff x="4429505" y="3254502"/>
            <a:chExt cx="280670" cy="222885"/>
          </a:xfrm>
        </p:grpSpPr>
        <p:sp>
          <p:nvSpPr>
            <p:cNvPr id="21" name="object 21"/>
            <p:cNvSpPr/>
            <p:nvPr/>
          </p:nvSpPr>
          <p:spPr>
            <a:xfrm>
              <a:off x="4434839" y="3259836"/>
              <a:ext cx="97790" cy="212090"/>
            </a:xfrm>
            <a:custGeom>
              <a:avLst/>
              <a:gdLst/>
              <a:ahLst/>
              <a:cxnLst/>
              <a:rect l="l" t="t" r="r" b="b"/>
              <a:pathLst>
                <a:path w="97789" h="212089">
                  <a:moveTo>
                    <a:pt x="97536" y="192024"/>
                  </a:moveTo>
                  <a:lnTo>
                    <a:pt x="97536" y="190500"/>
                  </a:lnTo>
                  <a:lnTo>
                    <a:pt x="97536" y="188976"/>
                  </a:lnTo>
                  <a:lnTo>
                    <a:pt x="96012" y="188976"/>
                  </a:lnTo>
                  <a:lnTo>
                    <a:pt x="96012" y="187452"/>
                  </a:lnTo>
                  <a:lnTo>
                    <a:pt x="94488" y="187452"/>
                  </a:lnTo>
                  <a:lnTo>
                    <a:pt x="92964" y="187452"/>
                  </a:lnTo>
                  <a:lnTo>
                    <a:pt x="91440" y="187452"/>
                  </a:lnTo>
                  <a:lnTo>
                    <a:pt x="91440" y="188976"/>
                  </a:lnTo>
                  <a:lnTo>
                    <a:pt x="89916" y="188976"/>
                  </a:lnTo>
                  <a:lnTo>
                    <a:pt x="88392" y="188976"/>
                  </a:lnTo>
                  <a:lnTo>
                    <a:pt x="86868" y="190500"/>
                  </a:lnTo>
                  <a:lnTo>
                    <a:pt x="85344" y="190500"/>
                  </a:lnTo>
                  <a:lnTo>
                    <a:pt x="82296" y="192024"/>
                  </a:lnTo>
                  <a:lnTo>
                    <a:pt x="80772" y="192024"/>
                  </a:lnTo>
                  <a:lnTo>
                    <a:pt x="79248" y="192024"/>
                  </a:lnTo>
                  <a:lnTo>
                    <a:pt x="76200" y="193548"/>
                  </a:lnTo>
                  <a:lnTo>
                    <a:pt x="73152" y="193548"/>
                  </a:lnTo>
                  <a:lnTo>
                    <a:pt x="64008" y="193548"/>
                  </a:lnTo>
                  <a:lnTo>
                    <a:pt x="57912" y="190500"/>
                  </a:lnTo>
                  <a:lnTo>
                    <a:pt x="50292" y="155448"/>
                  </a:lnTo>
                  <a:lnTo>
                    <a:pt x="50292" y="60960"/>
                  </a:lnTo>
                  <a:lnTo>
                    <a:pt x="92964" y="60960"/>
                  </a:lnTo>
                  <a:lnTo>
                    <a:pt x="94488" y="60960"/>
                  </a:lnTo>
                  <a:lnTo>
                    <a:pt x="94488" y="59436"/>
                  </a:lnTo>
                  <a:lnTo>
                    <a:pt x="96012" y="57912"/>
                  </a:lnTo>
                  <a:lnTo>
                    <a:pt x="97536" y="56388"/>
                  </a:lnTo>
                  <a:lnTo>
                    <a:pt x="97536" y="54864"/>
                  </a:lnTo>
                  <a:lnTo>
                    <a:pt x="97536" y="45720"/>
                  </a:lnTo>
                  <a:lnTo>
                    <a:pt x="96012" y="45720"/>
                  </a:lnTo>
                  <a:lnTo>
                    <a:pt x="96012" y="44196"/>
                  </a:lnTo>
                  <a:lnTo>
                    <a:pt x="94488" y="42672"/>
                  </a:lnTo>
                  <a:lnTo>
                    <a:pt x="92964" y="42672"/>
                  </a:lnTo>
                  <a:lnTo>
                    <a:pt x="50292" y="42672"/>
                  </a:lnTo>
                  <a:lnTo>
                    <a:pt x="50292" y="4572"/>
                  </a:lnTo>
                  <a:lnTo>
                    <a:pt x="50292" y="3048"/>
                  </a:lnTo>
                  <a:lnTo>
                    <a:pt x="50292" y="1524"/>
                  </a:lnTo>
                  <a:lnTo>
                    <a:pt x="48768" y="1524"/>
                  </a:lnTo>
                  <a:lnTo>
                    <a:pt x="48768" y="0"/>
                  </a:lnTo>
                  <a:lnTo>
                    <a:pt x="47244" y="0"/>
                  </a:lnTo>
                  <a:lnTo>
                    <a:pt x="30480" y="0"/>
                  </a:lnTo>
                  <a:lnTo>
                    <a:pt x="30480" y="1524"/>
                  </a:lnTo>
                  <a:lnTo>
                    <a:pt x="28956" y="1524"/>
                  </a:lnTo>
                  <a:lnTo>
                    <a:pt x="28956" y="3048"/>
                  </a:lnTo>
                  <a:lnTo>
                    <a:pt x="28956" y="4572"/>
                  </a:lnTo>
                  <a:lnTo>
                    <a:pt x="28956" y="42672"/>
                  </a:lnTo>
                  <a:lnTo>
                    <a:pt x="4572" y="42672"/>
                  </a:lnTo>
                  <a:lnTo>
                    <a:pt x="3048" y="42672"/>
                  </a:lnTo>
                  <a:lnTo>
                    <a:pt x="1524" y="44196"/>
                  </a:lnTo>
                  <a:lnTo>
                    <a:pt x="1524" y="45720"/>
                  </a:lnTo>
                  <a:lnTo>
                    <a:pt x="0" y="45720"/>
                  </a:lnTo>
                  <a:lnTo>
                    <a:pt x="0" y="56388"/>
                  </a:lnTo>
                  <a:lnTo>
                    <a:pt x="1524" y="57912"/>
                  </a:lnTo>
                  <a:lnTo>
                    <a:pt x="3048" y="59436"/>
                  </a:lnTo>
                  <a:lnTo>
                    <a:pt x="3048" y="60960"/>
                  </a:lnTo>
                  <a:lnTo>
                    <a:pt x="4572" y="60960"/>
                  </a:lnTo>
                  <a:lnTo>
                    <a:pt x="28956" y="60960"/>
                  </a:lnTo>
                  <a:lnTo>
                    <a:pt x="28956" y="158496"/>
                  </a:lnTo>
                  <a:lnTo>
                    <a:pt x="28956" y="167640"/>
                  </a:lnTo>
                  <a:lnTo>
                    <a:pt x="30480" y="175260"/>
                  </a:lnTo>
                  <a:lnTo>
                    <a:pt x="32004" y="182880"/>
                  </a:lnTo>
                  <a:lnTo>
                    <a:pt x="33528" y="188976"/>
                  </a:lnTo>
                  <a:lnTo>
                    <a:pt x="35052" y="195072"/>
                  </a:lnTo>
                  <a:lnTo>
                    <a:pt x="38100" y="198120"/>
                  </a:lnTo>
                  <a:lnTo>
                    <a:pt x="42672" y="202692"/>
                  </a:lnTo>
                  <a:lnTo>
                    <a:pt x="47244" y="205740"/>
                  </a:lnTo>
                  <a:lnTo>
                    <a:pt x="51816" y="208788"/>
                  </a:lnTo>
                  <a:lnTo>
                    <a:pt x="57912" y="210312"/>
                  </a:lnTo>
                  <a:lnTo>
                    <a:pt x="64008" y="211836"/>
                  </a:lnTo>
                  <a:lnTo>
                    <a:pt x="71628" y="211836"/>
                  </a:lnTo>
                  <a:lnTo>
                    <a:pt x="73152" y="211836"/>
                  </a:lnTo>
                  <a:lnTo>
                    <a:pt x="76200" y="211836"/>
                  </a:lnTo>
                  <a:lnTo>
                    <a:pt x="79248" y="210312"/>
                  </a:lnTo>
                  <a:lnTo>
                    <a:pt x="80772" y="210312"/>
                  </a:lnTo>
                  <a:lnTo>
                    <a:pt x="83820" y="210312"/>
                  </a:lnTo>
                  <a:lnTo>
                    <a:pt x="85344" y="210312"/>
                  </a:lnTo>
                  <a:lnTo>
                    <a:pt x="88392" y="208788"/>
                  </a:lnTo>
                  <a:lnTo>
                    <a:pt x="89916" y="208788"/>
                  </a:lnTo>
                  <a:lnTo>
                    <a:pt x="91440" y="207264"/>
                  </a:lnTo>
                  <a:lnTo>
                    <a:pt x="92964" y="207264"/>
                  </a:lnTo>
                  <a:lnTo>
                    <a:pt x="94488" y="205740"/>
                  </a:lnTo>
                  <a:lnTo>
                    <a:pt x="96012" y="204216"/>
                  </a:lnTo>
                  <a:lnTo>
                    <a:pt x="96012" y="202692"/>
                  </a:lnTo>
                  <a:lnTo>
                    <a:pt x="97536" y="201168"/>
                  </a:lnTo>
                  <a:lnTo>
                    <a:pt x="97536" y="199644"/>
                  </a:lnTo>
                  <a:lnTo>
                    <a:pt x="97536" y="198120"/>
                  </a:lnTo>
                  <a:lnTo>
                    <a:pt x="97536" y="195072"/>
                  </a:lnTo>
                  <a:lnTo>
                    <a:pt x="97536" y="193548"/>
                  </a:lnTo>
                  <a:lnTo>
                    <a:pt x="97536" y="192024"/>
                  </a:lnTo>
                  <a:close/>
                </a:path>
              </a:pathLst>
            </a:custGeom>
            <a:ln w="10668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4141"/>
            </a:p>
          </p:txBody>
        </p:sp>
        <p:sp>
          <p:nvSpPr>
            <p:cNvPr id="22" name="object 22"/>
            <p:cNvSpPr/>
            <p:nvPr/>
          </p:nvSpPr>
          <p:spPr>
            <a:xfrm>
              <a:off x="4553712" y="3300984"/>
              <a:ext cx="151130" cy="170815"/>
            </a:xfrm>
            <a:custGeom>
              <a:avLst/>
              <a:gdLst/>
              <a:ahLst/>
              <a:cxnLst/>
              <a:rect l="l" t="t" r="r" b="b"/>
              <a:pathLst>
                <a:path w="151129" h="170814">
                  <a:moveTo>
                    <a:pt x="146303" y="48768"/>
                  </a:moveTo>
                  <a:lnTo>
                    <a:pt x="120776" y="12382"/>
                  </a:lnTo>
                  <a:lnTo>
                    <a:pt x="76199" y="0"/>
                  </a:lnTo>
                  <a:lnTo>
                    <a:pt x="67103" y="309"/>
                  </a:lnTo>
                  <a:lnTo>
                    <a:pt x="29336" y="14097"/>
                  </a:lnTo>
                  <a:lnTo>
                    <a:pt x="4571" y="51816"/>
                  </a:lnTo>
                  <a:lnTo>
                    <a:pt x="0" y="86868"/>
                  </a:lnTo>
                  <a:lnTo>
                    <a:pt x="285" y="95988"/>
                  </a:lnTo>
                  <a:lnTo>
                    <a:pt x="10286" y="135445"/>
                  </a:lnTo>
                  <a:lnTo>
                    <a:pt x="41147" y="164592"/>
                  </a:lnTo>
                  <a:lnTo>
                    <a:pt x="73151" y="170688"/>
                  </a:lnTo>
                  <a:lnTo>
                    <a:pt x="82248" y="170140"/>
                  </a:lnTo>
                  <a:lnTo>
                    <a:pt x="91058" y="168592"/>
                  </a:lnTo>
                  <a:lnTo>
                    <a:pt x="99298" y="166187"/>
                  </a:lnTo>
                  <a:lnTo>
                    <a:pt x="106679" y="163068"/>
                  </a:lnTo>
                  <a:lnTo>
                    <a:pt x="113490" y="160210"/>
                  </a:lnTo>
                  <a:lnTo>
                    <a:pt x="142208" y="125063"/>
                  </a:lnTo>
                  <a:lnTo>
                    <a:pt x="144779" y="117348"/>
                  </a:lnTo>
                  <a:lnTo>
                    <a:pt x="147661" y="109323"/>
                  </a:lnTo>
                  <a:lnTo>
                    <a:pt x="149542" y="101155"/>
                  </a:lnTo>
                  <a:lnTo>
                    <a:pt x="150566" y="92702"/>
                  </a:lnTo>
                  <a:lnTo>
                    <a:pt x="150875" y="83820"/>
                  </a:lnTo>
                  <a:lnTo>
                    <a:pt x="150590" y="73842"/>
                  </a:lnTo>
                  <a:lnTo>
                    <a:pt x="149732" y="64579"/>
                  </a:lnTo>
                  <a:lnTo>
                    <a:pt x="148304" y="56173"/>
                  </a:lnTo>
                  <a:lnTo>
                    <a:pt x="146303" y="48768"/>
                  </a:lnTo>
                  <a:close/>
                </a:path>
              </a:pathLst>
            </a:custGeom>
            <a:ln w="10668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4141"/>
            </a:p>
          </p:txBody>
        </p:sp>
        <p:sp>
          <p:nvSpPr>
            <p:cNvPr id="23" name="object 23"/>
            <p:cNvSpPr/>
            <p:nvPr/>
          </p:nvSpPr>
          <p:spPr>
            <a:xfrm>
              <a:off x="4575047" y="3319272"/>
              <a:ext cx="108585" cy="134620"/>
            </a:xfrm>
            <a:custGeom>
              <a:avLst/>
              <a:gdLst/>
              <a:ahLst/>
              <a:cxnLst/>
              <a:rect l="l" t="t" r="r" b="b"/>
              <a:pathLst>
                <a:path w="108585" h="134620">
                  <a:moveTo>
                    <a:pt x="105155" y="92964"/>
                  </a:moveTo>
                  <a:lnTo>
                    <a:pt x="77723" y="128016"/>
                  </a:lnTo>
                  <a:lnTo>
                    <a:pt x="71627" y="132588"/>
                  </a:lnTo>
                  <a:lnTo>
                    <a:pt x="62483" y="134112"/>
                  </a:lnTo>
                  <a:lnTo>
                    <a:pt x="53339" y="134112"/>
                  </a:lnTo>
                  <a:lnTo>
                    <a:pt x="15239" y="120396"/>
                  </a:lnTo>
                  <a:lnTo>
                    <a:pt x="10667" y="112776"/>
                  </a:lnTo>
                  <a:lnTo>
                    <a:pt x="6095" y="106680"/>
                  </a:lnTo>
                  <a:lnTo>
                    <a:pt x="4571" y="100584"/>
                  </a:lnTo>
                  <a:lnTo>
                    <a:pt x="1523" y="91440"/>
                  </a:lnTo>
                  <a:lnTo>
                    <a:pt x="642" y="85463"/>
                  </a:lnTo>
                  <a:lnTo>
                    <a:pt x="190" y="79057"/>
                  </a:lnTo>
                  <a:lnTo>
                    <a:pt x="23" y="72366"/>
                  </a:lnTo>
                  <a:lnTo>
                    <a:pt x="0" y="65532"/>
                  </a:lnTo>
                  <a:lnTo>
                    <a:pt x="47" y="58697"/>
                  </a:lnTo>
                  <a:lnTo>
                    <a:pt x="380" y="52006"/>
                  </a:lnTo>
                  <a:lnTo>
                    <a:pt x="1285" y="45600"/>
                  </a:lnTo>
                  <a:lnTo>
                    <a:pt x="3047" y="39624"/>
                  </a:lnTo>
                  <a:lnTo>
                    <a:pt x="4571" y="32004"/>
                  </a:lnTo>
                  <a:lnTo>
                    <a:pt x="36575" y="1524"/>
                  </a:lnTo>
                  <a:lnTo>
                    <a:pt x="44195" y="0"/>
                  </a:lnTo>
                  <a:lnTo>
                    <a:pt x="53339" y="0"/>
                  </a:lnTo>
                  <a:lnTo>
                    <a:pt x="91439" y="13716"/>
                  </a:lnTo>
                  <a:lnTo>
                    <a:pt x="107251" y="53530"/>
                  </a:lnTo>
                  <a:lnTo>
                    <a:pt x="108203" y="67056"/>
                  </a:lnTo>
                  <a:lnTo>
                    <a:pt x="107942" y="73890"/>
                  </a:lnTo>
                  <a:lnTo>
                    <a:pt x="107251" y="80581"/>
                  </a:lnTo>
                  <a:lnTo>
                    <a:pt x="106275" y="86987"/>
                  </a:lnTo>
                  <a:lnTo>
                    <a:pt x="105155" y="92964"/>
                  </a:lnTo>
                  <a:close/>
                </a:path>
              </a:pathLst>
            </a:custGeom>
            <a:ln w="10668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4141"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11021738" y="865592"/>
            <a:ext cx="1041632" cy="593132"/>
            <a:chOff x="4790694" y="3219450"/>
            <a:chExt cx="452755" cy="257810"/>
          </a:xfrm>
        </p:grpSpPr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790694" y="3254501"/>
              <a:ext cx="108204" cy="222503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4930139" y="3224783"/>
              <a:ext cx="128270" cy="245745"/>
            </a:xfrm>
            <a:custGeom>
              <a:avLst/>
              <a:gdLst/>
              <a:ahLst/>
              <a:cxnLst/>
              <a:rect l="l" t="t" r="r" b="b"/>
              <a:pathLst>
                <a:path w="128270" h="245745">
                  <a:moveTo>
                    <a:pt x="128015" y="144779"/>
                  </a:moveTo>
                  <a:lnTo>
                    <a:pt x="127968" y="136183"/>
                  </a:lnTo>
                  <a:lnTo>
                    <a:pt x="127634" y="128587"/>
                  </a:lnTo>
                  <a:lnTo>
                    <a:pt x="126730" y="121848"/>
                  </a:lnTo>
                  <a:lnTo>
                    <a:pt x="124967" y="115823"/>
                  </a:lnTo>
                  <a:lnTo>
                    <a:pt x="123443" y="108203"/>
                  </a:lnTo>
                  <a:lnTo>
                    <a:pt x="120395" y="100583"/>
                  </a:lnTo>
                  <a:lnTo>
                    <a:pt x="115823" y="94487"/>
                  </a:lnTo>
                  <a:lnTo>
                    <a:pt x="111251" y="88391"/>
                  </a:lnTo>
                  <a:lnTo>
                    <a:pt x="73151" y="76199"/>
                  </a:lnTo>
                  <a:lnTo>
                    <a:pt x="66532" y="76509"/>
                  </a:lnTo>
                  <a:lnTo>
                    <a:pt x="27955" y="97083"/>
                  </a:lnTo>
                  <a:lnTo>
                    <a:pt x="21335" y="103631"/>
                  </a:lnTo>
                  <a:lnTo>
                    <a:pt x="21335" y="4571"/>
                  </a:lnTo>
                  <a:lnTo>
                    <a:pt x="21335" y="3047"/>
                  </a:lnTo>
                  <a:lnTo>
                    <a:pt x="21335" y="1523"/>
                  </a:lnTo>
                  <a:lnTo>
                    <a:pt x="19811" y="1523"/>
                  </a:lnTo>
                  <a:lnTo>
                    <a:pt x="19811" y="0"/>
                  </a:lnTo>
                  <a:lnTo>
                    <a:pt x="18287" y="0"/>
                  </a:lnTo>
                  <a:lnTo>
                    <a:pt x="16763" y="0"/>
                  </a:lnTo>
                  <a:lnTo>
                    <a:pt x="15239" y="0"/>
                  </a:lnTo>
                  <a:lnTo>
                    <a:pt x="13715" y="0"/>
                  </a:lnTo>
                  <a:lnTo>
                    <a:pt x="10667" y="0"/>
                  </a:lnTo>
                  <a:lnTo>
                    <a:pt x="9143" y="0"/>
                  </a:lnTo>
                  <a:lnTo>
                    <a:pt x="7619" y="0"/>
                  </a:lnTo>
                  <a:lnTo>
                    <a:pt x="6095" y="0"/>
                  </a:lnTo>
                  <a:lnTo>
                    <a:pt x="4571" y="0"/>
                  </a:lnTo>
                  <a:lnTo>
                    <a:pt x="3047" y="0"/>
                  </a:lnTo>
                  <a:lnTo>
                    <a:pt x="1523" y="1523"/>
                  </a:lnTo>
                  <a:lnTo>
                    <a:pt x="0" y="3047"/>
                  </a:lnTo>
                  <a:lnTo>
                    <a:pt x="0" y="4571"/>
                  </a:lnTo>
                  <a:lnTo>
                    <a:pt x="0" y="240791"/>
                  </a:lnTo>
                  <a:lnTo>
                    <a:pt x="0" y="242315"/>
                  </a:lnTo>
                  <a:lnTo>
                    <a:pt x="1523" y="242315"/>
                  </a:lnTo>
                  <a:lnTo>
                    <a:pt x="1523" y="243839"/>
                  </a:lnTo>
                  <a:lnTo>
                    <a:pt x="3047" y="243839"/>
                  </a:lnTo>
                  <a:lnTo>
                    <a:pt x="4571" y="243839"/>
                  </a:lnTo>
                  <a:lnTo>
                    <a:pt x="6095" y="243839"/>
                  </a:lnTo>
                  <a:lnTo>
                    <a:pt x="7619" y="245363"/>
                  </a:lnTo>
                  <a:lnTo>
                    <a:pt x="9143" y="245363"/>
                  </a:lnTo>
                  <a:lnTo>
                    <a:pt x="10667" y="245363"/>
                  </a:lnTo>
                  <a:lnTo>
                    <a:pt x="13715" y="245363"/>
                  </a:lnTo>
                  <a:lnTo>
                    <a:pt x="15239" y="245363"/>
                  </a:lnTo>
                  <a:lnTo>
                    <a:pt x="16763" y="243839"/>
                  </a:lnTo>
                  <a:lnTo>
                    <a:pt x="18287" y="243839"/>
                  </a:lnTo>
                  <a:lnTo>
                    <a:pt x="19811" y="243839"/>
                  </a:lnTo>
                  <a:lnTo>
                    <a:pt x="21335" y="242315"/>
                  </a:lnTo>
                  <a:lnTo>
                    <a:pt x="21335" y="240791"/>
                  </a:lnTo>
                  <a:lnTo>
                    <a:pt x="21335" y="128015"/>
                  </a:lnTo>
                  <a:lnTo>
                    <a:pt x="27955" y="119681"/>
                  </a:lnTo>
                  <a:lnTo>
                    <a:pt x="62483" y="94487"/>
                  </a:lnTo>
                  <a:lnTo>
                    <a:pt x="70103" y="94487"/>
                  </a:lnTo>
                  <a:lnTo>
                    <a:pt x="76199" y="94487"/>
                  </a:lnTo>
                  <a:lnTo>
                    <a:pt x="82295" y="94487"/>
                  </a:lnTo>
                  <a:lnTo>
                    <a:pt x="86867" y="97535"/>
                  </a:lnTo>
                  <a:lnTo>
                    <a:pt x="91439" y="100583"/>
                  </a:lnTo>
                  <a:lnTo>
                    <a:pt x="94487" y="103631"/>
                  </a:lnTo>
                  <a:lnTo>
                    <a:pt x="97535" y="108203"/>
                  </a:lnTo>
                  <a:lnTo>
                    <a:pt x="100583" y="111251"/>
                  </a:lnTo>
                  <a:lnTo>
                    <a:pt x="103631" y="117347"/>
                  </a:lnTo>
                  <a:lnTo>
                    <a:pt x="105155" y="123443"/>
                  </a:lnTo>
                  <a:lnTo>
                    <a:pt x="106679" y="129539"/>
                  </a:lnTo>
                  <a:lnTo>
                    <a:pt x="106679" y="240791"/>
                  </a:lnTo>
                  <a:lnTo>
                    <a:pt x="106679" y="242315"/>
                  </a:lnTo>
                  <a:lnTo>
                    <a:pt x="108203" y="242315"/>
                  </a:lnTo>
                  <a:lnTo>
                    <a:pt x="108203" y="243839"/>
                  </a:lnTo>
                  <a:lnTo>
                    <a:pt x="109727" y="243839"/>
                  </a:lnTo>
                  <a:lnTo>
                    <a:pt x="111251" y="243839"/>
                  </a:lnTo>
                  <a:lnTo>
                    <a:pt x="112775" y="243839"/>
                  </a:lnTo>
                  <a:lnTo>
                    <a:pt x="114299" y="245363"/>
                  </a:lnTo>
                  <a:lnTo>
                    <a:pt x="115823" y="245363"/>
                  </a:lnTo>
                  <a:lnTo>
                    <a:pt x="117347" y="245363"/>
                  </a:lnTo>
                  <a:lnTo>
                    <a:pt x="120395" y="245363"/>
                  </a:lnTo>
                  <a:lnTo>
                    <a:pt x="121919" y="245363"/>
                  </a:lnTo>
                  <a:lnTo>
                    <a:pt x="123443" y="243839"/>
                  </a:lnTo>
                  <a:lnTo>
                    <a:pt x="124967" y="243839"/>
                  </a:lnTo>
                  <a:lnTo>
                    <a:pt x="126491" y="243839"/>
                  </a:lnTo>
                  <a:lnTo>
                    <a:pt x="128015" y="242315"/>
                  </a:lnTo>
                  <a:lnTo>
                    <a:pt x="128015" y="240791"/>
                  </a:lnTo>
                  <a:lnTo>
                    <a:pt x="128015" y="144779"/>
                  </a:lnTo>
                  <a:close/>
                </a:path>
              </a:pathLst>
            </a:custGeom>
            <a:ln w="10668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4141"/>
            </a:p>
          </p:txBody>
        </p:sp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092445" y="3295649"/>
              <a:ext cx="150876" cy="181355"/>
            </a:xfrm>
            <a:prstGeom prst="rect">
              <a:avLst/>
            </a:prstGeom>
          </p:spPr>
        </p:pic>
      </p:grpSp>
      <p:grpSp>
        <p:nvGrpSpPr>
          <p:cNvPr id="28" name="object 28"/>
          <p:cNvGrpSpPr/>
          <p:nvPr/>
        </p:nvGrpSpPr>
        <p:grpSpPr>
          <a:xfrm>
            <a:off x="12248896" y="865592"/>
            <a:ext cx="2857550" cy="733379"/>
            <a:chOff x="5324094" y="3219450"/>
            <a:chExt cx="1242060" cy="318770"/>
          </a:xfrm>
        </p:grpSpPr>
        <p:sp>
          <p:nvSpPr>
            <p:cNvPr id="29" name="object 29"/>
            <p:cNvSpPr/>
            <p:nvPr/>
          </p:nvSpPr>
          <p:spPr>
            <a:xfrm>
              <a:off x="5329428" y="3224783"/>
              <a:ext cx="104139" cy="245745"/>
            </a:xfrm>
            <a:custGeom>
              <a:avLst/>
              <a:gdLst/>
              <a:ahLst/>
              <a:cxnLst/>
              <a:rect l="l" t="t" r="r" b="b"/>
              <a:pathLst>
                <a:path w="104139" h="245745">
                  <a:moveTo>
                    <a:pt x="103632" y="10668"/>
                  </a:moveTo>
                  <a:lnTo>
                    <a:pt x="103632" y="9144"/>
                  </a:lnTo>
                  <a:lnTo>
                    <a:pt x="102108" y="7620"/>
                  </a:lnTo>
                  <a:lnTo>
                    <a:pt x="102108" y="6096"/>
                  </a:lnTo>
                  <a:lnTo>
                    <a:pt x="100584" y="6096"/>
                  </a:lnTo>
                  <a:lnTo>
                    <a:pt x="100584" y="4572"/>
                  </a:lnTo>
                  <a:lnTo>
                    <a:pt x="99060" y="4572"/>
                  </a:lnTo>
                  <a:lnTo>
                    <a:pt x="97536" y="3048"/>
                  </a:lnTo>
                  <a:lnTo>
                    <a:pt x="96012" y="1524"/>
                  </a:lnTo>
                  <a:lnTo>
                    <a:pt x="92964" y="1524"/>
                  </a:lnTo>
                  <a:lnTo>
                    <a:pt x="88392" y="0"/>
                  </a:lnTo>
                  <a:lnTo>
                    <a:pt x="62484" y="0"/>
                  </a:lnTo>
                  <a:lnTo>
                    <a:pt x="56388" y="3048"/>
                  </a:lnTo>
                  <a:lnTo>
                    <a:pt x="50292" y="4572"/>
                  </a:lnTo>
                  <a:lnTo>
                    <a:pt x="45720" y="7620"/>
                  </a:lnTo>
                  <a:lnTo>
                    <a:pt x="41148" y="13716"/>
                  </a:lnTo>
                  <a:lnTo>
                    <a:pt x="36576" y="18288"/>
                  </a:lnTo>
                  <a:lnTo>
                    <a:pt x="28956" y="59436"/>
                  </a:lnTo>
                  <a:lnTo>
                    <a:pt x="28956" y="77724"/>
                  </a:lnTo>
                  <a:lnTo>
                    <a:pt x="4572" y="77724"/>
                  </a:lnTo>
                  <a:lnTo>
                    <a:pt x="3048" y="77724"/>
                  </a:lnTo>
                  <a:lnTo>
                    <a:pt x="1524" y="79248"/>
                  </a:lnTo>
                  <a:lnTo>
                    <a:pt x="1524" y="80772"/>
                  </a:lnTo>
                  <a:lnTo>
                    <a:pt x="0" y="80772"/>
                  </a:lnTo>
                  <a:lnTo>
                    <a:pt x="0" y="91440"/>
                  </a:lnTo>
                  <a:lnTo>
                    <a:pt x="1524" y="92964"/>
                  </a:lnTo>
                  <a:lnTo>
                    <a:pt x="3048" y="94488"/>
                  </a:lnTo>
                  <a:lnTo>
                    <a:pt x="3048" y="96012"/>
                  </a:lnTo>
                  <a:lnTo>
                    <a:pt x="4572" y="96012"/>
                  </a:lnTo>
                  <a:lnTo>
                    <a:pt x="28956" y="96012"/>
                  </a:lnTo>
                  <a:lnTo>
                    <a:pt x="28956" y="240792"/>
                  </a:lnTo>
                  <a:lnTo>
                    <a:pt x="28956" y="242316"/>
                  </a:lnTo>
                  <a:lnTo>
                    <a:pt x="30480" y="242316"/>
                  </a:lnTo>
                  <a:lnTo>
                    <a:pt x="30480" y="243840"/>
                  </a:lnTo>
                  <a:lnTo>
                    <a:pt x="32004" y="243840"/>
                  </a:lnTo>
                  <a:lnTo>
                    <a:pt x="33528" y="243840"/>
                  </a:lnTo>
                  <a:lnTo>
                    <a:pt x="35052" y="243840"/>
                  </a:lnTo>
                  <a:lnTo>
                    <a:pt x="36576" y="245363"/>
                  </a:lnTo>
                  <a:lnTo>
                    <a:pt x="38100" y="245363"/>
                  </a:lnTo>
                  <a:lnTo>
                    <a:pt x="39624" y="245363"/>
                  </a:lnTo>
                  <a:lnTo>
                    <a:pt x="41148" y="245363"/>
                  </a:lnTo>
                  <a:lnTo>
                    <a:pt x="42672" y="245363"/>
                  </a:lnTo>
                  <a:lnTo>
                    <a:pt x="44196" y="243840"/>
                  </a:lnTo>
                  <a:lnTo>
                    <a:pt x="45720" y="243840"/>
                  </a:lnTo>
                  <a:lnTo>
                    <a:pt x="47244" y="243840"/>
                  </a:lnTo>
                  <a:lnTo>
                    <a:pt x="48768" y="243840"/>
                  </a:lnTo>
                  <a:lnTo>
                    <a:pt x="48768" y="242316"/>
                  </a:lnTo>
                  <a:lnTo>
                    <a:pt x="50292" y="242316"/>
                  </a:lnTo>
                  <a:lnTo>
                    <a:pt x="50292" y="240792"/>
                  </a:lnTo>
                  <a:lnTo>
                    <a:pt x="50292" y="96012"/>
                  </a:lnTo>
                  <a:lnTo>
                    <a:pt x="89916" y="96012"/>
                  </a:lnTo>
                  <a:lnTo>
                    <a:pt x="91440" y="96012"/>
                  </a:lnTo>
                  <a:lnTo>
                    <a:pt x="92964" y="94488"/>
                  </a:lnTo>
                  <a:lnTo>
                    <a:pt x="92964" y="92964"/>
                  </a:lnTo>
                  <a:lnTo>
                    <a:pt x="94488" y="91440"/>
                  </a:lnTo>
                  <a:lnTo>
                    <a:pt x="94488" y="80772"/>
                  </a:lnTo>
                  <a:lnTo>
                    <a:pt x="92964" y="80772"/>
                  </a:lnTo>
                  <a:lnTo>
                    <a:pt x="92964" y="79248"/>
                  </a:lnTo>
                  <a:lnTo>
                    <a:pt x="91440" y="77724"/>
                  </a:lnTo>
                  <a:lnTo>
                    <a:pt x="89916" y="77724"/>
                  </a:lnTo>
                  <a:lnTo>
                    <a:pt x="50292" y="77724"/>
                  </a:lnTo>
                  <a:lnTo>
                    <a:pt x="50292" y="59436"/>
                  </a:lnTo>
                  <a:lnTo>
                    <a:pt x="50292" y="51816"/>
                  </a:lnTo>
                  <a:lnTo>
                    <a:pt x="50292" y="45720"/>
                  </a:lnTo>
                  <a:lnTo>
                    <a:pt x="51816" y="39624"/>
                  </a:lnTo>
                  <a:lnTo>
                    <a:pt x="51816" y="35052"/>
                  </a:lnTo>
                  <a:lnTo>
                    <a:pt x="53340" y="30480"/>
                  </a:lnTo>
                  <a:lnTo>
                    <a:pt x="56388" y="27432"/>
                  </a:lnTo>
                  <a:lnTo>
                    <a:pt x="57912" y="24384"/>
                  </a:lnTo>
                  <a:lnTo>
                    <a:pt x="60960" y="21336"/>
                  </a:lnTo>
                  <a:lnTo>
                    <a:pt x="64008" y="19812"/>
                  </a:lnTo>
                  <a:lnTo>
                    <a:pt x="67056" y="18288"/>
                  </a:lnTo>
                  <a:lnTo>
                    <a:pt x="71628" y="18288"/>
                  </a:lnTo>
                  <a:lnTo>
                    <a:pt x="76200" y="18288"/>
                  </a:lnTo>
                  <a:lnTo>
                    <a:pt x="79248" y="18288"/>
                  </a:lnTo>
                  <a:lnTo>
                    <a:pt x="82296" y="18288"/>
                  </a:lnTo>
                  <a:lnTo>
                    <a:pt x="85344" y="18288"/>
                  </a:lnTo>
                  <a:lnTo>
                    <a:pt x="88392" y="19812"/>
                  </a:lnTo>
                  <a:lnTo>
                    <a:pt x="89916" y="19812"/>
                  </a:lnTo>
                  <a:lnTo>
                    <a:pt x="92964" y="19812"/>
                  </a:lnTo>
                  <a:lnTo>
                    <a:pt x="94488" y="21336"/>
                  </a:lnTo>
                  <a:lnTo>
                    <a:pt x="96012" y="21336"/>
                  </a:lnTo>
                  <a:lnTo>
                    <a:pt x="97536" y="22860"/>
                  </a:lnTo>
                  <a:lnTo>
                    <a:pt x="99060" y="22860"/>
                  </a:lnTo>
                  <a:lnTo>
                    <a:pt x="100584" y="22860"/>
                  </a:lnTo>
                  <a:lnTo>
                    <a:pt x="102108" y="22860"/>
                  </a:lnTo>
                  <a:lnTo>
                    <a:pt x="102108" y="21336"/>
                  </a:lnTo>
                  <a:lnTo>
                    <a:pt x="103632" y="21336"/>
                  </a:lnTo>
                  <a:lnTo>
                    <a:pt x="103632" y="12192"/>
                  </a:lnTo>
                  <a:lnTo>
                    <a:pt x="103632" y="10668"/>
                  </a:lnTo>
                  <a:close/>
                </a:path>
              </a:pathLst>
            </a:custGeom>
            <a:ln w="10668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4141"/>
            </a:p>
          </p:txBody>
        </p:sp>
        <p:pic>
          <p:nvPicPr>
            <p:cNvPr id="30" name="object 3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426201" y="3295650"/>
              <a:ext cx="161544" cy="181355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5623560" y="3224784"/>
              <a:ext cx="21590" cy="245745"/>
            </a:xfrm>
            <a:custGeom>
              <a:avLst/>
              <a:gdLst/>
              <a:ahLst/>
              <a:cxnLst/>
              <a:rect l="l" t="t" r="r" b="b"/>
              <a:pathLst>
                <a:path w="21589" h="245745">
                  <a:moveTo>
                    <a:pt x="21336" y="4572"/>
                  </a:moveTo>
                  <a:lnTo>
                    <a:pt x="21336" y="3048"/>
                  </a:lnTo>
                  <a:lnTo>
                    <a:pt x="19812" y="3048"/>
                  </a:lnTo>
                  <a:lnTo>
                    <a:pt x="19812" y="1524"/>
                  </a:lnTo>
                  <a:lnTo>
                    <a:pt x="18288" y="0"/>
                  </a:lnTo>
                  <a:lnTo>
                    <a:pt x="16764" y="0"/>
                  </a:lnTo>
                  <a:lnTo>
                    <a:pt x="15240" y="0"/>
                  </a:lnTo>
                  <a:lnTo>
                    <a:pt x="13716" y="0"/>
                  </a:lnTo>
                  <a:lnTo>
                    <a:pt x="12192" y="0"/>
                  </a:lnTo>
                  <a:lnTo>
                    <a:pt x="10668" y="0"/>
                  </a:lnTo>
                  <a:lnTo>
                    <a:pt x="7620" y="0"/>
                  </a:lnTo>
                  <a:lnTo>
                    <a:pt x="6096" y="0"/>
                  </a:lnTo>
                  <a:lnTo>
                    <a:pt x="4572" y="0"/>
                  </a:lnTo>
                  <a:lnTo>
                    <a:pt x="3048" y="0"/>
                  </a:lnTo>
                  <a:lnTo>
                    <a:pt x="1524" y="0"/>
                  </a:lnTo>
                  <a:lnTo>
                    <a:pt x="0" y="1524"/>
                  </a:lnTo>
                  <a:lnTo>
                    <a:pt x="0" y="1524"/>
                  </a:lnTo>
                  <a:lnTo>
                    <a:pt x="0" y="3048"/>
                  </a:lnTo>
                  <a:lnTo>
                    <a:pt x="0" y="240791"/>
                  </a:lnTo>
                  <a:lnTo>
                    <a:pt x="0" y="242315"/>
                  </a:lnTo>
                  <a:lnTo>
                    <a:pt x="0" y="243840"/>
                  </a:lnTo>
                  <a:lnTo>
                    <a:pt x="1524" y="243840"/>
                  </a:lnTo>
                  <a:lnTo>
                    <a:pt x="3048" y="243840"/>
                  </a:lnTo>
                  <a:lnTo>
                    <a:pt x="4572" y="243840"/>
                  </a:lnTo>
                  <a:lnTo>
                    <a:pt x="6096" y="245364"/>
                  </a:lnTo>
                  <a:lnTo>
                    <a:pt x="7620" y="245364"/>
                  </a:lnTo>
                  <a:lnTo>
                    <a:pt x="10668" y="245364"/>
                  </a:lnTo>
                  <a:lnTo>
                    <a:pt x="12192" y="245364"/>
                  </a:lnTo>
                  <a:lnTo>
                    <a:pt x="13716" y="245364"/>
                  </a:lnTo>
                  <a:lnTo>
                    <a:pt x="15240" y="243840"/>
                  </a:lnTo>
                  <a:lnTo>
                    <a:pt x="16764" y="243840"/>
                  </a:lnTo>
                  <a:lnTo>
                    <a:pt x="18288" y="243840"/>
                  </a:lnTo>
                  <a:lnTo>
                    <a:pt x="19812" y="243840"/>
                  </a:lnTo>
                  <a:lnTo>
                    <a:pt x="19812" y="242315"/>
                  </a:lnTo>
                  <a:lnTo>
                    <a:pt x="21336" y="240791"/>
                  </a:lnTo>
                  <a:lnTo>
                    <a:pt x="21336" y="4572"/>
                  </a:lnTo>
                  <a:close/>
                </a:path>
              </a:pathLst>
            </a:custGeom>
            <a:ln w="10668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4141"/>
            </a:p>
          </p:txBody>
        </p:sp>
        <p:pic>
          <p:nvPicPr>
            <p:cNvPr id="32" name="object 3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689853" y="3219450"/>
              <a:ext cx="876300" cy="318515"/>
            </a:xfrm>
            <a:prstGeom prst="rect">
              <a:avLst/>
            </a:prstGeom>
          </p:spPr>
        </p:pic>
      </p:grpSp>
      <p:pic>
        <p:nvPicPr>
          <p:cNvPr id="33" name="object 3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796936" y="1875374"/>
            <a:ext cx="2552508" cy="417237"/>
          </a:xfrm>
          <a:prstGeom prst="rect">
            <a:avLst/>
          </a:prstGeom>
        </p:spPr>
      </p:pic>
      <p:sp>
        <p:nvSpPr>
          <p:cNvPr id="34" name="object 34"/>
          <p:cNvSpPr txBox="1">
            <a:spLocks noGrp="1"/>
          </p:cNvSpPr>
          <p:nvPr>
            <p:ph type="title"/>
          </p:nvPr>
        </p:nvSpPr>
        <p:spPr>
          <a:xfrm>
            <a:off x="1713440" y="597299"/>
            <a:ext cx="13437496" cy="1882170"/>
          </a:xfrm>
          <a:prstGeom prst="rect">
            <a:avLst/>
          </a:prstGeom>
        </p:spPr>
        <p:txBody>
          <a:bodyPr vert="horz" wrap="square" lIns="0" tIns="181153" rIns="0" bIns="0" rtlCol="0" anchor="ctr">
            <a:spAutoFit/>
          </a:bodyPr>
          <a:lstStyle/>
          <a:p>
            <a:pPr marL="29221" marR="11690">
              <a:lnSpc>
                <a:spcPts val="6580"/>
              </a:lnSpc>
              <a:spcBef>
                <a:spcPts val="1426"/>
              </a:spcBef>
            </a:pPr>
            <a:r>
              <a:rPr sz="6442" spc="-219" dirty="0">
                <a:solidFill>
                  <a:srgbClr val="BF0000"/>
                </a:solidFill>
              </a:rPr>
              <a:t>M</a:t>
            </a:r>
            <a:r>
              <a:rPr sz="6442" spc="-161" dirty="0">
                <a:solidFill>
                  <a:srgbClr val="BF0000"/>
                </a:solidFill>
              </a:rPr>
              <a:t>an</a:t>
            </a:r>
            <a:r>
              <a:rPr sz="6442" spc="-196" dirty="0">
                <a:solidFill>
                  <a:srgbClr val="BF0000"/>
                </a:solidFill>
              </a:rPr>
              <a:t>a</a:t>
            </a:r>
            <a:r>
              <a:rPr sz="6442" spc="-173" dirty="0">
                <a:solidFill>
                  <a:srgbClr val="BF0000"/>
                </a:solidFill>
              </a:rPr>
              <a:t>g</a:t>
            </a:r>
            <a:r>
              <a:rPr sz="6442" spc="-150" dirty="0">
                <a:solidFill>
                  <a:srgbClr val="BF0000"/>
                </a:solidFill>
              </a:rPr>
              <a:t>e</a:t>
            </a:r>
            <a:r>
              <a:rPr sz="6442" spc="-219" dirty="0">
                <a:solidFill>
                  <a:srgbClr val="BF0000"/>
                </a:solidFill>
              </a:rPr>
              <a:t>m</a:t>
            </a:r>
            <a:r>
              <a:rPr sz="6442" spc="-150" dirty="0">
                <a:solidFill>
                  <a:srgbClr val="BF0000"/>
                </a:solidFill>
              </a:rPr>
              <a:t>e</a:t>
            </a:r>
            <a:r>
              <a:rPr sz="6442" spc="-276" dirty="0">
                <a:solidFill>
                  <a:srgbClr val="BF0000"/>
                </a:solidFill>
              </a:rPr>
              <a:t>n</a:t>
            </a:r>
            <a:r>
              <a:rPr sz="6442" spc="-46" dirty="0">
                <a:solidFill>
                  <a:srgbClr val="BF0000"/>
                </a:solidFill>
              </a:rPr>
              <a:t>t</a:t>
            </a:r>
            <a:r>
              <a:rPr sz="6442" spc="-207" dirty="0">
                <a:solidFill>
                  <a:srgbClr val="BF0000"/>
                </a:solidFill>
              </a:rPr>
              <a:t> </a:t>
            </a:r>
            <a:r>
              <a:rPr sz="6442" spc="-196" dirty="0">
                <a:solidFill>
                  <a:srgbClr val="BF0000"/>
                </a:solidFill>
              </a:rPr>
              <a:t>i</a:t>
            </a:r>
            <a:r>
              <a:rPr sz="6442" spc="-23" dirty="0">
                <a:solidFill>
                  <a:srgbClr val="BF0000"/>
                </a:solidFill>
              </a:rPr>
              <a:t>s</a:t>
            </a:r>
            <a:r>
              <a:rPr sz="6442" spc="-207" dirty="0">
                <a:solidFill>
                  <a:srgbClr val="BF0000"/>
                </a:solidFill>
              </a:rPr>
              <a:t> </a:t>
            </a:r>
            <a:r>
              <a:rPr sz="6442" spc="-230" dirty="0">
                <a:solidFill>
                  <a:srgbClr val="BF0000"/>
                </a:solidFill>
              </a:rPr>
              <a:t>a</a:t>
            </a:r>
            <a:r>
              <a:rPr sz="6442" spc="-35" dirty="0">
                <a:solidFill>
                  <a:srgbClr val="BF0000"/>
                </a:solidFill>
              </a:rPr>
              <a:t>n</a:t>
            </a:r>
            <a:r>
              <a:rPr sz="6442" spc="-262" dirty="0">
                <a:solidFill>
                  <a:srgbClr val="BF0000"/>
                </a:solidFill>
              </a:rPr>
              <a:t> </a:t>
            </a:r>
            <a:r>
              <a:rPr sz="6442" spc="-161" dirty="0">
                <a:solidFill>
                  <a:srgbClr val="BF0000"/>
                </a:solidFill>
              </a:rPr>
              <a:t>a</a:t>
            </a:r>
            <a:r>
              <a:rPr sz="6442" spc="-127" dirty="0">
                <a:solidFill>
                  <a:srgbClr val="BF0000"/>
                </a:solidFill>
              </a:rPr>
              <a:t>r</a:t>
            </a:r>
            <a:r>
              <a:rPr sz="6442" spc="-46" dirty="0">
                <a:solidFill>
                  <a:srgbClr val="BF0000"/>
                </a:solidFill>
              </a:rPr>
              <a:t>t</a:t>
            </a:r>
            <a:r>
              <a:rPr sz="6442" spc="-207" dirty="0">
                <a:solidFill>
                  <a:srgbClr val="BF0000"/>
                </a:solidFill>
              </a:rPr>
              <a:t> </a:t>
            </a:r>
            <a:r>
              <a:rPr sz="6442" spc="-173" dirty="0">
                <a:solidFill>
                  <a:srgbClr val="BF0000"/>
                </a:solidFill>
              </a:rPr>
              <a:t>d</a:t>
            </a:r>
            <a:r>
              <a:rPr sz="6442" spc="-161" dirty="0">
                <a:solidFill>
                  <a:srgbClr val="BF0000"/>
                </a:solidFill>
              </a:rPr>
              <a:t>u</a:t>
            </a:r>
            <a:r>
              <a:rPr sz="6442" spc="-23" dirty="0">
                <a:solidFill>
                  <a:srgbClr val="BF0000"/>
                </a:solidFill>
              </a:rPr>
              <a:t>e</a:t>
            </a:r>
            <a:r>
              <a:rPr sz="6442" spc="-299" dirty="0">
                <a:solidFill>
                  <a:srgbClr val="BF0000"/>
                </a:solidFill>
              </a:rPr>
              <a:t> </a:t>
            </a:r>
            <a:r>
              <a:rPr sz="6442" spc="-207" dirty="0">
                <a:solidFill>
                  <a:srgbClr val="BF0000"/>
                </a:solidFill>
              </a:rPr>
              <a:t>t</a:t>
            </a:r>
            <a:r>
              <a:rPr sz="6442" spc="-35" dirty="0">
                <a:solidFill>
                  <a:srgbClr val="BF0000"/>
                </a:solidFill>
              </a:rPr>
              <a:t>o</a:t>
            </a:r>
            <a:r>
              <a:rPr sz="6442" spc="-219" dirty="0">
                <a:solidFill>
                  <a:srgbClr val="BF0000"/>
                </a:solidFill>
              </a:rPr>
              <a:t> </a:t>
            </a:r>
            <a:r>
              <a:rPr sz="6442" spc="-196" dirty="0">
                <a:solidFill>
                  <a:srgbClr val="BF0000"/>
                </a:solidFill>
              </a:rPr>
              <a:t>t</a:t>
            </a:r>
            <a:r>
              <a:rPr sz="6442" spc="-161" dirty="0">
                <a:solidFill>
                  <a:srgbClr val="BF0000"/>
                </a:solidFill>
              </a:rPr>
              <a:t>h</a:t>
            </a:r>
            <a:r>
              <a:rPr sz="6442" spc="-23" dirty="0">
                <a:solidFill>
                  <a:srgbClr val="BF0000"/>
                </a:solidFill>
              </a:rPr>
              <a:t>e</a:t>
            </a:r>
            <a:r>
              <a:rPr sz="6442" spc="-230" dirty="0">
                <a:solidFill>
                  <a:srgbClr val="BF0000"/>
                </a:solidFill>
              </a:rPr>
              <a:t> </a:t>
            </a:r>
            <a:r>
              <a:rPr sz="6442" spc="-334" dirty="0">
                <a:solidFill>
                  <a:srgbClr val="BF0000"/>
                </a:solidFill>
              </a:rPr>
              <a:t>f</a:t>
            </a:r>
            <a:r>
              <a:rPr sz="6442" spc="-150" dirty="0">
                <a:solidFill>
                  <a:srgbClr val="BF0000"/>
                </a:solidFill>
              </a:rPr>
              <a:t>o</a:t>
            </a:r>
            <a:r>
              <a:rPr sz="6442" spc="-196" dirty="0">
                <a:solidFill>
                  <a:srgbClr val="BF0000"/>
                </a:solidFill>
              </a:rPr>
              <a:t>l</a:t>
            </a:r>
            <a:r>
              <a:rPr sz="6442" spc="-161" dirty="0">
                <a:solidFill>
                  <a:srgbClr val="BF0000"/>
                </a:solidFill>
              </a:rPr>
              <a:t>l</a:t>
            </a:r>
            <a:r>
              <a:rPr sz="6442" spc="-230" dirty="0">
                <a:solidFill>
                  <a:srgbClr val="BF0000"/>
                </a:solidFill>
              </a:rPr>
              <a:t>o</a:t>
            </a:r>
            <a:r>
              <a:rPr sz="6442" spc="-253" dirty="0">
                <a:solidFill>
                  <a:srgbClr val="BF0000"/>
                </a:solidFill>
              </a:rPr>
              <a:t>w</a:t>
            </a:r>
            <a:r>
              <a:rPr sz="6442" spc="-161" dirty="0">
                <a:solidFill>
                  <a:srgbClr val="BF0000"/>
                </a:solidFill>
              </a:rPr>
              <a:t>i</a:t>
            </a:r>
            <a:r>
              <a:rPr sz="6442" spc="-196" dirty="0">
                <a:solidFill>
                  <a:srgbClr val="BF0000"/>
                </a:solidFill>
              </a:rPr>
              <a:t>n</a:t>
            </a:r>
            <a:r>
              <a:rPr sz="6442" spc="-12" dirty="0">
                <a:solidFill>
                  <a:srgbClr val="BF0000"/>
                </a:solidFill>
              </a:rPr>
              <a:t>g  </a:t>
            </a:r>
            <a:r>
              <a:rPr sz="6442" spc="-150" dirty="0">
                <a:solidFill>
                  <a:srgbClr val="BF0000"/>
                </a:solidFill>
              </a:rPr>
              <a:t>reasons:</a:t>
            </a:r>
            <a:endParaRPr sz="6442"/>
          </a:p>
        </p:txBody>
      </p:sp>
      <p:sp>
        <p:nvSpPr>
          <p:cNvPr id="35" name="object 35"/>
          <p:cNvSpPr txBox="1"/>
          <p:nvPr/>
        </p:nvSpPr>
        <p:spPr>
          <a:xfrm>
            <a:off x="1580152" y="2450435"/>
            <a:ext cx="6686608" cy="5033369"/>
          </a:xfrm>
          <a:prstGeom prst="rect">
            <a:avLst/>
          </a:prstGeom>
        </p:spPr>
        <p:txBody>
          <a:bodyPr vert="horz" wrap="square" lIns="0" tIns="236668" rIns="0" bIns="0" rtlCol="0">
            <a:spAutoFit/>
          </a:bodyPr>
          <a:lstStyle/>
          <a:p>
            <a:pPr marL="866377" indent="-838617">
              <a:spcBef>
                <a:spcPts val="1864"/>
              </a:spcBef>
              <a:buClr>
                <a:srgbClr val="E48311"/>
              </a:buClr>
              <a:buAutoNum type="romanUcPeriod"/>
              <a:tabLst>
                <a:tab pos="866377" algn="l"/>
                <a:tab pos="867836" algn="l"/>
              </a:tabLst>
            </a:pP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Intelligence.</a:t>
            </a:r>
            <a:endParaRPr sz="4026">
              <a:latin typeface="Calibri"/>
              <a:cs typeface="Calibri"/>
            </a:endParaRPr>
          </a:p>
          <a:p>
            <a:pPr marL="866377" indent="-838617">
              <a:spcBef>
                <a:spcPts val="1657"/>
              </a:spcBef>
              <a:buClr>
                <a:srgbClr val="E48311"/>
              </a:buClr>
              <a:buAutoNum type="romanUcPeriod"/>
              <a:tabLst>
                <a:tab pos="866377" algn="l"/>
                <a:tab pos="867836" algn="l"/>
              </a:tabLst>
            </a:pP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Initiative.</a:t>
            </a:r>
            <a:endParaRPr sz="4026">
              <a:latin typeface="Calibri"/>
              <a:cs typeface="Calibri"/>
            </a:endParaRPr>
          </a:p>
          <a:p>
            <a:pPr marL="866377" indent="-838617">
              <a:spcBef>
                <a:spcPts val="1680"/>
              </a:spcBef>
              <a:buClr>
                <a:srgbClr val="E48311"/>
              </a:buClr>
              <a:buAutoNum type="romanUcPeriod"/>
              <a:tabLst>
                <a:tab pos="866377" algn="l"/>
                <a:tab pos="867836" algn="l"/>
              </a:tabLst>
            </a:pP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Innovation.</a:t>
            </a:r>
            <a:endParaRPr sz="4026">
              <a:latin typeface="Calibri"/>
              <a:cs typeface="Calibri"/>
            </a:endParaRPr>
          </a:p>
          <a:p>
            <a:pPr marL="866377" indent="-838617">
              <a:spcBef>
                <a:spcPts val="1633"/>
              </a:spcBef>
              <a:buClr>
                <a:srgbClr val="E48311"/>
              </a:buClr>
              <a:buAutoNum type="romanUcPeriod"/>
              <a:tabLst>
                <a:tab pos="867836" algn="l"/>
              </a:tabLst>
            </a:pP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Individual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approach.</a:t>
            </a:r>
            <a:endParaRPr sz="4026">
              <a:latin typeface="Calibri"/>
              <a:cs typeface="Calibri"/>
            </a:endParaRPr>
          </a:p>
          <a:p>
            <a:pPr marL="866377" indent="-838617">
              <a:spcBef>
                <a:spcPts val="1691"/>
              </a:spcBef>
              <a:buClr>
                <a:srgbClr val="E48311"/>
              </a:buClr>
              <a:buAutoNum type="romanUcPeriod"/>
              <a:tabLst>
                <a:tab pos="866377" algn="l"/>
                <a:tab pos="867836" algn="l"/>
              </a:tabLst>
            </a:pP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Application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and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dedication.</a:t>
            </a:r>
            <a:endParaRPr sz="4026">
              <a:latin typeface="Calibri"/>
              <a:cs typeface="Calibri"/>
            </a:endParaRPr>
          </a:p>
          <a:p>
            <a:pPr marL="866377" indent="-838617">
              <a:spcBef>
                <a:spcPts val="1657"/>
              </a:spcBef>
              <a:buClr>
                <a:srgbClr val="E48311"/>
              </a:buClr>
              <a:buAutoNum type="romanUcPeriod"/>
              <a:tabLst>
                <a:tab pos="867836" algn="l"/>
              </a:tabLst>
            </a:pP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Result</a:t>
            </a:r>
            <a:r>
              <a:rPr sz="4026" spc="-23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oriented</a:t>
            </a:r>
            <a:endParaRPr sz="4026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5945064" y="9491460"/>
            <a:ext cx="397369" cy="436666"/>
          </a:xfrm>
          <a:prstGeom prst="rect">
            <a:avLst/>
          </a:prstGeom>
        </p:spPr>
        <p:txBody>
          <a:bodyPr vert="horz" wrap="square" lIns="0" tIns="29218" rIns="0" bIns="0" rtlCol="0">
            <a:spAutoFit/>
          </a:bodyPr>
          <a:lstStyle/>
          <a:p>
            <a:pPr marL="29221">
              <a:spcBef>
                <a:spcPts val="230"/>
              </a:spcBef>
            </a:pPr>
            <a:r>
              <a:rPr sz="2646" spc="-23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r>
              <a:rPr sz="2646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2646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9273894" y="2269830"/>
            <a:ext cx="5999978" cy="2058429"/>
            <a:chOff x="4030979" y="3829811"/>
            <a:chExt cx="2607945" cy="894715"/>
          </a:xfrm>
        </p:grpSpPr>
        <p:pic>
          <p:nvPicPr>
            <p:cNvPr id="38" name="object 3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030979" y="3829811"/>
              <a:ext cx="1321307" cy="894588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439155" y="3843527"/>
              <a:ext cx="1199388" cy="746760"/>
            </a:xfrm>
            <a:prstGeom prst="rect">
              <a:avLst/>
            </a:prstGeom>
          </p:spPr>
        </p:pic>
      </p:grpSp>
      <p:grpSp>
        <p:nvGrpSpPr>
          <p:cNvPr id="40" name="object 40"/>
          <p:cNvGrpSpPr/>
          <p:nvPr/>
        </p:nvGrpSpPr>
        <p:grpSpPr>
          <a:xfrm>
            <a:off x="10869208" y="4625987"/>
            <a:ext cx="4558055" cy="4610648"/>
            <a:chOff x="4724400" y="4853940"/>
            <a:chExt cx="1981200" cy="2004060"/>
          </a:xfrm>
        </p:grpSpPr>
        <p:pic>
          <p:nvPicPr>
            <p:cNvPr id="41" name="object 4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724400" y="5818632"/>
              <a:ext cx="1435607" cy="1039367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544312" y="4853940"/>
              <a:ext cx="1161287" cy="931163"/>
            </a:xfrm>
            <a:prstGeom prst="rect">
              <a:avLst/>
            </a:prstGeom>
          </p:spPr>
        </p:pic>
      </p:grp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3E7BF3B-4F1A-EF96-2516-91D797505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49589" y="2546813"/>
            <a:ext cx="14617916" cy="0"/>
          </a:xfrm>
          <a:custGeom>
            <a:avLst/>
            <a:gdLst/>
            <a:ahLst/>
            <a:cxnLst/>
            <a:rect l="l" t="t" r="r" b="b"/>
            <a:pathLst>
              <a:path w="6353809">
                <a:moveTo>
                  <a:pt x="0" y="0"/>
                </a:moveTo>
                <a:lnTo>
                  <a:pt x="6353556" y="0"/>
                </a:lnTo>
              </a:path>
            </a:pathLst>
          </a:custGeom>
          <a:ln w="4572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 sz="4141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7444" y="1742141"/>
            <a:ext cx="4175880" cy="690721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6186681" y="1875374"/>
            <a:ext cx="631115" cy="417822"/>
            <a:chOff x="2689097" y="3658361"/>
            <a:chExt cx="274320" cy="18161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89097" y="3658362"/>
              <a:ext cx="132587" cy="18135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46069" y="3658361"/>
              <a:ext cx="117347" cy="181356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031684" y="1875374"/>
            <a:ext cx="305037" cy="41723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561118" y="1731620"/>
            <a:ext cx="2349149" cy="560991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713450" y="1473272"/>
            <a:ext cx="8255631" cy="923211"/>
          </a:xfrm>
          <a:prstGeom prst="rect">
            <a:avLst/>
          </a:prstGeom>
        </p:spPr>
        <p:txBody>
          <a:bodyPr vert="horz" wrap="square" lIns="0" tIns="30679" rIns="0" bIns="0" rtlCol="0" anchor="ctr">
            <a:spAutoFit/>
          </a:bodyPr>
          <a:lstStyle/>
          <a:p>
            <a:pPr marL="29221">
              <a:spcBef>
                <a:spcPts val="242"/>
              </a:spcBef>
            </a:pPr>
            <a:r>
              <a:rPr sz="6442" spc="-219" dirty="0">
                <a:solidFill>
                  <a:srgbClr val="BF0000"/>
                </a:solidFill>
              </a:rPr>
              <a:t>M</a:t>
            </a:r>
            <a:r>
              <a:rPr sz="6442" spc="-161" dirty="0">
                <a:solidFill>
                  <a:srgbClr val="BF0000"/>
                </a:solidFill>
              </a:rPr>
              <a:t>an</a:t>
            </a:r>
            <a:r>
              <a:rPr sz="6442" spc="-196" dirty="0">
                <a:solidFill>
                  <a:srgbClr val="BF0000"/>
                </a:solidFill>
              </a:rPr>
              <a:t>a</a:t>
            </a:r>
            <a:r>
              <a:rPr sz="6442" spc="-173" dirty="0">
                <a:solidFill>
                  <a:srgbClr val="BF0000"/>
                </a:solidFill>
              </a:rPr>
              <a:t>g</a:t>
            </a:r>
            <a:r>
              <a:rPr sz="6442" spc="-150" dirty="0">
                <a:solidFill>
                  <a:srgbClr val="BF0000"/>
                </a:solidFill>
              </a:rPr>
              <a:t>e</a:t>
            </a:r>
            <a:r>
              <a:rPr sz="6442" spc="-219" dirty="0">
                <a:solidFill>
                  <a:srgbClr val="BF0000"/>
                </a:solidFill>
              </a:rPr>
              <a:t>m</a:t>
            </a:r>
            <a:r>
              <a:rPr sz="6442" spc="-150" dirty="0">
                <a:solidFill>
                  <a:srgbClr val="BF0000"/>
                </a:solidFill>
              </a:rPr>
              <a:t>e</a:t>
            </a:r>
            <a:r>
              <a:rPr sz="6442" spc="-276" dirty="0">
                <a:solidFill>
                  <a:srgbClr val="BF0000"/>
                </a:solidFill>
              </a:rPr>
              <a:t>n</a:t>
            </a:r>
            <a:r>
              <a:rPr sz="6442" spc="-46" dirty="0">
                <a:solidFill>
                  <a:srgbClr val="BF0000"/>
                </a:solidFill>
              </a:rPr>
              <a:t>t</a:t>
            </a:r>
            <a:r>
              <a:rPr sz="6442" spc="-207" dirty="0">
                <a:solidFill>
                  <a:srgbClr val="BF0000"/>
                </a:solidFill>
              </a:rPr>
              <a:t> </a:t>
            </a:r>
            <a:r>
              <a:rPr sz="6442" spc="-230" dirty="0">
                <a:solidFill>
                  <a:srgbClr val="BF0000"/>
                </a:solidFill>
              </a:rPr>
              <a:t>a</a:t>
            </a:r>
            <a:r>
              <a:rPr sz="6442" spc="-23" dirty="0">
                <a:solidFill>
                  <a:srgbClr val="BF0000"/>
                </a:solidFill>
              </a:rPr>
              <a:t>s</a:t>
            </a:r>
            <a:r>
              <a:rPr sz="6442" spc="-207" dirty="0">
                <a:solidFill>
                  <a:srgbClr val="BF0000"/>
                </a:solidFill>
              </a:rPr>
              <a:t> </a:t>
            </a:r>
            <a:r>
              <a:rPr sz="6442" spc="-46" dirty="0">
                <a:solidFill>
                  <a:srgbClr val="BF0000"/>
                </a:solidFill>
              </a:rPr>
              <a:t>a</a:t>
            </a:r>
            <a:r>
              <a:rPr sz="6442" spc="-253" dirty="0">
                <a:solidFill>
                  <a:srgbClr val="BF0000"/>
                </a:solidFill>
              </a:rPr>
              <a:t> </a:t>
            </a:r>
            <a:r>
              <a:rPr sz="6442" spc="-161" dirty="0">
                <a:solidFill>
                  <a:srgbClr val="BF0000"/>
                </a:solidFill>
              </a:rPr>
              <a:t>S</a:t>
            </a:r>
            <a:r>
              <a:rPr sz="6442" spc="-81" dirty="0">
                <a:solidFill>
                  <a:srgbClr val="BF0000"/>
                </a:solidFill>
              </a:rPr>
              <a:t>c</a:t>
            </a:r>
            <a:r>
              <a:rPr sz="6442" spc="-161" dirty="0">
                <a:solidFill>
                  <a:srgbClr val="BF0000"/>
                </a:solidFill>
              </a:rPr>
              <a:t>ie</a:t>
            </a:r>
            <a:r>
              <a:rPr sz="6442" spc="-196" dirty="0">
                <a:solidFill>
                  <a:srgbClr val="BF0000"/>
                </a:solidFill>
              </a:rPr>
              <a:t>n</a:t>
            </a:r>
            <a:r>
              <a:rPr sz="6442" spc="-104" dirty="0">
                <a:solidFill>
                  <a:srgbClr val="BF0000"/>
                </a:solidFill>
              </a:rPr>
              <a:t>c</a:t>
            </a:r>
            <a:r>
              <a:rPr sz="6442" spc="-23" dirty="0">
                <a:solidFill>
                  <a:srgbClr val="BF0000"/>
                </a:solidFill>
              </a:rPr>
              <a:t>e</a:t>
            </a:r>
            <a:endParaRPr sz="6442"/>
          </a:p>
        </p:txBody>
      </p:sp>
      <p:sp>
        <p:nvSpPr>
          <p:cNvPr id="10" name="object 10"/>
          <p:cNvSpPr txBox="1"/>
          <p:nvPr/>
        </p:nvSpPr>
        <p:spPr>
          <a:xfrm>
            <a:off x="1580152" y="2647463"/>
            <a:ext cx="14815139" cy="5554752"/>
          </a:xfrm>
          <a:prstGeom prst="rect">
            <a:avLst/>
          </a:prstGeom>
        </p:spPr>
        <p:txBody>
          <a:bodyPr vert="horz" wrap="square" lIns="0" tIns="90577" rIns="0" bIns="0" rtlCol="0">
            <a:spAutoFit/>
          </a:bodyPr>
          <a:lstStyle/>
          <a:p>
            <a:pPr marL="29221" marR="11690" algn="just">
              <a:lnSpc>
                <a:spcPct val="91800"/>
              </a:lnSpc>
              <a:spcBef>
                <a:spcPts val="713"/>
              </a:spcBef>
            </a:pP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Science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is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 a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dirty="0">
                <a:solidFill>
                  <a:srgbClr val="FF0000"/>
                </a:solidFill>
                <a:latin typeface="Calibri"/>
                <a:cs typeface="Calibri"/>
              </a:rPr>
              <a:t>systematic</a:t>
            </a:r>
            <a:r>
              <a:rPr sz="4026" spc="12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FF0000"/>
                </a:solidFill>
                <a:latin typeface="Calibri"/>
                <a:cs typeface="Calibri"/>
              </a:rPr>
              <a:t>body</a:t>
            </a:r>
            <a:r>
              <a:rPr sz="4026" spc="4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4026" spc="4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FF0000"/>
                </a:solidFill>
                <a:latin typeface="Calibri"/>
                <a:cs typeface="Calibri"/>
              </a:rPr>
              <a:t>knowledge</a:t>
            </a:r>
            <a:r>
              <a:rPr sz="4026" spc="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that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 is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universally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accepted. Fredrick </a:t>
            </a:r>
            <a:r>
              <a:rPr sz="4026" spc="-35" dirty="0">
                <a:solidFill>
                  <a:srgbClr val="3D3D3D"/>
                </a:solidFill>
                <a:latin typeface="Calibri"/>
                <a:cs typeface="Calibri"/>
              </a:rPr>
              <a:t>Taylor-</a:t>
            </a:r>
            <a:r>
              <a:rPr sz="4026" spc="-23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the </a:t>
            </a:r>
            <a:r>
              <a:rPr sz="4026" spc="-12" dirty="0">
                <a:solidFill>
                  <a:srgbClr val="3D3D3D"/>
                </a:solidFill>
                <a:latin typeface="Calibri"/>
                <a:cs typeface="Calibri"/>
              </a:rPr>
              <a:t>first</a:t>
            </a:r>
            <a:r>
              <a:rPr sz="4026" spc="88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person 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to</a:t>
            </a:r>
            <a:r>
              <a:rPr sz="4026" spc="909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consider management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 as a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science, he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was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of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the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opinion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that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management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should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conduct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their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business</a:t>
            </a:r>
            <a:r>
              <a:rPr sz="4026" spc="127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-12" dirty="0">
                <a:solidFill>
                  <a:srgbClr val="3D3D3D"/>
                </a:solidFill>
                <a:latin typeface="Calibri"/>
                <a:cs typeface="Calibri"/>
              </a:rPr>
              <a:t>affairs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by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following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certain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well-established</a:t>
            </a:r>
            <a:r>
              <a:rPr sz="4026" spc="69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standards.</a:t>
            </a:r>
            <a:endParaRPr sz="4026" dirty="0">
              <a:latin typeface="Calibri"/>
              <a:cs typeface="Calibri"/>
            </a:endParaRPr>
          </a:p>
          <a:p>
            <a:pPr marL="29221">
              <a:spcBef>
                <a:spcPts val="1380"/>
              </a:spcBef>
            </a:pP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Science</a:t>
            </a:r>
            <a:r>
              <a:rPr sz="4026" spc="-12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can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be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broadly</a:t>
            </a:r>
            <a:r>
              <a:rPr sz="4026" spc="58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divided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into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two</a:t>
            </a:r>
            <a:r>
              <a:rPr sz="4026" spc="-4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groups:</a:t>
            </a:r>
            <a:endParaRPr sz="4026" dirty="0">
              <a:latin typeface="Calibri"/>
              <a:cs typeface="Calibri"/>
            </a:endParaRPr>
          </a:p>
          <a:p>
            <a:pPr marL="464599" indent="-436841">
              <a:spcBef>
                <a:spcPts val="1346"/>
              </a:spcBef>
              <a:buClr>
                <a:srgbClr val="E48311"/>
              </a:buClr>
              <a:buSzPct val="94285"/>
              <a:buAutoNum type="alphaUcPeriod"/>
              <a:tabLst>
                <a:tab pos="466060" algn="l"/>
              </a:tabLst>
            </a:pP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Physical</a:t>
            </a:r>
            <a:r>
              <a:rPr sz="4026" spc="-12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science.</a:t>
            </a:r>
            <a:endParaRPr sz="4026" dirty="0">
              <a:latin typeface="Calibri"/>
              <a:cs typeface="Calibri"/>
            </a:endParaRPr>
          </a:p>
          <a:p>
            <a:pPr marL="445606" indent="-417849">
              <a:spcBef>
                <a:spcPts val="1380"/>
              </a:spcBef>
              <a:buClr>
                <a:srgbClr val="E48311"/>
              </a:buClr>
              <a:buSzPct val="94285"/>
              <a:buAutoNum type="alphaUcPeriod"/>
              <a:tabLst>
                <a:tab pos="447067" algn="l"/>
              </a:tabLst>
            </a:pP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Social</a:t>
            </a:r>
            <a:r>
              <a:rPr sz="4026" spc="-92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science.</a:t>
            </a:r>
            <a:endParaRPr sz="4026" dirty="0">
              <a:latin typeface="Calibri"/>
              <a:cs typeface="Calibri"/>
            </a:endParaRPr>
          </a:p>
          <a:p>
            <a:pPr marL="29221">
              <a:spcBef>
                <a:spcPts val="1357"/>
              </a:spcBef>
            </a:pPr>
            <a:r>
              <a:rPr sz="4026" spc="23" dirty="0">
                <a:solidFill>
                  <a:srgbClr val="FF0000"/>
                </a:solidFill>
                <a:latin typeface="Calibri"/>
                <a:cs typeface="Calibri"/>
              </a:rPr>
              <a:t>Management</a:t>
            </a:r>
            <a:r>
              <a:rPr sz="4026" spc="12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FF0000"/>
                </a:solidFill>
                <a:latin typeface="Calibri"/>
                <a:cs typeface="Calibri"/>
              </a:rPr>
              <a:t>is </a:t>
            </a:r>
            <a:r>
              <a:rPr sz="4026" spc="35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402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FF0000"/>
                </a:solidFill>
                <a:latin typeface="Calibri"/>
                <a:cs typeface="Calibri"/>
              </a:rPr>
              <a:t>social</a:t>
            </a:r>
            <a:r>
              <a:rPr sz="4026" spc="-12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FF0000"/>
                </a:solidFill>
                <a:latin typeface="Calibri"/>
                <a:cs typeface="Calibri"/>
              </a:rPr>
              <a:t>science</a:t>
            </a:r>
            <a:r>
              <a:rPr sz="4026" spc="92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because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it</a:t>
            </a:r>
            <a:r>
              <a:rPr sz="4026" spc="58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deals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with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 human</a:t>
            </a:r>
            <a:r>
              <a:rPr sz="4026" spc="92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beings.</a:t>
            </a:r>
            <a:endParaRPr sz="4026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945064" y="9491460"/>
            <a:ext cx="397369" cy="436666"/>
          </a:xfrm>
          <a:prstGeom prst="rect">
            <a:avLst/>
          </a:prstGeom>
        </p:spPr>
        <p:txBody>
          <a:bodyPr vert="horz" wrap="square" lIns="0" tIns="29218" rIns="0" bIns="0" rtlCol="0">
            <a:spAutoFit/>
          </a:bodyPr>
          <a:lstStyle/>
          <a:p>
            <a:pPr marL="29221">
              <a:spcBef>
                <a:spcPts val="230"/>
              </a:spcBef>
            </a:pPr>
            <a:r>
              <a:rPr sz="2646" spc="-23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r>
              <a:rPr sz="2646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2646">
              <a:latin typeface="Calibri"/>
              <a:cs typeface="Calibri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5D234A3-9F9F-C5D5-DBF0-A805C024C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49589" y="2546813"/>
            <a:ext cx="14617916" cy="0"/>
          </a:xfrm>
          <a:custGeom>
            <a:avLst/>
            <a:gdLst/>
            <a:ahLst/>
            <a:cxnLst/>
            <a:rect l="l" t="t" r="r" b="b"/>
            <a:pathLst>
              <a:path w="6353809">
                <a:moveTo>
                  <a:pt x="0" y="0"/>
                </a:moveTo>
                <a:lnTo>
                  <a:pt x="6353556" y="0"/>
                </a:lnTo>
              </a:path>
            </a:pathLst>
          </a:custGeom>
          <a:ln w="4572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 sz="4141"/>
          </a:p>
        </p:txBody>
      </p:sp>
      <p:grpSp>
        <p:nvGrpSpPr>
          <p:cNvPr id="3" name="object 3"/>
          <p:cNvGrpSpPr/>
          <p:nvPr/>
        </p:nvGrpSpPr>
        <p:grpSpPr>
          <a:xfrm>
            <a:off x="1772382" y="1700064"/>
            <a:ext cx="3380557" cy="593132"/>
            <a:chOff x="770382" y="3582161"/>
            <a:chExt cx="1469390" cy="2578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0382" y="3597401"/>
              <a:ext cx="673608" cy="24231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68374" y="3582161"/>
              <a:ext cx="771143" cy="257556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713447" y="1473272"/>
            <a:ext cx="3522266" cy="923211"/>
          </a:xfrm>
          <a:prstGeom prst="rect">
            <a:avLst/>
          </a:prstGeom>
        </p:spPr>
        <p:txBody>
          <a:bodyPr vert="horz" wrap="square" lIns="0" tIns="30679" rIns="0" bIns="0" rtlCol="0" anchor="ctr">
            <a:spAutoFit/>
          </a:bodyPr>
          <a:lstStyle/>
          <a:p>
            <a:pPr marL="29221">
              <a:spcBef>
                <a:spcPts val="242"/>
              </a:spcBef>
            </a:pPr>
            <a:r>
              <a:rPr sz="6442" spc="-81" dirty="0">
                <a:solidFill>
                  <a:srgbClr val="BF0000"/>
                </a:solidFill>
              </a:rPr>
              <a:t>C</a:t>
            </a:r>
            <a:r>
              <a:rPr sz="6442" spc="-184" dirty="0">
                <a:solidFill>
                  <a:srgbClr val="BF0000"/>
                </a:solidFill>
              </a:rPr>
              <a:t>o</a:t>
            </a:r>
            <a:r>
              <a:rPr sz="6442" spc="-161" dirty="0">
                <a:solidFill>
                  <a:srgbClr val="BF0000"/>
                </a:solidFill>
              </a:rPr>
              <a:t>n</a:t>
            </a:r>
            <a:r>
              <a:rPr sz="6442" spc="-104" dirty="0">
                <a:solidFill>
                  <a:srgbClr val="BF0000"/>
                </a:solidFill>
              </a:rPr>
              <a:t>c</a:t>
            </a:r>
            <a:r>
              <a:rPr sz="6442" spc="-196" dirty="0">
                <a:solidFill>
                  <a:srgbClr val="BF0000"/>
                </a:solidFill>
              </a:rPr>
              <a:t>lu</a:t>
            </a:r>
            <a:r>
              <a:rPr sz="6442" spc="-127" dirty="0">
                <a:solidFill>
                  <a:srgbClr val="BF0000"/>
                </a:solidFill>
              </a:rPr>
              <a:t>s</a:t>
            </a:r>
            <a:r>
              <a:rPr sz="6442" spc="-161" dirty="0">
                <a:solidFill>
                  <a:srgbClr val="BF0000"/>
                </a:solidFill>
              </a:rPr>
              <a:t>i</a:t>
            </a:r>
            <a:r>
              <a:rPr sz="6442" spc="-184" dirty="0">
                <a:solidFill>
                  <a:srgbClr val="BF0000"/>
                </a:solidFill>
              </a:rPr>
              <a:t>o</a:t>
            </a:r>
            <a:r>
              <a:rPr sz="6442" spc="-35" dirty="0">
                <a:solidFill>
                  <a:srgbClr val="BF0000"/>
                </a:solidFill>
              </a:rPr>
              <a:t>n</a:t>
            </a:r>
            <a:endParaRPr sz="6442"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44404" y="4794293"/>
            <a:ext cx="3004810" cy="448791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7916988" y="5919784"/>
            <a:ext cx="172388" cy="130021"/>
          </a:xfrm>
          <a:custGeom>
            <a:avLst/>
            <a:gdLst/>
            <a:ahLst/>
            <a:cxnLst/>
            <a:rect l="l" t="t" r="r" b="b"/>
            <a:pathLst>
              <a:path w="74929" h="56514">
                <a:moveTo>
                  <a:pt x="50292" y="56388"/>
                </a:moveTo>
                <a:lnTo>
                  <a:pt x="39624" y="56388"/>
                </a:lnTo>
                <a:lnTo>
                  <a:pt x="39624" y="53340"/>
                </a:lnTo>
                <a:lnTo>
                  <a:pt x="54864" y="22860"/>
                </a:lnTo>
                <a:lnTo>
                  <a:pt x="54864" y="3048"/>
                </a:lnTo>
                <a:lnTo>
                  <a:pt x="56388" y="3048"/>
                </a:lnTo>
                <a:lnTo>
                  <a:pt x="56388" y="1524"/>
                </a:lnTo>
                <a:lnTo>
                  <a:pt x="57912" y="1524"/>
                </a:lnTo>
                <a:lnTo>
                  <a:pt x="57912" y="0"/>
                </a:lnTo>
                <a:lnTo>
                  <a:pt x="70104" y="0"/>
                </a:lnTo>
                <a:lnTo>
                  <a:pt x="74676" y="4572"/>
                </a:lnTo>
                <a:lnTo>
                  <a:pt x="74676" y="16764"/>
                </a:lnTo>
                <a:lnTo>
                  <a:pt x="73152" y="18288"/>
                </a:lnTo>
                <a:lnTo>
                  <a:pt x="73152" y="22860"/>
                </a:lnTo>
                <a:lnTo>
                  <a:pt x="71628" y="24384"/>
                </a:lnTo>
                <a:lnTo>
                  <a:pt x="71628" y="25908"/>
                </a:lnTo>
                <a:lnTo>
                  <a:pt x="68580" y="28956"/>
                </a:lnTo>
                <a:lnTo>
                  <a:pt x="68580" y="30480"/>
                </a:lnTo>
                <a:lnTo>
                  <a:pt x="53340" y="53340"/>
                </a:lnTo>
                <a:lnTo>
                  <a:pt x="51816" y="54864"/>
                </a:lnTo>
                <a:lnTo>
                  <a:pt x="50292" y="54864"/>
                </a:lnTo>
                <a:lnTo>
                  <a:pt x="50292" y="56388"/>
                </a:lnTo>
                <a:close/>
              </a:path>
              <a:path w="74929" h="56514">
                <a:moveTo>
                  <a:pt x="10668" y="56388"/>
                </a:moveTo>
                <a:lnTo>
                  <a:pt x="0" y="56388"/>
                </a:lnTo>
                <a:lnTo>
                  <a:pt x="0" y="53340"/>
                </a:lnTo>
                <a:lnTo>
                  <a:pt x="13716" y="22860"/>
                </a:lnTo>
                <a:lnTo>
                  <a:pt x="13716" y="7620"/>
                </a:lnTo>
                <a:lnTo>
                  <a:pt x="15240" y="6096"/>
                </a:lnTo>
                <a:lnTo>
                  <a:pt x="15240" y="3048"/>
                </a:lnTo>
                <a:lnTo>
                  <a:pt x="16764" y="1524"/>
                </a:lnTo>
                <a:lnTo>
                  <a:pt x="18288" y="1524"/>
                </a:lnTo>
                <a:lnTo>
                  <a:pt x="18288" y="0"/>
                </a:lnTo>
                <a:lnTo>
                  <a:pt x="30480" y="0"/>
                </a:lnTo>
                <a:lnTo>
                  <a:pt x="33528" y="3048"/>
                </a:lnTo>
                <a:lnTo>
                  <a:pt x="33528" y="4572"/>
                </a:lnTo>
                <a:lnTo>
                  <a:pt x="35052" y="6096"/>
                </a:lnTo>
                <a:lnTo>
                  <a:pt x="35052" y="15240"/>
                </a:lnTo>
                <a:lnTo>
                  <a:pt x="33528" y="16764"/>
                </a:lnTo>
                <a:lnTo>
                  <a:pt x="33528" y="22860"/>
                </a:lnTo>
                <a:lnTo>
                  <a:pt x="32004" y="24384"/>
                </a:lnTo>
                <a:lnTo>
                  <a:pt x="32004" y="25908"/>
                </a:lnTo>
                <a:lnTo>
                  <a:pt x="28956" y="28956"/>
                </a:lnTo>
                <a:lnTo>
                  <a:pt x="28956" y="30480"/>
                </a:lnTo>
                <a:lnTo>
                  <a:pt x="13716" y="53340"/>
                </a:lnTo>
                <a:lnTo>
                  <a:pt x="12192" y="54864"/>
                </a:lnTo>
                <a:lnTo>
                  <a:pt x="10668" y="54864"/>
                </a:lnTo>
                <a:lnTo>
                  <a:pt x="10668" y="56388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 sz="4141"/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02185" y="8132191"/>
            <a:ext cx="3008316" cy="448791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2583738" y="8325032"/>
            <a:ext cx="262965" cy="39445"/>
          </a:xfrm>
          <a:custGeom>
            <a:avLst/>
            <a:gdLst/>
            <a:ahLst/>
            <a:cxnLst/>
            <a:rect l="l" t="t" r="r" b="b"/>
            <a:pathLst>
              <a:path w="114300" h="17145">
                <a:moveTo>
                  <a:pt x="111252" y="16764"/>
                </a:moveTo>
                <a:lnTo>
                  <a:pt x="1524" y="16764"/>
                </a:lnTo>
                <a:lnTo>
                  <a:pt x="1524" y="15240"/>
                </a:lnTo>
                <a:lnTo>
                  <a:pt x="0" y="13716"/>
                </a:lnTo>
                <a:lnTo>
                  <a:pt x="0" y="1524"/>
                </a:lnTo>
                <a:lnTo>
                  <a:pt x="1524" y="0"/>
                </a:lnTo>
                <a:lnTo>
                  <a:pt x="111252" y="0"/>
                </a:lnTo>
                <a:lnTo>
                  <a:pt x="112776" y="1524"/>
                </a:lnTo>
                <a:lnTo>
                  <a:pt x="112776" y="4572"/>
                </a:lnTo>
                <a:lnTo>
                  <a:pt x="114300" y="4572"/>
                </a:lnTo>
                <a:lnTo>
                  <a:pt x="114300" y="10668"/>
                </a:lnTo>
                <a:lnTo>
                  <a:pt x="112776" y="13716"/>
                </a:lnTo>
                <a:lnTo>
                  <a:pt x="111252" y="15240"/>
                </a:lnTo>
                <a:lnTo>
                  <a:pt x="111252" y="16764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 sz="4141"/>
          </a:p>
        </p:txBody>
      </p:sp>
      <p:sp>
        <p:nvSpPr>
          <p:cNvPr id="11" name="object 11"/>
          <p:cNvSpPr/>
          <p:nvPr/>
        </p:nvSpPr>
        <p:spPr>
          <a:xfrm>
            <a:off x="8323709" y="8693185"/>
            <a:ext cx="172388" cy="130021"/>
          </a:xfrm>
          <a:custGeom>
            <a:avLst/>
            <a:gdLst/>
            <a:ahLst/>
            <a:cxnLst/>
            <a:rect l="l" t="t" r="r" b="b"/>
            <a:pathLst>
              <a:path w="74929" h="56515">
                <a:moveTo>
                  <a:pt x="67056" y="1524"/>
                </a:moveTo>
                <a:lnTo>
                  <a:pt x="60960" y="1524"/>
                </a:lnTo>
                <a:lnTo>
                  <a:pt x="62484" y="0"/>
                </a:lnTo>
                <a:lnTo>
                  <a:pt x="65532" y="0"/>
                </a:lnTo>
                <a:lnTo>
                  <a:pt x="67056" y="1524"/>
                </a:lnTo>
                <a:close/>
              </a:path>
              <a:path w="74929" h="56515">
                <a:moveTo>
                  <a:pt x="51816" y="56388"/>
                </a:moveTo>
                <a:lnTo>
                  <a:pt x="39624" y="56388"/>
                </a:lnTo>
                <a:lnTo>
                  <a:pt x="39624" y="53340"/>
                </a:lnTo>
                <a:lnTo>
                  <a:pt x="54864" y="22860"/>
                </a:lnTo>
                <a:lnTo>
                  <a:pt x="54864" y="4572"/>
                </a:lnTo>
                <a:lnTo>
                  <a:pt x="57912" y="1524"/>
                </a:lnTo>
                <a:lnTo>
                  <a:pt x="71628" y="1524"/>
                </a:lnTo>
                <a:lnTo>
                  <a:pt x="71628" y="3048"/>
                </a:lnTo>
                <a:lnTo>
                  <a:pt x="73152" y="3048"/>
                </a:lnTo>
                <a:lnTo>
                  <a:pt x="73152" y="4572"/>
                </a:lnTo>
                <a:lnTo>
                  <a:pt x="74676" y="4572"/>
                </a:lnTo>
                <a:lnTo>
                  <a:pt x="74676" y="18288"/>
                </a:lnTo>
                <a:lnTo>
                  <a:pt x="73152" y="19812"/>
                </a:lnTo>
                <a:lnTo>
                  <a:pt x="73152" y="22860"/>
                </a:lnTo>
                <a:lnTo>
                  <a:pt x="71628" y="24384"/>
                </a:lnTo>
                <a:lnTo>
                  <a:pt x="71628" y="25908"/>
                </a:lnTo>
                <a:lnTo>
                  <a:pt x="70104" y="27432"/>
                </a:lnTo>
                <a:lnTo>
                  <a:pt x="70104" y="28956"/>
                </a:lnTo>
                <a:lnTo>
                  <a:pt x="68580" y="32004"/>
                </a:lnTo>
                <a:lnTo>
                  <a:pt x="53340" y="53340"/>
                </a:lnTo>
                <a:lnTo>
                  <a:pt x="53340" y="54864"/>
                </a:lnTo>
                <a:lnTo>
                  <a:pt x="51816" y="54864"/>
                </a:lnTo>
                <a:lnTo>
                  <a:pt x="51816" y="56388"/>
                </a:lnTo>
                <a:close/>
              </a:path>
              <a:path w="74929" h="56515">
                <a:moveTo>
                  <a:pt x="27432" y="1524"/>
                </a:moveTo>
                <a:lnTo>
                  <a:pt x="21336" y="1524"/>
                </a:lnTo>
                <a:lnTo>
                  <a:pt x="22860" y="0"/>
                </a:lnTo>
                <a:lnTo>
                  <a:pt x="25908" y="0"/>
                </a:lnTo>
                <a:lnTo>
                  <a:pt x="27432" y="1524"/>
                </a:lnTo>
                <a:close/>
              </a:path>
              <a:path w="74929" h="56515">
                <a:moveTo>
                  <a:pt x="12192" y="56388"/>
                </a:moveTo>
                <a:lnTo>
                  <a:pt x="0" y="56388"/>
                </a:lnTo>
                <a:lnTo>
                  <a:pt x="0" y="53340"/>
                </a:lnTo>
                <a:lnTo>
                  <a:pt x="15240" y="22860"/>
                </a:lnTo>
                <a:lnTo>
                  <a:pt x="15240" y="4572"/>
                </a:lnTo>
                <a:lnTo>
                  <a:pt x="18288" y="1524"/>
                </a:lnTo>
                <a:lnTo>
                  <a:pt x="32004" y="1524"/>
                </a:lnTo>
                <a:lnTo>
                  <a:pt x="32004" y="3048"/>
                </a:lnTo>
                <a:lnTo>
                  <a:pt x="33528" y="3048"/>
                </a:lnTo>
                <a:lnTo>
                  <a:pt x="33528" y="4572"/>
                </a:lnTo>
                <a:lnTo>
                  <a:pt x="35052" y="6096"/>
                </a:lnTo>
                <a:lnTo>
                  <a:pt x="35052" y="18288"/>
                </a:lnTo>
                <a:lnTo>
                  <a:pt x="33528" y="19812"/>
                </a:lnTo>
                <a:lnTo>
                  <a:pt x="33528" y="22860"/>
                </a:lnTo>
                <a:lnTo>
                  <a:pt x="32004" y="24384"/>
                </a:lnTo>
                <a:lnTo>
                  <a:pt x="32004" y="25908"/>
                </a:lnTo>
                <a:lnTo>
                  <a:pt x="28956" y="28956"/>
                </a:lnTo>
                <a:lnTo>
                  <a:pt x="28956" y="32004"/>
                </a:lnTo>
                <a:lnTo>
                  <a:pt x="13716" y="53340"/>
                </a:lnTo>
                <a:lnTo>
                  <a:pt x="13716" y="54864"/>
                </a:lnTo>
                <a:lnTo>
                  <a:pt x="12192" y="54864"/>
                </a:lnTo>
                <a:lnTo>
                  <a:pt x="12192" y="56388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 sz="4141"/>
          </a:p>
        </p:txBody>
      </p:sp>
      <p:sp>
        <p:nvSpPr>
          <p:cNvPr id="12" name="object 12"/>
          <p:cNvSpPr/>
          <p:nvPr/>
        </p:nvSpPr>
        <p:spPr>
          <a:xfrm>
            <a:off x="8649786" y="8886026"/>
            <a:ext cx="262965" cy="39445"/>
          </a:xfrm>
          <a:custGeom>
            <a:avLst/>
            <a:gdLst/>
            <a:ahLst/>
            <a:cxnLst/>
            <a:rect l="l" t="t" r="r" b="b"/>
            <a:pathLst>
              <a:path w="114300" h="17145">
                <a:moveTo>
                  <a:pt x="112776" y="16764"/>
                </a:moveTo>
                <a:lnTo>
                  <a:pt x="1524" y="16764"/>
                </a:lnTo>
                <a:lnTo>
                  <a:pt x="1524" y="15240"/>
                </a:lnTo>
                <a:lnTo>
                  <a:pt x="0" y="13716"/>
                </a:lnTo>
                <a:lnTo>
                  <a:pt x="0" y="4572"/>
                </a:lnTo>
                <a:lnTo>
                  <a:pt x="1524" y="3048"/>
                </a:lnTo>
                <a:lnTo>
                  <a:pt x="1524" y="1524"/>
                </a:lnTo>
                <a:lnTo>
                  <a:pt x="3048" y="0"/>
                </a:lnTo>
                <a:lnTo>
                  <a:pt x="111252" y="0"/>
                </a:lnTo>
                <a:lnTo>
                  <a:pt x="111252" y="1524"/>
                </a:lnTo>
                <a:lnTo>
                  <a:pt x="112776" y="1524"/>
                </a:lnTo>
                <a:lnTo>
                  <a:pt x="112776" y="3048"/>
                </a:lnTo>
                <a:lnTo>
                  <a:pt x="114300" y="3048"/>
                </a:lnTo>
                <a:lnTo>
                  <a:pt x="114300" y="13716"/>
                </a:lnTo>
                <a:lnTo>
                  <a:pt x="112776" y="15240"/>
                </a:lnTo>
                <a:lnTo>
                  <a:pt x="112776" y="16764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 sz="4141"/>
          </a:p>
        </p:txBody>
      </p:sp>
      <p:sp>
        <p:nvSpPr>
          <p:cNvPr id="13" name="object 13"/>
          <p:cNvSpPr txBox="1"/>
          <p:nvPr/>
        </p:nvSpPr>
        <p:spPr>
          <a:xfrm>
            <a:off x="1580142" y="2647462"/>
            <a:ext cx="15652244" cy="6526623"/>
          </a:xfrm>
          <a:prstGeom prst="rect">
            <a:avLst/>
          </a:prstGeom>
        </p:spPr>
        <p:txBody>
          <a:bodyPr vert="horz" wrap="square" lIns="0" tIns="100803" rIns="0" bIns="0" rtlCol="0">
            <a:spAutoFit/>
          </a:bodyPr>
          <a:lstStyle/>
          <a:p>
            <a:pPr marL="29221" marR="11690">
              <a:lnSpc>
                <a:spcPts val="4440"/>
              </a:lnSpc>
              <a:spcBef>
                <a:spcPts val="794"/>
              </a:spcBef>
            </a:pP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-From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the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study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 above,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 we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say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that: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management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is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both,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art</a:t>
            </a:r>
            <a:r>
              <a:rPr sz="4026" spc="941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and </a:t>
            </a:r>
            <a:r>
              <a:rPr sz="4026" spc="-88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science.</a:t>
            </a:r>
            <a:endParaRPr sz="4026" dirty="0">
              <a:latin typeface="Calibri"/>
              <a:cs typeface="Calibri"/>
            </a:endParaRPr>
          </a:p>
          <a:p>
            <a:pPr marL="3306253" marR="11690" indent="-3278495">
              <a:lnSpc>
                <a:spcPts val="4440"/>
              </a:lnSpc>
              <a:spcBef>
                <a:spcPts val="2048"/>
              </a:spcBef>
              <a:tabLst>
                <a:tab pos="2682405" algn="l"/>
                <a:tab pos="3518102" algn="l"/>
                <a:tab pos="5148582" algn="l"/>
                <a:tab pos="7708263" algn="l"/>
                <a:tab pos="9620720" algn="l"/>
                <a:tab pos="10440344" algn="l"/>
                <a:tab pos="13267389" algn="l"/>
              </a:tabLst>
            </a:pPr>
            <a:r>
              <a:rPr sz="4026" spc="-12" dirty="0">
                <a:solidFill>
                  <a:srgbClr val="3D3D3D"/>
                </a:solidFill>
                <a:latin typeface="Calibri"/>
                <a:cs typeface="Calibri"/>
              </a:rPr>
              <a:t>-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A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cco</a:t>
            </a:r>
            <a:r>
              <a:rPr sz="4026" spc="-23" dirty="0">
                <a:solidFill>
                  <a:srgbClr val="3D3D3D"/>
                </a:solidFill>
                <a:latin typeface="Calibri"/>
                <a:cs typeface="Calibri"/>
              </a:rPr>
              <a:t>r</a:t>
            </a:r>
            <a:r>
              <a:rPr sz="4026" spc="58" dirty="0">
                <a:solidFill>
                  <a:srgbClr val="3D3D3D"/>
                </a:solidFill>
                <a:latin typeface="Calibri"/>
                <a:cs typeface="Calibri"/>
              </a:rPr>
              <a:t>d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i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n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g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	</a:t>
            </a:r>
            <a:r>
              <a:rPr sz="4026" spc="-46" dirty="0">
                <a:solidFill>
                  <a:srgbClr val="3D3D3D"/>
                </a:solidFill>
                <a:latin typeface="Calibri"/>
                <a:cs typeface="Calibri"/>
              </a:rPr>
              <a:t>t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o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		A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S</a:t>
            </a:r>
            <a:r>
              <a:rPr sz="4026" spc="81" dirty="0">
                <a:solidFill>
                  <a:srgbClr val="3D3D3D"/>
                </a:solidFill>
                <a:latin typeface="Calibri"/>
                <a:cs typeface="Calibri"/>
              </a:rPr>
              <a:t>M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E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	(</a:t>
            </a:r>
            <a:r>
              <a:rPr sz="4026" spc="58" dirty="0">
                <a:solidFill>
                  <a:srgbClr val="3D3D3D"/>
                </a:solidFill>
                <a:latin typeface="Calibri"/>
                <a:cs typeface="Calibri"/>
              </a:rPr>
              <a:t>Am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e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ri</a:t>
            </a:r>
            <a:r>
              <a:rPr sz="4026" spc="-23" dirty="0">
                <a:solidFill>
                  <a:srgbClr val="3D3D3D"/>
                </a:solidFill>
                <a:latin typeface="Calibri"/>
                <a:cs typeface="Calibri"/>
              </a:rPr>
              <a:t>c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an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	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S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o</a:t>
            </a:r>
            <a:r>
              <a:rPr sz="4026" spc="58" dirty="0">
                <a:solidFill>
                  <a:srgbClr val="3D3D3D"/>
                </a:solidFill>
                <a:latin typeface="Calibri"/>
                <a:cs typeface="Calibri"/>
              </a:rPr>
              <a:t>c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i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et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y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	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of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	</a:t>
            </a:r>
            <a:r>
              <a:rPr sz="4026" spc="81" dirty="0">
                <a:solidFill>
                  <a:srgbClr val="3D3D3D"/>
                </a:solidFill>
                <a:latin typeface="Calibri"/>
                <a:cs typeface="Calibri"/>
              </a:rPr>
              <a:t>M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e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c</a:t>
            </a:r>
            <a:r>
              <a:rPr sz="4026" spc="58" dirty="0">
                <a:solidFill>
                  <a:srgbClr val="3D3D3D"/>
                </a:solidFill>
                <a:latin typeface="Calibri"/>
                <a:cs typeface="Calibri"/>
              </a:rPr>
              <a:t>h</a:t>
            </a:r>
            <a:r>
              <a:rPr sz="4026" spc="-12" dirty="0">
                <a:solidFill>
                  <a:srgbClr val="3D3D3D"/>
                </a:solidFill>
                <a:latin typeface="Calibri"/>
                <a:cs typeface="Calibri"/>
              </a:rPr>
              <a:t>a</a:t>
            </a:r>
            <a:r>
              <a:rPr sz="4026" spc="58" dirty="0">
                <a:solidFill>
                  <a:srgbClr val="3D3D3D"/>
                </a:solidFill>
                <a:latin typeface="Calibri"/>
                <a:cs typeface="Calibri"/>
              </a:rPr>
              <a:t>n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i</a:t>
            </a:r>
            <a:r>
              <a:rPr sz="4026" spc="-23" dirty="0">
                <a:solidFill>
                  <a:srgbClr val="3D3D3D"/>
                </a:solidFill>
                <a:latin typeface="Calibri"/>
                <a:cs typeface="Calibri"/>
              </a:rPr>
              <a:t>c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al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	E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ng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i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n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e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e</a:t>
            </a:r>
            <a:r>
              <a:rPr sz="4026" spc="-58" dirty="0">
                <a:solidFill>
                  <a:srgbClr val="3D3D3D"/>
                </a:solidFill>
                <a:latin typeface="Calibri"/>
                <a:cs typeface="Calibri"/>
              </a:rPr>
              <a:t>r</a:t>
            </a:r>
            <a:r>
              <a:rPr sz="4026" spc="-23" dirty="0">
                <a:solidFill>
                  <a:srgbClr val="3D3D3D"/>
                </a:solidFill>
                <a:latin typeface="Calibri"/>
                <a:cs typeface="Calibri"/>
              </a:rPr>
              <a:t>s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)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: 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is</a:t>
            </a:r>
            <a:r>
              <a:rPr sz="4026" spc="84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the</a:t>
            </a:r>
            <a:r>
              <a:rPr sz="4026" spc="863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FF0000"/>
                </a:solidFill>
                <a:latin typeface="Calibri"/>
                <a:cs typeface="Calibri"/>
              </a:rPr>
              <a:t>art</a:t>
            </a:r>
            <a:r>
              <a:rPr sz="4026" spc="817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46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4026" spc="828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4026" spc="86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FF0000"/>
                </a:solidFill>
                <a:latin typeface="Calibri"/>
                <a:cs typeface="Calibri"/>
              </a:rPr>
              <a:t>science</a:t>
            </a:r>
            <a:r>
              <a:rPr sz="4026" spc="80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4026" spc="87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FF0000"/>
                </a:solidFill>
                <a:latin typeface="Calibri"/>
                <a:cs typeface="Calibri"/>
              </a:rPr>
              <a:t>preparing,</a:t>
            </a:r>
            <a:r>
              <a:rPr sz="4026" spc="8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FF0000"/>
                </a:solidFill>
                <a:latin typeface="Calibri"/>
                <a:cs typeface="Calibri"/>
              </a:rPr>
              <a:t>organizing</a:t>
            </a:r>
            <a:r>
              <a:rPr sz="4026" spc="80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46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endParaRPr sz="4026" dirty="0">
              <a:solidFill>
                <a:srgbClr val="FF0000"/>
              </a:solidFill>
              <a:latin typeface="Calibri"/>
              <a:cs typeface="Calibri"/>
            </a:endParaRPr>
          </a:p>
          <a:p>
            <a:pPr marL="29221">
              <a:lnSpc>
                <a:spcPts val="4141"/>
              </a:lnSpc>
            </a:pPr>
            <a:r>
              <a:rPr sz="4026" spc="12" dirty="0">
                <a:solidFill>
                  <a:srgbClr val="FF0000"/>
                </a:solidFill>
                <a:latin typeface="Calibri"/>
                <a:cs typeface="Calibri"/>
              </a:rPr>
              <a:t>directing</a:t>
            </a:r>
            <a:r>
              <a:rPr sz="4026" spc="518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FF0000"/>
                </a:solidFill>
                <a:latin typeface="Calibri"/>
                <a:cs typeface="Calibri"/>
              </a:rPr>
              <a:t>human</a:t>
            </a:r>
            <a:r>
              <a:rPr sz="4026" spc="46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dirty="0">
                <a:solidFill>
                  <a:srgbClr val="FF0000"/>
                </a:solidFill>
                <a:latin typeface="Calibri"/>
                <a:cs typeface="Calibri"/>
              </a:rPr>
              <a:t>efforts</a:t>
            </a:r>
            <a:r>
              <a:rPr sz="4026" spc="48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4026" spc="44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dirty="0">
                <a:solidFill>
                  <a:srgbClr val="FF0000"/>
                </a:solidFill>
                <a:latin typeface="Calibri"/>
                <a:cs typeface="Calibri"/>
              </a:rPr>
              <a:t>control</a:t>
            </a:r>
            <a:r>
              <a:rPr sz="4026" spc="49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4026" spc="50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dirty="0">
                <a:solidFill>
                  <a:srgbClr val="FF0000"/>
                </a:solidFill>
                <a:latin typeface="Calibri"/>
                <a:cs typeface="Calibri"/>
              </a:rPr>
              <a:t>forces</a:t>
            </a:r>
            <a:r>
              <a:rPr sz="4026" spc="46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4026" spc="552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dirty="0">
                <a:solidFill>
                  <a:srgbClr val="FF0000"/>
                </a:solidFill>
                <a:latin typeface="Calibri"/>
                <a:cs typeface="Calibri"/>
              </a:rPr>
              <a:t>utilize</a:t>
            </a:r>
            <a:r>
              <a:rPr sz="4026" spc="4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4026" spc="50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FF0000"/>
                </a:solidFill>
                <a:latin typeface="Calibri"/>
                <a:cs typeface="Calibri"/>
              </a:rPr>
              <a:t>material</a:t>
            </a:r>
            <a:r>
              <a:rPr sz="4026" spc="48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endParaRPr sz="4026" dirty="0">
              <a:solidFill>
                <a:srgbClr val="FF0000"/>
              </a:solidFill>
              <a:latin typeface="Calibri"/>
              <a:cs typeface="Calibri"/>
            </a:endParaRPr>
          </a:p>
          <a:p>
            <a:pPr marL="29221">
              <a:lnSpc>
                <a:spcPts val="4634"/>
              </a:lnSpc>
            </a:pPr>
            <a:r>
              <a:rPr sz="4026" spc="12" dirty="0">
                <a:solidFill>
                  <a:srgbClr val="FF0000"/>
                </a:solidFill>
                <a:latin typeface="Calibri"/>
                <a:cs typeface="Calibri"/>
              </a:rPr>
              <a:t>nature</a:t>
            </a:r>
            <a:r>
              <a:rPr sz="4026" spc="-2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dirty="0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sz="4026" spc="23" dirty="0">
                <a:solidFill>
                  <a:srgbClr val="FF0000"/>
                </a:solidFill>
                <a:latin typeface="Calibri"/>
                <a:cs typeface="Calibri"/>
              </a:rPr>
              <a:t> the</a:t>
            </a:r>
            <a:r>
              <a:rPr sz="4026" spc="-2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FF0000"/>
                </a:solidFill>
                <a:latin typeface="Calibri"/>
                <a:cs typeface="Calibri"/>
              </a:rPr>
              <a:t>benefit</a:t>
            </a:r>
            <a:r>
              <a:rPr sz="4026" spc="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402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FF0000"/>
                </a:solidFill>
                <a:latin typeface="Calibri"/>
                <a:cs typeface="Calibri"/>
              </a:rPr>
              <a:t>men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.</a:t>
            </a:r>
            <a:endParaRPr sz="4026" dirty="0">
              <a:latin typeface="Calibri"/>
              <a:cs typeface="Calibri"/>
            </a:endParaRPr>
          </a:p>
          <a:p>
            <a:pPr marL="29221" marR="11690">
              <a:lnSpc>
                <a:spcPts val="4440"/>
              </a:lnSpc>
              <a:spcBef>
                <a:spcPts val="2128"/>
              </a:spcBef>
            </a:pP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-Management</a:t>
            </a:r>
            <a:r>
              <a:rPr sz="4026" spc="42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has</a:t>
            </a:r>
            <a:r>
              <a:rPr sz="4026" spc="437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got</a:t>
            </a:r>
            <a:r>
              <a:rPr sz="4026" spc="38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two</a:t>
            </a:r>
            <a:r>
              <a:rPr sz="4026" spc="368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faces</a:t>
            </a:r>
            <a:r>
              <a:rPr sz="4026" spc="391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-12" dirty="0">
                <a:solidFill>
                  <a:srgbClr val="3D3D3D"/>
                </a:solidFill>
                <a:latin typeface="Calibri"/>
                <a:cs typeface="Calibri"/>
              </a:rPr>
              <a:t>like</a:t>
            </a:r>
            <a:r>
              <a:rPr sz="4026" spc="42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a</a:t>
            </a:r>
            <a:r>
              <a:rPr sz="4026" spc="368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coin;</a:t>
            </a:r>
            <a:r>
              <a:rPr sz="4026" spc="368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on</a:t>
            </a:r>
            <a:r>
              <a:rPr sz="4026" spc="38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one</a:t>
            </a:r>
            <a:r>
              <a:rPr sz="4026" spc="414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side</a:t>
            </a:r>
            <a:r>
              <a:rPr sz="4026" spc="368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it</a:t>
            </a:r>
            <a:r>
              <a:rPr sz="4026" spc="437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is</a:t>
            </a:r>
            <a:r>
              <a:rPr sz="4026" spc="357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art</a:t>
            </a:r>
            <a:r>
              <a:rPr sz="4026" spc="38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and</a:t>
            </a:r>
            <a:r>
              <a:rPr sz="4026" spc="38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on </a:t>
            </a:r>
            <a:r>
              <a:rPr sz="4026" spc="-874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the</a:t>
            </a:r>
            <a:r>
              <a:rPr sz="4026" spc="-12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other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side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it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is</a:t>
            </a:r>
            <a:r>
              <a:rPr sz="4026" spc="-12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science.</a:t>
            </a:r>
            <a:endParaRPr sz="4026" dirty="0">
              <a:latin typeface="Calibri"/>
              <a:cs typeface="Calibri"/>
            </a:endParaRPr>
          </a:p>
          <a:p>
            <a:pPr marL="29221" marR="17531">
              <a:lnSpc>
                <a:spcPts val="4417"/>
              </a:lnSpc>
              <a:spcBef>
                <a:spcPts val="2071"/>
              </a:spcBef>
              <a:tabLst>
                <a:tab pos="3426057" algn="l"/>
                <a:tab pos="7451128" algn="l"/>
                <a:tab pos="11445513" algn="l"/>
              </a:tabLst>
            </a:pP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-	is</a:t>
            </a:r>
            <a:r>
              <a:rPr sz="4026" spc="527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a</a:t>
            </a:r>
            <a:r>
              <a:rPr sz="4026" spc="483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mixture</a:t>
            </a:r>
            <a:r>
              <a:rPr sz="4026" spc="50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of</a:t>
            </a:r>
            <a:r>
              <a:rPr sz="4026" spc="518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an</a:t>
            </a:r>
            <a:r>
              <a:rPr sz="4026" spc="564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art</a:t>
            </a:r>
            <a:r>
              <a:rPr sz="4026" spc="46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and</a:t>
            </a:r>
            <a:r>
              <a:rPr sz="4026" spc="50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science	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the</a:t>
            </a:r>
            <a:r>
              <a:rPr sz="4026" spc="449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present</a:t>
            </a:r>
            <a:r>
              <a:rPr sz="4026" spc="46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ratio</a:t>
            </a:r>
            <a:r>
              <a:rPr sz="4026" spc="414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is </a:t>
            </a:r>
            <a:r>
              <a:rPr sz="4026" spc="-88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about</a:t>
            </a:r>
            <a:r>
              <a:rPr sz="4026" spc="58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FF0000"/>
                </a:solidFill>
                <a:latin typeface="Calibri"/>
                <a:cs typeface="Calibri"/>
              </a:rPr>
              <a:t>80%</a:t>
            </a:r>
            <a:r>
              <a:rPr sz="4026" spc="1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FF0000"/>
                </a:solidFill>
                <a:latin typeface="Calibri"/>
                <a:cs typeface="Calibri"/>
              </a:rPr>
              <a:t>art</a:t>
            </a:r>
            <a:r>
              <a:rPr sz="4026" spc="35" dirty="0">
                <a:solidFill>
                  <a:srgbClr val="FF0000"/>
                </a:solidFill>
                <a:latin typeface="Calibri"/>
                <a:cs typeface="Calibri"/>
              </a:rPr>
              <a:t> and</a:t>
            </a:r>
            <a:r>
              <a:rPr sz="4026" spc="6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FF0000"/>
                </a:solidFill>
                <a:latin typeface="Calibri"/>
                <a:cs typeface="Calibri"/>
              </a:rPr>
              <a:t>20%</a:t>
            </a:r>
            <a:r>
              <a:rPr sz="4026" spc="58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FF0000"/>
                </a:solidFill>
                <a:latin typeface="Calibri"/>
                <a:cs typeface="Calibri"/>
              </a:rPr>
              <a:t>science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.	Dean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-23" dirty="0">
                <a:solidFill>
                  <a:srgbClr val="3D3D3D"/>
                </a:solidFill>
                <a:latin typeface="Calibri"/>
                <a:cs typeface="Calibri"/>
              </a:rPr>
              <a:t>Stanley.</a:t>
            </a:r>
            <a:endParaRPr sz="4026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945064" y="9491460"/>
            <a:ext cx="397369" cy="436666"/>
          </a:xfrm>
          <a:prstGeom prst="rect">
            <a:avLst/>
          </a:prstGeom>
        </p:spPr>
        <p:txBody>
          <a:bodyPr vert="horz" wrap="square" lIns="0" tIns="29218" rIns="0" bIns="0" rtlCol="0">
            <a:spAutoFit/>
          </a:bodyPr>
          <a:lstStyle/>
          <a:p>
            <a:pPr marL="29221">
              <a:spcBef>
                <a:spcPts val="230"/>
              </a:spcBef>
            </a:pPr>
            <a:r>
              <a:rPr sz="2646" spc="-23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r>
              <a:rPr sz="2646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2646">
              <a:latin typeface="Calibri"/>
              <a:cs typeface="Calibri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51B9590A-52E0-A4E5-ECF7-F6585A6BD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49589" y="2546813"/>
            <a:ext cx="14617916" cy="0"/>
          </a:xfrm>
          <a:custGeom>
            <a:avLst/>
            <a:gdLst/>
            <a:ahLst/>
            <a:cxnLst/>
            <a:rect l="l" t="t" r="r" b="b"/>
            <a:pathLst>
              <a:path w="6353809">
                <a:moveTo>
                  <a:pt x="0" y="0"/>
                </a:moveTo>
                <a:lnTo>
                  <a:pt x="6353556" y="0"/>
                </a:lnTo>
              </a:path>
            </a:pathLst>
          </a:custGeom>
          <a:ln w="4572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 sz="4141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3448" y="1174135"/>
            <a:ext cx="4589608" cy="58904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16420" y="1209210"/>
            <a:ext cx="2023073" cy="55397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581423" y="1212716"/>
            <a:ext cx="4175877" cy="69071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580152" y="2647460"/>
            <a:ext cx="12068619" cy="2313658"/>
          </a:xfrm>
          <a:prstGeom prst="rect">
            <a:avLst/>
          </a:prstGeom>
        </p:spPr>
        <p:txBody>
          <a:bodyPr vert="horz" wrap="square" lIns="0" tIns="39445" rIns="0" bIns="0" rtlCol="0">
            <a:spAutoFit/>
          </a:bodyPr>
          <a:lstStyle/>
          <a:p>
            <a:pPr marL="29221">
              <a:spcBef>
                <a:spcPts val="311"/>
              </a:spcBef>
            </a:pP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The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 difference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can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be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summarized</a:t>
            </a:r>
            <a:r>
              <a:rPr sz="4026" spc="4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under</a:t>
            </a:r>
            <a:r>
              <a:rPr sz="4026" spc="81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23" dirty="0">
                <a:solidFill>
                  <a:srgbClr val="3D3D3D"/>
                </a:solidFill>
                <a:latin typeface="Calibri"/>
                <a:cs typeface="Calibri"/>
              </a:rPr>
              <a:t>two</a:t>
            </a:r>
            <a:r>
              <a:rPr sz="4026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categories:</a:t>
            </a:r>
            <a:endParaRPr sz="4026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4141">
              <a:latin typeface="Calibri"/>
              <a:cs typeface="Calibri"/>
            </a:endParaRPr>
          </a:p>
          <a:p>
            <a:pPr marL="29221">
              <a:spcBef>
                <a:spcPts val="3117"/>
              </a:spcBef>
            </a:pPr>
            <a:r>
              <a:rPr sz="4026" b="1" spc="23" dirty="0">
                <a:solidFill>
                  <a:srgbClr val="3D3D3D"/>
                </a:solidFill>
                <a:latin typeface="Calibri"/>
                <a:cs typeface="Calibri"/>
              </a:rPr>
              <a:t>Functions</a:t>
            </a:r>
            <a:r>
              <a:rPr sz="4026" b="1" spc="-23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spc="35" dirty="0">
                <a:solidFill>
                  <a:srgbClr val="3D3D3D"/>
                </a:solidFill>
                <a:latin typeface="Calibri"/>
                <a:cs typeface="Calibri"/>
              </a:rPr>
              <a:t>and</a:t>
            </a:r>
            <a:r>
              <a:rPr sz="4026" spc="12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4026" b="1" spc="12" dirty="0">
                <a:solidFill>
                  <a:srgbClr val="3D3D3D"/>
                </a:solidFill>
                <a:latin typeface="Calibri"/>
                <a:cs typeface="Calibri"/>
              </a:rPr>
              <a:t>Usage/Applicability</a:t>
            </a:r>
            <a:endParaRPr sz="4026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945064" y="9491460"/>
            <a:ext cx="397369" cy="436666"/>
          </a:xfrm>
          <a:prstGeom prst="rect">
            <a:avLst/>
          </a:prstGeom>
        </p:spPr>
        <p:txBody>
          <a:bodyPr vert="horz" wrap="square" lIns="0" tIns="29218" rIns="0" bIns="0" rtlCol="0">
            <a:spAutoFit/>
          </a:bodyPr>
          <a:lstStyle/>
          <a:p>
            <a:pPr marL="29221">
              <a:spcBef>
                <a:spcPts val="230"/>
              </a:spcBef>
            </a:pPr>
            <a:r>
              <a:rPr sz="2646" spc="-23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r>
              <a:rPr sz="2646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endParaRPr sz="2646">
              <a:latin typeface="Calibri"/>
              <a:cs typeface="Calibri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173CA3-35DB-AA48-2B26-08011C287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013292" y="2577492"/>
          <a:ext cx="16270211" cy="65118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06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30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203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238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Basis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77428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Management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77428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Administration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77428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4947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Meaning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42367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4D8CC"/>
                    </a:solidFill>
                  </a:tcPr>
                </a:tc>
                <a:tc>
                  <a:txBody>
                    <a:bodyPr/>
                    <a:lstStyle/>
                    <a:p>
                      <a:pPr marL="57785" marR="48895" indent="-635" algn="just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Management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 is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an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art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getting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 things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done 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through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others by directing their 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efforts towards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 achievement</a:t>
                      </a:r>
                      <a:r>
                        <a:rPr sz="2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predetermined</a:t>
                      </a:r>
                      <a:r>
                        <a:rPr sz="28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goals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42367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4D8CC"/>
                    </a:solidFill>
                  </a:tcPr>
                </a:tc>
                <a:tc>
                  <a:txBody>
                    <a:bodyPr/>
                    <a:lstStyle/>
                    <a:p>
                      <a:pPr marL="57785" marR="4953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2800" spc="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2800" spc="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concerned</a:t>
                      </a:r>
                      <a:r>
                        <a:rPr sz="2800" spc="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2800" spc="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formulation</a:t>
                      </a:r>
                      <a:r>
                        <a:rPr sz="2800" spc="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800" spc="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broad </a:t>
                      </a:r>
                      <a:r>
                        <a:rPr sz="2800" spc="-2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objectives,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plans</a:t>
                      </a:r>
                      <a:r>
                        <a:rPr sz="2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2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policies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42367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4D8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6423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Nature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45288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9EDE6"/>
                    </a:solidFill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Management</a:t>
                      </a:r>
                      <a:r>
                        <a:rPr sz="2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2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an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 executing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function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45288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9EDE6"/>
                    </a:solidFill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Administration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decision-making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function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45288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9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939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Process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45288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4D8CC"/>
                    </a:solidFill>
                  </a:tcPr>
                </a:tc>
                <a:tc>
                  <a:txBody>
                    <a:bodyPr/>
                    <a:lstStyle/>
                    <a:p>
                      <a:pPr marL="57785" marR="50800" indent="-635">
                        <a:lnSpc>
                          <a:spcPts val="1370"/>
                        </a:lnSpc>
                        <a:spcBef>
                          <a:spcPts val="210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Management</a:t>
                      </a:r>
                      <a:r>
                        <a:rPr sz="2800" spc="1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decide</a:t>
                      </a:r>
                      <a:r>
                        <a:rPr sz="2800" spc="1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who</a:t>
                      </a:r>
                      <a:r>
                        <a:rPr sz="2800" spc="1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should</a:t>
                      </a:r>
                      <a:r>
                        <a:rPr sz="2800" spc="1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do</a:t>
                      </a:r>
                      <a:r>
                        <a:rPr sz="2800" spc="1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2800" spc="1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2800" spc="1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how </a:t>
                      </a:r>
                      <a:r>
                        <a:rPr sz="2800" spc="-2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he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should</a:t>
                      </a:r>
                      <a:r>
                        <a:rPr sz="2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do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it.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61358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4D8CC"/>
                    </a:solidFill>
                  </a:tcPr>
                </a:tc>
                <a:tc>
                  <a:txBody>
                    <a:bodyPr/>
                    <a:lstStyle/>
                    <a:p>
                      <a:pPr marL="57785" marR="50800">
                        <a:lnSpc>
                          <a:spcPts val="1370"/>
                        </a:lnSpc>
                        <a:spcBef>
                          <a:spcPts val="210"/>
                        </a:spcBef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Administration</a:t>
                      </a:r>
                      <a:r>
                        <a:rPr sz="2800" spc="1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decides</a:t>
                      </a:r>
                      <a:r>
                        <a:rPr sz="2800" spc="1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what</a:t>
                      </a:r>
                      <a:r>
                        <a:rPr sz="2800" spc="1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2800" spc="1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800" spc="1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2800" spc="1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done</a:t>
                      </a:r>
                      <a:r>
                        <a:rPr sz="2800" spc="1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2800" spc="-2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when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is 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be done.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61358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4D8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88451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Function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45288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9EDE6"/>
                    </a:solidFill>
                  </a:tcPr>
                </a:tc>
                <a:tc>
                  <a:txBody>
                    <a:bodyPr/>
                    <a:lstStyle/>
                    <a:p>
                      <a:pPr marL="57785" marR="51435" indent="-635">
                        <a:lnSpc>
                          <a:spcPct val="100000"/>
                        </a:lnSpc>
                        <a:spcBef>
                          <a:spcPts val="155"/>
                        </a:spcBef>
                        <a:tabLst>
                          <a:tab pos="988694" algn="l"/>
                          <a:tab pos="1212850" algn="l"/>
                          <a:tab pos="1419225" algn="l"/>
                          <a:tab pos="1884045" algn="l"/>
                          <a:tab pos="2514600" algn="l"/>
                        </a:tabLst>
                      </a:pPr>
                      <a:r>
                        <a:rPr sz="2800" spc="5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g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en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t	</a:t>
                      </a:r>
                      <a:r>
                        <a:rPr sz="2800" spc="-1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s	a	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d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oi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g	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fu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2800" spc="-1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on	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b</a:t>
                      </a:r>
                      <a:r>
                        <a:rPr sz="2800" spc="1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2800" spc="-30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u</a:t>
                      </a:r>
                      <a:r>
                        <a:rPr sz="2800" spc="10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e 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manager get</a:t>
                      </a:r>
                      <a:r>
                        <a:rPr sz="2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work</a:t>
                      </a:r>
                      <a:r>
                        <a:rPr sz="2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done</a:t>
                      </a:r>
                      <a:r>
                        <a:rPr sz="2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under their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supervision.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45288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9EDE6"/>
                    </a:solidFill>
                  </a:tcPr>
                </a:tc>
                <a:tc>
                  <a:txBody>
                    <a:bodyPr/>
                    <a:lstStyle/>
                    <a:p>
                      <a:pPr marL="57785" marR="5016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Administration</a:t>
                      </a:r>
                      <a:r>
                        <a:rPr sz="2800" spc="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2800" spc="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800" spc="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thinking</a:t>
                      </a:r>
                      <a:r>
                        <a:rPr sz="2800" spc="1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function</a:t>
                      </a:r>
                      <a:r>
                        <a:rPr sz="2800" spc="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because </a:t>
                      </a:r>
                      <a:r>
                        <a:rPr sz="2800" spc="-2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plans</a:t>
                      </a:r>
                      <a:r>
                        <a:rPr sz="2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policies</a:t>
                      </a:r>
                      <a:r>
                        <a:rPr sz="2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determined</a:t>
                      </a:r>
                      <a:r>
                        <a:rPr sz="2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under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it.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45288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9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3832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Skills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45288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4D8CC"/>
                    </a:solidFill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2800" spc="-20" dirty="0">
                          <a:latin typeface="Calibri"/>
                          <a:cs typeface="Calibri"/>
                        </a:rPr>
                        <a:t>Technical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Human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skills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45288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4D8CC"/>
                    </a:solidFill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Conceptual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Human</a:t>
                      </a:r>
                      <a:r>
                        <a:rPr sz="2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skills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45288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4D8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6446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Level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45288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9EDE6"/>
                    </a:solidFill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Middle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Lower</a:t>
                      </a:r>
                      <a:r>
                        <a:rPr sz="2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level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function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45288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9EDE6"/>
                    </a:solidFill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2800" spc="-35" dirty="0">
                          <a:latin typeface="Calibri"/>
                          <a:cs typeface="Calibri"/>
                        </a:rPr>
                        <a:t>Top</a:t>
                      </a:r>
                      <a:r>
                        <a:rPr sz="2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level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function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45288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9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1760" y="434328"/>
            <a:ext cx="4161855" cy="539954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5769445" y="592106"/>
            <a:ext cx="575601" cy="382760"/>
            <a:chOff x="2507742" y="3100577"/>
            <a:chExt cx="250190" cy="166370"/>
          </a:xfrm>
        </p:grpSpPr>
        <p:sp>
          <p:nvSpPr>
            <p:cNvPr id="5" name="object 5"/>
            <p:cNvSpPr/>
            <p:nvPr/>
          </p:nvSpPr>
          <p:spPr>
            <a:xfrm>
              <a:off x="2513076" y="3107435"/>
              <a:ext cx="129539" cy="152400"/>
            </a:xfrm>
            <a:custGeom>
              <a:avLst/>
              <a:gdLst/>
              <a:ahLst/>
              <a:cxnLst/>
              <a:rect l="l" t="t" r="r" b="b"/>
              <a:pathLst>
                <a:path w="129539" h="152400">
                  <a:moveTo>
                    <a:pt x="129539" y="3048"/>
                  </a:moveTo>
                  <a:lnTo>
                    <a:pt x="129539" y="1524"/>
                  </a:lnTo>
                  <a:lnTo>
                    <a:pt x="129539" y="1524"/>
                  </a:lnTo>
                  <a:lnTo>
                    <a:pt x="123443" y="0"/>
                  </a:lnTo>
                  <a:lnTo>
                    <a:pt x="121919" y="0"/>
                  </a:lnTo>
                  <a:lnTo>
                    <a:pt x="118871" y="0"/>
                  </a:lnTo>
                  <a:lnTo>
                    <a:pt x="117347" y="1524"/>
                  </a:lnTo>
                  <a:lnTo>
                    <a:pt x="115823" y="1524"/>
                  </a:lnTo>
                  <a:lnTo>
                    <a:pt x="114299" y="1524"/>
                  </a:lnTo>
                  <a:lnTo>
                    <a:pt x="112775" y="1524"/>
                  </a:lnTo>
                  <a:lnTo>
                    <a:pt x="112775" y="1524"/>
                  </a:lnTo>
                  <a:lnTo>
                    <a:pt x="65531" y="131064"/>
                  </a:lnTo>
                  <a:lnTo>
                    <a:pt x="19811" y="4572"/>
                  </a:lnTo>
                  <a:lnTo>
                    <a:pt x="19811" y="3048"/>
                  </a:lnTo>
                  <a:lnTo>
                    <a:pt x="18287" y="3048"/>
                  </a:lnTo>
                  <a:lnTo>
                    <a:pt x="18287" y="1524"/>
                  </a:lnTo>
                  <a:lnTo>
                    <a:pt x="16763" y="1524"/>
                  </a:lnTo>
                  <a:lnTo>
                    <a:pt x="15239" y="1524"/>
                  </a:lnTo>
                  <a:lnTo>
                    <a:pt x="13715" y="1524"/>
                  </a:lnTo>
                  <a:lnTo>
                    <a:pt x="10667" y="0"/>
                  </a:lnTo>
                  <a:lnTo>
                    <a:pt x="9143" y="0"/>
                  </a:lnTo>
                  <a:lnTo>
                    <a:pt x="7619" y="0"/>
                  </a:lnTo>
                  <a:lnTo>
                    <a:pt x="6095" y="1524"/>
                  </a:lnTo>
                  <a:lnTo>
                    <a:pt x="4571" y="1524"/>
                  </a:lnTo>
                  <a:lnTo>
                    <a:pt x="3047" y="1524"/>
                  </a:lnTo>
                  <a:lnTo>
                    <a:pt x="1523" y="1524"/>
                  </a:lnTo>
                  <a:lnTo>
                    <a:pt x="1523" y="3048"/>
                  </a:lnTo>
                  <a:lnTo>
                    <a:pt x="0" y="3048"/>
                  </a:lnTo>
                  <a:lnTo>
                    <a:pt x="0" y="4572"/>
                  </a:lnTo>
                  <a:lnTo>
                    <a:pt x="0" y="6096"/>
                  </a:lnTo>
                  <a:lnTo>
                    <a:pt x="1523" y="6096"/>
                  </a:lnTo>
                  <a:lnTo>
                    <a:pt x="1523" y="7620"/>
                  </a:lnTo>
                  <a:lnTo>
                    <a:pt x="1523" y="9144"/>
                  </a:lnTo>
                  <a:lnTo>
                    <a:pt x="53339" y="149352"/>
                  </a:lnTo>
                  <a:lnTo>
                    <a:pt x="53339" y="150876"/>
                  </a:lnTo>
                  <a:lnTo>
                    <a:pt x="54863" y="150876"/>
                  </a:lnTo>
                  <a:lnTo>
                    <a:pt x="56387" y="152400"/>
                  </a:lnTo>
                  <a:lnTo>
                    <a:pt x="57911" y="152400"/>
                  </a:lnTo>
                  <a:lnTo>
                    <a:pt x="59435" y="152400"/>
                  </a:lnTo>
                  <a:lnTo>
                    <a:pt x="60959" y="152400"/>
                  </a:lnTo>
                  <a:lnTo>
                    <a:pt x="62483" y="152400"/>
                  </a:lnTo>
                  <a:lnTo>
                    <a:pt x="64007" y="152400"/>
                  </a:lnTo>
                  <a:lnTo>
                    <a:pt x="65531" y="152400"/>
                  </a:lnTo>
                  <a:lnTo>
                    <a:pt x="67055" y="152400"/>
                  </a:lnTo>
                  <a:lnTo>
                    <a:pt x="68579" y="152400"/>
                  </a:lnTo>
                  <a:lnTo>
                    <a:pt x="70103" y="152400"/>
                  </a:lnTo>
                  <a:lnTo>
                    <a:pt x="71627" y="152400"/>
                  </a:lnTo>
                  <a:lnTo>
                    <a:pt x="73151" y="152400"/>
                  </a:lnTo>
                  <a:lnTo>
                    <a:pt x="74675" y="152400"/>
                  </a:lnTo>
                  <a:lnTo>
                    <a:pt x="74675" y="150876"/>
                  </a:lnTo>
                  <a:lnTo>
                    <a:pt x="76199" y="150876"/>
                  </a:lnTo>
                  <a:lnTo>
                    <a:pt x="76199" y="149352"/>
                  </a:lnTo>
                  <a:lnTo>
                    <a:pt x="77723" y="149352"/>
                  </a:lnTo>
                  <a:lnTo>
                    <a:pt x="129539" y="9144"/>
                  </a:lnTo>
                  <a:lnTo>
                    <a:pt x="129539" y="7620"/>
                  </a:lnTo>
                  <a:lnTo>
                    <a:pt x="129539" y="6096"/>
                  </a:lnTo>
                  <a:lnTo>
                    <a:pt x="129539" y="3048"/>
                  </a:lnTo>
                  <a:close/>
                </a:path>
              </a:pathLst>
            </a:custGeom>
            <a:ln w="10668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4141"/>
            </a:p>
          </p:txBody>
        </p:sp>
        <p:sp>
          <p:nvSpPr>
            <p:cNvPr id="6" name="object 6"/>
            <p:cNvSpPr/>
            <p:nvPr/>
          </p:nvSpPr>
          <p:spPr>
            <a:xfrm>
              <a:off x="2654808" y="3105911"/>
              <a:ext cx="97790" cy="155575"/>
            </a:xfrm>
            <a:custGeom>
              <a:avLst/>
              <a:gdLst/>
              <a:ahLst/>
              <a:cxnLst/>
              <a:rect l="l" t="t" r="r" b="b"/>
              <a:pathLst>
                <a:path w="97789" h="155575">
                  <a:moveTo>
                    <a:pt x="94487" y="96011"/>
                  </a:moveTo>
                  <a:lnTo>
                    <a:pt x="92963" y="92963"/>
                  </a:lnTo>
                  <a:lnTo>
                    <a:pt x="89915" y="88391"/>
                  </a:lnTo>
                  <a:lnTo>
                    <a:pt x="86867" y="85343"/>
                  </a:lnTo>
                  <a:lnTo>
                    <a:pt x="82295" y="82295"/>
                  </a:lnTo>
                  <a:lnTo>
                    <a:pt x="79247" y="79247"/>
                  </a:lnTo>
                  <a:lnTo>
                    <a:pt x="74675" y="77723"/>
                  </a:lnTo>
                  <a:lnTo>
                    <a:pt x="70103" y="76199"/>
                  </a:lnTo>
                  <a:lnTo>
                    <a:pt x="65531" y="73151"/>
                  </a:lnTo>
                  <a:lnTo>
                    <a:pt x="60959" y="71627"/>
                  </a:lnTo>
                  <a:lnTo>
                    <a:pt x="56387" y="70103"/>
                  </a:lnTo>
                  <a:lnTo>
                    <a:pt x="51815" y="68579"/>
                  </a:lnTo>
                  <a:lnTo>
                    <a:pt x="47243" y="67055"/>
                  </a:lnTo>
                  <a:lnTo>
                    <a:pt x="42671" y="64007"/>
                  </a:lnTo>
                  <a:lnTo>
                    <a:pt x="38099" y="62483"/>
                  </a:lnTo>
                  <a:lnTo>
                    <a:pt x="35051" y="59435"/>
                  </a:lnTo>
                  <a:lnTo>
                    <a:pt x="32003" y="57911"/>
                  </a:lnTo>
                  <a:lnTo>
                    <a:pt x="28955" y="54863"/>
                  </a:lnTo>
                  <a:lnTo>
                    <a:pt x="25907" y="51815"/>
                  </a:lnTo>
                  <a:lnTo>
                    <a:pt x="24383" y="48767"/>
                  </a:lnTo>
                  <a:lnTo>
                    <a:pt x="22859" y="44195"/>
                  </a:lnTo>
                  <a:lnTo>
                    <a:pt x="22859" y="39623"/>
                  </a:lnTo>
                  <a:lnTo>
                    <a:pt x="22859" y="36575"/>
                  </a:lnTo>
                  <a:lnTo>
                    <a:pt x="24383" y="33527"/>
                  </a:lnTo>
                  <a:lnTo>
                    <a:pt x="24383" y="30479"/>
                  </a:lnTo>
                  <a:lnTo>
                    <a:pt x="25907" y="28955"/>
                  </a:lnTo>
                  <a:lnTo>
                    <a:pt x="27431" y="25907"/>
                  </a:lnTo>
                  <a:lnTo>
                    <a:pt x="30479" y="24383"/>
                  </a:lnTo>
                  <a:lnTo>
                    <a:pt x="33527" y="21335"/>
                  </a:lnTo>
                  <a:lnTo>
                    <a:pt x="36575" y="19811"/>
                  </a:lnTo>
                  <a:lnTo>
                    <a:pt x="39623" y="19811"/>
                  </a:lnTo>
                  <a:lnTo>
                    <a:pt x="44195" y="18287"/>
                  </a:lnTo>
                  <a:lnTo>
                    <a:pt x="48767" y="16763"/>
                  </a:lnTo>
                  <a:lnTo>
                    <a:pt x="53339" y="16763"/>
                  </a:lnTo>
                  <a:lnTo>
                    <a:pt x="57911" y="16763"/>
                  </a:lnTo>
                  <a:lnTo>
                    <a:pt x="62483" y="18287"/>
                  </a:lnTo>
                  <a:lnTo>
                    <a:pt x="65531" y="19811"/>
                  </a:lnTo>
                  <a:lnTo>
                    <a:pt x="70103" y="19811"/>
                  </a:lnTo>
                  <a:lnTo>
                    <a:pt x="73151" y="21335"/>
                  </a:lnTo>
                  <a:lnTo>
                    <a:pt x="76199" y="22859"/>
                  </a:lnTo>
                  <a:lnTo>
                    <a:pt x="79247" y="24383"/>
                  </a:lnTo>
                  <a:lnTo>
                    <a:pt x="80771" y="25907"/>
                  </a:lnTo>
                  <a:lnTo>
                    <a:pt x="82295" y="25907"/>
                  </a:lnTo>
                  <a:lnTo>
                    <a:pt x="83819" y="27431"/>
                  </a:lnTo>
                  <a:lnTo>
                    <a:pt x="85343" y="27431"/>
                  </a:lnTo>
                  <a:lnTo>
                    <a:pt x="86867" y="27431"/>
                  </a:lnTo>
                  <a:lnTo>
                    <a:pt x="88391" y="27431"/>
                  </a:lnTo>
                  <a:lnTo>
                    <a:pt x="89915" y="25907"/>
                  </a:lnTo>
                  <a:lnTo>
                    <a:pt x="89915" y="24383"/>
                  </a:lnTo>
                  <a:lnTo>
                    <a:pt x="89915" y="22859"/>
                  </a:lnTo>
                  <a:lnTo>
                    <a:pt x="89915" y="21335"/>
                  </a:lnTo>
                  <a:lnTo>
                    <a:pt x="89915" y="19811"/>
                  </a:lnTo>
                  <a:lnTo>
                    <a:pt x="89915" y="18287"/>
                  </a:lnTo>
                  <a:lnTo>
                    <a:pt x="89915" y="16763"/>
                  </a:lnTo>
                  <a:lnTo>
                    <a:pt x="89915" y="15239"/>
                  </a:lnTo>
                  <a:lnTo>
                    <a:pt x="89915" y="13715"/>
                  </a:lnTo>
                  <a:lnTo>
                    <a:pt x="89915" y="12191"/>
                  </a:lnTo>
                  <a:lnTo>
                    <a:pt x="88391" y="12191"/>
                  </a:lnTo>
                  <a:lnTo>
                    <a:pt x="88391" y="10667"/>
                  </a:lnTo>
                  <a:lnTo>
                    <a:pt x="86867" y="10667"/>
                  </a:lnTo>
                  <a:lnTo>
                    <a:pt x="85343" y="9143"/>
                  </a:lnTo>
                  <a:lnTo>
                    <a:pt x="83819" y="7619"/>
                  </a:lnTo>
                  <a:lnTo>
                    <a:pt x="82295" y="7619"/>
                  </a:lnTo>
                  <a:lnTo>
                    <a:pt x="79247" y="6095"/>
                  </a:lnTo>
                  <a:lnTo>
                    <a:pt x="77723" y="4571"/>
                  </a:lnTo>
                  <a:lnTo>
                    <a:pt x="74675" y="4571"/>
                  </a:lnTo>
                  <a:lnTo>
                    <a:pt x="71627" y="3047"/>
                  </a:lnTo>
                  <a:lnTo>
                    <a:pt x="68579" y="1523"/>
                  </a:lnTo>
                  <a:lnTo>
                    <a:pt x="64007" y="1523"/>
                  </a:lnTo>
                  <a:lnTo>
                    <a:pt x="60959" y="1523"/>
                  </a:lnTo>
                  <a:lnTo>
                    <a:pt x="57911" y="0"/>
                  </a:lnTo>
                  <a:lnTo>
                    <a:pt x="53339" y="0"/>
                  </a:lnTo>
                  <a:lnTo>
                    <a:pt x="45719" y="0"/>
                  </a:lnTo>
                  <a:lnTo>
                    <a:pt x="38099" y="1523"/>
                  </a:lnTo>
                  <a:lnTo>
                    <a:pt x="32003" y="4571"/>
                  </a:lnTo>
                  <a:lnTo>
                    <a:pt x="25907" y="6095"/>
                  </a:lnTo>
                  <a:lnTo>
                    <a:pt x="21335" y="9143"/>
                  </a:lnTo>
                  <a:lnTo>
                    <a:pt x="16763" y="13715"/>
                  </a:lnTo>
                  <a:lnTo>
                    <a:pt x="12191" y="16763"/>
                  </a:lnTo>
                  <a:lnTo>
                    <a:pt x="9143" y="21335"/>
                  </a:lnTo>
                  <a:lnTo>
                    <a:pt x="7619" y="25907"/>
                  </a:lnTo>
                  <a:lnTo>
                    <a:pt x="6095" y="30479"/>
                  </a:lnTo>
                  <a:lnTo>
                    <a:pt x="4571" y="36575"/>
                  </a:lnTo>
                  <a:lnTo>
                    <a:pt x="4571" y="41147"/>
                  </a:lnTo>
                  <a:lnTo>
                    <a:pt x="4571" y="47243"/>
                  </a:lnTo>
                  <a:lnTo>
                    <a:pt x="16763" y="68579"/>
                  </a:lnTo>
                  <a:lnTo>
                    <a:pt x="19811" y="71627"/>
                  </a:lnTo>
                  <a:lnTo>
                    <a:pt x="24383" y="74675"/>
                  </a:lnTo>
                  <a:lnTo>
                    <a:pt x="28955" y="76199"/>
                  </a:lnTo>
                  <a:lnTo>
                    <a:pt x="33527" y="79247"/>
                  </a:lnTo>
                  <a:lnTo>
                    <a:pt x="38099" y="80771"/>
                  </a:lnTo>
                  <a:lnTo>
                    <a:pt x="42671" y="82295"/>
                  </a:lnTo>
                  <a:lnTo>
                    <a:pt x="47243" y="85343"/>
                  </a:lnTo>
                  <a:lnTo>
                    <a:pt x="51815" y="86867"/>
                  </a:lnTo>
                  <a:lnTo>
                    <a:pt x="56387" y="88391"/>
                  </a:lnTo>
                  <a:lnTo>
                    <a:pt x="60959" y="89915"/>
                  </a:lnTo>
                  <a:lnTo>
                    <a:pt x="64007" y="91439"/>
                  </a:lnTo>
                  <a:lnTo>
                    <a:pt x="68579" y="94487"/>
                  </a:lnTo>
                  <a:lnTo>
                    <a:pt x="71627" y="96011"/>
                  </a:lnTo>
                  <a:lnTo>
                    <a:pt x="74675" y="99059"/>
                  </a:lnTo>
                  <a:lnTo>
                    <a:pt x="76199" y="102107"/>
                  </a:lnTo>
                  <a:lnTo>
                    <a:pt x="79247" y="105155"/>
                  </a:lnTo>
                  <a:lnTo>
                    <a:pt x="79247" y="109727"/>
                  </a:lnTo>
                  <a:lnTo>
                    <a:pt x="79247" y="112775"/>
                  </a:lnTo>
                  <a:lnTo>
                    <a:pt x="79247" y="117347"/>
                  </a:lnTo>
                  <a:lnTo>
                    <a:pt x="79247" y="121919"/>
                  </a:lnTo>
                  <a:lnTo>
                    <a:pt x="77723" y="124967"/>
                  </a:lnTo>
                  <a:lnTo>
                    <a:pt x="76199" y="128015"/>
                  </a:lnTo>
                  <a:lnTo>
                    <a:pt x="73151" y="131063"/>
                  </a:lnTo>
                  <a:lnTo>
                    <a:pt x="70103" y="132587"/>
                  </a:lnTo>
                  <a:lnTo>
                    <a:pt x="67055" y="135635"/>
                  </a:lnTo>
                  <a:lnTo>
                    <a:pt x="64007" y="137159"/>
                  </a:lnTo>
                  <a:lnTo>
                    <a:pt x="59435" y="137159"/>
                  </a:lnTo>
                  <a:lnTo>
                    <a:pt x="56387" y="138683"/>
                  </a:lnTo>
                  <a:lnTo>
                    <a:pt x="51815" y="138683"/>
                  </a:lnTo>
                  <a:lnTo>
                    <a:pt x="45719" y="138683"/>
                  </a:lnTo>
                  <a:lnTo>
                    <a:pt x="39623" y="138683"/>
                  </a:lnTo>
                  <a:lnTo>
                    <a:pt x="35051" y="138683"/>
                  </a:lnTo>
                  <a:lnTo>
                    <a:pt x="30479" y="137159"/>
                  </a:lnTo>
                  <a:lnTo>
                    <a:pt x="25907" y="135635"/>
                  </a:lnTo>
                  <a:lnTo>
                    <a:pt x="21335" y="134111"/>
                  </a:lnTo>
                  <a:lnTo>
                    <a:pt x="18287" y="132587"/>
                  </a:lnTo>
                  <a:lnTo>
                    <a:pt x="15239" y="131063"/>
                  </a:lnTo>
                  <a:lnTo>
                    <a:pt x="12191" y="129539"/>
                  </a:lnTo>
                  <a:lnTo>
                    <a:pt x="9143" y="128015"/>
                  </a:lnTo>
                  <a:lnTo>
                    <a:pt x="7619" y="126491"/>
                  </a:lnTo>
                  <a:lnTo>
                    <a:pt x="6095" y="124967"/>
                  </a:lnTo>
                  <a:lnTo>
                    <a:pt x="4571" y="124967"/>
                  </a:lnTo>
                  <a:lnTo>
                    <a:pt x="3047" y="126491"/>
                  </a:lnTo>
                  <a:lnTo>
                    <a:pt x="1523" y="126491"/>
                  </a:lnTo>
                  <a:lnTo>
                    <a:pt x="1523" y="128015"/>
                  </a:lnTo>
                  <a:lnTo>
                    <a:pt x="1523" y="129539"/>
                  </a:lnTo>
                  <a:lnTo>
                    <a:pt x="1523" y="131063"/>
                  </a:lnTo>
                  <a:lnTo>
                    <a:pt x="0" y="131063"/>
                  </a:lnTo>
                  <a:lnTo>
                    <a:pt x="0" y="132587"/>
                  </a:lnTo>
                  <a:lnTo>
                    <a:pt x="0" y="134111"/>
                  </a:lnTo>
                  <a:lnTo>
                    <a:pt x="0" y="137159"/>
                  </a:lnTo>
                  <a:lnTo>
                    <a:pt x="0" y="138683"/>
                  </a:lnTo>
                  <a:lnTo>
                    <a:pt x="1523" y="140207"/>
                  </a:lnTo>
                  <a:lnTo>
                    <a:pt x="1523" y="141731"/>
                  </a:lnTo>
                  <a:lnTo>
                    <a:pt x="3047" y="143255"/>
                  </a:lnTo>
                  <a:lnTo>
                    <a:pt x="3047" y="144779"/>
                  </a:lnTo>
                  <a:lnTo>
                    <a:pt x="4571" y="144779"/>
                  </a:lnTo>
                  <a:lnTo>
                    <a:pt x="6095" y="146303"/>
                  </a:lnTo>
                  <a:lnTo>
                    <a:pt x="9143" y="147827"/>
                  </a:lnTo>
                  <a:lnTo>
                    <a:pt x="12191" y="149351"/>
                  </a:lnTo>
                  <a:lnTo>
                    <a:pt x="15239" y="150875"/>
                  </a:lnTo>
                  <a:lnTo>
                    <a:pt x="18287" y="152399"/>
                  </a:lnTo>
                  <a:lnTo>
                    <a:pt x="21335" y="152399"/>
                  </a:lnTo>
                  <a:lnTo>
                    <a:pt x="25907" y="153923"/>
                  </a:lnTo>
                  <a:lnTo>
                    <a:pt x="30479" y="155447"/>
                  </a:lnTo>
                  <a:lnTo>
                    <a:pt x="59435" y="155447"/>
                  </a:lnTo>
                  <a:lnTo>
                    <a:pt x="67055" y="153923"/>
                  </a:lnTo>
                  <a:lnTo>
                    <a:pt x="96011" y="124967"/>
                  </a:lnTo>
                  <a:lnTo>
                    <a:pt x="97535" y="118871"/>
                  </a:lnTo>
                  <a:lnTo>
                    <a:pt x="97535" y="112775"/>
                  </a:lnTo>
                  <a:lnTo>
                    <a:pt x="97535" y="106679"/>
                  </a:lnTo>
                  <a:lnTo>
                    <a:pt x="97535" y="100583"/>
                  </a:lnTo>
                  <a:lnTo>
                    <a:pt x="94487" y="96011"/>
                  </a:lnTo>
                  <a:close/>
                </a:path>
              </a:pathLst>
            </a:custGeom>
            <a:ln w="10668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4141"/>
            </a:p>
          </p:txBody>
        </p:sp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61846" y="472908"/>
            <a:ext cx="3937458" cy="627607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10713182" y="465896"/>
            <a:ext cx="783050" cy="508396"/>
            <a:chOff x="4656582" y="3045714"/>
            <a:chExt cx="340360" cy="220979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56582" y="3045714"/>
              <a:ext cx="187452" cy="22097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69942" y="3100577"/>
              <a:ext cx="126492" cy="164591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11680890" y="434328"/>
            <a:ext cx="946673" cy="540539"/>
            <a:chOff x="5077205" y="3031997"/>
            <a:chExt cx="411480" cy="234950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77205" y="3064002"/>
              <a:ext cx="99060" cy="20269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97602" y="3031997"/>
              <a:ext cx="12649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51525" y="3100577"/>
              <a:ext cx="137160" cy="166115"/>
            </a:xfrm>
            <a:prstGeom prst="rect">
              <a:avLst/>
            </a:prstGeom>
          </p:spPr>
        </p:pic>
      </p:grp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834428" y="434338"/>
            <a:ext cx="1360404" cy="539952"/>
          </a:xfrm>
          <a:prstGeom prst="rect">
            <a:avLst/>
          </a:prstGeom>
        </p:spPr>
      </p:pic>
      <p:grpSp>
        <p:nvGrpSpPr>
          <p:cNvPr id="16" name="object 16"/>
          <p:cNvGrpSpPr/>
          <p:nvPr/>
        </p:nvGrpSpPr>
        <p:grpSpPr>
          <a:xfrm>
            <a:off x="14373661" y="434330"/>
            <a:ext cx="596051" cy="540539"/>
            <a:chOff x="6247638" y="3031998"/>
            <a:chExt cx="259079" cy="234950"/>
          </a:xfrm>
        </p:grpSpPr>
        <p:sp>
          <p:nvSpPr>
            <p:cNvPr id="17" name="object 17"/>
            <p:cNvSpPr/>
            <p:nvPr/>
          </p:nvSpPr>
          <p:spPr>
            <a:xfrm>
              <a:off x="6252972" y="3105912"/>
              <a:ext cx="137160" cy="155575"/>
            </a:xfrm>
            <a:custGeom>
              <a:avLst/>
              <a:gdLst/>
              <a:ahLst/>
              <a:cxnLst/>
              <a:rect l="l" t="t" r="r" b="b"/>
              <a:pathLst>
                <a:path w="137160" h="155575">
                  <a:moveTo>
                    <a:pt x="132587" y="45720"/>
                  </a:moveTo>
                  <a:lnTo>
                    <a:pt x="110299" y="12573"/>
                  </a:lnTo>
                  <a:lnTo>
                    <a:pt x="70103" y="0"/>
                  </a:lnTo>
                  <a:lnTo>
                    <a:pt x="61245" y="523"/>
                  </a:lnTo>
                  <a:lnTo>
                    <a:pt x="21597" y="17668"/>
                  </a:lnTo>
                  <a:lnTo>
                    <a:pt x="1928" y="55887"/>
                  </a:lnTo>
                  <a:lnTo>
                    <a:pt x="0" y="79248"/>
                  </a:lnTo>
                  <a:lnTo>
                    <a:pt x="261" y="88106"/>
                  </a:lnTo>
                  <a:lnTo>
                    <a:pt x="12477" y="130540"/>
                  </a:lnTo>
                  <a:lnTo>
                    <a:pt x="16763" y="135636"/>
                  </a:lnTo>
                  <a:lnTo>
                    <a:pt x="21335" y="141732"/>
                  </a:lnTo>
                  <a:lnTo>
                    <a:pt x="58435" y="155162"/>
                  </a:lnTo>
                  <a:lnTo>
                    <a:pt x="67055" y="155448"/>
                  </a:lnTo>
                  <a:lnTo>
                    <a:pt x="75033" y="155162"/>
                  </a:lnTo>
                  <a:lnTo>
                    <a:pt x="114038" y="138660"/>
                  </a:lnTo>
                  <a:lnTo>
                    <a:pt x="134588" y="101060"/>
                  </a:lnTo>
                  <a:lnTo>
                    <a:pt x="137159" y="76200"/>
                  </a:lnTo>
                  <a:lnTo>
                    <a:pt x="136874" y="68222"/>
                  </a:lnTo>
                  <a:lnTo>
                    <a:pt x="136016" y="60388"/>
                  </a:lnTo>
                  <a:lnTo>
                    <a:pt x="134588" y="52839"/>
                  </a:lnTo>
                  <a:lnTo>
                    <a:pt x="132587" y="45720"/>
                  </a:lnTo>
                  <a:close/>
                </a:path>
              </a:pathLst>
            </a:custGeom>
            <a:ln w="10668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4141"/>
            </a:p>
          </p:txBody>
        </p:sp>
        <p:sp>
          <p:nvSpPr>
            <p:cNvPr id="18" name="object 18"/>
            <p:cNvSpPr/>
            <p:nvPr/>
          </p:nvSpPr>
          <p:spPr>
            <a:xfrm>
              <a:off x="6272783" y="3122675"/>
              <a:ext cx="97790" cy="121920"/>
            </a:xfrm>
            <a:custGeom>
              <a:avLst/>
              <a:gdLst/>
              <a:ahLst/>
              <a:cxnLst/>
              <a:rect l="l" t="t" r="r" b="b"/>
              <a:pathLst>
                <a:path w="97789" h="121919">
                  <a:moveTo>
                    <a:pt x="94487" y="86868"/>
                  </a:moveTo>
                  <a:lnTo>
                    <a:pt x="92963" y="92964"/>
                  </a:lnTo>
                  <a:lnTo>
                    <a:pt x="89915" y="100584"/>
                  </a:lnTo>
                  <a:lnTo>
                    <a:pt x="85343" y="105156"/>
                  </a:lnTo>
                  <a:lnTo>
                    <a:pt x="80771" y="111252"/>
                  </a:lnTo>
                  <a:lnTo>
                    <a:pt x="76199" y="114300"/>
                  </a:lnTo>
                  <a:lnTo>
                    <a:pt x="70103" y="117348"/>
                  </a:lnTo>
                  <a:lnTo>
                    <a:pt x="64007" y="120396"/>
                  </a:lnTo>
                  <a:lnTo>
                    <a:pt x="56387" y="121920"/>
                  </a:lnTo>
                  <a:lnTo>
                    <a:pt x="47243" y="121920"/>
                  </a:lnTo>
                  <a:lnTo>
                    <a:pt x="38099" y="121920"/>
                  </a:lnTo>
                  <a:lnTo>
                    <a:pt x="6095" y="99060"/>
                  </a:lnTo>
                  <a:lnTo>
                    <a:pt x="3047" y="92964"/>
                  </a:lnTo>
                  <a:lnTo>
                    <a:pt x="1523" y="85344"/>
                  </a:lnTo>
                  <a:lnTo>
                    <a:pt x="0" y="77724"/>
                  </a:lnTo>
                  <a:lnTo>
                    <a:pt x="0" y="70104"/>
                  </a:lnTo>
                  <a:lnTo>
                    <a:pt x="0" y="60960"/>
                  </a:lnTo>
                  <a:lnTo>
                    <a:pt x="0" y="53340"/>
                  </a:lnTo>
                  <a:lnTo>
                    <a:pt x="0" y="44196"/>
                  </a:lnTo>
                  <a:lnTo>
                    <a:pt x="3047" y="38100"/>
                  </a:lnTo>
                  <a:lnTo>
                    <a:pt x="19811" y="9144"/>
                  </a:lnTo>
                  <a:lnTo>
                    <a:pt x="25907" y="4572"/>
                  </a:lnTo>
                  <a:lnTo>
                    <a:pt x="32003" y="1524"/>
                  </a:lnTo>
                  <a:lnTo>
                    <a:pt x="39623" y="0"/>
                  </a:lnTo>
                  <a:lnTo>
                    <a:pt x="48767" y="0"/>
                  </a:lnTo>
                  <a:lnTo>
                    <a:pt x="57911" y="0"/>
                  </a:lnTo>
                  <a:lnTo>
                    <a:pt x="89915" y="24384"/>
                  </a:lnTo>
                  <a:lnTo>
                    <a:pt x="96011" y="45720"/>
                  </a:lnTo>
                  <a:lnTo>
                    <a:pt x="97535" y="53340"/>
                  </a:lnTo>
                  <a:lnTo>
                    <a:pt x="97535" y="62484"/>
                  </a:lnTo>
                  <a:lnTo>
                    <a:pt x="97535" y="70104"/>
                  </a:lnTo>
                  <a:lnTo>
                    <a:pt x="96011" y="79248"/>
                  </a:lnTo>
                  <a:lnTo>
                    <a:pt x="94487" y="86868"/>
                  </a:lnTo>
                  <a:close/>
                </a:path>
              </a:pathLst>
            </a:custGeom>
            <a:ln w="10668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4141"/>
            </a:p>
          </p:txBody>
        </p:sp>
        <p:sp>
          <p:nvSpPr>
            <p:cNvPr id="19" name="object 19"/>
            <p:cNvSpPr/>
            <p:nvPr/>
          </p:nvSpPr>
          <p:spPr>
            <a:xfrm>
              <a:off x="6408420" y="3037332"/>
              <a:ext cx="93345" cy="222885"/>
            </a:xfrm>
            <a:custGeom>
              <a:avLst/>
              <a:gdLst/>
              <a:ahLst/>
              <a:cxnLst/>
              <a:rect l="l" t="t" r="r" b="b"/>
              <a:pathLst>
                <a:path w="93345" h="222885">
                  <a:moveTo>
                    <a:pt x="92963" y="12192"/>
                  </a:moveTo>
                  <a:lnTo>
                    <a:pt x="92963" y="10668"/>
                  </a:lnTo>
                  <a:lnTo>
                    <a:pt x="91439" y="9144"/>
                  </a:lnTo>
                  <a:lnTo>
                    <a:pt x="91439" y="7620"/>
                  </a:lnTo>
                  <a:lnTo>
                    <a:pt x="91439" y="6096"/>
                  </a:lnTo>
                  <a:lnTo>
                    <a:pt x="89915" y="6096"/>
                  </a:lnTo>
                  <a:lnTo>
                    <a:pt x="88391" y="4572"/>
                  </a:lnTo>
                  <a:lnTo>
                    <a:pt x="86867" y="4572"/>
                  </a:lnTo>
                  <a:lnTo>
                    <a:pt x="85343" y="3048"/>
                  </a:lnTo>
                  <a:lnTo>
                    <a:pt x="82295" y="3048"/>
                  </a:lnTo>
                  <a:lnTo>
                    <a:pt x="79247" y="1524"/>
                  </a:lnTo>
                  <a:lnTo>
                    <a:pt x="76199" y="1524"/>
                  </a:lnTo>
                  <a:lnTo>
                    <a:pt x="73151" y="0"/>
                  </a:lnTo>
                  <a:lnTo>
                    <a:pt x="68579" y="0"/>
                  </a:lnTo>
                  <a:lnTo>
                    <a:pt x="62483" y="0"/>
                  </a:lnTo>
                  <a:lnTo>
                    <a:pt x="54863" y="1524"/>
                  </a:lnTo>
                  <a:lnTo>
                    <a:pt x="50291" y="3048"/>
                  </a:lnTo>
                  <a:lnTo>
                    <a:pt x="44195" y="6096"/>
                  </a:lnTo>
                  <a:lnTo>
                    <a:pt x="39623" y="9144"/>
                  </a:lnTo>
                  <a:lnTo>
                    <a:pt x="36575" y="13716"/>
                  </a:lnTo>
                  <a:lnTo>
                    <a:pt x="33527" y="18288"/>
                  </a:lnTo>
                  <a:lnTo>
                    <a:pt x="30479" y="22860"/>
                  </a:lnTo>
                  <a:lnTo>
                    <a:pt x="28955" y="30480"/>
                  </a:lnTo>
                  <a:lnTo>
                    <a:pt x="27193" y="36242"/>
                  </a:lnTo>
                  <a:lnTo>
                    <a:pt x="26288" y="42291"/>
                  </a:lnTo>
                  <a:lnTo>
                    <a:pt x="25955" y="48910"/>
                  </a:lnTo>
                  <a:lnTo>
                    <a:pt x="25907" y="56388"/>
                  </a:lnTo>
                  <a:lnTo>
                    <a:pt x="25907" y="71628"/>
                  </a:lnTo>
                  <a:lnTo>
                    <a:pt x="4571" y="71628"/>
                  </a:lnTo>
                  <a:lnTo>
                    <a:pt x="3047" y="71628"/>
                  </a:lnTo>
                  <a:lnTo>
                    <a:pt x="3047" y="73152"/>
                  </a:lnTo>
                  <a:lnTo>
                    <a:pt x="1523" y="73152"/>
                  </a:lnTo>
                  <a:lnTo>
                    <a:pt x="1523" y="74676"/>
                  </a:lnTo>
                  <a:lnTo>
                    <a:pt x="0" y="74676"/>
                  </a:lnTo>
                  <a:lnTo>
                    <a:pt x="0" y="77724"/>
                  </a:lnTo>
                  <a:lnTo>
                    <a:pt x="0" y="85344"/>
                  </a:lnTo>
                  <a:lnTo>
                    <a:pt x="1523" y="86868"/>
                  </a:lnTo>
                  <a:lnTo>
                    <a:pt x="1523" y="88392"/>
                  </a:lnTo>
                  <a:lnTo>
                    <a:pt x="3047" y="88392"/>
                  </a:lnTo>
                  <a:lnTo>
                    <a:pt x="4571" y="88392"/>
                  </a:lnTo>
                  <a:lnTo>
                    <a:pt x="25907" y="88392"/>
                  </a:lnTo>
                  <a:lnTo>
                    <a:pt x="25907" y="219456"/>
                  </a:lnTo>
                  <a:lnTo>
                    <a:pt x="25907" y="220980"/>
                  </a:lnTo>
                  <a:lnTo>
                    <a:pt x="27431" y="222504"/>
                  </a:lnTo>
                  <a:lnTo>
                    <a:pt x="28955" y="222504"/>
                  </a:lnTo>
                  <a:lnTo>
                    <a:pt x="30479" y="222504"/>
                  </a:lnTo>
                  <a:lnTo>
                    <a:pt x="32003" y="222504"/>
                  </a:lnTo>
                  <a:lnTo>
                    <a:pt x="33527" y="222504"/>
                  </a:lnTo>
                  <a:lnTo>
                    <a:pt x="35051" y="222504"/>
                  </a:lnTo>
                  <a:lnTo>
                    <a:pt x="36575" y="222504"/>
                  </a:lnTo>
                  <a:lnTo>
                    <a:pt x="38099" y="222504"/>
                  </a:lnTo>
                  <a:lnTo>
                    <a:pt x="39623" y="222504"/>
                  </a:lnTo>
                  <a:lnTo>
                    <a:pt x="41147" y="222504"/>
                  </a:lnTo>
                  <a:lnTo>
                    <a:pt x="42671" y="222504"/>
                  </a:lnTo>
                  <a:lnTo>
                    <a:pt x="42671" y="220980"/>
                  </a:lnTo>
                  <a:lnTo>
                    <a:pt x="44195" y="220980"/>
                  </a:lnTo>
                  <a:lnTo>
                    <a:pt x="44195" y="219456"/>
                  </a:lnTo>
                  <a:lnTo>
                    <a:pt x="44195" y="88392"/>
                  </a:lnTo>
                  <a:lnTo>
                    <a:pt x="79247" y="88392"/>
                  </a:lnTo>
                  <a:lnTo>
                    <a:pt x="80771" y="88392"/>
                  </a:lnTo>
                  <a:lnTo>
                    <a:pt x="82295" y="86868"/>
                  </a:lnTo>
                  <a:lnTo>
                    <a:pt x="83819" y="85344"/>
                  </a:lnTo>
                  <a:lnTo>
                    <a:pt x="83819" y="83820"/>
                  </a:lnTo>
                  <a:lnTo>
                    <a:pt x="83819" y="76200"/>
                  </a:lnTo>
                  <a:lnTo>
                    <a:pt x="82295" y="74676"/>
                  </a:lnTo>
                  <a:lnTo>
                    <a:pt x="82295" y="73152"/>
                  </a:lnTo>
                  <a:lnTo>
                    <a:pt x="80771" y="73152"/>
                  </a:lnTo>
                  <a:lnTo>
                    <a:pt x="79247" y="71628"/>
                  </a:lnTo>
                  <a:lnTo>
                    <a:pt x="44195" y="71628"/>
                  </a:lnTo>
                  <a:lnTo>
                    <a:pt x="44195" y="56388"/>
                  </a:lnTo>
                  <a:lnTo>
                    <a:pt x="44195" y="48768"/>
                  </a:lnTo>
                  <a:lnTo>
                    <a:pt x="44195" y="42672"/>
                  </a:lnTo>
                  <a:lnTo>
                    <a:pt x="45719" y="38100"/>
                  </a:lnTo>
                  <a:lnTo>
                    <a:pt x="45719" y="33528"/>
                  </a:lnTo>
                  <a:lnTo>
                    <a:pt x="47243" y="28956"/>
                  </a:lnTo>
                  <a:lnTo>
                    <a:pt x="48767" y="25908"/>
                  </a:lnTo>
                  <a:lnTo>
                    <a:pt x="51815" y="22860"/>
                  </a:lnTo>
                  <a:lnTo>
                    <a:pt x="53339" y="21336"/>
                  </a:lnTo>
                  <a:lnTo>
                    <a:pt x="56387" y="19812"/>
                  </a:lnTo>
                  <a:lnTo>
                    <a:pt x="59435" y="18288"/>
                  </a:lnTo>
                  <a:lnTo>
                    <a:pt x="64007" y="16764"/>
                  </a:lnTo>
                  <a:lnTo>
                    <a:pt x="68579" y="16764"/>
                  </a:lnTo>
                  <a:lnTo>
                    <a:pt x="71627" y="16764"/>
                  </a:lnTo>
                  <a:lnTo>
                    <a:pt x="73151" y="18288"/>
                  </a:lnTo>
                  <a:lnTo>
                    <a:pt x="76199" y="18288"/>
                  </a:lnTo>
                  <a:lnTo>
                    <a:pt x="77723" y="18288"/>
                  </a:lnTo>
                  <a:lnTo>
                    <a:pt x="80771" y="19812"/>
                  </a:lnTo>
                  <a:lnTo>
                    <a:pt x="82295" y="19812"/>
                  </a:lnTo>
                  <a:lnTo>
                    <a:pt x="83819" y="21336"/>
                  </a:lnTo>
                  <a:lnTo>
                    <a:pt x="85343" y="21336"/>
                  </a:lnTo>
                  <a:lnTo>
                    <a:pt x="86867" y="21336"/>
                  </a:lnTo>
                  <a:lnTo>
                    <a:pt x="88391" y="22860"/>
                  </a:lnTo>
                  <a:lnTo>
                    <a:pt x="89915" y="22860"/>
                  </a:lnTo>
                  <a:lnTo>
                    <a:pt x="91439" y="22860"/>
                  </a:lnTo>
                  <a:lnTo>
                    <a:pt x="91439" y="21336"/>
                  </a:lnTo>
                  <a:lnTo>
                    <a:pt x="92963" y="19812"/>
                  </a:lnTo>
                  <a:lnTo>
                    <a:pt x="92963" y="18288"/>
                  </a:lnTo>
                  <a:lnTo>
                    <a:pt x="92963" y="16764"/>
                  </a:lnTo>
                  <a:lnTo>
                    <a:pt x="92963" y="15240"/>
                  </a:lnTo>
                  <a:lnTo>
                    <a:pt x="92963" y="13716"/>
                  </a:lnTo>
                  <a:lnTo>
                    <a:pt x="92963" y="12192"/>
                  </a:lnTo>
                  <a:close/>
                </a:path>
              </a:pathLst>
            </a:custGeom>
            <a:ln w="10668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4141"/>
            </a:p>
          </p:txBody>
        </p:sp>
      </p:grpSp>
      <p:pic>
        <p:nvPicPr>
          <p:cNvPr id="20" name="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477870" y="1226728"/>
            <a:ext cx="2713793" cy="508398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15945064" y="9491460"/>
            <a:ext cx="397369" cy="436666"/>
          </a:xfrm>
          <a:prstGeom prst="rect">
            <a:avLst/>
          </a:prstGeom>
        </p:spPr>
        <p:txBody>
          <a:bodyPr vert="horz" wrap="square" lIns="0" tIns="29218" rIns="0" bIns="0" rtlCol="0">
            <a:spAutoFit/>
          </a:bodyPr>
          <a:lstStyle/>
          <a:p>
            <a:pPr marL="29221">
              <a:spcBef>
                <a:spcPts val="230"/>
              </a:spcBef>
            </a:pPr>
            <a:r>
              <a:rPr sz="2646" spc="-23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r>
              <a:rPr sz="2646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endParaRPr sz="2646">
              <a:latin typeface="Calibri"/>
              <a:cs typeface="Calibri"/>
            </a:endParaRP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6E07EC83-197C-C4BB-FF4C-325D3C15A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49589" y="2546813"/>
            <a:ext cx="14617916" cy="0"/>
          </a:xfrm>
          <a:custGeom>
            <a:avLst/>
            <a:gdLst/>
            <a:ahLst/>
            <a:cxnLst/>
            <a:rect l="l" t="t" r="r" b="b"/>
            <a:pathLst>
              <a:path w="6353809">
                <a:moveTo>
                  <a:pt x="0" y="0"/>
                </a:moveTo>
                <a:lnTo>
                  <a:pt x="6353556" y="0"/>
                </a:lnTo>
              </a:path>
            </a:pathLst>
          </a:custGeom>
          <a:ln w="4572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 sz="4141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9190" y="1009346"/>
            <a:ext cx="4161855" cy="539954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5446873" y="1167125"/>
            <a:ext cx="575601" cy="382760"/>
            <a:chOff x="2367533" y="3350514"/>
            <a:chExt cx="250190" cy="166370"/>
          </a:xfrm>
        </p:grpSpPr>
        <p:sp>
          <p:nvSpPr>
            <p:cNvPr id="5" name="object 5"/>
            <p:cNvSpPr/>
            <p:nvPr/>
          </p:nvSpPr>
          <p:spPr>
            <a:xfrm>
              <a:off x="2372867" y="3357372"/>
              <a:ext cx="129539" cy="152400"/>
            </a:xfrm>
            <a:custGeom>
              <a:avLst/>
              <a:gdLst/>
              <a:ahLst/>
              <a:cxnLst/>
              <a:rect l="l" t="t" r="r" b="b"/>
              <a:pathLst>
                <a:path w="129539" h="152400">
                  <a:moveTo>
                    <a:pt x="128016" y="3048"/>
                  </a:moveTo>
                  <a:lnTo>
                    <a:pt x="128016" y="1524"/>
                  </a:lnTo>
                  <a:lnTo>
                    <a:pt x="126492" y="1524"/>
                  </a:lnTo>
                  <a:lnTo>
                    <a:pt x="124968" y="1524"/>
                  </a:lnTo>
                  <a:lnTo>
                    <a:pt x="123444" y="0"/>
                  </a:lnTo>
                  <a:lnTo>
                    <a:pt x="121920" y="0"/>
                  </a:lnTo>
                  <a:lnTo>
                    <a:pt x="120396" y="0"/>
                  </a:lnTo>
                  <a:lnTo>
                    <a:pt x="118872" y="0"/>
                  </a:lnTo>
                  <a:lnTo>
                    <a:pt x="115824" y="0"/>
                  </a:lnTo>
                  <a:lnTo>
                    <a:pt x="115824" y="1524"/>
                  </a:lnTo>
                  <a:lnTo>
                    <a:pt x="114300" y="1524"/>
                  </a:lnTo>
                  <a:lnTo>
                    <a:pt x="112776" y="1524"/>
                  </a:lnTo>
                  <a:lnTo>
                    <a:pt x="111252" y="1524"/>
                  </a:lnTo>
                  <a:lnTo>
                    <a:pt x="111252" y="3048"/>
                  </a:lnTo>
                  <a:lnTo>
                    <a:pt x="109728" y="3048"/>
                  </a:lnTo>
                  <a:lnTo>
                    <a:pt x="109728" y="4572"/>
                  </a:lnTo>
                  <a:lnTo>
                    <a:pt x="65532" y="131064"/>
                  </a:lnTo>
                  <a:lnTo>
                    <a:pt x="64008" y="131064"/>
                  </a:lnTo>
                  <a:lnTo>
                    <a:pt x="19812" y="4572"/>
                  </a:lnTo>
                  <a:lnTo>
                    <a:pt x="18288" y="4572"/>
                  </a:lnTo>
                  <a:lnTo>
                    <a:pt x="18288" y="3048"/>
                  </a:lnTo>
                  <a:lnTo>
                    <a:pt x="16764" y="1524"/>
                  </a:lnTo>
                  <a:lnTo>
                    <a:pt x="15240" y="1524"/>
                  </a:lnTo>
                  <a:lnTo>
                    <a:pt x="13716" y="1524"/>
                  </a:lnTo>
                  <a:lnTo>
                    <a:pt x="12192" y="0"/>
                  </a:lnTo>
                  <a:lnTo>
                    <a:pt x="10668" y="0"/>
                  </a:lnTo>
                  <a:lnTo>
                    <a:pt x="7620" y="0"/>
                  </a:lnTo>
                  <a:lnTo>
                    <a:pt x="6096" y="0"/>
                  </a:lnTo>
                  <a:lnTo>
                    <a:pt x="4572" y="0"/>
                  </a:lnTo>
                  <a:lnTo>
                    <a:pt x="4572" y="1524"/>
                  </a:lnTo>
                  <a:lnTo>
                    <a:pt x="3048" y="1524"/>
                  </a:lnTo>
                  <a:lnTo>
                    <a:pt x="1524" y="1524"/>
                  </a:lnTo>
                  <a:lnTo>
                    <a:pt x="0" y="1524"/>
                  </a:lnTo>
                  <a:lnTo>
                    <a:pt x="0" y="3048"/>
                  </a:lnTo>
                  <a:lnTo>
                    <a:pt x="0" y="4572"/>
                  </a:lnTo>
                  <a:lnTo>
                    <a:pt x="0" y="6096"/>
                  </a:lnTo>
                  <a:lnTo>
                    <a:pt x="0" y="7620"/>
                  </a:lnTo>
                  <a:lnTo>
                    <a:pt x="0" y="9144"/>
                  </a:lnTo>
                  <a:lnTo>
                    <a:pt x="51816" y="149352"/>
                  </a:lnTo>
                  <a:lnTo>
                    <a:pt x="53340" y="149352"/>
                  </a:lnTo>
                  <a:lnTo>
                    <a:pt x="53340" y="150876"/>
                  </a:lnTo>
                  <a:lnTo>
                    <a:pt x="54864" y="150876"/>
                  </a:lnTo>
                  <a:lnTo>
                    <a:pt x="54864" y="152400"/>
                  </a:lnTo>
                  <a:lnTo>
                    <a:pt x="56388" y="152400"/>
                  </a:lnTo>
                  <a:lnTo>
                    <a:pt x="57912" y="152400"/>
                  </a:lnTo>
                  <a:lnTo>
                    <a:pt x="59436" y="152400"/>
                  </a:lnTo>
                  <a:lnTo>
                    <a:pt x="60960" y="152400"/>
                  </a:lnTo>
                  <a:lnTo>
                    <a:pt x="62484" y="152400"/>
                  </a:lnTo>
                  <a:lnTo>
                    <a:pt x="64008" y="152400"/>
                  </a:lnTo>
                  <a:lnTo>
                    <a:pt x="65532" y="152400"/>
                  </a:lnTo>
                  <a:lnTo>
                    <a:pt x="67056" y="152400"/>
                  </a:lnTo>
                  <a:lnTo>
                    <a:pt x="68580" y="152400"/>
                  </a:lnTo>
                  <a:lnTo>
                    <a:pt x="70104" y="152400"/>
                  </a:lnTo>
                  <a:lnTo>
                    <a:pt x="71628" y="152400"/>
                  </a:lnTo>
                  <a:lnTo>
                    <a:pt x="73152" y="152400"/>
                  </a:lnTo>
                  <a:lnTo>
                    <a:pt x="74676" y="150876"/>
                  </a:lnTo>
                  <a:lnTo>
                    <a:pt x="76200" y="150876"/>
                  </a:lnTo>
                  <a:lnTo>
                    <a:pt x="76200" y="149352"/>
                  </a:lnTo>
                  <a:lnTo>
                    <a:pt x="128016" y="9144"/>
                  </a:lnTo>
                  <a:lnTo>
                    <a:pt x="128016" y="7620"/>
                  </a:lnTo>
                  <a:lnTo>
                    <a:pt x="129540" y="6096"/>
                  </a:lnTo>
                  <a:lnTo>
                    <a:pt x="129540" y="4572"/>
                  </a:lnTo>
                  <a:lnTo>
                    <a:pt x="129540" y="3048"/>
                  </a:lnTo>
                  <a:lnTo>
                    <a:pt x="128016" y="3048"/>
                  </a:lnTo>
                  <a:close/>
                </a:path>
              </a:pathLst>
            </a:custGeom>
            <a:ln w="10668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4141"/>
            </a:p>
          </p:txBody>
        </p:sp>
        <p:sp>
          <p:nvSpPr>
            <p:cNvPr id="6" name="object 6"/>
            <p:cNvSpPr/>
            <p:nvPr/>
          </p:nvSpPr>
          <p:spPr>
            <a:xfrm>
              <a:off x="2514600" y="3355848"/>
              <a:ext cx="97790" cy="155575"/>
            </a:xfrm>
            <a:custGeom>
              <a:avLst/>
              <a:gdLst/>
              <a:ahLst/>
              <a:cxnLst/>
              <a:rect l="l" t="t" r="r" b="b"/>
              <a:pathLst>
                <a:path w="97789" h="155575">
                  <a:moveTo>
                    <a:pt x="94487" y="96011"/>
                  </a:moveTo>
                  <a:lnTo>
                    <a:pt x="91439" y="91439"/>
                  </a:lnTo>
                  <a:lnTo>
                    <a:pt x="88391" y="88391"/>
                  </a:lnTo>
                  <a:lnTo>
                    <a:pt x="85343" y="85343"/>
                  </a:lnTo>
                  <a:lnTo>
                    <a:pt x="82295" y="82295"/>
                  </a:lnTo>
                  <a:lnTo>
                    <a:pt x="77723" y="79247"/>
                  </a:lnTo>
                  <a:lnTo>
                    <a:pt x="73151" y="77723"/>
                  </a:lnTo>
                  <a:lnTo>
                    <a:pt x="68579" y="74675"/>
                  </a:lnTo>
                  <a:lnTo>
                    <a:pt x="64007" y="73151"/>
                  </a:lnTo>
                  <a:lnTo>
                    <a:pt x="59435" y="71627"/>
                  </a:lnTo>
                  <a:lnTo>
                    <a:pt x="54863" y="70103"/>
                  </a:lnTo>
                  <a:lnTo>
                    <a:pt x="50291" y="68579"/>
                  </a:lnTo>
                  <a:lnTo>
                    <a:pt x="45719" y="65531"/>
                  </a:lnTo>
                  <a:lnTo>
                    <a:pt x="41147" y="64007"/>
                  </a:lnTo>
                  <a:lnTo>
                    <a:pt x="38099" y="62483"/>
                  </a:lnTo>
                  <a:lnTo>
                    <a:pt x="33527" y="59435"/>
                  </a:lnTo>
                  <a:lnTo>
                    <a:pt x="30479" y="57911"/>
                  </a:lnTo>
                  <a:lnTo>
                    <a:pt x="27431" y="54863"/>
                  </a:lnTo>
                  <a:lnTo>
                    <a:pt x="25907" y="51815"/>
                  </a:lnTo>
                  <a:lnTo>
                    <a:pt x="22859" y="48767"/>
                  </a:lnTo>
                  <a:lnTo>
                    <a:pt x="22859" y="44195"/>
                  </a:lnTo>
                  <a:lnTo>
                    <a:pt x="22859" y="39623"/>
                  </a:lnTo>
                  <a:lnTo>
                    <a:pt x="22859" y="36575"/>
                  </a:lnTo>
                  <a:lnTo>
                    <a:pt x="22859" y="33527"/>
                  </a:lnTo>
                  <a:lnTo>
                    <a:pt x="24383" y="30479"/>
                  </a:lnTo>
                  <a:lnTo>
                    <a:pt x="25907" y="28955"/>
                  </a:lnTo>
                  <a:lnTo>
                    <a:pt x="27431" y="25907"/>
                  </a:lnTo>
                  <a:lnTo>
                    <a:pt x="28955" y="24383"/>
                  </a:lnTo>
                  <a:lnTo>
                    <a:pt x="32003" y="21335"/>
                  </a:lnTo>
                  <a:lnTo>
                    <a:pt x="35051" y="19811"/>
                  </a:lnTo>
                  <a:lnTo>
                    <a:pt x="39623" y="19811"/>
                  </a:lnTo>
                  <a:lnTo>
                    <a:pt x="42671" y="18287"/>
                  </a:lnTo>
                  <a:lnTo>
                    <a:pt x="47243" y="16763"/>
                  </a:lnTo>
                  <a:lnTo>
                    <a:pt x="51815" y="16763"/>
                  </a:lnTo>
                  <a:lnTo>
                    <a:pt x="56387" y="16763"/>
                  </a:lnTo>
                  <a:lnTo>
                    <a:pt x="60959" y="18287"/>
                  </a:lnTo>
                  <a:lnTo>
                    <a:pt x="65531" y="19811"/>
                  </a:lnTo>
                  <a:lnTo>
                    <a:pt x="68579" y="19811"/>
                  </a:lnTo>
                  <a:lnTo>
                    <a:pt x="71627" y="21335"/>
                  </a:lnTo>
                  <a:lnTo>
                    <a:pt x="74675" y="22859"/>
                  </a:lnTo>
                  <a:lnTo>
                    <a:pt x="77723" y="24383"/>
                  </a:lnTo>
                  <a:lnTo>
                    <a:pt x="80771" y="25907"/>
                  </a:lnTo>
                  <a:lnTo>
                    <a:pt x="82295" y="25907"/>
                  </a:lnTo>
                  <a:lnTo>
                    <a:pt x="83819" y="27431"/>
                  </a:lnTo>
                  <a:lnTo>
                    <a:pt x="85343" y="27431"/>
                  </a:lnTo>
                  <a:lnTo>
                    <a:pt x="86867" y="27431"/>
                  </a:lnTo>
                  <a:lnTo>
                    <a:pt x="88391" y="27431"/>
                  </a:lnTo>
                  <a:lnTo>
                    <a:pt x="88391" y="25907"/>
                  </a:lnTo>
                  <a:lnTo>
                    <a:pt x="88391" y="24383"/>
                  </a:lnTo>
                  <a:lnTo>
                    <a:pt x="89915" y="22859"/>
                  </a:lnTo>
                  <a:lnTo>
                    <a:pt x="89915" y="21335"/>
                  </a:lnTo>
                  <a:lnTo>
                    <a:pt x="89915" y="19811"/>
                  </a:lnTo>
                  <a:lnTo>
                    <a:pt x="89915" y="18287"/>
                  </a:lnTo>
                  <a:lnTo>
                    <a:pt x="89915" y="16763"/>
                  </a:lnTo>
                  <a:lnTo>
                    <a:pt x="89915" y="15239"/>
                  </a:lnTo>
                  <a:lnTo>
                    <a:pt x="88391" y="15239"/>
                  </a:lnTo>
                  <a:lnTo>
                    <a:pt x="88391" y="13715"/>
                  </a:lnTo>
                  <a:lnTo>
                    <a:pt x="88391" y="12191"/>
                  </a:lnTo>
                  <a:lnTo>
                    <a:pt x="86867" y="10667"/>
                  </a:lnTo>
                  <a:lnTo>
                    <a:pt x="85343" y="10667"/>
                  </a:lnTo>
                  <a:lnTo>
                    <a:pt x="85343" y="9143"/>
                  </a:lnTo>
                  <a:lnTo>
                    <a:pt x="83819" y="7619"/>
                  </a:lnTo>
                  <a:lnTo>
                    <a:pt x="80771" y="7619"/>
                  </a:lnTo>
                  <a:lnTo>
                    <a:pt x="79247" y="6095"/>
                  </a:lnTo>
                  <a:lnTo>
                    <a:pt x="76199" y="4571"/>
                  </a:lnTo>
                  <a:lnTo>
                    <a:pt x="73151" y="4571"/>
                  </a:lnTo>
                  <a:lnTo>
                    <a:pt x="70103" y="3047"/>
                  </a:lnTo>
                  <a:lnTo>
                    <a:pt x="67055" y="1523"/>
                  </a:lnTo>
                  <a:lnTo>
                    <a:pt x="64007" y="1523"/>
                  </a:lnTo>
                  <a:lnTo>
                    <a:pt x="60959" y="1523"/>
                  </a:lnTo>
                  <a:lnTo>
                    <a:pt x="56387" y="0"/>
                  </a:lnTo>
                  <a:lnTo>
                    <a:pt x="53339" y="0"/>
                  </a:lnTo>
                  <a:lnTo>
                    <a:pt x="44195" y="0"/>
                  </a:lnTo>
                  <a:lnTo>
                    <a:pt x="36575" y="1523"/>
                  </a:lnTo>
                  <a:lnTo>
                    <a:pt x="30479" y="4571"/>
                  </a:lnTo>
                  <a:lnTo>
                    <a:pt x="24383" y="6095"/>
                  </a:lnTo>
                  <a:lnTo>
                    <a:pt x="7619" y="25907"/>
                  </a:lnTo>
                  <a:lnTo>
                    <a:pt x="4571" y="30479"/>
                  </a:lnTo>
                  <a:lnTo>
                    <a:pt x="4571" y="36575"/>
                  </a:lnTo>
                  <a:lnTo>
                    <a:pt x="4571" y="41147"/>
                  </a:lnTo>
                  <a:lnTo>
                    <a:pt x="4571" y="47243"/>
                  </a:lnTo>
                  <a:lnTo>
                    <a:pt x="4571" y="51815"/>
                  </a:lnTo>
                  <a:lnTo>
                    <a:pt x="7619" y="56387"/>
                  </a:lnTo>
                  <a:lnTo>
                    <a:pt x="9143" y="60959"/>
                  </a:lnTo>
                  <a:lnTo>
                    <a:pt x="12191" y="65531"/>
                  </a:lnTo>
                  <a:lnTo>
                    <a:pt x="15239" y="68579"/>
                  </a:lnTo>
                  <a:lnTo>
                    <a:pt x="19811" y="71627"/>
                  </a:lnTo>
                  <a:lnTo>
                    <a:pt x="22859" y="74675"/>
                  </a:lnTo>
                  <a:lnTo>
                    <a:pt x="27431" y="76199"/>
                  </a:lnTo>
                  <a:lnTo>
                    <a:pt x="32003" y="79247"/>
                  </a:lnTo>
                  <a:lnTo>
                    <a:pt x="36575" y="80771"/>
                  </a:lnTo>
                  <a:lnTo>
                    <a:pt x="41147" y="82295"/>
                  </a:lnTo>
                  <a:lnTo>
                    <a:pt x="45719" y="83819"/>
                  </a:lnTo>
                  <a:lnTo>
                    <a:pt x="50291" y="86867"/>
                  </a:lnTo>
                  <a:lnTo>
                    <a:pt x="54863" y="88391"/>
                  </a:lnTo>
                  <a:lnTo>
                    <a:pt x="59435" y="89915"/>
                  </a:lnTo>
                  <a:lnTo>
                    <a:pt x="64007" y="91439"/>
                  </a:lnTo>
                  <a:lnTo>
                    <a:pt x="67055" y="94487"/>
                  </a:lnTo>
                  <a:lnTo>
                    <a:pt x="70103" y="96011"/>
                  </a:lnTo>
                  <a:lnTo>
                    <a:pt x="73151" y="99059"/>
                  </a:lnTo>
                  <a:lnTo>
                    <a:pt x="76199" y="102107"/>
                  </a:lnTo>
                  <a:lnTo>
                    <a:pt x="77723" y="105155"/>
                  </a:lnTo>
                  <a:lnTo>
                    <a:pt x="79247" y="108203"/>
                  </a:lnTo>
                  <a:lnTo>
                    <a:pt x="79247" y="112775"/>
                  </a:lnTo>
                  <a:lnTo>
                    <a:pt x="79247" y="117347"/>
                  </a:lnTo>
                  <a:lnTo>
                    <a:pt x="68579" y="132587"/>
                  </a:lnTo>
                  <a:lnTo>
                    <a:pt x="67055" y="135635"/>
                  </a:lnTo>
                  <a:lnTo>
                    <a:pt x="62483" y="137159"/>
                  </a:lnTo>
                  <a:lnTo>
                    <a:pt x="59435" y="137159"/>
                  </a:lnTo>
                  <a:lnTo>
                    <a:pt x="54863" y="138683"/>
                  </a:lnTo>
                  <a:lnTo>
                    <a:pt x="50291" y="138683"/>
                  </a:lnTo>
                  <a:lnTo>
                    <a:pt x="45719" y="138683"/>
                  </a:lnTo>
                  <a:lnTo>
                    <a:pt x="39623" y="138683"/>
                  </a:lnTo>
                  <a:lnTo>
                    <a:pt x="33527" y="138683"/>
                  </a:lnTo>
                  <a:lnTo>
                    <a:pt x="28955" y="137159"/>
                  </a:lnTo>
                  <a:lnTo>
                    <a:pt x="24383" y="135635"/>
                  </a:lnTo>
                  <a:lnTo>
                    <a:pt x="21335" y="134111"/>
                  </a:lnTo>
                  <a:lnTo>
                    <a:pt x="16763" y="132587"/>
                  </a:lnTo>
                  <a:lnTo>
                    <a:pt x="13715" y="131063"/>
                  </a:lnTo>
                  <a:lnTo>
                    <a:pt x="10667" y="129539"/>
                  </a:lnTo>
                  <a:lnTo>
                    <a:pt x="9143" y="128015"/>
                  </a:lnTo>
                  <a:lnTo>
                    <a:pt x="6095" y="126491"/>
                  </a:lnTo>
                  <a:lnTo>
                    <a:pt x="4571" y="124967"/>
                  </a:lnTo>
                  <a:lnTo>
                    <a:pt x="3047" y="124967"/>
                  </a:lnTo>
                  <a:lnTo>
                    <a:pt x="3047" y="126491"/>
                  </a:lnTo>
                  <a:lnTo>
                    <a:pt x="1523" y="126491"/>
                  </a:lnTo>
                  <a:lnTo>
                    <a:pt x="0" y="128015"/>
                  </a:lnTo>
                  <a:lnTo>
                    <a:pt x="0" y="129539"/>
                  </a:lnTo>
                  <a:lnTo>
                    <a:pt x="0" y="131063"/>
                  </a:lnTo>
                  <a:lnTo>
                    <a:pt x="0" y="132587"/>
                  </a:lnTo>
                  <a:lnTo>
                    <a:pt x="0" y="134111"/>
                  </a:lnTo>
                  <a:lnTo>
                    <a:pt x="0" y="137159"/>
                  </a:lnTo>
                  <a:lnTo>
                    <a:pt x="0" y="138683"/>
                  </a:lnTo>
                  <a:lnTo>
                    <a:pt x="0" y="140207"/>
                  </a:lnTo>
                  <a:lnTo>
                    <a:pt x="1523" y="141731"/>
                  </a:lnTo>
                  <a:lnTo>
                    <a:pt x="1523" y="143255"/>
                  </a:lnTo>
                  <a:lnTo>
                    <a:pt x="3047" y="143255"/>
                  </a:lnTo>
                  <a:lnTo>
                    <a:pt x="4571" y="144779"/>
                  </a:lnTo>
                  <a:lnTo>
                    <a:pt x="6095" y="146303"/>
                  </a:lnTo>
                  <a:lnTo>
                    <a:pt x="7619" y="147827"/>
                  </a:lnTo>
                  <a:lnTo>
                    <a:pt x="10667" y="149351"/>
                  </a:lnTo>
                  <a:lnTo>
                    <a:pt x="13715" y="150875"/>
                  </a:lnTo>
                  <a:lnTo>
                    <a:pt x="16763" y="152399"/>
                  </a:lnTo>
                  <a:lnTo>
                    <a:pt x="21335" y="152399"/>
                  </a:lnTo>
                  <a:lnTo>
                    <a:pt x="24383" y="153923"/>
                  </a:lnTo>
                  <a:lnTo>
                    <a:pt x="28955" y="155447"/>
                  </a:lnTo>
                  <a:lnTo>
                    <a:pt x="33527" y="155447"/>
                  </a:lnTo>
                  <a:lnTo>
                    <a:pt x="38099" y="155447"/>
                  </a:lnTo>
                  <a:lnTo>
                    <a:pt x="44195" y="155447"/>
                  </a:lnTo>
                  <a:lnTo>
                    <a:pt x="51815" y="155447"/>
                  </a:lnTo>
                  <a:lnTo>
                    <a:pt x="59435" y="155447"/>
                  </a:lnTo>
                  <a:lnTo>
                    <a:pt x="65531" y="152399"/>
                  </a:lnTo>
                  <a:lnTo>
                    <a:pt x="92963" y="131063"/>
                  </a:lnTo>
                  <a:lnTo>
                    <a:pt x="96011" y="124967"/>
                  </a:lnTo>
                  <a:lnTo>
                    <a:pt x="97535" y="118871"/>
                  </a:lnTo>
                  <a:lnTo>
                    <a:pt x="97535" y="111251"/>
                  </a:lnTo>
                  <a:lnTo>
                    <a:pt x="97535" y="105155"/>
                  </a:lnTo>
                  <a:lnTo>
                    <a:pt x="96011" y="100583"/>
                  </a:lnTo>
                  <a:lnTo>
                    <a:pt x="94487" y="96011"/>
                  </a:lnTo>
                  <a:close/>
                </a:path>
              </a:pathLst>
            </a:custGeom>
            <a:ln w="10668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4141"/>
            </a:p>
          </p:txBody>
        </p:sp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35768" y="1047922"/>
            <a:ext cx="3937458" cy="627607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10387106" y="1040910"/>
            <a:ext cx="783050" cy="508396"/>
            <a:chOff x="4514850" y="3295650"/>
            <a:chExt cx="340360" cy="220979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14850" y="3295650"/>
              <a:ext cx="187452" cy="22097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28209" y="3350514"/>
              <a:ext cx="126492" cy="164591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11354814" y="1009346"/>
            <a:ext cx="946673" cy="540539"/>
            <a:chOff x="4935473" y="3281934"/>
            <a:chExt cx="411480" cy="234950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35473" y="3313938"/>
              <a:ext cx="99060" cy="20269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55870" y="3281934"/>
              <a:ext cx="126492" cy="2331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09793" y="3350513"/>
              <a:ext cx="137160" cy="166115"/>
            </a:xfrm>
            <a:prstGeom prst="rect">
              <a:avLst/>
            </a:prstGeom>
          </p:spPr>
        </p:pic>
      </p:grp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508352" y="1009346"/>
            <a:ext cx="1356898" cy="539954"/>
          </a:xfrm>
          <a:prstGeom prst="rect">
            <a:avLst/>
          </a:prstGeom>
        </p:spPr>
      </p:pic>
      <p:grpSp>
        <p:nvGrpSpPr>
          <p:cNvPr id="16" name="object 16"/>
          <p:cNvGrpSpPr/>
          <p:nvPr/>
        </p:nvGrpSpPr>
        <p:grpSpPr>
          <a:xfrm>
            <a:off x="14044079" y="1009344"/>
            <a:ext cx="596051" cy="540539"/>
            <a:chOff x="6104382" y="3281933"/>
            <a:chExt cx="259079" cy="234950"/>
          </a:xfrm>
        </p:grpSpPr>
        <p:sp>
          <p:nvSpPr>
            <p:cNvPr id="17" name="object 17"/>
            <p:cNvSpPr/>
            <p:nvPr/>
          </p:nvSpPr>
          <p:spPr>
            <a:xfrm>
              <a:off x="6109716" y="3355847"/>
              <a:ext cx="137160" cy="155575"/>
            </a:xfrm>
            <a:custGeom>
              <a:avLst/>
              <a:gdLst/>
              <a:ahLst/>
              <a:cxnLst/>
              <a:rect l="l" t="t" r="r" b="b"/>
              <a:pathLst>
                <a:path w="137160" h="155575">
                  <a:moveTo>
                    <a:pt x="132587" y="45720"/>
                  </a:moveTo>
                  <a:lnTo>
                    <a:pt x="110870" y="12001"/>
                  </a:lnTo>
                  <a:lnTo>
                    <a:pt x="70103" y="0"/>
                  </a:lnTo>
                  <a:lnTo>
                    <a:pt x="61483" y="523"/>
                  </a:lnTo>
                  <a:lnTo>
                    <a:pt x="22264" y="17668"/>
                  </a:lnTo>
                  <a:lnTo>
                    <a:pt x="2571" y="55245"/>
                  </a:lnTo>
                  <a:lnTo>
                    <a:pt x="0" y="79248"/>
                  </a:lnTo>
                  <a:lnTo>
                    <a:pt x="285" y="88106"/>
                  </a:lnTo>
                  <a:lnTo>
                    <a:pt x="13358" y="130540"/>
                  </a:lnTo>
                  <a:lnTo>
                    <a:pt x="44981" y="152876"/>
                  </a:lnTo>
                  <a:lnTo>
                    <a:pt x="67055" y="155448"/>
                  </a:lnTo>
                  <a:lnTo>
                    <a:pt x="75890" y="155162"/>
                  </a:lnTo>
                  <a:lnTo>
                    <a:pt x="115538" y="138660"/>
                  </a:lnTo>
                  <a:lnTo>
                    <a:pt x="134588" y="101060"/>
                  </a:lnTo>
                  <a:lnTo>
                    <a:pt x="137159" y="76200"/>
                  </a:lnTo>
                  <a:lnTo>
                    <a:pt x="136874" y="68222"/>
                  </a:lnTo>
                  <a:lnTo>
                    <a:pt x="136016" y="60388"/>
                  </a:lnTo>
                  <a:lnTo>
                    <a:pt x="134588" y="52839"/>
                  </a:lnTo>
                  <a:lnTo>
                    <a:pt x="132587" y="45720"/>
                  </a:lnTo>
                  <a:close/>
                </a:path>
              </a:pathLst>
            </a:custGeom>
            <a:ln w="10668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4141"/>
            </a:p>
          </p:txBody>
        </p:sp>
        <p:sp>
          <p:nvSpPr>
            <p:cNvPr id="18" name="object 18"/>
            <p:cNvSpPr/>
            <p:nvPr/>
          </p:nvSpPr>
          <p:spPr>
            <a:xfrm>
              <a:off x="6129528" y="3372611"/>
              <a:ext cx="97790" cy="121920"/>
            </a:xfrm>
            <a:custGeom>
              <a:avLst/>
              <a:gdLst/>
              <a:ahLst/>
              <a:cxnLst/>
              <a:rect l="l" t="t" r="r" b="b"/>
              <a:pathLst>
                <a:path w="97789" h="121920">
                  <a:moveTo>
                    <a:pt x="94487" y="85344"/>
                  </a:moveTo>
                  <a:lnTo>
                    <a:pt x="71627" y="117348"/>
                  </a:lnTo>
                  <a:lnTo>
                    <a:pt x="57911" y="121920"/>
                  </a:lnTo>
                  <a:lnTo>
                    <a:pt x="48767" y="121920"/>
                  </a:lnTo>
                  <a:lnTo>
                    <a:pt x="39623" y="121920"/>
                  </a:lnTo>
                  <a:lnTo>
                    <a:pt x="32003" y="120396"/>
                  </a:lnTo>
                  <a:lnTo>
                    <a:pt x="25907" y="117348"/>
                  </a:lnTo>
                  <a:lnTo>
                    <a:pt x="19811" y="114300"/>
                  </a:lnTo>
                  <a:lnTo>
                    <a:pt x="13715" y="109728"/>
                  </a:lnTo>
                  <a:lnTo>
                    <a:pt x="10667" y="103632"/>
                  </a:lnTo>
                  <a:lnTo>
                    <a:pt x="7619" y="99060"/>
                  </a:lnTo>
                  <a:lnTo>
                    <a:pt x="4571" y="91440"/>
                  </a:lnTo>
                  <a:lnTo>
                    <a:pt x="3047" y="85344"/>
                  </a:lnTo>
                  <a:lnTo>
                    <a:pt x="1523" y="77724"/>
                  </a:lnTo>
                  <a:lnTo>
                    <a:pt x="0" y="70104"/>
                  </a:lnTo>
                  <a:lnTo>
                    <a:pt x="0" y="60960"/>
                  </a:lnTo>
                  <a:lnTo>
                    <a:pt x="0" y="53340"/>
                  </a:lnTo>
                  <a:lnTo>
                    <a:pt x="12191" y="18288"/>
                  </a:lnTo>
                  <a:lnTo>
                    <a:pt x="15239" y="12192"/>
                  </a:lnTo>
                  <a:lnTo>
                    <a:pt x="21335" y="7620"/>
                  </a:lnTo>
                  <a:lnTo>
                    <a:pt x="27431" y="4572"/>
                  </a:lnTo>
                  <a:lnTo>
                    <a:pt x="33527" y="1524"/>
                  </a:lnTo>
                  <a:lnTo>
                    <a:pt x="41147" y="0"/>
                  </a:lnTo>
                  <a:lnTo>
                    <a:pt x="48767" y="0"/>
                  </a:lnTo>
                  <a:lnTo>
                    <a:pt x="57911" y="0"/>
                  </a:lnTo>
                  <a:lnTo>
                    <a:pt x="86867" y="19812"/>
                  </a:lnTo>
                  <a:lnTo>
                    <a:pt x="91439" y="24384"/>
                  </a:lnTo>
                  <a:lnTo>
                    <a:pt x="94487" y="32004"/>
                  </a:lnTo>
                  <a:lnTo>
                    <a:pt x="96011" y="38100"/>
                  </a:lnTo>
                  <a:lnTo>
                    <a:pt x="97535" y="45720"/>
                  </a:lnTo>
                  <a:lnTo>
                    <a:pt x="97535" y="53340"/>
                  </a:lnTo>
                  <a:lnTo>
                    <a:pt x="97535" y="62484"/>
                  </a:lnTo>
                  <a:lnTo>
                    <a:pt x="97535" y="70104"/>
                  </a:lnTo>
                  <a:lnTo>
                    <a:pt x="97535" y="79248"/>
                  </a:lnTo>
                  <a:lnTo>
                    <a:pt x="94487" y="85344"/>
                  </a:lnTo>
                  <a:close/>
                </a:path>
              </a:pathLst>
            </a:custGeom>
            <a:ln w="10668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4141"/>
            </a:p>
          </p:txBody>
        </p:sp>
        <p:sp>
          <p:nvSpPr>
            <p:cNvPr id="19" name="object 19"/>
            <p:cNvSpPr/>
            <p:nvPr/>
          </p:nvSpPr>
          <p:spPr>
            <a:xfrm>
              <a:off x="6265164" y="3287267"/>
              <a:ext cx="93345" cy="222885"/>
            </a:xfrm>
            <a:custGeom>
              <a:avLst/>
              <a:gdLst/>
              <a:ahLst/>
              <a:cxnLst/>
              <a:rect l="l" t="t" r="r" b="b"/>
              <a:pathLst>
                <a:path w="93345" h="222885">
                  <a:moveTo>
                    <a:pt x="92963" y="10668"/>
                  </a:moveTo>
                  <a:lnTo>
                    <a:pt x="92963" y="9144"/>
                  </a:lnTo>
                  <a:lnTo>
                    <a:pt x="92963" y="7620"/>
                  </a:lnTo>
                  <a:lnTo>
                    <a:pt x="91439" y="7620"/>
                  </a:lnTo>
                  <a:lnTo>
                    <a:pt x="91439" y="6096"/>
                  </a:lnTo>
                  <a:lnTo>
                    <a:pt x="89915" y="6096"/>
                  </a:lnTo>
                  <a:lnTo>
                    <a:pt x="89915" y="4572"/>
                  </a:lnTo>
                  <a:lnTo>
                    <a:pt x="88391" y="4572"/>
                  </a:lnTo>
                  <a:lnTo>
                    <a:pt x="85343" y="3048"/>
                  </a:lnTo>
                  <a:lnTo>
                    <a:pt x="83819" y="3048"/>
                  </a:lnTo>
                  <a:lnTo>
                    <a:pt x="80771" y="1524"/>
                  </a:lnTo>
                  <a:lnTo>
                    <a:pt x="76199" y="1524"/>
                  </a:lnTo>
                  <a:lnTo>
                    <a:pt x="73151" y="0"/>
                  </a:lnTo>
                  <a:lnTo>
                    <a:pt x="70103" y="0"/>
                  </a:lnTo>
                  <a:lnTo>
                    <a:pt x="62483" y="0"/>
                  </a:lnTo>
                  <a:lnTo>
                    <a:pt x="56387" y="1524"/>
                  </a:lnTo>
                  <a:lnTo>
                    <a:pt x="50291" y="3048"/>
                  </a:lnTo>
                  <a:lnTo>
                    <a:pt x="45719" y="6096"/>
                  </a:lnTo>
                  <a:lnTo>
                    <a:pt x="41147" y="9144"/>
                  </a:lnTo>
                  <a:lnTo>
                    <a:pt x="36575" y="13716"/>
                  </a:lnTo>
                  <a:lnTo>
                    <a:pt x="33527" y="18288"/>
                  </a:lnTo>
                  <a:lnTo>
                    <a:pt x="30479" y="22860"/>
                  </a:lnTo>
                  <a:lnTo>
                    <a:pt x="25907" y="56388"/>
                  </a:lnTo>
                  <a:lnTo>
                    <a:pt x="25907" y="71628"/>
                  </a:lnTo>
                  <a:lnTo>
                    <a:pt x="4571" y="71628"/>
                  </a:lnTo>
                  <a:lnTo>
                    <a:pt x="3047" y="73152"/>
                  </a:lnTo>
                  <a:lnTo>
                    <a:pt x="1523" y="73152"/>
                  </a:lnTo>
                  <a:lnTo>
                    <a:pt x="1523" y="74676"/>
                  </a:lnTo>
                  <a:lnTo>
                    <a:pt x="1523" y="76200"/>
                  </a:lnTo>
                  <a:lnTo>
                    <a:pt x="1523" y="77724"/>
                  </a:lnTo>
                  <a:lnTo>
                    <a:pt x="0" y="77724"/>
                  </a:lnTo>
                  <a:lnTo>
                    <a:pt x="0" y="79248"/>
                  </a:lnTo>
                  <a:lnTo>
                    <a:pt x="0" y="80772"/>
                  </a:lnTo>
                  <a:lnTo>
                    <a:pt x="0" y="83820"/>
                  </a:lnTo>
                  <a:lnTo>
                    <a:pt x="1523" y="85344"/>
                  </a:lnTo>
                  <a:lnTo>
                    <a:pt x="1523" y="86868"/>
                  </a:lnTo>
                  <a:lnTo>
                    <a:pt x="3047" y="88392"/>
                  </a:lnTo>
                  <a:lnTo>
                    <a:pt x="4571" y="88392"/>
                  </a:lnTo>
                  <a:lnTo>
                    <a:pt x="25907" y="88392"/>
                  </a:lnTo>
                  <a:lnTo>
                    <a:pt x="25907" y="219456"/>
                  </a:lnTo>
                  <a:lnTo>
                    <a:pt x="25907" y="220980"/>
                  </a:lnTo>
                  <a:lnTo>
                    <a:pt x="27431" y="220980"/>
                  </a:lnTo>
                  <a:lnTo>
                    <a:pt x="28955" y="222504"/>
                  </a:lnTo>
                  <a:lnTo>
                    <a:pt x="30479" y="222504"/>
                  </a:lnTo>
                  <a:lnTo>
                    <a:pt x="32003" y="222504"/>
                  </a:lnTo>
                  <a:lnTo>
                    <a:pt x="33527" y="222504"/>
                  </a:lnTo>
                  <a:lnTo>
                    <a:pt x="35051" y="222504"/>
                  </a:lnTo>
                  <a:lnTo>
                    <a:pt x="36575" y="222504"/>
                  </a:lnTo>
                  <a:lnTo>
                    <a:pt x="38099" y="222504"/>
                  </a:lnTo>
                  <a:lnTo>
                    <a:pt x="39623" y="222504"/>
                  </a:lnTo>
                  <a:lnTo>
                    <a:pt x="41147" y="222504"/>
                  </a:lnTo>
                  <a:lnTo>
                    <a:pt x="42671" y="222504"/>
                  </a:lnTo>
                  <a:lnTo>
                    <a:pt x="44195" y="220980"/>
                  </a:lnTo>
                  <a:lnTo>
                    <a:pt x="44195" y="219456"/>
                  </a:lnTo>
                  <a:lnTo>
                    <a:pt x="44195" y="88392"/>
                  </a:lnTo>
                  <a:lnTo>
                    <a:pt x="79247" y="88392"/>
                  </a:lnTo>
                  <a:lnTo>
                    <a:pt x="80771" y="88392"/>
                  </a:lnTo>
                  <a:lnTo>
                    <a:pt x="82295" y="88392"/>
                  </a:lnTo>
                  <a:lnTo>
                    <a:pt x="83819" y="86868"/>
                  </a:lnTo>
                  <a:lnTo>
                    <a:pt x="83819" y="85344"/>
                  </a:lnTo>
                  <a:lnTo>
                    <a:pt x="83819" y="83820"/>
                  </a:lnTo>
                  <a:lnTo>
                    <a:pt x="83819" y="80772"/>
                  </a:lnTo>
                  <a:lnTo>
                    <a:pt x="83819" y="79248"/>
                  </a:lnTo>
                  <a:lnTo>
                    <a:pt x="83819" y="77724"/>
                  </a:lnTo>
                  <a:lnTo>
                    <a:pt x="83819" y="76200"/>
                  </a:lnTo>
                  <a:lnTo>
                    <a:pt x="83819" y="74676"/>
                  </a:lnTo>
                  <a:lnTo>
                    <a:pt x="82295" y="73152"/>
                  </a:lnTo>
                  <a:lnTo>
                    <a:pt x="80771" y="73152"/>
                  </a:lnTo>
                  <a:lnTo>
                    <a:pt x="80771" y="71628"/>
                  </a:lnTo>
                  <a:lnTo>
                    <a:pt x="79247" y="71628"/>
                  </a:lnTo>
                  <a:lnTo>
                    <a:pt x="44195" y="71628"/>
                  </a:lnTo>
                  <a:lnTo>
                    <a:pt x="44195" y="54864"/>
                  </a:lnTo>
                  <a:lnTo>
                    <a:pt x="44195" y="48768"/>
                  </a:lnTo>
                  <a:lnTo>
                    <a:pt x="45719" y="42672"/>
                  </a:lnTo>
                  <a:lnTo>
                    <a:pt x="45719" y="38100"/>
                  </a:lnTo>
                  <a:lnTo>
                    <a:pt x="54863" y="21336"/>
                  </a:lnTo>
                  <a:lnTo>
                    <a:pt x="57911" y="19812"/>
                  </a:lnTo>
                  <a:lnTo>
                    <a:pt x="60959" y="18288"/>
                  </a:lnTo>
                  <a:lnTo>
                    <a:pt x="64007" y="16764"/>
                  </a:lnTo>
                  <a:lnTo>
                    <a:pt x="68579" y="16764"/>
                  </a:lnTo>
                  <a:lnTo>
                    <a:pt x="71627" y="16764"/>
                  </a:lnTo>
                  <a:lnTo>
                    <a:pt x="74675" y="18288"/>
                  </a:lnTo>
                  <a:lnTo>
                    <a:pt x="76199" y="18288"/>
                  </a:lnTo>
                  <a:lnTo>
                    <a:pt x="79247" y="18288"/>
                  </a:lnTo>
                  <a:lnTo>
                    <a:pt x="80771" y="19812"/>
                  </a:lnTo>
                  <a:lnTo>
                    <a:pt x="83819" y="19812"/>
                  </a:lnTo>
                  <a:lnTo>
                    <a:pt x="85343" y="19812"/>
                  </a:lnTo>
                  <a:lnTo>
                    <a:pt x="86867" y="21336"/>
                  </a:lnTo>
                  <a:lnTo>
                    <a:pt x="88391" y="22860"/>
                  </a:lnTo>
                  <a:lnTo>
                    <a:pt x="89915" y="22860"/>
                  </a:lnTo>
                  <a:lnTo>
                    <a:pt x="91439" y="22860"/>
                  </a:lnTo>
                  <a:lnTo>
                    <a:pt x="91439" y="21336"/>
                  </a:lnTo>
                  <a:lnTo>
                    <a:pt x="92963" y="21336"/>
                  </a:lnTo>
                  <a:lnTo>
                    <a:pt x="92963" y="19812"/>
                  </a:lnTo>
                  <a:lnTo>
                    <a:pt x="92963" y="12192"/>
                  </a:lnTo>
                  <a:lnTo>
                    <a:pt x="92963" y="10668"/>
                  </a:lnTo>
                  <a:close/>
                </a:path>
              </a:pathLst>
            </a:custGeom>
            <a:ln w="10668">
              <a:solidFill>
                <a:srgbClr val="BF0000"/>
              </a:solidFill>
            </a:ln>
          </p:spPr>
          <p:txBody>
            <a:bodyPr wrap="square" lIns="0" tIns="0" rIns="0" bIns="0" rtlCol="0"/>
            <a:lstStyle/>
            <a:p>
              <a:endParaRPr sz="4141"/>
            </a:p>
          </p:txBody>
        </p:sp>
      </p:grpSp>
      <p:pic>
        <p:nvPicPr>
          <p:cNvPr id="20" name="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51786" y="1805263"/>
            <a:ext cx="1686480" cy="631113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15945064" y="9491460"/>
            <a:ext cx="397369" cy="436666"/>
          </a:xfrm>
          <a:prstGeom prst="rect">
            <a:avLst/>
          </a:prstGeom>
        </p:spPr>
        <p:txBody>
          <a:bodyPr vert="horz" wrap="square" lIns="0" tIns="29218" rIns="0" bIns="0" rtlCol="0">
            <a:spAutoFit/>
          </a:bodyPr>
          <a:lstStyle/>
          <a:p>
            <a:pPr marL="29221">
              <a:spcBef>
                <a:spcPts val="230"/>
              </a:spcBef>
            </a:pPr>
            <a:r>
              <a:rPr sz="2646" spc="-23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r>
              <a:rPr sz="2646" dirty="0">
                <a:solidFill>
                  <a:srgbClr val="FFFFFF"/>
                </a:solidFill>
                <a:latin typeface="Calibri"/>
                <a:cs typeface="Calibri"/>
              </a:rPr>
              <a:t>9</a:t>
            </a:r>
            <a:endParaRPr sz="2646">
              <a:latin typeface="Calibri"/>
              <a:cs typeface="Calibri"/>
            </a:endParaRPr>
          </a:p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950189" y="2680055"/>
          <a:ext cx="15398045" cy="644438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25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7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968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6448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2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Basis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45288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2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Management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45288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1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2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Administration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45288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E483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07515"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Applicability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45288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4D8CC"/>
                    </a:solidFill>
                  </a:tcPr>
                </a:tc>
                <a:tc>
                  <a:txBody>
                    <a:bodyPr/>
                    <a:lstStyle/>
                    <a:p>
                      <a:pPr marL="57785" marR="5016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2800" spc="1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2800" spc="1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applicable</a:t>
                      </a:r>
                      <a:r>
                        <a:rPr sz="2800" spc="1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800" spc="1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business</a:t>
                      </a:r>
                      <a:r>
                        <a:rPr sz="2800" spc="1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concerns</a:t>
                      </a:r>
                      <a:r>
                        <a:rPr sz="2800" spc="1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i.e. </a:t>
                      </a:r>
                      <a:r>
                        <a:rPr sz="2800" spc="-2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profit-making 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organization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45288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4D8CC"/>
                    </a:solidFill>
                  </a:tcPr>
                </a:tc>
                <a:tc>
                  <a:txBody>
                    <a:bodyPr/>
                    <a:lstStyle/>
                    <a:p>
                      <a:pPr marL="59055" marR="5016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2800" spc="2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2800" spc="25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applicable</a:t>
                      </a:r>
                      <a:r>
                        <a:rPr sz="28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non-business</a:t>
                      </a:r>
                      <a:r>
                        <a:rPr sz="2800" spc="2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concerns</a:t>
                      </a:r>
                      <a:r>
                        <a:rPr sz="2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i.e. </a:t>
                      </a:r>
                      <a:r>
                        <a:rPr sz="2800" spc="-2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clubs,</a:t>
                      </a:r>
                      <a:r>
                        <a:rPr sz="2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schools,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hospitals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5" dirty="0">
                          <a:latin typeface="Calibri"/>
                          <a:cs typeface="Calibri"/>
                        </a:rPr>
                        <a:t>etc.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45288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4D8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0211"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Influence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45288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9EDE6"/>
                    </a:solidFill>
                  </a:tcPr>
                </a:tc>
                <a:tc>
                  <a:txBody>
                    <a:bodyPr/>
                    <a:lstStyle/>
                    <a:p>
                      <a:pPr marL="57785" marR="48895" algn="just">
                        <a:lnSpc>
                          <a:spcPct val="99600"/>
                        </a:lnSpc>
                        <a:spcBef>
                          <a:spcPts val="160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management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decisions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are </a:t>
                      </a:r>
                      <a:r>
                        <a:rPr sz="2800" spc="-2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influenced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 values,</a:t>
                      </a:r>
                      <a:r>
                        <a:rPr sz="2800" spc="25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opinions, 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beliefs and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decisions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managers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46749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9EDE6"/>
                    </a:solidFill>
                  </a:tcPr>
                </a:tc>
                <a:tc>
                  <a:txBody>
                    <a:bodyPr/>
                    <a:lstStyle/>
                    <a:p>
                      <a:pPr marL="59055" marR="48895" algn="just">
                        <a:lnSpc>
                          <a:spcPct val="99600"/>
                        </a:lnSpc>
                        <a:spcBef>
                          <a:spcPts val="160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administration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influenced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public </a:t>
                      </a:r>
                      <a:r>
                        <a:rPr sz="2800" spc="-2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opinion,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government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 policies,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religious 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organizations,</a:t>
                      </a:r>
                      <a:r>
                        <a:rPr sz="2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customs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etc.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46749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9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0209"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Status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45288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4D8CC"/>
                    </a:solidFill>
                  </a:tcPr>
                </a:tc>
                <a:tc>
                  <a:txBody>
                    <a:bodyPr/>
                    <a:lstStyle/>
                    <a:p>
                      <a:pPr marL="57785" marR="50165" algn="just">
                        <a:lnSpc>
                          <a:spcPct val="99700"/>
                        </a:lnSpc>
                        <a:spcBef>
                          <a:spcPts val="160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Management 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constitutes the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employees 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organization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 who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 paid 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remuneration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(in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form</a:t>
                      </a:r>
                      <a:r>
                        <a:rPr sz="2800" spc="2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800" spc="2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salaries 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wages)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46749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4D8CC"/>
                    </a:solidFill>
                  </a:tcPr>
                </a:tc>
                <a:tc>
                  <a:txBody>
                    <a:bodyPr/>
                    <a:lstStyle/>
                    <a:p>
                      <a:pPr marL="59055" marR="50800" algn="just">
                        <a:lnSpc>
                          <a:spcPct val="99600"/>
                        </a:lnSpc>
                        <a:spcBef>
                          <a:spcPts val="160"/>
                        </a:spcBef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Administration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represents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owners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 of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 enterprise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who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earn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return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their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capital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invested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profits</a:t>
                      </a:r>
                      <a:r>
                        <a:rPr sz="2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form</a:t>
                      </a:r>
                      <a:r>
                        <a:rPr sz="2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of dividend.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46749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4D8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A294AE68-4FF8-A2A8-8F84-011C3F422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EB16E-9343-E060-A575-D36210340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0" i="0" dirty="0">
                <a:solidFill>
                  <a:srgbClr val="050505"/>
                </a:solidFill>
                <a:effectLst/>
                <a:latin typeface="Segoe UI Historic" panose="020B0502040204020203" pitchFamily="34" charset="0"/>
              </a:rPr>
              <a:t>1. What is management? Difference between Efficiency and Effectiveness </a:t>
            </a:r>
          </a:p>
          <a:p>
            <a:pPr marL="0" indent="0">
              <a:buNone/>
            </a:pPr>
            <a:r>
              <a:rPr lang="en-US" sz="2800" b="0" i="0" dirty="0">
                <a:solidFill>
                  <a:srgbClr val="050505"/>
                </a:solidFill>
                <a:effectLst/>
                <a:latin typeface="Segoe UI Historic" panose="020B0502040204020203" pitchFamily="34" charset="0"/>
              </a:rPr>
              <a:t>2. What major skill in needed in Top level manager</a:t>
            </a:r>
          </a:p>
          <a:p>
            <a:pPr marL="0" indent="0">
              <a:buNone/>
            </a:pPr>
            <a:endParaRPr lang="en-US" sz="2800" dirty="0">
              <a:solidFill>
                <a:srgbClr val="050505"/>
              </a:solidFill>
              <a:latin typeface="Segoe UI Historic" panose="020B0502040204020203" pitchFamily="34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50505"/>
                </a:solidFill>
                <a:latin typeface="Segoe UI Historic" panose="020B0502040204020203" pitchFamily="34" charset="0"/>
              </a:rPr>
              <a:t>3. Administration vs management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50505"/>
                </a:solidFill>
                <a:latin typeface="Segoe UI Historic" panose="020B0502040204020203" pitchFamily="34" charset="0"/>
              </a:rPr>
              <a:t>4. Dynamic Management</a:t>
            </a:r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58E1A2-AAA2-2A5B-D255-73BD26813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0192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F52029C-4435-653E-47E2-18108B2820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2285557"/>
              </p:ext>
            </p:extLst>
          </p:nvPr>
        </p:nvGraphicFramePr>
        <p:xfrm>
          <a:off x="3959222" y="533210"/>
          <a:ext cx="9477381" cy="3980887"/>
        </p:xfrm>
        <a:graphic>
          <a:graphicData uri="http://schemas.openxmlformats.org/drawingml/2006/table">
            <a:tbl>
              <a:tblPr/>
              <a:tblGrid>
                <a:gridCol w="3159127">
                  <a:extLst>
                    <a:ext uri="{9D8B030D-6E8A-4147-A177-3AD203B41FA5}">
                      <a16:colId xmlns:a16="http://schemas.microsoft.com/office/drawing/2014/main" val="1049456848"/>
                    </a:ext>
                  </a:extLst>
                </a:gridCol>
                <a:gridCol w="3159127">
                  <a:extLst>
                    <a:ext uri="{9D8B030D-6E8A-4147-A177-3AD203B41FA5}">
                      <a16:colId xmlns:a16="http://schemas.microsoft.com/office/drawing/2014/main" val="390183790"/>
                    </a:ext>
                  </a:extLst>
                </a:gridCol>
                <a:gridCol w="3159127">
                  <a:extLst>
                    <a:ext uri="{9D8B030D-6E8A-4147-A177-3AD203B41FA5}">
                      <a16:colId xmlns:a16="http://schemas.microsoft.com/office/drawing/2014/main" val="1700156740"/>
                    </a:ext>
                  </a:extLst>
                </a:gridCol>
              </a:tblGrid>
              <a:tr h="4272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cap="all">
                          <a:effectLst/>
                        </a:rPr>
                        <a:t>BASIS FOR COMPARISON</a:t>
                      </a:r>
                    </a:p>
                  </a:txBody>
                  <a:tcPr marL="44715" marR="44715" marT="44715" marB="447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cap="all">
                          <a:effectLst/>
                        </a:rPr>
                        <a:t>EFFICIENCY</a:t>
                      </a:r>
                    </a:p>
                  </a:txBody>
                  <a:tcPr marL="44715" marR="44715" marT="44715" marB="447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cap="all">
                          <a:effectLst/>
                        </a:rPr>
                        <a:t>EFFECTIVENESS</a:t>
                      </a:r>
                    </a:p>
                  </a:txBody>
                  <a:tcPr marL="44715" marR="44715" marT="44715" marB="447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6764152"/>
                  </a:ext>
                </a:extLst>
              </a:tr>
              <a:tr h="1185939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Meaning</a:t>
                      </a:r>
                    </a:p>
                  </a:txBody>
                  <a:tcPr marL="44715" marR="44715" marT="44715" marB="4471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dirty="0">
                          <a:effectLst/>
                        </a:rPr>
                        <a:t>The virtue of being efficient is known as efficiency.</a:t>
                      </a:r>
                    </a:p>
                  </a:txBody>
                  <a:tcPr marL="44715" marR="44715" marT="44715" marB="4471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The magnitude of nearness of the actual result with the intended result, is known as effectiveness.</a:t>
                      </a:r>
                    </a:p>
                  </a:txBody>
                  <a:tcPr marL="44715" marR="44715" marT="44715" marB="4471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6585779"/>
                  </a:ext>
                </a:extLst>
              </a:tr>
              <a:tr h="583210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What is it?</a:t>
                      </a:r>
                    </a:p>
                  </a:txBody>
                  <a:tcPr marL="44715" marR="44715" marT="44715" marB="4471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Work is to be done in a correct manner.</a:t>
                      </a:r>
                    </a:p>
                  </a:txBody>
                  <a:tcPr marL="44715" marR="44715" marT="44715" marB="4471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Doing accurate work.</a:t>
                      </a:r>
                    </a:p>
                  </a:txBody>
                  <a:tcPr marL="44715" marR="44715" marT="44715" marB="4471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1275236"/>
                  </a:ext>
                </a:extLst>
              </a:tr>
              <a:tr h="339312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Emphasis on</a:t>
                      </a:r>
                    </a:p>
                  </a:txBody>
                  <a:tcPr marL="44715" marR="44715" marT="44715" marB="4471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Inputs and Outputs</a:t>
                      </a:r>
                    </a:p>
                  </a:txBody>
                  <a:tcPr marL="44715" marR="44715" marT="44715" marB="4471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dirty="0">
                          <a:effectLst/>
                        </a:rPr>
                        <a:t>Means and Ends</a:t>
                      </a:r>
                    </a:p>
                  </a:txBody>
                  <a:tcPr marL="44715" marR="44715" marT="44715" marB="4471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213809"/>
                  </a:ext>
                </a:extLst>
              </a:tr>
              <a:tr h="339312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Time Horizon</a:t>
                      </a:r>
                    </a:p>
                  </a:txBody>
                  <a:tcPr marL="44715" marR="44715" marT="44715" marB="4471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Short Run</a:t>
                      </a:r>
                    </a:p>
                  </a:txBody>
                  <a:tcPr marL="44715" marR="44715" marT="44715" marB="4471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Long Run</a:t>
                      </a:r>
                    </a:p>
                  </a:txBody>
                  <a:tcPr marL="44715" marR="44715" marT="44715" marB="4471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2593140"/>
                  </a:ext>
                </a:extLst>
              </a:tr>
              <a:tr h="339312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Approach</a:t>
                      </a:r>
                    </a:p>
                  </a:txBody>
                  <a:tcPr marL="44715" marR="44715" marT="44715" marB="4471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Introverted</a:t>
                      </a:r>
                    </a:p>
                  </a:txBody>
                  <a:tcPr marL="44715" marR="44715" marT="44715" marB="4471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Extroverted</a:t>
                      </a:r>
                    </a:p>
                  </a:txBody>
                  <a:tcPr marL="44715" marR="44715" marT="44715" marB="4471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949385"/>
                  </a:ext>
                </a:extLst>
              </a:tr>
              <a:tr h="427245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Ascertainment</a:t>
                      </a:r>
                    </a:p>
                  </a:txBody>
                  <a:tcPr marL="44715" marR="44715" marT="44715" marB="4471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Strategy Implementation</a:t>
                      </a:r>
                    </a:p>
                  </a:txBody>
                  <a:tcPr marL="44715" marR="44715" marT="44715" marB="4471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Strategy Formulation</a:t>
                      </a:r>
                    </a:p>
                  </a:txBody>
                  <a:tcPr marL="44715" marR="44715" marT="44715" marB="4471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055584"/>
                  </a:ext>
                </a:extLst>
              </a:tr>
              <a:tr h="339312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Orientation</a:t>
                      </a:r>
                    </a:p>
                  </a:txBody>
                  <a:tcPr marL="44715" marR="44715" marT="44715" marB="4471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Operations</a:t>
                      </a:r>
                    </a:p>
                  </a:txBody>
                  <a:tcPr marL="44715" marR="44715" marT="44715" marB="4471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dirty="0">
                          <a:effectLst/>
                        </a:rPr>
                        <a:t>Strategies</a:t>
                      </a:r>
                    </a:p>
                  </a:txBody>
                  <a:tcPr marL="44715" marR="44715" marT="44715" marB="44715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554811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775335-487A-03AE-49EB-4B07840CA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41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DC603F0-C1E8-D872-243E-06C366B37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511881" y="-1205860"/>
            <a:ext cx="41899520" cy="661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1" i="0" u="none" strike="noStrike" cap="none" normalizeH="0" baseline="0">
                <a:ln>
                  <a:noFill/>
                </a:ln>
                <a:solidFill>
                  <a:srgbClr val="222222"/>
                </a:solidFill>
                <a:effectLst/>
                <a:latin typeface="Raleway"/>
              </a:rPr>
              <a:t>Comparison Chart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7" name="Picture 3" descr="Efficiency vs Effectiveness">
            <a:extLst>
              <a:ext uri="{FF2B5EF4-FFF2-40B4-BE49-F238E27FC236}">
                <a16:creationId xmlns:a16="http://schemas.microsoft.com/office/drawing/2014/main" id="{823F893A-406D-D562-A6F9-35D1B86D8F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9221" y="4866816"/>
            <a:ext cx="9477380" cy="4103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9969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880</TotalTime>
  <Words>1875</Words>
  <Application>Microsoft Office PowerPoint</Application>
  <PresentationFormat>Custom</PresentationFormat>
  <Paragraphs>263</Paragraphs>
  <Slides>41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Arial MT</vt:lpstr>
      <vt:lpstr>Calibri</vt:lpstr>
      <vt:lpstr>Calibri Light</vt:lpstr>
      <vt:lpstr>Raleway</vt:lpstr>
      <vt:lpstr>Segoe UI Historic</vt:lpstr>
      <vt:lpstr>Office Theme</vt:lpstr>
      <vt:lpstr>IPE 4111</vt:lpstr>
      <vt:lpstr>PowerPoint Presentation</vt:lpstr>
      <vt:lpstr>Definition of Management</vt:lpstr>
      <vt:lpstr>PowerPoint Presentation</vt:lpstr>
      <vt:lpstr>PowerPoint Presentation</vt:lpstr>
      <vt:lpstr>Decision-oriented Definitions:</vt:lpstr>
      <vt:lpstr>People oriented Definitions:</vt:lpstr>
      <vt:lpstr>Function oriented Definitions:</vt:lpstr>
      <vt:lpstr>PowerPoint Presentation</vt:lpstr>
      <vt:lpstr>PowerPoint Presentation</vt:lpstr>
      <vt:lpstr>Effectiveness and Efficiency in Management</vt:lpstr>
      <vt:lpstr>Functions of Management</vt:lpstr>
      <vt:lpstr>1. Planning</vt:lpstr>
      <vt:lpstr>2. Organizing</vt:lpstr>
      <vt:lpstr>3. Staffing</vt:lpstr>
      <vt:lpstr>4. Directing</vt:lpstr>
      <vt:lpstr>5. Coordinating</vt:lpstr>
      <vt:lpstr>6. Controlling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Roles of Manager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Management is an art due to the following  reasons:</vt:lpstr>
      <vt:lpstr>Management as a Science</vt:lpstr>
      <vt:lpstr>Conclusion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!. Introduction to Management (Part 1).pdf</dc:title>
  <dc:creator>USER</dc:creator>
  <cp:lastModifiedBy>Ahmadul Karim Chowdhury</cp:lastModifiedBy>
  <cp:revision>3</cp:revision>
  <dcterms:created xsi:type="dcterms:W3CDTF">2023-01-21T10:17:48Z</dcterms:created>
  <dcterms:modified xsi:type="dcterms:W3CDTF">2023-01-22T00:58:28Z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2022-12-21T00:00:00Z</vt:filetime>
  </property>
  <property fmtid="{D5CDD505-2E9C-101B-9397-08002B2CF9AE}" pid="3" name="LastSaved">
    <vt:filetime>2023-01-21T00:00:00Z</vt:filetime>
  </property>
</Properties>
</file>