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0"/>
  </p:notesMasterIdLst>
  <p:sldIdLst>
    <p:sldId id="256" r:id="rId2"/>
    <p:sldId id="414" r:id="rId3"/>
    <p:sldId id="372" r:id="rId4"/>
    <p:sldId id="354" r:id="rId5"/>
    <p:sldId id="407" r:id="rId6"/>
    <p:sldId id="415" r:id="rId7"/>
    <p:sldId id="416" r:id="rId8"/>
    <p:sldId id="417" r:id="rId9"/>
    <p:sldId id="418" r:id="rId10"/>
    <p:sldId id="419" r:id="rId11"/>
    <p:sldId id="420" r:id="rId12"/>
    <p:sldId id="409" r:id="rId13"/>
    <p:sldId id="423" r:id="rId14"/>
    <p:sldId id="421" r:id="rId15"/>
    <p:sldId id="422" r:id="rId16"/>
    <p:sldId id="425" r:id="rId17"/>
    <p:sldId id="424" r:id="rId18"/>
    <p:sldId id="426" r:id="rId19"/>
    <p:sldId id="412" r:id="rId20"/>
    <p:sldId id="427" r:id="rId21"/>
    <p:sldId id="434" r:id="rId22"/>
    <p:sldId id="435" r:id="rId23"/>
    <p:sldId id="432" r:id="rId24"/>
    <p:sldId id="433" r:id="rId25"/>
    <p:sldId id="429" r:id="rId26"/>
    <p:sldId id="430" r:id="rId27"/>
    <p:sldId id="431" r:id="rId28"/>
    <p:sldId id="297" r:id="rId29"/>
  </p:sldIdLst>
  <p:sldSz cx="9753600" cy="5486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28" userDrawn="1">
          <p15:clr>
            <a:srgbClr val="A4A3A4"/>
          </p15:clr>
        </p15:guide>
        <p15:guide id="2" pos="3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7469"/>
    <a:srgbClr val="2D6D59"/>
    <a:srgbClr val="AE1E40"/>
    <a:srgbClr val="1D47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92818" autoAdjust="0"/>
  </p:normalViewPr>
  <p:slideViewPr>
    <p:cSldViewPr>
      <p:cViewPr varScale="1">
        <p:scale>
          <a:sx n="83" d="100"/>
          <a:sy n="83" d="100"/>
        </p:scale>
        <p:origin x="828" y="90"/>
      </p:cViewPr>
      <p:guideLst>
        <p:guide orient="horz" pos="1728"/>
        <p:guide pos="3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9D2C07-1E1D-4858-92E1-E7473031ED93}" type="doc">
      <dgm:prSet loTypeId="urn:microsoft.com/office/officeart/2005/8/layout/cycle3" loCatId="cycle" qsTypeId="urn:microsoft.com/office/officeart/2005/8/quickstyle/3d1" qsCatId="3D" csTypeId="urn:microsoft.com/office/officeart/2005/8/colors/colorful1" csCatId="colorful" phldr="1"/>
      <dgm:spPr/>
      <dgm:t>
        <a:bodyPr/>
        <a:lstStyle/>
        <a:p>
          <a:endParaRPr lang="en-US"/>
        </a:p>
      </dgm:t>
    </dgm:pt>
    <dgm:pt modelId="{248E1945-E939-4191-96E7-358BED197A40}">
      <dgm:prSet phldrT="[Text]" custT="1"/>
      <dgm:spPr/>
      <dgm:t>
        <a:bodyPr/>
        <a:lstStyle/>
        <a:p>
          <a:r>
            <a:rPr lang="en-US" sz="1400" b="1" dirty="0">
              <a:latin typeface="Times New Roman" panose="02020603050405020304" pitchFamily="18" charset="0"/>
              <a:cs typeface="Times New Roman" panose="02020603050405020304" pitchFamily="18" charset="0"/>
            </a:rPr>
            <a:t>Technology Creation</a:t>
          </a:r>
        </a:p>
      </dgm:t>
    </dgm:pt>
    <dgm:pt modelId="{AB785C2F-1F6A-4F9A-ACF5-386A8E8D980E}" type="parTrans" cxnId="{46383812-BFED-4E4E-BAEE-4A61AD15A8FD}">
      <dgm:prSet/>
      <dgm:spPr/>
      <dgm:t>
        <a:bodyPr/>
        <a:lstStyle/>
        <a:p>
          <a:endParaRPr lang="en-US" sz="1400" b="1">
            <a:latin typeface="Times New Roman" panose="02020603050405020304" pitchFamily="18" charset="0"/>
            <a:cs typeface="Times New Roman" panose="02020603050405020304" pitchFamily="18" charset="0"/>
          </a:endParaRPr>
        </a:p>
      </dgm:t>
    </dgm:pt>
    <dgm:pt modelId="{8B095517-62DE-4107-83C4-33195C87281A}" type="sibTrans" cxnId="{46383812-BFED-4E4E-BAEE-4A61AD15A8FD}">
      <dgm:prSet/>
      <dgm:spPr/>
      <dgm:t>
        <a:bodyPr/>
        <a:lstStyle/>
        <a:p>
          <a:endParaRPr lang="en-US" sz="1400" b="1">
            <a:latin typeface="Times New Roman" panose="02020603050405020304" pitchFamily="18" charset="0"/>
            <a:cs typeface="Times New Roman" panose="02020603050405020304" pitchFamily="18" charset="0"/>
          </a:endParaRPr>
        </a:p>
      </dgm:t>
    </dgm:pt>
    <dgm:pt modelId="{8EBB4F53-CA23-4061-A61C-C69FCDAFCAA0}">
      <dgm:prSet phldrT="[Text]" custT="1"/>
      <dgm:spPr/>
      <dgm:t>
        <a:bodyPr/>
        <a:lstStyle/>
        <a:p>
          <a:r>
            <a:rPr lang="en-US" sz="1400" b="1" dirty="0">
              <a:latin typeface="Times New Roman" panose="02020603050405020304" pitchFamily="18" charset="0"/>
              <a:cs typeface="Times New Roman" panose="02020603050405020304" pitchFamily="18" charset="0"/>
            </a:rPr>
            <a:t>Technology Monitoring</a:t>
          </a:r>
        </a:p>
      </dgm:t>
    </dgm:pt>
    <dgm:pt modelId="{13259A64-C278-4708-B0AC-7E33B039FA08}" type="parTrans" cxnId="{7D55BC2C-F58D-4C84-A16A-2EB984DC793C}">
      <dgm:prSet/>
      <dgm:spPr/>
      <dgm:t>
        <a:bodyPr/>
        <a:lstStyle/>
        <a:p>
          <a:endParaRPr lang="en-US" sz="1400" b="1">
            <a:latin typeface="Times New Roman" panose="02020603050405020304" pitchFamily="18" charset="0"/>
            <a:cs typeface="Times New Roman" panose="02020603050405020304" pitchFamily="18" charset="0"/>
          </a:endParaRPr>
        </a:p>
      </dgm:t>
    </dgm:pt>
    <dgm:pt modelId="{7AC08420-CBC6-440C-9383-043081EE572D}" type="sibTrans" cxnId="{7D55BC2C-F58D-4C84-A16A-2EB984DC793C}">
      <dgm:prSet/>
      <dgm:spPr/>
      <dgm:t>
        <a:bodyPr/>
        <a:lstStyle/>
        <a:p>
          <a:endParaRPr lang="en-US" sz="1400" b="1">
            <a:latin typeface="Times New Roman" panose="02020603050405020304" pitchFamily="18" charset="0"/>
            <a:cs typeface="Times New Roman" panose="02020603050405020304" pitchFamily="18" charset="0"/>
          </a:endParaRPr>
        </a:p>
      </dgm:t>
    </dgm:pt>
    <dgm:pt modelId="{7AA864E6-48F6-415F-AA19-AB68C58C154E}">
      <dgm:prSet phldrT="[Text]" custT="1"/>
      <dgm:spPr/>
      <dgm:t>
        <a:bodyPr/>
        <a:lstStyle/>
        <a:p>
          <a:r>
            <a:rPr lang="en-US" sz="1400" b="1" dirty="0">
              <a:latin typeface="Times New Roman" panose="02020603050405020304" pitchFamily="18" charset="0"/>
              <a:cs typeface="Times New Roman" panose="02020603050405020304" pitchFamily="18" charset="0"/>
            </a:rPr>
            <a:t>Technology Utilization</a:t>
          </a:r>
        </a:p>
      </dgm:t>
    </dgm:pt>
    <dgm:pt modelId="{F8DF8DB0-B12D-4648-9D3D-0AE41B2E2A08}" type="parTrans" cxnId="{3A769249-174B-476A-8A12-9790E0A395F8}">
      <dgm:prSet/>
      <dgm:spPr/>
      <dgm:t>
        <a:bodyPr/>
        <a:lstStyle/>
        <a:p>
          <a:endParaRPr lang="en-US" sz="1400" b="1">
            <a:latin typeface="Times New Roman" panose="02020603050405020304" pitchFamily="18" charset="0"/>
            <a:cs typeface="Times New Roman" panose="02020603050405020304" pitchFamily="18" charset="0"/>
          </a:endParaRPr>
        </a:p>
      </dgm:t>
    </dgm:pt>
    <dgm:pt modelId="{63A32530-51DC-4A72-B4CA-5C444418534A}" type="sibTrans" cxnId="{3A769249-174B-476A-8A12-9790E0A395F8}">
      <dgm:prSet/>
      <dgm:spPr/>
      <dgm:t>
        <a:bodyPr/>
        <a:lstStyle/>
        <a:p>
          <a:endParaRPr lang="en-US" sz="1400" b="1">
            <a:latin typeface="Times New Roman" panose="02020603050405020304" pitchFamily="18" charset="0"/>
            <a:cs typeface="Times New Roman" panose="02020603050405020304" pitchFamily="18" charset="0"/>
          </a:endParaRPr>
        </a:p>
      </dgm:t>
    </dgm:pt>
    <dgm:pt modelId="{A3150306-46DD-4D0C-B3D3-CEE8B2D93A3E}">
      <dgm:prSet phldrT="[Text]" custT="1"/>
      <dgm:spPr/>
      <dgm:t>
        <a:bodyPr/>
        <a:lstStyle/>
        <a:p>
          <a:r>
            <a:rPr lang="en-US" sz="1400" b="1" dirty="0">
              <a:latin typeface="Times New Roman" panose="02020603050405020304" pitchFamily="18" charset="0"/>
              <a:cs typeface="Times New Roman" panose="02020603050405020304" pitchFamily="18" charset="0"/>
            </a:rPr>
            <a:t>Technology Maturity</a:t>
          </a:r>
        </a:p>
      </dgm:t>
    </dgm:pt>
    <dgm:pt modelId="{B44E5332-A522-4115-974D-9D313DAD8E96}" type="parTrans" cxnId="{AFDBF011-750E-464F-BFE9-97D02D417884}">
      <dgm:prSet/>
      <dgm:spPr/>
      <dgm:t>
        <a:bodyPr/>
        <a:lstStyle/>
        <a:p>
          <a:endParaRPr lang="en-US" sz="1400" b="1">
            <a:latin typeface="Times New Roman" panose="02020603050405020304" pitchFamily="18" charset="0"/>
            <a:cs typeface="Times New Roman" panose="02020603050405020304" pitchFamily="18" charset="0"/>
          </a:endParaRPr>
        </a:p>
      </dgm:t>
    </dgm:pt>
    <dgm:pt modelId="{17889A6E-A480-428B-8CB5-181861B1F808}" type="sibTrans" cxnId="{AFDBF011-750E-464F-BFE9-97D02D417884}">
      <dgm:prSet/>
      <dgm:spPr/>
      <dgm:t>
        <a:bodyPr/>
        <a:lstStyle/>
        <a:p>
          <a:endParaRPr lang="en-US" sz="1400" b="1">
            <a:latin typeface="Times New Roman" panose="02020603050405020304" pitchFamily="18" charset="0"/>
            <a:cs typeface="Times New Roman" panose="02020603050405020304" pitchFamily="18" charset="0"/>
          </a:endParaRPr>
        </a:p>
      </dgm:t>
    </dgm:pt>
    <dgm:pt modelId="{5344ED9D-F055-4BA4-B10D-45EC81DA084F}">
      <dgm:prSet phldrT="[Text]" custT="1"/>
      <dgm:spPr/>
      <dgm:t>
        <a:bodyPr spcFirstLastPara="0" vert="horz" wrap="square" lIns="53340" tIns="53340" rIns="53340" bIns="53340" numCol="1" spcCol="1270" anchor="ctr" anchorCtr="0"/>
        <a:lstStyle/>
        <a:p>
          <a:r>
            <a:rPr lang="en-US" sz="1400" b="1" dirty="0">
              <a:latin typeface="Times New Roman" panose="02020603050405020304" pitchFamily="18" charset="0"/>
              <a:cs typeface="Times New Roman" panose="02020603050405020304" pitchFamily="18" charset="0"/>
            </a:rPr>
            <a:t>Technology Decline</a:t>
          </a:r>
        </a:p>
      </dgm:t>
    </dgm:pt>
    <dgm:pt modelId="{96CF1D83-379B-4BED-978D-E730AC80290A}" type="parTrans" cxnId="{F1FE184A-DBAE-4C7D-8E45-96CFFECFBBB5}">
      <dgm:prSet/>
      <dgm:spPr/>
      <dgm:t>
        <a:bodyPr/>
        <a:lstStyle/>
        <a:p>
          <a:endParaRPr lang="en-US" sz="1400" b="1">
            <a:latin typeface="Times New Roman" panose="02020603050405020304" pitchFamily="18" charset="0"/>
            <a:cs typeface="Times New Roman" panose="02020603050405020304" pitchFamily="18" charset="0"/>
          </a:endParaRPr>
        </a:p>
      </dgm:t>
    </dgm:pt>
    <dgm:pt modelId="{7961A824-95C8-4EB6-BE38-D8FB84053084}" type="sibTrans" cxnId="{F1FE184A-DBAE-4C7D-8E45-96CFFECFBBB5}">
      <dgm:prSet/>
      <dgm:spPr/>
      <dgm:t>
        <a:bodyPr/>
        <a:lstStyle/>
        <a:p>
          <a:endParaRPr lang="en-US" sz="1400" b="1">
            <a:latin typeface="Times New Roman" panose="02020603050405020304" pitchFamily="18" charset="0"/>
            <a:cs typeface="Times New Roman" panose="02020603050405020304" pitchFamily="18" charset="0"/>
          </a:endParaRPr>
        </a:p>
      </dgm:t>
    </dgm:pt>
    <dgm:pt modelId="{33D4C5AC-F481-4FB1-9B2E-7D0CA82A829C}">
      <dgm:prSet custT="1"/>
      <dgm:spPr/>
      <dgm:t>
        <a:bodyPr/>
        <a:lstStyle/>
        <a:p>
          <a:r>
            <a:rPr lang="en-US" sz="1400" b="1" dirty="0">
              <a:latin typeface="Times New Roman" panose="02020603050405020304" pitchFamily="18" charset="0"/>
              <a:cs typeface="Times New Roman" panose="02020603050405020304" pitchFamily="18" charset="0"/>
            </a:rPr>
            <a:t>Technology Assessment</a:t>
          </a:r>
        </a:p>
      </dgm:t>
    </dgm:pt>
    <dgm:pt modelId="{068D372A-62A6-4529-96E1-6E032A358C71}" type="parTrans" cxnId="{AA1F40D9-F718-4AB9-871B-1B09365B9C1E}">
      <dgm:prSet/>
      <dgm:spPr/>
      <dgm:t>
        <a:bodyPr/>
        <a:lstStyle/>
        <a:p>
          <a:endParaRPr lang="en-US" sz="1400" b="1">
            <a:latin typeface="Times New Roman" panose="02020603050405020304" pitchFamily="18" charset="0"/>
            <a:cs typeface="Times New Roman" panose="02020603050405020304" pitchFamily="18" charset="0"/>
          </a:endParaRPr>
        </a:p>
      </dgm:t>
    </dgm:pt>
    <dgm:pt modelId="{9AEFDAE7-C691-47C0-82F6-D2C84A52880D}" type="sibTrans" cxnId="{AA1F40D9-F718-4AB9-871B-1B09365B9C1E}">
      <dgm:prSet/>
      <dgm:spPr/>
      <dgm:t>
        <a:bodyPr/>
        <a:lstStyle/>
        <a:p>
          <a:endParaRPr lang="en-US" sz="1400" b="1">
            <a:latin typeface="Times New Roman" panose="02020603050405020304" pitchFamily="18" charset="0"/>
            <a:cs typeface="Times New Roman" panose="02020603050405020304" pitchFamily="18" charset="0"/>
          </a:endParaRPr>
        </a:p>
      </dgm:t>
    </dgm:pt>
    <dgm:pt modelId="{A23FE30D-1348-4B1B-9A92-357422455206}">
      <dgm:prSet custT="1"/>
      <dgm:spPr/>
      <dgm:t>
        <a:bodyPr/>
        <a:lstStyle/>
        <a:p>
          <a:r>
            <a:rPr lang="en-US" sz="1400" b="1" dirty="0">
              <a:latin typeface="Times New Roman" panose="02020603050405020304" pitchFamily="18" charset="0"/>
              <a:cs typeface="Times New Roman" panose="02020603050405020304" pitchFamily="18" charset="0"/>
            </a:rPr>
            <a:t>Technology Acceptance</a:t>
          </a:r>
        </a:p>
      </dgm:t>
    </dgm:pt>
    <dgm:pt modelId="{31CEB002-469F-41C3-BD18-7DFE45E2F72C}" type="parTrans" cxnId="{99F60101-F3AF-4750-933C-9BB7BE9B5FF3}">
      <dgm:prSet/>
      <dgm:spPr/>
      <dgm:t>
        <a:bodyPr/>
        <a:lstStyle/>
        <a:p>
          <a:endParaRPr lang="en-US" sz="1400" b="1">
            <a:latin typeface="Times New Roman" panose="02020603050405020304" pitchFamily="18" charset="0"/>
            <a:cs typeface="Times New Roman" panose="02020603050405020304" pitchFamily="18" charset="0"/>
          </a:endParaRPr>
        </a:p>
      </dgm:t>
    </dgm:pt>
    <dgm:pt modelId="{88FFEDB2-277C-4C12-8EEA-86003CE354ED}" type="sibTrans" cxnId="{99F60101-F3AF-4750-933C-9BB7BE9B5FF3}">
      <dgm:prSet/>
      <dgm:spPr/>
      <dgm:t>
        <a:bodyPr/>
        <a:lstStyle/>
        <a:p>
          <a:endParaRPr lang="en-US" sz="1400" b="1">
            <a:latin typeface="Times New Roman" panose="02020603050405020304" pitchFamily="18" charset="0"/>
            <a:cs typeface="Times New Roman" panose="02020603050405020304" pitchFamily="18" charset="0"/>
          </a:endParaRPr>
        </a:p>
      </dgm:t>
    </dgm:pt>
    <dgm:pt modelId="{F7302986-8414-4397-83F7-C73D3E975771}">
      <dgm:prSet custT="1"/>
      <dgm:spPr/>
      <dgm:t>
        <a:bodyPr/>
        <a:lstStyle/>
        <a:p>
          <a:r>
            <a:rPr lang="en-US" sz="1400" b="1" dirty="0">
              <a:latin typeface="Times New Roman" panose="02020603050405020304" pitchFamily="18" charset="0"/>
              <a:cs typeface="Times New Roman" panose="02020603050405020304" pitchFamily="18" charset="0"/>
            </a:rPr>
            <a:t>Technology Transfer</a:t>
          </a:r>
        </a:p>
      </dgm:t>
    </dgm:pt>
    <dgm:pt modelId="{B889DBC9-067A-458B-9367-FB16F011319A}" type="parTrans" cxnId="{3305D75E-1083-4948-91EF-07B0DD1197AB}">
      <dgm:prSet/>
      <dgm:spPr/>
      <dgm:t>
        <a:bodyPr/>
        <a:lstStyle/>
        <a:p>
          <a:endParaRPr lang="en-US" sz="1400" b="1">
            <a:latin typeface="Times New Roman" panose="02020603050405020304" pitchFamily="18" charset="0"/>
            <a:cs typeface="Times New Roman" panose="02020603050405020304" pitchFamily="18" charset="0"/>
          </a:endParaRPr>
        </a:p>
      </dgm:t>
    </dgm:pt>
    <dgm:pt modelId="{58F225B1-BA7E-4F9B-923B-28D12B04FC66}" type="sibTrans" cxnId="{3305D75E-1083-4948-91EF-07B0DD1197AB}">
      <dgm:prSet/>
      <dgm:spPr/>
      <dgm:t>
        <a:bodyPr/>
        <a:lstStyle/>
        <a:p>
          <a:endParaRPr lang="en-US" sz="1400" b="1">
            <a:latin typeface="Times New Roman" panose="02020603050405020304" pitchFamily="18" charset="0"/>
            <a:cs typeface="Times New Roman" panose="02020603050405020304" pitchFamily="18" charset="0"/>
          </a:endParaRPr>
        </a:p>
      </dgm:t>
    </dgm:pt>
    <dgm:pt modelId="{B8A109F4-A309-40CB-81C6-A2C868154604}" type="pres">
      <dgm:prSet presAssocID="{9D9D2C07-1E1D-4858-92E1-E7473031ED93}" presName="Name0" presStyleCnt="0">
        <dgm:presLayoutVars>
          <dgm:dir/>
          <dgm:resizeHandles val="exact"/>
        </dgm:presLayoutVars>
      </dgm:prSet>
      <dgm:spPr/>
      <dgm:t>
        <a:bodyPr/>
        <a:lstStyle/>
        <a:p>
          <a:endParaRPr lang="en-US"/>
        </a:p>
      </dgm:t>
    </dgm:pt>
    <dgm:pt modelId="{1F86CDC4-B0DC-4BEE-BFB6-1A3F678C499B}" type="pres">
      <dgm:prSet presAssocID="{9D9D2C07-1E1D-4858-92E1-E7473031ED93}" presName="cycle" presStyleCnt="0"/>
      <dgm:spPr/>
    </dgm:pt>
    <dgm:pt modelId="{F531BF19-BECA-494F-B45A-6FD5129F1DBC}" type="pres">
      <dgm:prSet presAssocID="{248E1945-E939-4191-96E7-358BED197A40}" presName="nodeFirstNode" presStyleLbl="node1" presStyleIdx="0" presStyleCnt="8">
        <dgm:presLayoutVars>
          <dgm:bulletEnabled val="1"/>
        </dgm:presLayoutVars>
      </dgm:prSet>
      <dgm:spPr/>
      <dgm:t>
        <a:bodyPr/>
        <a:lstStyle/>
        <a:p>
          <a:endParaRPr lang="en-US"/>
        </a:p>
      </dgm:t>
    </dgm:pt>
    <dgm:pt modelId="{12C4F1C4-5385-4298-8051-68D2A4BEBEF6}" type="pres">
      <dgm:prSet presAssocID="{8B095517-62DE-4107-83C4-33195C87281A}" presName="sibTransFirstNode" presStyleLbl="bgShp" presStyleIdx="0" presStyleCnt="1"/>
      <dgm:spPr/>
      <dgm:t>
        <a:bodyPr/>
        <a:lstStyle/>
        <a:p>
          <a:endParaRPr lang="en-US"/>
        </a:p>
      </dgm:t>
    </dgm:pt>
    <dgm:pt modelId="{E1B46D91-2EB5-4A5D-B088-3FD25CD142ED}" type="pres">
      <dgm:prSet presAssocID="{8EBB4F53-CA23-4061-A61C-C69FCDAFCAA0}" presName="nodeFollowingNodes" presStyleLbl="node1" presStyleIdx="1" presStyleCnt="8" custRadScaleRad="98891" custRadScaleInc="11504">
        <dgm:presLayoutVars>
          <dgm:bulletEnabled val="1"/>
        </dgm:presLayoutVars>
      </dgm:prSet>
      <dgm:spPr/>
      <dgm:t>
        <a:bodyPr/>
        <a:lstStyle/>
        <a:p>
          <a:endParaRPr lang="en-US"/>
        </a:p>
      </dgm:t>
    </dgm:pt>
    <dgm:pt modelId="{44401387-0A50-4F06-963F-4143AEF0DE56}" type="pres">
      <dgm:prSet presAssocID="{33D4C5AC-F481-4FB1-9B2E-7D0CA82A829C}" presName="nodeFollowingNodes" presStyleLbl="node1" presStyleIdx="2" presStyleCnt="8">
        <dgm:presLayoutVars>
          <dgm:bulletEnabled val="1"/>
        </dgm:presLayoutVars>
      </dgm:prSet>
      <dgm:spPr/>
      <dgm:t>
        <a:bodyPr/>
        <a:lstStyle/>
        <a:p>
          <a:endParaRPr lang="en-US"/>
        </a:p>
      </dgm:t>
    </dgm:pt>
    <dgm:pt modelId="{ECBA30EB-182D-4A2C-ABBA-280575CCCE91}" type="pres">
      <dgm:prSet presAssocID="{F7302986-8414-4397-83F7-C73D3E975771}" presName="nodeFollowingNodes" presStyleLbl="node1" presStyleIdx="3" presStyleCnt="8" custRadScaleRad="104449" custRadScaleInc="-12470">
        <dgm:presLayoutVars>
          <dgm:bulletEnabled val="1"/>
        </dgm:presLayoutVars>
      </dgm:prSet>
      <dgm:spPr/>
      <dgm:t>
        <a:bodyPr/>
        <a:lstStyle/>
        <a:p>
          <a:endParaRPr lang="en-US"/>
        </a:p>
      </dgm:t>
    </dgm:pt>
    <dgm:pt modelId="{C6EE9F98-5664-4AD1-9B11-99543B7CF054}" type="pres">
      <dgm:prSet presAssocID="{A23FE30D-1348-4B1B-9A92-357422455206}" presName="nodeFollowingNodes" presStyleLbl="node1" presStyleIdx="4" presStyleCnt="8">
        <dgm:presLayoutVars>
          <dgm:bulletEnabled val="1"/>
        </dgm:presLayoutVars>
      </dgm:prSet>
      <dgm:spPr/>
      <dgm:t>
        <a:bodyPr/>
        <a:lstStyle/>
        <a:p>
          <a:endParaRPr lang="en-US"/>
        </a:p>
      </dgm:t>
    </dgm:pt>
    <dgm:pt modelId="{32ED25FE-F529-427E-AECA-C7B22027E10B}" type="pres">
      <dgm:prSet presAssocID="{7AA864E6-48F6-415F-AA19-AB68C58C154E}" presName="nodeFollowingNodes" presStyleLbl="node1" presStyleIdx="5" presStyleCnt="8" custRadScaleRad="99307" custRadScaleInc="6123">
        <dgm:presLayoutVars>
          <dgm:bulletEnabled val="1"/>
        </dgm:presLayoutVars>
      </dgm:prSet>
      <dgm:spPr/>
      <dgm:t>
        <a:bodyPr/>
        <a:lstStyle/>
        <a:p>
          <a:endParaRPr lang="en-US"/>
        </a:p>
      </dgm:t>
    </dgm:pt>
    <dgm:pt modelId="{E464AD1E-140B-420C-8EED-FC783C8C282A}" type="pres">
      <dgm:prSet presAssocID="{A3150306-46DD-4D0C-B3D3-CEE8B2D93A3E}" presName="nodeFollowingNodes" presStyleLbl="node1" presStyleIdx="6" presStyleCnt="8">
        <dgm:presLayoutVars>
          <dgm:bulletEnabled val="1"/>
        </dgm:presLayoutVars>
      </dgm:prSet>
      <dgm:spPr/>
      <dgm:t>
        <a:bodyPr/>
        <a:lstStyle/>
        <a:p>
          <a:endParaRPr lang="en-US"/>
        </a:p>
      </dgm:t>
    </dgm:pt>
    <dgm:pt modelId="{E453574E-34E2-41CA-A19A-53940A8967B1}" type="pres">
      <dgm:prSet presAssocID="{5344ED9D-F055-4BA4-B10D-45EC81DA084F}" presName="nodeFollowingNodes" presStyleLbl="node1" presStyleIdx="7" presStyleCnt="8" custRadScaleRad="101946" custRadScaleInc="-15326">
        <dgm:presLayoutVars>
          <dgm:bulletEnabled val="1"/>
        </dgm:presLayoutVars>
      </dgm:prSet>
      <dgm:spPr/>
      <dgm:t>
        <a:bodyPr/>
        <a:lstStyle/>
        <a:p>
          <a:endParaRPr lang="en-US"/>
        </a:p>
      </dgm:t>
    </dgm:pt>
  </dgm:ptLst>
  <dgm:cxnLst>
    <dgm:cxn modelId="{46383812-BFED-4E4E-BAEE-4A61AD15A8FD}" srcId="{9D9D2C07-1E1D-4858-92E1-E7473031ED93}" destId="{248E1945-E939-4191-96E7-358BED197A40}" srcOrd="0" destOrd="0" parTransId="{AB785C2F-1F6A-4F9A-ACF5-386A8E8D980E}" sibTransId="{8B095517-62DE-4107-83C4-33195C87281A}"/>
    <dgm:cxn modelId="{AECC7C08-79BE-4755-95A8-7870BE16ACC1}" type="presOf" srcId="{A3150306-46DD-4D0C-B3D3-CEE8B2D93A3E}" destId="{E464AD1E-140B-420C-8EED-FC783C8C282A}" srcOrd="0" destOrd="0" presId="urn:microsoft.com/office/officeart/2005/8/layout/cycle3"/>
    <dgm:cxn modelId="{AFDBF011-750E-464F-BFE9-97D02D417884}" srcId="{9D9D2C07-1E1D-4858-92E1-E7473031ED93}" destId="{A3150306-46DD-4D0C-B3D3-CEE8B2D93A3E}" srcOrd="6" destOrd="0" parTransId="{B44E5332-A522-4115-974D-9D313DAD8E96}" sibTransId="{17889A6E-A480-428B-8CB5-181861B1F808}"/>
    <dgm:cxn modelId="{3A769249-174B-476A-8A12-9790E0A395F8}" srcId="{9D9D2C07-1E1D-4858-92E1-E7473031ED93}" destId="{7AA864E6-48F6-415F-AA19-AB68C58C154E}" srcOrd="5" destOrd="0" parTransId="{F8DF8DB0-B12D-4648-9D3D-0AE41B2E2A08}" sibTransId="{63A32530-51DC-4A72-B4CA-5C444418534A}"/>
    <dgm:cxn modelId="{9593B168-8FCE-439D-A3DD-9CD85F236F82}" type="presOf" srcId="{A23FE30D-1348-4B1B-9A92-357422455206}" destId="{C6EE9F98-5664-4AD1-9B11-99543B7CF054}" srcOrd="0" destOrd="0" presId="urn:microsoft.com/office/officeart/2005/8/layout/cycle3"/>
    <dgm:cxn modelId="{3305D75E-1083-4948-91EF-07B0DD1197AB}" srcId="{9D9D2C07-1E1D-4858-92E1-E7473031ED93}" destId="{F7302986-8414-4397-83F7-C73D3E975771}" srcOrd="3" destOrd="0" parTransId="{B889DBC9-067A-458B-9367-FB16F011319A}" sibTransId="{58F225B1-BA7E-4F9B-923B-28D12B04FC66}"/>
    <dgm:cxn modelId="{C04ED039-D837-456F-8FB3-C23ABCBEDD8B}" type="presOf" srcId="{7AA864E6-48F6-415F-AA19-AB68C58C154E}" destId="{32ED25FE-F529-427E-AECA-C7B22027E10B}" srcOrd="0" destOrd="0" presId="urn:microsoft.com/office/officeart/2005/8/layout/cycle3"/>
    <dgm:cxn modelId="{AA1F40D9-F718-4AB9-871B-1B09365B9C1E}" srcId="{9D9D2C07-1E1D-4858-92E1-E7473031ED93}" destId="{33D4C5AC-F481-4FB1-9B2E-7D0CA82A829C}" srcOrd="2" destOrd="0" parTransId="{068D372A-62A6-4529-96E1-6E032A358C71}" sibTransId="{9AEFDAE7-C691-47C0-82F6-D2C84A52880D}"/>
    <dgm:cxn modelId="{99F60101-F3AF-4750-933C-9BB7BE9B5FF3}" srcId="{9D9D2C07-1E1D-4858-92E1-E7473031ED93}" destId="{A23FE30D-1348-4B1B-9A92-357422455206}" srcOrd="4" destOrd="0" parTransId="{31CEB002-469F-41C3-BD18-7DFE45E2F72C}" sibTransId="{88FFEDB2-277C-4C12-8EEA-86003CE354ED}"/>
    <dgm:cxn modelId="{F1FE184A-DBAE-4C7D-8E45-96CFFECFBBB5}" srcId="{9D9D2C07-1E1D-4858-92E1-E7473031ED93}" destId="{5344ED9D-F055-4BA4-B10D-45EC81DA084F}" srcOrd="7" destOrd="0" parTransId="{96CF1D83-379B-4BED-978D-E730AC80290A}" sibTransId="{7961A824-95C8-4EB6-BE38-D8FB84053084}"/>
    <dgm:cxn modelId="{48E051F7-A00F-4320-8C44-E5C346B2BE44}" type="presOf" srcId="{8EBB4F53-CA23-4061-A61C-C69FCDAFCAA0}" destId="{E1B46D91-2EB5-4A5D-B088-3FD25CD142ED}" srcOrd="0" destOrd="0" presId="urn:microsoft.com/office/officeart/2005/8/layout/cycle3"/>
    <dgm:cxn modelId="{4EEA968C-DFF9-41BC-8474-D589E46E9930}" type="presOf" srcId="{5344ED9D-F055-4BA4-B10D-45EC81DA084F}" destId="{E453574E-34E2-41CA-A19A-53940A8967B1}" srcOrd="0" destOrd="0" presId="urn:microsoft.com/office/officeart/2005/8/layout/cycle3"/>
    <dgm:cxn modelId="{DAE16555-6019-4832-A3C4-09B4BE701D2D}" type="presOf" srcId="{33D4C5AC-F481-4FB1-9B2E-7D0CA82A829C}" destId="{44401387-0A50-4F06-963F-4143AEF0DE56}" srcOrd="0" destOrd="0" presId="urn:microsoft.com/office/officeart/2005/8/layout/cycle3"/>
    <dgm:cxn modelId="{60377856-979D-40B8-B942-DF6D4EA1DD2C}" type="presOf" srcId="{248E1945-E939-4191-96E7-358BED197A40}" destId="{F531BF19-BECA-494F-B45A-6FD5129F1DBC}" srcOrd="0" destOrd="0" presId="urn:microsoft.com/office/officeart/2005/8/layout/cycle3"/>
    <dgm:cxn modelId="{53D6B114-0AC9-4C9E-AB55-195A44757B68}" type="presOf" srcId="{8B095517-62DE-4107-83C4-33195C87281A}" destId="{12C4F1C4-5385-4298-8051-68D2A4BEBEF6}" srcOrd="0" destOrd="0" presId="urn:microsoft.com/office/officeart/2005/8/layout/cycle3"/>
    <dgm:cxn modelId="{A4ED4A23-546F-4227-AFF6-801CB30CB926}" type="presOf" srcId="{F7302986-8414-4397-83F7-C73D3E975771}" destId="{ECBA30EB-182D-4A2C-ABBA-280575CCCE91}" srcOrd="0" destOrd="0" presId="urn:microsoft.com/office/officeart/2005/8/layout/cycle3"/>
    <dgm:cxn modelId="{7D55BC2C-F58D-4C84-A16A-2EB984DC793C}" srcId="{9D9D2C07-1E1D-4858-92E1-E7473031ED93}" destId="{8EBB4F53-CA23-4061-A61C-C69FCDAFCAA0}" srcOrd="1" destOrd="0" parTransId="{13259A64-C278-4708-B0AC-7E33B039FA08}" sibTransId="{7AC08420-CBC6-440C-9383-043081EE572D}"/>
    <dgm:cxn modelId="{C3C0E2D2-CBA2-4153-A44E-D474467BCC49}" type="presOf" srcId="{9D9D2C07-1E1D-4858-92E1-E7473031ED93}" destId="{B8A109F4-A309-40CB-81C6-A2C868154604}" srcOrd="0" destOrd="0" presId="urn:microsoft.com/office/officeart/2005/8/layout/cycle3"/>
    <dgm:cxn modelId="{53C78453-4E63-4062-97B2-4DD12D104516}" type="presParOf" srcId="{B8A109F4-A309-40CB-81C6-A2C868154604}" destId="{1F86CDC4-B0DC-4BEE-BFB6-1A3F678C499B}" srcOrd="0" destOrd="0" presId="urn:microsoft.com/office/officeart/2005/8/layout/cycle3"/>
    <dgm:cxn modelId="{07708A5A-C2B8-4B33-82FB-1CE74BD5467C}" type="presParOf" srcId="{1F86CDC4-B0DC-4BEE-BFB6-1A3F678C499B}" destId="{F531BF19-BECA-494F-B45A-6FD5129F1DBC}" srcOrd="0" destOrd="0" presId="urn:microsoft.com/office/officeart/2005/8/layout/cycle3"/>
    <dgm:cxn modelId="{28058A44-BA3A-4209-9283-61DCF315C5A0}" type="presParOf" srcId="{1F86CDC4-B0DC-4BEE-BFB6-1A3F678C499B}" destId="{12C4F1C4-5385-4298-8051-68D2A4BEBEF6}" srcOrd="1" destOrd="0" presId="urn:microsoft.com/office/officeart/2005/8/layout/cycle3"/>
    <dgm:cxn modelId="{EB8B278B-FD19-4237-9397-1375666344EF}" type="presParOf" srcId="{1F86CDC4-B0DC-4BEE-BFB6-1A3F678C499B}" destId="{E1B46D91-2EB5-4A5D-B088-3FD25CD142ED}" srcOrd="2" destOrd="0" presId="urn:microsoft.com/office/officeart/2005/8/layout/cycle3"/>
    <dgm:cxn modelId="{03E96C0F-3022-4861-A060-D44DB619F296}" type="presParOf" srcId="{1F86CDC4-B0DC-4BEE-BFB6-1A3F678C499B}" destId="{44401387-0A50-4F06-963F-4143AEF0DE56}" srcOrd="3" destOrd="0" presId="urn:microsoft.com/office/officeart/2005/8/layout/cycle3"/>
    <dgm:cxn modelId="{7594F13B-B1FA-4E35-B1D9-EB6C5D8C0A6F}" type="presParOf" srcId="{1F86CDC4-B0DC-4BEE-BFB6-1A3F678C499B}" destId="{ECBA30EB-182D-4A2C-ABBA-280575CCCE91}" srcOrd="4" destOrd="0" presId="urn:microsoft.com/office/officeart/2005/8/layout/cycle3"/>
    <dgm:cxn modelId="{B21EE6DD-ECCF-46BC-8146-20859C2053D5}" type="presParOf" srcId="{1F86CDC4-B0DC-4BEE-BFB6-1A3F678C499B}" destId="{C6EE9F98-5664-4AD1-9B11-99543B7CF054}" srcOrd="5" destOrd="0" presId="urn:microsoft.com/office/officeart/2005/8/layout/cycle3"/>
    <dgm:cxn modelId="{33BAFE5B-2EBE-4716-842C-207FC405D1D8}" type="presParOf" srcId="{1F86CDC4-B0DC-4BEE-BFB6-1A3F678C499B}" destId="{32ED25FE-F529-427E-AECA-C7B22027E10B}" srcOrd="6" destOrd="0" presId="urn:microsoft.com/office/officeart/2005/8/layout/cycle3"/>
    <dgm:cxn modelId="{BA681652-E0D3-44DC-B0F5-7E2EA7A7D092}" type="presParOf" srcId="{1F86CDC4-B0DC-4BEE-BFB6-1A3F678C499B}" destId="{E464AD1E-140B-420C-8EED-FC783C8C282A}" srcOrd="7" destOrd="0" presId="urn:microsoft.com/office/officeart/2005/8/layout/cycle3"/>
    <dgm:cxn modelId="{55E7DB29-EBFC-49F3-81AD-AA71A00E2183}" type="presParOf" srcId="{1F86CDC4-B0DC-4BEE-BFB6-1A3F678C499B}" destId="{E453574E-34E2-41CA-A19A-53940A8967B1}" srcOrd="8"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C4F1C4-5385-4298-8051-68D2A4BEBEF6}">
      <dsp:nvSpPr>
        <dsp:cNvPr id="0" name=""/>
        <dsp:cNvSpPr/>
      </dsp:nvSpPr>
      <dsp:spPr>
        <a:xfrm>
          <a:off x="1199701" y="-33118"/>
          <a:ext cx="3812111" cy="3812111"/>
        </a:xfrm>
        <a:prstGeom prst="circularArrow">
          <a:avLst>
            <a:gd name="adj1" fmla="val 5544"/>
            <a:gd name="adj2" fmla="val 330680"/>
            <a:gd name="adj3" fmla="val 14661799"/>
            <a:gd name="adj4" fmla="val 16867124"/>
            <a:gd name="adj5" fmla="val 5757"/>
          </a:avLst>
        </a:prstGeom>
        <a:gradFill rotWithShape="0">
          <a:gsLst>
            <a:gs pos="0">
              <a:schemeClr val="accent2">
                <a:tint val="40000"/>
                <a:hueOff val="0"/>
                <a:satOff val="0"/>
                <a:lumOff val="0"/>
                <a:alphaOff val="0"/>
                <a:satMod val="103000"/>
                <a:lumMod val="102000"/>
                <a:tint val="94000"/>
              </a:schemeClr>
            </a:gs>
            <a:gs pos="50000">
              <a:schemeClr val="accent2">
                <a:tint val="40000"/>
                <a:hueOff val="0"/>
                <a:satOff val="0"/>
                <a:lumOff val="0"/>
                <a:alphaOff val="0"/>
                <a:satMod val="110000"/>
                <a:lumMod val="100000"/>
                <a:shade val="100000"/>
              </a:schemeClr>
            </a:gs>
            <a:gs pos="100000">
              <a:schemeClr val="accent2">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F531BF19-BECA-494F-B45A-6FD5129F1DBC}">
      <dsp:nvSpPr>
        <dsp:cNvPr id="0" name=""/>
        <dsp:cNvSpPr/>
      </dsp:nvSpPr>
      <dsp:spPr>
        <a:xfrm>
          <a:off x="2574230" y="2241"/>
          <a:ext cx="1063054" cy="53152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Creation</a:t>
          </a:r>
        </a:p>
      </dsp:txBody>
      <dsp:txXfrm>
        <a:off x="2600177" y="28188"/>
        <a:ext cx="1011160" cy="479633"/>
      </dsp:txXfrm>
    </dsp:sp>
    <dsp:sp modelId="{E1B46D91-2EB5-4A5D-B088-3FD25CD142ED}">
      <dsp:nvSpPr>
        <dsp:cNvPr id="0" name=""/>
        <dsp:cNvSpPr/>
      </dsp:nvSpPr>
      <dsp:spPr>
        <a:xfrm>
          <a:off x="3798512" y="585988"/>
          <a:ext cx="1063054" cy="531527"/>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Monitoring</a:t>
          </a:r>
        </a:p>
      </dsp:txBody>
      <dsp:txXfrm>
        <a:off x="3824459" y="611935"/>
        <a:ext cx="1011160" cy="479633"/>
      </dsp:txXfrm>
    </dsp:sp>
    <dsp:sp modelId="{44401387-0A50-4F06-963F-4143AEF0DE56}">
      <dsp:nvSpPr>
        <dsp:cNvPr id="0" name=""/>
        <dsp:cNvSpPr/>
      </dsp:nvSpPr>
      <dsp:spPr>
        <a:xfrm>
          <a:off x="4199864" y="1627875"/>
          <a:ext cx="1063054" cy="531527"/>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Assessment</a:t>
          </a:r>
        </a:p>
      </dsp:txBody>
      <dsp:txXfrm>
        <a:off x="4225811" y="1653822"/>
        <a:ext cx="1011160" cy="479633"/>
      </dsp:txXfrm>
    </dsp:sp>
    <dsp:sp modelId="{ECBA30EB-182D-4A2C-ABBA-280575CCCE91}">
      <dsp:nvSpPr>
        <dsp:cNvPr id="0" name=""/>
        <dsp:cNvSpPr/>
      </dsp:nvSpPr>
      <dsp:spPr>
        <a:xfrm>
          <a:off x="3874713" y="2719574"/>
          <a:ext cx="1063054" cy="531527"/>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Transfer</a:t>
          </a:r>
        </a:p>
      </dsp:txBody>
      <dsp:txXfrm>
        <a:off x="3900660" y="2745521"/>
        <a:ext cx="1011160" cy="479633"/>
      </dsp:txXfrm>
    </dsp:sp>
    <dsp:sp modelId="{C6EE9F98-5664-4AD1-9B11-99543B7CF054}">
      <dsp:nvSpPr>
        <dsp:cNvPr id="0" name=""/>
        <dsp:cNvSpPr/>
      </dsp:nvSpPr>
      <dsp:spPr>
        <a:xfrm>
          <a:off x="2574230" y="3253509"/>
          <a:ext cx="1063054" cy="531527"/>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Acceptance</a:t>
          </a:r>
        </a:p>
      </dsp:txBody>
      <dsp:txXfrm>
        <a:off x="2600177" y="3279456"/>
        <a:ext cx="1011160" cy="479633"/>
      </dsp:txXfrm>
    </dsp:sp>
    <dsp:sp modelId="{32ED25FE-F529-427E-AECA-C7B22027E10B}">
      <dsp:nvSpPr>
        <dsp:cNvPr id="0" name=""/>
        <dsp:cNvSpPr/>
      </dsp:nvSpPr>
      <dsp:spPr>
        <a:xfrm>
          <a:off x="1384960" y="2719582"/>
          <a:ext cx="1063054" cy="53152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Utilization</a:t>
          </a:r>
        </a:p>
      </dsp:txBody>
      <dsp:txXfrm>
        <a:off x="1410907" y="2745529"/>
        <a:ext cx="1011160" cy="479633"/>
      </dsp:txXfrm>
    </dsp:sp>
    <dsp:sp modelId="{E464AD1E-140B-420C-8EED-FC783C8C282A}">
      <dsp:nvSpPr>
        <dsp:cNvPr id="0" name=""/>
        <dsp:cNvSpPr/>
      </dsp:nvSpPr>
      <dsp:spPr>
        <a:xfrm>
          <a:off x="948596" y="1627875"/>
          <a:ext cx="1063054" cy="531527"/>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Maturity</a:t>
          </a:r>
        </a:p>
      </dsp:txBody>
      <dsp:txXfrm>
        <a:off x="974543" y="1653822"/>
        <a:ext cx="1011160" cy="479633"/>
      </dsp:txXfrm>
    </dsp:sp>
    <dsp:sp modelId="{E453574E-34E2-41CA-A19A-53940A8967B1}">
      <dsp:nvSpPr>
        <dsp:cNvPr id="0" name=""/>
        <dsp:cNvSpPr/>
      </dsp:nvSpPr>
      <dsp:spPr>
        <a:xfrm>
          <a:off x="1283919" y="587856"/>
          <a:ext cx="1063054" cy="531527"/>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latin typeface="Times New Roman" panose="02020603050405020304" pitchFamily="18" charset="0"/>
              <a:cs typeface="Times New Roman" panose="02020603050405020304" pitchFamily="18" charset="0"/>
            </a:rPr>
            <a:t>Technology Decline</a:t>
          </a:r>
        </a:p>
      </dsp:txBody>
      <dsp:txXfrm>
        <a:off x="1309866" y="613803"/>
        <a:ext cx="1011160" cy="479633"/>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5D5075-F234-492B-A627-2E0C3C62A30C}" type="datetimeFigureOut">
              <a:rPr lang="en-US" smtClean="0"/>
              <a:t>2/9/2023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C55EDF-AAA2-41DB-BEF5-0DAB2ED40F81}" type="slidenum">
              <a:rPr lang="en-US" smtClean="0"/>
              <a:t>‹#›</a:t>
            </a:fld>
            <a:endParaRPr lang="en-US"/>
          </a:p>
        </p:txBody>
      </p:sp>
    </p:spTree>
    <p:extLst>
      <p:ext uri="{BB962C8B-B14F-4D97-AF65-F5344CB8AC3E}">
        <p14:creationId xmlns:p14="http://schemas.microsoft.com/office/powerpoint/2010/main" val="3892622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4</a:t>
            </a:fld>
            <a:endParaRPr lang="en-US"/>
          </a:p>
        </p:txBody>
      </p:sp>
    </p:spTree>
    <p:extLst>
      <p:ext uri="{BB962C8B-B14F-4D97-AF65-F5344CB8AC3E}">
        <p14:creationId xmlns:p14="http://schemas.microsoft.com/office/powerpoint/2010/main" val="456583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5</a:t>
            </a:fld>
            <a:endParaRPr lang="en-US"/>
          </a:p>
        </p:txBody>
      </p:sp>
    </p:spTree>
    <p:extLst>
      <p:ext uri="{BB962C8B-B14F-4D97-AF65-F5344CB8AC3E}">
        <p14:creationId xmlns:p14="http://schemas.microsoft.com/office/powerpoint/2010/main" val="2139468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6</a:t>
            </a:fld>
            <a:endParaRPr lang="en-US"/>
          </a:p>
        </p:txBody>
      </p:sp>
    </p:spTree>
    <p:extLst>
      <p:ext uri="{BB962C8B-B14F-4D97-AF65-F5344CB8AC3E}">
        <p14:creationId xmlns:p14="http://schemas.microsoft.com/office/powerpoint/2010/main" val="334293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7</a:t>
            </a:fld>
            <a:endParaRPr lang="en-US"/>
          </a:p>
        </p:txBody>
      </p:sp>
    </p:spTree>
    <p:extLst>
      <p:ext uri="{BB962C8B-B14F-4D97-AF65-F5344CB8AC3E}">
        <p14:creationId xmlns:p14="http://schemas.microsoft.com/office/powerpoint/2010/main" val="3565773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8</a:t>
            </a:fld>
            <a:endParaRPr lang="en-US"/>
          </a:p>
        </p:txBody>
      </p:sp>
    </p:spTree>
    <p:extLst>
      <p:ext uri="{BB962C8B-B14F-4D97-AF65-F5344CB8AC3E}">
        <p14:creationId xmlns:p14="http://schemas.microsoft.com/office/powerpoint/2010/main" val="4032588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9</a:t>
            </a:fld>
            <a:endParaRPr lang="en-US"/>
          </a:p>
        </p:txBody>
      </p:sp>
    </p:spTree>
    <p:extLst>
      <p:ext uri="{BB962C8B-B14F-4D97-AF65-F5344CB8AC3E}">
        <p14:creationId xmlns:p14="http://schemas.microsoft.com/office/powerpoint/2010/main" val="1610808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10</a:t>
            </a:fld>
            <a:endParaRPr lang="en-US"/>
          </a:p>
        </p:txBody>
      </p:sp>
    </p:spTree>
    <p:extLst>
      <p:ext uri="{BB962C8B-B14F-4D97-AF65-F5344CB8AC3E}">
        <p14:creationId xmlns:p14="http://schemas.microsoft.com/office/powerpoint/2010/main" val="10237483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11</a:t>
            </a:fld>
            <a:endParaRPr lang="en-US"/>
          </a:p>
        </p:txBody>
      </p:sp>
    </p:spTree>
    <p:extLst>
      <p:ext uri="{BB962C8B-B14F-4D97-AF65-F5344CB8AC3E}">
        <p14:creationId xmlns:p14="http://schemas.microsoft.com/office/powerpoint/2010/main" val="3502501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C55EDF-AAA2-41DB-BEF5-0DAB2ED40F81}" type="slidenum">
              <a:rPr lang="en-US" smtClean="0"/>
              <a:t>16</a:t>
            </a:fld>
            <a:endParaRPr lang="en-US"/>
          </a:p>
        </p:txBody>
      </p:sp>
    </p:spTree>
    <p:extLst>
      <p:ext uri="{BB962C8B-B14F-4D97-AF65-F5344CB8AC3E}">
        <p14:creationId xmlns:p14="http://schemas.microsoft.com/office/powerpoint/2010/main" val="35415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897890"/>
            <a:ext cx="7315200" cy="1910080"/>
          </a:xfrm>
        </p:spPr>
        <p:txBody>
          <a:bodyPr anchor="b"/>
          <a:lstStyle>
            <a:lvl1pPr algn="ctr">
              <a:defRPr sz="4800"/>
            </a:lvl1pPr>
          </a:lstStyle>
          <a:p>
            <a:r>
              <a:rPr lang="en-US" smtClean="0"/>
              <a:t>Click to edit Master title style</a:t>
            </a:r>
            <a:endParaRPr lang="en-US"/>
          </a:p>
        </p:txBody>
      </p:sp>
      <p:sp>
        <p:nvSpPr>
          <p:cNvPr id="3" name="Subtitle 2"/>
          <p:cNvSpPr>
            <a:spLocks noGrp="1"/>
          </p:cNvSpPr>
          <p:nvPr>
            <p:ph type="subTitle" idx="1"/>
          </p:nvPr>
        </p:nvSpPr>
        <p:spPr>
          <a:xfrm>
            <a:off x="1219200" y="2881630"/>
            <a:ext cx="7315200" cy="1324610"/>
          </a:xfrm>
        </p:spPr>
        <p:txBody>
          <a:bodyPr/>
          <a:lstStyle>
            <a:lvl1pPr marL="0" indent="0" algn="ctr">
              <a:buNone/>
              <a:defRPr sz="1920"/>
            </a:lvl1pPr>
            <a:lvl2pPr marL="365760" indent="0" algn="ctr">
              <a:buNone/>
              <a:defRPr sz="1600"/>
            </a:lvl2pPr>
            <a:lvl3pPr marL="731520" indent="0" algn="ctr">
              <a:buNone/>
              <a:defRPr sz="1440"/>
            </a:lvl3pPr>
            <a:lvl4pPr marL="1097280" indent="0" algn="ctr">
              <a:buNone/>
              <a:defRPr sz="1280"/>
            </a:lvl4pPr>
            <a:lvl5pPr marL="1463040" indent="0" algn="ctr">
              <a:buNone/>
              <a:defRPr sz="1280"/>
            </a:lvl5pPr>
            <a:lvl6pPr marL="1828800" indent="0" algn="ctr">
              <a:buNone/>
              <a:defRPr sz="1280"/>
            </a:lvl6pPr>
            <a:lvl7pPr marL="2194560" indent="0" algn="ctr">
              <a:buNone/>
              <a:defRPr sz="1280"/>
            </a:lvl7pPr>
            <a:lvl8pPr marL="2560320" indent="0" algn="ctr">
              <a:buNone/>
              <a:defRPr sz="1280"/>
            </a:lvl8pPr>
            <a:lvl9pPr marL="2926080" indent="0" algn="ctr">
              <a:buNone/>
              <a:defRPr sz="128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201427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218803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65480" y="1367791"/>
            <a:ext cx="8412480" cy="2282190"/>
          </a:xfrm>
        </p:spPr>
        <p:txBody>
          <a:bodyPr anchor="b"/>
          <a:lstStyle>
            <a:lvl1pPr>
              <a:defRPr sz="4800"/>
            </a:lvl1pPr>
          </a:lstStyle>
          <a:p>
            <a:r>
              <a:rPr lang="en-US" smtClean="0"/>
              <a:t>Click to edit Master title style</a:t>
            </a:r>
            <a:endParaRPr lang="en-US"/>
          </a:p>
        </p:txBody>
      </p:sp>
      <p:sp>
        <p:nvSpPr>
          <p:cNvPr id="3" name="Text Placeholder 2"/>
          <p:cNvSpPr>
            <a:spLocks noGrp="1"/>
          </p:cNvSpPr>
          <p:nvPr>
            <p:ph type="body" idx="1"/>
          </p:nvPr>
        </p:nvSpPr>
        <p:spPr>
          <a:xfrm>
            <a:off x="665480" y="3671571"/>
            <a:ext cx="8412480" cy="1200150"/>
          </a:xfrm>
        </p:spPr>
        <p:txBody>
          <a:bodyPr/>
          <a:lstStyle>
            <a:lvl1pPr marL="0" indent="0">
              <a:buNone/>
              <a:defRPr sz="1920">
                <a:solidFill>
                  <a:schemeClr val="tx1">
                    <a:tint val="75000"/>
                  </a:schemeClr>
                </a:solidFill>
              </a:defRPr>
            </a:lvl1pPr>
            <a:lvl2pPr marL="365760" indent="0">
              <a:buNone/>
              <a:defRPr sz="1600">
                <a:solidFill>
                  <a:schemeClr val="tx1">
                    <a:tint val="75000"/>
                  </a:schemeClr>
                </a:solidFill>
              </a:defRPr>
            </a:lvl2pPr>
            <a:lvl3pPr marL="731520" indent="0">
              <a:buNone/>
              <a:defRPr sz="1440">
                <a:solidFill>
                  <a:schemeClr val="tx1">
                    <a:tint val="75000"/>
                  </a:schemeClr>
                </a:solidFill>
              </a:defRPr>
            </a:lvl3pPr>
            <a:lvl4pPr marL="1097280" indent="0">
              <a:buNone/>
              <a:defRPr sz="1280">
                <a:solidFill>
                  <a:schemeClr val="tx1">
                    <a:tint val="75000"/>
                  </a:schemeClr>
                </a:solidFill>
              </a:defRPr>
            </a:lvl4pPr>
            <a:lvl5pPr marL="1463040" indent="0">
              <a:buNone/>
              <a:defRPr sz="1280">
                <a:solidFill>
                  <a:schemeClr val="tx1">
                    <a:tint val="75000"/>
                  </a:schemeClr>
                </a:solidFill>
              </a:defRPr>
            </a:lvl5pPr>
            <a:lvl6pPr marL="1828800" indent="0">
              <a:buNone/>
              <a:defRPr sz="1280">
                <a:solidFill>
                  <a:schemeClr val="tx1">
                    <a:tint val="75000"/>
                  </a:schemeClr>
                </a:solidFill>
              </a:defRPr>
            </a:lvl6pPr>
            <a:lvl7pPr marL="2194560" indent="0">
              <a:buNone/>
              <a:defRPr sz="1280">
                <a:solidFill>
                  <a:schemeClr val="tx1">
                    <a:tint val="75000"/>
                  </a:schemeClr>
                </a:solidFill>
              </a:defRPr>
            </a:lvl7pPr>
            <a:lvl8pPr marL="2560320" indent="0">
              <a:buNone/>
              <a:defRPr sz="1280">
                <a:solidFill>
                  <a:schemeClr val="tx1">
                    <a:tint val="75000"/>
                  </a:schemeClr>
                </a:solidFill>
              </a:defRPr>
            </a:lvl8pPr>
            <a:lvl9pPr marL="2926080" indent="0">
              <a:buNone/>
              <a:defRPr sz="128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512924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70560" y="1460500"/>
            <a:ext cx="4145280" cy="348107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37760" y="1460500"/>
            <a:ext cx="4145280" cy="348107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1619940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1830" y="292101"/>
            <a:ext cx="8412480" cy="106045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71831" y="1344930"/>
            <a:ext cx="4126230" cy="659130"/>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en-US" smtClean="0"/>
              <a:t>Edit Master text styles</a:t>
            </a:r>
          </a:p>
        </p:txBody>
      </p:sp>
      <p:sp>
        <p:nvSpPr>
          <p:cNvPr id="4" name="Content Placeholder 3"/>
          <p:cNvSpPr>
            <a:spLocks noGrp="1"/>
          </p:cNvSpPr>
          <p:nvPr>
            <p:ph sz="half" idx="2"/>
          </p:nvPr>
        </p:nvSpPr>
        <p:spPr>
          <a:xfrm>
            <a:off x="671831" y="2004060"/>
            <a:ext cx="4126230" cy="294767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937760" y="1344930"/>
            <a:ext cx="4146550" cy="659130"/>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en-US" smtClean="0"/>
              <a:t>Edit Master text styles</a:t>
            </a:r>
          </a:p>
        </p:txBody>
      </p:sp>
      <p:sp>
        <p:nvSpPr>
          <p:cNvPr id="6" name="Content Placeholder 5"/>
          <p:cNvSpPr>
            <a:spLocks noGrp="1"/>
          </p:cNvSpPr>
          <p:nvPr>
            <p:ph sz="quarter" idx="4"/>
          </p:nvPr>
        </p:nvSpPr>
        <p:spPr>
          <a:xfrm>
            <a:off x="4937760" y="2004060"/>
            <a:ext cx="4146550" cy="294767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1313322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1124594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512938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1831" y="365760"/>
            <a:ext cx="3145790" cy="1280160"/>
          </a:xfrm>
        </p:spPr>
        <p:txBody>
          <a:bodyPr anchor="b"/>
          <a:lstStyle>
            <a:lvl1pPr>
              <a:defRPr sz="2560"/>
            </a:lvl1pPr>
          </a:lstStyle>
          <a:p>
            <a:r>
              <a:rPr lang="en-US" smtClean="0"/>
              <a:t>Click to edit Master title style</a:t>
            </a:r>
            <a:endParaRPr lang="en-US"/>
          </a:p>
        </p:txBody>
      </p:sp>
      <p:sp>
        <p:nvSpPr>
          <p:cNvPr id="3" name="Content Placeholder 2"/>
          <p:cNvSpPr>
            <a:spLocks noGrp="1"/>
          </p:cNvSpPr>
          <p:nvPr>
            <p:ph idx="1"/>
          </p:nvPr>
        </p:nvSpPr>
        <p:spPr>
          <a:xfrm>
            <a:off x="4146550" y="789940"/>
            <a:ext cx="4937760" cy="3898900"/>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71831" y="1645920"/>
            <a:ext cx="3145790" cy="3049270"/>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3451887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1831" y="365760"/>
            <a:ext cx="3145790" cy="1280160"/>
          </a:xfrm>
        </p:spPr>
        <p:txBody>
          <a:bodyPr anchor="b"/>
          <a:lstStyle>
            <a:lvl1pPr>
              <a:defRPr sz="2560"/>
            </a:lvl1pPr>
          </a:lstStyle>
          <a:p>
            <a:r>
              <a:rPr lang="en-US" smtClean="0"/>
              <a:t>Click to edit Master title style</a:t>
            </a:r>
            <a:endParaRPr lang="en-US"/>
          </a:p>
        </p:txBody>
      </p:sp>
      <p:sp>
        <p:nvSpPr>
          <p:cNvPr id="3" name="Picture Placeholder 2"/>
          <p:cNvSpPr>
            <a:spLocks noGrp="1"/>
          </p:cNvSpPr>
          <p:nvPr>
            <p:ph type="pic" idx="1"/>
          </p:nvPr>
        </p:nvSpPr>
        <p:spPr>
          <a:xfrm>
            <a:off x="4146550" y="789940"/>
            <a:ext cx="4937760" cy="3898900"/>
          </a:xfrm>
        </p:spPr>
        <p:txBody>
          <a:bodyPr/>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endParaRPr lang="en-US"/>
          </a:p>
        </p:txBody>
      </p:sp>
      <p:sp>
        <p:nvSpPr>
          <p:cNvPr id="4" name="Text Placeholder 3"/>
          <p:cNvSpPr>
            <a:spLocks noGrp="1"/>
          </p:cNvSpPr>
          <p:nvPr>
            <p:ph type="body" sz="half" idx="2"/>
          </p:nvPr>
        </p:nvSpPr>
        <p:spPr>
          <a:xfrm>
            <a:off x="671831" y="1645920"/>
            <a:ext cx="3145790" cy="3049270"/>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840919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3051708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9920" y="292100"/>
            <a:ext cx="2103120" cy="464947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70560" y="292100"/>
            <a:ext cx="6187440" cy="464947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4ED7-5F33-4BE3-A4D6-5CACD679ABF5}" type="slidenum">
              <a:rPr lang="en-US" smtClean="0"/>
              <a:t>‹#›</a:t>
            </a:fld>
            <a:endParaRPr lang="en-US"/>
          </a:p>
        </p:txBody>
      </p:sp>
    </p:spTree>
    <p:extLst>
      <p:ext uri="{BB962C8B-B14F-4D97-AF65-F5344CB8AC3E}">
        <p14:creationId xmlns:p14="http://schemas.microsoft.com/office/powerpoint/2010/main" val="1071040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0560" y="292101"/>
            <a:ext cx="8412480" cy="10604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70560" y="1460500"/>
            <a:ext cx="8412480" cy="348107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70560" y="5085080"/>
            <a:ext cx="2194560" cy="292100"/>
          </a:xfrm>
          <a:prstGeom prst="rect">
            <a:avLst/>
          </a:prstGeom>
        </p:spPr>
        <p:txBody>
          <a:bodyPr vert="horz" lIns="91440" tIns="45720" rIns="91440" bIns="45720" rtlCol="0" anchor="ctr"/>
          <a:lstStyle>
            <a:lvl1pPr algn="l">
              <a:defRPr sz="96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230880" y="5085080"/>
            <a:ext cx="3291840" cy="292100"/>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888480" y="5085080"/>
            <a:ext cx="2194560" cy="292100"/>
          </a:xfrm>
          <a:prstGeom prst="rect">
            <a:avLst/>
          </a:prstGeom>
        </p:spPr>
        <p:txBody>
          <a:bodyPr vert="horz" lIns="91440" tIns="45720" rIns="91440" bIns="45720" rtlCol="0" anchor="ctr"/>
          <a:lstStyle>
            <a:lvl1pPr algn="r">
              <a:defRPr sz="960">
                <a:solidFill>
                  <a:schemeClr val="tx1">
                    <a:tint val="75000"/>
                  </a:schemeClr>
                </a:solidFill>
              </a:defRPr>
            </a:lvl1pPr>
          </a:lstStyle>
          <a:p>
            <a:fld id="{D0F64ED7-5F33-4BE3-A4D6-5CACD679ABF5}" type="slidenum">
              <a:rPr lang="en-US" smtClean="0"/>
              <a:t>‹#›</a:t>
            </a:fld>
            <a:endParaRPr lang="en-US"/>
          </a:p>
        </p:txBody>
      </p:sp>
    </p:spTree>
    <p:extLst>
      <p:ext uri="{BB962C8B-B14F-4D97-AF65-F5344CB8AC3E}">
        <p14:creationId xmlns:p14="http://schemas.microsoft.com/office/powerpoint/2010/main" val="7344836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731520"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880" indent="-182880" algn="l" defTabSz="731520"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640" indent="-182880" algn="l" defTabSz="731520" rtl="0" eaLnBrk="1" latinLnBrk="0" hangingPunct="1">
        <a:lnSpc>
          <a:spcPct val="90000"/>
        </a:lnSpc>
        <a:spcBef>
          <a:spcPts val="400"/>
        </a:spcBef>
        <a:buFont typeface="Arial" panose="020B0604020202020204" pitchFamily="34" charset="0"/>
        <a:buChar char="•"/>
        <a:defRPr sz="1920" kern="1200">
          <a:solidFill>
            <a:schemeClr val="tx1"/>
          </a:solidFill>
          <a:latin typeface="+mn-lt"/>
          <a:ea typeface="+mn-ea"/>
          <a:cs typeface="+mn-cs"/>
        </a:defRPr>
      </a:lvl2pPr>
      <a:lvl3pPr marL="914400" indent="-182880" algn="l" defTabSz="73152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12801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592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168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744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20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89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valuer.ai/blog/50-examples-of-corporations-that-failed-to-innovate-and-missed-their-chanc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4061" y="381000"/>
            <a:ext cx="8460415" cy="2286000"/>
          </a:xfrm>
        </p:spPr>
        <p:txBody>
          <a:bodyPr>
            <a:noAutofit/>
          </a:bodyPr>
          <a:lstStyle/>
          <a:p>
            <a:pPr algn="ctr"/>
            <a:r>
              <a:rPr lang="en-US" sz="2200" b="1" dirty="0" smtClean="0">
                <a:solidFill>
                  <a:schemeClr val="tx1">
                    <a:lumMod val="75000"/>
                    <a:lumOff val="25000"/>
                  </a:schemeClr>
                </a:solidFill>
                <a:latin typeface="Times New Roman" pitchFamily="18" charset="0"/>
                <a:cs typeface="Times New Roman" pitchFamily="18" charset="0"/>
              </a:rPr>
              <a:t>IPE 4111</a:t>
            </a:r>
            <a:r>
              <a:rPr lang="en-US" sz="2200" b="1" dirty="0">
                <a:solidFill>
                  <a:schemeClr val="tx1">
                    <a:lumMod val="75000"/>
                    <a:lumOff val="25000"/>
                  </a:schemeClr>
                </a:solidFill>
                <a:latin typeface="Times New Roman" pitchFamily="18" charset="0"/>
                <a:cs typeface="Times New Roman" pitchFamily="18" charset="0"/>
              </a:rPr>
              <a:t/>
            </a:r>
            <a:br>
              <a:rPr lang="en-US" sz="2200" b="1" dirty="0">
                <a:solidFill>
                  <a:schemeClr val="tx1">
                    <a:lumMod val="75000"/>
                    <a:lumOff val="25000"/>
                  </a:schemeClr>
                </a:solidFill>
                <a:latin typeface="Times New Roman" pitchFamily="18" charset="0"/>
                <a:cs typeface="Times New Roman" pitchFamily="18" charset="0"/>
              </a:rPr>
            </a:br>
            <a:r>
              <a:rPr lang="en-US" sz="2200" b="1" dirty="0">
                <a:solidFill>
                  <a:schemeClr val="tx1">
                    <a:lumMod val="75000"/>
                    <a:lumOff val="25000"/>
                  </a:schemeClr>
                </a:solidFill>
                <a:latin typeface="Times New Roman" pitchFamily="18" charset="0"/>
                <a:cs typeface="Times New Roman" pitchFamily="18" charset="0"/>
              </a:rPr>
              <a:t>Industrial Management</a:t>
            </a:r>
            <a:br>
              <a:rPr lang="en-US" sz="2200" b="1" dirty="0">
                <a:solidFill>
                  <a:schemeClr val="tx1">
                    <a:lumMod val="75000"/>
                    <a:lumOff val="25000"/>
                  </a:schemeClr>
                </a:solidFill>
                <a:latin typeface="Times New Roman" pitchFamily="18" charset="0"/>
                <a:cs typeface="Times New Roman" pitchFamily="18" charset="0"/>
              </a:rPr>
            </a:br>
            <a:r>
              <a:rPr lang="en-US" sz="1000" b="1" dirty="0">
                <a:solidFill>
                  <a:schemeClr val="bg1"/>
                </a:solidFill>
                <a:latin typeface="Times New Roman" pitchFamily="18" charset="0"/>
                <a:cs typeface="Times New Roman" pitchFamily="18" charset="0"/>
              </a:rPr>
              <a:t>p</a:t>
            </a:r>
            <a:r>
              <a:rPr lang="en-US" sz="1000" b="1" dirty="0">
                <a:solidFill>
                  <a:schemeClr val="tx1">
                    <a:lumMod val="75000"/>
                    <a:lumOff val="25000"/>
                  </a:schemeClr>
                </a:solidFill>
                <a:latin typeface="Times New Roman" pitchFamily="18" charset="0"/>
                <a:cs typeface="Times New Roman" pitchFamily="18" charset="0"/>
              </a:rPr>
              <a:t/>
            </a:r>
            <a:br>
              <a:rPr lang="en-US" sz="1000" b="1" dirty="0">
                <a:solidFill>
                  <a:schemeClr val="tx1">
                    <a:lumMod val="75000"/>
                    <a:lumOff val="25000"/>
                  </a:schemeClr>
                </a:solidFill>
                <a:latin typeface="Times New Roman" pitchFamily="18" charset="0"/>
                <a:cs typeface="Times New Roman" pitchFamily="18" charset="0"/>
              </a:rPr>
            </a:br>
            <a:r>
              <a:rPr lang="en-US" sz="1600" b="1" dirty="0">
                <a:solidFill>
                  <a:schemeClr val="accent3"/>
                </a:solidFill>
                <a:latin typeface="Times New Roman" pitchFamily="18" charset="0"/>
                <a:cs typeface="Times New Roman" pitchFamily="18" charset="0"/>
              </a:rPr>
              <a:t/>
            </a:r>
            <a:br>
              <a:rPr lang="en-US" sz="1600" b="1" dirty="0">
                <a:solidFill>
                  <a:schemeClr val="accent3"/>
                </a:solidFill>
                <a:latin typeface="Times New Roman" pitchFamily="18" charset="0"/>
                <a:cs typeface="Times New Roman" pitchFamily="18" charset="0"/>
              </a:rPr>
            </a:br>
            <a:r>
              <a:rPr lang="en-US" sz="3200" b="1" dirty="0">
                <a:effectLst>
                  <a:outerShdw blurRad="38100" dist="38100" dir="2700000" algn="tl">
                    <a:srgbClr val="000000">
                      <a:alpha val="43137"/>
                    </a:srgbClr>
                  </a:outerShdw>
                </a:effectLst>
                <a:latin typeface="Times New Roman" pitchFamily="18" charset="0"/>
                <a:cs typeface="Times New Roman" pitchFamily="18" charset="0"/>
              </a:rPr>
              <a:t>Technology management</a:t>
            </a:r>
          </a:p>
        </p:txBody>
      </p:sp>
      <p:sp>
        <p:nvSpPr>
          <p:cNvPr id="4" name="object 10">
            <a:extLst>
              <a:ext uri="{FF2B5EF4-FFF2-40B4-BE49-F238E27FC236}">
                <a16:creationId xmlns:a16="http://schemas.microsoft.com/office/drawing/2014/main" id="{DF9516E5-69CA-458B-9D80-13128463A576}"/>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5" name="object 10">
            <a:extLst>
              <a:ext uri="{FF2B5EF4-FFF2-40B4-BE49-F238E27FC236}">
                <a16:creationId xmlns:a16="http://schemas.microsoft.com/office/drawing/2014/main" id="{E38D24EB-F4E0-42EF-906A-D1EB0E9F26CB}"/>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10777611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99E1FB7-D1F4-469D-A030-0A4DEC486192}"/>
              </a:ext>
            </a:extLst>
          </p:cNvPr>
          <p:cNvPicPr>
            <a:picLocks noChangeAspect="1"/>
          </p:cNvPicPr>
          <p:nvPr/>
        </p:nvPicPr>
        <p:blipFill>
          <a:blip r:embed="rId2"/>
          <a:stretch>
            <a:fillRect/>
          </a:stretch>
        </p:blipFill>
        <p:spPr>
          <a:xfrm>
            <a:off x="8288624" y="347044"/>
            <a:ext cx="1218196" cy="810654"/>
          </a:xfrm>
          <a:prstGeom prst="rect">
            <a:avLst/>
          </a:prstGeom>
        </p:spPr>
      </p:pic>
      <p:sp>
        <p:nvSpPr>
          <p:cNvPr id="3" name="Content Placeholder 2"/>
          <p:cNvSpPr>
            <a:spLocks noGrp="1"/>
          </p:cNvSpPr>
          <p:nvPr>
            <p:ph idx="1"/>
          </p:nvPr>
        </p:nvSpPr>
        <p:spPr>
          <a:xfrm>
            <a:off x="491060" y="1484806"/>
            <a:ext cx="8771479" cy="2763743"/>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Technology refers to Information Technology (IT), which includes computer hardware/software, telecommunications, networks, and database.</a:t>
            </a:r>
          </a:p>
          <a:p>
            <a:pPr algn="just">
              <a:lnSpc>
                <a:spcPct val="150000"/>
              </a:lnSpc>
            </a:pPr>
            <a:r>
              <a:rPr lang="en-US" sz="1800" b="1" dirty="0">
                <a:solidFill>
                  <a:schemeClr val="bg2">
                    <a:lumMod val="25000"/>
                  </a:schemeClr>
                </a:solidFill>
                <a:latin typeface="Times New Roman" panose="02020603050405020304" pitchFamily="18" charset="0"/>
                <a:cs typeface="Times New Roman" panose="02020603050405020304" pitchFamily="18" charset="0"/>
              </a:rPr>
              <a:t>Technology Management </a:t>
            </a:r>
            <a:r>
              <a:rPr lang="en-US" sz="1800" dirty="0">
                <a:latin typeface="Times New Roman" panose="02020603050405020304" pitchFamily="18" charset="0"/>
                <a:cs typeface="Times New Roman" panose="02020603050405020304" pitchFamily="18" charset="0"/>
              </a:rPr>
              <a:t>can also be defined as the integrated planning, design, optimization, operation and control of technological products, processes and services, a better definition would be the management of the use of technology for human advantage.</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a:t>
            </a:fld>
            <a:endParaRPr lang="en"/>
          </a:p>
        </p:txBody>
      </p:sp>
      <p:sp>
        <p:nvSpPr>
          <p:cNvPr id="7" name="Title 1">
            <a:extLst>
              <a:ext uri="{FF2B5EF4-FFF2-40B4-BE49-F238E27FC236}">
                <a16:creationId xmlns:a16="http://schemas.microsoft.com/office/drawing/2014/main" id="{475923AF-ACF0-4F72-9FC4-9C8AB24957FC}"/>
              </a:ext>
            </a:extLst>
          </p:cNvPr>
          <p:cNvSpPr txBox="1">
            <a:spLocks/>
          </p:cNvSpPr>
          <p:nvPr/>
        </p:nvSpPr>
        <p:spPr>
          <a:xfrm>
            <a:off x="855878" y="381000"/>
            <a:ext cx="8046720" cy="89385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algn="ctr"/>
            <a:r>
              <a:rPr lang="en-US" sz="3200" b="1" spc="0" dirty="0">
                <a:latin typeface="Times New Roman" pitchFamily="18" charset="0"/>
                <a:cs typeface="Times New Roman" pitchFamily="18" charset="0"/>
              </a:rPr>
              <a:t>What is Technology Management?</a:t>
            </a:r>
          </a:p>
        </p:txBody>
      </p:sp>
      <p:sp>
        <p:nvSpPr>
          <p:cNvPr id="8" name="object 10">
            <a:extLst>
              <a:ext uri="{FF2B5EF4-FFF2-40B4-BE49-F238E27FC236}">
                <a16:creationId xmlns:a16="http://schemas.microsoft.com/office/drawing/2014/main" id="{E274B7B6-0724-448E-894E-60EE9CABFACE}"/>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9" name="object 10">
            <a:extLst>
              <a:ext uri="{FF2B5EF4-FFF2-40B4-BE49-F238E27FC236}">
                <a16:creationId xmlns:a16="http://schemas.microsoft.com/office/drawing/2014/main" id="{9253832F-DFA6-472B-8FC1-022D62FCF4F1}"/>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8132045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21" y="1524000"/>
            <a:ext cx="8398958" cy="3200400"/>
          </a:xfrm>
        </p:spPr>
        <p:txBody>
          <a:bodyPr>
            <a:noAutofit/>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The key tasks of </a:t>
            </a:r>
            <a:r>
              <a:rPr lang="en-US" sz="1800" b="1" dirty="0" err="1">
                <a:latin typeface="Times New Roman" panose="02020603050405020304" pitchFamily="18" charset="0"/>
                <a:cs typeface="Times New Roman" panose="02020603050405020304" pitchFamily="18" charset="0"/>
              </a:rPr>
              <a:t>MoT</a:t>
            </a:r>
            <a:r>
              <a:rPr lang="en-US" sz="1800" b="1" dirty="0">
                <a:latin typeface="Times New Roman" panose="02020603050405020304" pitchFamily="18" charset="0"/>
                <a:cs typeface="Times New Roman" panose="02020603050405020304" pitchFamily="18" charset="0"/>
              </a:rPr>
              <a:t> or Management of Technology are:</a:t>
            </a:r>
          </a:p>
          <a:p>
            <a:pPr algn="just">
              <a:lnSpc>
                <a:spcPct val="150000"/>
              </a:lnSpc>
            </a:pPr>
            <a:r>
              <a:rPr lang="en-US" sz="1800" dirty="0">
                <a:latin typeface="Times New Roman" panose="02020603050405020304" pitchFamily="18" charset="0"/>
                <a:cs typeface="Times New Roman" panose="02020603050405020304" pitchFamily="18" charset="0"/>
              </a:rPr>
              <a:t>Technology Planning like deciding technology strategy, selecting appropriate technologies etc.</a:t>
            </a:r>
          </a:p>
          <a:p>
            <a:pPr algn="just">
              <a:lnSpc>
                <a:spcPct val="150000"/>
              </a:lnSpc>
            </a:pPr>
            <a:r>
              <a:rPr lang="en-US" sz="1800" dirty="0">
                <a:latin typeface="Times New Roman" panose="02020603050405020304" pitchFamily="18" charset="0"/>
                <a:cs typeface="Times New Roman" panose="02020603050405020304" pitchFamily="18" charset="0"/>
              </a:rPr>
              <a:t>R&amp;D Management</a:t>
            </a:r>
          </a:p>
          <a:p>
            <a:pPr algn="just">
              <a:lnSpc>
                <a:spcPct val="150000"/>
              </a:lnSpc>
            </a:pPr>
            <a:r>
              <a:rPr lang="en-US" sz="1800" dirty="0">
                <a:latin typeface="Times New Roman" panose="02020603050405020304" pitchFamily="18" charset="0"/>
                <a:cs typeface="Times New Roman" panose="02020603050405020304" pitchFamily="18" charset="0"/>
              </a:rPr>
              <a:t>Innovation Management</a:t>
            </a:r>
          </a:p>
          <a:p>
            <a:pPr algn="just">
              <a:lnSpc>
                <a:spcPct val="150000"/>
              </a:lnSpc>
            </a:pPr>
            <a:r>
              <a:rPr lang="en-US" sz="1800" dirty="0">
                <a:latin typeface="Times New Roman" panose="02020603050405020304" pitchFamily="18" charset="0"/>
                <a:cs typeface="Times New Roman" panose="02020603050405020304" pitchFamily="18" charset="0"/>
              </a:rPr>
              <a:t>Strategic Management of Technology (</a:t>
            </a:r>
            <a:r>
              <a:rPr lang="en-US" sz="1800" dirty="0" err="1">
                <a:latin typeface="Times New Roman" panose="02020603050405020304" pitchFamily="18" charset="0"/>
                <a:cs typeface="Times New Roman" panose="02020603050405020304" pitchFamily="18" charset="0"/>
              </a:rPr>
              <a:t>SMoT</a:t>
            </a:r>
            <a:r>
              <a:rPr lang="en-US" sz="18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3</a:t>
            </a:fld>
            <a:endParaRPr lang="en"/>
          </a:p>
        </p:txBody>
      </p:sp>
      <p:sp>
        <p:nvSpPr>
          <p:cNvPr id="7" name="Title 1">
            <a:extLst>
              <a:ext uri="{FF2B5EF4-FFF2-40B4-BE49-F238E27FC236}">
                <a16:creationId xmlns:a16="http://schemas.microsoft.com/office/drawing/2014/main" id="{475923AF-ACF0-4F72-9FC4-9C8AB24957FC}"/>
              </a:ext>
            </a:extLst>
          </p:cNvPr>
          <p:cNvSpPr txBox="1">
            <a:spLocks/>
          </p:cNvSpPr>
          <p:nvPr/>
        </p:nvSpPr>
        <p:spPr>
          <a:xfrm>
            <a:off x="855878" y="536005"/>
            <a:ext cx="8046720" cy="89385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algn="ctr"/>
            <a:r>
              <a:rPr lang="en-US" sz="3200" b="1" spc="0" dirty="0">
                <a:latin typeface="Times New Roman" pitchFamily="18" charset="0"/>
                <a:cs typeface="Times New Roman" pitchFamily="18" charset="0"/>
              </a:rPr>
              <a:t>Key Tasks of </a:t>
            </a:r>
            <a:r>
              <a:rPr lang="en-US" sz="3200" b="1" spc="0" dirty="0" err="1">
                <a:latin typeface="Times New Roman" pitchFamily="18" charset="0"/>
                <a:cs typeface="Times New Roman" pitchFamily="18" charset="0"/>
              </a:rPr>
              <a:t>MoT</a:t>
            </a:r>
            <a:endParaRPr lang="en-US" sz="3200" b="1" spc="0" dirty="0">
              <a:latin typeface="Times New Roman" pitchFamily="18" charset="0"/>
              <a:cs typeface="Times New Roman" pitchFamily="18" charset="0"/>
            </a:endParaRPr>
          </a:p>
        </p:txBody>
      </p:sp>
      <p:sp>
        <p:nvSpPr>
          <p:cNvPr id="8" name="object 10">
            <a:extLst>
              <a:ext uri="{FF2B5EF4-FFF2-40B4-BE49-F238E27FC236}">
                <a16:creationId xmlns:a16="http://schemas.microsoft.com/office/drawing/2014/main" id="{E274B7B6-0724-448E-894E-60EE9CABFACE}"/>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9" name="object 10">
            <a:extLst>
              <a:ext uri="{FF2B5EF4-FFF2-40B4-BE49-F238E27FC236}">
                <a16:creationId xmlns:a16="http://schemas.microsoft.com/office/drawing/2014/main" id="{9253832F-DFA6-472B-8FC1-022D62FCF4F1}"/>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10" name="Picture 9">
            <a:extLst>
              <a:ext uri="{FF2B5EF4-FFF2-40B4-BE49-F238E27FC236}">
                <a16:creationId xmlns:a16="http://schemas.microsoft.com/office/drawing/2014/main" id="{B7F61E31-0E24-45BD-A58A-F23CDC8C4B29}"/>
              </a:ext>
            </a:extLst>
          </p:cNvPr>
          <p:cNvPicPr>
            <a:picLocks noChangeAspect="1"/>
          </p:cNvPicPr>
          <p:nvPr/>
        </p:nvPicPr>
        <p:blipFill>
          <a:blip r:embed="rId2"/>
          <a:stretch>
            <a:fillRect/>
          </a:stretch>
        </p:blipFill>
        <p:spPr>
          <a:xfrm>
            <a:off x="8288624" y="347044"/>
            <a:ext cx="1218196" cy="810654"/>
          </a:xfrm>
          <a:prstGeom prst="rect">
            <a:avLst/>
          </a:prstGeom>
        </p:spPr>
      </p:pic>
    </p:spTree>
    <p:extLst>
      <p:ext uri="{BB962C8B-B14F-4D97-AF65-F5344CB8AC3E}">
        <p14:creationId xmlns:p14="http://schemas.microsoft.com/office/powerpoint/2010/main" val="3676165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4A0D1-9E87-41D7-969A-370C8FFC69B7}"/>
              </a:ext>
            </a:extLst>
          </p:cNvPr>
          <p:cNvSpPr>
            <a:spLocks noGrp="1"/>
          </p:cNvSpPr>
          <p:nvPr>
            <p:ph type="title"/>
          </p:nvPr>
        </p:nvSpPr>
        <p:spPr>
          <a:xfrm>
            <a:off x="487680" y="452404"/>
            <a:ext cx="8778240" cy="792480"/>
          </a:xfrm>
        </p:spPr>
        <p:txBody>
          <a:bodyPr/>
          <a:lstStyle/>
          <a:p>
            <a:pPr algn="ctr"/>
            <a:r>
              <a:rPr lang="en-US" sz="3200" b="1" spc="0" dirty="0">
                <a:latin typeface="Times New Roman" pitchFamily="18" charset="0"/>
                <a:cs typeface="Times New Roman" pitchFamily="18" charset="0"/>
              </a:rPr>
              <a:t>Innovation</a:t>
            </a:r>
          </a:p>
        </p:txBody>
      </p:sp>
      <p:sp>
        <p:nvSpPr>
          <p:cNvPr id="5" name="Content Placeholder 4">
            <a:extLst>
              <a:ext uri="{FF2B5EF4-FFF2-40B4-BE49-F238E27FC236}">
                <a16:creationId xmlns:a16="http://schemas.microsoft.com/office/drawing/2014/main" id="{445183F8-9838-46F1-BF42-BEBA7083DB92}"/>
              </a:ext>
            </a:extLst>
          </p:cNvPr>
          <p:cNvSpPr>
            <a:spLocks noGrp="1"/>
          </p:cNvSpPr>
          <p:nvPr>
            <p:ph idx="1"/>
          </p:nvPr>
        </p:nvSpPr>
        <p:spPr>
          <a:xfrm>
            <a:off x="487680" y="1295400"/>
            <a:ext cx="8778240" cy="4036524"/>
          </a:xfrm>
        </p:spPr>
        <p:txBody>
          <a:bodyPr>
            <a:normAutofit fontScale="92500" lnSpcReduction="10000"/>
          </a:bodyPr>
          <a:lstStyle/>
          <a:p>
            <a:pPr algn="just">
              <a:lnSpc>
                <a:spcPct val="150000"/>
              </a:lnSpc>
            </a:pPr>
            <a:r>
              <a:rPr lang="en-US" sz="1800" b="1" i="0" dirty="0">
                <a:solidFill>
                  <a:schemeClr val="tx2">
                    <a:lumMod val="75000"/>
                  </a:schemeClr>
                </a:solidFill>
                <a:effectLst/>
                <a:latin typeface="Times New Roman" panose="02020603050405020304" pitchFamily="18" charset="0"/>
                <a:cs typeface="Times New Roman" panose="02020603050405020304" pitchFamily="18" charset="0"/>
              </a:rPr>
              <a:t>Invention</a:t>
            </a:r>
            <a:r>
              <a:rPr lang="en-US" sz="1800" b="0" i="0" dirty="0">
                <a:solidFill>
                  <a:srgbClr val="222222"/>
                </a:solidFill>
                <a:effectLst/>
                <a:latin typeface="Times New Roman" panose="02020603050405020304" pitchFamily="18" charset="0"/>
                <a:cs typeface="Times New Roman" panose="02020603050405020304" pitchFamily="18" charset="0"/>
              </a:rPr>
              <a:t> can be defined as the creation of a product or introduction of a process for the first time. </a:t>
            </a:r>
          </a:p>
          <a:p>
            <a:pPr algn="just">
              <a:lnSpc>
                <a:spcPct val="150000"/>
              </a:lnSpc>
            </a:pPr>
            <a:r>
              <a:rPr lang="en-US" sz="1800" b="1" i="0" dirty="0">
                <a:solidFill>
                  <a:schemeClr val="tx2">
                    <a:lumMod val="75000"/>
                  </a:schemeClr>
                </a:solidFill>
                <a:effectLst/>
                <a:latin typeface="Times New Roman" panose="02020603050405020304" pitchFamily="18" charset="0"/>
                <a:cs typeface="Times New Roman" panose="02020603050405020304" pitchFamily="18" charset="0"/>
              </a:rPr>
              <a:t>Innovation</a:t>
            </a:r>
            <a:r>
              <a:rPr lang="en-US" sz="1800" b="0" i="0" dirty="0">
                <a:solidFill>
                  <a:srgbClr val="222222"/>
                </a:solidFill>
                <a:effectLst/>
                <a:latin typeface="Times New Roman" panose="02020603050405020304" pitchFamily="18" charset="0"/>
                <a:cs typeface="Times New Roman" panose="02020603050405020304" pitchFamily="18" charset="0"/>
              </a:rPr>
              <a:t> occurs if someone improves on or makes a significant contribution to an existing product, process or service.</a:t>
            </a:r>
          </a:p>
          <a:p>
            <a:pPr algn="just">
              <a:lnSpc>
                <a:spcPct val="150000"/>
              </a:lnSpc>
            </a:pPr>
            <a:r>
              <a:rPr lang="en-US" sz="1800" b="0" i="0" dirty="0">
                <a:solidFill>
                  <a:srgbClr val="222222"/>
                </a:solidFill>
                <a:effectLst/>
                <a:latin typeface="Times New Roman" panose="02020603050405020304" pitchFamily="18" charset="0"/>
                <a:cs typeface="Times New Roman" panose="02020603050405020304" pitchFamily="18" charset="0"/>
              </a:rPr>
              <a:t>Steve Jobs’ iPod is cited as an example of innovation at its best. The iPod wasn’t the first portable music device (Sony popularized the “music anywhere, anytime” concept 22 years earlier with the Walkman); the iPod wasn’t the first device that put hundreds of songs in our pocket. </a:t>
            </a:r>
          </a:p>
          <a:p>
            <a:pPr algn="just">
              <a:lnSpc>
                <a:spcPct val="150000"/>
              </a:lnSpc>
            </a:pPr>
            <a:r>
              <a:rPr lang="en-US" sz="1800" b="0" i="0" dirty="0">
                <a:solidFill>
                  <a:srgbClr val="222222"/>
                </a:solidFill>
                <a:effectLst/>
                <a:latin typeface="Times New Roman" panose="02020603050405020304" pitchFamily="18" charset="0"/>
                <a:cs typeface="Times New Roman" panose="02020603050405020304" pitchFamily="18" charset="0"/>
              </a:rPr>
              <a:t>What made Apple innovative was that it combined all of these elements — </a:t>
            </a:r>
            <a:r>
              <a:rPr lang="en-US" sz="1800" b="1" i="0" dirty="0">
                <a:solidFill>
                  <a:srgbClr val="222222"/>
                </a:solidFill>
                <a:effectLst/>
                <a:latin typeface="Times New Roman" panose="02020603050405020304" pitchFamily="18" charset="0"/>
                <a:cs typeface="Times New Roman" panose="02020603050405020304" pitchFamily="18" charset="0"/>
              </a:rPr>
              <a:t>design</a:t>
            </a:r>
            <a:r>
              <a:rPr lang="en-US" sz="1800" b="0" i="0" dirty="0">
                <a:solidFill>
                  <a:srgbClr val="222222"/>
                </a:solidFill>
                <a:effectLst/>
                <a:latin typeface="Times New Roman" panose="02020603050405020304" pitchFamily="18" charset="0"/>
                <a:cs typeface="Times New Roman" panose="02020603050405020304" pitchFamily="18" charset="0"/>
              </a:rPr>
              <a:t>, </a:t>
            </a:r>
            <a:r>
              <a:rPr lang="en-US" sz="1800" b="1" i="0" dirty="0">
                <a:solidFill>
                  <a:srgbClr val="222222"/>
                </a:solidFill>
                <a:effectLst/>
                <a:latin typeface="Times New Roman" panose="02020603050405020304" pitchFamily="18" charset="0"/>
                <a:cs typeface="Times New Roman" panose="02020603050405020304" pitchFamily="18" charset="0"/>
              </a:rPr>
              <a:t>ergonomics </a:t>
            </a:r>
            <a:r>
              <a:rPr lang="en-US" sz="1800" b="0" i="0" dirty="0">
                <a:solidFill>
                  <a:srgbClr val="222222"/>
                </a:solidFill>
                <a:effectLst/>
                <a:latin typeface="Times New Roman" panose="02020603050405020304" pitchFamily="18" charset="0"/>
                <a:cs typeface="Times New Roman" panose="02020603050405020304" pitchFamily="18" charset="0"/>
              </a:rPr>
              <a:t>and </a:t>
            </a:r>
            <a:r>
              <a:rPr lang="en-US" sz="1800" b="1" i="0" dirty="0">
                <a:solidFill>
                  <a:srgbClr val="222222"/>
                </a:solidFill>
                <a:effectLst/>
                <a:latin typeface="Times New Roman" panose="02020603050405020304" pitchFamily="18" charset="0"/>
                <a:cs typeface="Times New Roman" panose="02020603050405020304" pitchFamily="18" charset="0"/>
              </a:rPr>
              <a:t>ease of use </a:t>
            </a:r>
            <a:r>
              <a:rPr lang="en-US" sz="1800" b="0" i="0" dirty="0">
                <a:solidFill>
                  <a:srgbClr val="222222"/>
                </a:solidFill>
                <a:effectLst/>
                <a:latin typeface="Times New Roman" panose="02020603050405020304" pitchFamily="18" charset="0"/>
                <a:cs typeface="Times New Roman" panose="02020603050405020304" pitchFamily="18" charset="0"/>
              </a:rPr>
              <a:t>— in a single device, and then tied it directly into a platform that effortlessly kept that device updated with music. </a:t>
            </a:r>
          </a:p>
        </p:txBody>
      </p:sp>
      <p:sp>
        <p:nvSpPr>
          <p:cNvPr id="4" name="Slide Number Placeholder 3"/>
          <p:cNvSpPr>
            <a:spLocks noGrp="1"/>
          </p:cNvSpPr>
          <p:nvPr>
            <p:ph type="sldNum" sz="quarter" idx="12"/>
          </p:nvPr>
        </p:nvSpPr>
        <p:spPr/>
        <p:txBody>
          <a:bodyPr/>
          <a:lstStyle/>
          <a:p>
            <a:fld id="{D0F64ED7-5F33-4BE3-A4D6-5CACD679ABF5}" type="slidenum">
              <a:rPr lang="en-US" smtClean="0"/>
              <a:t>4</a:t>
            </a:fld>
            <a:endParaRPr lang="en-US"/>
          </a:p>
        </p:txBody>
      </p:sp>
      <p:sp>
        <p:nvSpPr>
          <p:cNvPr id="8" name="object 10">
            <a:extLst>
              <a:ext uri="{FF2B5EF4-FFF2-40B4-BE49-F238E27FC236}">
                <a16:creationId xmlns:a16="http://schemas.microsoft.com/office/drawing/2014/main" id="{B8C4A661-1C55-4729-B351-2D4FCEC93AB5}"/>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9" name="object 10">
            <a:extLst>
              <a:ext uri="{FF2B5EF4-FFF2-40B4-BE49-F238E27FC236}">
                <a16:creationId xmlns:a16="http://schemas.microsoft.com/office/drawing/2014/main" id="{125C214D-FD2D-457B-AF87-EB0C2FF912E6}"/>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10" name="Picture 9">
            <a:extLst>
              <a:ext uri="{FF2B5EF4-FFF2-40B4-BE49-F238E27FC236}">
                <a16:creationId xmlns:a16="http://schemas.microsoft.com/office/drawing/2014/main" id="{6125617A-18B5-4285-8F65-800E37DCEE49}"/>
              </a:ext>
            </a:extLst>
          </p:cNvPr>
          <p:cNvPicPr>
            <a:picLocks noChangeAspect="1"/>
          </p:cNvPicPr>
          <p:nvPr/>
        </p:nvPicPr>
        <p:blipFill>
          <a:blip r:embed="rId3"/>
          <a:stretch>
            <a:fillRect/>
          </a:stretch>
        </p:blipFill>
        <p:spPr>
          <a:xfrm>
            <a:off x="7543800" y="380431"/>
            <a:ext cx="1872850" cy="936425"/>
          </a:xfrm>
          <a:prstGeom prst="rect">
            <a:avLst/>
          </a:prstGeom>
        </p:spPr>
      </p:pic>
    </p:spTree>
    <p:extLst>
      <p:ext uri="{BB962C8B-B14F-4D97-AF65-F5344CB8AC3E}">
        <p14:creationId xmlns:p14="http://schemas.microsoft.com/office/powerpoint/2010/main" val="18201461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9" y="375362"/>
            <a:ext cx="8046721" cy="950579"/>
          </a:xfrm>
        </p:spPr>
        <p:txBody>
          <a:bodyPr>
            <a:normAutofit/>
          </a:bodyPr>
          <a:lstStyle/>
          <a:p>
            <a:pPr algn="ctr"/>
            <a:r>
              <a:rPr lang="en-US" sz="3200" b="1" spc="0" dirty="0">
                <a:latin typeface="Times New Roman" pitchFamily="18" charset="0"/>
                <a:cs typeface="Times New Roman" pitchFamily="18" charset="0"/>
              </a:rPr>
              <a:t>Innovation Management</a:t>
            </a:r>
            <a:endParaRPr lang="en-US" sz="3200" b="1" spc="0" dirty="0">
              <a:latin typeface="Times New Roman" pitchFamily="18" charset="0"/>
              <a:ea typeface="+mn-ea"/>
              <a:cs typeface="Times New Roman" pitchFamily="18" charset="0"/>
            </a:endParaRP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162215"/>
            <a:ext cx="8717280" cy="4309553"/>
          </a:xfrm>
        </p:spPr>
        <p:txBody>
          <a:bodyPr>
            <a:noAutofit/>
          </a:bodyPr>
          <a:lstStyle/>
          <a:p>
            <a:pPr marL="0" indent="0" algn="just">
              <a:lnSpc>
                <a:spcPct val="150000"/>
              </a:lnSpc>
              <a:buNone/>
            </a:pPr>
            <a:r>
              <a:rPr lang="en-US" sz="1600" dirty="0" err="1">
                <a:latin typeface="Times New Roman" panose="02020603050405020304" pitchFamily="18" charset="0"/>
                <a:cs typeface="Times New Roman" panose="02020603050405020304" pitchFamily="18" charset="0"/>
              </a:rPr>
              <a:t>Venkatakrishnan</a:t>
            </a:r>
            <a:r>
              <a:rPr lang="en-US" sz="1600" dirty="0">
                <a:latin typeface="Times New Roman" panose="02020603050405020304" pitchFamily="18" charset="0"/>
                <a:cs typeface="Times New Roman" panose="02020603050405020304" pitchFamily="18" charset="0"/>
              </a:rPr>
              <a:t> Balasubramanian, a research analyst with Infosys Labs has offered five considerations to innovation management:</a:t>
            </a:r>
          </a:p>
          <a:p>
            <a:pPr marL="342900" indent="-342900" algn="just">
              <a:lnSpc>
                <a:spcPct val="150000"/>
              </a:lnSpc>
              <a:buClr>
                <a:schemeClr val="accent4"/>
              </a:buClr>
              <a:buSzPct val="90000"/>
              <a:buFont typeface="+mj-lt"/>
              <a:buAutoNum type="arabicPeriod"/>
            </a:pPr>
            <a:r>
              <a:rPr lang="en-US" sz="1600" b="1" dirty="0">
                <a:latin typeface="Times New Roman" panose="02020603050405020304" pitchFamily="18" charset="0"/>
                <a:cs typeface="Times New Roman" panose="02020603050405020304" pitchFamily="18" charset="0"/>
              </a:rPr>
              <a:t>Competitive Advantage </a:t>
            </a:r>
            <a:r>
              <a:rPr lang="en-US" sz="1600" dirty="0">
                <a:latin typeface="Times New Roman" panose="02020603050405020304" pitchFamily="18" charset="0"/>
                <a:cs typeface="Times New Roman" panose="02020603050405020304" pitchFamily="18" charset="0"/>
              </a:rPr>
              <a:t>over other industries.</a:t>
            </a:r>
          </a:p>
          <a:p>
            <a:pPr marL="342900" indent="-342900" algn="just">
              <a:lnSpc>
                <a:spcPct val="150000"/>
              </a:lnSpc>
              <a:buClr>
                <a:schemeClr val="accent4"/>
              </a:buClr>
              <a:buSzPct val="90000"/>
              <a:buFont typeface="+mj-lt"/>
              <a:buAutoNum type="arabicPeriod"/>
            </a:pPr>
            <a:r>
              <a:rPr lang="en-US" sz="1600" b="1" dirty="0">
                <a:latin typeface="Times New Roman" panose="02020603050405020304" pitchFamily="18" charset="0"/>
                <a:cs typeface="Times New Roman" panose="02020603050405020304" pitchFamily="18" charset="0"/>
              </a:rPr>
              <a:t>Business Alignment </a:t>
            </a:r>
            <a:r>
              <a:rPr lang="en-US" sz="1600" dirty="0">
                <a:latin typeface="Times New Roman" panose="02020603050405020304" pitchFamily="18" charset="0"/>
                <a:cs typeface="Times New Roman" panose="02020603050405020304" pitchFamily="18" charset="0"/>
              </a:rPr>
              <a:t>or the differentiating factors of your innovation should be conceptualized around the key strategic focus of the enterprise and its goals.</a:t>
            </a:r>
          </a:p>
          <a:p>
            <a:pPr marL="342900" indent="-342900" algn="just">
              <a:lnSpc>
                <a:spcPct val="150000"/>
              </a:lnSpc>
              <a:buClr>
                <a:schemeClr val="accent4"/>
              </a:buClr>
              <a:buSzPct val="90000"/>
              <a:buFont typeface="+mj-lt"/>
              <a:buAutoNum type="arabicPeriod"/>
            </a:pPr>
            <a:r>
              <a:rPr lang="en-US" sz="1600" dirty="0">
                <a:latin typeface="Times New Roman" panose="02020603050405020304" pitchFamily="18" charset="0"/>
                <a:cs typeface="Times New Roman" panose="02020603050405020304" pitchFamily="18" charset="0"/>
              </a:rPr>
              <a:t>Knowing the </a:t>
            </a:r>
            <a:r>
              <a:rPr lang="en-US" sz="1600" b="1" dirty="0">
                <a:latin typeface="Times New Roman" panose="02020603050405020304" pitchFamily="18" charset="0"/>
                <a:cs typeface="Times New Roman" panose="02020603050405020304" pitchFamily="18" charset="0"/>
              </a:rPr>
              <a:t>Customers</a:t>
            </a:r>
            <a:r>
              <a:rPr lang="en-US" sz="1600" dirty="0">
                <a:latin typeface="Times New Roman" panose="02020603050405020304" pitchFamily="18" charset="0"/>
                <a:cs typeface="Times New Roman" panose="02020603050405020304" pitchFamily="18" charset="0"/>
              </a:rPr>
              <a:t> who will benefit from your innovation is paramount.</a:t>
            </a:r>
          </a:p>
          <a:p>
            <a:pPr marL="342900" indent="-342900" algn="just">
              <a:lnSpc>
                <a:spcPct val="150000"/>
              </a:lnSpc>
              <a:buClr>
                <a:schemeClr val="accent4"/>
              </a:buClr>
              <a:buSzPct val="90000"/>
              <a:buFont typeface="+mj-lt"/>
              <a:buAutoNum type="arabicPeriod"/>
            </a:pPr>
            <a:r>
              <a:rPr lang="en-US" sz="1600" dirty="0">
                <a:latin typeface="Times New Roman" panose="02020603050405020304" pitchFamily="18" charset="0"/>
                <a:cs typeface="Times New Roman" panose="02020603050405020304" pitchFamily="18" charset="0"/>
              </a:rPr>
              <a:t>Identifying resources, processes, risks, partners and suppliers and </a:t>
            </a:r>
            <a:r>
              <a:rPr lang="en-US" sz="1600" b="1" dirty="0">
                <a:latin typeface="Times New Roman" panose="02020603050405020304" pitchFamily="18" charset="0"/>
                <a:cs typeface="Times New Roman" panose="02020603050405020304" pitchFamily="18" charset="0"/>
              </a:rPr>
              <a:t>Execution </a:t>
            </a:r>
            <a:r>
              <a:rPr lang="en-US" sz="1600" dirty="0">
                <a:latin typeface="Times New Roman" panose="02020603050405020304" pitchFamily="18" charset="0"/>
                <a:cs typeface="Times New Roman" panose="02020603050405020304" pitchFamily="18" charset="0"/>
              </a:rPr>
              <a:t>of these in the market are also important for succeeding in the innovation.</a:t>
            </a:r>
          </a:p>
          <a:p>
            <a:pPr marL="342900" indent="-342900" algn="just">
              <a:lnSpc>
                <a:spcPct val="150000"/>
              </a:lnSpc>
              <a:buClr>
                <a:schemeClr val="accent4"/>
              </a:buClr>
              <a:buSzPct val="90000"/>
              <a:buFont typeface="+mj-lt"/>
              <a:buAutoNum type="arabicPeriod"/>
            </a:pPr>
            <a:r>
              <a:rPr lang="en-US" sz="1600" b="1" dirty="0">
                <a:latin typeface="Times New Roman" panose="02020603050405020304" pitchFamily="18" charset="0"/>
                <a:cs typeface="Times New Roman" panose="02020603050405020304" pitchFamily="18" charset="0"/>
              </a:rPr>
              <a:t>Business Value </a:t>
            </a:r>
            <a:r>
              <a:rPr lang="en-US" sz="1600" dirty="0">
                <a:latin typeface="Times New Roman" panose="02020603050405020304" pitchFamily="18" charset="0"/>
                <a:cs typeface="Times New Roman" panose="02020603050405020304" pitchFamily="18" charset="0"/>
              </a:rPr>
              <a:t>or assessing the value (monetary, market size, etc.) of the innovation and how the idea will bring that value into the organization is a critical underlying factor in selecting which idea to pursue.</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5</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Picture 6">
            <a:extLst>
              <a:ext uri="{FF2B5EF4-FFF2-40B4-BE49-F238E27FC236}">
                <a16:creationId xmlns:a16="http://schemas.microsoft.com/office/drawing/2014/main" id="{8AD25E19-DFD4-47C9-9A1B-206C91249E6B}"/>
              </a:ext>
            </a:extLst>
          </p:cNvPr>
          <p:cNvPicPr>
            <a:picLocks noChangeAspect="1"/>
          </p:cNvPicPr>
          <p:nvPr/>
        </p:nvPicPr>
        <p:blipFill>
          <a:blip r:embed="rId3"/>
          <a:stretch>
            <a:fillRect/>
          </a:stretch>
        </p:blipFill>
        <p:spPr>
          <a:xfrm>
            <a:off x="7819521" y="375362"/>
            <a:ext cx="1659758" cy="829879"/>
          </a:xfrm>
          <a:prstGeom prst="rect">
            <a:avLst/>
          </a:prstGeom>
        </p:spPr>
      </p:pic>
    </p:spTree>
    <p:extLst>
      <p:ext uri="{BB962C8B-B14F-4D97-AF65-F5344CB8AC3E}">
        <p14:creationId xmlns:p14="http://schemas.microsoft.com/office/powerpoint/2010/main" val="3738084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1">
            <a:extLst>
              <a:ext uri="{FF2B5EF4-FFF2-40B4-BE49-F238E27FC236}">
                <a16:creationId xmlns:a16="http://schemas.microsoft.com/office/drawing/2014/main" id="{6CC4A3BB-BA81-4D68-B48C-A513674914F2}"/>
              </a:ext>
            </a:extLst>
          </p:cNvPr>
          <p:cNvPicPr>
            <a:picLocks noChangeAspect="1"/>
          </p:cNvPicPr>
          <p:nvPr/>
        </p:nvPicPr>
        <p:blipFill>
          <a:blip r:embed="rId3"/>
          <a:stretch>
            <a:fillRect/>
          </a:stretch>
        </p:blipFill>
        <p:spPr>
          <a:xfrm>
            <a:off x="7886173" y="4506920"/>
            <a:ext cx="1621574" cy="816868"/>
          </a:xfrm>
          <a:prstGeom prst="rect">
            <a:avLst/>
          </a:prstGeom>
        </p:spPr>
      </p:pic>
      <p:sp>
        <p:nvSpPr>
          <p:cNvPr id="3" name="Title 2"/>
          <p:cNvSpPr>
            <a:spLocks noGrp="1"/>
          </p:cNvSpPr>
          <p:nvPr>
            <p:ph type="title"/>
          </p:nvPr>
        </p:nvSpPr>
        <p:spPr>
          <a:xfrm>
            <a:off x="853438" y="571046"/>
            <a:ext cx="8046721" cy="950579"/>
          </a:xfrm>
        </p:spPr>
        <p:txBody>
          <a:bodyPr>
            <a:normAutofit/>
          </a:bodyPr>
          <a:lstStyle/>
          <a:p>
            <a:pPr algn="ctr"/>
            <a:r>
              <a:rPr lang="en-US" sz="3200" b="1" spc="0" dirty="0">
                <a:latin typeface="Times New Roman" pitchFamily="18" charset="0"/>
                <a:cs typeface="Times New Roman" pitchFamily="18" charset="0"/>
              </a:rPr>
              <a:t>Strategic Technology Management System </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9" y="1600200"/>
            <a:ext cx="8656320" cy="1417259"/>
          </a:xfrm>
        </p:spPr>
        <p:txBody>
          <a:bodyPr>
            <a:noAutofit/>
          </a:bodyPr>
          <a:lstStyle/>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Strategic Technology Management System (STMS) emphasizes systematic management of technology (</a:t>
            </a:r>
            <a:r>
              <a:rPr lang="en-US" sz="1800" b="0" i="0" u="none" strike="noStrike" baseline="0" dirty="0" err="1">
                <a:latin typeface="Times New Roman" panose="02020603050405020304" pitchFamily="18" charset="0"/>
                <a:cs typeface="Times New Roman" panose="02020603050405020304" pitchFamily="18" charset="0"/>
              </a:rPr>
              <a:t>SMoT</a:t>
            </a:r>
            <a:r>
              <a:rPr lang="en-US" sz="1800" b="0" i="0" u="none" strike="noStrike" baseline="0" dirty="0">
                <a:latin typeface="Times New Roman" panose="02020603050405020304" pitchFamily="18" charset="0"/>
                <a:cs typeface="Times New Roman" panose="02020603050405020304" pitchFamily="18" charset="0"/>
              </a:rPr>
              <a:t>) on long term basis as the technology moves along its life cycle from birth to decline. </a:t>
            </a:r>
            <a:r>
              <a:rPr lang="en-US" sz="1800" dirty="0">
                <a:latin typeface="Times New Roman" panose="02020603050405020304" pitchFamily="18" charset="0"/>
                <a:cs typeface="Times New Roman" panose="02020603050405020304" pitchFamily="18" charset="0"/>
              </a:rPr>
              <a:t>It includes eight phases.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6</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2640604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9" y="375362"/>
            <a:ext cx="8046721" cy="950579"/>
          </a:xfrm>
        </p:spPr>
        <p:txBody>
          <a:bodyPr>
            <a:normAutofit/>
          </a:bodyPr>
          <a:lstStyle/>
          <a:p>
            <a:pPr algn="ctr"/>
            <a:r>
              <a:rPr lang="en-US" sz="3200" b="1" spc="0" dirty="0">
                <a:latin typeface="Times New Roman" pitchFamily="18" charset="0"/>
                <a:cs typeface="Times New Roman" pitchFamily="18" charset="0"/>
              </a:rPr>
              <a:t>Phases of STMS</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7</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graphicFrame>
        <p:nvGraphicFramePr>
          <p:cNvPr id="11" name="Diagram 10">
            <a:extLst>
              <a:ext uri="{FF2B5EF4-FFF2-40B4-BE49-F238E27FC236}">
                <a16:creationId xmlns:a16="http://schemas.microsoft.com/office/drawing/2014/main" id="{51358406-DED6-4301-B72B-5EE7B7164D36}"/>
              </a:ext>
            </a:extLst>
          </p:cNvPr>
          <p:cNvGraphicFramePr/>
          <p:nvPr>
            <p:extLst>
              <p:ext uri="{D42A27DB-BD31-4B8C-83A1-F6EECF244321}">
                <p14:modId xmlns:p14="http://schemas.microsoft.com/office/powerpoint/2010/main" val="2731592229"/>
              </p:ext>
            </p:extLst>
          </p:nvPr>
        </p:nvGraphicFramePr>
        <p:xfrm>
          <a:off x="1916485" y="1471419"/>
          <a:ext cx="6211515" cy="37872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2" name="Group 11">
            <a:extLst>
              <a:ext uri="{FF2B5EF4-FFF2-40B4-BE49-F238E27FC236}">
                <a16:creationId xmlns:a16="http://schemas.microsoft.com/office/drawing/2014/main" id="{7D5A9EA7-7269-48B2-860B-AE393D318CB3}"/>
              </a:ext>
            </a:extLst>
          </p:cNvPr>
          <p:cNvGrpSpPr/>
          <p:nvPr/>
        </p:nvGrpSpPr>
        <p:grpSpPr>
          <a:xfrm>
            <a:off x="4502759" y="2845575"/>
            <a:ext cx="1038965" cy="1038965"/>
            <a:chOff x="2632815" y="1347417"/>
            <a:chExt cx="1038965" cy="1038965"/>
          </a:xfrm>
          <a:scene3d>
            <a:camera prst="orthographicFront"/>
            <a:lightRig rig="flat" dir="t"/>
          </a:scene3d>
        </p:grpSpPr>
        <p:sp>
          <p:nvSpPr>
            <p:cNvPr id="13" name="Oval 12">
              <a:extLst>
                <a:ext uri="{FF2B5EF4-FFF2-40B4-BE49-F238E27FC236}">
                  <a16:creationId xmlns:a16="http://schemas.microsoft.com/office/drawing/2014/main" id="{1870815D-2140-413C-AC3F-E1E950160F46}"/>
                </a:ext>
              </a:extLst>
            </p:cNvPr>
            <p:cNvSpPr/>
            <p:nvPr/>
          </p:nvSpPr>
          <p:spPr>
            <a:xfrm>
              <a:off x="2632815" y="1347417"/>
              <a:ext cx="1038965" cy="1038965"/>
            </a:xfrm>
            <a:prstGeom prst="ellipse">
              <a:avLst/>
            </a:prstGeom>
          </p:spPr>
          <p:style>
            <a:lnRef idx="3">
              <a:schemeClr val="lt1"/>
            </a:lnRef>
            <a:fillRef idx="1">
              <a:schemeClr val="dk1"/>
            </a:fillRef>
            <a:effectRef idx="1">
              <a:schemeClr val="dk1"/>
            </a:effectRef>
            <a:fontRef idx="minor">
              <a:schemeClr val="lt1"/>
            </a:fontRef>
          </p:style>
        </p:sp>
        <p:sp>
          <p:nvSpPr>
            <p:cNvPr id="14" name="Oval 4">
              <a:extLst>
                <a:ext uri="{FF2B5EF4-FFF2-40B4-BE49-F238E27FC236}">
                  <a16:creationId xmlns:a16="http://schemas.microsoft.com/office/drawing/2014/main" id="{6F7EE371-92BB-46E8-96EB-E0A09DA91863}"/>
                </a:ext>
              </a:extLst>
            </p:cNvPr>
            <p:cNvSpPr txBox="1"/>
            <p:nvPr/>
          </p:nvSpPr>
          <p:spPr>
            <a:xfrm>
              <a:off x="2784968" y="1499570"/>
              <a:ext cx="734659" cy="734659"/>
            </a:xfrm>
            <a:prstGeom prst="rect">
              <a:avLst/>
            </a:prstGeom>
          </p:spPr>
          <p:style>
            <a:lnRef idx="3">
              <a:schemeClr val="lt1"/>
            </a:lnRef>
            <a:fillRef idx="1">
              <a:schemeClr val="dk1"/>
            </a:fillRef>
            <a:effectRef idx="1">
              <a:schemeClr val="dk1"/>
            </a:effectRef>
            <a:fontRef idx="minor">
              <a:schemeClr val="lt1"/>
            </a:fontRef>
          </p:style>
          <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b="1" kern="1200" dirty="0">
                  <a:solidFill>
                    <a:schemeClr val="bg2"/>
                  </a:solidFill>
                  <a:latin typeface="Times New Roman" panose="02020603050405020304" pitchFamily="18" charset="0"/>
                  <a:cs typeface="Times New Roman" panose="02020603050405020304" pitchFamily="18" charset="0"/>
                </a:rPr>
                <a:t>STMS Cycle</a:t>
              </a:r>
            </a:p>
          </p:txBody>
        </p:sp>
      </p:grpSp>
      <p:pic>
        <p:nvPicPr>
          <p:cNvPr id="10" name="Content Placeholder 1">
            <a:extLst>
              <a:ext uri="{FF2B5EF4-FFF2-40B4-BE49-F238E27FC236}">
                <a16:creationId xmlns:a16="http://schemas.microsoft.com/office/drawing/2014/main" id="{36924192-7316-4E99-8BA8-3B0AFA3A0F3F}"/>
              </a:ext>
            </a:extLst>
          </p:cNvPr>
          <p:cNvPicPr>
            <a:picLocks noChangeAspect="1"/>
          </p:cNvPicPr>
          <p:nvPr/>
        </p:nvPicPr>
        <p:blipFill>
          <a:blip r:embed="rId8"/>
          <a:stretch>
            <a:fillRect/>
          </a:stretch>
        </p:blipFill>
        <p:spPr>
          <a:xfrm>
            <a:off x="8089373" y="423457"/>
            <a:ext cx="1621574" cy="816868"/>
          </a:xfrm>
          <a:prstGeom prst="rect">
            <a:avLst/>
          </a:prstGeom>
        </p:spPr>
      </p:pic>
    </p:spTree>
    <p:extLst>
      <p:ext uri="{BB962C8B-B14F-4D97-AF65-F5344CB8AC3E}">
        <p14:creationId xmlns:p14="http://schemas.microsoft.com/office/powerpoint/2010/main" val="2019889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8" y="463800"/>
            <a:ext cx="8046721" cy="950579"/>
          </a:xfrm>
        </p:spPr>
        <p:txBody>
          <a:bodyPr>
            <a:normAutofit/>
          </a:bodyPr>
          <a:lstStyle/>
          <a:p>
            <a:pPr algn="ctr"/>
            <a:r>
              <a:rPr lang="en-US" sz="3200" b="1" spc="0" dirty="0">
                <a:latin typeface="Times New Roman" pitchFamily="18" charset="0"/>
                <a:cs typeface="Times New Roman" pitchFamily="18" charset="0"/>
              </a:rPr>
              <a:t>Phases of STMS</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8" y="1449689"/>
            <a:ext cx="8656320" cy="3581400"/>
          </a:xfrm>
        </p:spPr>
        <p:txBody>
          <a:bodyPr>
            <a:noAutofit/>
          </a:bodyPr>
          <a:lstStyle/>
          <a:p>
            <a:pPr algn="just">
              <a:lnSpc>
                <a:spcPct val="150000"/>
              </a:lnSpc>
            </a:pPr>
            <a:r>
              <a:rPr lang="en-US" sz="1800" b="1" i="0" u="none" strike="noStrike" baseline="0" dirty="0">
                <a:latin typeface="Times New Roman" panose="02020603050405020304" pitchFamily="18" charset="0"/>
                <a:cs typeface="Times New Roman" panose="02020603050405020304" pitchFamily="18" charset="0"/>
              </a:rPr>
              <a:t>Technology Creation: </a:t>
            </a:r>
            <a:r>
              <a:rPr lang="en-US" sz="1800" dirty="0">
                <a:latin typeface="Times New Roman" panose="02020603050405020304" pitchFamily="18" charset="0"/>
                <a:cs typeface="Times New Roman" panose="02020603050405020304" pitchFamily="18" charset="0"/>
              </a:rPr>
              <a:t>This phase involves creation &amp; generation of new technologies. This phase involves c</a:t>
            </a:r>
            <a:r>
              <a:rPr lang="en-US" sz="1800" b="0" i="0" u="none" strike="noStrike" baseline="0" dirty="0">
                <a:latin typeface="Times New Roman" panose="02020603050405020304" pitchFamily="18" charset="0"/>
                <a:cs typeface="Times New Roman" panose="02020603050405020304" pitchFamily="18" charset="0"/>
              </a:rPr>
              <a:t>reativity, invention, innovation and developing requisite &amp; supportive corporate culture for promoting technology creation and generation.</a:t>
            </a:r>
          </a:p>
          <a:p>
            <a:pPr algn="just">
              <a:lnSpc>
                <a:spcPct val="150000"/>
              </a:lnSpc>
            </a:pPr>
            <a:r>
              <a:rPr lang="en-US" sz="1800" b="1" i="0" u="none" strike="noStrike" baseline="0" dirty="0">
                <a:latin typeface="Times New Roman" panose="02020603050405020304" pitchFamily="18" charset="0"/>
                <a:cs typeface="Times New Roman" panose="02020603050405020304" pitchFamily="18" charset="0"/>
              </a:rPr>
              <a:t>Technology Monitoring: </a:t>
            </a:r>
            <a:r>
              <a:rPr lang="en-US" sz="1800" dirty="0">
                <a:latin typeface="Times New Roman" panose="02020603050405020304" pitchFamily="18" charset="0"/>
                <a:cs typeface="Times New Roman" panose="02020603050405020304" pitchFamily="18" charset="0"/>
              </a:rPr>
              <a:t>This phase calls for monitoring technology trends and changes before implementing new technology. This phase involves </a:t>
            </a:r>
            <a:r>
              <a:rPr lang="en-US" sz="1800" b="0" i="0" u="none" strike="noStrike" baseline="0" dirty="0">
                <a:latin typeface="Times New Roman" panose="02020603050405020304" pitchFamily="18" charset="0"/>
                <a:cs typeface="Times New Roman" panose="02020603050405020304" pitchFamily="18" charset="0"/>
              </a:rPr>
              <a:t>Installing &amp; developing information systems for monitoring technological trends and changes, Competitive analysis and Customer &amp; supplier interfaces to understand market and technological changes.</a:t>
            </a:r>
          </a:p>
          <a:p>
            <a:pPr algn="just">
              <a:lnSpc>
                <a:spcPct val="150000"/>
              </a:lnSpc>
            </a:pPr>
            <a:endParaRPr lang="en-US" sz="1800" b="0" i="0" u="none" strike="noStrike" baseline="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8</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Content Placeholder 1">
            <a:extLst>
              <a:ext uri="{FF2B5EF4-FFF2-40B4-BE49-F238E27FC236}">
                <a16:creationId xmlns:a16="http://schemas.microsoft.com/office/drawing/2014/main" id="{8768B7E5-25AA-4154-A819-347A3E1DA87D}"/>
              </a:ext>
            </a:extLst>
          </p:cNvPr>
          <p:cNvPicPr>
            <a:picLocks noChangeAspect="1"/>
          </p:cNvPicPr>
          <p:nvPr/>
        </p:nvPicPr>
        <p:blipFill>
          <a:blip r:embed="rId3"/>
          <a:stretch>
            <a:fillRect/>
          </a:stretch>
        </p:blipFill>
        <p:spPr>
          <a:xfrm>
            <a:off x="8079236" y="441487"/>
            <a:ext cx="1641846" cy="827080"/>
          </a:xfrm>
          <a:prstGeom prst="rect">
            <a:avLst/>
          </a:prstGeom>
        </p:spPr>
      </p:pic>
    </p:spTree>
    <p:extLst>
      <p:ext uri="{BB962C8B-B14F-4D97-AF65-F5344CB8AC3E}">
        <p14:creationId xmlns:p14="http://schemas.microsoft.com/office/powerpoint/2010/main" val="28418728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8" y="463800"/>
            <a:ext cx="8046721" cy="950579"/>
          </a:xfrm>
        </p:spPr>
        <p:txBody>
          <a:bodyPr>
            <a:normAutofit/>
          </a:bodyPr>
          <a:lstStyle/>
          <a:p>
            <a:pPr algn="ctr"/>
            <a:r>
              <a:rPr lang="en-US" sz="3200" b="1" spc="0" dirty="0">
                <a:latin typeface="Times New Roman" pitchFamily="18" charset="0"/>
                <a:cs typeface="Times New Roman" pitchFamily="18" charset="0"/>
              </a:rPr>
              <a:t>Phases of STMS</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8" y="1648295"/>
            <a:ext cx="8656320" cy="3048000"/>
          </a:xfrm>
        </p:spPr>
        <p:txBody>
          <a:bodyPr>
            <a:noAutofit/>
          </a:bodyPr>
          <a:lstStyle/>
          <a:p>
            <a:pPr marL="0" indent="0" algn="just">
              <a:lnSpc>
                <a:spcPct val="150000"/>
              </a:lnSpc>
              <a:buNone/>
            </a:pPr>
            <a:r>
              <a:rPr lang="en-US" sz="1800" b="1" i="0" u="none" strike="noStrike" baseline="0" dirty="0">
                <a:latin typeface="Times New Roman" panose="02020603050405020304" pitchFamily="18" charset="0"/>
                <a:cs typeface="Times New Roman" panose="02020603050405020304" pitchFamily="18" charset="0"/>
              </a:rPr>
              <a:t>Technology Assessment: </a:t>
            </a:r>
            <a:r>
              <a:rPr lang="en-US" sz="1800" dirty="0">
                <a:latin typeface="Times New Roman" panose="02020603050405020304" pitchFamily="18" charset="0"/>
                <a:cs typeface="Times New Roman" panose="02020603050405020304" pitchFamily="18" charset="0"/>
              </a:rPr>
              <a:t>This phase involves u</a:t>
            </a:r>
            <a:r>
              <a:rPr lang="en-US" sz="1800" b="0" i="0" u="none" strike="noStrike" baseline="0" dirty="0">
                <a:latin typeface="Times New Roman" panose="02020603050405020304" pitchFamily="18" charset="0"/>
                <a:cs typeface="Times New Roman" panose="02020603050405020304" pitchFamily="18" charset="0"/>
              </a:rPr>
              <a:t>nderstanding directions of markets in terms of technology, integration of technology &amp; business planning, etc.</a:t>
            </a:r>
          </a:p>
          <a:p>
            <a:pPr marL="0" indent="0" algn="just">
              <a:lnSpc>
                <a:spcPct val="150000"/>
              </a:lnSpc>
              <a:buNone/>
            </a:pPr>
            <a:r>
              <a:rPr lang="en-US" sz="1800" b="1" i="0" u="none" strike="noStrike" baseline="0" dirty="0">
                <a:latin typeface="Times New Roman" panose="02020603050405020304" pitchFamily="18" charset="0"/>
                <a:cs typeface="Times New Roman" panose="02020603050405020304" pitchFamily="18" charset="0"/>
              </a:rPr>
              <a:t>Technology Transfer: </a:t>
            </a:r>
            <a:r>
              <a:rPr lang="en-US" sz="1800" i="0" u="none" strike="noStrike" baseline="0" dirty="0">
                <a:latin typeface="Times New Roman" panose="02020603050405020304" pitchFamily="18" charset="0"/>
                <a:cs typeface="Times New Roman" panose="02020603050405020304" pitchFamily="18" charset="0"/>
              </a:rPr>
              <a:t>This phase leads to transfer of technology from external source to own Research and Development (R&amp;D); and internally from R&amp;D to production. </a:t>
            </a:r>
            <a:r>
              <a:rPr lang="en-US" sz="1800" dirty="0">
                <a:latin typeface="Times New Roman" panose="02020603050405020304" pitchFamily="18" charset="0"/>
                <a:cs typeface="Times New Roman" panose="02020603050405020304" pitchFamily="18" charset="0"/>
              </a:rPr>
              <a:t>This phase involves </a:t>
            </a:r>
            <a:r>
              <a:rPr lang="en-US" sz="1800" b="0" i="0" u="none" strike="noStrike" baseline="0" dirty="0">
                <a:latin typeface="Times New Roman" panose="02020603050405020304" pitchFamily="18" charset="0"/>
                <a:cs typeface="Times New Roman" panose="02020603050405020304" pitchFamily="18" charset="0"/>
              </a:rPr>
              <a:t>Entering strategic alliances to develop or acquire potential technologies, Using product design teams effectively, Reducing functional barriers to technology transfer, etc.</a:t>
            </a:r>
          </a:p>
          <a:p>
            <a:pPr marL="0" indent="0" algn="just">
              <a:lnSpc>
                <a:spcPct val="150000"/>
              </a:lnSpc>
              <a:buNone/>
            </a:pPr>
            <a:endParaRPr lang="en-US" sz="1800" b="0" i="0"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800" b="0" i="0" u="none" strike="noStrike" baseline="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9</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Content Placeholder 1">
            <a:extLst>
              <a:ext uri="{FF2B5EF4-FFF2-40B4-BE49-F238E27FC236}">
                <a16:creationId xmlns:a16="http://schemas.microsoft.com/office/drawing/2014/main" id="{53C56BB8-E43B-486A-9BCC-B8A04B47CE2D}"/>
              </a:ext>
            </a:extLst>
          </p:cNvPr>
          <p:cNvPicPr>
            <a:picLocks noChangeAspect="1"/>
          </p:cNvPicPr>
          <p:nvPr/>
        </p:nvPicPr>
        <p:blipFill>
          <a:blip r:embed="rId3"/>
          <a:stretch>
            <a:fillRect/>
          </a:stretch>
        </p:blipFill>
        <p:spPr>
          <a:xfrm>
            <a:off x="8001000" y="463800"/>
            <a:ext cx="1621574" cy="816868"/>
          </a:xfrm>
          <a:prstGeom prst="rect">
            <a:avLst/>
          </a:prstGeom>
        </p:spPr>
      </p:pic>
    </p:spTree>
    <p:extLst>
      <p:ext uri="{BB962C8B-B14F-4D97-AF65-F5344CB8AC3E}">
        <p14:creationId xmlns:p14="http://schemas.microsoft.com/office/powerpoint/2010/main" val="3289434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8" y="463800"/>
            <a:ext cx="8046721" cy="950579"/>
          </a:xfrm>
        </p:spPr>
        <p:txBody>
          <a:bodyPr>
            <a:normAutofit/>
          </a:bodyPr>
          <a:lstStyle/>
          <a:p>
            <a:pPr algn="ctr"/>
            <a:r>
              <a:rPr lang="en-US" sz="3200" b="1" spc="0" dirty="0">
                <a:latin typeface="Times New Roman" pitchFamily="18" charset="0"/>
                <a:cs typeface="Times New Roman" pitchFamily="18" charset="0"/>
              </a:rPr>
              <a:t>Phases of STMS</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9" y="1600200"/>
            <a:ext cx="8656320" cy="2971800"/>
          </a:xfrm>
        </p:spPr>
        <p:txBody>
          <a:bodyPr>
            <a:noAutofit/>
          </a:bodyPr>
          <a:lstStyle/>
          <a:p>
            <a:pPr algn="just">
              <a:lnSpc>
                <a:spcPct val="150000"/>
              </a:lnSpc>
            </a:pPr>
            <a:r>
              <a:rPr lang="en-US" sz="1800" b="1" i="0" u="none" strike="noStrike" baseline="0" dirty="0">
                <a:latin typeface="Times New Roman" panose="02020603050405020304" pitchFamily="18" charset="0"/>
                <a:cs typeface="Times New Roman" panose="02020603050405020304" pitchFamily="18" charset="0"/>
              </a:rPr>
              <a:t>Technology Acceptance: </a:t>
            </a:r>
            <a:r>
              <a:rPr lang="en-US" sz="1800" b="0" i="0" u="none" strike="noStrike" baseline="0" dirty="0">
                <a:latin typeface="Times New Roman" panose="02020603050405020304" pitchFamily="18" charset="0"/>
                <a:cs typeface="Times New Roman" panose="02020603050405020304" pitchFamily="18" charset="0"/>
              </a:rPr>
              <a:t>This phase calls for acceptance of technology as a beneficial change and involves Supportive organizational design &amp; structures, Senior management commitment, Supportive corporate culture, etc. </a:t>
            </a:r>
          </a:p>
          <a:p>
            <a:pPr algn="just">
              <a:lnSpc>
                <a:spcPct val="150000"/>
              </a:lnSpc>
            </a:pPr>
            <a:r>
              <a:rPr lang="en-US" sz="1800" b="1" i="0" u="none" strike="noStrike" baseline="0" dirty="0">
                <a:latin typeface="Times New Roman" panose="02020603050405020304" pitchFamily="18" charset="0"/>
                <a:cs typeface="Times New Roman" panose="02020603050405020304" pitchFamily="18" charset="0"/>
              </a:rPr>
              <a:t>Technology Utilization</a:t>
            </a:r>
            <a:r>
              <a:rPr lang="en-US" sz="1800"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This phase leads to technology growth as reflected by increase in sales. This phase involves</a:t>
            </a:r>
            <a:r>
              <a:rPr lang="en-US" sz="1800"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Effective project management for seeking maximum utilization, Supportive marketing strategies, efforts and utilizing feedback for improvement, etc. </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10</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normalizeH="0" baseline="0" noProof="0" dirty="0">
                <a:ln>
                  <a:noFill/>
                </a:ln>
                <a:solidFill>
                  <a:schemeClr val="bg1"/>
                </a:solidFill>
                <a:effectLst/>
                <a:uLnTx/>
                <a:uFillTx/>
                <a:latin typeface="Times New Roman"/>
                <a:ea typeface="+mn-ea"/>
                <a:cs typeface="Times New Roman"/>
              </a:rPr>
              <a:t> University of Science &amp; Technology</a:t>
            </a: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Content Placeholder 1">
            <a:extLst>
              <a:ext uri="{FF2B5EF4-FFF2-40B4-BE49-F238E27FC236}">
                <a16:creationId xmlns:a16="http://schemas.microsoft.com/office/drawing/2014/main" id="{FDC9703D-4ECF-467B-BD61-9270CA56988D}"/>
              </a:ext>
            </a:extLst>
          </p:cNvPr>
          <p:cNvPicPr>
            <a:picLocks noChangeAspect="1"/>
          </p:cNvPicPr>
          <p:nvPr/>
        </p:nvPicPr>
        <p:blipFill>
          <a:blip r:embed="rId3"/>
          <a:stretch>
            <a:fillRect/>
          </a:stretch>
        </p:blipFill>
        <p:spPr>
          <a:xfrm>
            <a:off x="8089372" y="448560"/>
            <a:ext cx="1621574" cy="816868"/>
          </a:xfrm>
          <a:prstGeom prst="rect">
            <a:avLst/>
          </a:prstGeom>
        </p:spPr>
      </p:pic>
    </p:spTree>
    <p:extLst>
      <p:ext uri="{BB962C8B-B14F-4D97-AF65-F5344CB8AC3E}">
        <p14:creationId xmlns:p14="http://schemas.microsoft.com/office/powerpoint/2010/main" val="661311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8" y="463800"/>
            <a:ext cx="8046721" cy="950579"/>
          </a:xfrm>
        </p:spPr>
        <p:txBody>
          <a:bodyPr>
            <a:normAutofit/>
          </a:bodyPr>
          <a:lstStyle/>
          <a:p>
            <a:pPr algn="ctr"/>
            <a:r>
              <a:rPr lang="en-US" sz="3200" b="1" spc="0" dirty="0">
                <a:latin typeface="Times New Roman" pitchFamily="18" charset="0"/>
                <a:cs typeface="Times New Roman" pitchFamily="18" charset="0"/>
              </a:rPr>
              <a:t>Phases of STMS</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8" y="1447800"/>
            <a:ext cx="8656320" cy="3657600"/>
          </a:xfrm>
        </p:spPr>
        <p:txBody>
          <a:bodyPr>
            <a:noAutofit/>
          </a:bodyPr>
          <a:lstStyle/>
          <a:p>
            <a:pPr algn="just">
              <a:lnSpc>
                <a:spcPct val="150000"/>
              </a:lnSpc>
            </a:pPr>
            <a:r>
              <a:rPr lang="en-US" sz="1800" b="1" i="0" u="none" strike="noStrike" baseline="0" dirty="0">
                <a:latin typeface="Times New Roman" panose="02020603050405020304" pitchFamily="18" charset="0"/>
                <a:cs typeface="Times New Roman" panose="02020603050405020304" pitchFamily="18" charset="0"/>
              </a:rPr>
              <a:t>Technology Maturity: </a:t>
            </a:r>
            <a:r>
              <a:rPr lang="en-US" sz="1800" b="0" i="0" u="none" strike="noStrike" baseline="0" dirty="0">
                <a:latin typeface="Times New Roman" panose="02020603050405020304" pitchFamily="18" charset="0"/>
                <a:cs typeface="Times New Roman" panose="02020603050405020304" pitchFamily="18" charset="0"/>
              </a:rPr>
              <a:t>This phase involves analyzing maturity of existing technology and its related products/services/processes through study of following indicators, Efficiency vs. effectiveness contributed by the current technologies, Market stability, etc. </a:t>
            </a:r>
          </a:p>
          <a:p>
            <a:pPr algn="just">
              <a:lnSpc>
                <a:spcPct val="150000"/>
              </a:lnSpc>
            </a:pPr>
            <a:r>
              <a:rPr lang="en-US" sz="1800" b="1" i="0" u="none" strike="noStrike" baseline="0" dirty="0">
                <a:latin typeface="Times New Roman" panose="02020603050405020304" pitchFamily="18" charset="0"/>
                <a:cs typeface="Times New Roman" panose="02020603050405020304" pitchFamily="18" charset="0"/>
              </a:rPr>
              <a:t>Technology Decline</a:t>
            </a:r>
            <a:r>
              <a:rPr lang="en-US" sz="1800"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This is the last phase. During this phase a technology and its related products/services/</a:t>
            </a:r>
            <a:r>
              <a:rPr lang="en-US" sz="1800" b="0" i="0" u="none" strike="noStrike" baseline="0" dirty="0" err="1">
                <a:latin typeface="Times New Roman" panose="02020603050405020304" pitchFamily="18" charset="0"/>
                <a:cs typeface="Times New Roman" panose="02020603050405020304" pitchFamily="18" charset="0"/>
              </a:rPr>
              <a:t>proceses</a:t>
            </a:r>
            <a:r>
              <a:rPr lang="en-US" sz="1800" b="0" i="0" u="none" strike="noStrike" baseline="0" dirty="0">
                <a:latin typeface="Times New Roman" panose="02020603050405020304" pitchFamily="18" charset="0"/>
                <a:cs typeface="Times New Roman" panose="02020603050405020304" pitchFamily="18" charset="0"/>
              </a:rPr>
              <a:t>/applications show substantial or sharp decline in usage or applications or sales. Technology and its associated products or services become ordinary commodity. Technology degrades and becomes obsolete. This phase calls for movement to new technological opportunities.</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11</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Content Placeholder 1">
            <a:extLst>
              <a:ext uri="{FF2B5EF4-FFF2-40B4-BE49-F238E27FC236}">
                <a16:creationId xmlns:a16="http://schemas.microsoft.com/office/drawing/2014/main" id="{4CED314E-AF3D-4E33-92D7-DC9E68A4639D}"/>
              </a:ext>
            </a:extLst>
          </p:cNvPr>
          <p:cNvPicPr>
            <a:picLocks noChangeAspect="1"/>
          </p:cNvPicPr>
          <p:nvPr/>
        </p:nvPicPr>
        <p:blipFill>
          <a:blip r:embed="rId3"/>
          <a:stretch>
            <a:fillRect/>
          </a:stretch>
        </p:blipFill>
        <p:spPr>
          <a:xfrm>
            <a:off x="8089372" y="463800"/>
            <a:ext cx="1621574" cy="816868"/>
          </a:xfrm>
          <a:prstGeom prst="rect">
            <a:avLst/>
          </a:prstGeom>
        </p:spPr>
      </p:pic>
    </p:spTree>
    <p:extLst>
      <p:ext uri="{BB962C8B-B14F-4D97-AF65-F5344CB8AC3E}">
        <p14:creationId xmlns:p14="http://schemas.microsoft.com/office/powerpoint/2010/main" val="3465674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Technology Life Cycle (TLC)</a:t>
            </a:r>
          </a:p>
        </p:txBody>
      </p:sp>
      <p:sp>
        <p:nvSpPr>
          <p:cNvPr id="7" name="Content Placeholder 6">
            <a:extLst>
              <a:ext uri="{FF2B5EF4-FFF2-40B4-BE49-F238E27FC236}">
                <a16:creationId xmlns:a16="http://schemas.microsoft.com/office/drawing/2014/main" id="{10342ED6-C621-4851-8D9B-D722C76BBE1E}"/>
              </a:ext>
            </a:extLst>
          </p:cNvPr>
          <p:cNvSpPr>
            <a:spLocks noGrp="1"/>
          </p:cNvSpPr>
          <p:nvPr>
            <p:ph idx="1"/>
          </p:nvPr>
        </p:nvSpPr>
        <p:spPr>
          <a:xfrm>
            <a:off x="548640" y="1596029"/>
            <a:ext cx="8656320" cy="3204571"/>
          </a:xfrm>
        </p:spPr>
        <p:txBody>
          <a:bodyPr vert="horz" lIns="91440" tIns="45720" rIns="91440" bIns="45720" rtlCol="0">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Technology Life Cycle (TLC) </a:t>
            </a:r>
            <a:r>
              <a:rPr lang="en-US" sz="1800" dirty="0">
                <a:latin typeface="Times New Roman" panose="02020603050405020304" pitchFamily="18" charset="0"/>
                <a:cs typeface="Times New Roman" panose="02020603050405020304" pitchFamily="18" charset="0"/>
              </a:rPr>
              <a:t>describes the costs and profits of a product from technological development phase to market maturity to eventual decline. </a:t>
            </a:r>
          </a:p>
          <a:p>
            <a:pPr algn="just">
              <a:lnSpc>
                <a:spcPct val="150000"/>
              </a:lnSpc>
            </a:pPr>
            <a:r>
              <a:rPr lang="en-US" sz="1800" dirty="0">
                <a:latin typeface="Times New Roman" panose="02020603050405020304" pitchFamily="18" charset="0"/>
                <a:cs typeface="Times New Roman" panose="02020603050405020304" pitchFamily="18" charset="0"/>
              </a:rPr>
              <a:t>Due to rapidly increasing rates of innovation, products such as electronics and pharmaceuticals in particular are vulnerable to shorter life cycles. Thus TLC is focused primarily on the time and cost of development as it relates to the projected profits. TLC can be described as having four distinct stages.</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12</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8" name="Picture 2">
            <a:extLst>
              <a:ext uri="{FF2B5EF4-FFF2-40B4-BE49-F238E27FC236}">
                <a16:creationId xmlns:a16="http://schemas.microsoft.com/office/drawing/2014/main" id="{630B1BC0-DA41-4484-861F-5A146822EA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0600" y="472175"/>
            <a:ext cx="928683" cy="928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640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7"/>
            <a:ext cx="8046721" cy="881998"/>
          </a:xfrm>
        </p:spPr>
        <p:txBody>
          <a:bodyPr>
            <a:normAutofit/>
          </a:bodyPr>
          <a:lstStyle/>
          <a:p>
            <a:pPr algn="ctr"/>
            <a:r>
              <a:rPr lang="en-US" sz="3200" b="1" spc="0" dirty="0">
                <a:latin typeface="Times New Roman" pitchFamily="18" charset="0"/>
                <a:ea typeface="+mn-ea"/>
                <a:cs typeface="Times New Roman" pitchFamily="18" charset="0"/>
              </a:rPr>
              <a:t>Technology Life Cycle (TLC)</a:t>
            </a:r>
          </a:p>
        </p:txBody>
      </p:sp>
      <p:pic>
        <p:nvPicPr>
          <p:cNvPr id="8" name="Picture 2">
            <a:extLst>
              <a:ext uri="{FF2B5EF4-FFF2-40B4-BE49-F238E27FC236}">
                <a16:creationId xmlns:a16="http://schemas.microsoft.com/office/drawing/2014/main" id="{B78D61BB-1BD3-4AB3-8385-FBDD591AB0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7475" y="1387565"/>
            <a:ext cx="4438650" cy="330517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pPr algn="r"/>
            <a:fld id="{00000000-1234-1234-1234-123412341234}" type="slidenum">
              <a:rPr lang="en" smtClean="0"/>
              <a:pPr algn="r"/>
              <a:t>13</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
        <p:nvSpPr>
          <p:cNvPr id="12" name="TextBox 11">
            <a:extLst>
              <a:ext uri="{FF2B5EF4-FFF2-40B4-BE49-F238E27FC236}">
                <a16:creationId xmlns:a16="http://schemas.microsoft.com/office/drawing/2014/main" id="{F81E1256-1A0B-4525-AA65-269DB28E5CE8}"/>
              </a:ext>
            </a:extLst>
          </p:cNvPr>
          <p:cNvSpPr txBox="1"/>
          <p:nvPr/>
        </p:nvSpPr>
        <p:spPr>
          <a:xfrm>
            <a:off x="2190988" y="4810601"/>
            <a:ext cx="5371624" cy="369332"/>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Illustration of the stages in the technological life cycle</a:t>
            </a:r>
          </a:p>
        </p:txBody>
      </p:sp>
      <p:pic>
        <p:nvPicPr>
          <p:cNvPr id="1026" name="Picture 2">
            <a:extLst>
              <a:ext uri="{FF2B5EF4-FFF2-40B4-BE49-F238E27FC236}">
                <a16:creationId xmlns:a16="http://schemas.microsoft.com/office/drawing/2014/main" id="{1C6597B0-FBAE-4E00-9A59-F6FCC4D83D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472175"/>
            <a:ext cx="928683" cy="928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31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Four Stages of TLC</a:t>
            </a:r>
          </a:p>
        </p:txBody>
      </p:sp>
      <p:sp>
        <p:nvSpPr>
          <p:cNvPr id="7" name="Content Placeholder 6">
            <a:extLst>
              <a:ext uri="{FF2B5EF4-FFF2-40B4-BE49-F238E27FC236}">
                <a16:creationId xmlns:a16="http://schemas.microsoft.com/office/drawing/2014/main" id="{10342ED6-C621-4851-8D9B-D722C76BBE1E}"/>
              </a:ext>
            </a:extLst>
          </p:cNvPr>
          <p:cNvSpPr>
            <a:spLocks noGrp="1"/>
          </p:cNvSpPr>
          <p:nvPr>
            <p:ph idx="1"/>
          </p:nvPr>
        </p:nvSpPr>
        <p:spPr>
          <a:xfrm>
            <a:off x="487680" y="1432984"/>
            <a:ext cx="8656320" cy="3665710"/>
          </a:xfrm>
        </p:spPr>
        <p:txBody>
          <a:bodyPr vert="horz" lIns="91440" tIns="45720" rIns="91440" bIns="45720" rtlCol="0">
            <a:normAutofit/>
          </a:bodyPr>
          <a:lstStyle/>
          <a:p>
            <a:pPr algn="just">
              <a:lnSpc>
                <a:spcPct val="150000"/>
              </a:lnSpc>
            </a:pPr>
            <a:r>
              <a:rPr lang="en-US" sz="1800" b="1" dirty="0">
                <a:latin typeface="Times New Roman" panose="02020603050405020304" pitchFamily="18" charset="0"/>
                <a:cs typeface="Times New Roman" panose="02020603050405020304" pitchFamily="18" charset="0"/>
              </a:rPr>
              <a:t>Research and Development</a:t>
            </a:r>
            <a:r>
              <a:rPr lang="en-US" sz="1800" dirty="0">
                <a:latin typeface="Times New Roman" panose="02020603050405020304" pitchFamily="18" charset="0"/>
                <a:cs typeface="Times New Roman" panose="02020603050405020304" pitchFamily="18" charset="0"/>
              </a:rPr>
              <a:t> – During this stage, risks are taken to invest in technological innovations. By strategically directing R&amp;D towards the most promising projects, companies and research institutions slowly work their way toward beta versions of new technologies.</a:t>
            </a:r>
          </a:p>
          <a:p>
            <a:pPr algn="just">
              <a:lnSpc>
                <a:spcPct val="150000"/>
              </a:lnSpc>
            </a:pPr>
            <a:r>
              <a:rPr lang="en-US" sz="1800" b="1" dirty="0">
                <a:latin typeface="Times New Roman" panose="02020603050405020304" pitchFamily="18" charset="0"/>
                <a:cs typeface="Times New Roman" panose="02020603050405020304" pitchFamily="18" charset="0"/>
              </a:rPr>
              <a:t>Ascent Phase – </a:t>
            </a:r>
            <a:r>
              <a:rPr lang="en-US" sz="1800" dirty="0">
                <a:latin typeface="Times New Roman" panose="02020603050405020304" pitchFamily="18" charset="0"/>
                <a:cs typeface="Times New Roman" panose="02020603050405020304" pitchFamily="18" charset="0"/>
              </a:rPr>
              <a:t>This phase covers the timeframe from product invention to the point at which out-of-pocket costs are fully recovered. At this junction the goal is to see to the rapid growth and distribution of the invention and leverage the competitive advantage of having the newest and most effective product.</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14</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8" name="Picture 2">
            <a:extLst>
              <a:ext uri="{FF2B5EF4-FFF2-40B4-BE49-F238E27FC236}">
                <a16:creationId xmlns:a16="http://schemas.microsoft.com/office/drawing/2014/main" id="{B49734F9-4F04-4EC9-831F-B4D5D5DC58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3000" y="472175"/>
            <a:ext cx="776283" cy="77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9827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Four Stages of TLC</a:t>
            </a:r>
          </a:p>
        </p:txBody>
      </p:sp>
      <p:sp>
        <p:nvSpPr>
          <p:cNvPr id="7" name="Content Placeholder 6">
            <a:extLst>
              <a:ext uri="{FF2B5EF4-FFF2-40B4-BE49-F238E27FC236}">
                <a16:creationId xmlns:a16="http://schemas.microsoft.com/office/drawing/2014/main" id="{10342ED6-C621-4851-8D9B-D722C76BBE1E}"/>
              </a:ext>
            </a:extLst>
          </p:cNvPr>
          <p:cNvSpPr>
            <a:spLocks noGrp="1"/>
          </p:cNvSpPr>
          <p:nvPr>
            <p:ph idx="1"/>
          </p:nvPr>
        </p:nvSpPr>
        <p:spPr>
          <a:xfrm>
            <a:off x="533400" y="1402080"/>
            <a:ext cx="8534400" cy="3017520"/>
          </a:xfrm>
        </p:spPr>
        <p:txBody>
          <a:bodyPr vert="horz" lIns="91440" tIns="45720" rIns="91440" bIns="45720" rtlCol="0">
            <a:normAutofit/>
          </a:bodyPr>
          <a:lstStyle/>
          <a:p>
            <a:pPr algn="just">
              <a:lnSpc>
                <a:spcPct val="150000"/>
              </a:lnSpc>
            </a:pPr>
            <a:r>
              <a:rPr lang="en-US" sz="1800" b="1" dirty="0">
                <a:latin typeface="Times New Roman" panose="02020603050405020304" pitchFamily="18" charset="0"/>
                <a:cs typeface="Times New Roman" panose="02020603050405020304" pitchFamily="18" charset="0"/>
              </a:rPr>
              <a:t>Maturity Stage – </a:t>
            </a:r>
            <a:r>
              <a:rPr lang="en-US" sz="1800" dirty="0">
                <a:latin typeface="Times New Roman" panose="02020603050405020304" pitchFamily="18" charset="0"/>
                <a:cs typeface="Times New Roman" panose="02020603050405020304" pitchFamily="18" charset="0"/>
              </a:rPr>
              <a:t>As the new innovation becomes accepted by the general population and competitors enter the market, supply begins to outstrip demand. During this stage, returns begin to slow as the concept becomes normalized.</a:t>
            </a:r>
          </a:p>
          <a:p>
            <a:pPr algn="just">
              <a:lnSpc>
                <a:spcPct val="150000"/>
              </a:lnSpc>
            </a:pPr>
            <a:r>
              <a:rPr lang="en-US" sz="1800" b="1" dirty="0">
                <a:latin typeface="Times New Roman" panose="02020603050405020304" pitchFamily="18" charset="0"/>
                <a:cs typeface="Times New Roman" panose="02020603050405020304" pitchFamily="18" charset="0"/>
              </a:rPr>
              <a:t>Decline (or Decay) Phase – </a:t>
            </a:r>
            <a:r>
              <a:rPr lang="en-US" sz="1800" dirty="0">
                <a:latin typeface="Times New Roman" panose="02020603050405020304" pitchFamily="18" charset="0"/>
                <a:cs typeface="Times New Roman" panose="02020603050405020304" pitchFamily="18" charset="0"/>
              </a:rPr>
              <a:t>The final phase is when the utility and potential value to be captured in producing and selling the product begins dipping. This decline eventually reaches the point of a zero-sum game, where margins are no longer procured.</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15</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8" name="Picture 2">
            <a:extLst>
              <a:ext uri="{FF2B5EF4-FFF2-40B4-BE49-F238E27FC236}">
                <a16:creationId xmlns:a16="http://schemas.microsoft.com/office/drawing/2014/main" id="{8740BB84-AE19-4F16-AFF2-35D62EE34A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3000" y="472175"/>
            <a:ext cx="776283" cy="77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706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776A5A27-2893-4C3C-822F-F26836A179F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918" r="2100" b="5375"/>
          <a:stretch/>
        </p:blipFill>
        <p:spPr bwMode="auto">
          <a:xfrm>
            <a:off x="1916485" y="2203272"/>
            <a:ext cx="5943600" cy="302932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855879" y="277980"/>
            <a:ext cx="8046721" cy="941220"/>
          </a:xfrm>
        </p:spPr>
        <p:txBody>
          <a:bodyPr>
            <a:normAutofit/>
          </a:bodyPr>
          <a:lstStyle/>
          <a:p>
            <a:pPr algn="ctr"/>
            <a:r>
              <a:rPr lang="en-US" sz="3200" b="1" spc="0" dirty="0">
                <a:latin typeface="Times New Roman" pitchFamily="18" charset="0"/>
                <a:ea typeface="+mn-ea"/>
                <a:cs typeface="Times New Roman" pitchFamily="18" charset="0"/>
              </a:rPr>
              <a:t>Technology Adoption Life Cycle</a:t>
            </a:r>
          </a:p>
        </p:txBody>
      </p:sp>
      <p:sp>
        <p:nvSpPr>
          <p:cNvPr id="7" name="Content Placeholder 6">
            <a:extLst>
              <a:ext uri="{FF2B5EF4-FFF2-40B4-BE49-F238E27FC236}">
                <a16:creationId xmlns:a16="http://schemas.microsoft.com/office/drawing/2014/main" id="{10342ED6-C621-4851-8D9B-D722C76BBE1E}"/>
              </a:ext>
            </a:extLst>
          </p:cNvPr>
          <p:cNvSpPr>
            <a:spLocks noGrp="1"/>
          </p:cNvSpPr>
          <p:nvPr>
            <p:ph idx="1"/>
          </p:nvPr>
        </p:nvSpPr>
        <p:spPr>
          <a:xfrm>
            <a:off x="609600" y="1213956"/>
            <a:ext cx="8534400" cy="941220"/>
          </a:xfrm>
        </p:spPr>
        <p:txBody>
          <a:bodyPr vert="horz" lIns="91440" tIns="45720" rIns="91440" bIns="45720" rtlCol="0">
            <a:normAutofit/>
          </a:bodyPr>
          <a:lstStyle/>
          <a:p>
            <a:pPr algn="just">
              <a:lnSpc>
                <a:spcPct val="150000"/>
              </a:lnSpc>
            </a:pPr>
            <a:r>
              <a:rPr lang="en-US" sz="1800" b="1" spc="0" dirty="0">
                <a:latin typeface="Times New Roman" pitchFamily="18" charset="0"/>
                <a:ea typeface="+mn-ea"/>
                <a:cs typeface="Times New Roman" pitchFamily="18" charset="0"/>
              </a:rPr>
              <a:t>Technology Adoption Life Cycle </a:t>
            </a:r>
            <a:r>
              <a:rPr lang="en-US" sz="1700" dirty="0">
                <a:latin typeface="Times New Roman" panose="02020603050405020304" pitchFamily="18" charset="0"/>
                <a:cs typeface="Times New Roman" panose="02020603050405020304" pitchFamily="18" charset="0"/>
              </a:rPr>
              <a:t>highlights the way in which consumers embrace new products and services.</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16</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9" name="Picture 2">
            <a:extLst>
              <a:ext uri="{FF2B5EF4-FFF2-40B4-BE49-F238E27FC236}">
                <a16:creationId xmlns:a16="http://schemas.microsoft.com/office/drawing/2014/main" id="{E6FBB713-78BC-4D0E-9B49-1553E5A270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55858" y="365445"/>
            <a:ext cx="776283" cy="77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921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72489" y="435453"/>
            <a:ext cx="8046721" cy="950579"/>
          </a:xfrm>
        </p:spPr>
        <p:txBody>
          <a:bodyPr>
            <a:normAutofit/>
          </a:bodyPr>
          <a:lstStyle/>
          <a:p>
            <a:pPr algn="ctr"/>
            <a:r>
              <a:rPr lang="en-US" sz="3200" b="1" spc="0" dirty="0">
                <a:latin typeface="Times New Roman" pitchFamily="18" charset="0"/>
                <a:ea typeface="+mn-ea"/>
                <a:cs typeface="Times New Roman" pitchFamily="18" charset="0"/>
              </a:rPr>
              <a:t>Technology Adoption Life Cycle</a:t>
            </a:r>
          </a:p>
        </p:txBody>
      </p:sp>
      <p:sp>
        <p:nvSpPr>
          <p:cNvPr id="7" name="Content Placeholder 6">
            <a:extLst>
              <a:ext uri="{FF2B5EF4-FFF2-40B4-BE49-F238E27FC236}">
                <a16:creationId xmlns:a16="http://schemas.microsoft.com/office/drawing/2014/main" id="{65DC56EC-C81F-4DC5-9692-0656EA48F8CE}"/>
              </a:ext>
            </a:extLst>
          </p:cNvPr>
          <p:cNvSpPr>
            <a:spLocks noGrp="1"/>
          </p:cNvSpPr>
          <p:nvPr>
            <p:ph idx="1"/>
          </p:nvPr>
        </p:nvSpPr>
        <p:spPr>
          <a:xfrm>
            <a:off x="506730" y="1543506"/>
            <a:ext cx="8778240" cy="3790493"/>
          </a:xfrm>
        </p:spPr>
        <p:txBody>
          <a:bodyPr>
            <a:normAutofit fontScale="92500" lnSpcReduction="20000"/>
          </a:bodyPr>
          <a:lstStyle/>
          <a:p>
            <a:pPr algn="just" fontAlgn="base">
              <a:lnSpc>
                <a:spcPct val="150000"/>
              </a:lnSpc>
              <a:buFont typeface="Arial" panose="020B0604020202020204" pitchFamily="34" charset="0"/>
              <a:buChar char="•"/>
            </a:pPr>
            <a:r>
              <a:rPr lang="en-US" sz="1800" b="1" dirty="0">
                <a:solidFill>
                  <a:srgbClr val="373D3F"/>
                </a:solidFill>
                <a:effectLst/>
                <a:latin typeface="Times New Roman" panose="02020603050405020304" pitchFamily="18" charset="0"/>
                <a:cs typeface="Times New Roman" panose="02020603050405020304" pitchFamily="18" charset="0"/>
              </a:rPr>
              <a:t>Innovators – </a:t>
            </a:r>
            <a:r>
              <a:rPr lang="en-US" sz="1800" b="0" dirty="0">
                <a:solidFill>
                  <a:srgbClr val="373D3F"/>
                </a:solidFill>
                <a:effectLst/>
                <a:latin typeface="Times New Roman" panose="02020603050405020304" pitchFamily="18" charset="0"/>
                <a:cs typeface="Times New Roman" panose="02020603050405020304" pitchFamily="18" charset="0"/>
              </a:rPr>
              <a:t>These are risk-oriented, leading-edge minded individuals who are extremely interested in technological developments (often within a particular industry). Innovators are a fractional segment of the overall consumer population.</a:t>
            </a:r>
          </a:p>
          <a:p>
            <a:pPr algn="just" fontAlgn="base">
              <a:lnSpc>
                <a:spcPct val="150000"/>
              </a:lnSpc>
              <a:buFont typeface="Arial" panose="020B0604020202020204" pitchFamily="34" charset="0"/>
              <a:buChar char="•"/>
            </a:pPr>
            <a:r>
              <a:rPr lang="en-US" sz="1800" b="1" dirty="0">
                <a:solidFill>
                  <a:srgbClr val="373D3F"/>
                </a:solidFill>
                <a:effectLst/>
                <a:latin typeface="Times New Roman" panose="02020603050405020304" pitchFamily="18" charset="0"/>
                <a:cs typeface="Times New Roman" panose="02020603050405020304" pitchFamily="18" charset="0"/>
              </a:rPr>
              <a:t>Early Adopters – </a:t>
            </a:r>
            <a:r>
              <a:rPr lang="en-US" sz="1800" b="0" dirty="0">
                <a:solidFill>
                  <a:srgbClr val="373D3F"/>
                </a:solidFill>
                <a:effectLst/>
                <a:latin typeface="Times New Roman" panose="02020603050405020304" pitchFamily="18" charset="0"/>
                <a:cs typeface="Times New Roman" panose="02020603050405020304" pitchFamily="18" charset="0"/>
              </a:rPr>
              <a:t>A larger but still relatively small demographic, these individuals are generally risk-oriented and highly adaptable to new technology. Early adopters follow the innovators in embracing new products, and tend to be young and well-educated.</a:t>
            </a:r>
          </a:p>
          <a:p>
            <a:pPr algn="just" fontAlgn="base">
              <a:lnSpc>
                <a:spcPct val="150000"/>
              </a:lnSpc>
              <a:buFont typeface="Arial" panose="020B0604020202020204" pitchFamily="34" charset="0"/>
              <a:buChar char="•"/>
            </a:pPr>
            <a:r>
              <a:rPr lang="en-US" sz="1800" b="1" dirty="0">
                <a:solidFill>
                  <a:schemeClr val="tx2">
                    <a:lumMod val="75000"/>
                  </a:schemeClr>
                </a:solidFill>
                <a:effectLst/>
                <a:latin typeface="Times New Roman" panose="02020603050405020304" pitchFamily="18" charset="0"/>
                <a:cs typeface="Times New Roman" panose="02020603050405020304" pitchFamily="18" charset="0"/>
              </a:rPr>
              <a:t>The chasm </a:t>
            </a:r>
            <a:r>
              <a:rPr lang="en-US" sz="1800" b="0" dirty="0">
                <a:solidFill>
                  <a:srgbClr val="373D3F"/>
                </a:solidFill>
                <a:effectLst/>
                <a:latin typeface="Times New Roman" panose="02020603050405020304" pitchFamily="18" charset="0"/>
                <a:cs typeface="Times New Roman" panose="02020603050405020304" pitchFamily="18" charset="0"/>
              </a:rPr>
              <a:t>refers to the technology adoption lifecycle, or the transition from the early market into the mainstream sight. Crossing the chasm means the opportunity for hyper-growth and market success. It's the leap from being a new, little-known and exploratory product, to mass adoption and well-known status.</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17</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8" name="Picture 2">
            <a:extLst>
              <a:ext uri="{FF2B5EF4-FFF2-40B4-BE49-F238E27FC236}">
                <a16:creationId xmlns:a16="http://schemas.microsoft.com/office/drawing/2014/main" id="{58081BD7-5949-4499-A775-4651636227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3000" y="472175"/>
            <a:ext cx="776283" cy="77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639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Technology Adoption Life Cycle</a:t>
            </a:r>
          </a:p>
        </p:txBody>
      </p:sp>
      <p:sp>
        <p:nvSpPr>
          <p:cNvPr id="7" name="Content Placeholder 6">
            <a:extLst>
              <a:ext uri="{FF2B5EF4-FFF2-40B4-BE49-F238E27FC236}">
                <a16:creationId xmlns:a16="http://schemas.microsoft.com/office/drawing/2014/main" id="{65DC56EC-C81F-4DC5-9692-0656EA48F8CE}"/>
              </a:ext>
            </a:extLst>
          </p:cNvPr>
          <p:cNvSpPr>
            <a:spLocks noGrp="1"/>
          </p:cNvSpPr>
          <p:nvPr>
            <p:ph idx="1"/>
          </p:nvPr>
        </p:nvSpPr>
        <p:spPr>
          <a:xfrm>
            <a:off x="487680" y="1396410"/>
            <a:ext cx="8778240" cy="3702284"/>
          </a:xfrm>
        </p:spPr>
        <p:txBody>
          <a:bodyPr>
            <a:normAutofit/>
          </a:bodyPr>
          <a:lstStyle/>
          <a:p>
            <a:pPr algn="just" fontAlgn="base">
              <a:lnSpc>
                <a:spcPct val="150000"/>
              </a:lnSpc>
              <a:buFont typeface="Arial" panose="020B0604020202020204" pitchFamily="34" charset="0"/>
              <a:buChar char="•"/>
            </a:pPr>
            <a:r>
              <a:rPr lang="en-US" sz="1800" b="1" dirty="0">
                <a:solidFill>
                  <a:srgbClr val="373D3F"/>
                </a:solidFill>
                <a:effectLst/>
                <a:latin typeface="Times New Roman" panose="02020603050405020304" pitchFamily="18" charset="0"/>
                <a:cs typeface="Times New Roman" panose="02020603050405020304" pitchFamily="18" charset="0"/>
              </a:rPr>
              <a:t>Early Majority – </a:t>
            </a:r>
            <a:r>
              <a:rPr lang="en-US" sz="1800" b="0" dirty="0">
                <a:solidFill>
                  <a:srgbClr val="373D3F"/>
                </a:solidFill>
                <a:effectLst/>
                <a:latin typeface="Times New Roman" panose="02020603050405020304" pitchFamily="18" charset="0"/>
                <a:cs typeface="Times New Roman" panose="02020603050405020304" pitchFamily="18" charset="0"/>
              </a:rPr>
              <a:t>Much larger and more careful than the previous two groups, the early majority are open to new ideas but generally wait to see how they are received before investing.</a:t>
            </a:r>
          </a:p>
          <a:p>
            <a:pPr algn="just" fontAlgn="base">
              <a:lnSpc>
                <a:spcPct val="150000"/>
              </a:lnSpc>
              <a:buFont typeface="Arial" panose="020B0604020202020204" pitchFamily="34" charset="0"/>
              <a:buChar char="•"/>
            </a:pPr>
            <a:r>
              <a:rPr lang="en-US" sz="1800" b="1" dirty="0">
                <a:solidFill>
                  <a:srgbClr val="373D3F"/>
                </a:solidFill>
                <a:effectLst/>
                <a:latin typeface="Times New Roman" panose="02020603050405020304" pitchFamily="18" charset="0"/>
                <a:cs typeface="Times New Roman" panose="02020603050405020304" pitchFamily="18" charset="0"/>
              </a:rPr>
              <a:t>Late Majority – </a:t>
            </a:r>
            <a:r>
              <a:rPr lang="en-US" sz="1800" b="0" dirty="0">
                <a:solidFill>
                  <a:srgbClr val="373D3F"/>
                </a:solidFill>
                <a:effectLst/>
                <a:latin typeface="Times New Roman" panose="02020603050405020304" pitchFamily="18" charset="0"/>
                <a:cs typeface="Times New Roman" panose="02020603050405020304" pitchFamily="18" charset="0"/>
              </a:rPr>
              <a:t>Slightly conservative and risk-averse, the late majority is a large group of potential customers who need convincing before investing in something new.</a:t>
            </a:r>
          </a:p>
          <a:p>
            <a:pPr algn="just" fontAlgn="base">
              <a:lnSpc>
                <a:spcPct val="150000"/>
              </a:lnSpc>
              <a:buFont typeface="Arial" panose="020B0604020202020204" pitchFamily="34" charset="0"/>
              <a:buChar char="•"/>
            </a:pPr>
            <a:r>
              <a:rPr lang="en-US" sz="1800" b="1" dirty="0">
                <a:solidFill>
                  <a:srgbClr val="373D3F"/>
                </a:solidFill>
                <a:effectLst/>
                <a:latin typeface="Times New Roman" panose="02020603050405020304" pitchFamily="18" charset="0"/>
                <a:cs typeface="Times New Roman" panose="02020603050405020304" pitchFamily="18" charset="0"/>
              </a:rPr>
              <a:t>Laggards –</a:t>
            </a:r>
            <a:r>
              <a:rPr lang="en-US" sz="1800" b="0" dirty="0">
                <a:solidFill>
                  <a:srgbClr val="373D3F"/>
                </a:solidFill>
                <a:effectLst/>
                <a:latin typeface="Times New Roman" panose="02020603050405020304" pitchFamily="18" charset="0"/>
                <a:cs typeface="Times New Roman" panose="02020603050405020304" pitchFamily="18" charset="0"/>
              </a:rPr>
              <a:t> Extremely frugal, conservative, and often technology-averse, laggards are a small population of usually older and uneducated individuals who avoid risks and only invest in new ideas once they are extremely well-established.</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18</a:t>
            </a:fld>
            <a:endParaRPr lang="en"/>
          </a:p>
        </p:txBody>
      </p:sp>
      <p:sp>
        <p:nvSpPr>
          <p:cNvPr id="5" name="object 10">
            <a:extLst>
              <a:ext uri="{FF2B5EF4-FFF2-40B4-BE49-F238E27FC236}">
                <a16:creationId xmlns:a16="http://schemas.microsoft.com/office/drawing/2014/main" id="{BA929A1E-2D50-4270-9135-387F93F616CA}"/>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86706D39-7239-4B28-A626-DFEBD4DFF9A0}"/>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8" name="Picture 2">
            <a:extLst>
              <a:ext uri="{FF2B5EF4-FFF2-40B4-BE49-F238E27FC236}">
                <a16:creationId xmlns:a16="http://schemas.microsoft.com/office/drawing/2014/main" id="{5E016B66-6865-4AB0-9B57-0942140CF0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3000" y="472175"/>
            <a:ext cx="776283" cy="77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1518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Case Studies</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448012"/>
            <a:ext cx="8519160" cy="3123988"/>
          </a:xfrm>
        </p:spPr>
        <p:txBody>
          <a:bodyPr>
            <a:noAutofit/>
          </a:bodyPr>
          <a:lstStyle/>
          <a:p>
            <a:pPr algn="just">
              <a:lnSpc>
                <a:spcPct val="150000"/>
              </a:lnSpc>
            </a:pPr>
            <a:r>
              <a:rPr lang="en-US" sz="1800" b="0" i="0" dirty="0">
                <a:solidFill>
                  <a:srgbClr val="494949"/>
                </a:solidFill>
                <a:effectLst/>
                <a:latin typeface="Times New Roman" panose="02020603050405020304" pitchFamily="18" charset="0"/>
                <a:cs typeface="Times New Roman" panose="02020603050405020304" pitchFamily="18" charset="0"/>
              </a:rPr>
              <a:t>Companies that experience innovation success grab onto it and believe that it is their secret to everlasting success. Unfortunately, this is not the case, although it would definitely make a CEOs job a lot easier.</a:t>
            </a:r>
          </a:p>
          <a:p>
            <a:pPr algn="just">
              <a:lnSpc>
                <a:spcPct val="150000"/>
              </a:lnSpc>
            </a:pPr>
            <a:r>
              <a:rPr lang="en-US" sz="1800" b="0" i="0" dirty="0">
                <a:solidFill>
                  <a:srgbClr val="494949"/>
                </a:solidFill>
                <a:effectLst/>
                <a:latin typeface="Times New Roman" panose="02020603050405020304" pitchFamily="18" charset="0"/>
                <a:cs typeface="Times New Roman" panose="02020603050405020304" pitchFamily="18" charset="0"/>
              </a:rPr>
              <a:t>There are som</a:t>
            </a:r>
            <a:r>
              <a:rPr lang="en-US" sz="1800" dirty="0">
                <a:solidFill>
                  <a:srgbClr val="494949"/>
                </a:solidFill>
                <a:latin typeface="Times New Roman" panose="02020603050405020304" pitchFamily="18" charset="0"/>
                <a:cs typeface="Times New Roman" panose="02020603050405020304" pitchFamily="18" charset="0"/>
              </a:rPr>
              <a:t>e b</a:t>
            </a:r>
            <a:r>
              <a:rPr lang="en-US" sz="1800" b="0" i="0" dirty="0">
                <a:solidFill>
                  <a:srgbClr val="494949"/>
                </a:solidFill>
                <a:effectLst/>
                <a:latin typeface="Times New Roman" panose="02020603050405020304" pitchFamily="18" charset="0"/>
                <a:cs typeface="Times New Roman" panose="02020603050405020304" pitchFamily="18" charset="0"/>
              </a:rPr>
              <a:t>ig companies, which is the victim of technology failure.</a:t>
            </a:r>
          </a:p>
          <a:p>
            <a:pPr algn="just">
              <a:lnSpc>
                <a:spcPct val="150000"/>
              </a:lnSpc>
            </a:pPr>
            <a:r>
              <a:rPr lang="en-US" sz="1800" b="0" i="0" dirty="0">
                <a:solidFill>
                  <a:srgbClr val="494949"/>
                </a:solidFill>
                <a:effectLst/>
                <a:latin typeface="Times New Roman" panose="02020603050405020304" pitchFamily="18" charset="0"/>
                <a:cs typeface="Times New Roman" panose="02020603050405020304" pitchFamily="18" charset="0"/>
              </a:rPr>
              <a:t>Some examples of famous corporations that suffered from innovation failure, including companies that have gone out of business will be discussed here. </a:t>
            </a:r>
          </a:p>
          <a:p>
            <a:pPr algn="just">
              <a:lnSpc>
                <a:spcPct val="150000"/>
              </a:lnSpc>
            </a:pPr>
            <a:r>
              <a:rPr lang="en-US" sz="1800" b="1" dirty="0">
                <a:solidFill>
                  <a:srgbClr val="494949"/>
                </a:solidFill>
                <a:latin typeface="Times New Roman" panose="02020603050405020304" pitchFamily="18" charset="0"/>
                <a:cs typeface="Times New Roman" panose="02020603050405020304" pitchFamily="18" charset="0"/>
              </a:rPr>
              <a:t>For self-study:</a:t>
            </a:r>
            <a:endParaRPr lang="en-US" sz="1800" b="1" i="0" dirty="0">
              <a:solidFill>
                <a:srgbClr val="494949"/>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19</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
        <p:nvSpPr>
          <p:cNvPr id="8" name="TextBox 7">
            <a:extLst>
              <a:ext uri="{FF2B5EF4-FFF2-40B4-BE49-F238E27FC236}">
                <a16:creationId xmlns:a16="http://schemas.microsoft.com/office/drawing/2014/main" id="{5B1B7E44-9139-42DB-B7A7-70C1527A60B8}"/>
              </a:ext>
            </a:extLst>
          </p:cNvPr>
          <p:cNvSpPr txBox="1"/>
          <p:nvPr/>
        </p:nvSpPr>
        <p:spPr>
          <a:xfrm>
            <a:off x="548640" y="4572000"/>
            <a:ext cx="6992721"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hlinkClick r:id="rId2"/>
              </a:rPr>
              <a:t>https://www.valuer.ai/blog/50-examples-of-corporations-that-failed-to-innovate-and-missed-their-chance</a:t>
            </a:r>
            <a:endParaRPr lang="en-US"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D0DE899B-0F78-4E47-9A2B-89DA3E47563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657" r="23242" b="15869"/>
          <a:stretch/>
        </p:blipFill>
        <p:spPr bwMode="auto">
          <a:xfrm>
            <a:off x="8128000" y="387706"/>
            <a:ext cx="1417575" cy="111332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389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a:extLst>
              <a:ext uri="{FF2B5EF4-FFF2-40B4-BE49-F238E27FC236}">
                <a16:creationId xmlns:a16="http://schemas.microsoft.com/office/drawing/2014/main" id="{332E3C33-6116-4974-9AA8-90F7EC2E0B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45" t="19796" r="5548" b="29337"/>
          <a:stretch/>
        </p:blipFill>
        <p:spPr bwMode="auto">
          <a:xfrm>
            <a:off x="7620000" y="361663"/>
            <a:ext cx="1935795" cy="8382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Xerox</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589778"/>
            <a:ext cx="8656320" cy="3133679"/>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Xerox was actually first to invent the PC and their product was way ahead of its time. Unfortunately, the management thought going digital would be too expensive and they never bothered to exploit the opportunities they had.</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The CEO David Kearns was convinced that the future of Xerox was in copy machines. The digital communication products invented weren’t seen as something that could replace black marks on white paper. Xerox failed to understand that you can’t keep perpetually making money on the same technology. Sometimes technology fails too.</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20</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14048253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Kodak</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589778"/>
            <a:ext cx="8656320" cy="3508916"/>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In 1975, a young engineer at Kodak named Steve </a:t>
            </a:r>
            <a:r>
              <a:rPr lang="en-US" sz="1700" b="0" i="0" dirty="0" err="1">
                <a:solidFill>
                  <a:srgbClr val="494949"/>
                </a:solidFill>
                <a:effectLst/>
                <a:latin typeface="Times New Roman" panose="02020603050405020304" pitchFamily="18" charset="0"/>
                <a:cs typeface="Times New Roman" panose="02020603050405020304" pitchFamily="18" charset="0"/>
              </a:rPr>
              <a:t>Sasson</a:t>
            </a:r>
            <a:r>
              <a:rPr lang="en-US" sz="1700" b="0" i="0" dirty="0">
                <a:solidFill>
                  <a:srgbClr val="494949"/>
                </a:solidFill>
                <a:effectLst/>
                <a:latin typeface="Times New Roman" panose="02020603050405020304" pitchFamily="18" charset="0"/>
                <a:cs typeface="Times New Roman" panose="02020603050405020304" pitchFamily="18" charset="0"/>
              </a:rPr>
              <a:t> invented the digital camera. At first, it wasn't much to look at, weighing eight pounds and able to produce pictures of only 0.01 megapixels (today's iPhones produce 12 megapixels images, a 120,000% increase). He estimated at the time that it would take 15 to 20 years for the technology to become viable.</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Being a silly big company with its head in the sand, the firm failed to pursue digital photography. New upstarts took over the market and prospered, while Kodak vanished into irrelevance. The company filed for bankruptcy in 2011.</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21</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8" name="Picture 2">
            <a:extLst>
              <a:ext uri="{FF2B5EF4-FFF2-40B4-BE49-F238E27FC236}">
                <a16:creationId xmlns:a16="http://schemas.microsoft.com/office/drawing/2014/main" id="{3B81A199-D988-42D1-845B-2EBA2C58B2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4010" y="410566"/>
            <a:ext cx="1485900"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449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Kodak</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589778"/>
            <a:ext cx="8656320" cy="3508916"/>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Once again, the truth is more complex. The company did, in fact, pursue the digital photography business in a serious way. It also made big investments in quality printing for digital photos. The problem was that it made most of its money on developing film, a business that completely disappeared.</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It's tough to say what Kodak could have done. The only company that really seems to have profited from digital photography is Facebook and it's hard to see how Kodak would have had a competitive advantage in building social networks. The only real solution would have been to invent an entirely new business that could </a:t>
            </a:r>
            <a:r>
              <a:rPr lang="en-US" sz="1700" dirty="0">
                <a:solidFill>
                  <a:srgbClr val="494949"/>
                </a:solidFill>
                <a:latin typeface="Times New Roman" panose="02020603050405020304" pitchFamily="18" charset="0"/>
                <a:cs typeface="Times New Roman" panose="02020603050405020304" pitchFamily="18" charset="0"/>
              </a:rPr>
              <a:t>replace its </a:t>
            </a:r>
            <a:r>
              <a:rPr lang="en-US" sz="1700" i="1" dirty="0">
                <a:solidFill>
                  <a:srgbClr val="494949"/>
                </a:solidFill>
                <a:latin typeface="Times New Roman" panose="02020603050405020304" pitchFamily="18" charset="0"/>
                <a:cs typeface="Times New Roman" panose="02020603050405020304" pitchFamily="18" charset="0"/>
              </a:rPr>
              <a:t>cash cow </a:t>
            </a:r>
            <a:r>
              <a:rPr lang="en-US" sz="1700" dirty="0">
                <a:solidFill>
                  <a:srgbClr val="494949"/>
                </a:solidFill>
                <a:latin typeface="Times New Roman" panose="02020603050405020304" pitchFamily="18" charset="0"/>
                <a:cs typeface="Times New Roman" panose="02020603050405020304" pitchFamily="18" charset="0"/>
              </a:rPr>
              <a:t>(investment). </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22</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1026" name="Picture 2">
            <a:extLst>
              <a:ext uri="{FF2B5EF4-FFF2-40B4-BE49-F238E27FC236}">
                <a16:creationId xmlns:a16="http://schemas.microsoft.com/office/drawing/2014/main" id="{74065506-2737-4AF0-8AA6-58EFF50039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4010" y="410566"/>
            <a:ext cx="1485900"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7215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921C8F4B-0E1E-4EBE-AC53-964A88B5A9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28000" y="502310"/>
            <a:ext cx="1408430" cy="96029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855879" y="387706"/>
            <a:ext cx="8046721" cy="950579"/>
          </a:xfrm>
        </p:spPr>
        <p:txBody>
          <a:bodyPr>
            <a:normAutofit/>
          </a:bodyPr>
          <a:lstStyle/>
          <a:p>
            <a:pPr algn="ctr"/>
            <a:r>
              <a:rPr lang="en-US" sz="3200" b="1" spc="0" dirty="0">
                <a:latin typeface="Times New Roman" pitchFamily="18" charset="0"/>
                <a:ea typeface="+mn-ea"/>
                <a:cs typeface="Times New Roman" pitchFamily="18" charset="0"/>
              </a:rPr>
              <a:t>Nokia</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577207"/>
            <a:ext cx="8656320" cy="3057479"/>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Nokia, a company founded in Finland was the first to create a cellular network in the world. In the late 1990s and early 2000s, Nokia was the global leader in mobile phones.</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With the arrival of the Internet, other mobile companies started understanding how data, not voice, was the future of communication. Nokia didn’t grasp the concept of software and kept focusing on hardware because the management feared to alienate current users if they changed too much.</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23</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13038223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879" y="387706"/>
            <a:ext cx="8046721" cy="1013485"/>
          </a:xfrm>
        </p:spPr>
        <p:txBody>
          <a:bodyPr>
            <a:normAutofit/>
          </a:bodyPr>
          <a:lstStyle/>
          <a:p>
            <a:pPr algn="ctr"/>
            <a:r>
              <a:rPr lang="en-US" sz="3200" b="1" spc="0" dirty="0">
                <a:latin typeface="Times New Roman" pitchFamily="18" charset="0"/>
                <a:ea typeface="+mn-ea"/>
                <a:cs typeface="Times New Roman" pitchFamily="18" charset="0"/>
              </a:rPr>
              <a:t>Nokia</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353096"/>
            <a:ext cx="8656320" cy="3819480"/>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Nokia’s mistake was the fact that they didn’t want to lead the drastic change in user experience. This caused Nokia to develop a mess of an operating system with a bad user experience that just wasn’t a fit on the market.</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The company overestimated the strength of its brand and believed they could arrive late in the smartphone game and succeed. In 2007 Steve Jobs launched the iPhone, a phone without a keyboard, which was revolutionary at the time. Really, watch the video and listen to people losing their minds the first time the watch someone using a touchscreen. In 2008 Nokia finally made the decision to compete with Android, but it was too late. Their products weren’t competitive enough.</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24</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Picture 2">
            <a:extLst>
              <a:ext uri="{FF2B5EF4-FFF2-40B4-BE49-F238E27FC236}">
                <a16:creationId xmlns:a16="http://schemas.microsoft.com/office/drawing/2014/main" id="{012615FB-9A3D-4E2F-B2AE-3CF93ABB27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1589" y="447604"/>
            <a:ext cx="1310741" cy="89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3588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9" y="356889"/>
            <a:ext cx="8046721" cy="1157115"/>
          </a:xfrm>
        </p:spPr>
        <p:txBody>
          <a:bodyPr>
            <a:normAutofit/>
          </a:bodyPr>
          <a:lstStyle/>
          <a:p>
            <a:pPr algn="ctr"/>
            <a:r>
              <a:rPr lang="en-US" sz="3200" b="1" spc="0" dirty="0">
                <a:latin typeface="Times New Roman" pitchFamily="18" charset="0"/>
                <a:ea typeface="+mn-ea"/>
                <a:cs typeface="Times New Roman" pitchFamily="18" charset="0"/>
              </a:rPr>
              <a:t>Blockbuster</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9" y="1692457"/>
            <a:ext cx="8656320" cy="2362200"/>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The video-rental company was at its peak in 2004. They survived the change from VHS to DVD but failed to innovate into a market that allowed for delivery (much less streaming).</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While Netflix was shipping out DVD’s to their consumer’s homes, Blockbuster figured their physical stores were enough to please their customers. Because they had been the leader of the movie rental market for years, management didn’t see why they should change their strategy.</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25</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10248" name="Picture 8">
            <a:extLst>
              <a:ext uri="{FF2B5EF4-FFF2-40B4-BE49-F238E27FC236}">
                <a16:creationId xmlns:a16="http://schemas.microsoft.com/office/drawing/2014/main" id="{2809D119-8888-4120-8A5D-0D8AC26475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7495" y="456432"/>
            <a:ext cx="1598930" cy="958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58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3439" y="356890"/>
            <a:ext cx="8046721" cy="1017504"/>
          </a:xfrm>
        </p:spPr>
        <p:txBody>
          <a:bodyPr>
            <a:normAutofit/>
          </a:bodyPr>
          <a:lstStyle/>
          <a:p>
            <a:pPr algn="ctr"/>
            <a:r>
              <a:rPr lang="en-US" sz="3200" b="1" spc="0" dirty="0">
                <a:latin typeface="Times New Roman" pitchFamily="18" charset="0"/>
                <a:ea typeface="+mn-ea"/>
                <a:cs typeface="Times New Roman" pitchFamily="18" charset="0"/>
              </a:rPr>
              <a:t>Blockbuster</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40" y="1374394"/>
            <a:ext cx="8656320" cy="3499777"/>
          </a:xfrm>
          <a:noFill/>
          <a:ln>
            <a:noFill/>
          </a:ln>
        </p:spPr>
        <p:txBody>
          <a:bodyPr>
            <a:noAutofit/>
          </a:bodyPr>
          <a:lstStyle/>
          <a:p>
            <a:pPr algn="just">
              <a:lnSpc>
                <a:spcPct val="150000"/>
              </a:lnSpc>
            </a:pPr>
            <a:r>
              <a:rPr lang="en-US" sz="1700" dirty="0">
                <a:solidFill>
                  <a:srgbClr val="494949"/>
                </a:solidFill>
                <a:latin typeface="Times New Roman" panose="02020603050405020304" pitchFamily="18" charset="0"/>
                <a:cs typeface="Times New Roman" panose="02020603050405020304" pitchFamily="18" charset="0"/>
              </a:rPr>
              <a:t>Back in 2000, the founder of Netflix Reed Hastings proposed a partnership to the former CEO of Blockbuster John </a:t>
            </a:r>
            <a:r>
              <a:rPr lang="en-US" sz="1700" dirty="0" err="1">
                <a:solidFill>
                  <a:srgbClr val="494949"/>
                </a:solidFill>
                <a:latin typeface="Times New Roman" panose="02020603050405020304" pitchFamily="18" charset="0"/>
                <a:cs typeface="Times New Roman" panose="02020603050405020304" pitchFamily="18" charset="0"/>
              </a:rPr>
              <a:t>Antioco</a:t>
            </a:r>
            <a:r>
              <a:rPr lang="en-US" sz="1700" dirty="0">
                <a:solidFill>
                  <a:srgbClr val="494949"/>
                </a:solidFill>
                <a:latin typeface="Times New Roman" panose="02020603050405020304" pitchFamily="18" charset="0"/>
                <a:cs typeface="Times New Roman" panose="02020603050405020304" pitchFamily="18" charset="0"/>
              </a:rPr>
              <a:t>. Netflix wanted Blockbuster to advertise their brand in the stores while Netflix would run Blockbuster online. The idea got turned down by </a:t>
            </a:r>
            <a:r>
              <a:rPr lang="en-US" sz="1700" dirty="0" err="1">
                <a:solidFill>
                  <a:srgbClr val="494949"/>
                </a:solidFill>
                <a:latin typeface="Times New Roman" panose="02020603050405020304" pitchFamily="18" charset="0"/>
                <a:cs typeface="Times New Roman" panose="02020603050405020304" pitchFamily="18" charset="0"/>
              </a:rPr>
              <a:t>Antioco</a:t>
            </a:r>
            <a:r>
              <a:rPr lang="en-US" sz="1700" dirty="0">
                <a:solidFill>
                  <a:srgbClr val="494949"/>
                </a:solidFill>
                <a:latin typeface="Times New Roman" panose="02020603050405020304" pitchFamily="18" charset="0"/>
                <a:cs typeface="Times New Roman" panose="02020603050405020304" pitchFamily="18" charset="0"/>
              </a:rPr>
              <a:t> because he thought it was ridiculous and that Netflix’s business model was “niche business.” Little did he know that Hasting’s idea would have saved Blockbuster. In 2010 Blockbuster filed for bankruptcy and Netflix is now a $28 billion dollar company.</a:t>
            </a:r>
          </a:p>
          <a:p>
            <a:pPr algn="just">
              <a:lnSpc>
                <a:spcPct val="150000"/>
              </a:lnSpc>
            </a:pPr>
            <a:r>
              <a:rPr lang="en-US" sz="1700" dirty="0">
                <a:solidFill>
                  <a:srgbClr val="494949"/>
                </a:solidFill>
                <a:latin typeface="Times New Roman" panose="02020603050405020304" pitchFamily="18" charset="0"/>
                <a:cs typeface="Times New Roman" panose="02020603050405020304" pitchFamily="18" charset="0"/>
              </a:rPr>
              <a:t>The Forbes article that aptly describes what exactly happened to Blockbuster,</a:t>
            </a:r>
            <a:r>
              <a:rPr lang="en-US" sz="1700" b="0" i="0" dirty="0">
                <a:solidFill>
                  <a:srgbClr val="494949"/>
                </a:solidFill>
                <a:effectLst/>
                <a:latin typeface="Times New Roman" panose="02020603050405020304" pitchFamily="18" charset="0"/>
                <a:cs typeface="Times New Roman" panose="02020603050405020304" pitchFamily="18" charset="0"/>
              </a:rPr>
              <a:t> “</a:t>
            </a:r>
            <a:r>
              <a:rPr lang="en-US" sz="1700" b="1" i="0" dirty="0">
                <a:solidFill>
                  <a:schemeClr val="tx2">
                    <a:lumMod val="75000"/>
                  </a:schemeClr>
                </a:solidFill>
                <a:effectLst/>
                <a:latin typeface="Times New Roman" panose="02020603050405020304" pitchFamily="18" charset="0"/>
                <a:cs typeface="Times New Roman" panose="02020603050405020304" pitchFamily="18" charset="0"/>
              </a:rPr>
              <a:t>The internet didn’t kill Blockbuster, the company did it to itself</a:t>
            </a:r>
            <a:r>
              <a:rPr lang="en-US" sz="1700" b="0" i="0" dirty="0">
                <a:solidFill>
                  <a:srgbClr val="494949"/>
                </a:solidFill>
                <a:effectLst/>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26</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pic>
        <p:nvPicPr>
          <p:cNvPr id="7" name="Picture 8">
            <a:extLst>
              <a:ext uri="{FF2B5EF4-FFF2-40B4-BE49-F238E27FC236}">
                <a16:creationId xmlns:a16="http://schemas.microsoft.com/office/drawing/2014/main" id="{C8A5E9DB-47F1-433D-ADEB-1381075B57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7495" y="416367"/>
            <a:ext cx="1598930" cy="958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136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42A36283-DB0D-4B03-930F-4B86C58459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28000" y="457095"/>
            <a:ext cx="1377986" cy="76554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853439" y="356890"/>
            <a:ext cx="8046721" cy="865022"/>
          </a:xfrm>
        </p:spPr>
        <p:txBody>
          <a:bodyPr>
            <a:normAutofit/>
          </a:bodyPr>
          <a:lstStyle/>
          <a:p>
            <a:pPr algn="ctr"/>
            <a:r>
              <a:rPr lang="en-US" sz="3200" b="1" spc="0" dirty="0">
                <a:latin typeface="Times New Roman" pitchFamily="18" charset="0"/>
                <a:ea typeface="+mn-ea"/>
                <a:cs typeface="Times New Roman" pitchFamily="18" charset="0"/>
              </a:rPr>
              <a:t>Borders </a:t>
            </a:r>
          </a:p>
        </p:txBody>
      </p:sp>
      <p:sp>
        <p:nvSpPr>
          <p:cNvPr id="2" name="Content Placeholder 1">
            <a:extLst>
              <a:ext uri="{FF2B5EF4-FFF2-40B4-BE49-F238E27FC236}">
                <a16:creationId xmlns:a16="http://schemas.microsoft.com/office/drawing/2014/main" id="{51A7BB06-6EAA-4A09-9D04-810D6D650024}"/>
              </a:ext>
            </a:extLst>
          </p:cNvPr>
          <p:cNvSpPr>
            <a:spLocks noGrp="1"/>
          </p:cNvSpPr>
          <p:nvPr>
            <p:ph idx="1"/>
          </p:nvPr>
        </p:nvSpPr>
        <p:spPr>
          <a:xfrm>
            <a:off x="548639" y="1300823"/>
            <a:ext cx="8656320" cy="4062710"/>
          </a:xfrm>
          <a:noFill/>
          <a:ln>
            <a:noFill/>
          </a:ln>
        </p:spPr>
        <p:txBody>
          <a:bodyPr>
            <a:noAutofit/>
          </a:bodyPr>
          <a:lstStyle/>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Borders Group opened its first bookstore in 1971 and they were a success for years. But in the mid- 2000s Borders failed to adapt to new technologies and never embraced the Internet like Amazon and Barnes &amp; Noble. As more people began to order their books online, the fading of a giant like Borders was inevitable.</a:t>
            </a:r>
          </a:p>
          <a:p>
            <a:pPr algn="just">
              <a:lnSpc>
                <a:spcPct val="150000"/>
              </a:lnSpc>
            </a:pPr>
            <a:r>
              <a:rPr lang="en-US" sz="1700" b="0" i="0" dirty="0">
                <a:solidFill>
                  <a:srgbClr val="494949"/>
                </a:solidFill>
                <a:effectLst/>
                <a:latin typeface="Times New Roman" panose="02020603050405020304" pitchFamily="18" charset="0"/>
                <a:cs typeface="Times New Roman" panose="02020603050405020304" pitchFamily="18" charset="0"/>
              </a:rPr>
              <a:t>Amazon Kindle came out on in 2007, Barnes &amp; Noble debuted Nook in 2009 and Apple’s iPad launched in 2010. Border’s Kobo (which is still alive) came out a little too late in 2011. It wasn’t just the Internet and competition that killed the company, it was their overall strategy. Borders opened too many stores making it harder to shed unprofitable locations and there were many. In 2011 Borders filed for bankruptcy, closing 399 stores and laying off 10,700 employees.</a:t>
            </a:r>
          </a:p>
        </p:txBody>
      </p:sp>
      <p:sp>
        <p:nvSpPr>
          <p:cNvPr id="4" name="Slide Number Placeholder 3"/>
          <p:cNvSpPr>
            <a:spLocks noGrp="1"/>
          </p:cNvSpPr>
          <p:nvPr>
            <p:ph type="sldNum" sz="quarter" idx="12"/>
          </p:nvPr>
        </p:nvSpPr>
        <p:spPr/>
        <p:txBody>
          <a:bodyPr/>
          <a:lstStyle/>
          <a:p>
            <a:pPr algn="r"/>
            <a:fld id="{00000000-1234-1234-1234-123412341234}" type="slidenum">
              <a:rPr lang="en" smtClean="0"/>
              <a:pPr algn="r"/>
              <a:t>27</a:t>
            </a:fld>
            <a:endParaRPr lang="en"/>
          </a:p>
        </p:txBody>
      </p:sp>
      <p:sp>
        <p:nvSpPr>
          <p:cNvPr id="5" name="object 10">
            <a:extLst>
              <a:ext uri="{FF2B5EF4-FFF2-40B4-BE49-F238E27FC236}">
                <a16:creationId xmlns:a16="http://schemas.microsoft.com/office/drawing/2014/main" id="{A6FC9400-49C5-4226-84BB-06BE94C311AB}"/>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6" name="object 10">
            <a:extLst>
              <a:ext uri="{FF2B5EF4-FFF2-40B4-BE49-F238E27FC236}">
                <a16:creationId xmlns:a16="http://schemas.microsoft.com/office/drawing/2014/main" id="{F7D3B0D6-2183-43AD-AF47-C3CB0AE8F1E4}"/>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70885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2298" y="1600200"/>
            <a:ext cx="2895600" cy="2308324"/>
          </a:xfrm>
          <a:prstGeom prst="rect">
            <a:avLst/>
          </a:prstGeom>
          <a:noFill/>
        </p:spPr>
        <p:txBody>
          <a:bodyPr wrap="square" rtlCol="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n-US" sz="7200" b="1" dirty="0">
                <a:ln w="19050">
                  <a:solidFill>
                    <a:schemeClr val="accent5">
                      <a:lumMod val="50000"/>
                    </a:schemeClr>
                  </a:solidFill>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Times New Roman" pitchFamily="18" charset="0"/>
                <a:cs typeface="Times New Roman" pitchFamily="18" charset="0"/>
              </a:rPr>
              <a:t>Thank You</a:t>
            </a:r>
          </a:p>
        </p:txBody>
      </p:sp>
      <p:sp>
        <p:nvSpPr>
          <p:cNvPr id="2" name="Slide Number Placeholder 1"/>
          <p:cNvSpPr>
            <a:spLocks noGrp="1"/>
          </p:cNvSpPr>
          <p:nvPr>
            <p:ph type="sldNum" sz="quarter" idx="12"/>
          </p:nvPr>
        </p:nvSpPr>
        <p:spPr/>
        <p:txBody>
          <a:bodyPr/>
          <a:lstStyle/>
          <a:p>
            <a:fld id="{D0F64ED7-5F33-4BE3-A4D6-5CACD679ABF5}" type="slidenum">
              <a:rPr lang="en-US" smtClean="0"/>
              <a:t>28</a:t>
            </a:fld>
            <a:endParaRPr lang="en-US"/>
          </a:p>
        </p:txBody>
      </p:sp>
      <p:sp>
        <p:nvSpPr>
          <p:cNvPr id="7" name="object 10">
            <a:extLst>
              <a:ext uri="{FF2B5EF4-FFF2-40B4-BE49-F238E27FC236}">
                <a16:creationId xmlns:a16="http://schemas.microsoft.com/office/drawing/2014/main" id="{C3487218-6965-41D9-8688-9734166DA5B5}"/>
              </a:ext>
            </a:extLst>
          </p:cNvPr>
          <p:cNvSpPr txBox="1">
            <a:spLocks/>
          </p:cNvSpPr>
          <p:nvPr/>
        </p:nvSpPr>
        <p:spPr>
          <a:xfrm>
            <a:off x="0" y="14632"/>
            <a:ext cx="3832970"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ctr"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err="1">
                <a:ln>
                  <a:noFill/>
                </a:ln>
                <a:solidFill>
                  <a:schemeClr val="bg1"/>
                </a:solidFill>
                <a:effectLst/>
                <a:uLnTx/>
                <a:uFillTx/>
                <a:latin typeface="Times New Roman"/>
                <a:ea typeface="+mn-ea"/>
                <a:cs typeface="Times New Roman"/>
              </a:rPr>
              <a:t>Ahsanullah</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5" normalizeH="0" baseline="0" noProof="0" dirty="0">
                <a:ln>
                  <a:noFill/>
                </a:ln>
                <a:solidFill>
                  <a:schemeClr val="bg1"/>
                </a:solidFill>
                <a:effectLst/>
                <a:uLnTx/>
                <a:uFillTx/>
                <a:latin typeface="Times New Roman"/>
                <a:ea typeface="+mn-ea"/>
                <a:cs typeface="Times New Roman"/>
              </a:rPr>
              <a:t>University </a:t>
            </a: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of Science &amp;</a:t>
            </a:r>
            <a:r>
              <a:rPr kumimoji="0" lang="en-US" b="1" i="0" u="none" strike="noStrike" kern="1200" cap="none" spc="-140" normalizeH="0" baseline="0" noProof="0" dirty="0">
                <a:ln>
                  <a:noFill/>
                </a:ln>
                <a:solidFill>
                  <a:schemeClr val="bg1"/>
                </a:solidFill>
                <a:effectLst/>
                <a:uLnTx/>
                <a:uFillTx/>
                <a:latin typeface="Times New Roman"/>
                <a:ea typeface="+mn-ea"/>
                <a:cs typeface="Times New Roman"/>
              </a:rPr>
              <a:t> </a:t>
            </a:r>
            <a:r>
              <a:rPr kumimoji="0" lang="en-US" b="1" i="0" u="none" strike="noStrike" kern="1200" cap="none" spc="-25" normalizeH="0" baseline="0" noProof="0" dirty="0">
                <a:ln>
                  <a:noFill/>
                </a:ln>
                <a:solidFill>
                  <a:schemeClr val="bg1"/>
                </a:solidFill>
                <a:effectLst/>
                <a:uLnTx/>
                <a:uFillTx/>
                <a:latin typeface="Times New Roman"/>
                <a:ea typeface="+mn-ea"/>
                <a:cs typeface="Times New Roman"/>
              </a:rPr>
              <a:t>Technology</a:t>
            </a:r>
            <a:endParaRPr kumimoji="0" lang="en-US" b="1" i="0" u="none" strike="noStrike" kern="1200" cap="none" spc="0" normalizeH="0" baseline="0" noProof="0" dirty="0">
              <a:ln>
                <a:noFill/>
              </a:ln>
              <a:solidFill>
                <a:schemeClr val="bg1"/>
              </a:solidFill>
              <a:effectLst/>
              <a:uLnTx/>
              <a:uFillTx/>
              <a:latin typeface="Times New Roman"/>
              <a:ea typeface="+mn-ea"/>
              <a:cs typeface="Times New Roman"/>
            </a:endParaRPr>
          </a:p>
        </p:txBody>
      </p:sp>
      <p:sp>
        <p:nvSpPr>
          <p:cNvPr id="8" name="object 10">
            <a:extLst>
              <a:ext uri="{FF2B5EF4-FFF2-40B4-BE49-F238E27FC236}">
                <a16:creationId xmlns:a16="http://schemas.microsoft.com/office/drawing/2014/main" id="{9FFE4187-E6B0-4B73-AA67-CEC0BA2C7E77}"/>
              </a:ext>
            </a:extLst>
          </p:cNvPr>
          <p:cNvSpPr txBox="1">
            <a:spLocks/>
          </p:cNvSpPr>
          <p:nvPr/>
        </p:nvSpPr>
        <p:spPr>
          <a:xfrm>
            <a:off x="3886200" y="14632"/>
            <a:ext cx="3322005" cy="215252"/>
          </a:xfrm>
          <a:prstGeom prst="rect">
            <a:avLst/>
          </a:prstGeom>
        </p:spPr>
        <p:txBody>
          <a:bodyPr vert="horz" wrap="square" lIns="0" tIns="0" rIns="0" bIns="0" rtlCol="0">
            <a:spAutoFit/>
          </a:bodyPr>
          <a:lstStyle>
            <a:defPPr>
              <a:defRPr lang="en-US"/>
            </a:defPPr>
            <a:lvl1pPr marL="0" algn="l" defTabSz="914400" rtl="0" eaLnBrk="1" latinLnBrk="0" hangingPunct="1">
              <a:defRPr sz="1400" b="1"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defTabSz="914400" rtl="0" eaLnBrk="1" fontAlgn="auto" latinLnBrk="0" hangingPunct="1">
              <a:lnSpc>
                <a:spcPts val="1839"/>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Times New Roman"/>
                <a:ea typeface="+mn-ea"/>
                <a:cs typeface="Times New Roman"/>
              </a:rPr>
              <a:t>||     HUM 3109: Industrial Management</a:t>
            </a:r>
          </a:p>
        </p:txBody>
      </p:sp>
    </p:spTree>
    <p:extLst>
      <p:ext uri="{BB962C8B-B14F-4D97-AF65-F5344CB8AC3E}">
        <p14:creationId xmlns:p14="http://schemas.microsoft.com/office/powerpoint/2010/main" val="3539497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4914</TotalTime>
  <Words>2208</Words>
  <Application>Microsoft Office PowerPoint</Application>
  <PresentationFormat>Custom</PresentationFormat>
  <Paragraphs>190</Paragraphs>
  <Slides>28</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IPE 4111 Industrial Management p  Technology management</vt:lpstr>
      <vt:lpstr>PowerPoint Presentation</vt:lpstr>
      <vt:lpstr>PowerPoint Presentation</vt:lpstr>
      <vt:lpstr>Innovation</vt:lpstr>
      <vt:lpstr>Innovation Management</vt:lpstr>
      <vt:lpstr>Strategic Technology Management System </vt:lpstr>
      <vt:lpstr>Phases of STMS</vt:lpstr>
      <vt:lpstr>Phases of STMS</vt:lpstr>
      <vt:lpstr>Phases of STMS</vt:lpstr>
      <vt:lpstr>Phases of STMS</vt:lpstr>
      <vt:lpstr>Phases of STMS</vt:lpstr>
      <vt:lpstr>Technology Life Cycle (TLC)</vt:lpstr>
      <vt:lpstr>Technology Life Cycle (TLC)</vt:lpstr>
      <vt:lpstr>Four Stages of TLC</vt:lpstr>
      <vt:lpstr>Four Stages of TLC</vt:lpstr>
      <vt:lpstr>Technology Adoption Life Cycle</vt:lpstr>
      <vt:lpstr>Technology Adoption Life Cycle</vt:lpstr>
      <vt:lpstr>Technology Adoption Life Cycle</vt:lpstr>
      <vt:lpstr>Case Studies</vt:lpstr>
      <vt:lpstr>Xerox</vt:lpstr>
      <vt:lpstr>Kodak</vt:lpstr>
      <vt:lpstr>Kodak</vt:lpstr>
      <vt:lpstr>Nokia</vt:lpstr>
      <vt:lpstr>Nokia</vt:lpstr>
      <vt:lpstr>Blockbuster</vt:lpstr>
      <vt:lpstr>Blockbuster</vt:lpstr>
      <vt:lpstr>Borders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TSP</dc:creator>
  <cp:lastModifiedBy>USER</cp:lastModifiedBy>
  <cp:revision>398</cp:revision>
  <dcterms:created xsi:type="dcterms:W3CDTF">2017-11-19T09:59:06Z</dcterms:created>
  <dcterms:modified xsi:type="dcterms:W3CDTF">2023-02-09T04:34:09Z</dcterms:modified>
</cp:coreProperties>
</file>