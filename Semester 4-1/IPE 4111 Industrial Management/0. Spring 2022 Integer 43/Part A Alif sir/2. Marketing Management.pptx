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314" r:id="rId15"/>
    <p:sldId id="293" r:id="rId16"/>
    <p:sldId id="294" r:id="rId17"/>
    <p:sldId id="295" r:id="rId18"/>
    <p:sldId id="296" r:id="rId19"/>
    <p:sldId id="315"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270" r:id="rId37"/>
    <p:sldId id="271" r:id="rId38"/>
    <p:sldId id="272" r:id="rId39"/>
    <p:sldId id="273" r:id="rId40"/>
    <p:sldId id="274" r:id="rId41"/>
    <p:sldId id="275" r:id="rId42"/>
    <p:sldId id="276" r:id="rId43"/>
    <p:sldId id="313" r:id="rId44"/>
    <p:sldId id="277" r:id="rId45"/>
    <p:sldId id="278" r:id="rId46"/>
    <p:sldId id="279" r:id="rId47"/>
    <p:sldId id="280" r:id="rId48"/>
    <p:sldId id="289" r:id="rId49"/>
    <p:sldId id="283" r:id="rId50"/>
    <p:sldId id="284" r:id="rId51"/>
    <p:sldId id="285" r:id="rId52"/>
    <p:sldId id="288" r:id="rId53"/>
    <p:sldId id="286" r:id="rId54"/>
    <p:sldId id="287" r:id="rId55"/>
    <p:sldId id="290" r:id="rId56"/>
    <p:sldId id="291" r:id="rId57"/>
    <p:sldId id="292"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2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AB78F-387F-436E-B493-284A7FED984F}" type="datetimeFigureOut">
              <a:rPr lang="en-US" smtClean="0"/>
              <a:t>2/3/2023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ABF7AE-409A-46FB-AB6B-75AFFE132A60}" type="slidenum">
              <a:rPr lang="en-US" smtClean="0"/>
              <a:t>‹#›</a:t>
            </a:fld>
            <a:endParaRPr lang="en-US"/>
          </a:p>
        </p:txBody>
      </p:sp>
    </p:spTree>
    <p:extLst>
      <p:ext uri="{BB962C8B-B14F-4D97-AF65-F5344CB8AC3E}">
        <p14:creationId xmlns:p14="http://schemas.microsoft.com/office/powerpoint/2010/main" val="3122489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9DCA3F5C-4364-43D4-B772-C0AAFFA9A74A}" type="slidenum">
              <a:rPr lang="en-US" altLang="en-US"/>
              <a:pPr/>
              <a:t>14</a:t>
            </a:fld>
            <a:endParaRPr lang="en-US" alt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BABF7AE-409A-46FB-AB6B-75AFFE132A60}" type="slidenum">
              <a:rPr lang="en-US" smtClean="0"/>
              <a:t>15</a:t>
            </a:fld>
            <a:endParaRPr lang="en-US"/>
          </a:p>
        </p:txBody>
      </p:sp>
    </p:spTree>
    <p:extLst>
      <p:ext uri="{BB962C8B-B14F-4D97-AF65-F5344CB8AC3E}">
        <p14:creationId xmlns:p14="http://schemas.microsoft.com/office/powerpoint/2010/main" val="1608830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BABF7AE-409A-46FB-AB6B-75AFFE132A60}" type="slidenum">
              <a:rPr lang="en-US" smtClean="0"/>
              <a:t>16</a:t>
            </a:fld>
            <a:endParaRPr lang="en-US"/>
          </a:p>
        </p:txBody>
      </p:sp>
    </p:spTree>
    <p:extLst>
      <p:ext uri="{BB962C8B-B14F-4D97-AF65-F5344CB8AC3E}">
        <p14:creationId xmlns:p14="http://schemas.microsoft.com/office/powerpoint/2010/main" val="1119133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986DBF66-652A-4EB9-BB30-E28B535D0608}" type="slidenum">
              <a:rPr lang="en-US" altLang="en-US"/>
              <a:pPr/>
              <a:t>19</a:t>
            </a:fld>
            <a:endParaRPr lang="en-US" alt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BABF7AE-409A-46FB-AB6B-75AFFE132A60}" type="slidenum">
              <a:rPr lang="en-US" smtClean="0"/>
              <a:t>25</a:t>
            </a:fld>
            <a:endParaRPr lang="en-US"/>
          </a:p>
        </p:txBody>
      </p:sp>
    </p:spTree>
    <p:extLst>
      <p:ext uri="{BB962C8B-B14F-4D97-AF65-F5344CB8AC3E}">
        <p14:creationId xmlns:p14="http://schemas.microsoft.com/office/powerpoint/2010/main" val="1984521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D1513DB-A53B-479F-AE71-F5CA10BC821E}" type="datetime1">
              <a:rPr lang="en-US" smtClean="0"/>
              <a:t>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DDCCBA-930D-4E58-8986-CBDC02495764}" type="datetime1">
              <a:rPr lang="en-US" smtClean="0"/>
              <a:t>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204C3F-8DF1-41D9-8CE2-CDDBB1EEDA53}" type="datetime1">
              <a:rPr lang="en-US" smtClean="0"/>
              <a:t>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983876-892A-4031-AFE6-189FE49A747B}" type="datetime1">
              <a:rPr lang="en-US" smtClean="0"/>
              <a:t>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01620F-7C31-4B55-9F6A-3DF3E46C4B3B}" type="datetime1">
              <a:rPr lang="en-US" smtClean="0"/>
              <a:t>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67629E-8DF8-47A8-9D6C-6600333898C5}" type="datetime1">
              <a:rPr lang="en-US" smtClean="0"/>
              <a:t>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8E6C75-2D3F-4B5B-BEEC-60167E17D914}" type="datetime1">
              <a:rPr lang="en-US" smtClean="0"/>
              <a:t>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FC943E-FCDF-49FA-A1A1-C90061F3D48E}" type="datetime1">
              <a:rPr lang="en-US" smtClean="0"/>
              <a:t>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F4CA19-25D4-4EF3-B1BA-2487CB360FF9}" type="datetime1">
              <a:rPr lang="en-US" smtClean="0"/>
              <a:t>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20E0F5-6F75-4F6A-AC68-AC6049DBBD37}" type="datetime1">
              <a:rPr lang="en-US" smtClean="0"/>
              <a:t>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872FE6-6FCC-4486-9D53-E8AC881828F3}" type="datetime1">
              <a:rPr lang="en-US" smtClean="0"/>
              <a:t>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F25BF8-4733-4856-B291-8C1B5075DC2B}" type="datetime1">
              <a:rPr lang="en-US" smtClean="0"/>
              <a:t>2/3/2023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lstStyle/>
          <a:p>
            <a:r>
              <a:rPr lang="en-US" b="1" dirty="0">
                <a:latin typeface="Times New Roman" pitchFamily="18" charset="0"/>
                <a:cs typeface="Times New Roman" pitchFamily="18" charset="0"/>
              </a:rPr>
              <a:t>Industrial Management</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IPE 4111</a:t>
            </a:r>
            <a:endParaRPr lang="en-US" dirty="0"/>
          </a:p>
        </p:txBody>
      </p:sp>
      <p:sp>
        <p:nvSpPr>
          <p:cNvPr id="3" name="Subtitle 2"/>
          <p:cNvSpPr>
            <a:spLocks noGrp="1"/>
          </p:cNvSpPr>
          <p:nvPr>
            <p:ph type="subTitle" idx="1"/>
          </p:nvPr>
        </p:nvSpPr>
        <p:spPr>
          <a:xfrm>
            <a:off x="838200" y="2209800"/>
            <a:ext cx="7467600" cy="3429000"/>
          </a:xfrm>
        </p:spPr>
        <p:txBody>
          <a:bodyPr>
            <a:normAutofit/>
          </a:bodyPr>
          <a:lstStyle/>
          <a:p>
            <a:pPr algn="r"/>
            <a:r>
              <a:rPr lang="en-US" b="1" u="sng" dirty="0">
                <a:solidFill>
                  <a:schemeClr val="tx1"/>
                </a:solidFill>
                <a:latin typeface="Times New Roman" pitchFamily="18" charset="0"/>
                <a:cs typeface="Times New Roman" pitchFamily="18" charset="0"/>
              </a:rPr>
              <a:t>Marketing Management</a:t>
            </a:r>
          </a:p>
          <a:p>
            <a:pPr algn="l"/>
            <a:endParaRPr lang="en-US" dirty="0">
              <a:solidFill>
                <a:schemeClr val="tx1"/>
              </a:solidFill>
              <a:latin typeface="Times New Roman" pitchFamily="18" charset="0"/>
              <a:cs typeface="Times New Roman" pitchFamily="18" charset="0"/>
            </a:endParaRPr>
          </a:p>
          <a:p>
            <a:pPr algn="l"/>
            <a:r>
              <a:rPr lang="en-US" dirty="0">
                <a:solidFill>
                  <a:schemeClr val="tx1"/>
                </a:solidFill>
                <a:latin typeface="Times New Roman" pitchFamily="18" charset="0"/>
                <a:cs typeface="Times New Roman" pitchFamily="18" charset="0"/>
              </a:rPr>
              <a:t>Presented By</a:t>
            </a:r>
          </a:p>
          <a:p>
            <a:pPr algn="l"/>
            <a:r>
              <a:rPr lang="en-US" dirty="0" err="1">
                <a:solidFill>
                  <a:schemeClr val="tx1"/>
                </a:solidFill>
                <a:latin typeface="Times New Roman" pitchFamily="18" charset="0"/>
                <a:cs typeface="Times New Roman" pitchFamily="18" charset="0"/>
              </a:rPr>
              <a:t>Nur</a:t>
            </a:r>
            <a:r>
              <a:rPr lang="en-US" dirty="0">
                <a:solidFill>
                  <a:schemeClr val="tx1"/>
                </a:solidFill>
                <a:latin typeface="Times New Roman" pitchFamily="18" charset="0"/>
                <a:cs typeface="Times New Roman" pitchFamily="18" charset="0"/>
              </a:rPr>
              <a:t> Md. </a:t>
            </a:r>
            <a:r>
              <a:rPr lang="en-US" dirty="0" err="1">
                <a:solidFill>
                  <a:schemeClr val="tx1"/>
                </a:solidFill>
                <a:latin typeface="Times New Roman" pitchFamily="18" charset="0"/>
                <a:cs typeface="Times New Roman" pitchFamily="18" charset="0"/>
              </a:rPr>
              <a:t>Alif</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ul</a:t>
            </a:r>
            <a:r>
              <a:rPr lang="en-US" dirty="0">
                <a:solidFill>
                  <a:schemeClr val="tx1"/>
                </a:solidFill>
                <a:latin typeface="Times New Roman" pitchFamily="18" charset="0"/>
                <a:cs typeface="Times New Roman" pitchFamily="18" charset="0"/>
              </a:rPr>
              <a:t> Islam</a:t>
            </a:r>
          </a:p>
          <a:p>
            <a:pPr algn="l"/>
            <a:r>
              <a:rPr lang="en-US" dirty="0">
                <a:solidFill>
                  <a:schemeClr val="tx1"/>
                </a:solidFill>
                <a:latin typeface="Times New Roman" pitchFamily="18" charset="0"/>
                <a:cs typeface="Times New Roman" pitchFamily="18" charset="0"/>
              </a:rPr>
              <a:t>Lecturer, Dept. </a:t>
            </a:r>
            <a:r>
              <a:rPr lang="en-US">
                <a:solidFill>
                  <a:schemeClr val="tx1"/>
                </a:solidFill>
                <a:latin typeface="Times New Roman" pitchFamily="18" charset="0"/>
                <a:cs typeface="Times New Roman" pitchFamily="18" charset="0"/>
              </a:rPr>
              <a:t>of MPE, AUST</a:t>
            </a:r>
            <a:endParaRPr lang="en-US" dirty="0">
              <a:solidFill>
                <a:schemeClr val="tx1"/>
              </a:solidFill>
              <a:latin typeface="Times New Roman" pitchFamily="18" charset="0"/>
              <a:cs typeface="Times New Roman" pitchFamily="18" charset="0"/>
            </a:endParaRPr>
          </a:p>
          <a:p>
            <a:pPr algn="l"/>
            <a:endParaRPr lang="en-US" dirty="0">
              <a:solidFill>
                <a:schemeClr val="tx1"/>
              </a:solidFill>
              <a:latin typeface="Times New Roman" pitchFamily="18" charset="0"/>
              <a:cs typeface="Times New Roman" pitchFamily="18" charset="0"/>
            </a:endParaRPr>
          </a:p>
          <a:p>
            <a:endParaRPr lang="en-US" dirty="0"/>
          </a:p>
        </p:txBody>
      </p:sp>
      <p:sp>
        <p:nvSpPr>
          <p:cNvPr id="4" name="Slide Number Placeholder 3">
            <a:extLst>
              <a:ext uri="{FF2B5EF4-FFF2-40B4-BE49-F238E27FC236}">
                <a16:creationId xmlns:a16="http://schemas.microsoft.com/office/drawing/2014/main" id="{341E1EAD-6F99-8529-4784-306531021E4E}"/>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BACKGROUND</a:t>
            </a:r>
          </a:p>
        </p:txBody>
      </p:sp>
      <p:sp>
        <p:nvSpPr>
          <p:cNvPr id="3" name="Content Placeholder 2"/>
          <p:cNvSpPr>
            <a:spLocks noGrp="1"/>
          </p:cNvSpPr>
          <p:nvPr>
            <p:ph idx="1"/>
          </p:nvPr>
        </p:nvSpPr>
        <p:spPr/>
        <p:txBody>
          <a:bodyPr>
            <a:normAutofit/>
          </a:bodyPr>
          <a:lstStyle/>
          <a:p>
            <a:pPr marL="0" algn="just">
              <a:buNone/>
            </a:pPr>
            <a:r>
              <a:rPr lang="en-US" sz="2800" dirty="0">
                <a:latin typeface="Times New Roman" pitchFamily="18" charset="0"/>
                <a:cs typeface="Times New Roman" pitchFamily="18" charset="0"/>
              </a:rPr>
              <a:t>The term “marketing”, is derived from the word “market”, which refers to a group of sellers and buyers that cooperate to exchange goods and services. The modern concept of marketing evolved during and after the industrial revolution in the 19</a:t>
            </a:r>
            <a:r>
              <a:rPr lang="en-US" sz="2800" baseline="30000" dirty="0">
                <a:latin typeface="Times New Roman" pitchFamily="18" charset="0"/>
                <a:cs typeface="Times New Roman" pitchFamily="18" charset="0"/>
              </a:rPr>
              <a:t>th</a:t>
            </a:r>
            <a:r>
              <a:rPr lang="en-US" sz="2800" dirty="0">
                <a:latin typeface="Times New Roman" pitchFamily="18" charset="0"/>
                <a:cs typeface="Times New Roman" pitchFamily="18" charset="0"/>
              </a:rPr>
              <a:t> and 20th centuries.</a:t>
            </a:r>
          </a:p>
        </p:txBody>
      </p:sp>
      <p:sp>
        <p:nvSpPr>
          <p:cNvPr id="4" name="Slide Number Placeholder 3">
            <a:extLst>
              <a:ext uri="{FF2B5EF4-FFF2-40B4-BE49-F238E27FC236}">
                <a16:creationId xmlns:a16="http://schemas.microsoft.com/office/drawing/2014/main" id="{8D4553DC-FC45-90C2-BF07-B2A0E1819196}"/>
              </a:ext>
            </a:extLst>
          </p:cNvPr>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What is marketing ?</a:t>
            </a:r>
          </a:p>
        </p:txBody>
      </p:sp>
      <p:sp>
        <p:nvSpPr>
          <p:cNvPr id="3" name="Content Placeholder 2"/>
          <p:cNvSpPr>
            <a:spLocks noGrp="1"/>
          </p:cNvSpPr>
          <p:nvPr>
            <p:ph idx="1"/>
          </p:nvPr>
        </p:nvSpPr>
        <p:spPr/>
        <p:txBody>
          <a:bodyPr>
            <a:normAutofit/>
          </a:bodyPr>
          <a:lstStyle/>
          <a:p>
            <a:pPr algn="just"/>
            <a:r>
              <a:rPr lang="en-US" sz="2800" dirty="0">
                <a:latin typeface="Times New Roman" pitchFamily="18" charset="0"/>
                <a:cs typeface="Times New Roman" pitchFamily="18" charset="0"/>
              </a:rPr>
              <a:t>Marketing is the process of planning and executing the conception, pricing, promotion, and distribution of ideas, goods, services to create exchanges that satisfy individual and organizational goals. </a:t>
            </a:r>
          </a:p>
          <a:p>
            <a:pPr algn="just"/>
            <a:endParaRPr lang="en-US" sz="2800" dirty="0">
              <a:latin typeface="Times New Roman" pitchFamily="18" charset="0"/>
              <a:cs typeface="Times New Roman" pitchFamily="18" charset="0"/>
            </a:endParaRPr>
          </a:p>
          <a:p>
            <a:pPr algn="r">
              <a:buNone/>
            </a:pPr>
            <a:r>
              <a:rPr lang="en-US" sz="2800" dirty="0">
                <a:latin typeface="Times New Roman" pitchFamily="18" charset="0"/>
                <a:cs typeface="Times New Roman" pitchFamily="18" charset="0"/>
              </a:rPr>
              <a:t>- American Marketing Association</a:t>
            </a:r>
          </a:p>
          <a:p>
            <a:endParaRPr lang="en-US" sz="28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C8B4320C-0FFC-D7B0-DD49-F341D9B89603}"/>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What is marketing ?</a:t>
            </a:r>
          </a:p>
        </p:txBody>
      </p:sp>
      <p:sp>
        <p:nvSpPr>
          <p:cNvPr id="3" name="Content Placeholder 2"/>
          <p:cNvSpPr>
            <a:spLocks noGrp="1"/>
          </p:cNvSpPr>
          <p:nvPr>
            <p:ph idx="1"/>
          </p:nvPr>
        </p:nvSpPr>
        <p:spPr/>
        <p:txBody>
          <a:bodyPr>
            <a:normAutofit/>
          </a:bodyPr>
          <a:lstStyle/>
          <a:p>
            <a:pPr algn="just">
              <a:buNone/>
            </a:pPr>
            <a:r>
              <a:rPr lang="en-US" sz="2400" dirty="0">
                <a:latin typeface="Times New Roman" pitchFamily="18" charset="0"/>
                <a:cs typeface="Times New Roman" pitchFamily="18" charset="0"/>
              </a:rPr>
              <a:t>“Marketing is the management process that identifies, anticipates and satisfies customer requirements profitably”</a:t>
            </a:r>
          </a:p>
          <a:p>
            <a:pPr algn="r">
              <a:buNone/>
            </a:pPr>
            <a:endParaRPr lang="en-US" sz="2400" dirty="0">
              <a:latin typeface="Times New Roman" pitchFamily="18" charset="0"/>
              <a:cs typeface="Times New Roman" pitchFamily="18" charset="0"/>
            </a:endParaRPr>
          </a:p>
          <a:p>
            <a:pPr algn="r">
              <a:buNone/>
            </a:pPr>
            <a:endParaRPr lang="en-US" sz="2400" dirty="0">
              <a:latin typeface="Times New Roman" pitchFamily="18" charset="0"/>
              <a:cs typeface="Times New Roman" pitchFamily="18" charset="0"/>
            </a:endParaRPr>
          </a:p>
          <a:p>
            <a:pPr algn="r">
              <a:buNone/>
            </a:pPr>
            <a:r>
              <a:rPr lang="en-US" sz="2400" dirty="0">
                <a:latin typeface="Times New Roman" pitchFamily="18" charset="0"/>
                <a:cs typeface="Times New Roman" pitchFamily="18" charset="0"/>
              </a:rPr>
              <a:t>- The Chartered Institute of Marketing</a:t>
            </a:r>
          </a:p>
          <a:p>
            <a:pPr>
              <a:buNone/>
            </a:pP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D2E16997-7D35-20A1-E860-2DF401952757}"/>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Functions/Objectives of Marketing</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To give direction to the marketing division as a whole as well as to its various departments.</a:t>
            </a:r>
          </a:p>
          <a:p>
            <a:r>
              <a:rPr lang="en-US" sz="2800" dirty="0">
                <a:latin typeface="Times New Roman" pitchFamily="18" charset="0"/>
                <a:cs typeface="Times New Roman" pitchFamily="18" charset="0"/>
              </a:rPr>
              <a:t>Satisfaction to the customers</a:t>
            </a:r>
          </a:p>
          <a:p>
            <a:r>
              <a:rPr lang="en-US" sz="2800" dirty="0">
                <a:latin typeface="Times New Roman" pitchFamily="18" charset="0"/>
                <a:cs typeface="Times New Roman" pitchFamily="18" charset="0"/>
              </a:rPr>
              <a:t>Increase in demand</a:t>
            </a:r>
          </a:p>
          <a:p>
            <a:r>
              <a:rPr lang="en-US" sz="2800" dirty="0">
                <a:latin typeface="Times New Roman" pitchFamily="18" charset="0"/>
                <a:cs typeface="Times New Roman" pitchFamily="18" charset="0"/>
              </a:rPr>
              <a:t>Provide better quality products to the customers</a:t>
            </a:r>
          </a:p>
          <a:p>
            <a:r>
              <a:rPr lang="en-US" sz="2800" dirty="0">
                <a:latin typeface="Times New Roman" pitchFamily="18" charset="0"/>
                <a:cs typeface="Times New Roman" pitchFamily="18" charset="0"/>
              </a:rPr>
              <a:t>Create good will for the organization</a:t>
            </a:r>
          </a:p>
          <a:p>
            <a:r>
              <a:rPr lang="en-US" sz="2800" dirty="0">
                <a:latin typeface="Times New Roman" pitchFamily="18" charset="0"/>
                <a:cs typeface="Times New Roman" pitchFamily="18" charset="0"/>
              </a:rPr>
              <a:t>Generate profitable sales volume</a:t>
            </a:r>
          </a:p>
          <a:p>
            <a:r>
              <a:rPr lang="en-US" sz="2800" dirty="0">
                <a:latin typeface="Times New Roman" pitchFamily="18" charset="0"/>
                <a:cs typeface="Times New Roman" pitchFamily="18" charset="0"/>
              </a:rPr>
              <a:t>To set growth targets</a:t>
            </a:r>
          </a:p>
          <a:p>
            <a:pPr>
              <a:buNone/>
            </a:pPr>
            <a:endParaRPr lang="en-US" sz="28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BBDD9E93-9B7E-3D53-FB28-969D6CA7C604}"/>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Marketing Management</a:t>
            </a:r>
          </a:p>
        </p:txBody>
      </p:sp>
      <p:sp>
        <p:nvSpPr>
          <p:cNvPr id="3" name="Content Placeholder 2"/>
          <p:cNvSpPr>
            <a:spLocks noGrp="1"/>
          </p:cNvSpPr>
          <p:nvPr>
            <p:ph idx="1"/>
          </p:nvPr>
        </p:nvSpPr>
        <p:spPr/>
        <p:txBody>
          <a:bodyPr/>
          <a:lstStyle/>
          <a:p>
            <a:pPr marL="0" algn="just">
              <a:spcBef>
                <a:spcPts val="600"/>
              </a:spcBef>
              <a:spcAft>
                <a:spcPts val="600"/>
              </a:spcAft>
              <a:buNone/>
            </a:pPr>
            <a:r>
              <a:rPr lang="en-US" dirty="0">
                <a:latin typeface="Times New Roman" pitchFamily="18" charset="0"/>
                <a:cs typeface="Times New Roman" pitchFamily="18" charset="0"/>
              </a:rPr>
              <a:t>“</a:t>
            </a:r>
            <a:r>
              <a:rPr lang="en-US" sz="2800" dirty="0">
                <a:latin typeface="Times New Roman" pitchFamily="18" charset="0"/>
                <a:cs typeface="Times New Roman" pitchFamily="18" charset="0"/>
              </a:rPr>
              <a:t>Marketing Management is the analysis, planning, implementation and control of programs designed to create, build and maintain beneficial exchanges and relationships with target markets for the purpose of achieving organizational objectives.”</a:t>
            </a:r>
          </a:p>
        </p:txBody>
      </p:sp>
      <p:sp>
        <p:nvSpPr>
          <p:cNvPr id="4" name="Slide Number Placeholder 3">
            <a:extLst>
              <a:ext uri="{FF2B5EF4-FFF2-40B4-BE49-F238E27FC236}">
                <a16:creationId xmlns:a16="http://schemas.microsoft.com/office/drawing/2014/main" id="{E4E50F99-F596-FA9C-919A-4C880240EC56}"/>
              </a:ext>
            </a:extLst>
          </p:cNvP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Functions of MM</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400" dirty="0">
                <a:latin typeface="Times New Roman" pitchFamily="18" charset="0"/>
                <a:cs typeface="Times New Roman" pitchFamily="18" charset="0"/>
              </a:rPr>
              <a:t>Marketing Research</a:t>
            </a:r>
          </a:p>
          <a:p>
            <a:pPr marL="514350" indent="-514350">
              <a:buFont typeface="+mj-lt"/>
              <a:buAutoNum type="arabicPeriod"/>
            </a:pPr>
            <a:r>
              <a:rPr lang="en-US" sz="2400" dirty="0">
                <a:latin typeface="Times New Roman" pitchFamily="18" charset="0"/>
                <a:cs typeface="Times New Roman" pitchFamily="18" charset="0"/>
              </a:rPr>
              <a:t>Sales forecasting</a:t>
            </a:r>
          </a:p>
          <a:p>
            <a:pPr marL="514350" indent="-514350">
              <a:buFont typeface="+mj-lt"/>
              <a:buAutoNum type="arabicPeriod"/>
            </a:pPr>
            <a:r>
              <a:rPr lang="en-US" sz="2400" dirty="0">
                <a:latin typeface="Times New Roman" pitchFamily="18" charset="0"/>
                <a:cs typeface="Times New Roman" pitchFamily="18" charset="0"/>
              </a:rPr>
              <a:t>Advertising</a:t>
            </a:r>
          </a:p>
          <a:p>
            <a:pPr marL="514350" indent="-514350">
              <a:buFont typeface="+mj-lt"/>
              <a:buAutoNum type="arabicPeriod"/>
            </a:pPr>
            <a:r>
              <a:rPr lang="en-US" sz="2400" dirty="0">
                <a:latin typeface="Times New Roman" pitchFamily="18" charset="0"/>
                <a:cs typeface="Times New Roman" pitchFamily="18" charset="0"/>
              </a:rPr>
              <a:t>Sales promotion</a:t>
            </a:r>
          </a:p>
          <a:p>
            <a:pPr marL="514350" indent="-514350">
              <a:buFont typeface="+mj-lt"/>
              <a:buAutoNum type="arabicPeriod"/>
            </a:pPr>
            <a:r>
              <a:rPr lang="en-US" sz="2400" dirty="0">
                <a:latin typeface="Times New Roman" pitchFamily="18" charset="0"/>
                <a:cs typeface="Times New Roman" pitchFamily="18" charset="0"/>
              </a:rPr>
              <a:t>Selling</a:t>
            </a:r>
          </a:p>
          <a:p>
            <a:pPr marL="514350" indent="-514350">
              <a:buFont typeface="+mj-lt"/>
              <a:buAutoNum type="arabicPeriod"/>
            </a:pPr>
            <a:r>
              <a:rPr lang="en-US" sz="2400" dirty="0">
                <a:latin typeface="Times New Roman" pitchFamily="18" charset="0"/>
                <a:cs typeface="Times New Roman" pitchFamily="18" charset="0"/>
              </a:rPr>
              <a:t>Handling of inquiries and orders from customers</a:t>
            </a:r>
          </a:p>
          <a:p>
            <a:pPr marL="514350" indent="-514350">
              <a:buFont typeface="+mj-lt"/>
              <a:buAutoNum type="arabicPeriod"/>
            </a:pPr>
            <a:r>
              <a:rPr lang="en-US" sz="2400" dirty="0">
                <a:latin typeface="Times New Roman" pitchFamily="18" charset="0"/>
                <a:cs typeface="Times New Roman" pitchFamily="18" charset="0"/>
              </a:rPr>
              <a:t>Packaging</a:t>
            </a:r>
          </a:p>
          <a:p>
            <a:pPr marL="514350" indent="-514350">
              <a:buFont typeface="+mj-lt"/>
              <a:buAutoNum type="arabicPeriod"/>
            </a:pPr>
            <a:r>
              <a:rPr lang="en-US" sz="2400" dirty="0">
                <a:latin typeface="Times New Roman" pitchFamily="18" charset="0"/>
                <a:cs typeface="Times New Roman" pitchFamily="18" charset="0"/>
              </a:rPr>
              <a:t>Servicing</a:t>
            </a:r>
          </a:p>
        </p:txBody>
      </p:sp>
      <p:sp>
        <p:nvSpPr>
          <p:cNvPr id="4" name="Slide Number Placeholder 3">
            <a:extLst>
              <a:ext uri="{FF2B5EF4-FFF2-40B4-BE49-F238E27FC236}">
                <a16:creationId xmlns:a16="http://schemas.microsoft.com/office/drawing/2014/main" id="{926E608B-3125-8093-E633-280876C085A7}"/>
              </a:ext>
            </a:extLst>
          </p:cNvPr>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Marketing Research</a:t>
            </a:r>
          </a:p>
        </p:txBody>
      </p:sp>
      <p:sp>
        <p:nvSpPr>
          <p:cNvPr id="3" name="Content Placeholder 2"/>
          <p:cNvSpPr>
            <a:spLocks noGrp="1"/>
          </p:cNvSpPr>
          <p:nvPr>
            <p:ph idx="1"/>
          </p:nvPr>
        </p:nvSpPr>
        <p:spPr/>
        <p:txBody>
          <a:bodyPr>
            <a:normAutofit/>
          </a:bodyPr>
          <a:lstStyle/>
          <a:p>
            <a:pPr>
              <a:spcBef>
                <a:spcPts val="600"/>
              </a:spcBef>
              <a:spcAft>
                <a:spcPts val="600"/>
              </a:spcAft>
            </a:pPr>
            <a:r>
              <a:rPr lang="en-US" sz="2400" dirty="0">
                <a:latin typeface="Times New Roman" pitchFamily="18" charset="0"/>
                <a:cs typeface="Times New Roman" pitchFamily="18" charset="0"/>
              </a:rPr>
              <a:t>Marketing research may be defined as an organization wide approach which includes all research activities involved in marketing problems.</a:t>
            </a:r>
          </a:p>
          <a:p>
            <a:pPr>
              <a:spcBef>
                <a:spcPts val="600"/>
              </a:spcBef>
              <a:spcAft>
                <a:spcPts val="600"/>
              </a:spcAft>
            </a:pPr>
            <a:r>
              <a:rPr lang="en-US" sz="2400" dirty="0">
                <a:latin typeface="Times New Roman" pitchFamily="18" charset="0"/>
                <a:cs typeface="Times New Roman" pitchFamily="18" charset="0"/>
              </a:rPr>
              <a:t>Market research provides an effective sales forecast.</a:t>
            </a:r>
          </a:p>
          <a:p>
            <a:pPr>
              <a:spcBef>
                <a:spcPts val="600"/>
              </a:spcBef>
              <a:spcAft>
                <a:spcPts val="600"/>
              </a:spcAft>
            </a:pPr>
            <a:r>
              <a:rPr lang="en-US" sz="2400" dirty="0">
                <a:latin typeface="Times New Roman" pitchFamily="18" charset="0"/>
                <a:cs typeface="Times New Roman" pitchFamily="18" charset="0"/>
              </a:rPr>
              <a:t>Market research promotes soundness of marketing decision.</a:t>
            </a:r>
          </a:p>
        </p:txBody>
      </p:sp>
      <p:sp>
        <p:nvSpPr>
          <p:cNvPr id="4" name="Slide Number Placeholder 3">
            <a:extLst>
              <a:ext uri="{FF2B5EF4-FFF2-40B4-BE49-F238E27FC236}">
                <a16:creationId xmlns:a16="http://schemas.microsoft.com/office/drawing/2014/main" id="{CBB8618B-B6AB-64BD-2717-FA6D6E2DBB11}"/>
              </a:ext>
            </a:extLst>
          </p:cNvPr>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Objectives of marketing Research</a:t>
            </a:r>
          </a:p>
        </p:txBody>
      </p:sp>
      <p:sp>
        <p:nvSpPr>
          <p:cNvPr id="3" name="Content Placeholder 2"/>
          <p:cNvSpPr>
            <a:spLocks noGrp="1"/>
          </p:cNvSpPr>
          <p:nvPr>
            <p:ph idx="1"/>
          </p:nvPr>
        </p:nvSpPr>
        <p:spPr/>
        <p:txBody>
          <a:bodyPr>
            <a:normAutofit fontScale="62500" lnSpcReduction="20000"/>
          </a:bodyPr>
          <a:lstStyle/>
          <a:p>
            <a:r>
              <a:rPr lang="en-US" dirty="0">
                <a:latin typeface="Times New Roman" pitchFamily="18" charset="0"/>
                <a:cs typeface="Times New Roman" pitchFamily="18" charset="0"/>
              </a:rPr>
              <a:t>Determines who and where the customer is; what is his needs and wants; what will he buy; where and how he will buy; and how much he will pay.</a:t>
            </a:r>
          </a:p>
          <a:p>
            <a:r>
              <a:rPr lang="en-US" dirty="0">
                <a:latin typeface="Times New Roman" pitchFamily="18" charset="0"/>
                <a:cs typeface="Times New Roman" pitchFamily="18" charset="0"/>
              </a:rPr>
              <a:t>Tells the future of existing products</a:t>
            </a:r>
          </a:p>
          <a:p>
            <a:r>
              <a:rPr lang="en-US" dirty="0">
                <a:latin typeface="Times New Roman" pitchFamily="18" charset="0"/>
                <a:cs typeface="Times New Roman" pitchFamily="18" charset="0"/>
              </a:rPr>
              <a:t>Measures sale trends and sales potential</a:t>
            </a:r>
          </a:p>
          <a:p>
            <a:r>
              <a:rPr lang="en-US" dirty="0">
                <a:latin typeface="Times New Roman" pitchFamily="18" charset="0"/>
                <a:cs typeface="Times New Roman" pitchFamily="18" charset="0"/>
              </a:rPr>
              <a:t>Analyze distribution, economic trends and profitability.</a:t>
            </a:r>
          </a:p>
          <a:p>
            <a:r>
              <a:rPr lang="en-US" dirty="0">
                <a:latin typeface="Times New Roman" pitchFamily="18" charset="0"/>
                <a:cs typeface="Times New Roman" pitchFamily="18" charset="0"/>
              </a:rPr>
              <a:t>Determine advertising effectiveness, customer reaction and dealer reaction</a:t>
            </a:r>
          </a:p>
          <a:p>
            <a:r>
              <a:rPr lang="en-US" dirty="0">
                <a:latin typeface="Times New Roman" pitchFamily="18" charset="0"/>
                <a:cs typeface="Times New Roman" pitchFamily="18" charset="0"/>
              </a:rPr>
              <a:t>Studies market potential and market share</a:t>
            </a:r>
          </a:p>
          <a:p>
            <a:r>
              <a:rPr lang="en-US" dirty="0">
                <a:latin typeface="Times New Roman" pitchFamily="18" charset="0"/>
                <a:cs typeface="Times New Roman" pitchFamily="18" charset="0"/>
              </a:rPr>
              <a:t>Conduct demand and price studies</a:t>
            </a:r>
          </a:p>
          <a:p>
            <a:r>
              <a:rPr lang="en-US" dirty="0">
                <a:latin typeface="Times New Roman" pitchFamily="18" charset="0"/>
                <a:cs typeface="Times New Roman" pitchFamily="18" charset="0"/>
              </a:rPr>
              <a:t>Keeps a business in touch with its markets.</a:t>
            </a:r>
          </a:p>
          <a:p>
            <a:r>
              <a:rPr lang="en-US" dirty="0">
                <a:latin typeface="Times New Roman" pitchFamily="18" charset="0"/>
                <a:cs typeface="Times New Roman" pitchFamily="18" charset="0"/>
              </a:rPr>
              <a:t>Explores new markets and helps developing new products</a:t>
            </a:r>
          </a:p>
          <a:p>
            <a:r>
              <a:rPr lang="en-US" dirty="0">
                <a:latin typeface="Times New Roman" pitchFamily="18" charset="0"/>
                <a:cs typeface="Times New Roman" pitchFamily="18" charset="0"/>
              </a:rPr>
              <a:t>Safeguards the interests of the company against </a:t>
            </a:r>
            <a:r>
              <a:rPr lang="en-US" dirty="0" err="1">
                <a:latin typeface="Times New Roman" pitchFamily="18" charset="0"/>
                <a:cs typeface="Times New Roman" pitchFamily="18" charset="0"/>
              </a:rPr>
              <a:t>unforseen</a:t>
            </a:r>
            <a:r>
              <a:rPr lang="en-US" dirty="0">
                <a:latin typeface="Times New Roman" pitchFamily="18" charset="0"/>
                <a:cs typeface="Times New Roman" pitchFamily="18" charset="0"/>
              </a:rPr>
              <a:t> changes in the market.</a:t>
            </a:r>
          </a:p>
          <a:p>
            <a:r>
              <a:rPr lang="en-US" dirty="0">
                <a:latin typeface="Times New Roman" pitchFamily="18" charset="0"/>
                <a:cs typeface="Times New Roman" pitchFamily="18" charset="0"/>
              </a:rPr>
              <a:t>Guides sales promotion efforts.</a:t>
            </a:r>
          </a:p>
          <a:p>
            <a:r>
              <a:rPr lang="en-US" dirty="0">
                <a:latin typeface="Times New Roman" pitchFamily="18" charset="0"/>
                <a:cs typeface="Times New Roman" pitchFamily="18" charset="0"/>
              </a:rPr>
              <a:t>Analyze user characteristics, attitudes and opinion.</a:t>
            </a:r>
          </a:p>
        </p:txBody>
      </p:sp>
      <p:sp>
        <p:nvSpPr>
          <p:cNvPr id="4" name="Slide Number Placeholder 3">
            <a:extLst>
              <a:ext uri="{FF2B5EF4-FFF2-40B4-BE49-F238E27FC236}">
                <a16:creationId xmlns:a16="http://schemas.microsoft.com/office/drawing/2014/main" id="{CDB21E2B-2307-1545-2DD9-273568A93D16}"/>
              </a:ext>
            </a:extLst>
          </p:cNvPr>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Scope of MR</a:t>
            </a:r>
          </a:p>
        </p:txBody>
      </p:sp>
      <p:sp>
        <p:nvSpPr>
          <p:cNvPr id="3" name="Content Placeholder 2"/>
          <p:cNvSpPr>
            <a:spLocks noGrp="1"/>
          </p:cNvSpPr>
          <p:nvPr>
            <p:ph idx="1"/>
          </p:nvPr>
        </p:nvSpPr>
        <p:spPr/>
        <p:txBody>
          <a:bodyPr>
            <a:normAutofit fontScale="77500" lnSpcReduction="20000"/>
          </a:bodyPr>
          <a:lstStyle/>
          <a:p>
            <a:pPr marL="514350" indent="-514350">
              <a:buFont typeface="+mj-lt"/>
              <a:buAutoNum type="arabicPeriod"/>
            </a:pPr>
            <a:r>
              <a:rPr lang="en-US" dirty="0">
                <a:latin typeface="Times New Roman" pitchFamily="18" charset="0"/>
                <a:cs typeface="Times New Roman" pitchFamily="18" charset="0"/>
              </a:rPr>
              <a:t>Measurement of market potential</a:t>
            </a:r>
          </a:p>
          <a:p>
            <a:pPr marL="514350" indent="-514350">
              <a:buFont typeface="+mj-lt"/>
              <a:buAutoNum type="arabicPeriod"/>
            </a:pPr>
            <a:r>
              <a:rPr lang="en-US" dirty="0">
                <a:latin typeface="Times New Roman" pitchFamily="18" charset="0"/>
                <a:cs typeface="Times New Roman" pitchFamily="18" charset="0"/>
              </a:rPr>
              <a:t>Determination of market characteristics</a:t>
            </a:r>
          </a:p>
          <a:p>
            <a:pPr marL="514350" indent="-514350">
              <a:buFont typeface="+mj-lt"/>
              <a:buAutoNum type="arabicPeriod"/>
            </a:pPr>
            <a:r>
              <a:rPr lang="en-US" dirty="0">
                <a:latin typeface="Times New Roman" pitchFamily="18" charset="0"/>
                <a:cs typeface="Times New Roman" pitchFamily="18" charset="0"/>
              </a:rPr>
              <a:t>Market share analysis</a:t>
            </a:r>
          </a:p>
          <a:p>
            <a:pPr marL="514350" indent="-514350">
              <a:buFont typeface="+mj-lt"/>
              <a:buAutoNum type="arabicPeriod"/>
            </a:pPr>
            <a:r>
              <a:rPr lang="en-US" dirty="0">
                <a:latin typeface="Times New Roman" pitchFamily="18" charset="0"/>
                <a:cs typeface="Times New Roman" pitchFamily="18" charset="0"/>
              </a:rPr>
              <a:t>Competitive product studies</a:t>
            </a:r>
          </a:p>
          <a:p>
            <a:pPr marL="514350" indent="-514350">
              <a:buFont typeface="+mj-lt"/>
              <a:buAutoNum type="arabicPeriod"/>
            </a:pPr>
            <a:r>
              <a:rPr lang="en-US" dirty="0">
                <a:latin typeface="Times New Roman" pitchFamily="18" charset="0"/>
                <a:cs typeface="Times New Roman" pitchFamily="18" charset="0"/>
              </a:rPr>
              <a:t>New product acceptance</a:t>
            </a:r>
          </a:p>
          <a:p>
            <a:pPr marL="514350" indent="-514350">
              <a:buFont typeface="+mj-lt"/>
              <a:buAutoNum type="arabicPeriod"/>
            </a:pPr>
            <a:r>
              <a:rPr lang="en-US" dirty="0">
                <a:latin typeface="Times New Roman" pitchFamily="18" charset="0"/>
                <a:cs typeface="Times New Roman" pitchFamily="18" charset="0"/>
              </a:rPr>
              <a:t>Product mix studies</a:t>
            </a:r>
          </a:p>
          <a:p>
            <a:pPr marL="514350" indent="-514350">
              <a:buFont typeface="+mj-lt"/>
              <a:buAutoNum type="arabicPeriod"/>
            </a:pPr>
            <a:r>
              <a:rPr lang="en-US" dirty="0">
                <a:latin typeface="Times New Roman" pitchFamily="18" charset="0"/>
                <a:cs typeface="Times New Roman" pitchFamily="18" charset="0"/>
              </a:rPr>
              <a:t>Media research</a:t>
            </a:r>
          </a:p>
          <a:p>
            <a:pPr marL="514350" indent="-514350">
              <a:buFont typeface="+mj-lt"/>
              <a:buAutoNum type="arabicPeriod"/>
            </a:pPr>
            <a:r>
              <a:rPr lang="en-US" dirty="0">
                <a:latin typeface="Times New Roman" pitchFamily="18" charset="0"/>
                <a:cs typeface="Times New Roman" pitchFamily="18" charset="0"/>
              </a:rPr>
              <a:t>Pricing studies</a:t>
            </a:r>
          </a:p>
          <a:p>
            <a:pPr marL="514350" indent="-514350">
              <a:buFont typeface="+mj-lt"/>
              <a:buAutoNum type="arabicPeriod"/>
            </a:pPr>
            <a:r>
              <a:rPr lang="en-US" dirty="0">
                <a:latin typeface="Times New Roman" pitchFamily="18" charset="0"/>
                <a:cs typeface="Times New Roman" pitchFamily="18" charset="0"/>
              </a:rPr>
              <a:t>Plant and warehouse location studies</a:t>
            </a:r>
          </a:p>
          <a:p>
            <a:pPr marL="514350" indent="-514350">
              <a:buFont typeface="+mj-lt"/>
              <a:buAutoNum type="arabicPeriod"/>
            </a:pPr>
            <a:r>
              <a:rPr lang="en-US" dirty="0">
                <a:latin typeface="Times New Roman" pitchFamily="18" charset="0"/>
                <a:cs typeface="Times New Roman" pitchFamily="18" charset="0"/>
              </a:rPr>
              <a:t>Packaging research</a:t>
            </a:r>
          </a:p>
          <a:p>
            <a:pPr marL="514350" indent="-514350">
              <a:buFont typeface="+mj-lt"/>
              <a:buAutoNum type="arabicPeriod"/>
            </a:pPr>
            <a:r>
              <a:rPr lang="en-US" dirty="0">
                <a:latin typeface="Times New Roman" pitchFamily="18" charset="0"/>
                <a:cs typeface="Times New Roman" pitchFamily="18" charset="0"/>
              </a:rPr>
              <a:t>Distribution channel studies.</a:t>
            </a:r>
          </a:p>
        </p:txBody>
      </p:sp>
      <p:sp>
        <p:nvSpPr>
          <p:cNvPr id="4" name="Slide Number Placeholder 3">
            <a:extLst>
              <a:ext uri="{FF2B5EF4-FFF2-40B4-BE49-F238E27FC236}">
                <a16:creationId xmlns:a16="http://schemas.microsoft.com/office/drawing/2014/main" id="{D0E98BB4-2E67-4621-FF07-35FC341EE7A8}"/>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Market research procedure</a:t>
            </a:r>
          </a:p>
        </p:txBody>
      </p:sp>
      <p:sp>
        <p:nvSpPr>
          <p:cNvPr id="3" name="Content Placeholder 2"/>
          <p:cNvSpPr>
            <a:spLocks noGrp="1"/>
          </p:cNvSpPr>
          <p:nvPr>
            <p:ph idx="1"/>
          </p:nvPr>
        </p:nvSpPr>
        <p:spPr/>
        <p:txBody>
          <a:bodyPr>
            <a:normAutofit/>
          </a:bodyPr>
          <a:lstStyle/>
          <a:p>
            <a:pPr>
              <a:spcBef>
                <a:spcPts val="600"/>
              </a:spcBef>
              <a:spcAft>
                <a:spcPts val="600"/>
              </a:spcAft>
            </a:pPr>
            <a:r>
              <a:rPr lang="en-US" sz="2800" dirty="0">
                <a:latin typeface="Times New Roman" pitchFamily="18" charset="0"/>
                <a:cs typeface="Times New Roman" pitchFamily="18" charset="0"/>
              </a:rPr>
              <a:t>Define the problem clearly</a:t>
            </a:r>
          </a:p>
          <a:p>
            <a:pPr>
              <a:spcBef>
                <a:spcPts val="600"/>
              </a:spcBef>
              <a:spcAft>
                <a:spcPts val="600"/>
              </a:spcAft>
            </a:pPr>
            <a:r>
              <a:rPr lang="en-US" sz="2800" dirty="0">
                <a:latin typeface="Times New Roman" pitchFamily="18" charset="0"/>
                <a:cs typeface="Times New Roman" pitchFamily="18" charset="0"/>
              </a:rPr>
              <a:t>Develop a clear set of research objectives</a:t>
            </a:r>
          </a:p>
          <a:p>
            <a:pPr>
              <a:spcBef>
                <a:spcPts val="600"/>
              </a:spcBef>
              <a:spcAft>
                <a:spcPts val="600"/>
              </a:spcAft>
            </a:pPr>
            <a:r>
              <a:rPr lang="en-US" sz="2800" dirty="0">
                <a:latin typeface="Times New Roman" pitchFamily="18" charset="0"/>
                <a:cs typeface="Times New Roman" pitchFamily="18" charset="0"/>
              </a:rPr>
              <a:t>Supervise or subcontract the task of collecting the data from existing consumers.</a:t>
            </a:r>
          </a:p>
          <a:p>
            <a:pPr>
              <a:spcBef>
                <a:spcPts val="600"/>
              </a:spcBef>
              <a:spcAft>
                <a:spcPts val="600"/>
              </a:spcAft>
            </a:pPr>
            <a:r>
              <a:rPr lang="en-US" sz="2800" dirty="0">
                <a:latin typeface="Times New Roman" pitchFamily="18" charset="0"/>
                <a:cs typeface="Times New Roman" pitchFamily="18" charset="0"/>
              </a:rPr>
              <a:t>Extract meaningful information from the collected data.</a:t>
            </a:r>
          </a:p>
          <a:p>
            <a:pPr>
              <a:spcBef>
                <a:spcPts val="600"/>
              </a:spcBef>
              <a:spcAft>
                <a:spcPts val="600"/>
              </a:spcAft>
            </a:pPr>
            <a:r>
              <a:rPr lang="en-US" sz="2800" dirty="0">
                <a:latin typeface="Times New Roman" pitchFamily="18" charset="0"/>
                <a:cs typeface="Times New Roman" pitchFamily="18" charset="0"/>
              </a:rPr>
              <a:t>Prepare a report presenting the major findings and recommendation coming from the study.</a:t>
            </a:r>
          </a:p>
        </p:txBody>
      </p:sp>
      <p:sp>
        <p:nvSpPr>
          <p:cNvPr id="4" name="Slide Number Placeholder 3">
            <a:extLst>
              <a:ext uri="{FF2B5EF4-FFF2-40B4-BE49-F238E27FC236}">
                <a16:creationId xmlns:a16="http://schemas.microsoft.com/office/drawing/2014/main" id="{DC556B69-96F2-7E1C-8E97-3F97F8E31E66}"/>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Techniques of Marketing Research</a:t>
            </a:r>
          </a:p>
        </p:txBody>
      </p:sp>
      <p:sp>
        <p:nvSpPr>
          <p:cNvPr id="3" name="Content Placeholder 2"/>
          <p:cNvSpPr>
            <a:spLocks noGrp="1"/>
          </p:cNvSpPr>
          <p:nvPr>
            <p:ph idx="1"/>
          </p:nvPr>
        </p:nvSpPr>
        <p:spPr>
          <a:xfrm>
            <a:off x="457200" y="1600200"/>
            <a:ext cx="8382000" cy="4953000"/>
          </a:xfrm>
        </p:spPr>
        <p:txBody>
          <a:bodyPr>
            <a:noAutofit/>
          </a:bodyPr>
          <a:lstStyle/>
          <a:p>
            <a:pPr marL="514350" indent="-514350">
              <a:buFont typeface="+mj-lt"/>
              <a:buAutoNum type="arabicPeriod"/>
            </a:pPr>
            <a:r>
              <a:rPr lang="en-US" sz="2400" b="1" dirty="0">
                <a:latin typeface="Times New Roman" pitchFamily="18" charset="0"/>
                <a:cs typeface="Times New Roman" pitchFamily="18" charset="0"/>
              </a:rPr>
              <a:t>Desk research</a:t>
            </a:r>
          </a:p>
          <a:p>
            <a:pPr marL="514350" indent="-514350">
              <a:buFont typeface="Wingdings" pitchFamily="2" charset="2"/>
              <a:buChar char="Ø"/>
            </a:pPr>
            <a:r>
              <a:rPr lang="en-US" sz="2400" dirty="0">
                <a:latin typeface="Times New Roman" pitchFamily="18" charset="0"/>
                <a:cs typeface="Times New Roman" pitchFamily="18" charset="0"/>
              </a:rPr>
              <a:t>Data is collected from the information published by the company or outside sources.</a:t>
            </a:r>
          </a:p>
          <a:p>
            <a:pPr marL="514350" indent="-514350">
              <a:buFont typeface="Wingdings" pitchFamily="2" charset="2"/>
              <a:buChar char="Ø"/>
            </a:pPr>
            <a:r>
              <a:rPr lang="en-US" sz="2400" dirty="0">
                <a:latin typeface="Times New Roman" pitchFamily="18" charset="0"/>
                <a:cs typeface="Times New Roman" pitchFamily="18" charset="0"/>
              </a:rPr>
              <a:t>Desk research is done on:</a:t>
            </a:r>
          </a:p>
          <a:p>
            <a:pPr marL="914400" lvl="1" indent="-514350">
              <a:buFont typeface="+mj-lt"/>
              <a:buAutoNum type="alphaLcPeriod"/>
            </a:pPr>
            <a:r>
              <a:rPr lang="en-US" sz="2400" b="1" dirty="0">
                <a:latin typeface="Times New Roman" pitchFamily="18" charset="0"/>
                <a:cs typeface="Times New Roman" pitchFamily="18" charset="0"/>
              </a:rPr>
              <a:t>Sales analysis</a:t>
            </a:r>
            <a:endParaRPr lang="en-US" sz="2400" dirty="0">
              <a:latin typeface="Times New Roman" pitchFamily="18" charset="0"/>
              <a:cs typeface="Times New Roman" pitchFamily="18" charset="0"/>
            </a:endParaRPr>
          </a:p>
          <a:p>
            <a:pPr lvl="2">
              <a:buFont typeface="Wingdings" pitchFamily="2" charset="2"/>
              <a:buChar char="Ø"/>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i.e</a:t>
            </a:r>
            <a:r>
              <a:rPr lang="en-US" dirty="0">
                <a:latin typeface="Times New Roman" pitchFamily="18" charset="0"/>
                <a:cs typeface="Times New Roman" pitchFamily="18" charset="0"/>
              </a:rPr>
              <a:t> past sales, fluctuations sales etc.</a:t>
            </a:r>
          </a:p>
          <a:p>
            <a:pPr marL="914400" lvl="1" indent="-514350">
              <a:buFont typeface="+mj-lt"/>
              <a:buAutoNum type="alphaLcPeriod" startAt="2"/>
            </a:pPr>
            <a:r>
              <a:rPr lang="en-US" sz="2400" b="1" dirty="0">
                <a:latin typeface="Times New Roman" pitchFamily="18" charset="0"/>
                <a:cs typeface="Times New Roman" pitchFamily="18" charset="0"/>
              </a:rPr>
              <a:t>Correlation studies </a:t>
            </a:r>
          </a:p>
          <a:p>
            <a:pPr lvl="2">
              <a:buFont typeface="Wingdings" pitchFamily="2" charset="2"/>
              <a:buChar char="Ø"/>
            </a:pPr>
            <a:r>
              <a:rPr lang="en-US" dirty="0">
                <a:latin typeface="Times New Roman" pitchFamily="18" charset="0"/>
                <a:cs typeface="Times New Roman" pitchFamily="18" charset="0"/>
              </a:rPr>
              <a:t>i.e. number of new cars produced and number of car batteries sold</a:t>
            </a:r>
            <a:r>
              <a:rPr lang="en-US" sz="2000" dirty="0">
                <a:latin typeface="Times New Roman" pitchFamily="18" charset="0"/>
                <a:cs typeface="Times New Roman" pitchFamily="18" charset="0"/>
              </a:rPr>
              <a:t>.</a:t>
            </a:r>
          </a:p>
          <a:p>
            <a:pPr marL="914400" lvl="1" indent="-514350">
              <a:buFont typeface="+mj-lt"/>
              <a:buAutoNum type="alphaLcPeriod" startAt="3"/>
            </a:pPr>
            <a:r>
              <a:rPr lang="en-US" sz="2400" b="1" dirty="0">
                <a:latin typeface="Times New Roman" pitchFamily="18" charset="0"/>
                <a:cs typeface="Times New Roman" pitchFamily="18" charset="0"/>
              </a:rPr>
              <a:t>Ratios</a:t>
            </a:r>
            <a:endParaRPr lang="en-US" sz="2400" dirty="0">
              <a:latin typeface="Times New Roman" pitchFamily="18" charset="0"/>
              <a:cs typeface="Times New Roman" pitchFamily="18" charset="0"/>
            </a:endParaRPr>
          </a:p>
          <a:p>
            <a:pPr lvl="2">
              <a:buFont typeface="Wingdings" pitchFamily="2" charset="2"/>
              <a:buChar char="Ø"/>
            </a:pPr>
            <a:r>
              <a:rPr lang="en-US" sz="2000" dirty="0">
                <a:latin typeface="Times New Roman" pitchFamily="18" charset="0"/>
                <a:cs typeface="Times New Roman" pitchFamily="18" charset="0"/>
              </a:rPr>
              <a:t> </a:t>
            </a:r>
            <a:r>
              <a:rPr lang="en-US" dirty="0">
                <a:latin typeface="Times New Roman" pitchFamily="18" charset="0"/>
                <a:cs typeface="Times New Roman" pitchFamily="18" charset="0"/>
              </a:rPr>
              <a:t>such as profit per dollar invested etc</a:t>
            </a:r>
            <a:r>
              <a:rPr lang="en-US" sz="2000"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FDCCA182-749F-0819-F7C5-267A8FE45D62}"/>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Techniques of Marketing Research</a:t>
            </a:r>
          </a:p>
        </p:txBody>
      </p:sp>
      <p:sp>
        <p:nvSpPr>
          <p:cNvPr id="3" name="Content Placeholder 2"/>
          <p:cNvSpPr>
            <a:spLocks noGrp="1"/>
          </p:cNvSpPr>
          <p:nvPr>
            <p:ph idx="1"/>
          </p:nvPr>
        </p:nvSpPr>
        <p:spPr>
          <a:xfrm>
            <a:off x="457200" y="1295400"/>
            <a:ext cx="8229600" cy="4525963"/>
          </a:xfrm>
        </p:spPr>
        <p:txBody>
          <a:bodyPr>
            <a:noAutofit/>
          </a:bodyPr>
          <a:lstStyle/>
          <a:p>
            <a:pPr marL="514350" indent="-514350" algn="just">
              <a:buNone/>
            </a:pPr>
            <a:r>
              <a:rPr lang="en-US" sz="2400" dirty="0">
                <a:latin typeface="Times New Roman" pitchFamily="18" charset="0"/>
                <a:cs typeface="Times New Roman" pitchFamily="18" charset="0"/>
              </a:rPr>
              <a:t>2.   </a:t>
            </a:r>
            <a:r>
              <a:rPr lang="en-US" sz="2400" b="1" dirty="0">
                <a:latin typeface="Times New Roman" pitchFamily="18" charset="0"/>
                <a:cs typeface="Times New Roman" pitchFamily="18" charset="0"/>
              </a:rPr>
              <a:t>Postal Questionnaire</a:t>
            </a:r>
          </a:p>
          <a:p>
            <a:pPr marL="514350" indent="-514350" algn="just">
              <a:buFont typeface="Wingdings" pitchFamily="2" charset="2"/>
              <a:buChar char="Ø"/>
            </a:pPr>
            <a:r>
              <a:rPr lang="en-US" sz="2400" dirty="0">
                <a:latin typeface="Times New Roman" pitchFamily="18" charset="0"/>
                <a:cs typeface="Times New Roman" pitchFamily="18" charset="0"/>
              </a:rPr>
              <a:t>Carefully prepared questionnaire consisting of questions-short, specific and statistical or open minded.</a:t>
            </a:r>
          </a:p>
          <a:p>
            <a:pPr marL="514350" indent="-514350" algn="just">
              <a:buNone/>
            </a:pPr>
            <a:r>
              <a:rPr lang="en-US" sz="2400" dirty="0">
                <a:latin typeface="Times New Roman" pitchFamily="18" charset="0"/>
                <a:cs typeface="Times New Roman" pitchFamily="18" charset="0"/>
              </a:rPr>
              <a:t>3.   </a:t>
            </a:r>
            <a:r>
              <a:rPr lang="en-US" sz="2400" b="1" dirty="0">
                <a:latin typeface="Times New Roman" pitchFamily="18" charset="0"/>
                <a:cs typeface="Times New Roman" pitchFamily="18" charset="0"/>
              </a:rPr>
              <a:t>Telephone interviews</a:t>
            </a:r>
          </a:p>
          <a:p>
            <a:pPr marL="514350" indent="-514350" algn="just">
              <a:buNone/>
            </a:pPr>
            <a:r>
              <a:rPr lang="en-US" sz="2400" dirty="0">
                <a:latin typeface="Times New Roman" pitchFamily="18" charset="0"/>
                <a:cs typeface="Times New Roman" pitchFamily="18" charset="0"/>
              </a:rPr>
              <a:t>4.   </a:t>
            </a:r>
            <a:r>
              <a:rPr lang="en-US" sz="2400" b="1" dirty="0">
                <a:latin typeface="Times New Roman" pitchFamily="18" charset="0"/>
                <a:cs typeface="Times New Roman" pitchFamily="18" charset="0"/>
              </a:rPr>
              <a:t>Personal Interviews</a:t>
            </a:r>
          </a:p>
          <a:p>
            <a:pPr marL="514350" indent="-514350" algn="just">
              <a:buNone/>
            </a:pPr>
            <a:r>
              <a:rPr lang="en-US" sz="2400" dirty="0">
                <a:latin typeface="Times New Roman" pitchFamily="18" charset="0"/>
                <a:cs typeface="Times New Roman" pitchFamily="18" charset="0"/>
              </a:rPr>
              <a:t>5.   </a:t>
            </a:r>
            <a:r>
              <a:rPr lang="en-US" sz="2400" b="1" dirty="0">
                <a:latin typeface="Times New Roman" pitchFamily="18" charset="0"/>
                <a:cs typeface="Times New Roman" pitchFamily="18" charset="0"/>
              </a:rPr>
              <a:t>Observational methods</a:t>
            </a:r>
          </a:p>
          <a:p>
            <a:pPr marL="514350" indent="-514350" algn="just">
              <a:buFont typeface="Wingdings" pitchFamily="2" charset="2"/>
              <a:buChar char="Ø"/>
            </a:pPr>
            <a:r>
              <a:rPr lang="en-US" sz="2400" dirty="0">
                <a:latin typeface="Times New Roman" pitchFamily="18" charset="0"/>
                <a:cs typeface="Times New Roman" pitchFamily="18" charset="0"/>
              </a:rPr>
              <a:t>Marketing research personnel silently observe others and collect the desired information</a:t>
            </a:r>
          </a:p>
          <a:p>
            <a:pPr marL="514350" indent="-514350" algn="just">
              <a:buNone/>
            </a:pPr>
            <a:r>
              <a:rPr lang="en-US" sz="2400" dirty="0">
                <a:latin typeface="Times New Roman" pitchFamily="18" charset="0"/>
                <a:cs typeface="Times New Roman" pitchFamily="18" charset="0"/>
              </a:rPr>
              <a:t>6.    </a:t>
            </a:r>
            <a:r>
              <a:rPr lang="en-US" sz="2400" b="1" dirty="0">
                <a:latin typeface="Times New Roman" pitchFamily="18" charset="0"/>
                <a:cs typeface="Times New Roman" pitchFamily="18" charset="0"/>
              </a:rPr>
              <a:t>Statistical methods</a:t>
            </a:r>
          </a:p>
          <a:p>
            <a:pPr marL="514350" indent="-514350" algn="just">
              <a:buFont typeface="Wingdings" pitchFamily="2" charset="2"/>
              <a:buChar char="Ø"/>
            </a:pPr>
            <a:r>
              <a:rPr lang="en-US" sz="2400" dirty="0">
                <a:latin typeface="Times New Roman" pitchFamily="18" charset="0"/>
                <a:cs typeface="Times New Roman" pitchFamily="18" charset="0"/>
              </a:rPr>
              <a:t>Use of large pre-collected data and logically conclude the market investigations.</a:t>
            </a:r>
          </a:p>
          <a:p>
            <a:pPr marL="514350" indent="-514350" algn="just">
              <a:buFont typeface="Wingdings" pitchFamily="2" charset="2"/>
              <a:buChar char="Ø"/>
            </a:pPr>
            <a:r>
              <a:rPr lang="en-US" sz="2400" dirty="0">
                <a:latin typeface="Times New Roman" pitchFamily="18" charset="0"/>
                <a:cs typeface="Times New Roman" pitchFamily="18" charset="0"/>
              </a:rPr>
              <a:t>Histogram, check sheet, frequency polygon and the concept of mean, median and standard deviation are used.</a:t>
            </a:r>
          </a:p>
        </p:txBody>
      </p:sp>
      <p:sp>
        <p:nvSpPr>
          <p:cNvPr id="4" name="Slide Number Placeholder 3">
            <a:extLst>
              <a:ext uri="{FF2B5EF4-FFF2-40B4-BE49-F238E27FC236}">
                <a16:creationId xmlns:a16="http://schemas.microsoft.com/office/drawing/2014/main" id="{AB502E70-0808-00DA-0B54-FCA589844CB7}"/>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en-US" altLang="en-US"/>
              <a:t>What is Marketed?</a:t>
            </a:r>
          </a:p>
        </p:txBody>
      </p:sp>
      <p:grpSp>
        <p:nvGrpSpPr>
          <p:cNvPr id="2" name="Group 3"/>
          <p:cNvGrpSpPr>
            <a:grpSpLocks/>
          </p:cNvGrpSpPr>
          <p:nvPr/>
        </p:nvGrpSpPr>
        <p:grpSpPr bwMode="auto">
          <a:xfrm>
            <a:off x="609600" y="1524000"/>
            <a:ext cx="8001000" cy="4764088"/>
            <a:chOff x="384" y="960"/>
            <a:chExt cx="5040" cy="3001"/>
          </a:xfrm>
        </p:grpSpPr>
        <p:sp>
          <p:nvSpPr>
            <p:cNvPr id="9221" name="AutoShape 4" descr="20797RTYRGB600"/>
            <p:cNvSpPr>
              <a:spLocks noChangeArrowheads="1"/>
            </p:cNvSpPr>
            <p:nvPr/>
          </p:nvSpPr>
          <p:spPr bwMode="auto">
            <a:xfrm>
              <a:off x="384" y="1152"/>
              <a:ext cx="2640" cy="2784"/>
            </a:xfrm>
            <a:prstGeom prst="rtTriangle">
              <a:avLst/>
            </a:prstGeom>
            <a:blipFill dpi="0" rotWithShape="1">
              <a:blip r:embed="rId3"/>
              <a:srcRect/>
              <a:stretch>
                <a:fillRect/>
              </a:stretch>
            </a:blipFill>
            <a:ln w="38100">
              <a:solidFill>
                <a:srgbClr val="CCCC00"/>
              </a:solidFill>
              <a:miter lim="800000"/>
              <a:headEnd/>
              <a:tailEnd/>
            </a:ln>
          </p:spPr>
          <p:txBody>
            <a:bodyPr wrap="none" anchor="ctr"/>
            <a:lstStyle/>
            <a:p>
              <a:pPr eaLnBrk="1" hangingPunct="1"/>
              <a:endParaRPr lang="en-US" sz="2400">
                <a:latin typeface="Times New Roman" pitchFamily="18" charset="0"/>
                <a:cs typeface="Times New Roman" pitchFamily="18" charset="0"/>
              </a:endParaRPr>
            </a:p>
          </p:txBody>
        </p:sp>
        <p:sp>
          <p:nvSpPr>
            <p:cNvPr id="16390" name="AutoShape 5"/>
            <p:cNvSpPr>
              <a:spLocks noChangeArrowheads="1"/>
            </p:cNvSpPr>
            <p:nvPr/>
          </p:nvSpPr>
          <p:spPr bwMode="auto">
            <a:xfrm>
              <a:off x="672" y="960"/>
              <a:ext cx="2448" cy="313"/>
            </a:xfrm>
            <a:prstGeom prst="roundRect">
              <a:avLst>
                <a:gd name="adj" fmla="val 50000"/>
              </a:avLst>
            </a:prstGeom>
            <a:solidFill>
              <a:srgbClr val="E3E3FF"/>
            </a:solidFill>
            <a:ln w="38100">
              <a:solidFill>
                <a:schemeClr val="tx1"/>
              </a:solidFill>
              <a:round/>
              <a:headEnd/>
              <a:tailEnd/>
            </a:ln>
            <a:effectLst>
              <a:outerShdw dist="53882" dir="2700000" algn="ctr" rotWithShape="0">
                <a:schemeClr val="tx1"/>
              </a:outerShdw>
            </a:effectLst>
          </p:spPr>
          <p:txBody>
            <a:bodyPr anchor="ctr"/>
            <a:lstStyle/>
            <a:p>
              <a:pPr algn="ctr" eaLnBrk="1" hangingPunct="1">
                <a:defRPr/>
              </a:pPr>
              <a:r>
                <a:rPr lang="en-US" altLang="en-US" sz="2400" dirty="0">
                  <a:latin typeface="Times New Roman" pitchFamily="18" charset="0"/>
                  <a:cs typeface="Times New Roman" pitchFamily="18" charset="0"/>
                </a:rPr>
                <a:t>Goods</a:t>
              </a:r>
            </a:p>
          </p:txBody>
        </p:sp>
        <p:sp>
          <p:nvSpPr>
            <p:cNvPr id="16391" name="AutoShape 6"/>
            <p:cNvSpPr>
              <a:spLocks noChangeArrowheads="1"/>
            </p:cNvSpPr>
            <p:nvPr/>
          </p:nvSpPr>
          <p:spPr bwMode="auto">
            <a:xfrm>
              <a:off x="1008" y="1344"/>
              <a:ext cx="2400" cy="314"/>
            </a:xfrm>
            <a:prstGeom prst="roundRect">
              <a:avLst>
                <a:gd name="adj" fmla="val 50000"/>
              </a:avLst>
            </a:prstGeom>
            <a:solidFill>
              <a:srgbClr val="E3E3FF"/>
            </a:solidFill>
            <a:ln w="38100">
              <a:solidFill>
                <a:schemeClr val="tx1"/>
              </a:solidFill>
              <a:round/>
              <a:headEnd/>
              <a:tailEnd/>
            </a:ln>
            <a:effectLst>
              <a:outerShdw dist="53882" dir="2700000" algn="ctr" rotWithShape="0">
                <a:schemeClr val="tx1"/>
              </a:outerShdw>
            </a:effectLst>
          </p:spPr>
          <p:txBody>
            <a:bodyPr anchor="ctr"/>
            <a:lstStyle/>
            <a:p>
              <a:pPr algn="ctr" eaLnBrk="1" hangingPunct="1">
                <a:defRPr/>
              </a:pPr>
              <a:r>
                <a:rPr lang="en-US" altLang="en-US" sz="2400">
                  <a:latin typeface="Times New Roman" pitchFamily="18" charset="0"/>
                  <a:cs typeface="Times New Roman" pitchFamily="18" charset="0"/>
                </a:rPr>
                <a:t>Services</a:t>
              </a:r>
            </a:p>
          </p:txBody>
        </p:sp>
        <p:sp>
          <p:nvSpPr>
            <p:cNvPr id="16392" name="AutoShape 7"/>
            <p:cNvSpPr>
              <a:spLocks noChangeArrowheads="1"/>
            </p:cNvSpPr>
            <p:nvPr/>
          </p:nvSpPr>
          <p:spPr bwMode="auto">
            <a:xfrm>
              <a:off x="1392" y="1728"/>
              <a:ext cx="2400" cy="313"/>
            </a:xfrm>
            <a:prstGeom prst="roundRect">
              <a:avLst>
                <a:gd name="adj" fmla="val 50000"/>
              </a:avLst>
            </a:prstGeom>
            <a:solidFill>
              <a:srgbClr val="E3E3FF"/>
            </a:solidFill>
            <a:ln w="38100">
              <a:solidFill>
                <a:schemeClr val="tx1"/>
              </a:solidFill>
              <a:round/>
              <a:headEnd/>
              <a:tailEnd/>
            </a:ln>
            <a:effectLst>
              <a:outerShdw dist="53882" dir="2700000" algn="ctr" rotWithShape="0">
                <a:schemeClr val="tx1"/>
              </a:outerShdw>
            </a:effectLst>
          </p:spPr>
          <p:txBody>
            <a:bodyPr anchor="ctr"/>
            <a:lstStyle/>
            <a:p>
              <a:pPr algn="ctr" eaLnBrk="1" hangingPunct="1">
                <a:defRPr/>
              </a:pPr>
              <a:r>
                <a:rPr lang="en-US" altLang="en-US" sz="2400">
                  <a:latin typeface="Times New Roman" pitchFamily="18" charset="0"/>
                  <a:cs typeface="Times New Roman" pitchFamily="18" charset="0"/>
                </a:rPr>
                <a:t>Events &amp; Experiences</a:t>
              </a:r>
            </a:p>
          </p:txBody>
        </p:sp>
        <p:sp>
          <p:nvSpPr>
            <p:cNvPr id="16393" name="AutoShape 8"/>
            <p:cNvSpPr>
              <a:spLocks noChangeArrowheads="1"/>
            </p:cNvSpPr>
            <p:nvPr/>
          </p:nvSpPr>
          <p:spPr bwMode="auto">
            <a:xfrm>
              <a:off x="1776" y="2112"/>
              <a:ext cx="2256" cy="314"/>
            </a:xfrm>
            <a:prstGeom prst="roundRect">
              <a:avLst>
                <a:gd name="adj" fmla="val 50000"/>
              </a:avLst>
            </a:prstGeom>
            <a:solidFill>
              <a:srgbClr val="E3E3FF"/>
            </a:solidFill>
            <a:ln w="38100">
              <a:solidFill>
                <a:schemeClr val="tx1"/>
              </a:solidFill>
              <a:round/>
              <a:headEnd/>
              <a:tailEnd/>
            </a:ln>
            <a:effectLst>
              <a:outerShdw dist="53882" dir="2700000" algn="ctr" rotWithShape="0">
                <a:schemeClr val="tx1"/>
              </a:outerShdw>
            </a:effectLst>
          </p:spPr>
          <p:txBody>
            <a:bodyPr anchor="ctr"/>
            <a:lstStyle/>
            <a:p>
              <a:pPr algn="ctr" eaLnBrk="1" hangingPunct="1">
                <a:defRPr/>
              </a:pPr>
              <a:r>
                <a:rPr lang="en-US" altLang="en-US" sz="2400">
                  <a:latin typeface="Times New Roman" pitchFamily="18" charset="0"/>
                  <a:cs typeface="Times New Roman" pitchFamily="18" charset="0"/>
                </a:rPr>
                <a:t>Persons</a:t>
              </a:r>
            </a:p>
          </p:txBody>
        </p:sp>
        <p:sp>
          <p:nvSpPr>
            <p:cNvPr id="16394" name="AutoShape 9"/>
            <p:cNvSpPr>
              <a:spLocks noChangeArrowheads="1"/>
            </p:cNvSpPr>
            <p:nvPr/>
          </p:nvSpPr>
          <p:spPr bwMode="auto">
            <a:xfrm>
              <a:off x="2112" y="2496"/>
              <a:ext cx="2256" cy="314"/>
            </a:xfrm>
            <a:prstGeom prst="roundRect">
              <a:avLst>
                <a:gd name="adj" fmla="val 50000"/>
              </a:avLst>
            </a:prstGeom>
            <a:solidFill>
              <a:srgbClr val="E3E3FF"/>
            </a:solidFill>
            <a:ln w="38100">
              <a:solidFill>
                <a:schemeClr val="tx1"/>
              </a:solidFill>
              <a:round/>
              <a:headEnd/>
              <a:tailEnd/>
            </a:ln>
            <a:effectLst>
              <a:outerShdw dist="53882" dir="2700000" algn="ctr" rotWithShape="0">
                <a:schemeClr val="tx1"/>
              </a:outerShdw>
            </a:effectLst>
          </p:spPr>
          <p:txBody>
            <a:bodyPr anchor="ctr"/>
            <a:lstStyle/>
            <a:p>
              <a:pPr algn="ctr" eaLnBrk="1" hangingPunct="1">
                <a:defRPr/>
              </a:pPr>
              <a:r>
                <a:rPr lang="en-US" altLang="en-US" sz="2400">
                  <a:latin typeface="Times New Roman" pitchFamily="18" charset="0"/>
                  <a:cs typeface="Times New Roman" pitchFamily="18" charset="0"/>
                </a:rPr>
                <a:t>Places &amp; Properties</a:t>
              </a:r>
            </a:p>
          </p:txBody>
        </p:sp>
        <p:sp>
          <p:nvSpPr>
            <p:cNvPr id="16395" name="AutoShape 10"/>
            <p:cNvSpPr>
              <a:spLocks noChangeArrowheads="1"/>
            </p:cNvSpPr>
            <p:nvPr/>
          </p:nvSpPr>
          <p:spPr bwMode="auto">
            <a:xfrm>
              <a:off x="2448" y="2880"/>
              <a:ext cx="2256" cy="314"/>
            </a:xfrm>
            <a:prstGeom prst="roundRect">
              <a:avLst>
                <a:gd name="adj" fmla="val 50000"/>
              </a:avLst>
            </a:prstGeom>
            <a:solidFill>
              <a:srgbClr val="E3E3FF"/>
            </a:solidFill>
            <a:ln w="38100">
              <a:solidFill>
                <a:schemeClr val="tx1"/>
              </a:solidFill>
              <a:round/>
              <a:headEnd/>
              <a:tailEnd/>
            </a:ln>
            <a:effectLst>
              <a:outerShdw dist="53882" dir="2700000" algn="ctr" rotWithShape="0">
                <a:schemeClr val="tx1"/>
              </a:outerShdw>
            </a:effectLst>
          </p:spPr>
          <p:txBody>
            <a:bodyPr anchor="ctr"/>
            <a:lstStyle/>
            <a:p>
              <a:pPr algn="ctr" eaLnBrk="1" hangingPunct="1">
                <a:defRPr/>
              </a:pPr>
              <a:r>
                <a:rPr lang="en-US" altLang="en-US" sz="2400">
                  <a:latin typeface="Times New Roman" pitchFamily="18" charset="0"/>
                  <a:cs typeface="Times New Roman" pitchFamily="18" charset="0"/>
                </a:rPr>
                <a:t>Organizations</a:t>
              </a:r>
            </a:p>
          </p:txBody>
        </p:sp>
        <p:sp>
          <p:nvSpPr>
            <p:cNvPr id="16396" name="AutoShape 11"/>
            <p:cNvSpPr>
              <a:spLocks noChangeArrowheads="1"/>
            </p:cNvSpPr>
            <p:nvPr/>
          </p:nvSpPr>
          <p:spPr bwMode="auto">
            <a:xfrm>
              <a:off x="2832" y="3264"/>
              <a:ext cx="2208" cy="313"/>
            </a:xfrm>
            <a:prstGeom prst="roundRect">
              <a:avLst>
                <a:gd name="adj" fmla="val 50000"/>
              </a:avLst>
            </a:prstGeom>
            <a:solidFill>
              <a:srgbClr val="E3E3FF"/>
            </a:solidFill>
            <a:ln w="38100">
              <a:solidFill>
                <a:schemeClr val="tx1"/>
              </a:solidFill>
              <a:round/>
              <a:headEnd/>
              <a:tailEnd/>
            </a:ln>
            <a:effectLst>
              <a:outerShdw dist="53882" dir="2700000" algn="ctr" rotWithShape="0">
                <a:schemeClr val="tx1"/>
              </a:outerShdw>
            </a:effectLst>
          </p:spPr>
          <p:txBody>
            <a:bodyPr anchor="ctr"/>
            <a:lstStyle/>
            <a:p>
              <a:pPr algn="ctr" eaLnBrk="1" hangingPunct="1">
                <a:defRPr/>
              </a:pPr>
              <a:r>
                <a:rPr lang="en-US" altLang="en-US" sz="2400">
                  <a:latin typeface="Times New Roman" pitchFamily="18" charset="0"/>
                  <a:cs typeface="Times New Roman" pitchFamily="18" charset="0"/>
                </a:rPr>
                <a:t>Information</a:t>
              </a:r>
            </a:p>
          </p:txBody>
        </p:sp>
        <p:sp>
          <p:nvSpPr>
            <p:cNvPr id="16397" name="AutoShape 12"/>
            <p:cNvSpPr>
              <a:spLocks noChangeArrowheads="1"/>
            </p:cNvSpPr>
            <p:nvPr/>
          </p:nvSpPr>
          <p:spPr bwMode="auto">
            <a:xfrm>
              <a:off x="3112" y="3648"/>
              <a:ext cx="2312" cy="313"/>
            </a:xfrm>
            <a:prstGeom prst="roundRect">
              <a:avLst>
                <a:gd name="adj" fmla="val 50000"/>
              </a:avLst>
            </a:prstGeom>
            <a:solidFill>
              <a:srgbClr val="E3E3FF"/>
            </a:solidFill>
            <a:ln w="38100">
              <a:solidFill>
                <a:schemeClr val="tx1"/>
              </a:solidFill>
              <a:round/>
              <a:headEnd/>
              <a:tailEnd/>
            </a:ln>
            <a:effectLst>
              <a:outerShdw dist="53882" dir="2700000" algn="ctr" rotWithShape="0">
                <a:schemeClr val="tx1"/>
              </a:outerShdw>
            </a:effectLst>
          </p:spPr>
          <p:txBody>
            <a:bodyPr anchor="ctr"/>
            <a:lstStyle/>
            <a:p>
              <a:pPr algn="ctr" eaLnBrk="1" hangingPunct="1">
                <a:defRPr/>
              </a:pPr>
              <a:r>
                <a:rPr lang="en-US" altLang="en-US" sz="2400">
                  <a:latin typeface="Times New Roman" pitchFamily="18" charset="0"/>
                  <a:cs typeface="Times New Roman" pitchFamily="18" charset="0"/>
                </a:rPr>
                <a:t>Ideas</a:t>
              </a:r>
            </a:p>
          </p:txBody>
        </p:sp>
      </p:grpSp>
      <p:sp>
        <p:nvSpPr>
          <p:cNvPr id="3" name="Slide Number Placeholder 2">
            <a:extLst>
              <a:ext uri="{FF2B5EF4-FFF2-40B4-BE49-F238E27FC236}">
                <a16:creationId xmlns:a16="http://schemas.microsoft.com/office/drawing/2014/main" id="{ACDE472B-EB06-E040-232C-CD9E4E002228}"/>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824675385"/>
      </p:ext>
    </p:ext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Marketed?</a:t>
            </a:r>
          </a:p>
        </p:txBody>
      </p:sp>
      <p:sp>
        <p:nvSpPr>
          <p:cNvPr id="3" name="Content Placeholder 2"/>
          <p:cNvSpPr>
            <a:spLocks noGrp="1"/>
          </p:cNvSpPr>
          <p:nvPr>
            <p:ph idx="1"/>
          </p:nvPr>
        </p:nvSpPr>
        <p:spPr>
          <a:xfrm>
            <a:off x="457200" y="1600200"/>
            <a:ext cx="8229600" cy="5029200"/>
          </a:xfrm>
        </p:spPr>
        <p:txBody>
          <a:bodyPr>
            <a:normAutofit fontScale="25000" lnSpcReduction="20000"/>
          </a:bodyPr>
          <a:lstStyle/>
          <a:p>
            <a:r>
              <a:rPr lang="en-US" sz="9600" b="1" dirty="0">
                <a:latin typeface="Times New Roman" pitchFamily="18" charset="0"/>
                <a:cs typeface="Times New Roman" panose="02020603050405020304" pitchFamily="18" charset="0"/>
              </a:rPr>
              <a:t>Goods: </a:t>
            </a:r>
            <a:r>
              <a:rPr lang="en-US" sz="9600" dirty="0">
                <a:latin typeface="Times New Roman" panose="02020603050405020304" pitchFamily="18" charset="0"/>
                <a:cs typeface="Times New Roman" panose="02020603050405020304" pitchFamily="18" charset="0"/>
              </a:rPr>
              <a:t>Physical goods constitute the bulk of most countries’ production and marketing efforts. Ex: refrigerators, televisions, machines.</a:t>
            </a:r>
          </a:p>
          <a:p>
            <a:pPr marL="0" indent="0">
              <a:buNone/>
            </a:pPr>
            <a:endParaRPr lang="en-US" sz="9600" dirty="0">
              <a:latin typeface="Times New Roman" panose="02020603050405020304" pitchFamily="18" charset="0"/>
              <a:cs typeface="Times New Roman" panose="02020603050405020304" pitchFamily="18" charset="0"/>
            </a:endParaRPr>
          </a:p>
          <a:p>
            <a:r>
              <a:rPr lang="en-US" sz="9600" b="1" dirty="0">
                <a:latin typeface="Times New Roman" panose="02020603050405020304" pitchFamily="18" charset="0"/>
                <a:cs typeface="Times New Roman" panose="02020603050405020304" pitchFamily="18" charset="0"/>
              </a:rPr>
              <a:t>Services</a:t>
            </a:r>
            <a:r>
              <a:rPr lang="en-US" sz="9600" dirty="0">
                <a:latin typeface="Times New Roman" panose="02020603050405020304" pitchFamily="18" charset="0"/>
                <a:cs typeface="Times New Roman" panose="02020603050405020304" pitchFamily="18" charset="0"/>
              </a:rPr>
              <a:t>: As economies advance, a growing proportion of their activities focuses on the production of services. Services include the work of airlines, hotels, car rental firms, barbers and beauticians, maintenance and repair people.</a:t>
            </a:r>
          </a:p>
          <a:p>
            <a:pPr marL="0" indent="0">
              <a:buNone/>
            </a:pPr>
            <a:endParaRPr lang="en-US" sz="9600" dirty="0">
              <a:latin typeface="Times New Roman" panose="02020603050405020304" pitchFamily="18" charset="0"/>
              <a:cs typeface="Times New Roman" panose="02020603050405020304" pitchFamily="18" charset="0"/>
            </a:endParaRPr>
          </a:p>
          <a:p>
            <a:r>
              <a:rPr lang="en-US" sz="9600" b="1" dirty="0">
                <a:latin typeface="Times New Roman" panose="02020603050405020304" pitchFamily="18" charset="0"/>
                <a:cs typeface="Times New Roman" panose="02020603050405020304" pitchFamily="18" charset="0"/>
              </a:rPr>
              <a:t>Events</a:t>
            </a:r>
            <a:r>
              <a:rPr lang="en-US" sz="9600" dirty="0">
                <a:latin typeface="Times New Roman" panose="02020603050405020304" pitchFamily="18" charset="0"/>
                <a:cs typeface="Times New Roman" panose="02020603050405020304" pitchFamily="18" charset="0"/>
              </a:rPr>
              <a:t> Marketers promote time-based events, such as major trade shows, artistic performances, and company</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anniversaries.</a:t>
            </a:r>
          </a:p>
          <a:p>
            <a:pPr marL="0" indent="0">
              <a:buNone/>
            </a:pPr>
            <a:endParaRPr lang="en-US" sz="9600" dirty="0">
              <a:latin typeface="Times New Roman" panose="02020603050405020304" pitchFamily="18" charset="0"/>
              <a:cs typeface="Times New Roman" panose="02020603050405020304" pitchFamily="18" charset="0"/>
            </a:endParaRPr>
          </a:p>
          <a:p>
            <a:r>
              <a:rPr lang="en-US" sz="9600" b="1" dirty="0">
                <a:latin typeface="Times New Roman" panose="02020603050405020304" pitchFamily="18" charset="0"/>
                <a:cs typeface="Times New Roman" panose="02020603050405020304" pitchFamily="18" charset="0"/>
              </a:rPr>
              <a:t>Experiences</a:t>
            </a:r>
            <a:r>
              <a:rPr lang="en-US" sz="9600" dirty="0">
                <a:latin typeface="Times New Roman" panose="02020603050405020304" pitchFamily="18" charset="0"/>
                <a:cs typeface="Times New Roman" panose="02020603050405020304" pitchFamily="18" charset="0"/>
              </a:rPr>
              <a:t> By orchestrating several services and goods, a firm can create, stage, and market experiences</a:t>
            </a:r>
            <a:br>
              <a:rPr lang="en-US" sz="6000"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0A55B292-D0A9-59EE-B4A3-D4DA99C8D9E7}"/>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239450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a:xfrm>
            <a:off x="457200" y="1600200"/>
            <a:ext cx="8229600" cy="4876800"/>
          </a:xfrm>
        </p:spPr>
        <p:txBody>
          <a:bodyPr>
            <a:normAutofit fontScale="25000" lnSpcReduction="20000"/>
          </a:bodyPr>
          <a:lstStyle/>
          <a:p>
            <a:r>
              <a:rPr lang="en-US" sz="9600" b="1" dirty="0">
                <a:latin typeface="Times New Roman" panose="02020603050405020304" pitchFamily="18" charset="0"/>
                <a:cs typeface="Times New Roman" panose="02020603050405020304" pitchFamily="18" charset="0"/>
              </a:rPr>
              <a:t>Persons</a:t>
            </a:r>
            <a:r>
              <a:rPr lang="en-US" sz="9600" dirty="0">
                <a:latin typeface="Times New Roman" panose="02020603050405020304" pitchFamily="18" charset="0"/>
                <a:cs typeface="Times New Roman" panose="02020603050405020304" pitchFamily="18" charset="0"/>
              </a:rPr>
              <a:t> Artists, musicians, CEOs, physicians, high-profile lawyers and financiers, and other professionals often get help from marketers</a:t>
            </a:r>
          </a:p>
          <a:p>
            <a:pPr marL="0" indent="0">
              <a:buNone/>
            </a:pPr>
            <a:endParaRPr lang="en-US" sz="9600" dirty="0">
              <a:latin typeface="Times New Roman" panose="02020603050405020304" pitchFamily="18" charset="0"/>
              <a:cs typeface="Times New Roman" panose="02020603050405020304" pitchFamily="18" charset="0"/>
            </a:endParaRPr>
          </a:p>
          <a:p>
            <a:r>
              <a:rPr lang="en-US" sz="9600" b="1" dirty="0">
                <a:latin typeface="Times New Roman" panose="02020603050405020304" pitchFamily="18" charset="0"/>
                <a:cs typeface="Times New Roman" panose="02020603050405020304" pitchFamily="18" charset="0"/>
              </a:rPr>
              <a:t>Places</a:t>
            </a:r>
            <a:r>
              <a:rPr lang="en-US" sz="9600" dirty="0">
                <a:latin typeface="Times New Roman" panose="02020603050405020304" pitchFamily="18" charset="0"/>
                <a:cs typeface="Times New Roman" panose="02020603050405020304" pitchFamily="18" charset="0"/>
              </a:rPr>
              <a:t> Cities, states, regions, and whole nations compete to attract tourists, residents, factories, and company headquarters</a:t>
            </a:r>
          </a:p>
          <a:p>
            <a:br>
              <a:rPr lang="en-US" sz="9600" dirty="0">
                <a:latin typeface="Times New Roman" panose="02020603050405020304" pitchFamily="18" charset="0"/>
                <a:cs typeface="Times New Roman" panose="02020603050405020304" pitchFamily="18" charset="0"/>
              </a:rPr>
            </a:br>
            <a:r>
              <a:rPr lang="en-US" sz="9600" b="1" dirty="0">
                <a:latin typeface="Times New Roman" panose="02020603050405020304" pitchFamily="18" charset="0"/>
                <a:cs typeface="Times New Roman" panose="02020603050405020304" pitchFamily="18" charset="0"/>
              </a:rPr>
              <a:t>Properties</a:t>
            </a:r>
            <a:r>
              <a:rPr lang="en-US" sz="9600" dirty="0">
                <a:latin typeface="Times New Roman" panose="02020603050405020304" pitchFamily="18" charset="0"/>
                <a:cs typeface="Times New Roman" panose="02020603050405020304" pitchFamily="18" charset="0"/>
              </a:rPr>
              <a:t> Properties are intangible rights of ownership to either real property (real estate) or financial</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property (stocks and bonds).</a:t>
            </a:r>
          </a:p>
          <a:p>
            <a:endParaRPr lang="en-US" sz="9600" dirty="0">
              <a:latin typeface="Times New Roman" panose="02020603050405020304" pitchFamily="18" charset="0"/>
              <a:cs typeface="Times New Roman" panose="02020603050405020304" pitchFamily="18" charset="0"/>
            </a:endParaRPr>
          </a:p>
          <a:p>
            <a:r>
              <a:rPr lang="en-US" sz="9600" b="1" dirty="0">
                <a:solidFill>
                  <a:srgbClr val="231F20"/>
                </a:solidFill>
                <a:latin typeface="Times New Roman" panose="02020603050405020304" pitchFamily="18" charset="0"/>
                <a:cs typeface="Times New Roman" panose="02020603050405020304" pitchFamily="18" charset="0"/>
              </a:rPr>
              <a:t>Organizations</a:t>
            </a:r>
            <a:r>
              <a:rPr lang="en-US" sz="9600" dirty="0">
                <a:solidFill>
                  <a:srgbClr val="231F20"/>
                </a:solidFill>
                <a:latin typeface="Times New Roman" panose="02020603050405020304" pitchFamily="18" charset="0"/>
                <a:cs typeface="Times New Roman" panose="02020603050405020304" pitchFamily="18" charset="0"/>
              </a:rPr>
              <a:t> Museums, performing arts organizations, corporations, and nonprofits all use marketing</a:t>
            </a:r>
            <a:br>
              <a:rPr lang="en-US" sz="9600" dirty="0">
                <a:solidFill>
                  <a:srgbClr val="231F20"/>
                </a:solidFill>
                <a:latin typeface="Times New Roman" panose="02020603050405020304" pitchFamily="18" charset="0"/>
                <a:cs typeface="Times New Roman" panose="02020603050405020304" pitchFamily="18" charset="0"/>
              </a:rPr>
            </a:br>
            <a:r>
              <a:rPr lang="en-US" sz="9600" dirty="0">
                <a:solidFill>
                  <a:srgbClr val="231F20"/>
                </a:solidFill>
                <a:latin typeface="Times New Roman" panose="02020603050405020304" pitchFamily="18" charset="0"/>
                <a:cs typeface="Times New Roman" panose="02020603050405020304" pitchFamily="18" charset="0"/>
              </a:rPr>
              <a:t>to boost their public images and compete for audiences and funds.</a:t>
            </a:r>
            <a:br>
              <a:rPr lang="en-US" sz="8000" dirty="0">
                <a:solidFill>
                  <a:srgbClr val="231F20"/>
                </a:solidFill>
                <a:latin typeface="MinionPro-Regular"/>
              </a:rPr>
            </a:br>
            <a:br>
              <a:rPr lang="en-US" sz="5100" dirty="0">
                <a:solidFill>
                  <a:srgbClr val="231F20"/>
                </a:solidFill>
                <a:latin typeface="MinionPro-Regular"/>
              </a:rPr>
            </a:br>
            <a:br>
              <a:rPr lang="en-US" sz="5100" dirty="0"/>
            </a:br>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CC68B87A-5A65-D835-7A65-DCE730806804}"/>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141933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a:t>
            </a:r>
            <a:r>
              <a:rPr lang="en-US" dirty="0"/>
              <a:t>..</a:t>
            </a:r>
          </a:p>
        </p:txBody>
      </p:sp>
      <p:sp>
        <p:nvSpPr>
          <p:cNvPr id="3" name="Content Placeholder 2"/>
          <p:cNvSpPr>
            <a:spLocks noGrp="1"/>
          </p:cNvSpPr>
          <p:nvPr>
            <p:ph idx="1"/>
          </p:nvPr>
        </p:nvSpPr>
        <p:spPr>
          <a:xfrm>
            <a:off x="457200" y="1600200"/>
            <a:ext cx="8458200" cy="4525963"/>
          </a:xfrm>
        </p:spPr>
        <p:txBody>
          <a:bodyPr>
            <a:noAutofit/>
          </a:bodyPr>
          <a:lstStyle/>
          <a:p>
            <a:pPr algn="just"/>
            <a:r>
              <a:rPr lang="en-US" sz="2400" b="1" dirty="0">
                <a:latin typeface="Times New Roman" pitchFamily="18" charset="0"/>
                <a:cs typeface="Times New Roman" panose="02020603050405020304" pitchFamily="18" charset="0"/>
              </a:rPr>
              <a:t>Information:</a:t>
            </a:r>
            <a:r>
              <a:rPr lang="en-US" sz="2400" dirty="0">
                <a:latin typeface="Times New Roman" panose="02020603050405020304" pitchFamily="18" charset="0"/>
                <a:cs typeface="Times New Roman" panose="02020603050405020304" pitchFamily="18" charset="0"/>
              </a:rPr>
              <a:t> Information is essentially what books, schools, and universities produce, market, and distribute at a price to parents, students, and communities.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Ideas:</a:t>
            </a:r>
            <a:r>
              <a:rPr lang="en-US" sz="2400" dirty="0">
                <a:latin typeface="Times New Roman" panose="02020603050405020304" pitchFamily="18" charset="0"/>
                <a:cs typeface="Times New Roman" panose="02020603050405020304" pitchFamily="18" charset="0"/>
              </a:rPr>
              <a:t> Every market offering includes a basic idea. Charles </a:t>
            </a:r>
            <a:r>
              <a:rPr lang="en-US" sz="2400" dirty="0" err="1">
                <a:latin typeface="Times New Roman" panose="02020603050405020304" pitchFamily="18" charset="0"/>
                <a:cs typeface="Times New Roman" panose="02020603050405020304" pitchFamily="18" charset="0"/>
              </a:rPr>
              <a:t>Revson</a:t>
            </a:r>
            <a:r>
              <a:rPr lang="en-US" sz="2400" dirty="0">
                <a:latin typeface="Times New Roman" panose="02020603050405020304" pitchFamily="18" charset="0"/>
                <a:cs typeface="Times New Roman" panose="02020603050405020304" pitchFamily="18" charset="0"/>
              </a:rPr>
              <a:t> of Revlon once observed: “In the factory we make cosmetics; in the drugstore we sell hope.” Products and services are platforms for delivering some idea or benefit. Social marketers promote such ideas as “Friends Don’t Let Friends Drive Drunk” and “A Mind Is a Terrible Thing to Waste”</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64B102E-20A2-0836-44C4-C612C9D5D030}"/>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073859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Times New Roman" pitchFamily="18" charset="0"/>
                <a:cs typeface="Times New Roman" pitchFamily="18" charset="0"/>
              </a:rPr>
            </a:br>
            <a:r>
              <a:rPr lang="en-US" dirty="0">
                <a:latin typeface="Times New Roman" pitchFamily="18" charset="0"/>
                <a:cs typeface="Times New Roman" pitchFamily="18" charset="0"/>
              </a:rPr>
              <a:t>Who Markets?</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15636" y="1438420"/>
            <a:ext cx="8229600" cy="4525963"/>
          </a:xfrm>
        </p:spPr>
        <p:txBody>
          <a:bodyPr>
            <a:normAutofit fontScale="77500" lnSpcReduction="20000"/>
          </a:bodyPr>
          <a:lstStyle/>
          <a:p>
            <a:r>
              <a:rPr lang="en-US" sz="3400" b="1" dirty="0">
                <a:solidFill>
                  <a:srgbClr val="231F20"/>
                </a:solidFill>
                <a:latin typeface="Times New Roman" panose="02020603050405020304" pitchFamily="18" charset="0"/>
                <a:cs typeface="Times New Roman" panose="02020603050405020304" pitchFamily="18" charset="0"/>
              </a:rPr>
              <a:t>Marketers And Prospects: </a:t>
            </a:r>
            <a:r>
              <a:rPr lang="en-US" sz="3400" dirty="0">
                <a:solidFill>
                  <a:srgbClr val="231F20"/>
                </a:solidFill>
                <a:latin typeface="Times New Roman" panose="02020603050405020304" pitchFamily="18" charset="0"/>
                <a:cs typeface="Times New Roman" panose="02020603050405020304" pitchFamily="18" charset="0"/>
              </a:rPr>
              <a:t>A </a:t>
            </a:r>
            <a:r>
              <a:rPr lang="en-US" sz="3400" b="1" dirty="0">
                <a:solidFill>
                  <a:srgbClr val="231F20"/>
                </a:solidFill>
                <a:latin typeface="Times New Roman" panose="02020603050405020304" pitchFamily="18" charset="0"/>
                <a:cs typeface="Times New Roman" panose="02020603050405020304" pitchFamily="18" charset="0"/>
              </a:rPr>
              <a:t>marketer </a:t>
            </a:r>
            <a:r>
              <a:rPr lang="en-US" sz="3400" dirty="0">
                <a:solidFill>
                  <a:srgbClr val="231F20"/>
                </a:solidFill>
                <a:latin typeface="Times New Roman" panose="02020603050405020304" pitchFamily="18" charset="0"/>
                <a:cs typeface="Times New Roman" panose="02020603050405020304" pitchFamily="18" charset="0"/>
              </a:rPr>
              <a:t>is someone who seeks a response—attention, a purchase, a vote, a donation—from another party, called the </a:t>
            </a:r>
            <a:r>
              <a:rPr lang="en-US" sz="3400" b="1" dirty="0">
                <a:solidFill>
                  <a:srgbClr val="231F20"/>
                </a:solidFill>
                <a:latin typeface="Times New Roman" panose="02020603050405020304" pitchFamily="18" charset="0"/>
                <a:cs typeface="Times New Roman" panose="02020603050405020304" pitchFamily="18" charset="0"/>
              </a:rPr>
              <a:t>prospect. </a:t>
            </a:r>
            <a:r>
              <a:rPr lang="en-US" sz="3400" dirty="0">
                <a:solidFill>
                  <a:srgbClr val="231F20"/>
                </a:solidFill>
                <a:latin typeface="Times New Roman" panose="02020603050405020304" pitchFamily="18" charset="0"/>
                <a:cs typeface="Times New Roman" panose="02020603050405020304" pitchFamily="18" charset="0"/>
              </a:rPr>
              <a:t>If two parties are seeking to sell something to each other, we call them both marketers.</a:t>
            </a:r>
          </a:p>
          <a:p>
            <a:endParaRPr lang="en-US" sz="3400" dirty="0">
              <a:solidFill>
                <a:srgbClr val="231F20"/>
              </a:solidFill>
              <a:latin typeface="Times New Roman" panose="02020603050405020304" pitchFamily="18" charset="0"/>
              <a:cs typeface="Times New Roman" panose="02020603050405020304" pitchFamily="18" charset="0"/>
            </a:endParaRPr>
          </a:p>
          <a:p>
            <a:r>
              <a:rPr lang="en-US" sz="3400" dirty="0">
                <a:latin typeface="Times New Roman" panose="02020603050405020304" pitchFamily="18" charset="0"/>
                <a:cs typeface="Times New Roman" panose="02020603050405020304" pitchFamily="18" charset="0"/>
              </a:rPr>
              <a:t>Marketers are skilled at stimulating demand for their products, but that’s a limited view of what they do. They also seek to influence the level, timing, and composition of demand to meet the organization’s objectives</a:t>
            </a:r>
            <a:br>
              <a:rPr lang="en-US" dirty="0"/>
            </a:br>
            <a:br>
              <a:rPr lang="en-US" dirty="0">
                <a:solidFill>
                  <a:srgbClr val="231F20"/>
                </a:solidFill>
                <a:latin typeface="MinionPro-Bold"/>
              </a:rPr>
            </a:br>
            <a:br>
              <a:rPr lang="en-US" dirty="0">
                <a:solidFill>
                  <a:srgbClr val="231F20"/>
                </a:solidFill>
                <a:latin typeface="MinionPro-Bold"/>
              </a:rPr>
            </a:br>
            <a:endParaRPr lang="en-US" dirty="0"/>
          </a:p>
        </p:txBody>
      </p:sp>
      <p:sp>
        <p:nvSpPr>
          <p:cNvPr id="4" name="Slide Number Placeholder 3">
            <a:extLst>
              <a:ext uri="{FF2B5EF4-FFF2-40B4-BE49-F238E27FC236}">
                <a16:creationId xmlns:a16="http://schemas.microsoft.com/office/drawing/2014/main" id="{A55F31CC-8CFC-54F0-5D71-82706F25A425}"/>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2694445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457200" y="24581"/>
            <a:ext cx="8229600" cy="1143000"/>
          </a:xfrm>
        </p:spPr>
        <p:txBody>
          <a:bodyPr/>
          <a:lstStyle/>
          <a:p>
            <a:pPr eaLnBrk="1" hangingPunct="1"/>
            <a:r>
              <a:rPr lang="en-US" altLang="en-US">
                <a:latin typeface="Times New Roman" pitchFamily="18" charset="0"/>
                <a:cs typeface="Times New Roman" pitchFamily="18" charset="0"/>
              </a:rPr>
              <a:t>Demand States</a:t>
            </a:r>
          </a:p>
        </p:txBody>
      </p:sp>
      <p:sp>
        <p:nvSpPr>
          <p:cNvPr id="301059" name="AutoShape 3"/>
          <p:cNvSpPr>
            <a:spLocks noChangeArrowheads="1"/>
          </p:cNvSpPr>
          <p:nvPr/>
        </p:nvSpPr>
        <p:spPr bwMode="auto">
          <a:xfrm>
            <a:off x="3429000" y="1371600"/>
            <a:ext cx="1981200" cy="1676400"/>
          </a:xfrm>
          <a:prstGeom prst="octagon">
            <a:avLst>
              <a:gd name="adj" fmla="val 29287"/>
            </a:avLst>
          </a:prstGeom>
          <a:solidFill>
            <a:schemeClr val="accent1">
              <a:lumMod val="60000"/>
              <a:lumOff val="40000"/>
            </a:schemeClr>
          </a:solidFill>
          <a:ln w="9525">
            <a:solidFill>
              <a:srgbClr val="CCCC00"/>
            </a:solidFill>
            <a:miter lim="800000"/>
            <a:headEnd/>
            <a:tailEnd/>
          </a:ln>
        </p:spPr>
        <p:txBody>
          <a:bodyPr wrap="none" anchor="ctr"/>
          <a:lstStyle/>
          <a:p>
            <a:pPr algn="ctr" eaLnBrk="1" hangingPunct="1"/>
            <a:r>
              <a:rPr lang="en-US" altLang="en-US" sz="2400" b="1">
                <a:latin typeface="Times New Roman" pitchFamily="18" charset="0"/>
                <a:cs typeface="Times New Roman" pitchFamily="18" charset="0"/>
              </a:rPr>
              <a:t>Nonexistent</a:t>
            </a:r>
          </a:p>
        </p:txBody>
      </p:sp>
      <p:sp>
        <p:nvSpPr>
          <p:cNvPr id="301060" name="AutoShape 4"/>
          <p:cNvSpPr>
            <a:spLocks noChangeArrowheads="1"/>
          </p:cNvSpPr>
          <p:nvPr/>
        </p:nvSpPr>
        <p:spPr bwMode="auto">
          <a:xfrm>
            <a:off x="5410200" y="1371600"/>
            <a:ext cx="1981200" cy="1600200"/>
          </a:xfrm>
          <a:prstGeom prst="octagon">
            <a:avLst>
              <a:gd name="adj" fmla="val 29287"/>
            </a:avLst>
          </a:prstGeom>
          <a:solidFill>
            <a:schemeClr val="accent1">
              <a:lumMod val="60000"/>
              <a:lumOff val="40000"/>
            </a:schemeClr>
          </a:solidFill>
          <a:ln w="9525">
            <a:solidFill>
              <a:srgbClr val="CCCC00"/>
            </a:solidFill>
            <a:miter lim="800000"/>
            <a:headEnd/>
            <a:tailEnd/>
          </a:ln>
        </p:spPr>
        <p:txBody>
          <a:bodyPr wrap="none" anchor="ctr"/>
          <a:lstStyle/>
          <a:p>
            <a:pPr algn="ctr" eaLnBrk="1" hangingPunct="1"/>
            <a:r>
              <a:rPr lang="en-US" altLang="en-US" sz="2400" b="1">
                <a:latin typeface="Times New Roman" pitchFamily="18" charset="0"/>
                <a:cs typeface="Times New Roman" pitchFamily="18" charset="0"/>
              </a:rPr>
              <a:t>Latent</a:t>
            </a:r>
          </a:p>
        </p:txBody>
      </p:sp>
      <p:sp>
        <p:nvSpPr>
          <p:cNvPr id="301061" name="AutoShape 5"/>
          <p:cNvSpPr>
            <a:spLocks noChangeArrowheads="1"/>
          </p:cNvSpPr>
          <p:nvPr/>
        </p:nvSpPr>
        <p:spPr bwMode="auto">
          <a:xfrm>
            <a:off x="1447800" y="2971800"/>
            <a:ext cx="1981200" cy="1524000"/>
          </a:xfrm>
          <a:prstGeom prst="octagon">
            <a:avLst>
              <a:gd name="adj" fmla="val 29287"/>
            </a:avLst>
          </a:prstGeom>
          <a:solidFill>
            <a:schemeClr val="accent1">
              <a:lumMod val="60000"/>
              <a:lumOff val="40000"/>
            </a:schemeClr>
          </a:solidFill>
          <a:ln w="9525">
            <a:solidFill>
              <a:srgbClr val="CCCC00"/>
            </a:solidFill>
            <a:miter lim="800000"/>
            <a:headEnd/>
            <a:tailEnd/>
          </a:ln>
        </p:spPr>
        <p:txBody>
          <a:bodyPr wrap="none" anchor="ctr"/>
          <a:lstStyle/>
          <a:p>
            <a:pPr algn="ctr" eaLnBrk="1" hangingPunct="1"/>
            <a:r>
              <a:rPr lang="en-US" altLang="en-US" sz="2400" b="1">
                <a:latin typeface="Times New Roman" pitchFamily="18" charset="0"/>
                <a:cs typeface="Times New Roman" pitchFamily="18" charset="0"/>
              </a:rPr>
              <a:t>Declining</a:t>
            </a:r>
          </a:p>
        </p:txBody>
      </p:sp>
      <p:sp>
        <p:nvSpPr>
          <p:cNvPr id="301062" name="AutoShape 6"/>
          <p:cNvSpPr>
            <a:spLocks noChangeArrowheads="1"/>
          </p:cNvSpPr>
          <p:nvPr/>
        </p:nvSpPr>
        <p:spPr bwMode="auto">
          <a:xfrm>
            <a:off x="5410200" y="2971800"/>
            <a:ext cx="1981200" cy="1600200"/>
          </a:xfrm>
          <a:prstGeom prst="octagon">
            <a:avLst>
              <a:gd name="adj" fmla="val 29287"/>
            </a:avLst>
          </a:prstGeom>
          <a:solidFill>
            <a:schemeClr val="accent1">
              <a:lumMod val="60000"/>
              <a:lumOff val="40000"/>
            </a:schemeClr>
          </a:solidFill>
          <a:ln w="9525">
            <a:solidFill>
              <a:srgbClr val="CCCC00"/>
            </a:solidFill>
            <a:miter lim="800000"/>
            <a:headEnd/>
            <a:tailEnd/>
          </a:ln>
        </p:spPr>
        <p:txBody>
          <a:bodyPr wrap="none" anchor="ctr"/>
          <a:lstStyle/>
          <a:p>
            <a:pPr algn="ctr" eaLnBrk="1" hangingPunct="1"/>
            <a:r>
              <a:rPr lang="en-US" altLang="en-US" sz="2400" b="1">
                <a:latin typeface="Times New Roman" pitchFamily="18" charset="0"/>
                <a:cs typeface="Times New Roman" pitchFamily="18" charset="0"/>
              </a:rPr>
              <a:t>Irregular</a:t>
            </a:r>
          </a:p>
        </p:txBody>
      </p:sp>
      <p:sp>
        <p:nvSpPr>
          <p:cNvPr id="301063" name="AutoShape 7"/>
          <p:cNvSpPr>
            <a:spLocks noChangeArrowheads="1"/>
          </p:cNvSpPr>
          <p:nvPr/>
        </p:nvSpPr>
        <p:spPr bwMode="auto">
          <a:xfrm>
            <a:off x="1371600" y="4495800"/>
            <a:ext cx="1981200" cy="1752600"/>
          </a:xfrm>
          <a:prstGeom prst="octagon">
            <a:avLst>
              <a:gd name="adj" fmla="val 29287"/>
            </a:avLst>
          </a:prstGeom>
          <a:solidFill>
            <a:schemeClr val="accent1">
              <a:lumMod val="60000"/>
              <a:lumOff val="40000"/>
            </a:schemeClr>
          </a:solidFill>
          <a:ln w="9525">
            <a:solidFill>
              <a:srgbClr val="CCCC00"/>
            </a:solidFill>
            <a:miter lim="800000"/>
            <a:headEnd/>
            <a:tailEnd/>
          </a:ln>
        </p:spPr>
        <p:txBody>
          <a:bodyPr wrap="none" anchor="ctr"/>
          <a:lstStyle/>
          <a:p>
            <a:pPr algn="ctr" eaLnBrk="1" hangingPunct="1"/>
            <a:r>
              <a:rPr lang="en-US" altLang="en-US" sz="2400" b="1">
                <a:latin typeface="Times New Roman" pitchFamily="18" charset="0"/>
                <a:cs typeface="Times New Roman" pitchFamily="18" charset="0"/>
              </a:rPr>
              <a:t>Full</a:t>
            </a:r>
          </a:p>
        </p:txBody>
      </p:sp>
      <p:sp>
        <p:nvSpPr>
          <p:cNvPr id="301064" name="AutoShape 8"/>
          <p:cNvSpPr>
            <a:spLocks noChangeArrowheads="1"/>
          </p:cNvSpPr>
          <p:nvPr/>
        </p:nvSpPr>
        <p:spPr bwMode="auto">
          <a:xfrm>
            <a:off x="5410200" y="4572000"/>
            <a:ext cx="1981200" cy="1752600"/>
          </a:xfrm>
          <a:prstGeom prst="octagon">
            <a:avLst>
              <a:gd name="adj" fmla="val 29287"/>
            </a:avLst>
          </a:prstGeom>
          <a:solidFill>
            <a:schemeClr val="accent1">
              <a:lumMod val="60000"/>
              <a:lumOff val="40000"/>
            </a:schemeClr>
          </a:solidFill>
          <a:ln w="9525">
            <a:solidFill>
              <a:srgbClr val="CCCC00"/>
            </a:solidFill>
            <a:miter lim="800000"/>
            <a:headEnd/>
            <a:tailEnd/>
          </a:ln>
        </p:spPr>
        <p:txBody>
          <a:bodyPr wrap="none" anchor="ctr"/>
          <a:lstStyle/>
          <a:p>
            <a:pPr algn="ctr" eaLnBrk="1" hangingPunct="1"/>
            <a:r>
              <a:rPr lang="en-US" altLang="en-US" sz="2400" b="1">
                <a:latin typeface="Times New Roman" pitchFamily="18" charset="0"/>
                <a:cs typeface="Times New Roman" pitchFamily="18" charset="0"/>
              </a:rPr>
              <a:t>Unwholesome</a:t>
            </a:r>
          </a:p>
        </p:txBody>
      </p:sp>
      <p:sp>
        <p:nvSpPr>
          <p:cNvPr id="301065" name="AutoShape 9"/>
          <p:cNvSpPr>
            <a:spLocks noChangeArrowheads="1"/>
          </p:cNvSpPr>
          <p:nvPr/>
        </p:nvSpPr>
        <p:spPr bwMode="auto">
          <a:xfrm>
            <a:off x="3352800" y="4572000"/>
            <a:ext cx="2057400" cy="1752600"/>
          </a:xfrm>
          <a:prstGeom prst="octagon">
            <a:avLst>
              <a:gd name="adj" fmla="val 29287"/>
            </a:avLst>
          </a:prstGeom>
          <a:solidFill>
            <a:schemeClr val="accent1">
              <a:lumMod val="60000"/>
              <a:lumOff val="40000"/>
            </a:schemeClr>
          </a:solidFill>
          <a:ln w="9525">
            <a:solidFill>
              <a:srgbClr val="CCCC00"/>
            </a:solidFill>
            <a:miter lim="800000"/>
            <a:headEnd/>
            <a:tailEnd/>
          </a:ln>
        </p:spPr>
        <p:txBody>
          <a:bodyPr wrap="none" anchor="ctr"/>
          <a:lstStyle/>
          <a:p>
            <a:pPr algn="ctr" eaLnBrk="1" hangingPunct="1"/>
            <a:r>
              <a:rPr lang="en-US" altLang="en-US" sz="2400" b="1">
                <a:latin typeface="Times New Roman" pitchFamily="18" charset="0"/>
                <a:cs typeface="Times New Roman" pitchFamily="18" charset="0"/>
              </a:rPr>
              <a:t>Overfull</a:t>
            </a:r>
          </a:p>
        </p:txBody>
      </p:sp>
      <p:sp>
        <p:nvSpPr>
          <p:cNvPr id="301066" name="AutoShape 10"/>
          <p:cNvSpPr>
            <a:spLocks noChangeArrowheads="1"/>
          </p:cNvSpPr>
          <p:nvPr/>
        </p:nvSpPr>
        <p:spPr bwMode="auto">
          <a:xfrm>
            <a:off x="1447800" y="1371600"/>
            <a:ext cx="1981200" cy="1600200"/>
          </a:xfrm>
          <a:prstGeom prst="octagon">
            <a:avLst>
              <a:gd name="adj" fmla="val 29287"/>
            </a:avLst>
          </a:prstGeom>
          <a:solidFill>
            <a:schemeClr val="accent1">
              <a:lumMod val="60000"/>
              <a:lumOff val="40000"/>
            </a:schemeClr>
          </a:solidFill>
          <a:ln w="9525">
            <a:solidFill>
              <a:srgbClr val="CCCC00"/>
            </a:solidFill>
            <a:miter lim="800000"/>
            <a:headEnd/>
            <a:tailEnd/>
          </a:ln>
        </p:spPr>
        <p:txBody>
          <a:bodyPr wrap="none" anchor="ctr"/>
          <a:lstStyle/>
          <a:p>
            <a:pPr algn="ctr" eaLnBrk="1" hangingPunct="1"/>
            <a:r>
              <a:rPr lang="en-US" altLang="en-US" sz="2400" b="1">
                <a:latin typeface="Times New Roman" pitchFamily="18" charset="0"/>
                <a:cs typeface="Times New Roman" pitchFamily="18" charset="0"/>
              </a:rPr>
              <a:t>Negative</a:t>
            </a:r>
          </a:p>
        </p:txBody>
      </p:sp>
      <p:sp>
        <p:nvSpPr>
          <p:cNvPr id="2" name="Slide Number Placeholder 1">
            <a:extLst>
              <a:ext uri="{FF2B5EF4-FFF2-40B4-BE49-F238E27FC236}">
                <a16:creationId xmlns:a16="http://schemas.microsoft.com/office/drawing/2014/main" id="{18A5BB2B-678B-F84C-448E-59D515B35D41}"/>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67708531"/>
      </p:ext>
    </p:ext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1066"/>
                                        </p:tgtEl>
                                        <p:attrNameLst>
                                          <p:attrName>style.visibility</p:attrName>
                                        </p:attrNameLst>
                                      </p:cBhvr>
                                      <p:to>
                                        <p:strVal val="visible"/>
                                      </p:to>
                                    </p:set>
                                    <p:animEffect transition="in" filter="blinds(horizontal)">
                                      <p:cBhvr>
                                        <p:cTn id="7" dur="500"/>
                                        <p:tgtEl>
                                          <p:spTgt spid="301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1059"/>
                                        </p:tgtEl>
                                        <p:attrNameLst>
                                          <p:attrName>style.visibility</p:attrName>
                                        </p:attrNameLst>
                                      </p:cBhvr>
                                      <p:to>
                                        <p:strVal val="visible"/>
                                      </p:to>
                                    </p:set>
                                    <p:animEffect transition="in" filter="blinds(horizontal)">
                                      <p:cBhvr>
                                        <p:cTn id="12" dur="500"/>
                                        <p:tgtEl>
                                          <p:spTgt spid="3010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1060"/>
                                        </p:tgtEl>
                                        <p:attrNameLst>
                                          <p:attrName>style.visibility</p:attrName>
                                        </p:attrNameLst>
                                      </p:cBhvr>
                                      <p:to>
                                        <p:strVal val="visible"/>
                                      </p:to>
                                    </p:set>
                                    <p:animEffect transition="in" filter="blinds(horizontal)">
                                      <p:cBhvr>
                                        <p:cTn id="17" dur="500"/>
                                        <p:tgtEl>
                                          <p:spTgt spid="3010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1061"/>
                                        </p:tgtEl>
                                        <p:attrNameLst>
                                          <p:attrName>style.visibility</p:attrName>
                                        </p:attrNameLst>
                                      </p:cBhvr>
                                      <p:to>
                                        <p:strVal val="visible"/>
                                      </p:to>
                                    </p:set>
                                    <p:animEffect transition="in" filter="blinds(horizontal)">
                                      <p:cBhvr>
                                        <p:cTn id="22" dur="500"/>
                                        <p:tgtEl>
                                          <p:spTgt spid="3010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1062"/>
                                        </p:tgtEl>
                                        <p:attrNameLst>
                                          <p:attrName>style.visibility</p:attrName>
                                        </p:attrNameLst>
                                      </p:cBhvr>
                                      <p:to>
                                        <p:strVal val="visible"/>
                                      </p:to>
                                    </p:set>
                                    <p:animEffect transition="in" filter="blinds(horizontal)">
                                      <p:cBhvr>
                                        <p:cTn id="27" dur="500"/>
                                        <p:tgtEl>
                                          <p:spTgt spid="3010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1063"/>
                                        </p:tgtEl>
                                        <p:attrNameLst>
                                          <p:attrName>style.visibility</p:attrName>
                                        </p:attrNameLst>
                                      </p:cBhvr>
                                      <p:to>
                                        <p:strVal val="visible"/>
                                      </p:to>
                                    </p:set>
                                    <p:animEffect transition="in" filter="blinds(horizontal)">
                                      <p:cBhvr>
                                        <p:cTn id="32" dur="500"/>
                                        <p:tgtEl>
                                          <p:spTgt spid="3010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1065"/>
                                        </p:tgtEl>
                                        <p:attrNameLst>
                                          <p:attrName>style.visibility</p:attrName>
                                        </p:attrNameLst>
                                      </p:cBhvr>
                                      <p:to>
                                        <p:strVal val="visible"/>
                                      </p:to>
                                    </p:set>
                                    <p:animEffect transition="in" filter="blinds(horizontal)">
                                      <p:cBhvr>
                                        <p:cTn id="37" dur="500"/>
                                        <p:tgtEl>
                                          <p:spTgt spid="30106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01064"/>
                                        </p:tgtEl>
                                        <p:attrNameLst>
                                          <p:attrName>style.visibility</p:attrName>
                                        </p:attrNameLst>
                                      </p:cBhvr>
                                      <p:to>
                                        <p:strVal val="visible"/>
                                      </p:to>
                                    </p:set>
                                    <p:animEffect transition="in" filter="blinds(horizontal)">
                                      <p:cBhvr>
                                        <p:cTn id="42" dur="500"/>
                                        <p:tgtEl>
                                          <p:spTgt spid="301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animBg="1"/>
      <p:bldP spid="301060" grpId="0" animBg="1"/>
      <p:bldP spid="301061" grpId="0" animBg="1"/>
      <p:bldP spid="301062" grpId="0" animBg="1"/>
      <p:bldP spid="301063" grpId="0" animBg="1"/>
      <p:bldP spid="301064" grpId="0" animBg="1"/>
      <p:bldP spid="301065" grpId="0" animBg="1"/>
      <p:bldP spid="30106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382000" cy="838200"/>
          </a:xfrm>
        </p:spPr>
        <p:txBody>
          <a:bodyPr>
            <a:noAutofit/>
          </a:bodyPr>
          <a:lstStyle/>
          <a:p>
            <a:br>
              <a:rPr lang="en-US" sz="4000" dirty="0">
                <a:latin typeface="Times New Roman" pitchFamily="18" charset="0"/>
                <a:cs typeface="Times New Roman" pitchFamily="18" charset="0"/>
              </a:rPr>
            </a:br>
            <a:r>
              <a:rPr lang="en-US" sz="4000" dirty="0">
                <a:latin typeface="Times New Roman" pitchFamily="18" charset="0"/>
                <a:cs typeface="Times New Roman" pitchFamily="18" charset="0"/>
              </a:rPr>
              <a:t>Eight demand states are possible:</a:t>
            </a:r>
            <a:br>
              <a:rPr lang="en-US" sz="4000" dirty="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1295400"/>
            <a:ext cx="8229600" cy="5287963"/>
          </a:xfrm>
        </p:spPr>
        <p:txBody>
          <a:bodyPr>
            <a:noAutofit/>
          </a:bodyPr>
          <a:lstStyle/>
          <a:p>
            <a:r>
              <a:rPr lang="en-US" sz="2000" b="1" dirty="0">
                <a:latin typeface="Times New Roman" pitchFamily="18" charset="0"/>
                <a:cs typeface="Times New Roman" pitchFamily="18" charset="0"/>
              </a:rPr>
              <a:t>1. Negative demand</a:t>
            </a:r>
            <a:r>
              <a:rPr lang="en-US" sz="2000" dirty="0">
                <a:latin typeface="Times New Roman" pitchFamily="18" charset="0"/>
                <a:cs typeface="Times New Roman" pitchFamily="18" charset="0"/>
              </a:rPr>
              <a:t>—Consumers dislike the product and may even pay to avoid it.</a:t>
            </a:r>
          </a:p>
          <a:p>
            <a:r>
              <a:rPr lang="en-US" sz="2000" b="1" dirty="0">
                <a:latin typeface="Times New Roman" pitchFamily="18" charset="0"/>
                <a:cs typeface="Times New Roman" pitchFamily="18" charset="0"/>
              </a:rPr>
              <a:t>2. Nonexistent demand</a:t>
            </a:r>
            <a:r>
              <a:rPr lang="en-US" sz="2000" dirty="0">
                <a:latin typeface="Times New Roman" pitchFamily="18" charset="0"/>
                <a:cs typeface="Times New Roman" pitchFamily="18" charset="0"/>
              </a:rPr>
              <a:t>—Consumers may be unaware of or uninterested in the product.</a:t>
            </a:r>
          </a:p>
          <a:p>
            <a:r>
              <a:rPr lang="en-US" sz="2000" b="1" dirty="0">
                <a:latin typeface="Times New Roman" pitchFamily="18" charset="0"/>
                <a:cs typeface="Times New Roman" pitchFamily="18" charset="0"/>
              </a:rPr>
              <a:t>3. Latent demand</a:t>
            </a:r>
            <a:r>
              <a:rPr lang="en-US" sz="2000" dirty="0">
                <a:latin typeface="Times New Roman" pitchFamily="18" charset="0"/>
                <a:cs typeface="Times New Roman" pitchFamily="18" charset="0"/>
              </a:rPr>
              <a:t>—Consumers may share a strong need that cannot be satisfied by an existing product.</a:t>
            </a:r>
          </a:p>
          <a:p>
            <a:r>
              <a:rPr lang="en-US" sz="2000" b="1" dirty="0">
                <a:latin typeface="Times New Roman" pitchFamily="18" charset="0"/>
                <a:cs typeface="Times New Roman" pitchFamily="18" charset="0"/>
              </a:rPr>
              <a:t>4. Declining demand</a:t>
            </a:r>
            <a:r>
              <a:rPr lang="en-US" sz="2000" dirty="0">
                <a:latin typeface="Times New Roman" pitchFamily="18" charset="0"/>
                <a:cs typeface="Times New Roman" pitchFamily="18" charset="0"/>
              </a:rPr>
              <a:t>—Consumers begin to buy the product less frequently or not at all.</a:t>
            </a:r>
          </a:p>
          <a:p>
            <a:r>
              <a:rPr lang="en-US" sz="2000" b="1" dirty="0">
                <a:latin typeface="Times New Roman" pitchFamily="18" charset="0"/>
                <a:cs typeface="Times New Roman" pitchFamily="18" charset="0"/>
              </a:rPr>
              <a:t>5. Irregular demand</a:t>
            </a:r>
            <a:r>
              <a:rPr lang="en-US" sz="2000" dirty="0">
                <a:latin typeface="Times New Roman" pitchFamily="18" charset="0"/>
                <a:cs typeface="Times New Roman" pitchFamily="18" charset="0"/>
              </a:rPr>
              <a:t>—Consumer purchases vary on a seasonal, monthly, weekly, daily, or even hourly basis.</a:t>
            </a:r>
          </a:p>
          <a:p>
            <a:r>
              <a:rPr lang="en-US" sz="2000" b="1" dirty="0">
                <a:latin typeface="Times New Roman" pitchFamily="18" charset="0"/>
                <a:cs typeface="Times New Roman" pitchFamily="18" charset="0"/>
              </a:rPr>
              <a:t>6. Full demand</a:t>
            </a:r>
            <a:r>
              <a:rPr lang="en-US" sz="2000" dirty="0">
                <a:latin typeface="Times New Roman" pitchFamily="18" charset="0"/>
                <a:cs typeface="Times New Roman" pitchFamily="18" charset="0"/>
              </a:rPr>
              <a:t>—Consumers are adequately buying all products put into the marketplace.</a:t>
            </a:r>
          </a:p>
          <a:p>
            <a:r>
              <a:rPr lang="en-US" sz="2000" b="1" dirty="0">
                <a:latin typeface="Times New Roman" pitchFamily="18" charset="0"/>
                <a:cs typeface="Times New Roman" pitchFamily="18" charset="0"/>
              </a:rPr>
              <a:t>7. Overfull demand</a:t>
            </a:r>
            <a:r>
              <a:rPr lang="en-US" sz="2000" dirty="0">
                <a:latin typeface="Times New Roman" pitchFamily="18" charset="0"/>
                <a:cs typeface="Times New Roman" pitchFamily="18" charset="0"/>
              </a:rPr>
              <a:t>—More consumers would like to buy the product than can be satisfied.</a:t>
            </a:r>
          </a:p>
          <a:p>
            <a:r>
              <a:rPr lang="en-US" sz="2000" b="1" dirty="0">
                <a:latin typeface="Times New Roman" pitchFamily="18" charset="0"/>
                <a:cs typeface="Times New Roman" pitchFamily="18" charset="0"/>
              </a:rPr>
              <a:t>8. Unwholesome demand</a:t>
            </a:r>
            <a:r>
              <a:rPr lang="en-US" sz="2000" dirty="0">
                <a:latin typeface="Times New Roman" pitchFamily="18" charset="0"/>
                <a:cs typeface="Times New Roman" pitchFamily="18" charset="0"/>
              </a:rPr>
              <a:t>—Consumers may be attracted to products that have undesirable social consequences.</a:t>
            </a:r>
          </a:p>
        </p:txBody>
      </p:sp>
      <p:sp>
        <p:nvSpPr>
          <p:cNvPr id="4" name="Slide Number Placeholder 3">
            <a:extLst>
              <a:ext uri="{FF2B5EF4-FFF2-40B4-BE49-F238E27FC236}">
                <a16:creationId xmlns:a16="http://schemas.microsoft.com/office/drawing/2014/main" id="{3EC15B09-67A0-E324-07E9-81A97F18CD5A}"/>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522544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231F20"/>
                </a:solidFill>
                <a:latin typeface="Times New Roman" pitchFamily="18" charset="0"/>
                <a:cs typeface="Times New Roman" pitchFamily="18" charset="0"/>
              </a:rPr>
              <a:t>Markets</a:t>
            </a:r>
            <a:br>
              <a:rPr lang="en-US" dirty="0">
                <a:solidFill>
                  <a:srgbClr val="231F20"/>
                </a:solidFill>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itchFamily="18" charset="0"/>
                <a:cs typeface="Times New Roman" pitchFamily="18" charset="0"/>
              </a:rPr>
              <a:t>Traditionally, a “market” was a physical place where buyers and sellers gathered to buy and sell goods. Economists describe a </a:t>
            </a:r>
            <a:r>
              <a:rPr lang="en-US" i="1" dirty="0">
                <a:latin typeface="Times New Roman" pitchFamily="18" charset="0"/>
                <a:cs typeface="Times New Roman" pitchFamily="18" charset="0"/>
              </a:rPr>
              <a:t>market </a:t>
            </a:r>
            <a:r>
              <a:rPr lang="en-US" dirty="0">
                <a:latin typeface="Times New Roman" pitchFamily="18" charset="0"/>
                <a:cs typeface="Times New Roman" pitchFamily="18" charset="0"/>
              </a:rPr>
              <a:t>as a collection of buyers and sellers who transact over a particular product or product class (such as the housing market or the grain market).</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D3DFA362-81B3-A5C1-E3D7-3EEF7B3BE2D8}"/>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2986956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r>
              <a:rPr lang="en-US" dirty="0">
                <a:latin typeface="Times New Roman" pitchFamily="18" charset="0"/>
                <a:cs typeface="Times New Roman" pitchFamily="18" charset="0"/>
              </a:rPr>
              <a:t>Five basic markets</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143000"/>
            <a:ext cx="8842664" cy="5257800"/>
          </a:xfrm>
        </p:spPr>
      </p:pic>
      <p:sp>
        <p:nvSpPr>
          <p:cNvPr id="3" name="Slide Number Placeholder 2">
            <a:extLst>
              <a:ext uri="{FF2B5EF4-FFF2-40B4-BE49-F238E27FC236}">
                <a16:creationId xmlns:a16="http://schemas.microsoft.com/office/drawing/2014/main" id="{6A25D99E-942B-A6B6-A387-7CE932928953}"/>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228730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295400"/>
          </a:xfrm>
        </p:spPr>
        <p:txBody>
          <a:bodyPr>
            <a:normAutofit fontScale="90000"/>
          </a:bodyPr>
          <a:lstStyle/>
          <a:p>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r>
              <a:rPr lang="en-US" dirty="0">
                <a:latin typeface="Times New Roman" pitchFamily="18" charset="0"/>
                <a:cs typeface="Times New Roman" pitchFamily="18" charset="0"/>
              </a:rPr>
              <a:t>A Simple Marketing</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System</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4468" y="2286000"/>
            <a:ext cx="6696531" cy="3276599"/>
          </a:xfrm>
        </p:spPr>
      </p:pic>
      <p:sp>
        <p:nvSpPr>
          <p:cNvPr id="3" name="Slide Number Placeholder 2">
            <a:extLst>
              <a:ext uri="{FF2B5EF4-FFF2-40B4-BE49-F238E27FC236}">
                <a16:creationId xmlns:a16="http://schemas.microsoft.com/office/drawing/2014/main" id="{AABDBA93-4E12-063B-626C-254A0564051B}"/>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442574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latin typeface="Times New Roman" panose="02020603050405020304" pitchFamily="18" charset="0"/>
                <a:cs typeface="Times New Roman" panose="02020603050405020304" pitchFamily="18" charset="0"/>
              </a:rPr>
              <a:t>key customer markets</a:t>
            </a:r>
            <a:br>
              <a:rPr lang="en-US" dirty="0"/>
            </a:br>
            <a:br>
              <a:rPr lang="en-US" dirty="0"/>
            </a:br>
            <a:endParaRPr lang="en-US" dirty="0"/>
          </a:p>
        </p:txBody>
      </p:sp>
      <p:sp>
        <p:nvSpPr>
          <p:cNvPr id="3" name="Content Placeholder 2"/>
          <p:cNvSpPr>
            <a:spLocks noGrp="1"/>
          </p:cNvSpPr>
          <p:nvPr>
            <p:ph idx="1"/>
          </p:nvPr>
        </p:nvSpPr>
        <p:spPr>
          <a:xfrm>
            <a:off x="457200" y="1371600"/>
            <a:ext cx="8229600" cy="4525963"/>
          </a:xfrm>
        </p:spPr>
        <p:txBody>
          <a:bodyPr>
            <a:normAutofit fontScale="77500" lnSpcReduction="20000"/>
          </a:bodyPr>
          <a:lstStyle/>
          <a:p>
            <a:pPr algn="just"/>
            <a:r>
              <a:rPr lang="en-US" b="1" i="1" dirty="0">
                <a:latin typeface="Times New Roman" panose="02020603050405020304" pitchFamily="18" charset="0"/>
                <a:cs typeface="Times New Roman" panose="02020603050405020304" pitchFamily="18" charset="0"/>
              </a:rPr>
              <a:t>Consumer Markets </a:t>
            </a:r>
            <a:r>
              <a:rPr lang="en-US" dirty="0">
                <a:latin typeface="Times New Roman" panose="02020603050405020304" pitchFamily="18" charset="0"/>
                <a:cs typeface="Times New Roman" panose="02020603050405020304" pitchFamily="18" charset="0"/>
              </a:rPr>
              <a:t>Companies selling mass consumer goods and services such as juices, cosmetics, athletic</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shoes, and air travel establish a strong brand image by developing a superior product or service, ensuring its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availability, and backing it with engaging communications and reliable performance.</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Business Markets </a:t>
            </a:r>
            <a:r>
              <a:rPr lang="en-US" dirty="0">
                <a:latin typeface="Times New Roman" panose="02020603050405020304" pitchFamily="18" charset="0"/>
                <a:cs typeface="Times New Roman" panose="02020603050405020304" pitchFamily="18" charset="0"/>
              </a:rPr>
              <a:t>Companies selling business goods and services often face well-informed professional buyers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skilled at evaluating competitive offerings. Advertising and Web sites can play a role, but the sales force, the price,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and the seller’s reputation may play a greater one.</a:t>
            </a:r>
            <a:br>
              <a:rPr lang="en-US" dirty="0"/>
            </a:br>
            <a:br>
              <a:rPr lang="en-US" dirty="0"/>
            </a:br>
            <a:endParaRPr lang="en-US" dirty="0"/>
          </a:p>
        </p:txBody>
      </p:sp>
      <p:sp>
        <p:nvSpPr>
          <p:cNvPr id="4" name="Slide Number Placeholder 3">
            <a:extLst>
              <a:ext uri="{FF2B5EF4-FFF2-40B4-BE49-F238E27FC236}">
                <a16:creationId xmlns:a16="http://schemas.microsoft.com/office/drawing/2014/main" id="{9FA63D03-6F11-5D26-1647-A105449C95CA}"/>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678462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Cont</a:t>
            </a:r>
            <a:r>
              <a:rPr lang="en-US" dirty="0"/>
              <a:t>..</a:t>
            </a:r>
          </a:p>
        </p:txBody>
      </p:sp>
      <p:sp>
        <p:nvSpPr>
          <p:cNvPr id="3" name="Content Placeholder 2"/>
          <p:cNvSpPr>
            <a:spLocks noGrp="1"/>
          </p:cNvSpPr>
          <p:nvPr>
            <p:ph idx="1"/>
          </p:nvPr>
        </p:nvSpPr>
        <p:spPr>
          <a:xfrm>
            <a:off x="152400" y="1676400"/>
            <a:ext cx="8534400" cy="4525963"/>
          </a:xfrm>
        </p:spPr>
        <p:txBody>
          <a:bodyPr>
            <a:normAutofit fontScale="70000" lnSpcReduction="20000"/>
          </a:bodyPr>
          <a:lstStyle/>
          <a:p>
            <a:pPr algn="just"/>
            <a:r>
              <a:rPr lang="en-US" b="1" i="1" dirty="0">
                <a:latin typeface="Times New Roman" pitchFamily="18" charset="0"/>
                <a:cs typeface="Times New Roman" pitchFamily="18" charset="0"/>
              </a:rPr>
              <a:t>Global Markets </a:t>
            </a:r>
            <a:r>
              <a:rPr lang="en-US" dirty="0">
                <a:latin typeface="Times New Roman" pitchFamily="18" charset="0"/>
                <a:cs typeface="Times New Roman" pitchFamily="18" charset="0"/>
              </a:rPr>
              <a:t>Companies in the global marketplace navigate cultural, language, legal, and political differences while deciding which countries to enter, how to enter each (as exporter, licenser, joint venture partner, contract manufacturer, or solo manufacturer), how to adapt product and service features to each country, how to set prices and how to communicate in different cultures.</a:t>
            </a:r>
          </a:p>
          <a:p>
            <a:pPr marL="0" indent="0" algn="just">
              <a:buNone/>
            </a:pPr>
            <a:endParaRPr lang="en-US" dirty="0">
              <a:latin typeface="Times New Roman" pitchFamily="18" charset="0"/>
              <a:cs typeface="Times New Roman" pitchFamily="18" charset="0"/>
            </a:endParaRPr>
          </a:p>
          <a:p>
            <a:pPr indent="0" algn="just"/>
            <a:r>
              <a:rPr lang="en-US" b="1" i="1" dirty="0">
                <a:latin typeface="Times New Roman" pitchFamily="18" charset="0"/>
                <a:cs typeface="Times New Roman" pitchFamily="18" charset="0"/>
              </a:rPr>
              <a:t>Nonprofit and Governmental Markets </a:t>
            </a:r>
            <a:r>
              <a:rPr lang="en-US" dirty="0">
                <a:latin typeface="Times New Roman" pitchFamily="18" charset="0"/>
                <a:cs typeface="Times New Roman" pitchFamily="18" charset="0"/>
              </a:rPr>
              <a:t>Companies selling to nonprofit organizations with limited purchasing power such as churches, universities, charitable organizations, and government agencies need to price carefully. Much government purchasing requires bids; buyers often focus on practical solutions and favor the lowest bid</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DC81C2C1-D44C-A985-8A6E-09FC5694B1A7}"/>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439347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latin typeface="Times New Roman" pitchFamily="18" charset="0"/>
                <a:cs typeface="Times New Roman" pitchFamily="18" charset="0"/>
              </a:rPr>
            </a:br>
            <a:r>
              <a:rPr lang="en-US" dirty="0">
                <a:latin typeface="Times New Roman" pitchFamily="18" charset="0"/>
                <a:cs typeface="Times New Roman" pitchFamily="18" charset="0"/>
              </a:rPr>
              <a:t>Core Marketing Concepts</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6553200"/>
          </a:xfrm>
        </p:spPr>
        <p:txBody>
          <a:bodyPr>
            <a:normAutofit fontScale="25000" lnSpcReduction="20000"/>
          </a:bodyPr>
          <a:lstStyle/>
          <a:p>
            <a:pPr algn="just"/>
            <a:r>
              <a:rPr lang="en-US" sz="9600" b="1" i="1" dirty="0">
                <a:solidFill>
                  <a:srgbClr val="231F20"/>
                </a:solidFill>
                <a:latin typeface="Times New Roman" pitchFamily="18" charset="0"/>
                <a:cs typeface="Times New Roman" pitchFamily="18" charset="0"/>
              </a:rPr>
              <a:t>Needs </a:t>
            </a:r>
            <a:r>
              <a:rPr lang="en-US" sz="9600" dirty="0">
                <a:solidFill>
                  <a:srgbClr val="231F20"/>
                </a:solidFill>
                <a:latin typeface="Times New Roman" pitchFamily="18" charset="0"/>
                <a:cs typeface="Times New Roman" pitchFamily="18" charset="0"/>
              </a:rPr>
              <a:t>are the basic human requirements such as for air, food, water, clothing, and shelter. Humans also have strong needs for recreation, education, and entertainment</a:t>
            </a:r>
          </a:p>
          <a:p>
            <a:pPr marL="0" indent="0">
              <a:buNone/>
            </a:pPr>
            <a:endParaRPr lang="en-US" sz="9600" dirty="0">
              <a:solidFill>
                <a:srgbClr val="231F20"/>
              </a:solidFill>
              <a:latin typeface="Times New Roman" pitchFamily="18" charset="0"/>
              <a:cs typeface="Times New Roman" pitchFamily="18" charset="0"/>
            </a:endParaRPr>
          </a:p>
          <a:p>
            <a:r>
              <a:rPr lang="en-US" sz="9600" dirty="0">
                <a:solidFill>
                  <a:srgbClr val="231F20"/>
                </a:solidFill>
                <a:latin typeface="Times New Roman" pitchFamily="18" charset="0"/>
                <a:cs typeface="Times New Roman" pitchFamily="18" charset="0"/>
              </a:rPr>
              <a:t>These needs become </a:t>
            </a:r>
            <a:r>
              <a:rPr lang="en-US" sz="9600" b="1" i="1" dirty="0">
                <a:solidFill>
                  <a:srgbClr val="231F20"/>
                </a:solidFill>
                <a:latin typeface="Times New Roman" pitchFamily="18" charset="0"/>
                <a:cs typeface="Times New Roman" pitchFamily="18" charset="0"/>
              </a:rPr>
              <a:t>wants</a:t>
            </a:r>
            <a:r>
              <a:rPr lang="en-US" sz="9600" i="1" dirty="0">
                <a:solidFill>
                  <a:srgbClr val="231F20"/>
                </a:solidFill>
                <a:latin typeface="Times New Roman" pitchFamily="18" charset="0"/>
                <a:cs typeface="Times New Roman" pitchFamily="18" charset="0"/>
              </a:rPr>
              <a:t> </a:t>
            </a:r>
            <a:r>
              <a:rPr lang="en-US" sz="9600" dirty="0">
                <a:solidFill>
                  <a:srgbClr val="231F20"/>
                </a:solidFill>
                <a:latin typeface="Times New Roman" pitchFamily="18" charset="0"/>
                <a:cs typeface="Times New Roman" pitchFamily="18" charset="0"/>
              </a:rPr>
              <a:t>when directed to specific objects that might satisfy the need. A U.S. consumer needs food but may want a Chicago-style “deep-dish” pizza and a craft beer. A person in Afghanistan needs food but may want rice, lamb, and carrots. Our wants are shaped by our society</a:t>
            </a:r>
          </a:p>
          <a:p>
            <a:pPr marL="0" indent="0">
              <a:buNone/>
            </a:pPr>
            <a:endParaRPr lang="en-US" sz="9600" dirty="0">
              <a:solidFill>
                <a:srgbClr val="231F20"/>
              </a:solidFill>
              <a:latin typeface="Times New Roman" pitchFamily="18" charset="0"/>
              <a:cs typeface="Times New Roman" pitchFamily="18" charset="0"/>
            </a:endParaRPr>
          </a:p>
          <a:p>
            <a:r>
              <a:rPr lang="en-US" sz="9600" b="1" i="1" dirty="0">
                <a:solidFill>
                  <a:srgbClr val="231F20"/>
                </a:solidFill>
                <a:latin typeface="Times New Roman" pitchFamily="18" charset="0"/>
                <a:cs typeface="Times New Roman" pitchFamily="18" charset="0"/>
              </a:rPr>
              <a:t>Demands</a:t>
            </a:r>
            <a:r>
              <a:rPr lang="en-US" sz="9600" i="1" dirty="0">
                <a:solidFill>
                  <a:srgbClr val="231F20"/>
                </a:solidFill>
                <a:latin typeface="Times New Roman" pitchFamily="18" charset="0"/>
                <a:cs typeface="Times New Roman" pitchFamily="18" charset="0"/>
              </a:rPr>
              <a:t> </a:t>
            </a:r>
            <a:r>
              <a:rPr lang="en-US" sz="9600" dirty="0">
                <a:solidFill>
                  <a:srgbClr val="231F20"/>
                </a:solidFill>
                <a:latin typeface="Times New Roman" pitchFamily="18" charset="0"/>
                <a:cs typeface="Times New Roman" pitchFamily="18" charset="0"/>
              </a:rPr>
              <a:t>are wants for specific products backed by an ability to pay. Many people want a Mercedes; only a few</a:t>
            </a:r>
            <a:br>
              <a:rPr lang="en-US" sz="9600" dirty="0">
                <a:solidFill>
                  <a:srgbClr val="231F20"/>
                </a:solidFill>
                <a:latin typeface="Times New Roman" pitchFamily="18" charset="0"/>
                <a:cs typeface="Times New Roman" pitchFamily="18" charset="0"/>
              </a:rPr>
            </a:br>
            <a:r>
              <a:rPr lang="en-US" sz="9600" dirty="0">
                <a:solidFill>
                  <a:srgbClr val="231F20"/>
                </a:solidFill>
                <a:latin typeface="Times New Roman" pitchFamily="18" charset="0"/>
                <a:cs typeface="Times New Roman" pitchFamily="18" charset="0"/>
              </a:rPr>
              <a:t>can buy one. Companies must measure not only how many people want their product, but also how many are willing and able to buy it</a:t>
            </a:r>
            <a:br>
              <a:rPr lang="en-US" sz="9600" dirty="0">
                <a:solidFill>
                  <a:srgbClr val="231F20"/>
                </a:solidFill>
                <a:latin typeface="Times New Roman" pitchFamily="18" charset="0"/>
                <a:cs typeface="Times New Roman" pitchFamily="18" charset="0"/>
              </a:rPr>
            </a:br>
            <a:br>
              <a:rPr lang="en-US" sz="9600" dirty="0">
                <a:solidFill>
                  <a:srgbClr val="231F20"/>
                </a:solidFill>
                <a:latin typeface="Times New Roman" pitchFamily="18" charset="0"/>
                <a:cs typeface="Times New Roman" pitchFamily="18" charset="0"/>
              </a:rPr>
            </a:br>
            <a:br>
              <a:rPr lang="en-US" dirty="0">
                <a:solidFill>
                  <a:srgbClr val="231F20"/>
                </a:solidFill>
                <a:latin typeface="Times New Roman" pitchFamily="18" charset="0"/>
                <a:cs typeface="Times New Roman" pitchFamily="18" charset="0"/>
              </a:rPr>
            </a:br>
            <a:br>
              <a:rPr lang="en-US" dirty="0">
                <a:solidFill>
                  <a:srgbClr val="231F20"/>
                </a:solidFill>
                <a:latin typeface="Times New Roman" pitchFamily="18" charset="0"/>
                <a:cs typeface="Times New Roman" pitchFamily="18" charset="0"/>
              </a:rPr>
            </a:br>
            <a:br>
              <a:rPr lang="en-US" dirty="0">
                <a:solidFill>
                  <a:srgbClr val="231F20"/>
                </a:solidFill>
                <a:latin typeface="Times New Roman" pitchFamily="18" charset="0"/>
                <a:cs typeface="Times New Roman" pitchFamily="18" charset="0"/>
              </a:rPr>
            </a:br>
            <a:br>
              <a:rPr lang="en-US" dirty="0">
                <a:solidFill>
                  <a:srgbClr val="231F20"/>
                </a:solidFill>
                <a:latin typeface="Times New Roman" pitchFamily="18" charset="0"/>
                <a:cs typeface="Times New Roman" pitchFamily="18" charset="0"/>
              </a:rPr>
            </a:br>
            <a:br>
              <a:rPr lang="en-US" dirty="0">
                <a:solidFill>
                  <a:srgbClr val="231F20"/>
                </a:solidFill>
                <a:latin typeface="Times New Roman" pitchFamily="18" charset="0"/>
                <a:cs typeface="Times New Roman" pitchFamily="18" charset="0"/>
              </a:rPr>
            </a:br>
            <a:br>
              <a:rPr lang="en-US" dirty="0">
                <a:solidFill>
                  <a:srgbClr val="231F20"/>
                </a:solidFill>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C627A1CE-456F-7856-408C-22F6F2961794}"/>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34838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br>
              <a:rPr lang="en-US" dirty="0">
                <a:solidFill>
                  <a:srgbClr val="231F20"/>
                </a:solidFill>
                <a:latin typeface="Times New Roman" pitchFamily="18" charset="0"/>
                <a:cs typeface="Times New Roman" pitchFamily="18" charset="0"/>
              </a:rPr>
            </a:br>
            <a:r>
              <a:rPr lang="en-US" dirty="0">
                <a:solidFill>
                  <a:srgbClr val="231F20"/>
                </a:solidFill>
                <a:latin typeface="Times New Roman" pitchFamily="18" charset="0"/>
                <a:cs typeface="Times New Roman" pitchFamily="18" charset="0"/>
              </a:rPr>
              <a:t>Five types of needs</a:t>
            </a:r>
            <a:br>
              <a:rPr lang="en-US" dirty="0">
                <a:solidFill>
                  <a:srgbClr val="231F20"/>
                </a:solidFill>
                <a:latin typeface="Times New Roman" pitchFamily="18" charset="0"/>
                <a:cs typeface="Times New Roman" pitchFamily="18" charset="0"/>
              </a:rPr>
            </a:br>
            <a:br>
              <a:rPr lang="en-US" dirty="0">
                <a:solidFill>
                  <a:srgbClr val="231F20"/>
                </a:solidFill>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525963"/>
          </a:xfrm>
        </p:spPr>
        <p:txBody>
          <a:bodyPr>
            <a:noAutofit/>
          </a:bodyPr>
          <a:lstStyle/>
          <a:p>
            <a:pPr marL="0" indent="0">
              <a:buNone/>
            </a:pPr>
            <a:r>
              <a:rPr lang="en-US" sz="2400" b="1" dirty="0">
                <a:solidFill>
                  <a:srgbClr val="231F20"/>
                </a:solidFill>
                <a:latin typeface="Times New Roman" pitchFamily="18" charset="0"/>
                <a:cs typeface="Times New Roman" pitchFamily="18" charset="0"/>
              </a:rPr>
              <a:t>1. Stated needs </a:t>
            </a:r>
            <a:r>
              <a:rPr lang="en-US" sz="2400" dirty="0">
                <a:solidFill>
                  <a:srgbClr val="231F20"/>
                </a:solidFill>
                <a:latin typeface="Times New Roman" pitchFamily="18" charset="0"/>
                <a:cs typeface="Times New Roman" pitchFamily="18" charset="0"/>
              </a:rPr>
              <a:t>(The customer wants an inexpensive car.)</a:t>
            </a:r>
          </a:p>
          <a:p>
            <a:pPr marL="0" indent="0">
              <a:buNone/>
            </a:pPr>
            <a:br>
              <a:rPr lang="en-US" sz="2400" dirty="0">
                <a:solidFill>
                  <a:srgbClr val="231F20"/>
                </a:solidFill>
                <a:latin typeface="Times New Roman" pitchFamily="18" charset="0"/>
                <a:cs typeface="Times New Roman" pitchFamily="18" charset="0"/>
              </a:rPr>
            </a:br>
            <a:r>
              <a:rPr lang="en-US" sz="2400" b="1" dirty="0">
                <a:solidFill>
                  <a:srgbClr val="231F20"/>
                </a:solidFill>
                <a:latin typeface="Times New Roman" pitchFamily="18" charset="0"/>
                <a:cs typeface="Times New Roman" pitchFamily="18" charset="0"/>
              </a:rPr>
              <a:t>2. Real needs </a:t>
            </a:r>
            <a:r>
              <a:rPr lang="en-US" sz="2400" dirty="0">
                <a:solidFill>
                  <a:srgbClr val="231F20"/>
                </a:solidFill>
                <a:latin typeface="Times New Roman" pitchFamily="18" charset="0"/>
                <a:cs typeface="Times New Roman" pitchFamily="18" charset="0"/>
              </a:rPr>
              <a:t>(The customer wants a car whose operating cost, not initial price, is low.)</a:t>
            </a:r>
          </a:p>
          <a:p>
            <a:pPr marL="0" indent="0">
              <a:buNone/>
            </a:pPr>
            <a:br>
              <a:rPr lang="en-US" sz="2400" dirty="0">
                <a:solidFill>
                  <a:srgbClr val="231F20"/>
                </a:solidFill>
                <a:latin typeface="Times New Roman" pitchFamily="18" charset="0"/>
                <a:cs typeface="Times New Roman" pitchFamily="18" charset="0"/>
              </a:rPr>
            </a:br>
            <a:r>
              <a:rPr lang="en-US" sz="2400" b="1" dirty="0">
                <a:solidFill>
                  <a:srgbClr val="231F20"/>
                </a:solidFill>
                <a:latin typeface="Times New Roman" pitchFamily="18" charset="0"/>
                <a:cs typeface="Times New Roman" pitchFamily="18" charset="0"/>
              </a:rPr>
              <a:t>3. Unstated needs </a:t>
            </a:r>
            <a:r>
              <a:rPr lang="en-US" sz="2400" dirty="0">
                <a:solidFill>
                  <a:srgbClr val="231F20"/>
                </a:solidFill>
                <a:latin typeface="Times New Roman" pitchFamily="18" charset="0"/>
                <a:cs typeface="Times New Roman" pitchFamily="18" charset="0"/>
              </a:rPr>
              <a:t>(The customer expects good service from the dealer.)</a:t>
            </a:r>
          </a:p>
          <a:p>
            <a:pPr marL="0" indent="0">
              <a:buNone/>
            </a:pPr>
            <a:br>
              <a:rPr lang="en-US" sz="2400" dirty="0">
                <a:solidFill>
                  <a:srgbClr val="231F20"/>
                </a:solidFill>
                <a:latin typeface="Times New Roman" pitchFamily="18" charset="0"/>
                <a:cs typeface="Times New Roman" pitchFamily="18" charset="0"/>
              </a:rPr>
            </a:br>
            <a:r>
              <a:rPr lang="en-US" sz="2400" b="1" dirty="0">
                <a:solidFill>
                  <a:srgbClr val="231F20"/>
                </a:solidFill>
                <a:latin typeface="Times New Roman" pitchFamily="18" charset="0"/>
                <a:cs typeface="Times New Roman" pitchFamily="18" charset="0"/>
              </a:rPr>
              <a:t>4. Delight needs </a:t>
            </a:r>
            <a:r>
              <a:rPr lang="en-US" sz="2400" dirty="0">
                <a:solidFill>
                  <a:srgbClr val="231F20"/>
                </a:solidFill>
                <a:latin typeface="Times New Roman" pitchFamily="18" charset="0"/>
                <a:cs typeface="Times New Roman" pitchFamily="18" charset="0"/>
              </a:rPr>
              <a:t>(The customer would like the dealer to include an onboard GPS system.)</a:t>
            </a:r>
          </a:p>
          <a:p>
            <a:pPr marL="0" indent="0">
              <a:buNone/>
            </a:pPr>
            <a:br>
              <a:rPr lang="en-US" sz="2400" dirty="0">
                <a:solidFill>
                  <a:srgbClr val="231F20"/>
                </a:solidFill>
                <a:latin typeface="Times New Roman" pitchFamily="18" charset="0"/>
                <a:cs typeface="Times New Roman" pitchFamily="18" charset="0"/>
              </a:rPr>
            </a:br>
            <a:r>
              <a:rPr lang="en-US" sz="2400" b="1" dirty="0">
                <a:solidFill>
                  <a:srgbClr val="231F20"/>
                </a:solidFill>
                <a:latin typeface="Times New Roman" pitchFamily="18" charset="0"/>
                <a:cs typeface="Times New Roman" pitchFamily="18" charset="0"/>
              </a:rPr>
              <a:t>5. Secret needs </a:t>
            </a:r>
            <a:r>
              <a:rPr lang="en-US" sz="2400" dirty="0">
                <a:solidFill>
                  <a:srgbClr val="231F20"/>
                </a:solidFill>
                <a:latin typeface="Times New Roman" pitchFamily="18" charset="0"/>
                <a:cs typeface="Times New Roman" pitchFamily="18" charset="0"/>
              </a:rPr>
              <a:t>(The customer wants friends to see him or her as a savvy consumer.)</a:t>
            </a: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7580266-2471-FD7C-4EC2-918D269F8C4F}"/>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252153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itchFamily="18" charset="0"/>
                <a:cs typeface="Times New Roman" pitchFamily="18" charset="0"/>
              </a:rPr>
            </a:br>
            <a:br>
              <a:rPr lang="en-US" b="1" dirty="0">
                <a:latin typeface="Times New Roman" pitchFamily="18" charset="0"/>
                <a:cs typeface="Times New Roman" pitchFamily="18" charset="0"/>
              </a:rPr>
            </a:br>
            <a:r>
              <a:rPr lang="en-US" sz="3100" b="1" dirty="0">
                <a:latin typeface="Times New Roman" pitchFamily="18" charset="0"/>
                <a:cs typeface="Times New Roman" pitchFamily="18" charset="0"/>
              </a:rPr>
              <a:t>Target Markets, Positioning, And Segmentation</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r>
              <a:rPr lang="en-US" dirty="0">
                <a:latin typeface="Times New Roman" pitchFamily="18" charset="0"/>
                <a:cs typeface="Times New Roman" pitchFamily="18" charset="0"/>
              </a:rPr>
              <a:t>Not everyone likes the same cereal, restaurant, university, or movie. Marketers therefore identify distinct segments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of buyers by identifying demographic, psychographic, and behavioral differences between them. </a:t>
            </a:r>
          </a:p>
          <a:p>
            <a:pPr marL="0" indent="0">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They then decide which segment(s) present the greatest opportunities. For each of these </a:t>
            </a:r>
            <a:r>
              <a:rPr lang="en-US" i="1" dirty="0">
                <a:latin typeface="Times New Roman" pitchFamily="18" charset="0"/>
                <a:cs typeface="Times New Roman" pitchFamily="18" charset="0"/>
              </a:rPr>
              <a:t>target markets, </a:t>
            </a:r>
            <a:r>
              <a:rPr lang="en-US" dirty="0">
                <a:latin typeface="Times New Roman" pitchFamily="18" charset="0"/>
                <a:cs typeface="Times New Roman" pitchFamily="18" charset="0"/>
              </a:rPr>
              <a:t>the firm develops a </a:t>
            </a:r>
            <a:r>
              <a:rPr lang="en-US" i="1" dirty="0">
                <a:latin typeface="Times New Roman" pitchFamily="18" charset="0"/>
                <a:cs typeface="Times New Roman" pitchFamily="18" charset="0"/>
              </a:rPr>
              <a:t>market offering </a:t>
            </a:r>
            <a:r>
              <a:rPr lang="en-US" dirty="0">
                <a:latin typeface="Times New Roman" pitchFamily="18" charset="0"/>
                <a:cs typeface="Times New Roman" pitchFamily="18" charset="0"/>
              </a:rPr>
              <a:t>that it </a:t>
            </a:r>
            <a:r>
              <a:rPr lang="en-US" i="1" dirty="0">
                <a:latin typeface="Times New Roman" pitchFamily="18" charset="0"/>
                <a:cs typeface="Times New Roman" pitchFamily="18" charset="0"/>
              </a:rPr>
              <a:t>positions </a:t>
            </a:r>
            <a:r>
              <a:rPr lang="en-US" dirty="0">
                <a:latin typeface="Times New Roman" pitchFamily="18" charset="0"/>
                <a:cs typeface="Times New Roman" pitchFamily="18" charset="0"/>
              </a:rPr>
              <a:t>in target buyers’ minds as delivering some key benefit(s).</a:t>
            </a: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A8717719-1A60-80E1-B549-8D2C2635C402}"/>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058820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Offerings And Brands</a:t>
            </a:r>
          </a:p>
        </p:txBody>
      </p:sp>
      <p:sp>
        <p:nvSpPr>
          <p:cNvPr id="3" name="Content Placeholder 2"/>
          <p:cNvSpPr>
            <a:spLocks noGrp="1"/>
          </p:cNvSpPr>
          <p:nvPr>
            <p:ph idx="1"/>
          </p:nvPr>
        </p:nvSpPr>
        <p:spPr/>
        <p:txBody>
          <a:bodyPr>
            <a:noAutofit/>
          </a:bodyPr>
          <a:lstStyle/>
          <a:p>
            <a:r>
              <a:rPr lang="en-US" sz="2400" dirty="0">
                <a:solidFill>
                  <a:srgbClr val="231F20"/>
                </a:solidFill>
                <a:latin typeface="Times New Roman" pitchFamily="18" charset="0"/>
                <a:cs typeface="Times New Roman" pitchFamily="18" charset="0"/>
              </a:rPr>
              <a:t>Companies address customer needs by putting forth a </a:t>
            </a:r>
            <a:r>
              <a:rPr lang="en-US" sz="2400" b="1" dirty="0">
                <a:solidFill>
                  <a:srgbClr val="231F20"/>
                </a:solidFill>
                <a:latin typeface="Times New Roman" pitchFamily="18" charset="0"/>
                <a:cs typeface="Times New Roman" pitchFamily="18" charset="0"/>
              </a:rPr>
              <a:t>value proposition</a:t>
            </a:r>
            <a:r>
              <a:rPr lang="en-US" sz="2400" dirty="0">
                <a:solidFill>
                  <a:srgbClr val="231F20"/>
                </a:solidFill>
                <a:latin typeface="Times New Roman" pitchFamily="18" charset="0"/>
                <a:cs typeface="Times New Roman" pitchFamily="18" charset="0"/>
              </a:rPr>
              <a:t>, a set of benefits that satisfy those needs. The intangible value proposition is made physical by an </a:t>
            </a:r>
            <a:r>
              <a:rPr lang="en-US" sz="2400" b="1" i="1" dirty="0">
                <a:solidFill>
                  <a:srgbClr val="231F20"/>
                </a:solidFill>
                <a:latin typeface="Times New Roman" pitchFamily="18" charset="0"/>
                <a:cs typeface="Times New Roman" pitchFamily="18" charset="0"/>
              </a:rPr>
              <a:t>offering</a:t>
            </a:r>
            <a:r>
              <a:rPr lang="en-US" sz="2400" i="1" dirty="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which can be a combination of products,</a:t>
            </a:r>
            <a:br>
              <a:rPr lang="en-US" sz="2400" dirty="0">
                <a:solidFill>
                  <a:srgbClr val="231F20"/>
                </a:solidFill>
                <a:latin typeface="Times New Roman" pitchFamily="18" charset="0"/>
                <a:cs typeface="Times New Roman" pitchFamily="18" charset="0"/>
              </a:rPr>
            </a:br>
            <a:r>
              <a:rPr lang="en-US" sz="2400" dirty="0">
                <a:solidFill>
                  <a:srgbClr val="231F20"/>
                </a:solidFill>
                <a:latin typeface="Times New Roman" pitchFamily="18" charset="0"/>
                <a:cs typeface="Times New Roman" pitchFamily="18" charset="0"/>
              </a:rPr>
              <a:t>services, information, and experiences</a:t>
            </a:r>
          </a:p>
          <a:p>
            <a:pPr marL="0" indent="0">
              <a:buNone/>
            </a:pPr>
            <a:endParaRPr lang="en-US" sz="2400" dirty="0">
              <a:solidFill>
                <a:srgbClr val="231F20"/>
              </a:solidFill>
              <a:latin typeface="Times New Roman" pitchFamily="18" charset="0"/>
              <a:cs typeface="Times New Roman" pitchFamily="18" charset="0"/>
            </a:endParaRPr>
          </a:p>
          <a:p>
            <a:r>
              <a:rPr lang="en-US" sz="2400" dirty="0">
                <a:solidFill>
                  <a:srgbClr val="231F20"/>
                </a:solidFill>
                <a:latin typeface="Times New Roman" pitchFamily="18" charset="0"/>
                <a:cs typeface="Times New Roman" pitchFamily="18" charset="0"/>
              </a:rPr>
              <a:t>A </a:t>
            </a:r>
            <a:r>
              <a:rPr lang="en-US" sz="2400" b="1" dirty="0">
                <a:solidFill>
                  <a:srgbClr val="231F20"/>
                </a:solidFill>
                <a:latin typeface="Times New Roman" pitchFamily="18" charset="0"/>
                <a:cs typeface="Times New Roman" pitchFamily="18" charset="0"/>
              </a:rPr>
              <a:t>brand name </a:t>
            </a:r>
            <a:r>
              <a:rPr lang="en-US" sz="2400" dirty="0">
                <a:solidFill>
                  <a:srgbClr val="231F20"/>
                </a:solidFill>
                <a:latin typeface="Times New Roman" pitchFamily="18" charset="0"/>
                <a:cs typeface="Times New Roman" pitchFamily="18" charset="0"/>
              </a:rPr>
              <a:t>such as Apple carries many different kinds of</a:t>
            </a:r>
            <a:br>
              <a:rPr lang="en-US" sz="2400" dirty="0">
                <a:solidFill>
                  <a:srgbClr val="231F20"/>
                </a:solidFill>
                <a:latin typeface="Times New Roman" pitchFamily="18" charset="0"/>
                <a:cs typeface="Times New Roman" pitchFamily="18" charset="0"/>
              </a:rPr>
            </a:br>
            <a:r>
              <a:rPr lang="en-US" sz="2400" dirty="0">
                <a:solidFill>
                  <a:srgbClr val="231F20"/>
                </a:solidFill>
                <a:latin typeface="Times New Roman" pitchFamily="18" charset="0"/>
                <a:cs typeface="Times New Roman" pitchFamily="18" charset="0"/>
              </a:rPr>
              <a:t>associations in people’s minds that make up its image: creative, innovative, easy-to-use, fun, cool, iPod, iPhone, and</a:t>
            </a:r>
            <a:br>
              <a:rPr lang="en-US" sz="2400" dirty="0">
                <a:solidFill>
                  <a:srgbClr val="231F20"/>
                </a:solidFill>
                <a:latin typeface="Times New Roman" pitchFamily="18" charset="0"/>
                <a:cs typeface="Times New Roman" pitchFamily="18" charset="0"/>
              </a:rPr>
            </a:br>
            <a:r>
              <a:rPr lang="en-US" sz="2400" dirty="0">
                <a:solidFill>
                  <a:srgbClr val="231F20"/>
                </a:solidFill>
                <a:latin typeface="Times New Roman" pitchFamily="18" charset="0"/>
                <a:cs typeface="Times New Roman" pitchFamily="18" charset="0"/>
              </a:rPr>
              <a:t>iPad to name just a few. All companies strive to build a brand image with as many strong, favorable, and unique</a:t>
            </a:r>
            <a:br>
              <a:rPr lang="en-US" sz="2400" dirty="0">
                <a:solidFill>
                  <a:srgbClr val="231F20"/>
                </a:solidFill>
                <a:latin typeface="Times New Roman" pitchFamily="18" charset="0"/>
                <a:cs typeface="Times New Roman" pitchFamily="18" charset="0"/>
              </a:rPr>
            </a:br>
            <a:r>
              <a:rPr lang="en-US" sz="2400" dirty="0">
                <a:solidFill>
                  <a:srgbClr val="231F20"/>
                </a:solidFill>
                <a:latin typeface="Times New Roman" pitchFamily="18" charset="0"/>
                <a:cs typeface="Times New Roman" pitchFamily="18" charset="0"/>
              </a:rPr>
              <a:t>brand associations as possible.</a:t>
            </a: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D5865560-927E-E575-6E86-12E180DB7711}"/>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77720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solidFill>
                  <a:srgbClr val="231F20"/>
                </a:solidFill>
                <a:latin typeface="Times New Roman" pitchFamily="18" charset="0"/>
                <a:cs typeface="Times New Roman" pitchFamily="18" charset="0"/>
              </a:rPr>
            </a:br>
            <a:r>
              <a:rPr lang="en-US" dirty="0">
                <a:solidFill>
                  <a:srgbClr val="231F20"/>
                </a:solidFill>
                <a:latin typeface="Times New Roman" pitchFamily="18" charset="0"/>
                <a:cs typeface="Times New Roman" pitchFamily="18" charset="0"/>
              </a:rPr>
              <a:t>Marketing Channels</a:t>
            </a:r>
            <a:br>
              <a:rPr lang="en-US" dirty="0">
                <a:solidFill>
                  <a:srgbClr val="231F20"/>
                </a:solidFill>
                <a:latin typeface="Times New Roman" pitchFamily="18" charset="0"/>
                <a:cs typeface="Times New Roman" pitchFamily="18" charset="0"/>
              </a:rPr>
            </a:br>
            <a:br>
              <a:rPr lang="en-US" dirty="0">
                <a:solidFill>
                  <a:srgbClr val="231F20"/>
                </a:solidFill>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686800" cy="4952999"/>
          </a:xfrm>
        </p:spPr>
        <p:txBody>
          <a:bodyPr>
            <a:noAutofit/>
          </a:bodyPr>
          <a:lstStyle/>
          <a:p>
            <a:r>
              <a:rPr lang="en-US" sz="2400" dirty="0">
                <a:solidFill>
                  <a:srgbClr val="231F20"/>
                </a:solidFill>
                <a:latin typeface="Times New Roman" pitchFamily="18" charset="0"/>
                <a:cs typeface="Times New Roman" pitchFamily="18" charset="0"/>
              </a:rPr>
              <a:t>To reach a target market, the marketer uses three kinds of marketing channels</a:t>
            </a:r>
          </a:p>
          <a:p>
            <a:endParaRPr lang="en-US" sz="2400" dirty="0">
              <a:solidFill>
                <a:srgbClr val="231F20"/>
              </a:solidFill>
              <a:latin typeface="Times New Roman" pitchFamily="18" charset="0"/>
              <a:cs typeface="Times New Roman" pitchFamily="18" charset="0"/>
            </a:endParaRPr>
          </a:p>
          <a:p>
            <a:r>
              <a:rPr lang="en-US" sz="2400" b="1" i="1" dirty="0">
                <a:solidFill>
                  <a:srgbClr val="231F20"/>
                </a:solidFill>
                <a:latin typeface="Times New Roman" pitchFamily="18" charset="0"/>
                <a:cs typeface="Times New Roman" pitchFamily="18" charset="0"/>
              </a:rPr>
              <a:t>Communication channels </a:t>
            </a:r>
          </a:p>
          <a:p>
            <a:pPr marL="400050" lvl="1" indent="0">
              <a:buNone/>
            </a:pPr>
            <a:r>
              <a:rPr lang="en-US" sz="2400" dirty="0">
                <a:solidFill>
                  <a:srgbClr val="231F20"/>
                </a:solidFill>
                <a:latin typeface="Times New Roman" pitchFamily="18" charset="0"/>
                <a:cs typeface="Times New Roman" pitchFamily="18" charset="0"/>
              </a:rPr>
              <a:t>deliver and receive messages from target buyers and include newspapers, magazines, radio, television, mail, telephone, smart phone, billboards, posters, fliers, CDs, audiotapes, and the Internet</a:t>
            </a:r>
          </a:p>
          <a:p>
            <a:r>
              <a:rPr lang="en-US" sz="2400" b="1" i="1" dirty="0">
                <a:solidFill>
                  <a:srgbClr val="231F20"/>
                </a:solidFill>
                <a:latin typeface="Times New Roman" pitchFamily="18" charset="0"/>
                <a:cs typeface="Times New Roman" pitchFamily="18" charset="0"/>
              </a:rPr>
              <a:t>Distribution channels </a:t>
            </a:r>
            <a:r>
              <a:rPr lang="en-US" sz="2400" dirty="0">
                <a:solidFill>
                  <a:srgbClr val="231F20"/>
                </a:solidFill>
                <a:latin typeface="Times New Roman" pitchFamily="18" charset="0"/>
                <a:cs typeface="Times New Roman" pitchFamily="18" charset="0"/>
              </a:rPr>
              <a:t>help display, sell, or deliver the physical product or service(s) to the buyer or user</a:t>
            </a:r>
          </a:p>
          <a:p>
            <a:r>
              <a:rPr lang="en-US" sz="2400" dirty="0">
                <a:solidFill>
                  <a:srgbClr val="231F20"/>
                </a:solidFill>
                <a:latin typeface="Times New Roman" pitchFamily="18" charset="0"/>
                <a:cs typeface="Times New Roman" pitchFamily="18" charset="0"/>
              </a:rPr>
              <a:t>To carry out transactions with potential buyers, the marketer also uses </a:t>
            </a:r>
            <a:r>
              <a:rPr lang="en-US" sz="2400" b="1" i="1" dirty="0">
                <a:solidFill>
                  <a:srgbClr val="231F20"/>
                </a:solidFill>
                <a:latin typeface="Times New Roman" pitchFamily="18" charset="0"/>
                <a:cs typeface="Times New Roman" pitchFamily="18" charset="0"/>
              </a:rPr>
              <a:t>service channels </a:t>
            </a:r>
            <a:r>
              <a:rPr lang="en-US" sz="2400" dirty="0">
                <a:solidFill>
                  <a:srgbClr val="231F20"/>
                </a:solidFill>
                <a:latin typeface="Times New Roman" pitchFamily="18" charset="0"/>
                <a:cs typeface="Times New Roman" pitchFamily="18" charset="0"/>
              </a:rPr>
              <a:t>that include warehouses,</a:t>
            </a:r>
            <a:br>
              <a:rPr lang="en-US" sz="2400" dirty="0">
                <a:solidFill>
                  <a:srgbClr val="231F20"/>
                </a:solidFill>
                <a:latin typeface="Times New Roman" pitchFamily="18" charset="0"/>
                <a:cs typeface="Times New Roman" pitchFamily="18" charset="0"/>
              </a:rPr>
            </a:br>
            <a:r>
              <a:rPr lang="en-US" sz="2400" dirty="0">
                <a:solidFill>
                  <a:srgbClr val="231F20"/>
                </a:solidFill>
                <a:latin typeface="Times New Roman" pitchFamily="18" charset="0"/>
                <a:cs typeface="Times New Roman" pitchFamily="18" charset="0"/>
              </a:rPr>
              <a:t>transportation companies, banks, and insurance companies</a:t>
            </a: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BC16A976-F463-87ED-65EB-0840CD694014}"/>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3710232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231F20"/>
                </a:solidFill>
                <a:latin typeface="GillSansMTPro-BookBold"/>
              </a:rPr>
            </a:br>
            <a:r>
              <a:rPr lang="en-US" b="1" dirty="0">
                <a:solidFill>
                  <a:srgbClr val="231F20"/>
                </a:solidFill>
                <a:latin typeface="GillSansMTPro-BookBold"/>
              </a:rPr>
              <a:t>Value And Satisfaction</a:t>
            </a:r>
            <a:br>
              <a:rPr lang="en-US" dirty="0">
                <a:solidFill>
                  <a:srgbClr val="231F20"/>
                </a:solidFill>
                <a:latin typeface="GillSansMTPro-BookBold"/>
              </a:rPr>
            </a:br>
            <a:br>
              <a:rPr lang="en-US" dirty="0">
                <a:solidFill>
                  <a:srgbClr val="231F20"/>
                </a:solidFill>
                <a:latin typeface="GillSansMTPro-BookBold"/>
              </a:rPr>
            </a:br>
            <a:endParaRPr lang="en-US" dirty="0"/>
          </a:p>
        </p:txBody>
      </p:sp>
      <p:sp>
        <p:nvSpPr>
          <p:cNvPr id="3" name="Content Placeholder 2"/>
          <p:cNvSpPr>
            <a:spLocks noGrp="1"/>
          </p:cNvSpPr>
          <p:nvPr>
            <p:ph idx="1"/>
          </p:nvPr>
        </p:nvSpPr>
        <p:spPr/>
        <p:txBody>
          <a:bodyPr>
            <a:noAutofit/>
          </a:bodyPr>
          <a:lstStyle/>
          <a:p>
            <a:r>
              <a:rPr lang="en-US" sz="2400" b="1" dirty="0">
                <a:solidFill>
                  <a:srgbClr val="231F20"/>
                </a:solidFill>
                <a:latin typeface="Times New Roman" pitchFamily="18" charset="0"/>
                <a:cs typeface="Times New Roman" pitchFamily="18" charset="0"/>
              </a:rPr>
              <a:t>Value, </a:t>
            </a:r>
            <a:r>
              <a:rPr lang="en-US" sz="2400" dirty="0">
                <a:solidFill>
                  <a:srgbClr val="231F20"/>
                </a:solidFill>
                <a:latin typeface="Times New Roman" pitchFamily="18" charset="0"/>
                <a:cs typeface="Times New Roman" pitchFamily="18" charset="0"/>
              </a:rPr>
              <a:t>a central marketing concept, is primarily a combination of quality, service and price (</a:t>
            </a:r>
            <a:r>
              <a:rPr lang="en-US" sz="2400" dirty="0" err="1">
                <a:solidFill>
                  <a:srgbClr val="231F20"/>
                </a:solidFill>
                <a:latin typeface="Times New Roman" pitchFamily="18" charset="0"/>
                <a:cs typeface="Times New Roman" pitchFamily="18" charset="0"/>
              </a:rPr>
              <a:t>qsp</a:t>
            </a:r>
            <a:r>
              <a:rPr lang="en-US" sz="2400" dirty="0">
                <a:solidFill>
                  <a:srgbClr val="231F20"/>
                </a:solidFill>
                <a:latin typeface="Times New Roman" pitchFamily="18" charset="0"/>
                <a:cs typeface="Times New Roman" pitchFamily="18" charset="0"/>
              </a:rPr>
              <a:t>)</a:t>
            </a:r>
          </a:p>
          <a:p>
            <a:pPr marL="0" indent="0">
              <a:buNone/>
            </a:pPr>
            <a:endParaRPr lang="en-US" sz="2400" dirty="0">
              <a:solidFill>
                <a:srgbClr val="231F20"/>
              </a:solidFill>
              <a:latin typeface="Times New Roman" pitchFamily="18" charset="0"/>
              <a:cs typeface="Times New Roman" pitchFamily="18" charset="0"/>
            </a:endParaRPr>
          </a:p>
          <a:p>
            <a:r>
              <a:rPr lang="en-US" sz="2400" b="1" dirty="0">
                <a:solidFill>
                  <a:srgbClr val="231F20"/>
                </a:solidFill>
                <a:latin typeface="Times New Roman" pitchFamily="18" charset="0"/>
                <a:cs typeface="Times New Roman" pitchFamily="18" charset="0"/>
              </a:rPr>
              <a:t>Value</a:t>
            </a:r>
            <a:r>
              <a:rPr lang="en-US" sz="2400" dirty="0">
                <a:solidFill>
                  <a:srgbClr val="231F20"/>
                </a:solidFill>
                <a:latin typeface="Times New Roman" pitchFamily="18" charset="0"/>
                <a:cs typeface="Times New Roman" pitchFamily="18" charset="0"/>
              </a:rPr>
              <a:t> perceptions increase with quality and service but decrease with price</a:t>
            </a:r>
          </a:p>
          <a:p>
            <a:pPr marL="0" indent="0">
              <a:buNone/>
            </a:pPr>
            <a:endParaRPr lang="en-US" sz="2400" dirty="0">
              <a:solidFill>
                <a:srgbClr val="231F20"/>
              </a:solidFill>
              <a:latin typeface="Times New Roman" pitchFamily="18" charset="0"/>
              <a:cs typeface="Times New Roman" pitchFamily="18" charset="0"/>
            </a:endParaRPr>
          </a:p>
          <a:p>
            <a:r>
              <a:rPr lang="en-US" sz="2400" b="1" i="1" dirty="0">
                <a:solidFill>
                  <a:srgbClr val="231F20"/>
                </a:solidFill>
                <a:latin typeface="Times New Roman" pitchFamily="18" charset="0"/>
                <a:cs typeface="Times New Roman" pitchFamily="18" charset="0"/>
              </a:rPr>
              <a:t>Satisfaction</a:t>
            </a:r>
            <a:r>
              <a:rPr lang="en-US" sz="2400" i="1" dirty="0">
                <a:solidFill>
                  <a:srgbClr val="231F20"/>
                </a:solidFill>
                <a:latin typeface="Times New Roman" pitchFamily="18" charset="0"/>
                <a:cs typeface="Times New Roman" pitchFamily="18" charset="0"/>
              </a:rPr>
              <a:t> </a:t>
            </a:r>
            <a:r>
              <a:rPr lang="en-US" sz="2400" dirty="0">
                <a:solidFill>
                  <a:srgbClr val="231F20"/>
                </a:solidFill>
                <a:latin typeface="Times New Roman" pitchFamily="18" charset="0"/>
                <a:cs typeface="Times New Roman" pitchFamily="18" charset="0"/>
              </a:rPr>
              <a:t>reflects a person’s judgment of a product’s perceived performance in relationship to expectations.</a:t>
            </a: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3D3E49B1-AF3B-AC41-29CC-C0C98A80B0D7}"/>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2716666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231F20"/>
                </a:solidFill>
                <a:latin typeface="GillSansMTPro-BookBold"/>
              </a:rPr>
            </a:br>
            <a:r>
              <a:rPr lang="en-US" b="1" dirty="0">
                <a:solidFill>
                  <a:srgbClr val="231F20"/>
                </a:solidFill>
                <a:latin typeface="GillSansMTPro-BookBold"/>
              </a:rPr>
              <a:t>Supply Chain</a:t>
            </a:r>
            <a:br>
              <a:rPr lang="en-US" dirty="0">
                <a:solidFill>
                  <a:srgbClr val="231F20"/>
                </a:solidFill>
                <a:latin typeface="GillSansMTPro-BookBold"/>
              </a:rPr>
            </a:br>
            <a:br>
              <a:rPr lang="en-US" dirty="0">
                <a:solidFill>
                  <a:srgbClr val="231F20"/>
                </a:solidFill>
                <a:latin typeface="GillSansMTPro-BookBold"/>
              </a:rPr>
            </a:br>
            <a:endParaRPr lang="en-US" dirty="0"/>
          </a:p>
        </p:txBody>
      </p:sp>
      <p:sp>
        <p:nvSpPr>
          <p:cNvPr id="3" name="Content Placeholder 2"/>
          <p:cNvSpPr>
            <a:spLocks noGrp="1"/>
          </p:cNvSpPr>
          <p:nvPr>
            <p:ph idx="1"/>
          </p:nvPr>
        </p:nvSpPr>
        <p:spPr/>
        <p:txBody>
          <a:bodyPr>
            <a:noAutofit/>
          </a:bodyPr>
          <a:lstStyle/>
          <a:p>
            <a:r>
              <a:rPr lang="en-US" sz="2400" dirty="0">
                <a:solidFill>
                  <a:srgbClr val="231F20"/>
                </a:solidFill>
                <a:latin typeface="Times New Roman" pitchFamily="18" charset="0"/>
                <a:cs typeface="Times New Roman" panose="02020603050405020304" pitchFamily="18" charset="0"/>
              </a:rPr>
              <a:t>The supply chain is a channel stretching from raw materials to components to finished products carried to final buyers</a:t>
            </a:r>
          </a:p>
          <a:p>
            <a:pPr marL="0" indent="0">
              <a:buNone/>
            </a:pPr>
            <a:endParaRPr lang="en-US" sz="2400" dirty="0">
              <a:solidFill>
                <a:srgbClr val="231F20"/>
              </a:solidFill>
              <a:latin typeface="Times New Roman" panose="02020603050405020304" pitchFamily="18" charset="0"/>
              <a:cs typeface="Times New Roman" panose="02020603050405020304" pitchFamily="18" charset="0"/>
            </a:endParaRPr>
          </a:p>
          <a:p>
            <a:r>
              <a:rPr lang="en-US" sz="2400" dirty="0">
                <a:solidFill>
                  <a:srgbClr val="000000"/>
                </a:solidFill>
                <a:latin typeface="Times New Roman" panose="02020603050405020304" pitchFamily="18" charset="0"/>
                <a:cs typeface="Times New Roman" panose="02020603050405020304" pitchFamily="18" charset="0"/>
              </a:rPr>
              <a:t>A </a:t>
            </a:r>
            <a:r>
              <a:rPr lang="en-US" sz="2400" i="1" dirty="0">
                <a:solidFill>
                  <a:srgbClr val="000000"/>
                </a:solidFill>
                <a:latin typeface="Times New Roman" panose="02020603050405020304" pitchFamily="18" charset="0"/>
                <a:cs typeface="Times New Roman" panose="02020603050405020304" pitchFamily="18" charset="0"/>
              </a:rPr>
              <a:t>supply chain </a:t>
            </a:r>
            <a:r>
              <a:rPr lang="en-US" sz="2400" dirty="0">
                <a:solidFill>
                  <a:srgbClr val="000000"/>
                </a:solidFill>
                <a:latin typeface="Times New Roman" panose="02020603050405020304" pitchFamily="18" charset="0"/>
                <a:cs typeface="Times New Roman" panose="02020603050405020304" pitchFamily="18" charset="0"/>
              </a:rPr>
              <a:t>consists of all parties involved, directly or indirectly, in fulfilling a customer request. The supply chain includes not only the manufacturer and suppliers, but also transporters, warehouses, retailers, and even customers themselves. </a:t>
            </a:r>
            <a:br>
              <a:rPr lang="en-US" sz="2400" dirty="0">
                <a:solidFill>
                  <a:srgbClr val="000000"/>
                </a:solidFill>
                <a:latin typeface="Times New Roman" panose="02020603050405020304" pitchFamily="18" charset="0"/>
                <a:cs typeface="Times New Roman" panose="02020603050405020304" pitchFamily="18" charset="0"/>
              </a:rPr>
            </a:br>
            <a:br>
              <a:rPr lang="en-US" sz="2400" dirty="0">
                <a:solidFill>
                  <a:srgbClr val="000000"/>
                </a:solidFill>
                <a:latin typeface="Times New Roman" panose="02020603050405020304" pitchFamily="18" charset="0"/>
                <a:cs typeface="Times New Roman" panose="02020603050405020304" pitchFamily="18" charset="0"/>
              </a:rPr>
            </a:br>
            <a:endParaRPr lang="en-US" sz="2400" dirty="0">
              <a:solidFill>
                <a:srgbClr val="231F20"/>
              </a:solidFill>
              <a:latin typeface="Times New Roman" pitchFamily="18" charset="0"/>
              <a:cs typeface="Times New Roman" pitchFamily="18" charset="0"/>
            </a:endParaRPr>
          </a:p>
          <a:p>
            <a:endParaRPr lang="en-US" sz="2400" dirty="0">
              <a:solidFill>
                <a:srgbClr val="231F20"/>
              </a:solidFill>
              <a:latin typeface="Times New Roman" pitchFamily="18" charset="0"/>
              <a:cs typeface="Times New Roman" pitchFamily="18" charset="0"/>
            </a:endParaRPr>
          </a:p>
          <a:p>
            <a:pPr marL="0" indent="0">
              <a:buNone/>
            </a:pP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DB082EF4-B00C-6658-8950-19ADFD4280AF}"/>
              </a:ext>
            </a:extLst>
          </p:cNvPr>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1693444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231F20"/>
                </a:solidFill>
                <a:latin typeface="GlyphaLTStd-Bold"/>
              </a:rPr>
            </a:br>
            <a:r>
              <a:rPr lang="en-US" b="1" dirty="0">
                <a:solidFill>
                  <a:srgbClr val="231F20"/>
                </a:solidFill>
                <a:latin typeface="GlyphaLTStd-Bold"/>
              </a:rPr>
              <a:t>The New Marketing Realities</a:t>
            </a:r>
            <a:br>
              <a:rPr lang="en-US" dirty="0">
                <a:solidFill>
                  <a:srgbClr val="231F20"/>
                </a:solidFill>
                <a:latin typeface="GlyphaLTStd-Bold"/>
              </a:rPr>
            </a:br>
            <a:br>
              <a:rPr lang="en-US" dirty="0">
                <a:solidFill>
                  <a:srgbClr val="231F20"/>
                </a:solidFill>
                <a:latin typeface="GlyphaLTStd-Bold"/>
              </a:rPr>
            </a:br>
            <a:endParaRPr lang="en-US" dirty="0"/>
          </a:p>
        </p:txBody>
      </p:sp>
      <p:sp>
        <p:nvSpPr>
          <p:cNvPr id="3" name="Content Placeholder 2"/>
          <p:cNvSpPr>
            <a:spLocks noGrp="1"/>
          </p:cNvSpPr>
          <p:nvPr>
            <p:ph idx="1"/>
          </p:nvPr>
        </p:nvSpPr>
        <p:spPr/>
        <p:txBody>
          <a:bodyPr>
            <a:noAutofit/>
          </a:bodyPr>
          <a:lstStyle/>
          <a:p>
            <a:pPr algn="just"/>
            <a:r>
              <a:rPr lang="en-US" sz="2400" b="1" dirty="0">
                <a:solidFill>
                  <a:srgbClr val="231F20"/>
                </a:solidFill>
                <a:latin typeface="Times New Roman" pitchFamily="18" charset="0"/>
                <a:cs typeface="Times New Roman" pitchFamily="18" charset="0"/>
              </a:rPr>
              <a:t>Technology: </a:t>
            </a:r>
            <a:r>
              <a:rPr lang="en-US" sz="2400" dirty="0">
                <a:solidFill>
                  <a:srgbClr val="231F20"/>
                </a:solidFill>
                <a:latin typeface="Times New Roman" pitchFamily="18" charset="0"/>
                <a:cs typeface="Times New Roman" pitchFamily="18" charset="0"/>
              </a:rPr>
              <a:t>The pace of change and the scale of technological achievement can be staggering. The number of mobile phones in India recently exceeded 500 million, Facebook’s monthly users passed 1 billion, and more than half of African urban residents were able to access the Internet monthly.</a:t>
            </a:r>
          </a:p>
          <a:p>
            <a:pPr algn="just"/>
            <a:r>
              <a:rPr lang="en-US" sz="2400" dirty="0">
                <a:solidFill>
                  <a:srgbClr val="231F20"/>
                </a:solidFill>
                <a:latin typeface="Times New Roman" pitchFamily="18" charset="0"/>
                <a:cs typeface="Times New Roman" pitchFamily="18" charset="0"/>
              </a:rPr>
              <a:t>With the rapid rise of e-commerce, the mobile Internet, and Web penetration in emerging markets, the Boston Consulting Group believes brand marketers must enhance their “digital balance sheet”. </a:t>
            </a: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br>
              <a:rPr lang="en-US" sz="2400" dirty="0">
                <a:solidFill>
                  <a:srgbClr val="231F20"/>
                </a:solidFill>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E8D46AF-C5C4-313A-3B0A-1AF660B2ABDB}"/>
              </a:ext>
            </a:extLst>
          </p:cNvPr>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339070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231F20"/>
                </a:solidFill>
                <a:latin typeface="GillSansMTPro-BookBold"/>
              </a:rPr>
            </a:br>
            <a:r>
              <a:rPr lang="en-US" b="1" dirty="0">
                <a:solidFill>
                  <a:srgbClr val="231F20"/>
                </a:solidFill>
                <a:latin typeface="GillSansMTPro-BookBold"/>
              </a:rPr>
              <a:t>Globalization</a:t>
            </a:r>
            <a:br>
              <a:rPr lang="en-US" dirty="0">
                <a:solidFill>
                  <a:srgbClr val="231F20"/>
                </a:solidFill>
                <a:latin typeface="GillSansMTPro-BookBold"/>
              </a:rPr>
            </a:br>
            <a:br>
              <a:rPr lang="en-US" dirty="0">
                <a:solidFill>
                  <a:srgbClr val="231F20"/>
                </a:solidFill>
                <a:latin typeface="GillSansMTPro-BookBold"/>
              </a:rPr>
            </a:br>
            <a:endParaRPr lang="en-US" dirty="0"/>
          </a:p>
        </p:txBody>
      </p:sp>
      <p:sp>
        <p:nvSpPr>
          <p:cNvPr id="3" name="Content Placeholder 2"/>
          <p:cNvSpPr>
            <a:spLocks noGrp="1"/>
          </p:cNvSpPr>
          <p:nvPr>
            <p:ph idx="1"/>
          </p:nvPr>
        </p:nvSpPr>
        <p:spPr>
          <a:xfrm>
            <a:off x="457200" y="1600200"/>
            <a:ext cx="8229600" cy="4525963"/>
          </a:xfrm>
        </p:spPr>
        <p:txBody>
          <a:bodyPr>
            <a:normAutofit fontScale="77500" lnSpcReduction="20000"/>
          </a:bodyPr>
          <a:lstStyle/>
          <a:p>
            <a:pPr algn="just"/>
            <a:r>
              <a:rPr lang="en-US" dirty="0">
                <a:solidFill>
                  <a:srgbClr val="231F20"/>
                </a:solidFill>
                <a:latin typeface="Times New Roman" panose="02020603050405020304" pitchFamily="18" charset="0"/>
                <a:cs typeface="Times New Roman" panose="02020603050405020304" pitchFamily="18" charset="0"/>
              </a:rPr>
              <a:t>The world has become a smaller place. New transportation, shipping, and communication technologies have made it easier for us to know the rest of the world, to travel, to buy and sell anywhere</a:t>
            </a:r>
          </a:p>
          <a:p>
            <a:pPr marL="0" indent="0" algn="just">
              <a:buNone/>
            </a:pPr>
            <a:endParaRPr lang="en-US" dirty="0">
              <a:solidFill>
                <a:srgbClr val="231F20"/>
              </a:solidFill>
              <a:latin typeface="Times New Roman" panose="02020603050405020304" pitchFamily="18" charset="0"/>
              <a:cs typeface="Times New Roman" panose="02020603050405020304" pitchFamily="18" charset="0"/>
            </a:endParaRPr>
          </a:p>
          <a:p>
            <a:pPr algn="just"/>
            <a:r>
              <a:rPr lang="en-US" dirty="0">
                <a:solidFill>
                  <a:srgbClr val="231F20"/>
                </a:solidFill>
                <a:latin typeface="Times New Roman" panose="02020603050405020304" pitchFamily="18" charset="0"/>
                <a:cs typeface="Times New Roman" panose="02020603050405020304" pitchFamily="18" charset="0"/>
              </a:rPr>
              <a:t>Globalization has made countries increasingly multicultural. U.S. minorities have much economic clout, and their buying power is growing faster than that of the general population</a:t>
            </a:r>
            <a:br>
              <a:rPr lang="en-US" dirty="0">
                <a:solidFill>
                  <a:srgbClr val="231F20"/>
                </a:solidFill>
                <a:latin typeface="Times New Roman" panose="02020603050405020304" pitchFamily="18" charset="0"/>
                <a:cs typeface="Times New Roman" panose="02020603050405020304" pitchFamily="18" charset="0"/>
              </a:rPr>
            </a:br>
            <a:br>
              <a:rPr lang="en-US" dirty="0">
                <a:solidFill>
                  <a:srgbClr val="231F20"/>
                </a:solidFill>
                <a:latin typeface="Times New Roman" panose="02020603050405020304" pitchFamily="18" charset="0"/>
                <a:cs typeface="Times New Roman" panose="02020603050405020304" pitchFamily="18" charset="0"/>
              </a:rPr>
            </a:br>
            <a:br>
              <a:rPr lang="en-US" dirty="0">
                <a:solidFill>
                  <a:srgbClr val="231F20"/>
                </a:solidFill>
                <a:latin typeface="Times New Roman" panose="02020603050405020304" pitchFamily="18" charset="0"/>
                <a:cs typeface="Times New Roman" panose="02020603050405020304" pitchFamily="18" charset="0"/>
              </a:rPr>
            </a:br>
            <a:br>
              <a:rPr lang="en-US" dirty="0">
                <a:solidFill>
                  <a:srgbClr val="231F20"/>
                </a:solidFill>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36E550-3F82-FAC3-76CB-F9A856CDE1AA}"/>
              </a:ext>
            </a:extLst>
          </p:cNvPr>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376822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231F20"/>
                </a:solidFill>
                <a:latin typeface="GillSansMTPro-BookBold"/>
              </a:rPr>
            </a:br>
            <a:r>
              <a:rPr lang="en-US" b="1" dirty="0">
                <a:solidFill>
                  <a:srgbClr val="231F20"/>
                </a:solidFill>
                <a:latin typeface="GillSansMTPro-BookBold"/>
              </a:rPr>
              <a:t>Social Responsibility</a:t>
            </a:r>
            <a:br>
              <a:rPr lang="en-US" dirty="0">
                <a:solidFill>
                  <a:srgbClr val="231F20"/>
                </a:solidFill>
                <a:latin typeface="GillSansMTPro-BookBold"/>
              </a:rPr>
            </a:br>
            <a:br>
              <a:rPr lang="en-US" dirty="0">
                <a:solidFill>
                  <a:srgbClr val="231F20"/>
                </a:solidFill>
                <a:latin typeface="GillSansMTPro-BookBold"/>
              </a:rPr>
            </a:br>
            <a:endParaRPr lang="en-US" dirty="0"/>
          </a:p>
        </p:txBody>
      </p:sp>
      <p:sp>
        <p:nvSpPr>
          <p:cNvPr id="3" name="Content Placeholder 2"/>
          <p:cNvSpPr>
            <a:spLocks noGrp="1"/>
          </p:cNvSpPr>
          <p:nvPr>
            <p:ph idx="1"/>
          </p:nvPr>
        </p:nvSpPr>
        <p:spPr/>
        <p:txBody>
          <a:bodyPr>
            <a:normAutofit/>
          </a:bodyPr>
          <a:lstStyle/>
          <a:p>
            <a:pPr algn="just"/>
            <a:r>
              <a:rPr lang="en-US" sz="2400" dirty="0">
                <a:solidFill>
                  <a:srgbClr val="231F20"/>
                </a:solidFill>
                <a:latin typeface="Times New Roman" panose="02020603050405020304" pitchFamily="18" charset="0"/>
                <a:cs typeface="Times New Roman" panose="02020603050405020304" pitchFamily="18" charset="0"/>
              </a:rPr>
              <a:t>Poverty, pollution, water shortages, climate change, wars, and wealth concentration demand our attention. The</a:t>
            </a:r>
            <a:br>
              <a:rPr lang="en-US" sz="2400" dirty="0">
                <a:solidFill>
                  <a:srgbClr val="231F20"/>
                </a:solidFill>
                <a:latin typeface="Times New Roman" panose="02020603050405020304" pitchFamily="18" charset="0"/>
                <a:cs typeface="Times New Roman" panose="02020603050405020304" pitchFamily="18" charset="0"/>
              </a:rPr>
            </a:br>
            <a:r>
              <a:rPr lang="en-US" sz="2400" dirty="0">
                <a:solidFill>
                  <a:srgbClr val="231F20"/>
                </a:solidFill>
                <a:latin typeface="Times New Roman" panose="02020603050405020304" pitchFamily="18" charset="0"/>
                <a:cs typeface="Times New Roman" panose="02020603050405020304" pitchFamily="18" charset="0"/>
              </a:rPr>
              <a:t>private sector is taking some responsibility for improving living conditions, and firms all over the world have elevated the role of corporate social responsibility</a:t>
            </a:r>
          </a:p>
          <a:p>
            <a:pPr algn="just"/>
            <a:br>
              <a:rPr lang="en-US" dirty="0">
                <a:solidFill>
                  <a:srgbClr val="231F20"/>
                </a:solidFill>
                <a:latin typeface="MinionPro-Regular"/>
              </a:rPr>
            </a:br>
            <a:br>
              <a:rPr lang="en-US" dirty="0">
                <a:solidFill>
                  <a:srgbClr val="231F20"/>
                </a:solidFill>
                <a:latin typeface="MinionPro-Regular"/>
              </a:rPr>
            </a:br>
            <a:endParaRPr lang="en-US" dirty="0"/>
          </a:p>
        </p:txBody>
      </p:sp>
      <p:sp>
        <p:nvSpPr>
          <p:cNvPr id="4" name="Slide Number Placeholder 3">
            <a:extLst>
              <a:ext uri="{FF2B5EF4-FFF2-40B4-BE49-F238E27FC236}">
                <a16:creationId xmlns:a16="http://schemas.microsoft.com/office/drawing/2014/main" id="{71657354-DDA2-2115-722B-42A520D5E417}"/>
              </a:ext>
            </a:extLst>
          </p:cNvPr>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3158488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Sales forecasting</a:t>
            </a:r>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itchFamily="18" charset="0"/>
                <a:cs typeface="Times New Roman" pitchFamily="18" charset="0"/>
              </a:rPr>
              <a:t>Forecasting is the art of anticipating what buyers are likely to do under a given set of conditions.</a:t>
            </a:r>
          </a:p>
          <a:p>
            <a:pPr algn="just"/>
            <a:r>
              <a:rPr lang="en-US" dirty="0">
                <a:latin typeface="Times New Roman" pitchFamily="18" charset="0"/>
                <a:cs typeface="Times New Roman" pitchFamily="18" charset="0"/>
              </a:rPr>
              <a:t>Should be accurate because whole production and stock holding plans are based on them.</a:t>
            </a:r>
          </a:p>
          <a:p>
            <a:pPr algn="just"/>
            <a:r>
              <a:rPr lang="en-US" b="1" dirty="0">
                <a:latin typeface="Times New Roman" pitchFamily="18" charset="0"/>
                <a:cs typeface="Times New Roman" pitchFamily="18" charset="0"/>
              </a:rPr>
              <a:t>Sales forecasting factors</a:t>
            </a:r>
          </a:p>
          <a:p>
            <a:pPr marL="571500" indent="-571500" algn="just">
              <a:buFont typeface="+mj-lt"/>
              <a:buAutoNum type="romanLcPeriod"/>
            </a:pPr>
            <a:r>
              <a:rPr lang="en-US" dirty="0">
                <a:latin typeface="Times New Roman" pitchFamily="18" charset="0"/>
                <a:cs typeface="Times New Roman" pitchFamily="18" charset="0"/>
              </a:rPr>
              <a:t>Government action</a:t>
            </a:r>
          </a:p>
          <a:p>
            <a:pPr marL="571500" indent="-571500" algn="just">
              <a:buFont typeface="+mj-lt"/>
              <a:buAutoNum type="romanLcPeriod"/>
            </a:pPr>
            <a:r>
              <a:rPr lang="en-US" dirty="0">
                <a:latin typeface="Times New Roman" pitchFamily="18" charset="0"/>
                <a:cs typeface="Times New Roman" pitchFamily="18" charset="0"/>
              </a:rPr>
              <a:t>Economic trends</a:t>
            </a:r>
          </a:p>
          <a:p>
            <a:pPr marL="571500" indent="-571500" algn="just">
              <a:buFont typeface="+mj-lt"/>
              <a:buAutoNum type="romanLcPeriod"/>
            </a:pPr>
            <a:r>
              <a:rPr lang="en-US" dirty="0">
                <a:latin typeface="Times New Roman" pitchFamily="18" charset="0"/>
                <a:cs typeface="Times New Roman" pitchFamily="18" charset="0"/>
              </a:rPr>
              <a:t>Competition</a:t>
            </a:r>
          </a:p>
          <a:p>
            <a:pPr marL="571500" indent="-571500" algn="just">
              <a:buFont typeface="+mj-lt"/>
              <a:buAutoNum type="romanLcPeriod"/>
            </a:pPr>
            <a:r>
              <a:rPr lang="en-US" dirty="0">
                <a:latin typeface="Times New Roman" pitchFamily="18" charset="0"/>
                <a:cs typeface="Times New Roman" pitchFamily="18" charset="0"/>
              </a:rPr>
              <a:t>Change in technology and markets</a:t>
            </a:r>
          </a:p>
          <a:p>
            <a:pPr marL="571500" indent="-571500" algn="just">
              <a:buFont typeface="+mj-lt"/>
              <a:buAutoNum type="romanLcPeriod"/>
            </a:pPr>
            <a:r>
              <a:rPr lang="en-US" dirty="0">
                <a:latin typeface="Times New Roman" pitchFamily="18" charset="0"/>
                <a:cs typeface="Times New Roman" pitchFamily="18" charset="0"/>
              </a:rPr>
              <a:t>Internal factors such as capacity, available resources etc.</a:t>
            </a:r>
          </a:p>
        </p:txBody>
      </p:sp>
      <p:sp>
        <p:nvSpPr>
          <p:cNvPr id="4" name="Slide Number Placeholder 3">
            <a:extLst>
              <a:ext uri="{FF2B5EF4-FFF2-40B4-BE49-F238E27FC236}">
                <a16:creationId xmlns:a16="http://schemas.microsoft.com/office/drawing/2014/main" id="{8063617B-D4C9-C248-8ED1-273A24C9FCF5}"/>
              </a:ext>
            </a:extLst>
          </p:cNvPr>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Marketing Mix</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itchFamily="18" charset="0"/>
                <a:cs typeface="Times New Roman" pitchFamily="18" charset="0"/>
              </a:rPr>
              <a:t>It is the combination of competitive efforts or the particular group of variables offered to the market at a particular point of time. These variables are:</a:t>
            </a:r>
          </a:p>
          <a:p>
            <a:pPr marL="514350" indent="-514350" algn="just">
              <a:buFont typeface="+mj-lt"/>
              <a:buAutoNum type="arabicPeriod"/>
            </a:pPr>
            <a:r>
              <a:rPr lang="en-US" dirty="0">
                <a:latin typeface="Times New Roman" pitchFamily="18" charset="0"/>
                <a:cs typeface="Times New Roman" pitchFamily="18" charset="0"/>
              </a:rPr>
              <a:t>Product ( variety, quality, brand name, packaging etc)</a:t>
            </a:r>
          </a:p>
          <a:p>
            <a:pPr marL="514350" indent="-514350" algn="just">
              <a:buFont typeface="+mj-lt"/>
              <a:buAutoNum type="arabicPeriod"/>
            </a:pPr>
            <a:r>
              <a:rPr lang="en-US" dirty="0">
                <a:latin typeface="Times New Roman" pitchFamily="18" charset="0"/>
                <a:cs typeface="Times New Roman" pitchFamily="18" charset="0"/>
              </a:rPr>
              <a:t>Price ( basic price, discounts, credit terms etc)</a:t>
            </a:r>
          </a:p>
          <a:p>
            <a:pPr marL="514350" indent="-514350" algn="just">
              <a:buFont typeface="+mj-lt"/>
              <a:buAutoNum type="arabicPeriod"/>
            </a:pPr>
            <a:r>
              <a:rPr lang="en-US" dirty="0">
                <a:latin typeface="Times New Roman" pitchFamily="18" charset="0"/>
                <a:cs typeface="Times New Roman" pitchFamily="18" charset="0"/>
              </a:rPr>
              <a:t>Promotion( Advertising, personal selling, etc)</a:t>
            </a:r>
          </a:p>
          <a:p>
            <a:pPr marL="514350" indent="-514350" algn="just">
              <a:buFont typeface="+mj-lt"/>
              <a:buAutoNum type="arabicPeriod"/>
            </a:pPr>
            <a:r>
              <a:rPr lang="en-US" dirty="0">
                <a:latin typeface="Times New Roman" pitchFamily="18" charset="0"/>
                <a:cs typeface="Times New Roman" pitchFamily="18" charset="0"/>
              </a:rPr>
              <a:t>Distribution or place ( channels, sales forces, coverage, transport etc)</a:t>
            </a:r>
          </a:p>
        </p:txBody>
      </p:sp>
      <p:sp>
        <p:nvSpPr>
          <p:cNvPr id="4" name="Slide Number Placeholder 3">
            <a:extLst>
              <a:ext uri="{FF2B5EF4-FFF2-40B4-BE49-F238E27FC236}">
                <a16:creationId xmlns:a16="http://schemas.microsoft.com/office/drawing/2014/main" id="{22D3496F-CC27-7DEE-8656-E8FB5E1CEA51}"/>
              </a:ext>
            </a:extLst>
          </p:cNvPr>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Advertising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Advertising may be defined as commercial messages to the public, designed to inform potential and established consumers and to encourage sales for the advertiser.</a:t>
            </a:r>
          </a:p>
          <a:p>
            <a:r>
              <a:rPr lang="en-US" dirty="0">
                <a:latin typeface="Times New Roman" panose="02020603050405020304" pitchFamily="18" charset="0"/>
                <a:cs typeface="Times New Roman" panose="02020603050405020304" pitchFamily="18" charset="0"/>
              </a:rPr>
              <a:t>Advertising arouse public interest, fosters a buying attitude and raises consumer demand for the products of a company.</a:t>
            </a:r>
          </a:p>
          <a:p>
            <a:pPr>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7FCFAE4-9226-4F0F-6758-6BB3558B9810}"/>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advertising</a:t>
            </a:r>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itchFamily="18" charset="0"/>
                <a:cs typeface="Times New Roman" pitchFamily="18" charset="0"/>
              </a:rPr>
              <a:t>Introduce existing and new company products to the public</a:t>
            </a:r>
          </a:p>
          <a:p>
            <a:pPr algn="just"/>
            <a:r>
              <a:rPr lang="en-US" dirty="0">
                <a:latin typeface="Times New Roman" pitchFamily="18" charset="0"/>
                <a:cs typeface="Times New Roman" pitchFamily="18" charset="0"/>
              </a:rPr>
              <a:t>Enhance potential buyer’s responses to the company and its offerings</a:t>
            </a:r>
          </a:p>
          <a:p>
            <a:pPr algn="just"/>
            <a:r>
              <a:rPr lang="en-US" dirty="0">
                <a:latin typeface="Times New Roman" pitchFamily="18" charset="0"/>
                <a:cs typeface="Times New Roman" pitchFamily="18" charset="0"/>
              </a:rPr>
              <a:t>Tell that a product which the customers want exists and from where it can be procured and at what price.</a:t>
            </a:r>
          </a:p>
          <a:p>
            <a:pPr algn="just"/>
            <a:r>
              <a:rPr lang="en-US" dirty="0">
                <a:latin typeface="Times New Roman" pitchFamily="18" charset="0"/>
                <a:cs typeface="Times New Roman" pitchFamily="18" charset="0"/>
              </a:rPr>
              <a:t>Make a product stand against its competitor product.</a:t>
            </a:r>
          </a:p>
          <a:p>
            <a:pPr algn="just"/>
            <a:r>
              <a:rPr lang="en-US" dirty="0">
                <a:latin typeface="Times New Roman" pitchFamily="18" charset="0"/>
                <a:cs typeface="Times New Roman" pitchFamily="18" charset="0"/>
              </a:rPr>
              <a:t>Creates a confidence in the minds of buyers regarding quality of those products.</a:t>
            </a:r>
          </a:p>
          <a:p>
            <a:pPr algn="just"/>
            <a:r>
              <a:rPr lang="en-US" dirty="0">
                <a:latin typeface="Times New Roman" pitchFamily="18" charset="0"/>
                <a:cs typeface="Times New Roman" pitchFamily="18" charset="0"/>
              </a:rPr>
              <a:t>Build up reputation for the company goods and services</a:t>
            </a:r>
          </a:p>
          <a:p>
            <a:pPr algn="just"/>
            <a:r>
              <a:rPr lang="en-US" dirty="0">
                <a:latin typeface="Times New Roman" pitchFamily="18" charset="0"/>
                <a:cs typeface="Times New Roman" pitchFamily="18" charset="0"/>
              </a:rPr>
              <a:t>Find new users</a:t>
            </a:r>
          </a:p>
          <a:p>
            <a:pPr algn="just"/>
            <a:r>
              <a:rPr lang="en-US" dirty="0">
                <a:latin typeface="Times New Roman" pitchFamily="18" charset="0"/>
                <a:cs typeface="Times New Roman" pitchFamily="18" charset="0"/>
              </a:rPr>
              <a:t>Increase profit.</a:t>
            </a:r>
          </a:p>
        </p:txBody>
      </p:sp>
      <p:sp>
        <p:nvSpPr>
          <p:cNvPr id="4" name="Slide Number Placeholder 3">
            <a:extLst>
              <a:ext uri="{FF2B5EF4-FFF2-40B4-BE49-F238E27FC236}">
                <a16:creationId xmlns:a16="http://schemas.microsoft.com/office/drawing/2014/main" id="{CE0D268E-7441-4092-064B-FD26D945F322}"/>
              </a:ext>
            </a:extLst>
          </p:cNvPr>
          <p:cNvSpPr>
            <a:spLocks noGrp="1"/>
          </p:cNvSpPr>
          <p:nvPr>
            <p:ph type="sldNum" sz="quarter" idx="12"/>
          </p:nvPr>
        </p:nvSpPr>
        <p:spPr/>
        <p:txBody>
          <a:bodyPr/>
          <a:lstStyle/>
          <a:p>
            <a:fld id="{B6F15528-21DE-4FAA-801E-634DDDAF4B2B}"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Functions of advertising department</a:t>
            </a:r>
          </a:p>
        </p:txBody>
      </p:sp>
      <p:sp>
        <p:nvSpPr>
          <p:cNvPr id="3" name="Content Placeholder 2"/>
          <p:cNvSpPr>
            <a:spLocks noGrp="1"/>
          </p:cNvSpPr>
          <p:nvPr>
            <p:ph idx="1"/>
          </p:nvPr>
        </p:nvSpPr>
        <p:spPr>
          <a:xfrm>
            <a:off x="457200" y="1600200"/>
            <a:ext cx="8382000" cy="4525963"/>
          </a:xfrm>
        </p:spPr>
        <p:txBody>
          <a:bodyPr>
            <a:normAutofit/>
          </a:bodyPr>
          <a:lstStyle/>
          <a:p>
            <a:pPr algn="just"/>
            <a:r>
              <a:rPr lang="en-US" dirty="0">
                <a:latin typeface="Times New Roman" panose="02020603050405020304" pitchFamily="18" charset="0"/>
                <a:cs typeface="Times New Roman" panose="02020603050405020304" pitchFamily="18" charset="0"/>
              </a:rPr>
              <a:t>Preparation and control of advertising budget</a:t>
            </a:r>
          </a:p>
          <a:p>
            <a:pPr algn="just"/>
            <a:r>
              <a:rPr lang="en-US" dirty="0">
                <a:latin typeface="Times New Roman" panose="02020603050405020304" pitchFamily="18" charset="0"/>
                <a:cs typeface="Times New Roman" panose="02020603050405020304" pitchFamily="18" charset="0"/>
              </a:rPr>
              <a:t>Determination of the appropriate allocation of funds to be spent on advertising and sales promotion activities.</a:t>
            </a:r>
          </a:p>
          <a:p>
            <a:pPr algn="just"/>
            <a:r>
              <a:rPr lang="en-US" dirty="0">
                <a:latin typeface="Times New Roman" panose="02020603050405020304" pitchFamily="18" charset="0"/>
                <a:cs typeface="Times New Roman" panose="02020603050405020304" pitchFamily="18" charset="0"/>
              </a:rPr>
              <a:t>Supervising advertising and marketing research</a:t>
            </a:r>
          </a:p>
          <a:p>
            <a:pPr algn="just"/>
            <a:r>
              <a:rPr lang="en-US" dirty="0">
                <a:latin typeface="Times New Roman" panose="02020603050405020304" pitchFamily="18" charset="0"/>
                <a:cs typeface="Times New Roman" panose="02020603050405020304" pitchFamily="18" charset="0"/>
              </a:rPr>
              <a:t>Keeping touch with representatives</a:t>
            </a:r>
          </a:p>
          <a:p>
            <a:pPr algn="just"/>
            <a:r>
              <a:rPr lang="en-US" dirty="0">
                <a:latin typeface="Times New Roman" panose="02020603050405020304" pitchFamily="18" charset="0"/>
                <a:cs typeface="Times New Roman" panose="02020603050405020304" pitchFamily="18" charset="0"/>
              </a:rPr>
              <a:t>Cooperation with sales and other departments</a:t>
            </a:r>
          </a:p>
          <a:p>
            <a:pPr algn="just"/>
            <a:r>
              <a:rPr lang="en-US" dirty="0">
                <a:latin typeface="Times New Roman" panose="02020603050405020304" pitchFamily="18" charset="0"/>
                <a:cs typeface="Times New Roman" panose="02020603050405020304" pitchFamily="18" charset="0"/>
              </a:rPr>
              <a:t>Distribution of advertising material</a:t>
            </a:r>
          </a:p>
        </p:txBody>
      </p:sp>
      <p:sp>
        <p:nvSpPr>
          <p:cNvPr id="4" name="Slide Number Placeholder 3">
            <a:extLst>
              <a:ext uri="{FF2B5EF4-FFF2-40B4-BE49-F238E27FC236}">
                <a16:creationId xmlns:a16="http://schemas.microsoft.com/office/drawing/2014/main" id="{CE5B867F-EC53-86A7-4005-0FAF124618F0}"/>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Advertising media</a:t>
            </a:r>
          </a:p>
        </p:txBody>
      </p:sp>
      <p:sp>
        <p:nvSpPr>
          <p:cNvPr id="3" name="Content Placeholder 2"/>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Newspaper</a:t>
            </a:r>
          </a:p>
          <a:p>
            <a:r>
              <a:rPr lang="en-US" dirty="0">
                <a:latin typeface="Times New Roman" panose="02020603050405020304" pitchFamily="18" charset="0"/>
                <a:cs typeface="Times New Roman" panose="02020603050405020304" pitchFamily="18" charset="0"/>
              </a:rPr>
              <a:t>Magazines</a:t>
            </a:r>
          </a:p>
          <a:p>
            <a:r>
              <a:rPr lang="en-US" dirty="0">
                <a:latin typeface="Times New Roman" panose="02020603050405020304" pitchFamily="18" charset="0"/>
                <a:cs typeface="Times New Roman" panose="02020603050405020304" pitchFamily="18" charset="0"/>
              </a:rPr>
              <a:t>Radio</a:t>
            </a:r>
          </a:p>
          <a:p>
            <a:r>
              <a:rPr lang="en-US" dirty="0">
                <a:latin typeface="Times New Roman" panose="02020603050405020304" pitchFamily="18" charset="0"/>
                <a:cs typeface="Times New Roman" panose="02020603050405020304" pitchFamily="18" charset="0"/>
              </a:rPr>
              <a:t>Television</a:t>
            </a:r>
          </a:p>
          <a:p>
            <a:r>
              <a:rPr lang="en-US" dirty="0">
                <a:latin typeface="Times New Roman" panose="02020603050405020304" pitchFamily="18" charset="0"/>
                <a:cs typeface="Times New Roman" panose="02020603050405020304" pitchFamily="18" charset="0"/>
              </a:rPr>
              <a:t>Direct mail</a:t>
            </a:r>
          </a:p>
          <a:p>
            <a:r>
              <a:rPr lang="en-US" dirty="0">
                <a:latin typeface="Times New Roman" panose="02020603050405020304" pitchFamily="18" charset="0"/>
                <a:cs typeface="Times New Roman" panose="02020603050405020304" pitchFamily="18" charset="0"/>
              </a:rPr>
              <a:t>Public transportation</a:t>
            </a:r>
          </a:p>
          <a:p>
            <a:r>
              <a:rPr lang="en-US" dirty="0">
                <a:latin typeface="Times New Roman" panose="02020603050405020304" pitchFamily="18" charset="0"/>
                <a:cs typeface="Times New Roman" panose="02020603050405020304" pitchFamily="18" charset="0"/>
              </a:rPr>
              <a:t>Outdoor billboards</a:t>
            </a:r>
          </a:p>
          <a:p>
            <a:r>
              <a:rPr lang="en-US" dirty="0">
                <a:latin typeface="Times New Roman" panose="02020603050405020304" pitchFamily="18" charset="0"/>
                <a:cs typeface="Times New Roman" panose="02020603050405020304" pitchFamily="18" charset="0"/>
              </a:rPr>
              <a:t>Exhibits and displays</a:t>
            </a:r>
          </a:p>
          <a:p>
            <a:r>
              <a:rPr lang="en-US" dirty="0">
                <a:latin typeface="Times New Roman" panose="02020603050405020304" pitchFamily="18" charset="0"/>
                <a:cs typeface="Times New Roman" panose="02020603050405020304" pitchFamily="18" charset="0"/>
              </a:rPr>
              <a:t>Slides in cinemas</a:t>
            </a:r>
          </a:p>
          <a:p>
            <a:r>
              <a:rPr lang="en-US" dirty="0">
                <a:latin typeface="Times New Roman" panose="02020603050405020304" pitchFamily="18" charset="0"/>
                <a:cs typeface="Times New Roman" panose="02020603050405020304" pitchFamily="18" charset="0"/>
              </a:rPr>
              <a:t>Distributing gifts bearing the name of company and its products.</a:t>
            </a:r>
          </a:p>
        </p:txBody>
      </p:sp>
      <p:sp>
        <p:nvSpPr>
          <p:cNvPr id="4" name="Slide Number Placeholder 3">
            <a:extLst>
              <a:ext uri="{FF2B5EF4-FFF2-40B4-BE49-F238E27FC236}">
                <a16:creationId xmlns:a16="http://schemas.microsoft.com/office/drawing/2014/main" id="{52442261-7574-1D4B-C0FB-6E44E34BA0BC}"/>
              </a:ext>
            </a:extLst>
          </p:cNvPr>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Disadvantages of advertising</a:t>
            </a:r>
          </a:p>
        </p:txBody>
      </p:sp>
      <p:sp>
        <p:nvSpPr>
          <p:cNvPr id="3" name="Content Placeholder 2"/>
          <p:cNvSpPr>
            <a:spLocks noGrp="1"/>
          </p:cNvSpPr>
          <p:nvPr>
            <p:ph idx="1"/>
          </p:nvPr>
        </p:nvSpPr>
        <p:spPr/>
        <p:txBody>
          <a:bodyPr>
            <a:normAutofit fontScale="55000" lnSpcReduction="20000"/>
          </a:bodyPr>
          <a:lstStyle/>
          <a:p>
            <a:pPr>
              <a:buNone/>
            </a:pPr>
            <a:r>
              <a:rPr lang="en-US" sz="3700" b="1" dirty="0">
                <a:latin typeface="Times New Roman" panose="02020603050405020304" pitchFamily="18" charset="0"/>
                <a:cs typeface="Times New Roman" panose="02020603050405020304" pitchFamily="18" charset="0"/>
              </a:rPr>
              <a:t>1. It Is a Costly Function</a:t>
            </a:r>
          </a:p>
          <a:p>
            <a:pPr>
              <a:buNone/>
            </a:pPr>
            <a:r>
              <a:rPr lang="en-US" sz="3700" b="1" dirty="0">
                <a:latin typeface="Times New Roman" panose="02020603050405020304" pitchFamily="18" charset="0"/>
                <a:cs typeface="Times New Roman" panose="02020603050405020304" pitchFamily="18" charset="0"/>
              </a:rPr>
              <a:t>2. Misleading Claims About Products( 100% pure…)</a:t>
            </a:r>
          </a:p>
          <a:p>
            <a:pPr>
              <a:buNone/>
            </a:pPr>
            <a:r>
              <a:rPr lang="en-US" sz="3700" b="1" dirty="0">
                <a:latin typeface="Times New Roman" panose="02020603050405020304" pitchFamily="18" charset="0"/>
                <a:cs typeface="Times New Roman" panose="02020603050405020304" pitchFamily="18" charset="0"/>
              </a:rPr>
              <a:t>3. Encouragement of Monopoly</a:t>
            </a:r>
          </a:p>
          <a:p>
            <a:r>
              <a:rPr lang="en-US" sz="3700" dirty="0">
                <a:latin typeface="Times New Roman" panose="02020603050405020304" pitchFamily="18" charset="0"/>
                <a:cs typeface="Times New Roman" panose="02020603050405020304" pitchFamily="18" charset="0"/>
              </a:rPr>
              <a:t>Advertisement restricts competition among products. Big industrialists and manufacturers can use advertising to increase their monopolistic control over the market against the public interest. Advertising increases awareness about a few products but causes all other options to be overlooked.</a:t>
            </a:r>
            <a:endParaRPr lang="en-US" sz="3700" b="1" dirty="0">
              <a:latin typeface="Times New Roman" panose="02020603050405020304" pitchFamily="18" charset="0"/>
              <a:cs typeface="Times New Roman" panose="02020603050405020304" pitchFamily="18" charset="0"/>
            </a:endParaRPr>
          </a:p>
          <a:p>
            <a:pPr>
              <a:buNone/>
            </a:pPr>
            <a:r>
              <a:rPr lang="en-US" sz="3700" b="1" dirty="0">
                <a:latin typeface="Times New Roman" panose="02020603050405020304" pitchFamily="18" charset="0"/>
                <a:cs typeface="Times New Roman" panose="02020603050405020304" pitchFamily="18" charset="0"/>
              </a:rPr>
              <a:t>4. High Prices of Products and Services</a:t>
            </a:r>
          </a:p>
          <a:p>
            <a:pPr>
              <a:buNone/>
            </a:pPr>
            <a:r>
              <a:rPr lang="en-US" sz="3700" b="1" dirty="0">
                <a:latin typeface="Times New Roman" panose="02020603050405020304" pitchFamily="18" charset="0"/>
                <a:cs typeface="Times New Roman" panose="02020603050405020304" pitchFamily="18" charset="0"/>
              </a:rPr>
              <a:t>5. Small Businesses Have Restricted Access</a:t>
            </a:r>
          </a:p>
          <a:p>
            <a:pPr>
              <a:buNone/>
            </a:pPr>
            <a:r>
              <a:rPr lang="en-US" sz="3700" b="1" dirty="0">
                <a:latin typeface="Times New Roman" panose="02020603050405020304" pitchFamily="18" charset="0"/>
                <a:cs typeface="Times New Roman" panose="02020603050405020304" pitchFamily="18" charset="0"/>
              </a:rPr>
              <a:t>6. Misdirection of Purchasing Power</a:t>
            </a:r>
          </a:p>
          <a:p>
            <a:r>
              <a:rPr lang="en-US" sz="3700" dirty="0">
                <a:latin typeface="Times New Roman" panose="02020603050405020304" pitchFamily="18" charset="0"/>
                <a:cs typeface="Times New Roman" panose="02020603050405020304" pitchFamily="18" charset="0"/>
              </a:rPr>
              <a:t>Advertising high-priced luxury goods influences the purchasing power of consumers. This results in some people using unscrupulous means to increase their income for the purpose of getting things they perceive as necessities of life. Thus, unnecessary advertising creates societal corruption.</a:t>
            </a:r>
            <a:endParaRPr lang="en-US" sz="3700" b="1"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984E23-E3A4-F9CB-E484-4617FA2702B5}"/>
              </a:ext>
            </a:extLst>
          </p:cNvPr>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Cont</a:t>
            </a:r>
            <a:r>
              <a:rPr lang="en-US"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normAutofit fontScale="92500" lnSpcReduction="10000"/>
          </a:bodyPr>
          <a:lstStyle/>
          <a:p>
            <a:pPr lvl="0">
              <a:buNone/>
            </a:pPr>
            <a:r>
              <a:rPr lang="en-US" sz="1200" b="1" dirty="0">
                <a:solidFill>
                  <a:prstClr val="black"/>
                </a:solidFill>
                <a:latin typeface="Times New Roman" panose="02020603050405020304" pitchFamily="18" charset="0"/>
                <a:cs typeface="Times New Roman" panose="02020603050405020304" pitchFamily="18" charset="0"/>
              </a:rPr>
              <a:t>7. </a:t>
            </a:r>
            <a:r>
              <a:rPr lang="en-US" sz="1800" b="1" dirty="0">
                <a:solidFill>
                  <a:prstClr val="black"/>
                </a:solidFill>
                <a:latin typeface="Times New Roman" panose="02020603050405020304" pitchFamily="18" charset="0"/>
                <a:cs typeface="Times New Roman" panose="02020603050405020304" pitchFamily="18" charset="0"/>
              </a:rPr>
              <a:t>Dangerous Distractions</a:t>
            </a:r>
          </a:p>
          <a:p>
            <a:pPr lvl="0"/>
            <a:r>
              <a:rPr lang="en-US" sz="1800" dirty="0">
                <a:solidFill>
                  <a:prstClr val="black"/>
                </a:solidFill>
                <a:latin typeface="Times New Roman" panose="02020603050405020304" pitchFamily="18" charset="0"/>
                <a:cs typeface="Times New Roman" panose="02020603050405020304" pitchFamily="18" charset="0"/>
              </a:rPr>
              <a:t>Billboards, posters, and electronic moving pictures are placed around important intersections, which distract drivers and pedestrians. Glaring neon lights and signs are hazards and have potentially deadly consequences.</a:t>
            </a:r>
          </a:p>
          <a:p>
            <a:pPr lvl="0">
              <a:buNone/>
            </a:pPr>
            <a:r>
              <a:rPr lang="en-US" sz="1800" b="1" dirty="0">
                <a:solidFill>
                  <a:prstClr val="black"/>
                </a:solidFill>
                <a:latin typeface="Times New Roman" panose="02020603050405020304" pitchFamily="18" charset="0"/>
                <a:cs typeface="Times New Roman" panose="02020603050405020304" pitchFamily="18" charset="0"/>
              </a:rPr>
              <a:t>8. Unfulfilled Desires</a:t>
            </a:r>
          </a:p>
          <a:p>
            <a:pPr lvl="0"/>
            <a:r>
              <a:rPr lang="en-US" sz="1800" dirty="0">
                <a:solidFill>
                  <a:prstClr val="black"/>
                </a:solidFill>
                <a:latin typeface="Times New Roman" panose="02020603050405020304" pitchFamily="18" charset="0"/>
                <a:cs typeface="Times New Roman" panose="02020603050405020304" pitchFamily="18" charset="0"/>
              </a:rPr>
              <a:t>Another disadvantage of advertising is that it influences the mind of the public and creates a desire and taste for new products that are not necessities and that most cannot afford. Thus, advertising fosters unrequited desire and causes unhappiness. </a:t>
            </a:r>
          </a:p>
          <a:p>
            <a:pPr lvl="0">
              <a:buNone/>
            </a:pPr>
            <a:r>
              <a:rPr lang="en-US" sz="1800" b="1" dirty="0">
                <a:solidFill>
                  <a:prstClr val="black"/>
                </a:solidFill>
                <a:latin typeface="Times New Roman" panose="02020603050405020304" pitchFamily="18" charset="0"/>
                <a:cs typeface="Times New Roman" panose="02020603050405020304" pitchFamily="18" charset="0"/>
              </a:rPr>
              <a:t>9. Promotion of Social Evils</a:t>
            </a:r>
          </a:p>
          <a:p>
            <a:pPr lvl="0"/>
            <a:r>
              <a:rPr lang="en-US" sz="1800" dirty="0">
                <a:solidFill>
                  <a:prstClr val="black"/>
                </a:solidFill>
                <a:latin typeface="Times New Roman" panose="02020603050405020304" pitchFamily="18" charset="0"/>
                <a:cs typeface="Times New Roman" panose="02020603050405020304" pitchFamily="18" charset="0"/>
              </a:rPr>
              <a:t>Some businesses support immoral and sensational programs as well as crime stories on television and radio, thus choosing them as vehicles for advertising. These programs corrupt the values of young people and promote social evils. </a:t>
            </a:r>
          </a:p>
          <a:p>
            <a:pPr lvl="0">
              <a:buNone/>
            </a:pPr>
            <a:r>
              <a:rPr lang="en-US" sz="1800" b="1" dirty="0">
                <a:solidFill>
                  <a:prstClr val="black"/>
                </a:solidFill>
                <a:latin typeface="Times New Roman" panose="02020603050405020304" pitchFamily="18" charset="0"/>
                <a:cs typeface="Times New Roman" panose="02020603050405020304" pitchFamily="18" charset="0"/>
              </a:rPr>
              <a:t>10. Confusion About Characteristics of Products</a:t>
            </a:r>
          </a:p>
          <a:p>
            <a:pPr lvl="0"/>
            <a:r>
              <a:rPr lang="en-US" sz="1800" dirty="0">
                <a:solidFill>
                  <a:prstClr val="black"/>
                </a:solidFill>
                <a:latin typeface="Times New Roman" panose="02020603050405020304" pitchFamily="18" charset="0"/>
                <a:cs typeface="Times New Roman" panose="02020603050405020304" pitchFamily="18" charset="0"/>
              </a:rPr>
              <a:t>Many similar products are advertised on the market, but producers put great emphasis on minor differences in the formula, technique, or make of advertised goods. For example, there are many brands of shaving creams which perform the same function but are advertised as dramatically different products.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1418B1A-1234-4466-FD62-D43698334753}"/>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919125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Sales Promotion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It can be defined as all the activities that go into the development of sales or those that are intended to raise the demand level for a product very quickly.</a:t>
            </a:r>
          </a:p>
          <a:p>
            <a:r>
              <a:rPr lang="en-US" dirty="0">
                <a:latin typeface="Times New Roman" panose="02020603050405020304" pitchFamily="18" charset="0"/>
                <a:cs typeface="Times New Roman" panose="02020603050405020304" pitchFamily="18" charset="0"/>
              </a:rPr>
              <a:t>Advertising, personal selling or publicity.</a:t>
            </a:r>
          </a:p>
        </p:txBody>
      </p:sp>
      <p:sp>
        <p:nvSpPr>
          <p:cNvPr id="4" name="Slide Number Placeholder 3">
            <a:extLst>
              <a:ext uri="{FF2B5EF4-FFF2-40B4-BE49-F238E27FC236}">
                <a16:creationId xmlns:a16="http://schemas.microsoft.com/office/drawing/2014/main" id="{4C63A7BB-0B35-4E4F-E657-FA9ADB483460}"/>
              </a:ext>
            </a:extLst>
          </p:cNvPr>
          <p:cNvSpPr>
            <a:spLocks noGrp="1"/>
          </p:cNvSpPr>
          <p:nvPr>
            <p:ph type="sldNum" sz="quarter" idx="12"/>
          </p:nvPr>
        </p:nvSpPr>
        <p:spPr/>
        <p:txBody>
          <a:bodyPr/>
          <a:lstStyle/>
          <a:p>
            <a:fld id="{B6F15528-21DE-4FAA-801E-634DDDAF4B2B}"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Sales promotion Methods</a:t>
            </a:r>
          </a:p>
        </p:txBody>
      </p:sp>
      <p:sp>
        <p:nvSpPr>
          <p:cNvPr id="3" name="Content Placeholder 2"/>
          <p:cNvSpPr>
            <a:spLocks noGrp="1"/>
          </p:cNvSpPr>
          <p:nvPr>
            <p:ph idx="1"/>
          </p:nvPr>
        </p:nvSpPr>
        <p:spPr>
          <a:xfrm>
            <a:off x="457200" y="1447800"/>
            <a:ext cx="8229600" cy="4876800"/>
          </a:xfrm>
        </p:spPr>
        <p:txBody>
          <a:bodyPr>
            <a:noAutofit/>
          </a:bodyPr>
          <a:lstStyle/>
          <a:p>
            <a:pPr algn="just"/>
            <a:r>
              <a:rPr lang="en-US" sz="2400" b="1" dirty="0">
                <a:latin typeface="Times New Roman" pitchFamily="18" charset="0"/>
                <a:cs typeface="Times New Roman" pitchFamily="18" charset="0"/>
              </a:rPr>
              <a:t>Consumer promotion- </a:t>
            </a:r>
            <a:r>
              <a:rPr lang="en-US" sz="2400" dirty="0">
                <a:latin typeface="Times New Roman" pitchFamily="18" charset="0"/>
                <a:cs typeface="Times New Roman" pitchFamily="18" charset="0"/>
              </a:rPr>
              <a:t>persuading consumers to buy; these includes samples, prices-off, contests and competitions. ( i.e. the winner customer will have a trip to Europe, etc)</a:t>
            </a:r>
          </a:p>
          <a:p>
            <a:pPr algn="just"/>
            <a:r>
              <a:rPr lang="en-US" sz="2400" b="1" dirty="0">
                <a:latin typeface="Times New Roman" pitchFamily="18" charset="0"/>
                <a:cs typeface="Times New Roman" pitchFamily="18" charset="0"/>
              </a:rPr>
              <a:t>Trade Promotion- </a:t>
            </a:r>
            <a:r>
              <a:rPr lang="en-US" sz="2400" dirty="0">
                <a:latin typeface="Times New Roman" pitchFamily="18" charset="0"/>
                <a:cs typeface="Times New Roman" pitchFamily="18" charset="0"/>
              </a:rPr>
              <a:t>incentives  to distributors and others to hold stocks of company product; includes discounts, buying allowance, one or two free units per bulk container. Dealer competitions.</a:t>
            </a:r>
          </a:p>
          <a:p>
            <a:pPr algn="just"/>
            <a:r>
              <a:rPr lang="en-US" sz="2400" b="1" dirty="0">
                <a:latin typeface="Times New Roman" pitchFamily="18" charset="0"/>
                <a:cs typeface="Times New Roman" pitchFamily="18" charset="0"/>
              </a:rPr>
              <a:t>Sales force promotions- </a:t>
            </a:r>
            <a:r>
              <a:rPr lang="en-US" sz="2400" dirty="0">
                <a:latin typeface="Times New Roman" pitchFamily="18" charset="0"/>
                <a:cs typeface="Times New Roman" pitchFamily="18" charset="0"/>
              </a:rPr>
              <a:t>bonuses, contests, sales rallies etc. for the salesmen.</a:t>
            </a:r>
          </a:p>
          <a:p>
            <a:pPr algn="just"/>
            <a:r>
              <a:rPr lang="en-US" sz="2400" b="1" dirty="0">
                <a:latin typeface="Times New Roman" pitchFamily="18" charset="0"/>
                <a:cs typeface="Times New Roman" pitchFamily="18" charset="0"/>
              </a:rPr>
              <a:t>Good public relations- </a:t>
            </a:r>
            <a:r>
              <a:rPr lang="en-US" sz="2400" dirty="0">
                <a:latin typeface="Times New Roman" pitchFamily="18" charset="0"/>
                <a:cs typeface="Times New Roman" pitchFamily="18" charset="0"/>
              </a:rPr>
              <a:t>develop goodwill and increase sales.</a:t>
            </a:r>
          </a:p>
          <a:p>
            <a:pPr algn="just"/>
            <a:r>
              <a:rPr lang="en-US" sz="2400" b="1" dirty="0">
                <a:latin typeface="Times New Roman" pitchFamily="18" charset="0"/>
                <a:cs typeface="Times New Roman" pitchFamily="18" charset="0"/>
              </a:rPr>
              <a:t>Good customer relations- </a:t>
            </a:r>
            <a:r>
              <a:rPr lang="en-US" sz="2400" dirty="0">
                <a:latin typeface="Times New Roman" pitchFamily="18" charset="0"/>
                <a:cs typeface="Times New Roman" pitchFamily="18" charset="0"/>
              </a:rPr>
              <a:t>speedy handling of complaints, assistance in emergencies, abiding by announced policies etc.</a:t>
            </a:r>
          </a:p>
        </p:txBody>
      </p:sp>
      <p:sp>
        <p:nvSpPr>
          <p:cNvPr id="4" name="Slide Number Placeholder 3">
            <a:extLst>
              <a:ext uri="{FF2B5EF4-FFF2-40B4-BE49-F238E27FC236}">
                <a16:creationId xmlns:a16="http://schemas.microsoft.com/office/drawing/2014/main" id="{40BF1CBD-6A8B-51AB-E115-E0761F696ABE}"/>
              </a:ext>
            </a:extLst>
          </p:cNvPr>
          <p:cNvSpPr>
            <a:spLocks noGrp="1"/>
          </p:cNvSpPr>
          <p:nvPr>
            <p:ph type="sldNum" sz="quarter" idx="12"/>
          </p:nvPr>
        </p:nvSpPr>
        <p:spPr/>
        <p:txBody>
          <a:bodyPr/>
          <a:lstStyle/>
          <a:p>
            <a:fld id="{B6F15528-21DE-4FAA-801E-634DDDAF4B2B}"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Sales promotion Methods</a:t>
            </a:r>
          </a:p>
        </p:txBody>
      </p:sp>
      <p:sp>
        <p:nvSpPr>
          <p:cNvPr id="3" name="Content Placeholder 2"/>
          <p:cNvSpPr>
            <a:spLocks noGrp="1"/>
          </p:cNvSpPr>
          <p:nvPr>
            <p:ph idx="1"/>
          </p:nvPr>
        </p:nvSpPr>
        <p:spPr/>
        <p:txBody>
          <a:bodyPr>
            <a:normAutofit/>
          </a:bodyPr>
          <a:lstStyle/>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Display</a:t>
            </a:r>
            <a:r>
              <a:rPr lang="en-US" sz="2800" dirty="0">
                <a:latin typeface="Times New Roman" panose="02020603050405020304" pitchFamily="18" charset="0"/>
                <a:cs typeface="Times New Roman" panose="02020603050405020304" pitchFamily="18" charset="0"/>
              </a:rPr>
              <a:t>- at the points of sale, using posters, banners, placards and leaflets etc.</a:t>
            </a:r>
          </a:p>
          <a:p>
            <a:pPr algn="just"/>
            <a:r>
              <a:rPr lang="en-US" sz="2800" dirty="0">
                <a:latin typeface="Times New Roman" panose="02020603050405020304" pitchFamily="18" charset="0"/>
                <a:cs typeface="Times New Roman" panose="02020603050405020304" pitchFamily="18" charset="0"/>
              </a:rPr>
              <a:t>Product exhibitions, demonstrations and conferences.</a:t>
            </a:r>
          </a:p>
          <a:p>
            <a:pPr algn="just"/>
            <a:r>
              <a:rPr lang="en-US" sz="2800" dirty="0">
                <a:latin typeface="Times New Roman" panose="02020603050405020304" pitchFamily="18" charset="0"/>
                <a:cs typeface="Times New Roman" panose="02020603050405020304" pitchFamily="18" charset="0"/>
              </a:rPr>
              <a:t>Holding competition and awarding prizes to winners.</a:t>
            </a:r>
          </a:p>
          <a:p>
            <a:pPr algn="just"/>
            <a:r>
              <a:rPr lang="en-US" sz="2800" dirty="0">
                <a:latin typeface="Times New Roman" panose="02020603050405020304" pitchFamily="18" charset="0"/>
                <a:cs typeface="Times New Roman" panose="02020603050405020304" pitchFamily="18" charset="0"/>
              </a:rPr>
              <a:t>Latest product styling and appealing product packaging.</a:t>
            </a:r>
          </a:p>
        </p:txBody>
      </p:sp>
      <p:sp>
        <p:nvSpPr>
          <p:cNvPr id="4" name="Slide Number Placeholder 3">
            <a:extLst>
              <a:ext uri="{FF2B5EF4-FFF2-40B4-BE49-F238E27FC236}">
                <a16:creationId xmlns:a16="http://schemas.microsoft.com/office/drawing/2014/main" id="{C42C2FF3-278D-07C7-25C3-711BB80847B7}"/>
              </a:ext>
            </a:extLst>
          </p:cNvPr>
          <p:cNvSpPr>
            <a:spLocks noGrp="1"/>
          </p:cNvSpPr>
          <p:nvPr>
            <p:ph type="sldNum" sz="quarter" idx="12"/>
          </p:nvPr>
        </p:nvSpPr>
        <p:spPr/>
        <p:txBody>
          <a:bodyPr/>
          <a:lstStyle/>
          <a:p>
            <a:fld id="{B6F15528-21DE-4FAA-801E-634DDDAF4B2B}"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Functions of sales Promotion Department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Product packaging detailing</a:t>
            </a:r>
          </a:p>
          <a:p>
            <a:r>
              <a:rPr lang="en-US" dirty="0">
                <a:latin typeface="Times New Roman" panose="02020603050405020304" pitchFamily="18" charset="0"/>
                <a:cs typeface="Times New Roman" panose="02020603050405020304" pitchFamily="18" charset="0"/>
              </a:rPr>
              <a:t>Service to salesmen</a:t>
            </a:r>
          </a:p>
          <a:p>
            <a:r>
              <a:rPr lang="en-US" dirty="0">
                <a:latin typeface="Times New Roman" panose="02020603050405020304" pitchFamily="18" charset="0"/>
                <a:cs typeface="Times New Roman" panose="02020603050405020304" pitchFamily="18" charset="0"/>
              </a:rPr>
              <a:t>Service to dealers</a:t>
            </a:r>
          </a:p>
          <a:p>
            <a:r>
              <a:rPr lang="en-US" dirty="0">
                <a:latin typeface="Times New Roman" panose="02020603050405020304" pitchFamily="18" charset="0"/>
                <a:cs typeface="Times New Roman" panose="02020603050405020304" pitchFamily="18" charset="0"/>
              </a:rPr>
              <a:t>Making displays</a:t>
            </a:r>
          </a:p>
          <a:p>
            <a:r>
              <a:rPr lang="en-US" dirty="0">
                <a:latin typeface="Times New Roman" panose="02020603050405020304" pitchFamily="18" charset="0"/>
                <a:cs typeface="Times New Roman" panose="02020603050405020304" pitchFamily="18" charset="0"/>
              </a:rPr>
              <a:t>Helping dealer in demonstrations, door to door canvassing etc. </a:t>
            </a:r>
          </a:p>
          <a:p>
            <a:r>
              <a:rPr lang="en-US" dirty="0">
                <a:latin typeface="Times New Roman" panose="02020603050405020304" pitchFamily="18" charset="0"/>
                <a:cs typeface="Times New Roman" panose="02020603050405020304" pitchFamily="18" charset="0"/>
              </a:rPr>
              <a:t>Publicity. </a:t>
            </a:r>
          </a:p>
        </p:txBody>
      </p:sp>
      <p:sp>
        <p:nvSpPr>
          <p:cNvPr id="4" name="Slide Number Placeholder 3">
            <a:extLst>
              <a:ext uri="{FF2B5EF4-FFF2-40B4-BE49-F238E27FC236}">
                <a16:creationId xmlns:a16="http://schemas.microsoft.com/office/drawing/2014/main" id="{B14A8159-0E4C-64FB-4E4B-E2C461029F2A}"/>
              </a:ext>
            </a:extLst>
          </p:cNvPr>
          <p:cNvSpPr>
            <a:spLocks noGrp="1"/>
          </p:cNvSpPr>
          <p:nvPr>
            <p:ph type="sldNum" sz="quarter" idx="12"/>
          </p:nvPr>
        </p:nvSpPr>
        <p:spPr/>
        <p:txBody>
          <a:bodyPr/>
          <a:lstStyle/>
          <a:p>
            <a:fld id="{B6F15528-21DE-4FAA-801E-634DDDAF4B2B}"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Difference between advertisement and publicity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92111375"/>
              </p:ext>
            </p:extLst>
          </p:nvPr>
        </p:nvGraphicFramePr>
        <p:xfrm>
          <a:off x="457200" y="1600200"/>
          <a:ext cx="8229600" cy="4192176"/>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82992">
                <a:tc>
                  <a:txBody>
                    <a:bodyPr/>
                    <a:lstStyle/>
                    <a:p>
                      <a:pPr algn="ctr"/>
                      <a:r>
                        <a:rPr lang="en-US" dirty="0">
                          <a:latin typeface="Times New Roman" panose="02020603050405020304" pitchFamily="18" charset="0"/>
                          <a:cs typeface="Times New Roman" panose="02020603050405020304" pitchFamily="18" charset="0"/>
                        </a:rPr>
                        <a:t>Advertising</a:t>
                      </a:r>
                    </a:p>
                  </a:txBody>
                  <a:tcPr/>
                </a:tc>
                <a:tc>
                  <a:txBody>
                    <a:bodyPr/>
                    <a:lstStyle/>
                    <a:p>
                      <a:pPr algn="ctr"/>
                      <a:r>
                        <a:rPr lang="en-US" dirty="0">
                          <a:latin typeface="Times New Roman" panose="02020603050405020304" pitchFamily="18" charset="0"/>
                          <a:cs typeface="Times New Roman" panose="02020603050405020304" pitchFamily="18" charset="0"/>
                        </a:rPr>
                        <a:t>Publicity</a:t>
                      </a:r>
                    </a:p>
                  </a:txBody>
                  <a:tcPr/>
                </a:tc>
                <a:extLst>
                  <a:ext uri="{0D108BD9-81ED-4DB2-BD59-A6C34878D82A}">
                    <a16:rowId xmlns:a16="http://schemas.microsoft.com/office/drawing/2014/main" val="10000"/>
                  </a:ext>
                </a:extLst>
              </a:tr>
              <a:tr h="1193408">
                <a:tc>
                  <a:txBody>
                    <a:bodyPr/>
                    <a:lstStyle/>
                    <a:p>
                      <a:r>
                        <a:rPr lang="en-US" dirty="0">
                          <a:latin typeface="Times New Roman" panose="02020603050405020304" pitchFamily="18" charset="0"/>
                          <a:cs typeface="Times New Roman" panose="02020603050405020304" pitchFamily="18" charset="0"/>
                        </a:rPr>
                        <a:t>The activity of generating advertisements of products and services to commercialize them is known as Advertising.</a:t>
                      </a:r>
                    </a:p>
                  </a:txBody>
                  <a:tcPr/>
                </a:tc>
                <a:tc>
                  <a:txBody>
                    <a:bodyPr/>
                    <a:lstStyle/>
                    <a:p>
                      <a:r>
                        <a:rPr lang="en-US" dirty="0">
                          <a:latin typeface="Times New Roman" panose="02020603050405020304" pitchFamily="18" charset="0"/>
                          <a:cs typeface="Times New Roman" panose="02020603050405020304" pitchFamily="18" charset="0"/>
                        </a:rPr>
                        <a:t>The activity of providing information about an entity, i.e. a product, an individual or a company to make it popular is known as Publicity.</a:t>
                      </a:r>
                    </a:p>
                  </a:txBody>
                  <a:tcPr/>
                </a:tc>
                <a:extLst>
                  <a:ext uri="{0D108BD9-81ED-4DB2-BD59-A6C34878D82A}">
                    <a16:rowId xmlns:a16="http://schemas.microsoft.com/office/drawing/2014/main" val="10001"/>
                  </a:ext>
                </a:extLst>
              </a:tr>
              <a:tr h="685800">
                <a:tc>
                  <a:txBody>
                    <a:bodyPr/>
                    <a:lstStyle/>
                    <a:p>
                      <a:r>
                        <a:rPr lang="en-US" dirty="0">
                          <a:latin typeface="Times New Roman" panose="02020603050405020304" pitchFamily="18" charset="0"/>
                          <a:cs typeface="Times New Roman" panose="02020603050405020304" pitchFamily="18" charset="0"/>
                        </a:rPr>
                        <a:t>It is what the company says about its product.</a:t>
                      </a:r>
                    </a:p>
                  </a:txBody>
                  <a:tcPr/>
                </a:tc>
                <a:tc>
                  <a:txBody>
                    <a:bodyPr/>
                    <a:lstStyle/>
                    <a:p>
                      <a:r>
                        <a:rPr lang="en-US" dirty="0">
                          <a:latin typeface="Times New Roman" panose="02020603050405020304" pitchFamily="18" charset="0"/>
                          <a:cs typeface="Times New Roman" panose="02020603050405020304" pitchFamily="18" charset="0"/>
                        </a:rPr>
                        <a:t>It is what others say about the product.</a:t>
                      </a:r>
                    </a:p>
                  </a:txBody>
                  <a:tcPr/>
                </a:tc>
                <a:extLst>
                  <a:ext uri="{0D108BD9-81ED-4DB2-BD59-A6C34878D82A}">
                    <a16:rowId xmlns:a16="http://schemas.microsoft.com/office/drawing/2014/main" val="10002"/>
                  </a:ext>
                </a:extLst>
              </a:tr>
              <a:tr h="381000">
                <a:tc>
                  <a:txBody>
                    <a:bodyPr/>
                    <a:lstStyle/>
                    <a:p>
                      <a:r>
                        <a:rPr lang="en-US" dirty="0">
                          <a:latin typeface="Times New Roman" panose="02020603050405020304" pitchFamily="18" charset="0"/>
                          <a:cs typeface="Times New Roman" panose="02020603050405020304" pitchFamily="18" charset="0"/>
                        </a:rPr>
                        <a:t>Very expensive marketing tool.</a:t>
                      </a:r>
                    </a:p>
                  </a:txBody>
                  <a:tcPr/>
                </a:tc>
                <a:tc>
                  <a:txBody>
                    <a:bodyPr/>
                    <a:lstStyle/>
                    <a:p>
                      <a:r>
                        <a:rPr lang="en-US" dirty="0">
                          <a:latin typeface="Times New Roman" panose="02020603050405020304" pitchFamily="18" charset="0"/>
                          <a:cs typeface="Times New Roman" panose="02020603050405020304" pitchFamily="18" charset="0"/>
                        </a:rPr>
                        <a:t>Free of cost.</a:t>
                      </a:r>
                    </a:p>
                  </a:txBody>
                  <a:tcPr/>
                </a:tc>
                <a:extLst>
                  <a:ext uri="{0D108BD9-81ED-4DB2-BD59-A6C34878D82A}">
                    <a16:rowId xmlns:a16="http://schemas.microsoft.com/office/drawing/2014/main" val="10003"/>
                  </a:ext>
                </a:extLst>
              </a:tr>
              <a:tr h="482992">
                <a:tc>
                  <a:txBody>
                    <a:bodyPr/>
                    <a:lstStyle/>
                    <a:p>
                      <a:r>
                        <a:rPr lang="en-US" dirty="0">
                          <a:latin typeface="Times New Roman" panose="02020603050405020304" pitchFamily="18" charset="0"/>
                          <a:cs typeface="Times New Roman" panose="02020603050405020304" pitchFamily="18" charset="0"/>
                        </a:rPr>
                        <a:t>Done</a:t>
                      </a:r>
                      <a:r>
                        <a:rPr lang="en-US" baseline="0" dirty="0">
                          <a:latin typeface="Times New Roman" panose="02020603050405020304" pitchFamily="18" charset="0"/>
                          <a:cs typeface="Times New Roman" panose="02020603050405020304" pitchFamily="18" charset="0"/>
                        </a:rPr>
                        <a:t> by </a:t>
                      </a:r>
                      <a:r>
                        <a:rPr lang="en-US" dirty="0">
                          <a:latin typeface="Times New Roman" panose="02020603050405020304" pitchFamily="18" charset="0"/>
                          <a:cs typeface="Times New Roman" panose="02020603050405020304" pitchFamily="18" charset="0"/>
                        </a:rPr>
                        <a:t>Company and its representative</a:t>
                      </a:r>
                    </a:p>
                  </a:txBody>
                  <a:tcPr/>
                </a:tc>
                <a:tc>
                  <a:txBody>
                    <a:bodyPr/>
                    <a:lstStyle/>
                    <a:p>
                      <a:r>
                        <a:rPr lang="en-US" dirty="0">
                          <a:latin typeface="Times New Roman" panose="02020603050405020304" pitchFamily="18" charset="0"/>
                          <a:cs typeface="Times New Roman" panose="02020603050405020304" pitchFamily="18" charset="0"/>
                        </a:rPr>
                        <a:t>Done by Third Party</a:t>
                      </a:r>
                    </a:p>
                  </a:txBody>
                  <a:tcPr/>
                </a:tc>
                <a:extLst>
                  <a:ext uri="{0D108BD9-81ED-4DB2-BD59-A6C34878D82A}">
                    <a16:rowId xmlns:a16="http://schemas.microsoft.com/office/drawing/2014/main" val="10004"/>
                  </a:ext>
                </a:extLst>
              </a:tr>
              <a:tr h="482992">
                <a:tc>
                  <a:txBody>
                    <a:bodyPr/>
                    <a:lstStyle/>
                    <a:p>
                      <a:r>
                        <a:rPr lang="en-US" dirty="0">
                          <a:latin typeface="Times New Roman" panose="02020603050405020304" pitchFamily="18" charset="0"/>
                          <a:cs typeface="Times New Roman" panose="02020603050405020304" pitchFamily="18" charset="0"/>
                        </a:rPr>
                        <a:t>It is under the control of the company</a:t>
                      </a:r>
                    </a:p>
                  </a:txBody>
                  <a:tcPr/>
                </a:tc>
                <a:tc>
                  <a:txBody>
                    <a:bodyPr/>
                    <a:lstStyle/>
                    <a:p>
                      <a:r>
                        <a:rPr lang="en-US" dirty="0">
                          <a:latin typeface="Times New Roman" panose="02020603050405020304" pitchFamily="18" charset="0"/>
                          <a:cs typeface="Times New Roman" panose="02020603050405020304" pitchFamily="18" charset="0"/>
                        </a:rPr>
                        <a:t>It is not under the control of the company</a:t>
                      </a:r>
                    </a:p>
                  </a:txBody>
                  <a:tcPr/>
                </a:tc>
                <a:extLst>
                  <a:ext uri="{0D108BD9-81ED-4DB2-BD59-A6C34878D82A}">
                    <a16:rowId xmlns:a16="http://schemas.microsoft.com/office/drawing/2014/main" val="10005"/>
                  </a:ext>
                </a:extLst>
              </a:tr>
              <a:tr h="482992">
                <a:tc>
                  <a:txBody>
                    <a:bodyPr/>
                    <a:lstStyle/>
                    <a:p>
                      <a:r>
                        <a:rPr lang="en-US" dirty="0">
                          <a:latin typeface="Times New Roman" panose="02020603050405020304" pitchFamily="18" charset="0"/>
                          <a:cs typeface="Times New Roman" panose="02020603050405020304" pitchFamily="18" charset="0"/>
                        </a:rPr>
                        <a:t>It conveys positive message.</a:t>
                      </a:r>
                    </a:p>
                  </a:txBody>
                  <a:tcPr/>
                </a:tc>
                <a:tc>
                  <a:txBody>
                    <a:bodyPr/>
                    <a:lstStyle/>
                    <a:p>
                      <a:r>
                        <a:rPr lang="en-US" dirty="0">
                          <a:latin typeface="Times New Roman" panose="02020603050405020304" pitchFamily="18" charset="0"/>
                          <a:cs typeface="Times New Roman" panose="02020603050405020304" pitchFamily="18" charset="0"/>
                        </a:rPr>
                        <a:t>It conveys positive or negative message.</a:t>
                      </a:r>
                    </a:p>
                  </a:txBody>
                  <a:tcPr/>
                </a:tc>
                <a:extLst>
                  <a:ext uri="{0D108BD9-81ED-4DB2-BD59-A6C34878D82A}">
                    <a16:rowId xmlns:a16="http://schemas.microsoft.com/office/drawing/2014/main" val="10006"/>
                  </a:ext>
                </a:extLst>
              </a:tr>
            </a:tbl>
          </a:graphicData>
        </a:graphic>
      </p:graphicFrame>
      <p:sp>
        <p:nvSpPr>
          <p:cNvPr id="3" name="Slide Number Placeholder 2">
            <a:extLst>
              <a:ext uri="{FF2B5EF4-FFF2-40B4-BE49-F238E27FC236}">
                <a16:creationId xmlns:a16="http://schemas.microsoft.com/office/drawing/2014/main" id="{DFD1BB85-FCD8-8CC8-697D-151FB1888808}"/>
              </a:ext>
            </a:extLst>
          </p:cNvPr>
          <p:cNvSpPr>
            <a:spLocks noGrp="1"/>
          </p:cNvSpPr>
          <p:nvPr>
            <p:ph type="sldNum" sz="quarter" idx="12"/>
          </p:nvPr>
        </p:nvSpPr>
        <p:spPr/>
        <p:txBody>
          <a:bodyPr/>
          <a:lstStyle/>
          <a:p>
            <a:fld id="{B6F15528-21DE-4FAA-801E-634DDDAF4B2B}"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Product Packaging </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Packaging is the art, science and technology of preparing goods or products for transport and sale.</a:t>
            </a:r>
          </a:p>
          <a:p>
            <a:r>
              <a:rPr lang="en-US" dirty="0">
                <a:latin typeface="Times New Roman" panose="02020603050405020304" pitchFamily="18" charset="0"/>
                <a:cs typeface="Times New Roman" panose="02020603050405020304" pitchFamily="18" charset="0"/>
              </a:rPr>
              <a:t>Packaging is the means of ensuring safe delivery of the product to the ultimate consumer in sound condition at minimum overall cost. </a:t>
            </a:r>
          </a:p>
        </p:txBody>
      </p:sp>
      <p:sp>
        <p:nvSpPr>
          <p:cNvPr id="4" name="Slide Number Placeholder 3">
            <a:extLst>
              <a:ext uri="{FF2B5EF4-FFF2-40B4-BE49-F238E27FC236}">
                <a16:creationId xmlns:a16="http://schemas.microsoft.com/office/drawing/2014/main" id="{1C39CE58-3644-BA8E-6327-68567A268661}"/>
              </a:ext>
            </a:extLst>
          </p:cNvPr>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Objectives of packaging</a:t>
            </a:r>
          </a:p>
        </p:txBody>
      </p:sp>
      <p:sp>
        <p:nvSpPr>
          <p:cNvPr id="3" name="Content Placeholder 2"/>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To protect the products against damage in transit.</a:t>
            </a:r>
          </a:p>
          <a:p>
            <a:r>
              <a:rPr lang="en-US" dirty="0">
                <a:latin typeface="Times New Roman" panose="02020603050405020304" pitchFamily="18" charset="0"/>
                <a:cs typeface="Times New Roman" panose="02020603050405020304" pitchFamily="18" charset="0"/>
              </a:rPr>
              <a:t>To protect the contents from being spoiled (tinned food products).</a:t>
            </a:r>
          </a:p>
          <a:p>
            <a:r>
              <a:rPr lang="en-US" dirty="0">
                <a:latin typeface="Times New Roman" panose="02020603050405020304" pitchFamily="18" charset="0"/>
                <a:cs typeface="Times New Roman" panose="02020603050405020304" pitchFamily="18" charset="0"/>
              </a:rPr>
              <a:t>A package good is convenient to handle or transport.</a:t>
            </a:r>
          </a:p>
          <a:p>
            <a:r>
              <a:rPr lang="en-US" dirty="0">
                <a:latin typeface="Times New Roman" panose="02020603050405020304" pitchFamily="18" charset="0"/>
                <a:cs typeface="Times New Roman" panose="02020603050405020304" pitchFamily="18" charset="0"/>
              </a:rPr>
              <a:t>A package good is safe to store</a:t>
            </a:r>
          </a:p>
          <a:p>
            <a:r>
              <a:rPr lang="en-US" dirty="0">
                <a:latin typeface="Times New Roman" panose="02020603050405020304" pitchFamily="18" charset="0"/>
                <a:cs typeface="Times New Roman" panose="02020603050405020304" pitchFamily="18" charset="0"/>
              </a:rPr>
              <a:t>An attractive package possesses considerable sales appeal and thus promotes sales of the product</a:t>
            </a:r>
          </a:p>
        </p:txBody>
      </p:sp>
      <p:sp>
        <p:nvSpPr>
          <p:cNvPr id="4" name="Slide Number Placeholder 3">
            <a:extLst>
              <a:ext uri="{FF2B5EF4-FFF2-40B4-BE49-F238E27FC236}">
                <a16:creationId xmlns:a16="http://schemas.microsoft.com/office/drawing/2014/main" id="{69FE1186-1C7A-CD86-D82D-B65DE9BCE66A}"/>
              </a:ext>
            </a:extLst>
          </p:cNvPr>
          <p:cNvSpPr>
            <a:spLocks noGrp="1"/>
          </p:cNvSpPr>
          <p:nvPr>
            <p:ph type="sldNum" sz="quarter" idx="12"/>
          </p:nvPr>
        </p:nvSpPr>
        <p:spPr/>
        <p:txBody>
          <a:bodyPr/>
          <a:lstStyle/>
          <a:p>
            <a:fld id="{B6F15528-21DE-4FAA-801E-634DDDAF4B2B}"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Requirements</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Speak about the product</a:t>
            </a:r>
          </a:p>
          <a:p>
            <a:r>
              <a:rPr lang="en-US" dirty="0">
                <a:latin typeface="Times New Roman" panose="02020603050405020304" pitchFamily="18" charset="0"/>
                <a:cs typeface="Times New Roman" panose="02020603050405020304" pitchFamily="18" charset="0"/>
              </a:rPr>
              <a:t>Catch the attention of consumers</a:t>
            </a:r>
          </a:p>
          <a:p>
            <a:r>
              <a:rPr lang="en-US" dirty="0">
                <a:latin typeface="Times New Roman" panose="02020603050405020304" pitchFamily="18" charset="0"/>
                <a:cs typeface="Times New Roman" panose="02020603050405020304" pitchFamily="18" charset="0"/>
              </a:rPr>
              <a:t>Look clean and sanitary</a:t>
            </a:r>
          </a:p>
          <a:p>
            <a:r>
              <a:rPr lang="en-US" dirty="0">
                <a:latin typeface="Times New Roman" panose="02020603050405020304" pitchFamily="18" charset="0"/>
                <a:cs typeface="Times New Roman" panose="02020603050405020304" pitchFamily="18" charset="0"/>
              </a:rPr>
              <a:t>Prevent spoilage of product</a:t>
            </a:r>
          </a:p>
          <a:p>
            <a:r>
              <a:rPr lang="en-US" dirty="0">
                <a:latin typeface="Times New Roman" panose="02020603050405020304" pitchFamily="18" charset="0"/>
                <a:cs typeface="Times New Roman" panose="02020603050405020304" pitchFamily="18" charset="0"/>
              </a:rPr>
              <a:t>Be of convenient size and shape to carry</a:t>
            </a:r>
          </a:p>
          <a:p>
            <a:r>
              <a:rPr lang="en-US" dirty="0">
                <a:latin typeface="Times New Roman" panose="02020603050405020304" pitchFamily="18" charset="0"/>
                <a:cs typeface="Times New Roman" panose="02020603050405020304" pitchFamily="18" charset="0"/>
              </a:rPr>
              <a:t>Be easy to open </a:t>
            </a:r>
          </a:p>
        </p:txBody>
      </p:sp>
      <p:sp>
        <p:nvSpPr>
          <p:cNvPr id="4" name="Slide Number Placeholder 3">
            <a:extLst>
              <a:ext uri="{FF2B5EF4-FFF2-40B4-BE49-F238E27FC236}">
                <a16:creationId xmlns:a16="http://schemas.microsoft.com/office/drawing/2014/main" id="{CF927F25-483B-1706-AD5B-F4EF45B4FFBA}"/>
              </a:ext>
            </a:extLst>
          </p:cNvPr>
          <p:cNvSpPr>
            <a:spLocks noGrp="1"/>
          </p:cNvSpPr>
          <p:nvPr>
            <p:ph type="sldNum" sz="quarter" idx="12"/>
          </p:nvPr>
        </p:nvSpPr>
        <p:spPr/>
        <p:txBody>
          <a:bodyPr/>
          <a:lstStyle/>
          <a:p>
            <a:fld id="{B6F15528-21DE-4FAA-801E-634DDDAF4B2B}"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Factors considering at packaging</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Nature of product</a:t>
            </a:r>
          </a:p>
          <a:p>
            <a:pPr lvl="1">
              <a:buFont typeface="Wingdings" pitchFamily="2" charset="2"/>
              <a:buChar char="Ø"/>
            </a:pPr>
            <a:r>
              <a:rPr lang="en-US" dirty="0">
                <a:latin typeface="Times New Roman" pitchFamily="18" charset="0"/>
                <a:cs typeface="Times New Roman" pitchFamily="18" charset="0"/>
              </a:rPr>
              <a:t>Liquid, solid, powder, gas, corrosive, inflammable, volatile, explosive etc.</a:t>
            </a:r>
          </a:p>
          <a:p>
            <a:r>
              <a:rPr lang="en-US" sz="2800" dirty="0">
                <a:latin typeface="Times New Roman" pitchFamily="18" charset="0"/>
                <a:cs typeface="Times New Roman" pitchFamily="18" charset="0"/>
              </a:rPr>
              <a:t>Properties of the product</a:t>
            </a:r>
          </a:p>
          <a:p>
            <a:pPr lvl="1">
              <a:buFont typeface="Wingdings" pitchFamily="2" charset="2"/>
              <a:buChar char="Ø"/>
            </a:pPr>
            <a:r>
              <a:rPr lang="en-US" dirty="0">
                <a:latin typeface="Times New Roman" pitchFamily="18" charset="0"/>
                <a:cs typeface="Times New Roman" pitchFamily="18" charset="0"/>
              </a:rPr>
              <a:t>Size, shape, weight, value. Transportation hazard. </a:t>
            </a:r>
          </a:p>
        </p:txBody>
      </p:sp>
      <p:sp>
        <p:nvSpPr>
          <p:cNvPr id="4" name="Slide Number Placeholder 3">
            <a:extLst>
              <a:ext uri="{FF2B5EF4-FFF2-40B4-BE49-F238E27FC236}">
                <a16:creationId xmlns:a16="http://schemas.microsoft.com/office/drawing/2014/main" id="{642E2D4E-8B03-5643-2A17-C420CF9C79CB}"/>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Pricing</a:t>
            </a:r>
            <a:r>
              <a:rPr lang="en-US" dirty="0"/>
              <a:t> </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Price of the product is the means whereby manufacturers obtain a fair return for their labors and increase their wealth and purchasing power in return for supplying the products. </a:t>
            </a:r>
          </a:p>
          <a:p>
            <a:r>
              <a:rPr lang="en-US" b="1" dirty="0">
                <a:latin typeface="Times New Roman" panose="02020603050405020304" pitchFamily="18" charset="0"/>
                <a:cs typeface="Times New Roman" panose="02020603050405020304" pitchFamily="18" charset="0"/>
              </a:rPr>
              <a:t>Pricing</a:t>
            </a:r>
            <a:r>
              <a:rPr lang="en-US" dirty="0">
                <a:latin typeface="Times New Roman" panose="02020603050405020304" pitchFamily="18" charset="0"/>
                <a:cs typeface="Times New Roman" panose="02020603050405020304" pitchFamily="18" charset="0"/>
              </a:rPr>
              <a:t> is the process whereby a business sets the price at which it will sell its products and services</a:t>
            </a:r>
          </a:p>
        </p:txBody>
      </p:sp>
      <p:sp>
        <p:nvSpPr>
          <p:cNvPr id="4" name="Slide Number Placeholder 3">
            <a:extLst>
              <a:ext uri="{FF2B5EF4-FFF2-40B4-BE49-F238E27FC236}">
                <a16:creationId xmlns:a16="http://schemas.microsoft.com/office/drawing/2014/main" id="{FD245FBF-B277-DD15-05AE-47868A008CA9}"/>
              </a:ext>
            </a:extLst>
          </p:cNvPr>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Factors affecting price fixation</a:t>
            </a:r>
          </a:p>
        </p:txBody>
      </p:sp>
      <p:sp>
        <p:nvSpPr>
          <p:cNvPr id="3" name="Content Placeholder 2"/>
          <p:cNvSpPr>
            <a:spLocks noGrp="1"/>
          </p:cNvSpPr>
          <p:nvPr>
            <p:ph idx="1"/>
          </p:nvPr>
        </p:nvSpPr>
        <p:spPr/>
        <p:txBody>
          <a:bodyPr>
            <a:normAutofit fontScale="70000" lnSpcReduction="20000"/>
          </a:bodyPr>
          <a:lstStyle/>
          <a:p>
            <a:pPr algn="just"/>
            <a:r>
              <a:rPr lang="en-US" dirty="0">
                <a:latin typeface="Times New Roman" pitchFamily="18" charset="0"/>
                <a:cs typeface="Times New Roman" pitchFamily="18" charset="0"/>
              </a:rPr>
              <a:t>Fair trade laws.</a:t>
            </a:r>
          </a:p>
          <a:p>
            <a:pPr algn="just"/>
            <a:r>
              <a:rPr lang="en-US" dirty="0">
                <a:latin typeface="Times New Roman" pitchFamily="18" charset="0"/>
                <a:cs typeface="Times New Roman" pitchFamily="18" charset="0"/>
              </a:rPr>
              <a:t>Nationally advertised prices and government restricted prices of different products.</a:t>
            </a:r>
          </a:p>
          <a:p>
            <a:pPr algn="just"/>
            <a:r>
              <a:rPr lang="en-US" dirty="0">
                <a:latin typeface="Times New Roman" pitchFamily="18" charset="0"/>
                <a:cs typeface="Times New Roman" pitchFamily="18" charset="0"/>
              </a:rPr>
              <a:t>Desired customer clientele</a:t>
            </a:r>
          </a:p>
          <a:p>
            <a:pPr algn="just"/>
            <a:r>
              <a:rPr lang="en-US" dirty="0">
                <a:latin typeface="Times New Roman" pitchFamily="18" charset="0"/>
                <a:cs typeface="Times New Roman" pitchFamily="18" charset="0"/>
              </a:rPr>
              <a:t>Company monopoly</a:t>
            </a:r>
          </a:p>
          <a:p>
            <a:pPr algn="just"/>
            <a:r>
              <a:rPr lang="en-US" dirty="0">
                <a:latin typeface="Times New Roman" pitchFamily="18" charset="0"/>
                <a:cs typeface="Times New Roman" pitchFamily="18" charset="0"/>
              </a:rPr>
              <a:t>Manufacturer’s suggested prices</a:t>
            </a:r>
          </a:p>
          <a:p>
            <a:pPr algn="just"/>
            <a:r>
              <a:rPr lang="en-US" dirty="0">
                <a:latin typeface="Times New Roman" pitchFamily="18" charset="0"/>
                <a:cs typeface="Times New Roman" pitchFamily="18" charset="0"/>
              </a:rPr>
              <a:t>Type of merchandises</a:t>
            </a:r>
          </a:p>
          <a:p>
            <a:pPr algn="just"/>
            <a:r>
              <a:rPr lang="en-US" dirty="0">
                <a:latin typeface="Times New Roman" pitchFamily="18" charset="0"/>
                <a:cs typeface="Times New Roman" pitchFamily="18" charset="0"/>
              </a:rPr>
              <a:t>Nature of sales</a:t>
            </a:r>
          </a:p>
          <a:p>
            <a:pPr algn="just"/>
            <a:r>
              <a:rPr lang="en-US" dirty="0">
                <a:latin typeface="Times New Roman" pitchFamily="18" charset="0"/>
                <a:cs typeface="Times New Roman" pitchFamily="18" charset="0"/>
              </a:rPr>
              <a:t>Price lining </a:t>
            </a:r>
          </a:p>
          <a:p>
            <a:pPr algn="just"/>
            <a:r>
              <a:rPr lang="en-US" dirty="0">
                <a:latin typeface="Times New Roman" pitchFamily="18" charset="0"/>
                <a:cs typeface="Times New Roman" pitchFamily="18" charset="0"/>
              </a:rPr>
              <a:t>Whether large volume with low unit profit or relatively small volume with high unit profit is desired.</a:t>
            </a:r>
          </a:p>
          <a:p>
            <a:pPr algn="just"/>
            <a:r>
              <a:rPr lang="en-US" dirty="0">
                <a:latin typeface="Times New Roman" pitchFamily="18" charset="0"/>
                <a:cs typeface="Times New Roman" pitchFamily="18" charset="0"/>
              </a:rPr>
              <a:t>Suitable channels of distribution</a:t>
            </a:r>
          </a:p>
          <a:p>
            <a:pPr algn="just"/>
            <a:r>
              <a:rPr lang="en-US" dirty="0">
                <a:latin typeface="Times New Roman" pitchFamily="18" charset="0"/>
                <a:cs typeface="Times New Roman" pitchFamily="18" charset="0"/>
              </a:rPr>
              <a:t>Sales promotional strategy</a:t>
            </a:r>
          </a:p>
          <a:p>
            <a:endParaRPr lang="en-US" dirty="0"/>
          </a:p>
        </p:txBody>
      </p:sp>
      <p:sp>
        <p:nvSpPr>
          <p:cNvPr id="4" name="Slide Number Placeholder 3">
            <a:extLst>
              <a:ext uri="{FF2B5EF4-FFF2-40B4-BE49-F238E27FC236}">
                <a16:creationId xmlns:a16="http://schemas.microsoft.com/office/drawing/2014/main" id="{24770802-28D1-BF8A-8A76-DAB47C992B75}"/>
              </a:ext>
            </a:extLst>
          </p:cNvPr>
          <p:cNvSpPr>
            <a:spLocks noGrp="1"/>
          </p:cNvSpPr>
          <p:nvPr>
            <p:ph type="sldNum" sz="quarter" idx="12"/>
          </p:nvPr>
        </p:nvSpPr>
        <p:spPr/>
        <p:txBody>
          <a:bodyPr/>
          <a:lstStyle/>
          <a:p>
            <a:fld id="{B6F15528-21DE-4FAA-801E-634DDDAF4B2B}"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Sales Management </a:t>
            </a:r>
          </a:p>
        </p:txBody>
      </p:sp>
      <p:sp>
        <p:nvSpPr>
          <p:cNvPr id="3" name="Content Placeholder 2"/>
          <p:cNvSpPr>
            <a:spLocks noGrp="1"/>
          </p:cNvSpPr>
          <p:nvPr>
            <p:ph idx="1"/>
          </p:nvPr>
        </p:nvSpPr>
        <p:spPr/>
        <p:txBody>
          <a:bodyPr>
            <a:normAutofit/>
          </a:bodyPr>
          <a:lstStyle/>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Sales management is the term applied to the process of distributing goods from the producer to the ultimate user. It consists of selling, storing, transporting and handling and financing or risk-taking. </a:t>
            </a:r>
          </a:p>
        </p:txBody>
      </p:sp>
      <p:sp>
        <p:nvSpPr>
          <p:cNvPr id="4" name="Slide Number Placeholder 3">
            <a:extLst>
              <a:ext uri="{FF2B5EF4-FFF2-40B4-BE49-F238E27FC236}">
                <a16:creationId xmlns:a16="http://schemas.microsoft.com/office/drawing/2014/main" id="{EF0F99A8-1072-9D0B-3352-91EB7B9CCB0C}"/>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of sales department</a:t>
            </a:r>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itchFamily="18" charset="0"/>
                <a:cs typeface="Times New Roman" pitchFamily="18" charset="0"/>
              </a:rPr>
              <a:t>Analyzing market thoroughly</a:t>
            </a:r>
          </a:p>
          <a:p>
            <a:pPr algn="just"/>
            <a:r>
              <a:rPr lang="en-US" dirty="0">
                <a:latin typeface="Times New Roman" pitchFamily="18" charset="0"/>
                <a:cs typeface="Times New Roman" pitchFamily="18" charset="0"/>
              </a:rPr>
              <a:t>Studying consumer’s psychology and demand.</a:t>
            </a:r>
          </a:p>
          <a:p>
            <a:pPr algn="just"/>
            <a:r>
              <a:rPr lang="en-US" dirty="0">
                <a:latin typeface="Times New Roman" pitchFamily="18" charset="0"/>
                <a:cs typeface="Times New Roman" pitchFamily="18" charset="0"/>
              </a:rPr>
              <a:t>Studying the market fluctuations.</a:t>
            </a:r>
          </a:p>
          <a:p>
            <a:pPr algn="just"/>
            <a:r>
              <a:rPr lang="en-US" dirty="0">
                <a:latin typeface="Times New Roman" pitchFamily="18" charset="0"/>
                <a:cs typeface="Times New Roman" pitchFamily="18" charset="0"/>
              </a:rPr>
              <a:t>Assisting in the preparation of marketing plan</a:t>
            </a:r>
          </a:p>
          <a:p>
            <a:pPr algn="just"/>
            <a:r>
              <a:rPr lang="en-US" dirty="0">
                <a:latin typeface="Times New Roman" pitchFamily="18" charset="0"/>
                <a:cs typeface="Times New Roman" pitchFamily="18" charset="0"/>
              </a:rPr>
              <a:t>Preparing the sales budgets from the marketing plan.</a:t>
            </a:r>
          </a:p>
          <a:p>
            <a:pPr algn="just"/>
            <a:r>
              <a:rPr lang="en-US" dirty="0">
                <a:latin typeface="Times New Roman" pitchFamily="18" charset="0"/>
                <a:cs typeface="Times New Roman" pitchFamily="18" charset="0"/>
              </a:rPr>
              <a:t>Developing systems for sales reporting and statistical analysis.</a:t>
            </a:r>
          </a:p>
          <a:p>
            <a:pPr algn="just"/>
            <a:r>
              <a:rPr lang="en-US" dirty="0">
                <a:latin typeface="Times New Roman" pitchFamily="18" charset="0"/>
                <a:cs typeface="Times New Roman" pitchFamily="18" charset="0"/>
              </a:rPr>
              <a:t>Determining sales staff requirements and handling the requirement, training and compensation of sales staff.</a:t>
            </a:r>
          </a:p>
          <a:p>
            <a:pPr algn="just"/>
            <a:r>
              <a:rPr lang="en-US" dirty="0">
                <a:latin typeface="Times New Roman" pitchFamily="18" charset="0"/>
                <a:cs typeface="Times New Roman" pitchFamily="18" charset="0"/>
              </a:rPr>
              <a:t>Striving continuously to lower selling costs, to expand sales and to improve the product for its wider acceptability.</a:t>
            </a:r>
          </a:p>
        </p:txBody>
      </p:sp>
      <p:sp>
        <p:nvSpPr>
          <p:cNvPr id="4" name="Slide Number Placeholder 3">
            <a:extLst>
              <a:ext uri="{FF2B5EF4-FFF2-40B4-BE49-F238E27FC236}">
                <a16:creationId xmlns:a16="http://schemas.microsoft.com/office/drawing/2014/main" id="{FA801E52-BD88-320B-60C0-ABD7AE0E9024}"/>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Marketing vs Sales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26900982"/>
              </p:ext>
            </p:extLst>
          </p:nvPr>
        </p:nvGraphicFramePr>
        <p:xfrm>
          <a:off x="228600" y="1295399"/>
          <a:ext cx="8763000" cy="5492794"/>
        </p:xfrm>
        <a:graphic>
          <a:graphicData uri="http://schemas.openxmlformats.org/drawingml/2006/table">
            <a:tbl>
              <a:tblPr firstRow="1" bandRow="1">
                <a:tableStyleId>{5C22544A-7EE6-4342-B048-85BDC9FD1C3A}</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414677">
                <a:tc>
                  <a:txBody>
                    <a:bodyPr/>
                    <a:lstStyle/>
                    <a:p>
                      <a:pPr algn="ctr"/>
                      <a:r>
                        <a:rPr lang="en-US" sz="2000" dirty="0">
                          <a:latin typeface="Times New Roman" pitchFamily="18" charset="0"/>
                          <a:cs typeface="Times New Roman" pitchFamily="18" charset="0"/>
                        </a:rPr>
                        <a:t>Marketing </a:t>
                      </a:r>
                    </a:p>
                  </a:txBody>
                  <a:tcPr/>
                </a:tc>
                <a:tc>
                  <a:txBody>
                    <a:bodyPr/>
                    <a:lstStyle/>
                    <a:p>
                      <a:pPr algn="ctr"/>
                      <a:r>
                        <a:rPr lang="en-US" sz="2000" dirty="0">
                          <a:latin typeface="Times New Roman" pitchFamily="18" charset="0"/>
                          <a:cs typeface="Times New Roman" pitchFamily="18" charset="0"/>
                        </a:rPr>
                        <a:t>Sales</a:t>
                      </a:r>
                      <a:r>
                        <a:rPr lang="en-US" sz="2000" baseline="0" dirty="0">
                          <a:latin typeface="Times New Roman" pitchFamily="18" charset="0"/>
                          <a:cs typeface="Times New Roman" pitchFamily="18" charset="0"/>
                        </a:rPr>
                        <a:t> </a:t>
                      </a:r>
                      <a:endParaRPr lang="en-US" sz="20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1109324">
                <a:tc>
                  <a:txBody>
                    <a:bodyPr/>
                    <a:lstStyle/>
                    <a:p>
                      <a:pPr algn="just"/>
                      <a:r>
                        <a:rPr lang="en-US" sz="1800" dirty="0">
                          <a:latin typeface="Times New Roman" pitchFamily="18" charset="0"/>
                          <a:cs typeface="Times New Roman" pitchFamily="18" charset="0"/>
                        </a:rPr>
                        <a:t>Marketing is the systematic planning, implementation and control of business activities to bring together buyers and sellers.</a:t>
                      </a:r>
                    </a:p>
                  </a:txBody>
                  <a:tcPr/>
                </a:tc>
                <a:tc>
                  <a:txBody>
                    <a:bodyPr/>
                    <a:lstStyle/>
                    <a:p>
                      <a:pPr algn="just"/>
                      <a:r>
                        <a:rPr lang="en-US" sz="1800" dirty="0">
                          <a:latin typeface="Times New Roman" pitchFamily="18" charset="0"/>
                          <a:cs typeface="Times New Roman" pitchFamily="18" charset="0"/>
                        </a:rPr>
                        <a:t>A sale is a transaction between two parties where the buyer receives goods (tangible or intangible), services and/or assets in exchange for money.</a:t>
                      </a:r>
                    </a:p>
                  </a:txBody>
                  <a:tcPr/>
                </a:tc>
                <a:extLst>
                  <a:ext uri="{0D108BD9-81ED-4DB2-BD59-A6C34878D82A}">
                    <a16:rowId xmlns:a16="http://schemas.microsoft.com/office/drawing/2014/main" val="10001"/>
                  </a:ext>
                </a:extLst>
              </a:tr>
              <a:tr h="301604">
                <a:tc>
                  <a:txBody>
                    <a:bodyPr/>
                    <a:lstStyle/>
                    <a:p>
                      <a:pPr algn="just"/>
                      <a:r>
                        <a:rPr lang="en-US" sz="1800" dirty="0">
                          <a:latin typeface="Times New Roman" pitchFamily="18" charset="0"/>
                          <a:cs typeface="Times New Roman" pitchFamily="18" charset="0"/>
                        </a:rPr>
                        <a:t>Marketing is one to many.</a:t>
                      </a:r>
                    </a:p>
                  </a:txBody>
                  <a:tcPr/>
                </a:tc>
                <a:tc>
                  <a:txBody>
                    <a:bodyPr/>
                    <a:lstStyle/>
                    <a:p>
                      <a:pPr algn="just"/>
                      <a:r>
                        <a:rPr lang="en-US" sz="1800" dirty="0">
                          <a:latin typeface="Times New Roman" pitchFamily="18" charset="0"/>
                          <a:cs typeface="Times New Roman" pitchFamily="18" charset="0"/>
                        </a:rPr>
                        <a:t>Sales is about one to one.</a:t>
                      </a:r>
                    </a:p>
                  </a:txBody>
                  <a:tcPr/>
                </a:tc>
                <a:extLst>
                  <a:ext uri="{0D108BD9-81ED-4DB2-BD59-A6C34878D82A}">
                    <a16:rowId xmlns:a16="http://schemas.microsoft.com/office/drawing/2014/main" val="10002"/>
                  </a:ext>
                </a:extLst>
              </a:tr>
              <a:tr h="850244">
                <a:tc>
                  <a:txBody>
                    <a:bodyPr/>
                    <a:lstStyle/>
                    <a:p>
                      <a:pPr algn="just"/>
                      <a:r>
                        <a:rPr lang="en-US" sz="1800" dirty="0">
                          <a:latin typeface="Times New Roman" pitchFamily="18" charset="0"/>
                          <a:cs typeface="Times New Roman" pitchFamily="18" charset="0"/>
                        </a:rPr>
                        <a:t>Marketing tells the stories (company, product, etc.) to many people.</a:t>
                      </a:r>
                    </a:p>
                  </a:txBody>
                  <a:tcPr/>
                </a:tc>
                <a:tc>
                  <a:txBody>
                    <a:bodyPr/>
                    <a:lstStyle/>
                    <a:p>
                      <a:pPr algn="just"/>
                      <a:r>
                        <a:rPr lang="en-US" sz="1800" dirty="0">
                          <a:latin typeface="Times New Roman" pitchFamily="18" charset="0"/>
                          <a:cs typeface="Times New Roman" pitchFamily="18" charset="0"/>
                        </a:rPr>
                        <a:t>Sales is where our business becomes real for the client. It is where the stories and brand come to life.</a:t>
                      </a:r>
                    </a:p>
                  </a:txBody>
                  <a:tcPr/>
                </a:tc>
                <a:extLst>
                  <a:ext uri="{0D108BD9-81ED-4DB2-BD59-A6C34878D82A}">
                    <a16:rowId xmlns:a16="http://schemas.microsoft.com/office/drawing/2014/main" val="10003"/>
                  </a:ext>
                </a:extLst>
              </a:tr>
              <a:tr h="545444">
                <a:tc>
                  <a:txBody>
                    <a:bodyPr/>
                    <a:lstStyle/>
                    <a:p>
                      <a:pPr algn="just"/>
                      <a:r>
                        <a:rPr lang="en-US" sz="1800" dirty="0">
                          <a:latin typeface="Times New Roman" pitchFamily="18" charset="0"/>
                          <a:cs typeface="Times New Roman" pitchFamily="18" charset="0"/>
                        </a:rPr>
                        <a:t>Marketing looks after the brand’s reputation.</a:t>
                      </a:r>
                    </a:p>
                  </a:txBody>
                  <a:tcPr/>
                </a:tc>
                <a:tc>
                  <a:txBody>
                    <a:bodyPr/>
                    <a:lstStyle/>
                    <a:p>
                      <a:pPr algn="just"/>
                      <a:r>
                        <a:rPr lang="en-US" sz="1800" dirty="0">
                          <a:latin typeface="Times New Roman" pitchFamily="18" charset="0"/>
                          <a:cs typeface="Times New Roman" pitchFamily="18" charset="0"/>
                        </a:rPr>
                        <a:t>Sales develops relationships. It’s relationship-driven. </a:t>
                      </a:r>
                    </a:p>
                  </a:txBody>
                  <a:tcPr/>
                </a:tc>
                <a:extLst>
                  <a:ext uri="{0D108BD9-81ED-4DB2-BD59-A6C34878D82A}">
                    <a16:rowId xmlns:a16="http://schemas.microsoft.com/office/drawing/2014/main" val="10004"/>
                  </a:ext>
                </a:extLst>
              </a:tr>
              <a:tr h="819764">
                <a:tc>
                  <a:txBody>
                    <a:bodyPr/>
                    <a:lstStyle/>
                    <a:p>
                      <a:pPr algn="just"/>
                      <a:r>
                        <a:rPr lang="en-US" sz="1800" dirty="0">
                          <a:latin typeface="Times New Roman" pitchFamily="18" charset="0"/>
                          <a:cs typeface="Times New Roman" pitchFamily="18" charset="0"/>
                        </a:rPr>
                        <a:t>Marketing analyses the big</a:t>
                      </a:r>
                      <a:r>
                        <a:rPr lang="en-US" sz="1800" baseline="0" dirty="0">
                          <a:latin typeface="Times New Roman" pitchFamily="18" charset="0"/>
                          <a:cs typeface="Times New Roman" pitchFamily="18" charset="0"/>
                        </a:rPr>
                        <a:t> </a:t>
                      </a:r>
                      <a:r>
                        <a:rPr lang="en-US" sz="1800" dirty="0">
                          <a:latin typeface="Times New Roman" pitchFamily="18" charset="0"/>
                          <a:cs typeface="Times New Roman" pitchFamily="18" charset="0"/>
                        </a:rPr>
                        <a:t>data.</a:t>
                      </a:r>
                      <a:r>
                        <a:rPr lang="en-US" sz="1800" baseline="0" dirty="0">
                          <a:latin typeface="Times New Roman" pitchFamily="18" charset="0"/>
                          <a:cs typeface="Times New Roman" pitchFamily="18" charset="0"/>
                        </a:rPr>
                        <a:t> </a:t>
                      </a:r>
                      <a:r>
                        <a:rPr lang="en-US" sz="1800" dirty="0">
                          <a:latin typeface="Times New Roman" pitchFamily="18" charset="0"/>
                          <a:cs typeface="Times New Roman" pitchFamily="18" charset="0"/>
                        </a:rPr>
                        <a:t>Marketing brings you the average result not the specifics.</a:t>
                      </a:r>
                    </a:p>
                  </a:txBody>
                  <a:tcPr/>
                </a:tc>
                <a:tc>
                  <a:txBody>
                    <a:bodyPr/>
                    <a:lstStyle/>
                    <a:p>
                      <a:pPr algn="just"/>
                      <a:r>
                        <a:rPr lang="en-US" sz="1800" dirty="0">
                          <a:latin typeface="Times New Roman" pitchFamily="18" charset="0"/>
                          <a:cs typeface="Times New Roman" pitchFamily="18" charset="0"/>
                        </a:rPr>
                        <a:t>Sales deals with the ambiguities and the details of each person. It cannot be averaged.</a:t>
                      </a:r>
                    </a:p>
                  </a:txBody>
                  <a:tcPr/>
                </a:tc>
                <a:extLst>
                  <a:ext uri="{0D108BD9-81ED-4DB2-BD59-A6C34878D82A}">
                    <a16:rowId xmlns:a16="http://schemas.microsoft.com/office/drawing/2014/main" val="10005"/>
                  </a:ext>
                </a:extLst>
              </a:tr>
              <a:tr h="414677">
                <a:tc>
                  <a:txBody>
                    <a:bodyPr/>
                    <a:lstStyle/>
                    <a:p>
                      <a:pPr algn="just"/>
                      <a:r>
                        <a:rPr lang="en-US" sz="1800" dirty="0">
                          <a:latin typeface="Times New Roman" pitchFamily="18" charset="0"/>
                          <a:cs typeface="Times New Roman" pitchFamily="18" charset="0"/>
                        </a:rPr>
                        <a:t>Longer term horizon.</a:t>
                      </a:r>
                    </a:p>
                  </a:txBody>
                  <a:tcPr/>
                </a:tc>
                <a:tc>
                  <a:txBody>
                    <a:bodyPr/>
                    <a:lstStyle/>
                    <a:p>
                      <a:pPr algn="just"/>
                      <a:r>
                        <a:rPr lang="en-US" sz="1800" dirty="0">
                          <a:latin typeface="Times New Roman" pitchFamily="18" charset="0"/>
                          <a:cs typeface="Times New Roman" pitchFamily="18" charset="0"/>
                        </a:rPr>
                        <a:t>Short term horizon.</a:t>
                      </a:r>
                    </a:p>
                  </a:txBody>
                  <a:tcPr/>
                </a:tc>
                <a:extLst>
                  <a:ext uri="{0D108BD9-81ED-4DB2-BD59-A6C34878D82A}">
                    <a16:rowId xmlns:a16="http://schemas.microsoft.com/office/drawing/2014/main" val="10006"/>
                  </a:ext>
                </a:extLst>
              </a:tr>
              <a:tr h="414677">
                <a:tc>
                  <a:txBody>
                    <a:bodyPr/>
                    <a:lstStyle/>
                    <a:p>
                      <a:pPr algn="just"/>
                      <a:r>
                        <a:rPr lang="en-US" u="none" dirty="0">
                          <a:solidFill>
                            <a:schemeClr val="tx1"/>
                          </a:solidFill>
                        </a:rPr>
                        <a:t>Marketing</a:t>
                      </a:r>
                      <a:r>
                        <a:rPr lang="en-US" dirty="0"/>
                        <a:t> shows how to reach </a:t>
                      </a:r>
                      <a:r>
                        <a:rPr lang="en-US"/>
                        <a:t>to the</a:t>
                      </a:r>
                      <a:r>
                        <a:rPr lang="en-US" baseline="0"/>
                        <a:t> </a:t>
                      </a:r>
                      <a:r>
                        <a:rPr lang="en-US"/>
                        <a:t>Customers</a:t>
                      </a:r>
                      <a:endParaRPr lang="en-US" sz="1800" dirty="0">
                        <a:latin typeface="Times New Roman" pitchFamily="18" charset="0"/>
                        <a:cs typeface="Times New Roman" pitchFamily="18" charset="0"/>
                      </a:endParaRPr>
                    </a:p>
                  </a:txBody>
                  <a:tcPr/>
                </a:tc>
                <a:tc>
                  <a:txBody>
                    <a:bodyPr/>
                    <a:lstStyle/>
                    <a:p>
                      <a:pPr algn="just"/>
                      <a:r>
                        <a:rPr lang="en-US" dirty="0"/>
                        <a:t>Selling is the ultimate result of marketing.</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bl>
          </a:graphicData>
        </a:graphic>
      </p:graphicFrame>
      <p:sp>
        <p:nvSpPr>
          <p:cNvPr id="3" name="Slide Number Placeholder 2">
            <a:extLst>
              <a:ext uri="{FF2B5EF4-FFF2-40B4-BE49-F238E27FC236}">
                <a16:creationId xmlns:a16="http://schemas.microsoft.com/office/drawing/2014/main" id="{87C4FBA2-D236-FA50-86E1-2BA162208D77}"/>
              </a:ext>
            </a:extLst>
          </p:cNvPr>
          <p:cNvSpPr>
            <a:spLocks noGrp="1"/>
          </p:cNvSpPr>
          <p:nvPr>
            <p:ph type="sldNum" sz="quarter" idx="12"/>
          </p:nvPr>
        </p:nvSpPr>
        <p:spPr/>
        <p:txBody>
          <a:bodyPr/>
          <a:lstStyle/>
          <a:p>
            <a:fld id="{B6F15528-21DE-4FAA-801E-634DDDAF4B2B}" type="slidenum">
              <a:rPr lang="en-US" smtClean="0"/>
              <a:pPr/>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3922</TotalTime>
  <Words>4108</Words>
  <Application>Microsoft Office PowerPoint</Application>
  <PresentationFormat>On-screen Show (4:3)</PresentationFormat>
  <Paragraphs>430</Paragraphs>
  <Slides>57</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Arial</vt:lpstr>
      <vt:lpstr>Calibri</vt:lpstr>
      <vt:lpstr>GillSansMTPro-BookBold</vt:lpstr>
      <vt:lpstr>GlyphaLTStd-Bold</vt:lpstr>
      <vt:lpstr>MinionPro-Bold</vt:lpstr>
      <vt:lpstr>MinionPro-Regular</vt:lpstr>
      <vt:lpstr>Times New Roman</vt:lpstr>
      <vt:lpstr>Wingdings</vt:lpstr>
      <vt:lpstr>Office Theme</vt:lpstr>
      <vt:lpstr>Industrial Management IPE 4111</vt:lpstr>
      <vt:lpstr>BACKGROUND</vt:lpstr>
      <vt:lpstr>What is marketing ?</vt:lpstr>
      <vt:lpstr>What is marketing ?</vt:lpstr>
      <vt:lpstr>Functions/Objectives of Marketing</vt:lpstr>
      <vt:lpstr>Marketing Management</vt:lpstr>
      <vt:lpstr>Functions of MM</vt:lpstr>
      <vt:lpstr>Marketing Research</vt:lpstr>
      <vt:lpstr>Objectives of marketing Research</vt:lpstr>
      <vt:lpstr>Scope of MR</vt:lpstr>
      <vt:lpstr>Market research procedure</vt:lpstr>
      <vt:lpstr>Techniques of Marketing Research</vt:lpstr>
      <vt:lpstr>Techniques of Marketing Research</vt:lpstr>
      <vt:lpstr>What is Marketed?</vt:lpstr>
      <vt:lpstr>What Is Marketed?</vt:lpstr>
      <vt:lpstr>Cont..</vt:lpstr>
      <vt:lpstr>Cont..</vt:lpstr>
      <vt:lpstr> Who Markets?  </vt:lpstr>
      <vt:lpstr>Demand States</vt:lpstr>
      <vt:lpstr> Eight demand states are possible: </vt:lpstr>
      <vt:lpstr>Markets </vt:lpstr>
      <vt:lpstr>  Five basic markets  </vt:lpstr>
      <vt:lpstr>  A Simple Marketing System  </vt:lpstr>
      <vt:lpstr> key customer markets  </vt:lpstr>
      <vt:lpstr>Cont..</vt:lpstr>
      <vt:lpstr> Core Marketing Concepts  </vt:lpstr>
      <vt:lpstr> Five types of needs  </vt:lpstr>
      <vt:lpstr>  Target Markets, Positioning, And Segmentation  </vt:lpstr>
      <vt:lpstr>Offerings And Brands</vt:lpstr>
      <vt:lpstr> Marketing Channels  </vt:lpstr>
      <vt:lpstr> Value And Satisfaction  </vt:lpstr>
      <vt:lpstr> Supply Chain  </vt:lpstr>
      <vt:lpstr> The New Marketing Realities  </vt:lpstr>
      <vt:lpstr> Globalization  </vt:lpstr>
      <vt:lpstr> Social Responsibility  </vt:lpstr>
      <vt:lpstr>Sales forecasting</vt:lpstr>
      <vt:lpstr>Marketing Mix</vt:lpstr>
      <vt:lpstr>Advertising</vt:lpstr>
      <vt:lpstr>Objectives of advertising</vt:lpstr>
      <vt:lpstr>Functions of advertising department</vt:lpstr>
      <vt:lpstr>Advertising media</vt:lpstr>
      <vt:lpstr>Disadvantages of advertising</vt:lpstr>
      <vt:lpstr>Cont…</vt:lpstr>
      <vt:lpstr>Sales Promotion</vt:lpstr>
      <vt:lpstr>Sales promotion Methods</vt:lpstr>
      <vt:lpstr>Sales promotion Methods</vt:lpstr>
      <vt:lpstr>Functions of sales Promotion Department</vt:lpstr>
      <vt:lpstr>Difference between advertisement and publicity</vt:lpstr>
      <vt:lpstr>Product Packaging </vt:lpstr>
      <vt:lpstr>Objectives of packaging</vt:lpstr>
      <vt:lpstr>Requirements</vt:lpstr>
      <vt:lpstr>Factors considering at packaging</vt:lpstr>
      <vt:lpstr>Pricing </vt:lpstr>
      <vt:lpstr>Factors affecting price fixation</vt:lpstr>
      <vt:lpstr>Sales Management </vt:lpstr>
      <vt:lpstr>Functions of sales department</vt:lpstr>
      <vt:lpstr>Marketing vs Sales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Management IPE 4117</dc:title>
  <dc:creator>HP</dc:creator>
  <cp:lastModifiedBy>Ahmadul Karim Chowdhury</cp:lastModifiedBy>
  <cp:revision>116</cp:revision>
  <dcterms:created xsi:type="dcterms:W3CDTF">2006-08-16T00:00:00Z</dcterms:created>
  <dcterms:modified xsi:type="dcterms:W3CDTF">2023-02-03T11:01:50Z</dcterms:modified>
</cp:coreProperties>
</file>